
<file path=[Content_Types].xml><?xml version="1.0" encoding="utf-8"?>
<Types xmlns="http://schemas.openxmlformats.org/package/2006/content-types">
  <Default Extension="xml" ContentType="application/xml"/>
  <Default Extension="wmf" ContentType="image/x-wmf"/>
  <Default Extension="jpeg" ContentType="image/jpeg"/>
  <Default Extension="rels" ContentType="application/vnd.openxmlformats-package.relationships+xml"/>
  <Default Extension="emf" ContentType="image/x-emf"/>
  <Default Extension="xlsx" ContentType="application/vnd.openxmlformats-officedocument.spreadsheetml.sheet"/>
  <Default Extension="vml" ContentType="application/vnd.openxmlformats-officedocument.vmlDrawing"/>
  <Default Extension="gif" ContentType="image/gif"/>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embeddings/oleObject1.bin" ContentType="application/vnd.openxmlformats-officedocument.oleObject"/>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embeddings/oleObject2.bin" ContentType="application/vnd.openxmlformats-officedocument.oleObject"/>
  <Override PartName="/ppt/notesSlides/notesSlide4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4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67.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embeddings/oleObject3.bin" ContentType="application/vnd.openxmlformats-officedocument.oleObject"/>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74.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embeddings/oleObject4.bin" ContentType="application/vnd.openxmlformats-officedocument.oleObject"/>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notesSlides/notesSlide115.xml" ContentType="application/vnd.openxmlformats-officedocument.presentationml.notesSlide+xml"/>
  <Override PartName="/ppt/notesSlides/notesSlide116.xml" ContentType="application/vnd.openxmlformats-officedocument.presentationml.notesSlide+xml"/>
  <Override PartName="/ppt/embeddings/oleObject14.bin" ContentType="application/vnd.openxmlformats-officedocument.oleObject"/>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embeddings/oleObject15.bin" ContentType="application/vnd.openxmlformats-officedocument.oleObject"/>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131.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charts/chart5.xml" ContentType="application/vnd.openxmlformats-officedocument.drawingml.chart+xml"/>
  <Override PartName="/ppt/theme/themeOverride1.xml" ContentType="application/vnd.openxmlformats-officedocument.themeOverride+xml"/>
  <Override PartName="/ppt/charts/chart6.xml" ContentType="application/vnd.openxmlformats-officedocument.drawingml.chart+xml"/>
  <Override PartName="/ppt/theme/themeOverride2.xml" ContentType="application/vnd.openxmlformats-officedocument.themeOverride+xml"/>
  <Override PartName="/ppt/charts/chart7.xml" ContentType="application/vnd.openxmlformats-officedocument.drawingml.chart+xml"/>
  <Override PartName="/ppt/theme/themeOverride3.xml" ContentType="application/vnd.openxmlformats-officedocument.themeOverride+xml"/>
  <Override PartName="/ppt/notesSlides/notesSlide134.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notesSlides/notesSlide1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4"/>
  </p:notesMasterIdLst>
  <p:sldIdLst>
    <p:sldId id="257" r:id="rId2"/>
    <p:sldId id="261" r:id="rId3"/>
    <p:sldId id="262" r:id="rId4"/>
    <p:sldId id="263" r:id="rId5"/>
    <p:sldId id="264" r:id="rId6"/>
    <p:sldId id="897" r:id="rId7"/>
    <p:sldId id="692" r:id="rId8"/>
    <p:sldId id="691" r:id="rId9"/>
    <p:sldId id="635" r:id="rId10"/>
    <p:sldId id="755" r:id="rId11"/>
    <p:sldId id="665" r:id="rId12"/>
    <p:sldId id="666" r:id="rId13"/>
    <p:sldId id="667" r:id="rId14"/>
    <p:sldId id="669" r:id="rId15"/>
    <p:sldId id="678" r:id="rId16"/>
    <p:sldId id="679" r:id="rId17"/>
    <p:sldId id="682" r:id="rId18"/>
    <p:sldId id="683" r:id="rId19"/>
    <p:sldId id="681" r:id="rId20"/>
    <p:sldId id="317" r:id="rId21"/>
    <p:sldId id="318" r:id="rId22"/>
    <p:sldId id="313" r:id="rId23"/>
    <p:sldId id="676" r:id="rId24"/>
    <p:sldId id="677" r:id="rId25"/>
    <p:sldId id="636" r:id="rId26"/>
    <p:sldId id="640" r:id="rId27"/>
    <p:sldId id="641" r:id="rId28"/>
    <p:sldId id="637" r:id="rId29"/>
    <p:sldId id="642" r:id="rId30"/>
    <p:sldId id="643" r:id="rId31"/>
    <p:sldId id="644" r:id="rId32"/>
    <p:sldId id="645" r:id="rId33"/>
    <p:sldId id="646" r:id="rId34"/>
    <p:sldId id="647" r:id="rId35"/>
    <p:sldId id="648" r:id="rId36"/>
    <p:sldId id="649" r:id="rId37"/>
    <p:sldId id="650" r:id="rId38"/>
    <p:sldId id="689" r:id="rId39"/>
    <p:sldId id="651" r:id="rId40"/>
    <p:sldId id="652" r:id="rId41"/>
    <p:sldId id="653" r:id="rId42"/>
    <p:sldId id="654" r:id="rId43"/>
    <p:sldId id="655" r:id="rId44"/>
    <p:sldId id="656" r:id="rId45"/>
    <p:sldId id="754" r:id="rId46"/>
    <p:sldId id="657" r:id="rId47"/>
    <p:sldId id="638" r:id="rId48"/>
    <p:sldId id="658" r:id="rId49"/>
    <p:sldId id="659" r:id="rId50"/>
    <p:sldId id="660" r:id="rId51"/>
    <p:sldId id="661" r:id="rId52"/>
    <p:sldId id="662" r:id="rId53"/>
    <p:sldId id="663" r:id="rId54"/>
    <p:sldId id="664" r:id="rId55"/>
    <p:sldId id="639" r:id="rId56"/>
    <p:sldId id="901" r:id="rId57"/>
    <p:sldId id="686" r:id="rId58"/>
    <p:sldId id="687" r:id="rId59"/>
    <p:sldId id="688" r:id="rId60"/>
    <p:sldId id="266" r:id="rId61"/>
    <p:sldId id="699" r:id="rId62"/>
    <p:sldId id="700" r:id="rId63"/>
    <p:sldId id="701" r:id="rId64"/>
    <p:sldId id="702" r:id="rId65"/>
    <p:sldId id="703" r:id="rId66"/>
    <p:sldId id="704" r:id="rId67"/>
    <p:sldId id="705" r:id="rId68"/>
    <p:sldId id="706" r:id="rId69"/>
    <p:sldId id="707" r:id="rId70"/>
    <p:sldId id="708" r:id="rId71"/>
    <p:sldId id="709" r:id="rId72"/>
    <p:sldId id="710" r:id="rId73"/>
    <p:sldId id="711" r:id="rId74"/>
    <p:sldId id="712" r:id="rId75"/>
    <p:sldId id="713" r:id="rId76"/>
    <p:sldId id="714" r:id="rId77"/>
    <p:sldId id="715" r:id="rId78"/>
    <p:sldId id="716" r:id="rId79"/>
    <p:sldId id="717" r:id="rId80"/>
    <p:sldId id="718" r:id="rId81"/>
    <p:sldId id="719" r:id="rId82"/>
    <p:sldId id="720" r:id="rId83"/>
    <p:sldId id="721" r:id="rId84"/>
    <p:sldId id="722" r:id="rId85"/>
    <p:sldId id="723" r:id="rId86"/>
    <p:sldId id="724" r:id="rId87"/>
    <p:sldId id="725" r:id="rId88"/>
    <p:sldId id="726" r:id="rId89"/>
    <p:sldId id="727" r:id="rId90"/>
    <p:sldId id="728" r:id="rId91"/>
    <p:sldId id="729" r:id="rId92"/>
    <p:sldId id="730" r:id="rId93"/>
    <p:sldId id="731" r:id="rId94"/>
    <p:sldId id="732" r:id="rId95"/>
    <p:sldId id="733" r:id="rId96"/>
    <p:sldId id="753" r:id="rId97"/>
    <p:sldId id="734" r:id="rId98"/>
    <p:sldId id="738" r:id="rId99"/>
    <p:sldId id="740" r:id="rId100"/>
    <p:sldId id="741" r:id="rId101"/>
    <p:sldId id="742" r:id="rId102"/>
    <p:sldId id="743" r:id="rId103"/>
    <p:sldId id="744" r:id="rId104"/>
    <p:sldId id="749" r:id="rId105"/>
    <p:sldId id="748" r:id="rId106"/>
    <p:sldId id="267" r:id="rId107"/>
    <p:sldId id="756" r:id="rId108"/>
    <p:sldId id="757" r:id="rId109"/>
    <p:sldId id="758" r:id="rId110"/>
    <p:sldId id="759" r:id="rId111"/>
    <p:sldId id="760" r:id="rId112"/>
    <p:sldId id="761" r:id="rId113"/>
    <p:sldId id="762" r:id="rId114"/>
    <p:sldId id="763" r:id="rId115"/>
    <p:sldId id="764" r:id="rId116"/>
    <p:sldId id="765" r:id="rId117"/>
    <p:sldId id="766" r:id="rId118"/>
    <p:sldId id="767" r:id="rId119"/>
    <p:sldId id="768" r:id="rId120"/>
    <p:sldId id="769" r:id="rId121"/>
    <p:sldId id="770" r:id="rId122"/>
    <p:sldId id="771" r:id="rId123"/>
    <p:sldId id="772" r:id="rId124"/>
    <p:sldId id="773" r:id="rId125"/>
    <p:sldId id="774" r:id="rId126"/>
    <p:sldId id="775" r:id="rId127"/>
    <p:sldId id="776" r:id="rId128"/>
    <p:sldId id="777" r:id="rId129"/>
    <p:sldId id="778" r:id="rId130"/>
    <p:sldId id="779" r:id="rId131"/>
    <p:sldId id="780" r:id="rId132"/>
    <p:sldId id="781" r:id="rId133"/>
    <p:sldId id="782" r:id="rId134"/>
    <p:sldId id="785" r:id="rId135"/>
    <p:sldId id="786" r:id="rId136"/>
    <p:sldId id="795" r:id="rId137"/>
    <p:sldId id="796" r:id="rId138"/>
    <p:sldId id="893" r:id="rId139"/>
    <p:sldId id="894" r:id="rId140"/>
    <p:sldId id="895" r:id="rId141"/>
    <p:sldId id="896" r:id="rId142"/>
    <p:sldId id="797" r:id="rId143"/>
    <p:sldId id="801" r:id="rId144"/>
    <p:sldId id="802" r:id="rId145"/>
    <p:sldId id="803" r:id="rId146"/>
    <p:sldId id="804" r:id="rId147"/>
    <p:sldId id="809" r:id="rId148"/>
    <p:sldId id="810" r:id="rId149"/>
    <p:sldId id="811" r:id="rId150"/>
    <p:sldId id="812" r:id="rId151"/>
    <p:sldId id="813" r:id="rId152"/>
    <p:sldId id="814" r:id="rId153"/>
    <p:sldId id="815" r:id="rId154"/>
    <p:sldId id="816" r:id="rId155"/>
    <p:sldId id="817" r:id="rId156"/>
    <p:sldId id="818" r:id="rId157"/>
    <p:sldId id="819" r:id="rId158"/>
    <p:sldId id="820" r:id="rId159"/>
    <p:sldId id="821" r:id="rId160"/>
    <p:sldId id="822" r:id="rId161"/>
    <p:sldId id="823" r:id="rId162"/>
    <p:sldId id="824" r:id="rId163"/>
    <p:sldId id="825" r:id="rId164"/>
    <p:sldId id="826" r:id="rId165"/>
    <p:sldId id="827" r:id="rId166"/>
    <p:sldId id="828" r:id="rId167"/>
    <p:sldId id="829" r:id="rId168"/>
    <p:sldId id="830" r:id="rId169"/>
    <p:sldId id="831" r:id="rId170"/>
    <p:sldId id="832" r:id="rId171"/>
    <p:sldId id="833" r:id="rId172"/>
    <p:sldId id="834" r:id="rId173"/>
    <p:sldId id="835" r:id="rId174"/>
    <p:sldId id="836" r:id="rId175"/>
    <p:sldId id="837" r:id="rId176"/>
    <p:sldId id="838" r:id="rId177"/>
    <p:sldId id="839" r:id="rId178"/>
    <p:sldId id="840" r:id="rId179"/>
    <p:sldId id="841" r:id="rId180"/>
    <p:sldId id="842" r:id="rId181"/>
    <p:sldId id="843" r:id="rId182"/>
    <p:sldId id="844" r:id="rId183"/>
    <p:sldId id="845" r:id="rId184"/>
    <p:sldId id="846" r:id="rId185"/>
    <p:sldId id="847" r:id="rId186"/>
    <p:sldId id="848" r:id="rId187"/>
    <p:sldId id="899" r:id="rId188"/>
    <p:sldId id="900" r:id="rId189"/>
    <p:sldId id="851" r:id="rId190"/>
    <p:sldId id="852" r:id="rId191"/>
    <p:sldId id="853" r:id="rId192"/>
    <p:sldId id="854" r:id="rId193"/>
    <p:sldId id="855" r:id="rId194"/>
    <p:sldId id="268" r:id="rId195"/>
    <p:sldId id="856" r:id="rId196"/>
    <p:sldId id="343" r:id="rId197"/>
    <p:sldId id="898" r:id="rId198"/>
    <p:sldId id="258" r:id="rId199"/>
    <p:sldId id="857" r:id="rId200"/>
    <p:sldId id="858" r:id="rId201"/>
    <p:sldId id="859" r:id="rId202"/>
    <p:sldId id="860" r:id="rId203"/>
    <p:sldId id="861" r:id="rId204"/>
    <p:sldId id="862" r:id="rId205"/>
    <p:sldId id="363" r:id="rId206"/>
    <p:sldId id="863" r:id="rId207"/>
    <p:sldId id="864" r:id="rId208"/>
    <p:sldId id="865" r:id="rId209"/>
    <p:sldId id="362" r:id="rId210"/>
    <p:sldId id="866" r:id="rId211"/>
    <p:sldId id="902" r:id="rId212"/>
    <p:sldId id="903" r:id="rId213"/>
    <p:sldId id="904" r:id="rId214"/>
    <p:sldId id="905" r:id="rId215"/>
    <p:sldId id="906" r:id="rId216"/>
    <p:sldId id="907" r:id="rId217"/>
    <p:sldId id="908" r:id="rId218"/>
    <p:sldId id="909" r:id="rId219"/>
    <p:sldId id="910" r:id="rId220"/>
    <p:sldId id="911" r:id="rId221"/>
    <p:sldId id="871" r:id="rId222"/>
    <p:sldId id="872" r:id="rId223"/>
    <p:sldId id="873" r:id="rId224"/>
    <p:sldId id="874" r:id="rId225"/>
    <p:sldId id="875" r:id="rId226"/>
    <p:sldId id="876" r:id="rId227"/>
    <p:sldId id="877" r:id="rId228"/>
    <p:sldId id="878" r:id="rId229"/>
    <p:sldId id="879" r:id="rId230"/>
    <p:sldId id="881" r:id="rId231"/>
    <p:sldId id="882" r:id="rId232"/>
    <p:sldId id="883" r:id="rId233"/>
    <p:sldId id="884" r:id="rId234"/>
    <p:sldId id="885" r:id="rId235"/>
    <p:sldId id="887" r:id="rId236"/>
    <p:sldId id="888" r:id="rId237"/>
    <p:sldId id="889" r:id="rId238"/>
    <p:sldId id="890" r:id="rId239"/>
    <p:sldId id="892" r:id="rId240"/>
    <p:sldId id="633" r:id="rId241"/>
    <p:sldId id="269" r:id="rId242"/>
    <p:sldId id="270" r:id="rId2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5" d="100"/>
          <a:sy n="105" d="100"/>
        </p:scale>
        <p:origin x="-1200" y="-112"/>
      </p:cViewPr>
      <p:guideLst>
        <p:guide orient="horz" pos="2160"/>
        <p:guide pos="2880"/>
      </p:guideLst>
    </p:cSldViewPr>
  </p:slideViewPr>
  <p:notesTextViewPr>
    <p:cViewPr>
      <p:scale>
        <a:sx n="100" d="100"/>
        <a:sy n="100" d="100"/>
      </p:scale>
      <p:origin x="0" y="0"/>
    </p:cViewPr>
  </p:notesTextViewPr>
  <p:sorterViewPr>
    <p:cViewPr>
      <p:scale>
        <a:sx n="180" d="100"/>
        <a:sy n="180" d="100"/>
      </p:scale>
      <p:origin x="0" y="113600"/>
    </p:cViewPr>
  </p:sorterViewPr>
  <p:notesViewPr>
    <p:cSldViewPr>
      <p:cViewPr varScale="1">
        <p:scale>
          <a:sx n="55" d="100"/>
          <a:sy n="55" d="100"/>
        </p:scale>
        <p:origin x="-1818"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notesMaster" Target="notesMasters/notesMaster1.xml"/><Relationship Id="rId245" Type="http://schemas.openxmlformats.org/officeDocument/2006/relationships/printerSettings" Target="printerSettings/printerSettings1.bin"/><Relationship Id="rId246" Type="http://schemas.openxmlformats.org/officeDocument/2006/relationships/presProps" Target="presProps.xml"/><Relationship Id="rId247" Type="http://schemas.openxmlformats.org/officeDocument/2006/relationships/viewProps" Target="viewProps.xml"/><Relationship Id="rId248" Type="http://schemas.openxmlformats.org/officeDocument/2006/relationships/theme" Target="theme/theme1.xml"/><Relationship Id="rId249" Type="http://schemas.openxmlformats.org/officeDocument/2006/relationships/tableStyles" Target="tableStyles.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oleObject" Target="file:///\\data01\pyhajma\Documents\Documents\Tassu-mittarit.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data01\pyhajma\Documents\Documents\Tassu-mittarit.xlsx" TargetMode="External"/></Relationships>
</file>

<file path=ppt/charts/_rels/chart5.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oleObject" Target="file:///C:\Users\mpy\Downloads\sessions\SoftCo%20Invoicing%20Software\SoftCo%20Invoicing%20Software_sessions-example.xls" TargetMode="External"/></Relationships>
</file>

<file path=ppt/charts/_rels/chart6.xml.rels><?xml version="1.0" encoding="UTF-8" standalone="yes"?>
<Relationships xmlns="http://schemas.openxmlformats.org/package/2006/relationships"><Relationship Id="rId1" Type="http://schemas.openxmlformats.org/officeDocument/2006/relationships/themeOverride" Target="../theme/themeOverride2.xml"/><Relationship Id="rId2" Type="http://schemas.openxmlformats.org/officeDocument/2006/relationships/oleObject" Target="file:///C:\Users\mpy\Downloads\sessions\SoftCo%20Invoicing%20Software\SoftCo%20Invoicing%20Software_sessions-example.xls" TargetMode="External"/></Relationships>
</file>

<file path=ppt/charts/_rels/chart7.xml.rels><?xml version="1.0" encoding="UTF-8" standalone="yes"?>
<Relationships xmlns="http://schemas.openxmlformats.org/package/2006/relationships"><Relationship Id="rId1" Type="http://schemas.openxmlformats.org/officeDocument/2006/relationships/themeOverride" Target="../theme/themeOverride3.xml"/><Relationship Id="rId2" Type="http://schemas.openxmlformats.org/officeDocument/2006/relationships/oleObject" Target="file:///C:\Users\mpy\Downloads\sessions\SoftCo%20Invoicing%20Software\SoftCo%20Invoicing%20Software_sessions-example.xls"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pieChart>
        <c:varyColors val="1"/>
        <c:ser>
          <c:idx val="0"/>
          <c:order val="0"/>
          <c:tx>
            <c:strRef>
              <c:f>Sheet1!$B$1</c:f>
              <c:strCache>
                <c:ptCount val="1"/>
                <c:pt idx="0">
                  <c:v>Column1</c:v>
                </c:pt>
              </c:strCache>
            </c:strRef>
          </c:tx>
          <c:dPt>
            <c:idx val="1"/>
            <c:bubble3D val="0"/>
            <c:explosion val="6"/>
          </c:dPt>
          <c:dLbls>
            <c:dLbl>
              <c:idx val="0"/>
              <c:layout/>
              <c:tx>
                <c:rich>
                  <a:bodyPr/>
                  <a:lstStyle/>
                  <a:p>
                    <a:r>
                      <a:rPr lang="en-US" smtClean="0"/>
                      <a:t>Oletuksia</a:t>
                    </a:r>
                    <a:endParaRPr lang="en-US" dirty="0"/>
                  </a:p>
                </c:rich>
              </c:tx>
              <c:showLegendKey val="0"/>
              <c:showVal val="0"/>
              <c:showCatName val="1"/>
              <c:showSerName val="0"/>
              <c:showPercent val="0"/>
              <c:showBubbleSize val="0"/>
            </c:dLbl>
            <c:dLbl>
              <c:idx val="1"/>
              <c:layout>
                <c:manualLayout>
                  <c:x val="0.173065021077323"/>
                  <c:y val="-0.157244448883196"/>
                </c:manualLayout>
              </c:layout>
              <c:tx>
                <c:rich>
                  <a:bodyPr/>
                  <a:lstStyle/>
                  <a:p>
                    <a:r>
                      <a:rPr lang="en-US" sz="1600" dirty="0" err="1" smtClean="0"/>
                      <a:t>Uskon-totuutta</a:t>
                    </a:r>
                    <a:endParaRPr lang="en-US" dirty="0"/>
                  </a:p>
                </c:rich>
              </c:tx>
              <c:showLegendKey val="0"/>
              <c:showVal val="0"/>
              <c:showCatName val="1"/>
              <c:showSerName val="0"/>
              <c:showPercent val="0"/>
              <c:showBubbleSize val="0"/>
            </c:dLbl>
            <c:showLegendKey val="0"/>
            <c:showVal val="0"/>
            <c:showCatName val="1"/>
            <c:showSerName val="0"/>
            <c:showPercent val="0"/>
            <c:showBubbleSize val="0"/>
            <c:showLeaderLines val="1"/>
          </c:dLbls>
          <c:cat>
            <c:strRef>
              <c:f>Sheet1!$A$2:$A$3</c:f>
              <c:strCache>
                <c:ptCount val="2"/>
                <c:pt idx="0">
                  <c:v>Assumptions</c:v>
                </c:pt>
                <c:pt idx="1">
                  <c:v>Gospel</c:v>
                </c:pt>
              </c:strCache>
            </c:strRef>
          </c:cat>
          <c:val>
            <c:numRef>
              <c:f>Sheet1!$B$2:$B$3</c:f>
              <c:numCache>
                <c:formatCode>General</c:formatCode>
                <c:ptCount val="2"/>
                <c:pt idx="0">
                  <c:v>1.0</c:v>
                </c:pt>
                <c:pt idx="1">
                  <c:v>9.0</c:v>
                </c:pt>
              </c:numCache>
            </c:numRef>
          </c:val>
        </c:ser>
        <c:dLbls>
          <c:showLegendKey val="0"/>
          <c:showVal val="0"/>
          <c:showCatName val="1"/>
          <c:showSerName val="0"/>
          <c:showPercent val="0"/>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pieChart>
        <c:varyColors val="1"/>
        <c:ser>
          <c:idx val="0"/>
          <c:order val="0"/>
          <c:tx>
            <c:strRef>
              <c:f>Sheet1!$B$1</c:f>
              <c:strCache>
                <c:ptCount val="1"/>
                <c:pt idx="0">
                  <c:v>Column1</c:v>
                </c:pt>
              </c:strCache>
            </c:strRef>
          </c:tx>
          <c:dPt>
            <c:idx val="1"/>
            <c:bubble3D val="0"/>
            <c:explosion val="6"/>
          </c:dPt>
          <c:dLbls>
            <c:dLbl>
              <c:idx val="0"/>
              <c:layout/>
              <c:tx>
                <c:rich>
                  <a:bodyPr/>
                  <a:lstStyle/>
                  <a:p>
                    <a:r>
                      <a:rPr lang="en-US" smtClean="0"/>
                      <a:t>Faktaa</a:t>
                    </a:r>
                    <a:endParaRPr lang="en-US" dirty="0"/>
                  </a:p>
                </c:rich>
              </c:tx>
              <c:showLegendKey val="0"/>
              <c:showVal val="0"/>
              <c:showCatName val="1"/>
              <c:showSerName val="0"/>
              <c:showPercent val="0"/>
              <c:showBubbleSize val="0"/>
            </c:dLbl>
            <c:dLbl>
              <c:idx val="1"/>
              <c:layout>
                <c:manualLayout>
                  <c:x val="0.0876763867568851"/>
                  <c:y val="-0.257694994179278"/>
                </c:manualLayout>
              </c:layout>
              <c:tx>
                <c:rich>
                  <a:bodyPr/>
                  <a:lstStyle/>
                  <a:p>
                    <a:r>
                      <a:rPr lang="fi-FI" sz="1600" dirty="0" smtClean="0"/>
                      <a:t>Oletuksia</a:t>
                    </a:r>
                    <a:endParaRPr lang="en-US" sz="1600" dirty="0"/>
                  </a:p>
                </c:rich>
              </c:tx>
              <c:showLegendKey val="0"/>
              <c:showVal val="0"/>
              <c:showCatName val="1"/>
              <c:showSerName val="0"/>
              <c:showPercent val="0"/>
              <c:showBubbleSize val="0"/>
            </c:dLbl>
            <c:showLegendKey val="0"/>
            <c:showVal val="0"/>
            <c:showCatName val="1"/>
            <c:showSerName val="0"/>
            <c:showPercent val="0"/>
            <c:showBubbleSize val="0"/>
            <c:showLeaderLines val="1"/>
          </c:dLbls>
          <c:cat>
            <c:strRef>
              <c:f>Sheet1!$A$2:$A$3</c:f>
              <c:strCache>
                <c:ptCount val="2"/>
                <c:pt idx="0">
                  <c:v>Facts</c:v>
                </c:pt>
                <c:pt idx="1">
                  <c:v>Assumptions</c:v>
                </c:pt>
              </c:strCache>
            </c:strRef>
          </c:cat>
          <c:val>
            <c:numRef>
              <c:f>Sheet1!$B$2:$B$3</c:f>
              <c:numCache>
                <c:formatCode>General</c:formatCode>
                <c:ptCount val="2"/>
                <c:pt idx="0">
                  <c:v>1.0</c:v>
                </c:pt>
                <c:pt idx="1">
                  <c:v>9.0</c:v>
                </c:pt>
              </c:numCache>
            </c:numRef>
          </c:val>
        </c:ser>
        <c:dLbls>
          <c:showLegendKey val="0"/>
          <c:showVal val="0"/>
          <c:showCatName val="1"/>
          <c:showSerName val="0"/>
          <c:showPercent val="0"/>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a:lstStyle/>
          <a:p>
            <a:pPr>
              <a:defRPr/>
            </a:pPr>
            <a:r>
              <a:rPr lang="en-US"/>
              <a:t>Hyväksymistestauksen</a:t>
            </a:r>
            <a:r>
              <a:rPr lang="en-US" baseline="0"/>
              <a:t> eteneminen (testit)</a:t>
            </a:r>
            <a:endParaRPr lang="en-US"/>
          </a:p>
        </c:rich>
      </c:tx>
      <c:layout/>
      <c:overlay val="0"/>
    </c:title>
    <c:autoTitleDeleted val="0"/>
    <c:plotArea>
      <c:layout/>
      <c:barChart>
        <c:barDir val="bar"/>
        <c:grouping val="percentStacked"/>
        <c:varyColors val="0"/>
        <c:ser>
          <c:idx val="0"/>
          <c:order val="0"/>
          <c:tx>
            <c:strRef>
              <c:f>Sheet1!$A$14</c:f>
              <c:strCache>
                <c:ptCount val="1"/>
                <c:pt idx="0">
                  <c:v>Suoritettu, ei tunnistettua toistotarvetta</c:v>
                </c:pt>
              </c:strCache>
            </c:strRef>
          </c:tx>
          <c:spPr>
            <a:solidFill>
              <a:schemeClr val="accent3"/>
            </a:solidFill>
          </c:spPr>
          <c:invertIfNegative val="0"/>
          <c:dLbls>
            <c:showLegendKey val="0"/>
            <c:showVal val="1"/>
            <c:showCatName val="0"/>
            <c:showSerName val="0"/>
            <c:showPercent val="0"/>
            <c:showBubbleSize val="0"/>
            <c:showLeaderLines val="0"/>
          </c:dLbls>
          <c:cat>
            <c:strLit>
              <c:ptCount val="1"/>
              <c:pt idx="0">
                <c:v> </c:v>
              </c:pt>
            </c:strLit>
          </c:cat>
          <c:val>
            <c:numRef>
              <c:f>Sheet1!$B$14</c:f>
              <c:numCache>
                <c:formatCode>General</c:formatCode>
                <c:ptCount val="1"/>
                <c:pt idx="0">
                  <c:v>75.0</c:v>
                </c:pt>
              </c:numCache>
            </c:numRef>
          </c:val>
        </c:ser>
        <c:ser>
          <c:idx val="1"/>
          <c:order val="1"/>
          <c:tx>
            <c:strRef>
              <c:f>Sheet1!$A$15</c:f>
              <c:strCache>
                <c:ptCount val="1"/>
                <c:pt idx="0">
                  <c:v>Suoritettu, toistotarve (virhe)</c:v>
                </c:pt>
              </c:strCache>
            </c:strRef>
          </c:tx>
          <c:spPr>
            <a:solidFill>
              <a:schemeClr val="accent2"/>
            </a:solidFill>
          </c:spPr>
          <c:invertIfNegative val="0"/>
          <c:cat>
            <c:strLit>
              <c:ptCount val="1"/>
              <c:pt idx="0">
                <c:v> </c:v>
              </c:pt>
            </c:strLit>
          </c:cat>
          <c:val>
            <c:numRef>
              <c:f>Sheet1!$B$15</c:f>
              <c:numCache>
                <c:formatCode>General</c:formatCode>
                <c:ptCount val="1"/>
                <c:pt idx="0">
                  <c:v>9.0</c:v>
                </c:pt>
              </c:numCache>
            </c:numRef>
          </c:val>
        </c:ser>
        <c:ser>
          <c:idx val="2"/>
          <c:order val="2"/>
          <c:tx>
            <c:strRef>
              <c:f>Sheet1!$A$16</c:f>
              <c:strCache>
                <c:ptCount val="1"/>
                <c:pt idx="0">
                  <c:v>Testi aloitettu, kesken</c:v>
                </c:pt>
              </c:strCache>
            </c:strRef>
          </c:tx>
          <c:invertIfNegative val="0"/>
          <c:cat>
            <c:strLit>
              <c:ptCount val="1"/>
              <c:pt idx="0">
                <c:v> </c:v>
              </c:pt>
            </c:strLit>
          </c:cat>
          <c:val>
            <c:numRef>
              <c:f>Sheet1!$B$16</c:f>
              <c:numCache>
                <c:formatCode>General</c:formatCode>
                <c:ptCount val="1"/>
                <c:pt idx="0">
                  <c:v>28.0</c:v>
                </c:pt>
              </c:numCache>
            </c:numRef>
          </c:val>
        </c:ser>
        <c:ser>
          <c:idx val="3"/>
          <c:order val="3"/>
          <c:tx>
            <c:strRef>
              <c:f>Sheet1!$A$17</c:f>
              <c:strCache>
                <c:ptCount val="1"/>
                <c:pt idx="0">
                  <c:v>Tekemättä, ei aloitettu</c:v>
                </c:pt>
              </c:strCache>
            </c:strRef>
          </c:tx>
          <c:invertIfNegative val="0"/>
          <c:cat>
            <c:strLit>
              <c:ptCount val="1"/>
              <c:pt idx="0">
                <c:v> </c:v>
              </c:pt>
            </c:strLit>
          </c:cat>
          <c:val>
            <c:numRef>
              <c:f>Sheet1!$B$17</c:f>
              <c:numCache>
                <c:formatCode>General</c:formatCode>
                <c:ptCount val="1"/>
                <c:pt idx="0">
                  <c:v>26.0</c:v>
                </c:pt>
              </c:numCache>
            </c:numRef>
          </c:val>
        </c:ser>
        <c:ser>
          <c:idx val="4"/>
          <c:order val="4"/>
          <c:tx>
            <c:strRef>
              <c:f>Sheet1!$A$18</c:f>
              <c:strCache>
                <c:ptCount val="1"/>
                <c:pt idx="0">
                  <c:v>Tekemättä, Automaattiset muutokset</c:v>
                </c:pt>
              </c:strCache>
            </c:strRef>
          </c:tx>
          <c:invertIfNegative val="0"/>
          <c:cat>
            <c:strLit>
              <c:ptCount val="1"/>
              <c:pt idx="0">
                <c:v> </c:v>
              </c:pt>
            </c:strLit>
          </c:cat>
          <c:val>
            <c:numRef>
              <c:f>Sheet1!$B$18</c:f>
              <c:numCache>
                <c:formatCode>General</c:formatCode>
                <c:ptCount val="1"/>
                <c:pt idx="0">
                  <c:v>10.0</c:v>
                </c:pt>
              </c:numCache>
            </c:numRef>
          </c:val>
        </c:ser>
        <c:ser>
          <c:idx val="5"/>
          <c:order val="5"/>
          <c:tx>
            <c:strRef>
              <c:f>Sheet1!$A$19</c:f>
              <c:strCache>
                <c:ptCount val="1"/>
                <c:pt idx="0">
                  <c:v>Tekemättä, regressiotestaus</c:v>
                </c:pt>
              </c:strCache>
            </c:strRef>
          </c:tx>
          <c:invertIfNegative val="0"/>
          <c:cat>
            <c:strLit>
              <c:ptCount val="1"/>
              <c:pt idx="0">
                <c:v> </c:v>
              </c:pt>
            </c:strLit>
          </c:cat>
          <c:val>
            <c:numRef>
              <c:f>Sheet1!$B$19</c:f>
              <c:numCache>
                <c:formatCode>General</c:formatCode>
                <c:ptCount val="1"/>
                <c:pt idx="0">
                  <c:v>30.0</c:v>
                </c:pt>
              </c:numCache>
            </c:numRef>
          </c:val>
        </c:ser>
        <c:dLbls>
          <c:showLegendKey val="0"/>
          <c:showVal val="0"/>
          <c:showCatName val="0"/>
          <c:showSerName val="0"/>
          <c:showPercent val="0"/>
          <c:showBubbleSize val="0"/>
        </c:dLbls>
        <c:gapWidth val="55"/>
        <c:overlap val="100"/>
        <c:axId val="-2102345560"/>
        <c:axId val="-2102312856"/>
      </c:barChart>
      <c:catAx>
        <c:axId val="-2102345560"/>
        <c:scaling>
          <c:orientation val="minMax"/>
        </c:scaling>
        <c:delete val="0"/>
        <c:axPos val="l"/>
        <c:majorTickMark val="none"/>
        <c:minorTickMark val="none"/>
        <c:tickLblPos val="nextTo"/>
        <c:crossAx val="-2102312856"/>
        <c:crosses val="autoZero"/>
        <c:auto val="1"/>
        <c:lblAlgn val="ctr"/>
        <c:lblOffset val="100"/>
        <c:noMultiLvlLbl val="0"/>
      </c:catAx>
      <c:valAx>
        <c:axId val="-2102312856"/>
        <c:scaling>
          <c:orientation val="minMax"/>
        </c:scaling>
        <c:delete val="0"/>
        <c:axPos val="b"/>
        <c:majorGridlines/>
        <c:numFmt formatCode="0%" sourceLinked="1"/>
        <c:majorTickMark val="none"/>
        <c:minorTickMark val="none"/>
        <c:tickLblPos val="nextTo"/>
        <c:crossAx val="-2102345560"/>
        <c:crosses val="autoZero"/>
        <c:crossBetween val="between"/>
      </c:valAx>
    </c:plotArea>
    <c:legend>
      <c:legendPos val="r"/>
      <c:layout/>
      <c:overlay val="0"/>
      <c:txPr>
        <a:bodyPr/>
        <a:lstStyle/>
        <a:p>
          <a:pPr>
            <a:defRPr sz="900"/>
          </a:pPr>
          <a:endParaRPr lang="en-US"/>
        </a:p>
      </c:txPr>
    </c:legend>
    <c:plotVisOnly val="1"/>
    <c:dispBlanksAs val="gap"/>
    <c:showDLblsOverMax val="0"/>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sz="1800" b="1" i="0" u="none" strike="noStrike" baseline="0">
                <a:effectLst/>
              </a:rPr>
              <a:t>Hyväksymistestauksen tulokset (havainnot)</a:t>
            </a:r>
            <a:endParaRPr lang="en-US"/>
          </a:p>
        </c:rich>
      </c:tx>
      <c:layout/>
      <c:overlay val="0"/>
    </c:title>
    <c:autoTitleDeleted val="0"/>
    <c:plotArea>
      <c:layout/>
      <c:barChart>
        <c:barDir val="bar"/>
        <c:grouping val="stacked"/>
        <c:varyColors val="0"/>
        <c:ser>
          <c:idx val="0"/>
          <c:order val="0"/>
          <c:tx>
            <c:strRef>
              <c:f>Sheet1!$B$3</c:f>
              <c:strCache>
                <c:ptCount val="1"/>
                <c:pt idx="0">
                  <c:v>HYTE</c:v>
                </c:pt>
              </c:strCache>
            </c:strRef>
          </c:tx>
          <c:invertIfNegative val="0"/>
          <c:cat>
            <c:strRef>
              <c:f>Sheet1!$A$4:$A$10</c:f>
              <c:strCache>
                <c:ptCount val="7"/>
                <c:pt idx="0">
                  <c:v>Mahdolliset Virheet, korjausta ei saatavilla</c:v>
                </c:pt>
                <c:pt idx="1">
                  <c:v>Määrittelymuutokset, toimitus kesken</c:v>
                </c:pt>
                <c:pt idx="2">
                  <c:v>Virheet, korjaus tarkastamatta</c:v>
                </c:pt>
                <c:pt idx="3">
                  <c:v>Virheet, korjaus tarkastettu</c:v>
                </c:pt>
                <c:pt idx="4">
                  <c:v>Ulkoinen korjaus tarkastettu</c:v>
                </c:pt>
                <c:pt idx="5">
                  <c:v>Tuotantovirheet</c:v>
                </c:pt>
                <c:pt idx="6">
                  <c:v>Muut havainnot, ei toimenpiteitä</c:v>
                </c:pt>
              </c:strCache>
            </c:strRef>
          </c:cat>
          <c:val>
            <c:numRef>
              <c:f>Sheet1!$B$4:$B$10</c:f>
              <c:numCache>
                <c:formatCode>General</c:formatCode>
                <c:ptCount val="7"/>
                <c:pt idx="0">
                  <c:v>4.0</c:v>
                </c:pt>
                <c:pt idx="1">
                  <c:v>1.0</c:v>
                </c:pt>
                <c:pt idx="2">
                  <c:v>1.0</c:v>
                </c:pt>
                <c:pt idx="3">
                  <c:v>10.0</c:v>
                </c:pt>
                <c:pt idx="4">
                  <c:v>1.0</c:v>
                </c:pt>
                <c:pt idx="5">
                  <c:v>1.0</c:v>
                </c:pt>
                <c:pt idx="6">
                  <c:v>14.0</c:v>
                </c:pt>
              </c:numCache>
            </c:numRef>
          </c:val>
        </c:ser>
        <c:ser>
          <c:idx val="1"/>
          <c:order val="1"/>
          <c:tx>
            <c:strRef>
              <c:f>Sheet1!$C$3</c:f>
              <c:strCache>
                <c:ptCount val="1"/>
                <c:pt idx="0">
                  <c:v>JÄTE</c:v>
                </c:pt>
              </c:strCache>
            </c:strRef>
          </c:tx>
          <c:spPr>
            <a:solidFill>
              <a:schemeClr val="accent1">
                <a:lumMod val="20000"/>
                <a:lumOff val="80000"/>
              </a:schemeClr>
            </a:solidFill>
          </c:spPr>
          <c:invertIfNegative val="0"/>
          <c:cat>
            <c:strRef>
              <c:f>Sheet1!$A$4:$A$10</c:f>
              <c:strCache>
                <c:ptCount val="7"/>
                <c:pt idx="0">
                  <c:v>Mahdolliset Virheet, korjausta ei saatavilla</c:v>
                </c:pt>
                <c:pt idx="1">
                  <c:v>Määrittelymuutokset, toimitus kesken</c:v>
                </c:pt>
                <c:pt idx="2">
                  <c:v>Virheet, korjaus tarkastamatta</c:v>
                </c:pt>
                <c:pt idx="3">
                  <c:v>Virheet, korjaus tarkastettu</c:v>
                </c:pt>
                <c:pt idx="4">
                  <c:v>Ulkoinen korjaus tarkastettu</c:v>
                </c:pt>
                <c:pt idx="5">
                  <c:v>Tuotantovirheet</c:v>
                </c:pt>
                <c:pt idx="6">
                  <c:v>Muut havainnot, ei toimenpiteitä</c:v>
                </c:pt>
              </c:strCache>
            </c:strRef>
          </c:cat>
          <c:val>
            <c:numRef>
              <c:f>Sheet1!$C$4:$C$10</c:f>
              <c:numCache>
                <c:formatCode>General</c:formatCode>
                <c:ptCount val="7"/>
                <c:pt idx="0">
                  <c:v>2.0</c:v>
                </c:pt>
                <c:pt idx="2">
                  <c:v>1.0</c:v>
                </c:pt>
              </c:numCache>
            </c:numRef>
          </c:val>
        </c:ser>
        <c:dLbls>
          <c:showLegendKey val="0"/>
          <c:showVal val="0"/>
          <c:showCatName val="0"/>
          <c:showSerName val="0"/>
          <c:showPercent val="0"/>
          <c:showBubbleSize val="0"/>
        </c:dLbls>
        <c:gapWidth val="55"/>
        <c:overlap val="100"/>
        <c:axId val="-2102321768"/>
        <c:axId val="-2102329064"/>
      </c:barChart>
      <c:catAx>
        <c:axId val="-2102321768"/>
        <c:scaling>
          <c:orientation val="minMax"/>
        </c:scaling>
        <c:delete val="0"/>
        <c:axPos val="l"/>
        <c:majorTickMark val="none"/>
        <c:minorTickMark val="none"/>
        <c:tickLblPos val="nextTo"/>
        <c:crossAx val="-2102329064"/>
        <c:crosses val="autoZero"/>
        <c:auto val="1"/>
        <c:lblAlgn val="ctr"/>
        <c:lblOffset val="100"/>
        <c:noMultiLvlLbl val="0"/>
      </c:catAx>
      <c:valAx>
        <c:axId val="-2102329064"/>
        <c:scaling>
          <c:orientation val="minMax"/>
        </c:scaling>
        <c:delete val="0"/>
        <c:axPos val="b"/>
        <c:majorGridlines/>
        <c:numFmt formatCode="General" sourceLinked="1"/>
        <c:majorTickMark val="none"/>
        <c:minorTickMark val="none"/>
        <c:tickLblPos val="nextTo"/>
        <c:crossAx val="-2102321768"/>
        <c:crosses val="autoZero"/>
        <c:crossBetween val="between"/>
      </c:valAx>
    </c:plotArea>
    <c:legend>
      <c:legendPos val="r"/>
      <c:layout/>
      <c:overlay val="0"/>
    </c:legend>
    <c:plotVisOnly val="1"/>
    <c:dispBlanksAs val="gap"/>
    <c:showDLblsOverMax val="0"/>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a:pPr>
            <a:r>
              <a:rPr lang="en-US"/>
              <a:t>Overall Testing Breakdown</a:t>
            </a:r>
          </a:p>
        </c:rich>
      </c:tx>
      <c:overlay val="0"/>
    </c:title>
    <c:autoTitleDeleted val="0"/>
    <c:view3D>
      <c:rotX val="15"/>
      <c:rotY val="0"/>
      <c:rAngAx val="0"/>
      <c:perspective val="30"/>
    </c:view3D>
    <c:floor>
      <c:thickness val="0"/>
    </c:floor>
    <c:sideWall>
      <c:thickness val="0"/>
    </c:sideWall>
    <c:backWall>
      <c:thickness val="0"/>
    </c:backWall>
    <c:plotArea>
      <c:layout/>
      <c:pie3DChart>
        <c:varyColors val="1"/>
        <c:ser>
          <c:idx val="0"/>
          <c:order val="0"/>
          <c:explosion val="25"/>
          <c:dPt>
            <c:idx val="0"/>
            <c:bubble3D val="0"/>
            <c:spPr>
              <a:solidFill>
                <a:srgbClr val="8EB4E3"/>
              </a:solidFill>
            </c:spPr>
          </c:dPt>
          <c:dPt>
            <c:idx val="1"/>
            <c:bubble3D val="0"/>
            <c:spPr>
              <a:solidFill>
                <a:srgbClr val="33CC33"/>
              </a:solidFill>
            </c:spPr>
          </c:dPt>
          <c:dPt>
            <c:idx val="2"/>
            <c:bubble3D val="0"/>
            <c:spPr>
              <a:solidFill>
                <a:srgbClr val="FF0000"/>
              </a:solidFill>
            </c:spPr>
          </c:dPt>
          <c:dPt>
            <c:idx val="3"/>
            <c:bubble3D val="0"/>
            <c:spPr>
              <a:solidFill>
                <a:srgbClr val="FFC000"/>
              </a:solidFill>
            </c:spPr>
          </c:dPt>
          <c:dLbls>
            <c:showLegendKey val="0"/>
            <c:showVal val="0"/>
            <c:showCatName val="0"/>
            <c:showSerName val="0"/>
            <c:showPercent val="1"/>
            <c:showBubbleSize val="0"/>
            <c:showLeaderLines val="1"/>
          </c:dLbls>
          <c:cat>
            <c:strRef>
              <c:f>Summary!$C$10:$C$13</c:f>
              <c:strCache>
                <c:ptCount val="4"/>
                <c:pt idx="0">
                  <c:v>Time on testing</c:v>
                </c:pt>
                <c:pt idx="1">
                  <c:v>Time on bugs</c:v>
                </c:pt>
                <c:pt idx="2">
                  <c:v>Time on setup</c:v>
                </c:pt>
                <c:pt idx="3">
                  <c:v>Time off charter</c:v>
                </c:pt>
              </c:strCache>
            </c:strRef>
          </c:cat>
          <c:val>
            <c:numRef>
              <c:f>Summary!$D$10:$D$13</c:f>
              <c:numCache>
                <c:formatCode>[h]:mm:ss;@</c:formatCode>
                <c:ptCount val="4"/>
                <c:pt idx="0">
                  <c:v>0.675555555471181</c:v>
                </c:pt>
                <c:pt idx="1">
                  <c:v>0.167395833392222</c:v>
                </c:pt>
                <c:pt idx="2">
                  <c:v>0.00996527778625022</c:v>
                </c:pt>
                <c:pt idx="3">
                  <c:v>0.0428703703873907</c:v>
                </c:pt>
              </c:numCache>
            </c:numRef>
          </c:val>
        </c:ser>
        <c:dLbls>
          <c:showLegendKey val="0"/>
          <c:showVal val="0"/>
          <c:showCatName val="0"/>
          <c:showSerName val="0"/>
          <c:showPercent val="0"/>
          <c:showBubbleSize val="0"/>
          <c:showLeaderLines val="1"/>
        </c:dLbls>
      </c:pie3DChart>
      <c:spPr>
        <a:noFill/>
        <a:ln w="25400">
          <a:noFill/>
        </a:ln>
      </c:spPr>
    </c:plotArea>
    <c:legend>
      <c:legendPos val="b"/>
      <c:overlay val="0"/>
    </c:legend>
    <c:plotVisOnly val="1"/>
    <c:dispBlanksAs val="zero"/>
    <c:showDLblsOverMax val="0"/>
  </c:chart>
  <c:txPr>
    <a:bodyPr/>
    <a:lstStyle/>
    <a:p>
      <a:pPr>
        <a:defRPr sz="600"/>
      </a:pPr>
      <a:endParaRPr lang="en-US"/>
    </a:p>
  </c:txPr>
  <c:externalData r:id="rId2">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a:pPr>
            <a:r>
              <a:rPr lang="en-US"/>
              <a:t>Test-Bug-Setup Breakdown</a:t>
            </a:r>
          </a:p>
        </c:rich>
      </c:tx>
      <c:overlay val="0"/>
    </c:title>
    <c:autoTitleDeleted val="0"/>
    <c:view3D>
      <c:rotX val="15"/>
      <c:rotY val="0"/>
      <c:rAngAx val="0"/>
      <c:perspective val="30"/>
    </c:view3D>
    <c:floor>
      <c:thickness val="0"/>
    </c:floor>
    <c:sideWall>
      <c:thickness val="0"/>
    </c:sideWall>
    <c:backWall>
      <c:thickness val="0"/>
    </c:backWall>
    <c:plotArea>
      <c:layout/>
      <c:pie3DChart>
        <c:varyColors val="1"/>
        <c:ser>
          <c:idx val="0"/>
          <c:order val="0"/>
          <c:explosion val="25"/>
          <c:dPt>
            <c:idx val="0"/>
            <c:bubble3D val="0"/>
            <c:spPr>
              <a:solidFill>
                <a:srgbClr val="8EB4E3"/>
              </a:solidFill>
            </c:spPr>
          </c:dPt>
          <c:dPt>
            <c:idx val="1"/>
            <c:bubble3D val="0"/>
            <c:spPr>
              <a:solidFill>
                <a:srgbClr val="33CC33"/>
              </a:solidFill>
            </c:spPr>
          </c:dPt>
          <c:dPt>
            <c:idx val="2"/>
            <c:bubble3D val="0"/>
            <c:spPr>
              <a:solidFill>
                <a:srgbClr val="FF0000"/>
              </a:solidFill>
            </c:spPr>
          </c:dPt>
          <c:dLbls>
            <c:showLegendKey val="0"/>
            <c:showVal val="0"/>
            <c:showCatName val="0"/>
            <c:showSerName val="0"/>
            <c:showPercent val="1"/>
            <c:showBubbleSize val="0"/>
            <c:showLeaderLines val="1"/>
          </c:dLbls>
          <c:cat>
            <c:strRef>
              <c:f>Summary!$C$10:$C$12</c:f>
              <c:strCache>
                <c:ptCount val="3"/>
                <c:pt idx="0">
                  <c:v>Time on testing</c:v>
                </c:pt>
                <c:pt idx="1">
                  <c:v>Time on bugs</c:v>
                </c:pt>
                <c:pt idx="2">
                  <c:v>Time on setup</c:v>
                </c:pt>
              </c:strCache>
            </c:strRef>
          </c:cat>
          <c:val>
            <c:numRef>
              <c:f>Summary!$D$10:$D$12</c:f>
              <c:numCache>
                <c:formatCode>[h]:mm:ss;@</c:formatCode>
                <c:ptCount val="3"/>
                <c:pt idx="0">
                  <c:v>0.675555555471181</c:v>
                </c:pt>
                <c:pt idx="1">
                  <c:v>0.167395833392222</c:v>
                </c:pt>
                <c:pt idx="2">
                  <c:v>0.00996527778625022</c:v>
                </c:pt>
              </c:numCache>
            </c:numRef>
          </c:val>
        </c:ser>
        <c:dLbls>
          <c:showLegendKey val="0"/>
          <c:showVal val="0"/>
          <c:showCatName val="0"/>
          <c:showSerName val="0"/>
          <c:showPercent val="0"/>
          <c:showBubbleSize val="0"/>
          <c:showLeaderLines val="1"/>
        </c:dLbls>
      </c:pie3DChart>
      <c:spPr>
        <a:noFill/>
        <a:ln w="25400">
          <a:noFill/>
        </a:ln>
      </c:spPr>
    </c:plotArea>
    <c:legend>
      <c:legendPos val="b"/>
      <c:overlay val="0"/>
    </c:legend>
    <c:plotVisOnly val="1"/>
    <c:dispBlanksAs val="zero"/>
    <c:showDLblsOverMax val="0"/>
  </c:chart>
  <c:txPr>
    <a:bodyPr/>
    <a:lstStyle/>
    <a:p>
      <a:pPr>
        <a:defRPr sz="600"/>
      </a:pPr>
      <a:endParaRPr lang="en-US"/>
    </a:p>
  </c:txPr>
  <c:externalData r:id="rId2">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a:pPr>
            <a:r>
              <a:rPr lang="en-US"/>
              <a:t>Exploratory Testing Progress</a:t>
            </a:r>
          </a:p>
        </c:rich>
      </c:tx>
      <c:overlay val="0"/>
    </c:title>
    <c:autoTitleDeleted val="0"/>
    <c:plotArea>
      <c:layout/>
      <c:lineChart>
        <c:grouping val="standard"/>
        <c:varyColors val="0"/>
        <c:ser>
          <c:idx val="0"/>
          <c:order val="0"/>
          <c:tx>
            <c:v>Testing Time</c:v>
          </c:tx>
          <c:spPr>
            <a:ln>
              <a:solidFill>
                <a:srgbClr val="33CC33"/>
              </a:solidFill>
              <a:prstDash val="solid"/>
            </a:ln>
          </c:spPr>
          <c:marker>
            <c:symbol val="none"/>
          </c:marker>
          <c:cat>
            <c:numRef>
              <c:f>Sessions!$A$2:$A$19</c:f>
              <c:numCache>
                <c:formatCode>dd\-mm\-yyyy</c:formatCode>
                <c:ptCount val="18"/>
                <c:pt idx="0">
                  <c:v>40737.66180555532</c:v>
                </c:pt>
                <c:pt idx="1">
                  <c:v>40738.58402777778</c:v>
                </c:pt>
                <c:pt idx="2">
                  <c:v>40738.66319444445</c:v>
                </c:pt>
                <c:pt idx="3">
                  <c:v>40739.39236111099</c:v>
                </c:pt>
                <c:pt idx="4">
                  <c:v>40739.43680555555</c:v>
                </c:pt>
                <c:pt idx="5">
                  <c:v>40739.61458333334</c:v>
                </c:pt>
                <c:pt idx="6">
                  <c:v>40739.66041666659</c:v>
                </c:pt>
                <c:pt idx="7">
                  <c:v>40740.59444444445</c:v>
                </c:pt>
                <c:pt idx="8">
                  <c:v>40740.67430555556</c:v>
                </c:pt>
                <c:pt idx="9">
                  <c:v>40740.73680555556</c:v>
                </c:pt>
                <c:pt idx="10">
                  <c:v>40742.47430555556</c:v>
                </c:pt>
                <c:pt idx="11">
                  <c:v>40742.47708333332</c:v>
                </c:pt>
                <c:pt idx="12">
                  <c:v>40742.6076388889</c:v>
                </c:pt>
                <c:pt idx="13">
                  <c:v>40742.67708333318</c:v>
                </c:pt>
                <c:pt idx="14">
                  <c:v>40743.6361111111</c:v>
                </c:pt>
                <c:pt idx="15">
                  <c:v>40743.63819444461</c:v>
                </c:pt>
                <c:pt idx="16">
                  <c:v>40743.70833333334</c:v>
                </c:pt>
                <c:pt idx="17">
                  <c:v>40743.72291666659</c:v>
                </c:pt>
              </c:numCache>
            </c:numRef>
          </c:cat>
          <c:val>
            <c:numRef>
              <c:f>Sessions!$O$2:$O$19</c:f>
              <c:numCache>
                <c:formatCode>0</c:formatCode>
                <c:ptCount val="18"/>
                <c:pt idx="0">
                  <c:v>1.451388888888889</c:v>
                </c:pt>
                <c:pt idx="1">
                  <c:v>2.595</c:v>
                </c:pt>
                <c:pt idx="2">
                  <c:v>3.624722222222236</c:v>
                </c:pt>
                <c:pt idx="3">
                  <c:v>5.675277777777778</c:v>
                </c:pt>
                <c:pt idx="4">
                  <c:v>6.74638888888889</c:v>
                </c:pt>
                <c:pt idx="5">
                  <c:v>7.806388888888888</c:v>
                </c:pt>
                <c:pt idx="6">
                  <c:v>9.214722222222223</c:v>
                </c:pt>
                <c:pt idx="7">
                  <c:v>10.39805555555555</c:v>
                </c:pt>
                <c:pt idx="8">
                  <c:v>11.68138888888889</c:v>
                </c:pt>
                <c:pt idx="9">
                  <c:v>12.78138888888889</c:v>
                </c:pt>
                <c:pt idx="10">
                  <c:v>13.81138888888889</c:v>
                </c:pt>
                <c:pt idx="11">
                  <c:v>14.82916666666668</c:v>
                </c:pt>
                <c:pt idx="12">
                  <c:v>15.85277777777781</c:v>
                </c:pt>
                <c:pt idx="13">
                  <c:v>16.82611111111111</c:v>
                </c:pt>
                <c:pt idx="14">
                  <c:v>18.05944444444444</c:v>
                </c:pt>
                <c:pt idx="15">
                  <c:v>19.17222222222219</c:v>
                </c:pt>
                <c:pt idx="16">
                  <c:v>20.29611111111111</c:v>
                </c:pt>
                <c:pt idx="17">
                  <c:v>21.49888888888889</c:v>
                </c:pt>
              </c:numCache>
            </c:numRef>
          </c:val>
          <c:smooth val="0"/>
        </c:ser>
        <c:ser>
          <c:idx val="1"/>
          <c:order val="1"/>
          <c:tx>
            <c:v>No. of Bugs Found</c:v>
          </c:tx>
          <c:spPr>
            <a:ln>
              <a:solidFill>
                <a:srgbClr val="C00000"/>
              </a:solidFill>
              <a:prstDash val="solid"/>
            </a:ln>
          </c:spPr>
          <c:marker>
            <c:symbol val="none"/>
          </c:marker>
          <c:cat>
            <c:numRef>
              <c:f>Sessions!$A$2:$A$19</c:f>
              <c:numCache>
                <c:formatCode>dd\-mm\-yyyy</c:formatCode>
                <c:ptCount val="18"/>
                <c:pt idx="0">
                  <c:v>40737.66180555532</c:v>
                </c:pt>
                <c:pt idx="1">
                  <c:v>40738.58402777778</c:v>
                </c:pt>
                <c:pt idx="2">
                  <c:v>40738.66319444445</c:v>
                </c:pt>
                <c:pt idx="3">
                  <c:v>40739.39236111099</c:v>
                </c:pt>
                <c:pt idx="4">
                  <c:v>40739.43680555555</c:v>
                </c:pt>
                <c:pt idx="5">
                  <c:v>40739.61458333334</c:v>
                </c:pt>
                <c:pt idx="6">
                  <c:v>40739.66041666659</c:v>
                </c:pt>
                <c:pt idx="7">
                  <c:v>40740.59444444445</c:v>
                </c:pt>
                <c:pt idx="8">
                  <c:v>40740.67430555556</c:v>
                </c:pt>
                <c:pt idx="9">
                  <c:v>40740.73680555556</c:v>
                </c:pt>
                <c:pt idx="10">
                  <c:v>40742.47430555556</c:v>
                </c:pt>
                <c:pt idx="11">
                  <c:v>40742.47708333332</c:v>
                </c:pt>
                <c:pt idx="12">
                  <c:v>40742.6076388889</c:v>
                </c:pt>
                <c:pt idx="13">
                  <c:v>40742.67708333318</c:v>
                </c:pt>
                <c:pt idx="14">
                  <c:v>40743.6361111111</c:v>
                </c:pt>
                <c:pt idx="15">
                  <c:v>40743.63819444461</c:v>
                </c:pt>
                <c:pt idx="16">
                  <c:v>40743.70833333334</c:v>
                </c:pt>
                <c:pt idx="17">
                  <c:v>40743.72291666659</c:v>
                </c:pt>
              </c:numCache>
            </c:numRef>
          </c:cat>
          <c:val>
            <c:numRef>
              <c:f>Sessions!$M$2:$M$19</c:f>
              <c:numCache>
                <c:formatCode>General</c:formatCode>
                <c:ptCount val="18"/>
                <c:pt idx="0">
                  <c:v>7.0</c:v>
                </c:pt>
                <c:pt idx="1">
                  <c:v>7.0</c:v>
                </c:pt>
                <c:pt idx="2">
                  <c:v>9.0</c:v>
                </c:pt>
                <c:pt idx="3">
                  <c:v>12.0</c:v>
                </c:pt>
                <c:pt idx="4">
                  <c:v>13.0</c:v>
                </c:pt>
                <c:pt idx="5">
                  <c:v>14.0</c:v>
                </c:pt>
                <c:pt idx="6">
                  <c:v>15.0</c:v>
                </c:pt>
                <c:pt idx="7">
                  <c:v>18.0</c:v>
                </c:pt>
                <c:pt idx="8">
                  <c:v>19.0</c:v>
                </c:pt>
                <c:pt idx="9">
                  <c:v>27.0</c:v>
                </c:pt>
                <c:pt idx="10">
                  <c:v>27.0</c:v>
                </c:pt>
                <c:pt idx="11">
                  <c:v>28.0</c:v>
                </c:pt>
                <c:pt idx="12">
                  <c:v>30.0</c:v>
                </c:pt>
                <c:pt idx="13">
                  <c:v>31.0</c:v>
                </c:pt>
                <c:pt idx="14">
                  <c:v>33.0</c:v>
                </c:pt>
                <c:pt idx="15">
                  <c:v>36.0</c:v>
                </c:pt>
                <c:pt idx="16">
                  <c:v>36.0</c:v>
                </c:pt>
                <c:pt idx="17">
                  <c:v>37.0</c:v>
                </c:pt>
              </c:numCache>
            </c:numRef>
          </c:val>
          <c:smooth val="0"/>
        </c:ser>
        <c:ser>
          <c:idx val="2"/>
          <c:order val="2"/>
          <c:tx>
            <c:v>Time on Bugs</c:v>
          </c:tx>
          <c:spPr>
            <a:ln>
              <a:solidFill>
                <a:srgbClr val="FFC000"/>
              </a:solidFill>
              <a:prstDash val="solid"/>
            </a:ln>
          </c:spPr>
          <c:marker>
            <c:symbol val="none"/>
          </c:marker>
          <c:cat>
            <c:numRef>
              <c:f>Sessions!$A$2:$A$19</c:f>
              <c:numCache>
                <c:formatCode>dd\-mm\-yyyy</c:formatCode>
                <c:ptCount val="18"/>
                <c:pt idx="0">
                  <c:v>40737.66180555532</c:v>
                </c:pt>
                <c:pt idx="1">
                  <c:v>40738.58402777778</c:v>
                </c:pt>
                <c:pt idx="2">
                  <c:v>40738.66319444445</c:v>
                </c:pt>
                <c:pt idx="3">
                  <c:v>40739.39236111099</c:v>
                </c:pt>
                <c:pt idx="4">
                  <c:v>40739.43680555555</c:v>
                </c:pt>
                <c:pt idx="5">
                  <c:v>40739.61458333334</c:v>
                </c:pt>
                <c:pt idx="6">
                  <c:v>40739.66041666659</c:v>
                </c:pt>
                <c:pt idx="7">
                  <c:v>40740.59444444445</c:v>
                </c:pt>
                <c:pt idx="8">
                  <c:v>40740.67430555556</c:v>
                </c:pt>
                <c:pt idx="9">
                  <c:v>40740.73680555556</c:v>
                </c:pt>
                <c:pt idx="10">
                  <c:v>40742.47430555556</c:v>
                </c:pt>
                <c:pt idx="11">
                  <c:v>40742.47708333332</c:v>
                </c:pt>
                <c:pt idx="12">
                  <c:v>40742.6076388889</c:v>
                </c:pt>
                <c:pt idx="13">
                  <c:v>40742.67708333318</c:v>
                </c:pt>
                <c:pt idx="14">
                  <c:v>40743.6361111111</c:v>
                </c:pt>
                <c:pt idx="15">
                  <c:v>40743.63819444461</c:v>
                </c:pt>
                <c:pt idx="16">
                  <c:v>40743.70833333334</c:v>
                </c:pt>
                <c:pt idx="17">
                  <c:v>40743.72291666659</c:v>
                </c:pt>
              </c:numCache>
            </c:numRef>
          </c:cat>
          <c:val>
            <c:numRef>
              <c:f>Sessions!$R$2:$R$19</c:f>
              <c:numCache>
                <c:formatCode>0</c:formatCode>
                <c:ptCount val="18"/>
                <c:pt idx="0">
                  <c:v>0.521944444444446</c:v>
                </c:pt>
                <c:pt idx="1">
                  <c:v>0.521944444444446</c:v>
                </c:pt>
                <c:pt idx="2">
                  <c:v>0.985555555555555</c:v>
                </c:pt>
                <c:pt idx="3">
                  <c:v>1.106666666666667</c:v>
                </c:pt>
                <c:pt idx="4">
                  <c:v>1.263055555555556</c:v>
                </c:pt>
                <c:pt idx="5">
                  <c:v>1.318611111111112</c:v>
                </c:pt>
                <c:pt idx="6">
                  <c:v>1.705555555555556</c:v>
                </c:pt>
                <c:pt idx="7">
                  <c:v>1.872222222222222</c:v>
                </c:pt>
                <c:pt idx="8">
                  <c:v>1.922222222222222</c:v>
                </c:pt>
                <c:pt idx="9">
                  <c:v>2.972222222222222</c:v>
                </c:pt>
                <c:pt idx="10">
                  <c:v>2.972222222222222</c:v>
                </c:pt>
                <c:pt idx="11">
                  <c:v>3.040277777777793</c:v>
                </c:pt>
                <c:pt idx="12">
                  <c:v>3.296388888888888</c:v>
                </c:pt>
                <c:pt idx="13">
                  <c:v>3.363888888888887</c:v>
                </c:pt>
                <c:pt idx="14">
                  <c:v>3.855833333333314</c:v>
                </c:pt>
                <c:pt idx="15">
                  <c:v>3.9975</c:v>
                </c:pt>
                <c:pt idx="16">
                  <c:v>3.9975</c:v>
                </c:pt>
                <c:pt idx="17">
                  <c:v>4.017499999999997</c:v>
                </c:pt>
              </c:numCache>
            </c:numRef>
          </c:val>
          <c:smooth val="0"/>
        </c:ser>
        <c:dLbls>
          <c:showLegendKey val="0"/>
          <c:showVal val="0"/>
          <c:showCatName val="0"/>
          <c:showSerName val="0"/>
          <c:showPercent val="0"/>
          <c:showBubbleSize val="0"/>
        </c:dLbls>
        <c:marker val="1"/>
        <c:smooth val="0"/>
        <c:axId val="713808952"/>
        <c:axId val="713812008"/>
      </c:lineChart>
      <c:catAx>
        <c:axId val="713808952"/>
        <c:scaling>
          <c:orientation val="minMax"/>
        </c:scaling>
        <c:delete val="0"/>
        <c:axPos val="b"/>
        <c:numFmt formatCode="dd\-mm\-yyyy" sourceLinked="1"/>
        <c:majorTickMark val="out"/>
        <c:minorTickMark val="none"/>
        <c:tickLblPos val="nextTo"/>
        <c:crossAx val="713812008"/>
        <c:crosses val="autoZero"/>
        <c:auto val="0"/>
        <c:lblAlgn val="ctr"/>
        <c:lblOffset val="100"/>
        <c:noMultiLvlLbl val="0"/>
      </c:catAx>
      <c:valAx>
        <c:axId val="713812008"/>
        <c:scaling>
          <c:orientation val="minMax"/>
        </c:scaling>
        <c:delete val="0"/>
        <c:axPos val="l"/>
        <c:majorGridlines/>
        <c:numFmt formatCode="0" sourceLinked="1"/>
        <c:majorTickMark val="out"/>
        <c:minorTickMark val="none"/>
        <c:tickLblPos val="nextTo"/>
        <c:crossAx val="713808952"/>
        <c:crosses val="autoZero"/>
        <c:crossBetween val="between"/>
      </c:valAx>
    </c:plotArea>
    <c:legend>
      <c:legendPos val="b"/>
      <c:overlay val="0"/>
    </c:legend>
    <c:plotVisOnly val="1"/>
    <c:dispBlanksAs val="gap"/>
    <c:showDLblsOverMax val="0"/>
  </c:chart>
  <c:txPr>
    <a:bodyPr/>
    <a:lstStyle/>
    <a:p>
      <a:pPr>
        <a:defRPr sz="600"/>
      </a:pPr>
      <a:endParaRPr lang="en-US"/>
    </a:p>
  </c:txPr>
  <c:externalData r:id="rId2">
    <c:autoUpdate val="0"/>
  </c:externalData>
</c:chartSpace>
</file>

<file path=ppt/diagrams/_rels/data21.xml.rels><?xml version="1.0" encoding="UTF-8" standalone="yes"?>
<Relationships xmlns="http://schemas.openxmlformats.org/package/2006/relationships"><Relationship Id="rId1" Type="http://schemas.openxmlformats.org/officeDocument/2006/relationships/image" Target="../media/image63.wmf"/></Relationships>
</file>

<file path=ppt/diagrams/colors1.xml><?xml version="1.0" encoding="utf-8"?>
<dgm:colorsDef xmlns:dgm="http://schemas.openxmlformats.org/drawingml/2006/diagram" xmlns:a="http://schemas.openxmlformats.org/drawingml/2006/main" uniqueId="urn:microsoft.com/office/officeart/2005/8/colors/colorful1#6">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7">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8">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9">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10">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1#1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13">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1#14">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1#15">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1#16">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1#17">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1#18">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colorful1#19">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colorful1#20">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colorful1#2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colorful1#2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colorful1#23">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C8C534-B55B-41EF-88DB-ED9C24EBB7FC}" type="doc">
      <dgm:prSet loTypeId="urn:microsoft.com/office/officeart/2005/8/layout/hList1" loCatId="list" qsTypeId="urn:microsoft.com/office/officeart/2005/8/quickstyle/simple1" qsCatId="simple" csTypeId="urn:microsoft.com/office/officeart/2005/8/colors/colorful1#6" csCatId="colorful" phldr="1"/>
      <dgm:spPr/>
      <dgm:t>
        <a:bodyPr/>
        <a:lstStyle/>
        <a:p>
          <a:endParaRPr lang="fi-FI"/>
        </a:p>
      </dgm:t>
    </dgm:pt>
    <dgm:pt modelId="{876F12A8-3CBF-4C23-9511-B3BE912EE8A9}">
      <dgm:prSet custT="1"/>
      <dgm:spPr/>
      <dgm:t>
        <a:bodyPr/>
        <a:lstStyle/>
        <a:p>
          <a:pPr rtl="0"/>
          <a:r>
            <a:rPr lang="fi-FI" sz="1100" b="1" dirty="0" smtClean="0"/>
            <a:t>Hyväksymistestauksen rooli ja merkitys</a:t>
          </a:r>
          <a:endParaRPr lang="fi-FI" sz="1100" b="1" dirty="0"/>
        </a:p>
      </dgm:t>
    </dgm:pt>
    <dgm:pt modelId="{1BEBABA3-2449-4976-9CA0-CD33A6A3B3B9}" type="parTrans" cxnId="{D1E18ACA-E2AC-419B-B0C8-489177C231F1}">
      <dgm:prSet/>
      <dgm:spPr/>
      <dgm:t>
        <a:bodyPr/>
        <a:lstStyle/>
        <a:p>
          <a:endParaRPr lang="fi-FI" sz="2000"/>
        </a:p>
      </dgm:t>
    </dgm:pt>
    <dgm:pt modelId="{9D64F3A3-F0ED-495F-BD66-97CC72F1F1F0}" type="sibTrans" cxnId="{D1E18ACA-E2AC-419B-B0C8-489177C231F1}">
      <dgm:prSet/>
      <dgm:spPr/>
      <dgm:t>
        <a:bodyPr/>
        <a:lstStyle/>
        <a:p>
          <a:endParaRPr lang="fi-FI" sz="2000"/>
        </a:p>
      </dgm:t>
    </dgm:pt>
    <dgm:pt modelId="{77261A98-EA16-48DE-BDEC-862B033DFA44}">
      <dgm:prSet custT="1"/>
      <dgm:spPr/>
      <dgm:t>
        <a:bodyPr/>
        <a:lstStyle/>
        <a:p>
          <a:pPr rtl="0"/>
          <a:r>
            <a:rPr lang="fi-FI" sz="1050" dirty="0" smtClean="0"/>
            <a:t>Testaus järjestelmän tilaajalle ja omistajalle</a:t>
          </a:r>
          <a:endParaRPr lang="fi-FI" sz="1050" dirty="0"/>
        </a:p>
      </dgm:t>
    </dgm:pt>
    <dgm:pt modelId="{4AE48503-4481-4041-AD0D-FB09D10A177D}" type="parTrans" cxnId="{6477DD6F-8191-4390-B4DF-FA9A84E61F4F}">
      <dgm:prSet/>
      <dgm:spPr/>
      <dgm:t>
        <a:bodyPr/>
        <a:lstStyle/>
        <a:p>
          <a:endParaRPr lang="fi-FI" sz="2000"/>
        </a:p>
      </dgm:t>
    </dgm:pt>
    <dgm:pt modelId="{F5E35242-EFA8-4231-BC41-3E8B48AEE665}" type="sibTrans" cxnId="{6477DD6F-8191-4390-B4DF-FA9A84E61F4F}">
      <dgm:prSet/>
      <dgm:spPr/>
      <dgm:t>
        <a:bodyPr/>
        <a:lstStyle/>
        <a:p>
          <a:endParaRPr lang="fi-FI" sz="2000"/>
        </a:p>
      </dgm:t>
    </dgm:pt>
    <dgm:pt modelId="{C47477C1-EBA0-4A69-9865-EEB1CC3C0A49}">
      <dgm:prSet custT="1"/>
      <dgm:spPr/>
      <dgm:t>
        <a:bodyPr/>
        <a:lstStyle/>
        <a:p>
          <a:pPr rtl="0"/>
          <a:r>
            <a:rPr lang="fi-FI" sz="1050" dirty="0" smtClean="0"/>
            <a:t>Monitoimittajaympäristön erityispiirteet hyväksymistestaukselle</a:t>
          </a:r>
          <a:endParaRPr lang="fi-FI" sz="1050" dirty="0"/>
        </a:p>
      </dgm:t>
    </dgm:pt>
    <dgm:pt modelId="{2DAF60AF-9674-4AD9-9AC9-067991921028}" type="parTrans" cxnId="{59B3EA95-794A-41E4-AD77-16978C50CA9E}">
      <dgm:prSet/>
      <dgm:spPr/>
      <dgm:t>
        <a:bodyPr/>
        <a:lstStyle/>
        <a:p>
          <a:endParaRPr lang="fi-FI" sz="2000"/>
        </a:p>
      </dgm:t>
    </dgm:pt>
    <dgm:pt modelId="{3208B049-162D-4726-BC74-C2FDF40ED359}" type="sibTrans" cxnId="{59B3EA95-794A-41E4-AD77-16978C50CA9E}">
      <dgm:prSet/>
      <dgm:spPr/>
      <dgm:t>
        <a:bodyPr/>
        <a:lstStyle/>
        <a:p>
          <a:endParaRPr lang="fi-FI" sz="2000"/>
        </a:p>
      </dgm:t>
    </dgm:pt>
    <dgm:pt modelId="{C896329D-659F-41D8-8428-23F35A3F2A7F}">
      <dgm:prSet custT="1"/>
      <dgm:spPr/>
      <dgm:t>
        <a:bodyPr/>
        <a:lstStyle/>
        <a:p>
          <a:pPr rtl="0"/>
          <a:r>
            <a:rPr lang="fi-FI" sz="1050" dirty="0" smtClean="0"/>
            <a:t>Laatutiedon rakentaminen palasille ja kokonaisuudelle</a:t>
          </a:r>
          <a:endParaRPr lang="fi-FI" sz="1050" dirty="0"/>
        </a:p>
      </dgm:t>
    </dgm:pt>
    <dgm:pt modelId="{1095EFC7-C63D-462E-9409-7653C01AAA33}" type="parTrans" cxnId="{A960D218-BB75-455A-95BF-012050E1AFB9}">
      <dgm:prSet/>
      <dgm:spPr/>
      <dgm:t>
        <a:bodyPr/>
        <a:lstStyle/>
        <a:p>
          <a:endParaRPr lang="fi-FI" sz="2000"/>
        </a:p>
      </dgm:t>
    </dgm:pt>
    <dgm:pt modelId="{B35503A3-5959-4612-89F8-373578912E93}" type="sibTrans" cxnId="{A960D218-BB75-455A-95BF-012050E1AFB9}">
      <dgm:prSet/>
      <dgm:spPr/>
      <dgm:t>
        <a:bodyPr/>
        <a:lstStyle/>
        <a:p>
          <a:endParaRPr lang="fi-FI" sz="2000"/>
        </a:p>
      </dgm:t>
    </dgm:pt>
    <dgm:pt modelId="{1D93A904-DA31-4610-8126-8F418CD7E1E6}">
      <dgm:prSet custT="1"/>
      <dgm:spPr/>
      <dgm:t>
        <a:bodyPr/>
        <a:lstStyle/>
        <a:p>
          <a:pPr rtl="0"/>
          <a:r>
            <a:rPr lang="fi-FI" sz="1050" dirty="0" smtClean="0"/>
            <a:t>Laadun monet näkökulmat: toiminnallinen ja ei-toiminnallinen testaus; näkyvä toimituslaatu sekä jatkokehityksen helppous</a:t>
          </a:r>
          <a:endParaRPr lang="fi-FI" sz="1050" dirty="0"/>
        </a:p>
      </dgm:t>
    </dgm:pt>
    <dgm:pt modelId="{637248D1-417D-468F-8F5A-263F0EEE4E25}" type="parTrans" cxnId="{5D40A653-A696-4FD0-A24A-7CCAC7193D58}">
      <dgm:prSet/>
      <dgm:spPr/>
      <dgm:t>
        <a:bodyPr/>
        <a:lstStyle/>
        <a:p>
          <a:endParaRPr lang="fi-FI" sz="2000"/>
        </a:p>
      </dgm:t>
    </dgm:pt>
    <dgm:pt modelId="{4CE4025D-124A-4864-812A-CAFE879FDB0F}" type="sibTrans" cxnId="{5D40A653-A696-4FD0-A24A-7CCAC7193D58}">
      <dgm:prSet/>
      <dgm:spPr/>
      <dgm:t>
        <a:bodyPr/>
        <a:lstStyle/>
        <a:p>
          <a:endParaRPr lang="fi-FI" sz="2000"/>
        </a:p>
      </dgm:t>
    </dgm:pt>
    <dgm:pt modelId="{ED3D8A5C-A004-4F25-9E95-105C5CBAC5B8}">
      <dgm:prSet custT="1"/>
      <dgm:spPr/>
      <dgm:t>
        <a:bodyPr/>
        <a:lstStyle/>
        <a:p>
          <a:pPr rtl="0"/>
          <a:r>
            <a:rPr lang="fi-FI" sz="1050" dirty="0" smtClean="0"/>
            <a:t>Dokumentaation katselmointien rooli hyväksymistestauksessa</a:t>
          </a:r>
          <a:endParaRPr lang="fi-FI" sz="1050" dirty="0"/>
        </a:p>
      </dgm:t>
    </dgm:pt>
    <dgm:pt modelId="{2602785F-5020-4C37-9349-25B3C6EB8027}" type="parTrans" cxnId="{D71B0854-94D7-4E70-9906-79916BDF1C2E}">
      <dgm:prSet/>
      <dgm:spPr/>
      <dgm:t>
        <a:bodyPr/>
        <a:lstStyle/>
        <a:p>
          <a:endParaRPr lang="fi-FI" sz="2000"/>
        </a:p>
      </dgm:t>
    </dgm:pt>
    <dgm:pt modelId="{B91310B6-65D7-4C98-8D22-83CC38A1C4FE}" type="sibTrans" cxnId="{D71B0854-94D7-4E70-9906-79916BDF1C2E}">
      <dgm:prSet/>
      <dgm:spPr/>
      <dgm:t>
        <a:bodyPr/>
        <a:lstStyle/>
        <a:p>
          <a:endParaRPr lang="fi-FI" sz="2000"/>
        </a:p>
      </dgm:t>
    </dgm:pt>
    <dgm:pt modelId="{0C5135B2-B7D9-4A56-B321-EACBE96AD852}">
      <dgm:prSet custT="1"/>
      <dgm:spPr/>
      <dgm:t>
        <a:bodyPr/>
        <a:lstStyle/>
        <a:p>
          <a:pPr rtl="0"/>
          <a:r>
            <a:rPr lang="fi-FI" sz="1050" dirty="0" smtClean="0"/>
            <a:t>Hyväksymistestauksen suhde muuhun testaukseen: tilaajan ja toimittajan työnjako</a:t>
          </a:r>
          <a:endParaRPr lang="fi-FI" sz="1050" dirty="0"/>
        </a:p>
      </dgm:t>
    </dgm:pt>
    <dgm:pt modelId="{AFF35C9C-E88B-481D-A218-745179C42A89}" type="parTrans" cxnId="{EC0C1EBC-1BB6-4B64-9783-15A05DC6D254}">
      <dgm:prSet/>
      <dgm:spPr/>
      <dgm:t>
        <a:bodyPr/>
        <a:lstStyle/>
        <a:p>
          <a:endParaRPr lang="fi-FI" sz="2000"/>
        </a:p>
      </dgm:t>
    </dgm:pt>
    <dgm:pt modelId="{2AF380E5-541E-476E-A57D-2AF52F0FD3CF}" type="sibTrans" cxnId="{EC0C1EBC-1BB6-4B64-9783-15A05DC6D254}">
      <dgm:prSet/>
      <dgm:spPr/>
      <dgm:t>
        <a:bodyPr/>
        <a:lstStyle/>
        <a:p>
          <a:endParaRPr lang="fi-FI" sz="2000"/>
        </a:p>
      </dgm:t>
    </dgm:pt>
    <dgm:pt modelId="{17A262F1-9003-4C77-8F50-D8E5C174B968}">
      <dgm:prSet custT="1"/>
      <dgm:spPr/>
      <dgm:t>
        <a:bodyPr/>
        <a:lstStyle/>
        <a:p>
          <a:pPr rtl="0"/>
          <a:r>
            <a:rPr lang="fi-FI" sz="1050" dirty="0" smtClean="0"/>
            <a:t>Hyväksymistestauksen erot laskunmaksuun ja tuotantoonsiirtoon liittyen</a:t>
          </a:r>
          <a:endParaRPr lang="fi-FI" sz="1050" dirty="0"/>
        </a:p>
      </dgm:t>
    </dgm:pt>
    <dgm:pt modelId="{6CB28059-AA75-4527-99CA-A3EDDA9850C4}" type="parTrans" cxnId="{30566708-7369-440D-8220-D3C7D17B04FC}">
      <dgm:prSet/>
      <dgm:spPr/>
      <dgm:t>
        <a:bodyPr/>
        <a:lstStyle/>
        <a:p>
          <a:endParaRPr lang="fi-FI" sz="2000"/>
        </a:p>
      </dgm:t>
    </dgm:pt>
    <dgm:pt modelId="{2C6A6872-2DBF-427F-9E6B-05310B7310D1}" type="sibTrans" cxnId="{30566708-7369-440D-8220-D3C7D17B04FC}">
      <dgm:prSet/>
      <dgm:spPr/>
      <dgm:t>
        <a:bodyPr/>
        <a:lstStyle/>
        <a:p>
          <a:endParaRPr lang="fi-FI" sz="2000"/>
        </a:p>
      </dgm:t>
    </dgm:pt>
    <dgm:pt modelId="{B388BF5D-1F28-4429-9317-BEF154AD918C}">
      <dgm:prSet custT="1"/>
      <dgm:spPr/>
      <dgm:t>
        <a:bodyPr/>
        <a:lstStyle/>
        <a:p>
          <a:pPr rtl="0"/>
          <a:r>
            <a:rPr lang="fi-FI" sz="1050" dirty="0" smtClean="0"/>
            <a:t>Hyväksymistestauksen erilainen merkitys ketterissä menetelmissä</a:t>
          </a:r>
          <a:endParaRPr lang="fi-FI" sz="1050" dirty="0"/>
        </a:p>
      </dgm:t>
    </dgm:pt>
    <dgm:pt modelId="{00DC2BDA-9FCE-4789-8612-CBAB489E1008}" type="parTrans" cxnId="{931434B6-00F4-4699-887F-56BCBF48E59B}">
      <dgm:prSet/>
      <dgm:spPr/>
      <dgm:t>
        <a:bodyPr/>
        <a:lstStyle/>
        <a:p>
          <a:endParaRPr lang="fi-FI" sz="2000"/>
        </a:p>
      </dgm:t>
    </dgm:pt>
    <dgm:pt modelId="{04381C85-A969-462F-89C0-62961ACABCF6}" type="sibTrans" cxnId="{931434B6-00F4-4699-887F-56BCBF48E59B}">
      <dgm:prSet/>
      <dgm:spPr/>
      <dgm:t>
        <a:bodyPr/>
        <a:lstStyle/>
        <a:p>
          <a:endParaRPr lang="fi-FI" sz="2000"/>
        </a:p>
      </dgm:t>
    </dgm:pt>
    <dgm:pt modelId="{52B1E9F8-FF5A-4290-A2EE-04416696410E}">
      <dgm:prSet custT="1"/>
      <dgm:spPr/>
      <dgm:t>
        <a:bodyPr/>
        <a:lstStyle/>
        <a:p>
          <a:pPr rtl="0"/>
          <a:r>
            <a:rPr lang="fi-FI" sz="1100" b="1" dirty="0" smtClean="0"/>
            <a:t>Onnistuneen hyväksymistestauksen edellytykset</a:t>
          </a:r>
          <a:endParaRPr lang="fi-FI" sz="1100" b="1" dirty="0"/>
        </a:p>
      </dgm:t>
    </dgm:pt>
    <dgm:pt modelId="{EE94DFC9-8FE1-4D92-A39A-2B2FA864EDE3}" type="parTrans" cxnId="{9E20866B-39E1-421E-BBF0-2C4CC4E668E7}">
      <dgm:prSet/>
      <dgm:spPr/>
      <dgm:t>
        <a:bodyPr/>
        <a:lstStyle/>
        <a:p>
          <a:endParaRPr lang="fi-FI" sz="2000"/>
        </a:p>
      </dgm:t>
    </dgm:pt>
    <dgm:pt modelId="{B47D46F4-2A52-46AE-8568-3E60E48D3D30}" type="sibTrans" cxnId="{9E20866B-39E1-421E-BBF0-2C4CC4E668E7}">
      <dgm:prSet/>
      <dgm:spPr/>
      <dgm:t>
        <a:bodyPr/>
        <a:lstStyle/>
        <a:p>
          <a:endParaRPr lang="fi-FI" sz="2000"/>
        </a:p>
      </dgm:t>
    </dgm:pt>
    <dgm:pt modelId="{DFACE991-8E53-485A-907C-1EFB2848046C}">
      <dgm:prSet custT="1"/>
      <dgm:spPr/>
      <dgm:t>
        <a:bodyPr/>
        <a:lstStyle/>
        <a:p>
          <a:pPr rtl="0"/>
          <a:r>
            <a:rPr lang="fi-FI" sz="1100" b="0" dirty="0" smtClean="0"/>
            <a:t>Toimituskokonaisuuksien määrittely ja projektointi</a:t>
          </a:r>
          <a:endParaRPr lang="fi-FI" sz="1100" b="0" dirty="0"/>
        </a:p>
      </dgm:t>
    </dgm:pt>
    <dgm:pt modelId="{522FA040-2423-4F5F-A378-E20632813270}" type="parTrans" cxnId="{555B5F87-EAA2-4BF5-A85A-067F5B333468}">
      <dgm:prSet/>
      <dgm:spPr/>
      <dgm:t>
        <a:bodyPr/>
        <a:lstStyle/>
        <a:p>
          <a:endParaRPr lang="fi-FI" sz="2000"/>
        </a:p>
      </dgm:t>
    </dgm:pt>
    <dgm:pt modelId="{79202294-FE13-49A9-BC9A-1A8E948266D7}" type="sibTrans" cxnId="{555B5F87-EAA2-4BF5-A85A-067F5B333468}">
      <dgm:prSet/>
      <dgm:spPr/>
      <dgm:t>
        <a:bodyPr/>
        <a:lstStyle/>
        <a:p>
          <a:endParaRPr lang="fi-FI" sz="2000"/>
        </a:p>
      </dgm:t>
    </dgm:pt>
    <dgm:pt modelId="{1916EEB6-8012-4C32-BB16-D45FE8388CAB}">
      <dgm:prSet custT="1"/>
      <dgm:spPr/>
      <dgm:t>
        <a:bodyPr/>
        <a:lstStyle/>
        <a:p>
          <a:pPr rtl="0"/>
          <a:r>
            <a:rPr lang="fi-FI" sz="1100" b="0" dirty="0" smtClean="0"/>
            <a:t>Toimittajan valinta ja sopimukset</a:t>
          </a:r>
          <a:endParaRPr lang="fi-FI" sz="1100" b="0" dirty="0"/>
        </a:p>
      </dgm:t>
    </dgm:pt>
    <dgm:pt modelId="{AAE70BB2-FF9F-4070-A5FC-ED235CA4153C}" type="parTrans" cxnId="{A5AB44A5-0A54-4255-863D-C63ECB47ADB4}">
      <dgm:prSet/>
      <dgm:spPr/>
      <dgm:t>
        <a:bodyPr/>
        <a:lstStyle/>
        <a:p>
          <a:endParaRPr lang="fi-FI" sz="2000"/>
        </a:p>
      </dgm:t>
    </dgm:pt>
    <dgm:pt modelId="{2FBCF5CD-18EA-4379-8DDB-078E7BE8F140}" type="sibTrans" cxnId="{A5AB44A5-0A54-4255-863D-C63ECB47ADB4}">
      <dgm:prSet/>
      <dgm:spPr/>
      <dgm:t>
        <a:bodyPr/>
        <a:lstStyle/>
        <a:p>
          <a:endParaRPr lang="fi-FI" sz="2000"/>
        </a:p>
      </dgm:t>
    </dgm:pt>
    <dgm:pt modelId="{5DCF5F03-40E3-4DF7-8D0C-5B2AC04E9710}">
      <dgm:prSet custT="1"/>
      <dgm:spPr/>
      <dgm:t>
        <a:bodyPr/>
        <a:lstStyle/>
        <a:p>
          <a:pPr rtl="0"/>
          <a:r>
            <a:rPr lang="fi-FI" sz="1100" b="0" dirty="0" smtClean="0"/>
            <a:t>Vaatimusten ja odotusten hallinta</a:t>
          </a:r>
          <a:endParaRPr lang="fi-FI" sz="1100" b="0" dirty="0"/>
        </a:p>
      </dgm:t>
    </dgm:pt>
    <dgm:pt modelId="{F587DB87-8C05-45E8-821D-48A0E1934C89}" type="parTrans" cxnId="{38793140-22FB-4290-95F5-D68F82D5906E}">
      <dgm:prSet/>
      <dgm:spPr/>
      <dgm:t>
        <a:bodyPr/>
        <a:lstStyle/>
        <a:p>
          <a:endParaRPr lang="fi-FI" sz="2000"/>
        </a:p>
      </dgm:t>
    </dgm:pt>
    <dgm:pt modelId="{D015357F-31D5-4BDE-9234-A074B01E35F1}" type="sibTrans" cxnId="{38793140-22FB-4290-95F5-D68F82D5906E}">
      <dgm:prSet/>
      <dgm:spPr/>
      <dgm:t>
        <a:bodyPr/>
        <a:lstStyle/>
        <a:p>
          <a:endParaRPr lang="fi-FI" sz="2000"/>
        </a:p>
      </dgm:t>
    </dgm:pt>
    <dgm:pt modelId="{2BB21CFB-3C14-4EE0-BF97-9DE197EDB4FB}">
      <dgm:prSet custT="1"/>
      <dgm:spPr/>
      <dgm:t>
        <a:bodyPr/>
        <a:lstStyle/>
        <a:p>
          <a:pPr rtl="0"/>
          <a:r>
            <a:rPr lang="fi-FI" sz="1100" b="0" dirty="0" smtClean="0"/>
            <a:t>Toimittajayhteistyö</a:t>
          </a:r>
          <a:endParaRPr lang="fi-FI" sz="1100" b="0" dirty="0"/>
        </a:p>
      </dgm:t>
    </dgm:pt>
    <dgm:pt modelId="{55DB9CF7-0918-46A0-A077-9B525FE754A0}" type="parTrans" cxnId="{FC853B53-7D65-41F8-842A-1527B7BD1F11}">
      <dgm:prSet/>
      <dgm:spPr/>
      <dgm:t>
        <a:bodyPr/>
        <a:lstStyle/>
        <a:p>
          <a:endParaRPr lang="fi-FI" sz="2000"/>
        </a:p>
      </dgm:t>
    </dgm:pt>
    <dgm:pt modelId="{B87C9EBE-1F3B-4B6F-8B1B-6ED6999EA57C}" type="sibTrans" cxnId="{FC853B53-7D65-41F8-842A-1527B7BD1F11}">
      <dgm:prSet/>
      <dgm:spPr/>
      <dgm:t>
        <a:bodyPr/>
        <a:lstStyle/>
        <a:p>
          <a:endParaRPr lang="fi-FI" sz="2000"/>
        </a:p>
      </dgm:t>
    </dgm:pt>
    <dgm:pt modelId="{D72C800D-6A31-4F3A-928F-3FAA9F4B2458}">
      <dgm:prSet custT="1"/>
      <dgm:spPr/>
      <dgm:t>
        <a:bodyPr/>
        <a:lstStyle/>
        <a:p>
          <a:pPr rtl="0"/>
          <a:r>
            <a:rPr lang="fi-FI" sz="1100" b="0" dirty="0" smtClean="0"/>
            <a:t>Kokonaisjärjestelmän ja osajärjestelmien tunnistaminen</a:t>
          </a:r>
          <a:endParaRPr lang="fi-FI" sz="1100" b="0" dirty="0"/>
        </a:p>
      </dgm:t>
    </dgm:pt>
    <dgm:pt modelId="{09F4EBD8-72E6-409A-BB6C-4843FEBEAA2B}" type="parTrans" cxnId="{DF223F19-81A7-4EA6-98DF-0E2387D499A4}">
      <dgm:prSet/>
      <dgm:spPr/>
      <dgm:t>
        <a:bodyPr/>
        <a:lstStyle/>
        <a:p>
          <a:endParaRPr lang="fi-FI" sz="2000"/>
        </a:p>
      </dgm:t>
    </dgm:pt>
    <dgm:pt modelId="{3A004302-3BD4-436A-BFCE-E278615647A1}" type="sibTrans" cxnId="{DF223F19-81A7-4EA6-98DF-0E2387D499A4}">
      <dgm:prSet/>
      <dgm:spPr/>
      <dgm:t>
        <a:bodyPr/>
        <a:lstStyle/>
        <a:p>
          <a:endParaRPr lang="fi-FI" sz="2000"/>
        </a:p>
      </dgm:t>
    </dgm:pt>
    <dgm:pt modelId="{EC2ECAB8-A85D-40C7-9117-2AA078A20F63}">
      <dgm:prSet custT="1"/>
      <dgm:spPr/>
      <dgm:t>
        <a:bodyPr/>
        <a:lstStyle/>
        <a:p>
          <a:pPr rtl="0"/>
          <a:r>
            <a:rPr lang="fi-FI" sz="1100" b="1" dirty="0" smtClean="0"/>
            <a:t>Hyväksymistestauksen organisointi ja puitteet</a:t>
          </a:r>
          <a:endParaRPr lang="fi-FI" sz="1100" b="1" dirty="0"/>
        </a:p>
      </dgm:t>
    </dgm:pt>
    <dgm:pt modelId="{5EE77FF3-6958-4AA2-A361-996476EE469F}" type="parTrans" cxnId="{F163E7A1-F61D-40FA-8D51-09DFBDF63920}">
      <dgm:prSet/>
      <dgm:spPr/>
      <dgm:t>
        <a:bodyPr/>
        <a:lstStyle/>
        <a:p>
          <a:endParaRPr lang="fi-FI" sz="2000"/>
        </a:p>
      </dgm:t>
    </dgm:pt>
    <dgm:pt modelId="{1857EB93-3123-4042-9586-557C94FF38FB}" type="sibTrans" cxnId="{F163E7A1-F61D-40FA-8D51-09DFBDF63920}">
      <dgm:prSet/>
      <dgm:spPr/>
      <dgm:t>
        <a:bodyPr/>
        <a:lstStyle/>
        <a:p>
          <a:endParaRPr lang="fi-FI" sz="2000"/>
        </a:p>
      </dgm:t>
    </dgm:pt>
    <dgm:pt modelId="{F3C8CAEE-C3C5-4F4E-B8D6-95CD478198FC}">
      <dgm:prSet custT="1"/>
      <dgm:spPr/>
      <dgm:t>
        <a:bodyPr/>
        <a:lstStyle/>
        <a:p>
          <a:r>
            <a:rPr lang="fi-FI" sz="1050" dirty="0" smtClean="0"/>
            <a:t>Testausprosessi suunnittelusta läpivientiin</a:t>
          </a:r>
          <a:endParaRPr lang="fi-FI" sz="1050" dirty="0"/>
        </a:p>
      </dgm:t>
    </dgm:pt>
    <dgm:pt modelId="{5285F996-D863-41D2-BCDC-C49BA518BF7E}" type="parTrans" cxnId="{36860DE1-6F5F-4025-A828-41782B80E483}">
      <dgm:prSet/>
      <dgm:spPr/>
      <dgm:t>
        <a:bodyPr/>
        <a:lstStyle/>
        <a:p>
          <a:endParaRPr lang="fi-FI" sz="2000"/>
        </a:p>
      </dgm:t>
    </dgm:pt>
    <dgm:pt modelId="{E224FB83-0D9D-4738-BEF7-DDCB4BC4B3E5}" type="sibTrans" cxnId="{36860DE1-6F5F-4025-A828-41782B80E483}">
      <dgm:prSet/>
      <dgm:spPr/>
      <dgm:t>
        <a:bodyPr/>
        <a:lstStyle/>
        <a:p>
          <a:endParaRPr lang="fi-FI" sz="2000"/>
        </a:p>
      </dgm:t>
    </dgm:pt>
    <dgm:pt modelId="{8FD7E9F2-2311-44BE-9382-0FD689EB7EE2}">
      <dgm:prSet custT="1"/>
      <dgm:spPr/>
      <dgm:t>
        <a:bodyPr/>
        <a:lstStyle/>
        <a:p>
          <a:r>
            <a:rPr lang="fi-FI" sz="1050" dirty="0" smtClean="0"/>
            <a:t>Toimittajan testauksien tarkastelu osana hyväksymistestausta</a:t>
          </a:r>
          <a:endParaRPr lang="fi-FI" sz="1050" dirty="0"/>
        </a:p>
      </dgm:t>
    </dgm:pt>
    <dgm:pt modelId="{5995E318-DFCD-47CE-9AC3-7D5D5C2C1D86}" type="parTrans" cxnId="{E1A005BE-128C-4479-A4FA-3DF86533F66C}">
      <dgm:prSet/>
      <dgm:spPr/>
      <dgm:t>
        <a:bodyPr/>
        <a:lstStyle/>
        <a:p>
          <a:endParaRPr lang="fi-FI" sz="2000"/>
        </a:p>
      </dgm:t>
    </dgm:pt>
    <dgm:pt modelId="{F367CA91-5390-4142-B6C6-B0F4A0631B49}" type="sibTrans" cxnId="{E1A005BE-128C-4479-A4FA-3DF86533F66C}">
      <dgm:prSet/>
      <dgm:spPr/>
      <dgm:t>
        <a:bodyPr/>
        <a:lstStyle/>
        <a:p>
          <a:endParaRPr lang="fi-FI" sz="2000"/>
        </a:p>
      </dgm:t>
    </dgm:pt>
    <dgm:pt modelId="{884C6235-9D16-4D95-BC42-131FB482992D}">
      <dgm:prSet custT="1"/>
      <dgm:spPr/>
      <dgm:t>
        <a:bodyPr/>
        <a:lstStyle/>
        <a:p>
          <a:r>
            <a:rPr lang="fi-FI" sz="1050" dirty="0" smtClean="0"/>
            <a:t>Ohjelmistokehityksen luonne, jatkuva muutos ja testauksen toistotarve</a:t>
          </a:r>
          <a:endParaRPr lang="fi-FI" sz="1050" dirty="0"/>
        </a:p>
      </dgm:t>
    </dgm:pt>
    <dgm:pt modelId="{0481730D-A61F-4DA9-9627-6BC82C4B148D}" type="parTrans" cxnId="{D0A56A45-20F2-4BCA-BD5A-BA373B2638CC}">
      <dgm:prSet/>
      <dgm:spPr/>
      <dgm:t>
        <a:bodyPr/>
        <a:lstStyle/>
        <a:p>
          <a:endParaRPr lang="fi-FI" sz="2000"/>
        </a:p>
      </dgm:t>
    </dgm:pt>
    <dgm:pt modelId="{555AD147-BAC6-43BB-90DD-1130ABA39199}" type="sibTrans" cxnId="{D0A56A45-20F2-4BCA-BD5A-BA373B2638CC}">
      <dgm:prSet/>
      <dgm:spPr/>
      <dgm:t>
        <a:bodyPr/>
        <a:lstStyle/>
        <a:p>
          <a:endParaRPr lang="fi-FI" sz="2000"/>
        </a:p>
      </dgm:t>
    </dgm:pt>
    <dgm:pt modelId="{5EA30DCB-652C-49B8-9D97-8AF54B4F7E80}">
      <dgm:prSet custT="1"/>
      <dgm:spPr/>
      <dgm:t>
        <a:bodyPr/>
        <a:lstStyle/>
        <a:p>
          <a:r>
            <a:rPr lang="fi-FI" sz="1050" dirty="0" smtClean="0"/>
            <a:t>Testauksen työmäärät ja tehokkuus tuloksina ja kustannuksina</a:t>
          </a:r>
          <a:endParaRPr lang="fi-FI" sz="1050" dirty="0"/>
        </a:p>
      </dgm:t>
    </dgm:pt>
    <dgm:pt modelId="{FAB1DA54-8633-4DA2-80C9-DA6F0989C0DB}" type="parTrans" cxnId="{EF253D2C-88A1-4A17-A421-A437AB497084}">
      <dgm:prSet/>
      <dgm:spPr/>
      <dgm:t>
        <a:bodyPr/>
        <a:lstStyle/>
        <a:p>
          <a:endParaRPr lang="fi-FI" sz="2000"/>
        </a:p>
      </dgm:t>
    </dgm:pt>
    <dgm:pt modelId="{B8684FF1-2E11-4AA1-8744-0C5546446438}" type="sibTrans" cxnId="{EF253D2C-88A1-4A17-A421-A437AB497084}">
      <dgm:prSet/>
      <dgm:spPr/>
      <dgm:t>
        <a:bodyPr/>
        <a:lstStyle/>
        <a:p>
          <a:endParaRPr lang="fi-FI" sz="2000"/>
        </a:p>
      </dgm:t>
    </dgm:pt>
    <dgm:pt modelId="{63777967-36A7-42A3-AAA6-F67A82A84365}">
      <dgm:prSet custT="1"/>
      <dgm:spPr/>
      <dgm:t>
        <a:bodyPr/>
        <a:lstStyle/>
        <a:p>
          <a:r>
            <a:rPr lang="fi-FI" sz="1050" dirty="0" smtClean="0"/>
            <a:t>Riskiohjattu testaus: rajallisen työmäärän kohdistaminen</a:t>
          </a:r>
          <a:endParaRPr lang="fi-FI" sz="1050" dirty="0"/>
        </a:p>
      </dgm:t>
    </dgm:pt>
    <dgm:pt modelId="{F3267288-52D4-4232-8EDE-0C06A198065D}" type="parTrans" cxnId="{558D6982-3136-43B9-B184-56E7146CE86D}">
      <dgm:prSet/>
      <dgm:spPr/>
      <dgm:t>
        <a:bodyPr/>
        <a:lstStyle/>
        <a:p>
          <a:endParaRPr lang="fi-FI" sz="2000"/>
        </a:p>
      </dgm:t>
    </dgm:pt>
    <dgm:pt modelId="{F21EB987-DD12-4AE4-A891-7E0A1B3B9F7C}" type="sibTrans" cxnId="{558D6982-3136-43B9-B184-56E7146CE86D}">
      <dgm:prSet/>
      <dgm:spPr/>
      <dgm:t>
        <a:bodyPr/>
        <a:lstStyle/>
        <a:p>
          <a:endParaRPr lang="fi-FI" sz="2000"/>
        </a:p>
      </dgm:t>
    </dgm:pt>
    <dgm:pt modelId="{8FA580CD-2825-4C51-B1DE-E59D1B218141}">
      <dgm:prSet custT="1"/>
      <dgm:spPr/>
      <dgm:t>
        <a:bodyPr/>
        <a:lstStyle/>
        <a:p>
          <a:r>
            <a:rPr lang="fi-FI" sz="1050" dirty="0" smtClean="0"/>
            <a:t>Havaintokirjausten käsittely ja muutoksista sopiminen</a:t>
          </a:r>
          <a:endParaRPr lang="fi-FI" sz="1050" dirty="0"/>
        </a:p>
      </dgm:t>
    </dgm:pt>
    <dgm:pt modelId="{3834143C-29CF-48A3-A93F-2F105F6D6050}" type="parTrans" cxnId="{C94072C2-A343-4034-AE65-F026F0256435}">
      <dgm:prSet/>
      <dgm:spPr/>
      <dgm:t>
        <a:bodyPr/>
        <a:lstStyle/>
        <a:p>
          <a:endParaRPr lang="fi-FI" sz="2000"/>
        </a:p>
      </dgm:t>
    </dgm:pt>
    <dgm:pt modelId="{72A3146F-3698-4795-BFC6-740EADE57467}" type="sibTrans" cxnId="{C94072C2-A343-4034-AE65-F026F0256435}">
      <dgm:prSet/>
      <dgm:spPr/>
      <dgm:t>
        <a:bodyPr/>
        <a:lstStyle/>
        <a:p>
          <a:endParaRPr lang="fi-FI" sz="2000"/>
        </a:p>
      </dgm:t>
    </dgm:pt>
    <dgm:pt modelId="{E0B0216D-FB34-4FF8-9D6F-878140CAD8C7}">
      <dgm:prSet custT="1"/>
      <dgm:spPr/>
      <dgm:t>
        <a:bodyPr/>
        <a:lstStyle/>
        <a:p>
          <a:r>
            <a:rPr lang="fi-FI" sz="1050" dirty="0" smtClean="0"/>
            <a:t>Testausympäristöt, testitapaukset ja testiaineisto</a:t>
          </a:r>
          <a:endParaRPr lang="fi-FI" sz="1050" dirty="0"/>
        </a:p>
      </dgm:t>
    </dgm:pt>
    <dgm:pt modelId="{742C2641-2368-450E-9041-6212968BDF28}" type="parTrans" cxnId="{165D3642-C139-40E0-AF02-1BF4FD25CF1B}">
      <dgm:prSet/>
      <dgm:spPr/>
      <dgm:t>
        <a:bodyPr/>
        <a:lstStyle/>
        <a:p>
          <a:endParaRPr lang="fi-FI" sz="2000"/>
        </a:p>
      </dgm:t>
    </dgm:pt>
    <dgm:pt modelId="{A52F8DC6-3D0E-458B-B9D3-8E5A5EB293DB}" type="sibTrans" cxnId="{165D3642-C139-40E0-AF02-1BF4FD25CF1B}">
      <dgm:prSet/>
      <dgm:spPr/>
      <dgm:t>
        <a:bodyPr/>
        <a:lstStyle/>
        <a:p>
          <a:endParaRPr lang="fi-FI" sz="2000"/>
        </a:p>
      </dgm:t>
    </dgm:pt>
    <dgm:pt modelId="{59007718-4FEB-43D9-B9E5-8114FFCD746C}">
      <dgm:prSet custT="1"/>
      <dgm:spPr/>
      <dgm:t>
        <a:bodyPr/>
        <a:lstStyle/>
        <a:p>
          <a:r>
            <a:rPr lang="fi-FI" sz="1050" dirty="0" smtClean="0"/>
            <a:t>Testauksen hallinta, seuranta ja mittarit</a:t>
          </a:r>
          <a:endParaRPr lang="fi-FI" sz="1050" dirty="0"/>
        </a:p>
      </dgm:t>
    </dgm:pt>
    <dgm:pt modelId="{90B8E4C9-9201-45CE-B9BA-F827E96CFDB4}" type="parTrans" cxnId="{8C048B0A-FDAC-44D2-B3BE-137FDDEC9FF6}">
      <dgm:prSet/>
      <dgm:spPr/>
      <dgm:t>
        <a:bodyPr/>
        <a:lstStyle/>
        <a:p>
          <a:endParaRPr lang="fi-FI" sz="2000"/>
        </a:p>
      </dgm:t>
    </dgm:pt>
    <dgm:pt modelId="{1BA139E2-2347-43A0-99EC-8A886F47E572}" type="sibTrans" cxnId="{8C048B0A-FDAC-44D2-B3BE-137FDDEC9FF6}">
      <dgm:prSet/>
      <dgm:spPr/>
      <dgm:t>
        <a:bodyPr/>
        <a:lstStyle/>
        <a:p>
          <a:endParaRPr lang="fi-FI" sz="2000"/>
        </a:p>
      </dgm:t>
    </dgm:pt>
    <dgm:pt modelId="{284F0E1D-70AC-40E5-B58D-8B75F4E28080}">
      <dgm:prSet custT="1"/>
      <dgm:spPr/>
      <dgm:t>
        <a:bodyPr/>
        <a:lstStyle/>
        <a:p>
          <a:r>
            <a:rPr lang="fi-FI" sz="1050" dirty="0" smtClean="0"/>
            <a:t>Toistuva hyväksymistestaus ylläpitoluonteiselle kehitystyölle</a:t>
          </a:r>
        </a:p>
      </dgm:t>
    </dgm:pt>
    <dgm:pt modelId="{31BA2C00-143D-4E09-82A4-A572C9C79C5A}" type="parTrans" cxnId="{CF06342C-923C-4B1A-A4EC-4D6001BB9FFD}">
      <dgm:prSet/>
      <dgm:spPr/>
      <dgm:t>
        <a:bodyPr/>
        <a:lstStyle/>
        <a:p>
          <a:endParaRPr lang="fi-FI" sz="2000"/>
        </a:p>
      </dgm:t>
    </dgm:pt>
    <dgm:pt modelId="{4F7A961E-8DB8-4F44-8B4F-2E1AA56DD794}" type="sibTrans" cxnId="{CF06342C-923C-4B1A-A4EC-4D6001BB9FFD}">
      <dgm:prSet/>
      <dgm:spPr/>
      <dgm:t>
        <a:bodyPr/>
        <a:lstStyle/>
        <a:p>
          <a:endParaRPr lang="fi-FI" sz="2000"/>
        </a:p>
      </dgm:t>
    </dgm:pt>
    <dgm:pt modelId="{5A047D2B-AE09-4A6A-B06B-F9BE7B733FC6}">
      <dgm:prSet custT="1"/>
      <dgm:spPr/>
      <dgm:t>
        <a:bodyPr/>
        <a:lstStyle/>
        <a:p>
          <a:r>
            <a:rPr lang="fi-FI" sz="1100" b="1" dirty="0" smtClean="0"/>
            <a:t>Testaus vaatimuksia ja odotuksia vastaan</a:t>
          </a:r>
          <a:endParaRPr lang="fi-FI" sz="1100" b="1" dirty="0"/>
        </a:p>
      </dgm:t>
    </dgm:pt>
    <dgm:pt modelId="{8B477AFB-3BB3-4E4F-A613-7C77A347B362}" type="parTrans" cxnId="{DDA29D37-E8F9-42C3-B045-6EF36EA64061}">
      <dgm:prSet/>
      <dgm:spPr/>
      <dgm:t>
        <a:bodyPr/>
        <a:lstStyle/>
        <a:p>
          <a:endParaRPr lang="fi-FI" sz="2000"/>
        </a:p>
      </dgm:t>
    </dgm:pt>
    <dgm:pt modelId="{2A70620D-A631-4E94-958B-CBD6322152E7}" type="sibTrans" cxnId="{DDA29D37-E8F9-42C3-B045-6EF36EA64061}">
      <dgm:prSet/>
      <dgm:spPr/>
      <dgm:t>
        <a:bodyPr/>
        <a:lstStyle/>
        <a:p>
          <a:endParaRPr lang="fi-FI" sz="2000"/>
        </a:p>
      </dgm:t>
    </dgm:pt>
    <dgm:pt modelId="{3D5166C9-5BA2-4001-892D-F49F4600D5B7}">
      <dgm:prSet custT="1"/>
      <dgm:spPr/>
      <dgm:t>
        <a:bodyPr/>
        <a:lstStyle/>
        <a:p>
          <a:r>
            <a:rPr lang="fi-FI" sz="1050" dirty="0" smtClean="0"/>
            <a:t>Sovellusalueosaamisen ja liiketoimintaprosessin osaamisen käyttö hyväksymistestauksessa</a:t>
          </a:r>
          <a:endParaRPr lang="fi-FI" sz="1050" dirty="0"/>
        </a:p>
      </dgm:t>
    </dgm:pt>
    <dgm:pt modelId="{65196C88-0272-4B87-95C5-9ECF31C690C5}" type="parTrans" cxnId="{CBD1C9AE-9CB6-4DAC-9A13-CF429A4CF2CE}">
      <dgm:prSet/>
      <dgm:spPr/>
      <dgm:t>
        <a:bodyPr/>
        <a:lstStyle/>
        <a:p>
          <a:endParaRPr lang="fi-FI" sz="2000"/>
        </a:p>
      </dgm:t>
    </dgm:pt>
    <dgm:pt modelId="{7A884809-F420-4DBC-B4D1-42CD63AA7E48}" type="sibTrans" cxnId="{CBD1C9AE-9CB6-4DAC-9A13-CF429A4CF2CE}">
      <dgm:prSet/>
      <dgm:spPr/>
      <dgm:t>
        <a:bodyPr/>
        <a:lstStyle/>
        <a:p>
          <a:endParaRPr lang="fi-FI" sz="2000"/>
        </a:p>
      </dgm:t>
    </dgm:pt>
    <dgm:pt modelId="{B51F8DC3-7A9F-4CF9-90CC-BC0B820F7B91}">
      <dgm:prSet custT="1"/>
      <dgm:spPr/>
      <dgm:t>
        <a:bodyPr/>
        <a:lstStyle/>
        <a:p>
          <a:r>
            <a:rPr lang="fi-FI" sz="1050" dirty="0" smtClean="0"/>
            <a:t>Vaatimusten järjestelmällinen läpikäynti</a:t>
          </a:r>
          <a:endParaRPr lang="fi-FI" sz="1050" dirty="0"/>
        </a:p>
      </dgm:t>
    </dgm:pt>
    <dgm:pt modelId="{B548D59C-C2A0-4CDC-8BEB-4BECB5846444}" type="parTrans" cxnId="{58B7B001-F24A-48C0-A169-02A75BBAF8BA}">
      <dgm:prSet/>
      <dgm:spPr/>
      <dgm:t>
        <a:bodyPr/>
        <a:lstStyle/>
        <a:p>
          <a:endParaRPr lang="fi-FI" sz="2000"/>
        </a:p>
      </dgm:t>
    </dgm:pt>
    <dgm:pt modelId="{03D855FF-F756-46AB-8876-3918B1753DDF}" type="sibTrans" cxnId="{58B7B001-F24A-48C0-A169-02A75BBAF8BA}">
      <dgm:prSet/>
      <dgm:spPr/>
      <dgm:t>
        <a:bodyPr/>
        <a:lstStyle/>
        <a:p>
          <a:endParaRPr lang="fi-FI" sz="2000"/>
        </a:p>
      </dgm:t>
    </dgm:pt>
    <dgm:pt modelId="{6DCF312A-D696-446F-8AEF-7CC30783908B}">
      <dgm:prSet custT="1"/>
      <dgm:spPr/>
      <dgm:t>
        <a:bodyPr/>
        <a:lstStyle/>
        <a:p>
          <a:r>
            <a:rPr lang="fi-FI" sz="1050" dirty="0" smtClean="0"/>
            <a:t>Testitapausten merkitys hyväksymistestaukselle</a:t>
          </a:r>
          <a:endParaRPr lang="fi-FI" sz="1050" dirty="0"/>
        </a:p>
      </dgm:t>
    </dgm:pt>
    <dgm:pt modelId="{3447F3BB-C176-403F-A440-AAA7B2132DFD}" type="parTrans" cxnId="{CF519EFD-A2DD-4B69-9F56-3F9C8F4E2CC2}">
      <dgm:prSet/>
      <dgm:spPr/>
      <dgm:t>
        <a:bodyPr/>
        <a:lstStyle/>
        <a:p>
          <a:endParaRPr lang="fi-FI" sz="2000"/>
        </a:p>
      </dgm:t>
    </dgm:pt>
    <dgm:pt modelId="{800753E0-C5D5-4C74-BD57-FDEE2C16A254}" type="sibTrans" cxnId="{CF519EFD-A2DD-4B69-9F56-3F9C8F4E2CC2}">
      <dgm:prSet/>
      <dgm:spPr/>
      <dgm:t>
        <a:bodyPr/>
        <a:lstStyle/>
        <a:p>
          <a:endParaRPr lang="fi-FI" sz="2000"/>
        </a:p>
      </dgm:t>
    </dgm:pt>
    <dgm:pt modelId="{13C8241D-30EB-4DA5-91CE-6455887CB532}">
      <dgm:prSet custT="1"/>
      <dgm:spPr/>
      <dgm:t>
        <a:bodyPr/>
        <a:lstStyle/>
        <a:p>
          <a:r>
            <a:rPr lang="fi-FI" sz="1050" dirty="0" smtClean="0"/>
            <a:t>Hyväksymistestausta tukevat testitapaukset</a:t>
          </a:r>
          <a:endParaRPr lang="fi-FI" sz="1050" dirty="0"/>
        </a:p>
      </dgm:t>
    </dgm:pt>
    <dgm:pt modelId="{1D178F00-0239-4F3A-B7E9-B16BC7D40770}" type="parTrans" cxnId="{25D78AD7-111E-45EA-B17E-5767226B1533}">
      <dgm:prSet/>
      <dgm:spPr/>
      <dgm:t>
        <a:bodyPr/>
        <a:lstStyle/>
        <a:p>
          <a:endParaRPr lang="fi-FI" sz="2000"/>
        </a:p>
      </dgm:t>
    </dgm:pt>
    <dgm:pt modelId="{FF284607-31F0-407C-BDD3-060E3A6EF9D4}" type="sibTrans" cxnId="{25D78AD7-111E-45EA-B17E-5767226B1533}">
      <dgm:prSet/>
      <dgm:spPr/>
      <dgm:t>
        <a:bodyPr/>
        <a:lstStyle/>
        <a:p>
          <a:endParaRPr lang="fi-FI" sz="2000"/>
        </a:p>
      </dgm:t>
    </dgm:pt>
    <dgm:pt modelId="{F0649716-B277-4246-B4C1-BC542F322F8A}">
      <dgm:prSet custT="1"/>
      <dgm:spPr/>
      <dgm:t>
        <a:bodyPr/>
        <a:lstStyle/>
        <a:p>
          <a:r>
            <a:rPr lang="fi-FI" sz="1050" dirty="0" smtClean="0"/>
            <a:t>Testitapausten priorisointi hyväksymistestaukselle: mistä tiedetään mikä on tärkeää liiketoiminnalle</a:t>
          </a:r>
          <a:endParaRPr lang="fi-FI" sz="1050" dirty="0"/>
        </a:p>
      </dgm:t>
    </dgm:pt>
    <dgm:pt modelId="{27839B55-E584-422D-B72E-32A347E21FD6}" type="parTrans" cxnId="{B584686C-FF56-43FC-A6E9-BFDC110D0F3A}">
      <dgm:prSet/>
      <dgm:spPr/>
      <dgm:t>
        <a:bodyPr/>
        <a:lstStyle/>
        <a:p>
          <a:endParaRPr lang="fi-FI" sz="2000"/>
        </a:p>
      </dgm:t>
    </dgm:pt>
    <dgm:pt modelId="{3CA4F354-DF59-45C6-AF13-28268C39518D}" type="sibTrans" cxnId="{B584686C-FF56-43FC-A6E9-BFDC110D0F3A}">
      <dgm:prSet/>
      <dgm:spPr/>
      <dgm:t>
        <a:bodyPr/>
        <a:lstStyle/>
        <a:p>
          <a:endParaRPr lang="fi-FI" sz="2000"/>
        </a:p>
      </dgm:t>
    </dgm:pt>
    <dgm:pt modelId="{582737C7-A23B-4BCF-8152-3B1924EDA793}">
      <dgm:prSet custT="1"/>
      <dgm:spPr/>
      <dgm:t>
        <a:bodyPr/>
        <a:lstStyle/>
        <a:p>
          <a:r>
            <a:rPr lang="fi-FI" sz="1050" dirty="0" smtClean="0"/>
            <a:t>Kelpuuttaminen käyttöön vs. todentaminen suhteessa vaatimuksiin</a:t>
          </a:r>
        </a:p>
      </dgm:t>
    </dgm:pt>
    <dgm:pt modelId="{37F03128-A80E-4CE0-BC23-6DF7CB8A11D8}" type="parTrans" cxnId="{E7C37E4C-54D2-4BC9-B239-CAD8181BEBE4}">
      <dgm:prSet/>
      <dgm:spPr/>
      <dgm:t>
        <a:bodyPr/>
        <a:lstStyle/>
        <a:p>
          <a:endParaRPr lang="fi-FI" sz="2000"/>
        </a:p>
      </dgm:t>
    </dgm:pt>
    <dgm:pt modelId="{FD69B635-10E7-462F-9558-02A0E5739F4C}" type="sibTrans" cxnId="{E7C37E4C-54D2-4BC9-B239-CAD8181BEBE4}">
      <dgm:prSet/>
      <dgm:spPr/>
      <dgm:t>
        <a:bodyPr/>
        <a:lstStyle/>
        <a:p>
          <a:endParaRPr lang="fi-FI" sz="2000"/>
        </a:p>
      </dgm:t>
    </dgm:pt>
    <dgm:pt modelId="{3B2B6EC3-FAFC-4F27-AF22-3209ABD0D639}" type="pres">
      <dgm:prSet presAssocID="{D5C8C534-B55B-41EF-88DB-ED9C24EBB7FC}" presName="Name0" presStyleCnt="0">
        <dgm:presLayoutVars>
          <dgm:dir/>
          <dgm:animLvl val="lvl"/>
          <dgm:resizeHandles val="exact"/>
        </dgm:presLayoutVars>
      </dgm:prSet>
      <dgm:spPr/>
      <dgm:t>
        <a:bodyPr/>
        <a:lstStyle/>
        <a:p>
          <a:endParaRPr lang="fi-FI"/>
        </a:p>
      </dgm:t>
    </dgm:pt>
    <dgm:pt modelId="{D92851F3-0C0F-489F-A254-A6812400DD0A}" type="pres">
      <dgm:prSet presAssocID="{876F12A8-3CBF-4C23-9511-B3BE912EE8A9}" presName="composite" presStyleCnt="0"/>
      <dgm:spPr/>
    </dgm:pt>
    <dgm:pt modelId="{8B58748B-2575-4D58-9FA0-9F6CA0DF6B78}" type="pres">
      <dgm:prSet presAssocID="{876F12A8-3CBF-4C23-9511-B3BE912EE8A9}" presName="parTx" presStyleLbl="alignNode1" presStyleIdx="0" presStyleCnt="4">
        <dgm:presLayoutVars>
          <dgm:chMax val="0"/>
          <dgm:chPref val="0"/>
          <dgm:bulletEnabled val="1"/>
        </dgm:presLayoutVars>
      </dgm:prSet>
      <dgm:spPr/>
      <dgm:t>
        <a:bodyPr/>
        <a:lstStyle/>
        <a:p>
          <a:endParaRPr lang="fi-FI"/>
        </a:p>
      </dgm:t>
    </dgm:pt>
    <dgm:pt modelId="{AAB1147D-BCEB-4287-850D-0C28E16B7E63}" type="pres">
      <dgm:prSet presAssocID="{876F12A8-3CBF-4C23-9511-B3BE912EE8A9}" presName="desTx" presStyleLbl="alignAccFollowNode1" presStyleIdx="0" presStyleCnt="4">
        <dgm:presLayoutVars>
          <dgm:bulletEnabled val="1"/>
        </dgm:presLayoutVars>
      </dgm:prSet>
      <dgm:spPr/>
      <dgm:t>
        <a:bodyPr/>
        <a:lstStyle/>
        <a:p>
          <a:endParaRPr lang="fi-FI"/>
        </a:p>
      </dgm:t>
    </dgm:pt>
    <dgm:pt modelId="{4F0A595E-783C-4E50-8B40-09F25FB93E7C}" type="pres">
      <dgm:prSet presAssocID="{9D64F3A3-F0ED-495F-BD66-97CC72F1F1F0}" presName="space" presStyleCnt="0"/>
      <dgm:spPr/>
    </dgm:pt>
    <dgm:pt modelId="{D92EDD19-9446-4D94-8EDB-D131762C721A}" type="pres">
      <dgm:prSet presAssocID="{52B1E9F8-FF5A-4290-A2EE-04416696410E}" presName="composite" presStyleCnt="0"/>
      <dgm:spPr/>
    </dgm:pt>
    <dgm:pt modelId="{20330B3A-115A-4449-BBD2-F1DF7DA08C27}" type="pres">
      <dgm:prSet presAssocID="{52B1E9F8-FF5A-4290-A2EE-04416696410E}" presName="parTx" presStyleLbl="alignNode1" presStyleIdx="1" presStyleCnt="4">
        <dgm:presLayoutVars>
          <dgm:chMax val="0"/>
          <dgm:chPref val="0"/>
          <dgm:bulletEnabled val="1"/>
        </dgm:presLayoutVars>
      </dgm:prSet>
      <dgm:spPr/>
      <dgm:t>
        <a:bodyPr/>
        <a:lstStyle/>
        <a:p>
          <a:endParaRPr lang="fi-FI"/>
        </a:p>
      </dgm:t>
    </dgm:pt>
    <dgm:pt modelId="{8901B344-4CDE-44D5-B022-7E0CE2C33BF0}" type="pres">
      <dgm:prSet presAssocID="{52B1E9F8-FF5A-4290-A2EE-04416696410E}" presName="desTx" presStyleLbl="alignAccFollowNode1" presStyleIdx="1" presStyleCnt="4" custLinFactNeighborX="-512" custLinFactNeighborY="-94">
        <dgm:presLayoutVars>
          <dgm:bulletEnabled val="1"/>
        </dgm:presLayoutVars>
      </dgm:prSet>
      <dgm:spPr/>
      <dgm:t>
        <a:bodyPr/>
        <a:lstStyle/>
        <a:p>
          <a:endParaRPr lang="fi-FI"/>
        </a:p>
      </dgm:t>
    </dgm:pt>
    <dgm:pt modelId="{1849843C-4BCF-4CA2-9DF2-6782D020EB95}" type="pres">
      <dgm:prSet presAssocID="{B47D46F4-2A52-46AE-8568-3E60E48D3D30}" presName="space" presStyleCnt="0"/>
      <dgm:spPr/>
    </dgm:pt>
    <dgm:pt modelId="{339E4B24-AAC5-4F06-B52E-2DF3F454F8CD}" type="pres">
      <dgm:prSet presAssocID="{EC2ECAB8-A85D-40C7-9117-2AA078A20F63}" presName="composite" presStyleCnt="0"/>
      <dgm:spPr/>
    </dgm:pt>
    <dgm:pt modelId="{E3E6BEB8-B08E-43CD-A3AF-F2B85C4580AD}" type="pres">
      <dgm:prSet presAssocID="{EC2ECAB8-A85D-40C7-9117-2AA078A20F63}" presName="parTx" presStyleLbl="alignNode1" presStyleIdx="2" presStyleCnt="4">
        <dgm:presLayoutVars>
          <dgm:chMax val="0"/>
          <dgm:chPref val="0"/>
          <dgm:bulletEnabled val="1"/>
        </dgm:presLayoutVars>
      </dgm:prSet>
      <dgm:spPr/>
      <dgm:t>
        <a:bodyPr/>
        <a:lstStyle/>
        <a:p>
          <a:endParaRPr lang="fi-FI"/>
        </a:p>
      </dgm:t>
    </dgm:pt>
    <dgm:pt modelId="{2CE42794-9563-4A96-B9CC-520A06D6EE9D}" type="pres">
      <dgm:prSet presAssocID="{EC2ECAB8-A85D-40C7-9117-2AA078A20F63}" presName="desTx" presStyleLbl="alignAccFollowNode1" presStyleIdx="2" presStyleCnt="4">
        <dgm:presLayoutVars>
          <dgm:bulletEnabled val="1"/>
        </dgm:presLayoutVars>
      </dgm:prSet>
      <dgm:spPr/>
      <dgm:t>
        <a:bodyPr/>
        <a:lstStyle/>
        <a:p>
          <a:endParaRPr lang="fi-FI"/>
        </a:p>
      </dgm:t>
    </dgm:pt>
    <dgm:pt modelId="{B11BD261-271F-4274-A770-76A44AED9CB3}" type="pres">
      <dgm:prSet presAssocID="{1857EB93-3123-4042-9586-557C94FF38FB}" presName="space" presStyleCnt="0"/>
      <dgm:spPr/>
    </dgm:pt>
    <dgm:pt modelId="{9FBE3C72-DB3A-46C6-B2EE-4B94FAA24B04}" type="pres">
      <dgm:prSet presAssocID="{5A047D2B-AE09-4A6A-B06B-F9BE7B733FC6}" presName="composite" presStyleCnt="0"/>
      <dgm:spPr/>
    </dgm:pt>
    <dgm:pt modelId="{016C0C30-52FC-4CA5-B7B1-35861449347E}" type="pres">
      <dgm:prSet presAssocID="{5A047D2B-AE09-4A6A-B06B-F9BE7B733FC6}" presName="parTx" presStyleLbl="alignNode1" presStyleIdx="3" presStyleCnt="4">
        <dgm:presLayoutVars>
          <dgm:chMax val="0"/>
          <dgm:chPref val="0"/>
          <dgm:bulletEnabled val="1"/>
        </dgm:presLayoutVars>
      </dgm:prSet>
      <dgm:spPr/>
      <dgm:t>
        <a:bodyPr/>
        <a:lstStyle/>
        <a:p>
          <a:endParaRPr lang="fi-FI"/>
        </a:p>
      </dgm:t>
    </dgm:pt>
    <dgm:pt modelId="{882F28AC-AD1B-4E0E-AEA6-8989F5CE6A35}" type="pres">
      <dgm:prSet presAssocID="{5A047D2B-AE09-4A6A-B06B-F9BE7B733FC6}" presName="desTx" presStyleLbl="alignAccFollowNode1" presStyleIdx="3" presStyleCnt="4">
        <dgm:presLayoutVars>
          <dgm:bulletEnabled val="1"/>
        </dgm:presLayoutVars>
      </dgm:prSet>
      <dgm:spPr/>
      <dgm:t>
        <a:bodyPr/>
        <a:lstStyle/>
        <a:p>
          <a:endParaRPr lang="fi-FI"/>
        </a:p>
      </dgm:t>
    </dgm:pt>
  </dgm:ptLst>
  <dgm:cxnLst>
    <dgm:cxn modelId="{E5EB41FE-4223-4237-9807-A721976E7BD4}" type="presOf" srcId="{EC2ECAB8-A85D-40C7-9117-2AA078A20F63}" destId="{E3E6BEB8-B08E-43CD-A3AF-F2B85C4580AD}" srcOrd="0" destOrd="0" presId="urn:microsoft.com/office/officeart/2005/8/layout/hList1"/>
    <dgm:cxn modelId="{D0A56A45-20F2-4BCA-BD5A-BA373B2638CC}" srcId="{EC2ECAB8-A85D-40C7-9117-2AA078A20F63}" destId="{884C6235-9D16-4D95-BC42-131FB482992D}" srcOrd="2" destOrd="0" parTransId="{0481730D-A61F-4DA9-9627-6BC82C4B148D}" sibTransId="{555AD147-BAC6-43BB-90DD-1130ABA39199}"/>
    <dgm:cxn modelId="{88079E56-8620-4539-87AF-F8D3805F088F}" type="presOf" srcId="{B388BF5D-1F28-4429-9317-BEF154AD918C}" destId="{AAB1147D-BCEB-4287-850D-0C28E16B7E63}" srcOrd="0" destOrd="7" presId="urn:microsoft.com/office/officeart/2005/8/layout/hList1"/>
    <dgm:cxn modelId="{E60FB242-E1A3-4042-89FE-5EF19B20581C}" type="presOf" srcId="{63777967-36A7-42A3-AAA6-F67A82A84365}" destId="{2CE42794-9563-4A96-B9CC-520A06D6EE9D}" srcOrd="0" destOrd="4" presId="urn:microsoft.com/office/officeart/2005/8/layout/hList1"/>
    <dgm:cxn modelId="{FC853B53-7D65-41F8-842A-1527B7BD1F11}" srcId="{52B1E9F8-FF5A-4290-A2EE-04416696410E}" destId="{2BB21CFB-3C14-4EE0-BF97-9DE197EDB4FB}" srcOrd="3" destOrd="0" parTransId="{55DB9CF7-0918-46A0-A077-9B525FE754A0}" sibTransId="{B87C9EBE-1F3B-4B6F-8B1B-6ED6999EA57C}"/>
    <dgm:cxn modelId="{5B4337A8-88E7-4DDC-9CA6-6A12123E8F4A}" type="presOf" srcId="{1D93A904-DA31-4610-8126-8F418CD7E1E6}" destId="{AAB1147D-BCEB-4287-850D-0C28E16B7E63}" srcOrd="0" destOrd="3" presId="urn:microsoft.com/office/officeart/2005/8/layout/hList1"/>
    <dgm:cxn modelId="{A960D218-BB75-455A-95BF-012050E1AFB9}" srcId="{876F12A8-3CBF-4C23-9511-B3BE912EE8A9}" destId="{C896329D-659F-41D8-8428-23F35A3F2A7F}" srcOrd="2" destOrd="0" parTransId="{1095EFC7-C63D-462E-9409-7653C01AAA33}" sibTransId="{B35503A3-5959-4612-89F8-373578912E93}"/>
    <dgm:cxn modelId="{4C31A718-4EF6-427E-AFFC-67F472536CA1}" type="presOf" srcId="{5A047D2B-AE09-4A6A-B06B-F9BE7B733FC6}" destId="{016C0C30-52FC-4CA5-B7B1-35861449347E}" srcOrd="0" destOrd="0" presId="urn:microsoft.com/office/officeart/2005/8/layout/hList1"/>
    <dgm:cxn modelId="{7CE7372B-5FBC-4FA7-853A-E2E7DFF45B50}" type="presOf" srcId="{5EA30DCB-652C-49B8-9D97-8AF54B4F7E80}" destId="{2CE42794-9563-4A96-B9CC-520A06D6EE9D}" srcOrd="0" destOrd="3" presId="urn:microsoft.com/office/officeart/2005/8/layout/hList1"/>
    <dgm:cxn modelId="{D78EDDCE-8869-46BF-8998-B7EF1470AD9A}" type="presOf" srcId="{D72C800D-6A31-4F3A-928F-3FAA9F4B2458}" destId="{8901B344-4CDE-44D5-B022-7E0CE2C33BF0}" srcOrd="0" destOrd="4" presId="urn:microsoft.com/office/officeart/2005/8/layout/hList1"/>
    <dgm:cxn modelId="{CF06342C-923C-4B1A-A4EC-4D6001BB9FFD}" srcId="{EC2ECAB8-A85D-40C7-9117-2AA078A20F63}" destId="{284F0E1D-70AC-40E5-B58D-8B75F4E28080}" srcOrd="8" destOrd="0" parTransId="{31BA2C00-143D-4E09-82A4-A572C9C79C5A}" sibTransId="{4F7A961E-8DB8-4F44-8B4F-2E1AA56DD794}"/>
    <dgm:cxn modelId="{8C048B0A-FDAC-44D2-B3BE-137FDDEC9FF6}" srcId="{EC2ECAB8-A85D-40C7-9117-2AA078A20F63}" destId="{59007718-4FEB-43D9-B9E5-8114FFCD746C}" srcOrd="7" destOrd="0" parTransId="{90B8E4C9-9201-45CE-B9BA-F827E96CFDB4}" sibTransId="{1BA139E2-2347-43A0-99EC-8A886F47E572}"/>
    <dgm:cxn modelId="{7FABE2EF-A986-4D59-A02C-24E3851557A5}" type="presOf" srcId="{6DCF312A-D696-446F-8AEF-7CC30783908B}" destId="{882F28AC-AD1B-4E0E-AEA6-8989F5CE6A35}" srcOrd="0" destOrd="2" presId="urn:microsoft.com/office/officeart/2005/8/layout/hList1"/>
    <dgm:cxn modelId="{A5AB44A5-0A54-4255-863D-C63ECB47ADB4}" srcId="{52B1E9F8-FF5A-4290-A2EE-04416696410E}" destId="{1916EEB6-8012-4C32-BB16-D45FE8388CAB}" srcOrd="1" destOrd="0" parTransId="{AAE70BB2-FF9F-4070-A5FC-ED235CA4153C}" sibTransId="{2FBCF5CD-18EA-4379-8DDB-078E7BE8F140}"/>
    <dgm:cxn modelId="{6477DD6F-8191-4390-B4DF-FA9A84E61F4F}" srcId="{876F12A8-3CBF-4C23-9511-B3BE912EE8A9}" destId="{77261A98-EA16-48DE-BDEC-862B033DFA44}" srcOrd="0" destOrd="0" parTransId="{4AE48503-4481-4041-AD0D-FB09D10A177D}" sibTransId="{F5E35242-EFA8-4231-BC41-3E8B48AEE665}"/>
    <dgm:cxn modelId="{C94072C2-A343-4034-AE65-F026F0256435}" srcId="{EC2ECAB8-A85D-40C7-9117-2AA078A20F63}" destId="{8FA580CD-2825-4C51-B1DE-E59D1B218141}" srcOrd="5" destOrd="0" parTransId="{3834143C-29CF-48A3-A93F-2F105F6D6050}" sibTransId="{72A3146F-3698-4795-BFC6-740EADE57467}"/>
    <dgm:cxn modelId="{165D3642-C139-40E0-AF02-1BF4FD25CF1B}" srcId="{EC2ECAB8-A85D-40C7-9117-2AA078A20F63}" destId="{E0B0216D-FB34-4FF8-9D6F-878140CAD8C7}" srcOrd="6" destOrd="0" parTransId="{742C2641-2368-450E-9041-6212968BDF28}" sibTransId="{A52F8DC6-3D0E-458B-B9D3-8E5A5EB293DB}"/>
    <dgm:cxn modelId="{7803EF2A-896B-4045-8618-E85FC7EEB4DB}" type="presOf" srcId="{8FD7E9F2-2311-44BE-9382-0FD689EB7EE2}" destId="{2CE42794-9563-4A96-B9CC-520A06D6EE9D}" srcOrd="0" destOrd="1" presId="urn:microsoft.com/office/officeart/2005/8/layout/hList1"/>
    <dgm:cxn modelId="{F163E7A1-F61D-40FA-8D51-09DFBDF63920}" srcId="{D5C8C534-B55B-41EF-88DB-ED9C24EBB7FC}" destId="{EC2ECAB8-A85D-40C7-9117-2AA078A20F63}" srcOrd="2" destOrd="0" parTransId="{5EE77FF3-6958-4AA2-A361-996476EE469F}" sibTransId="{1857EB93-3123-4042-9586-557C94FF38FB}"/>
    <dgm:cxn modelId="{6675F078-90A0-441A-B52E-978D1B9AC133}" type="presOf" srcId="{ED3D8A5C-A004-4F25-9E95-105C5CBAC5B8}" destId="{AAB1147D-BCEB-4287-850D-0C28E16B7E63}" srcOrd="0" destOrd="4" presId="urn:microsoft.com/office/officeart/2005/8/layout/hList1"/>
    <dgm:cxn modelId="{DB7460AA-ACB4-47DE-9374-B283613BED15}" type="presOf" srcId="{17A262F1-9003-4C77-8F50-D8E5C174B968}" destId="{AAB1147D-BCEB-4287-850D-0C28E16B7E63}" srcOrd="0" destOrd="6" presId="urn:microsoft.com/office/officeart/2005/8/layout/hList1"/>
    <dgm:cxn modelId="{8158826A-24C7-48C4-81FC-AD1E2D94965F}" type="presOf" srcId="{13C8241D-30EB-4DA5-91CE-6455887CB532}" destId="{882F28AC-AD1B-4E0E-AEA6-8989F5CE6A35}" srcOrd="0" destOrd="3" presId="urn:microsoft.com/office/officeart/2005/8/layout/hList1"/>
    <dgm:cxn modelId="{4AFAF31F-3351-45B7-B8A4-2A2E573C3356}" type="presOf" srcId="{582737C7-A23B-4BCF-8152-3B1924EDA793}" destId="{882F28AC-AD1B-4E0E-AEA6-8989F5CE6A35}" srcOrd="0" destOrd="5" presId="urn:microsoft.com/office/officeart/2005/8/layout/hList1"/>
    <dgm:cxn modelId="{36860DE1-6F5F-4025-A828-41782B80E483}" srcId="{EC2ECAB8-A85D-40C7-9117-2AA078A20F63}" destId="{F3C8CAEE-C3C5-4F4E-B8D6-95CD478198FC}" srcOrd="0" destOrd="0" parTransId="{5285F996-D863-41D2-BCDC-C49BA518BF7E}" sibTransId="{E224FB83-0D9D-4738-BEF7-DDCB4BC4B3E5}"/>
    <dgm:cxn modelId="{B6FECAE4-FCB1-4070-988B-D12124804E84}" type="presOf" srcId="{1916EEB6-8012-4C32-BB16-D45FE8388CAB}" destId="{8901B344-4CDE-44D5-B022-7E0CE2C33BF0}" srcOrd="0" destOrd="1" presId="urn:microsoft.com/office/officeart/2005/8/layout/hList1"/>
    <dgm:cxn modelId="{30566708-7369-440D-8220-D3C7D17B04FC}" srcId="{876F12A8-3CBF-4C23-9511-B3BE912EE8A9}" destId="{17A262F1-9003-4C77-8F50-D8E5C174B968}" srcOrd="6" destOrd="0" parTransId="{6CB28059-AA75-4527-99CA-A3EDDA9850C4}" sibTransId="{2C6A6872-2DBF-427F-9E6B-05310B7310D1}"/>
    <dgm:cxn modelId="{E1A005BE-128C-4479-A4FA-3DF86533F66C}" srcId="{EC2ECAB8-A85D-40C7-9117-2AA078A20F63}" destId="{8FD7E9F2-2311-44BE-9382-0FD689EB7EE2}" srcOrd="1" destOrd="0" parTransId="{5995E318-DFCD-47CE-9AC3-7D5D5C2C1D86}" sibTransId="{F367CA91-5390-4142-B6C6-B0F4A0631B49}"/>
    <dgm:cxn modelId="{0679CD4E-2498-4018-8723-E8787BC77786}" type="presOf" srcId="{8FA580CD-2825-4C51-B1DE-E59D1B218141}" destId="{2CE42794-9563-4A96-B9CC-520A06D6EE9D}" srcOrd="0" destOrd="5" presId="urn:microsoft.com/office/officeart/2005/8/layout/hList1"/>
    <dgm:cxn modelId="{EF253D2C-88A1-4A17-A421-A437AB497084}" srcId="{EC2ECAB8-A85D-40C7-9117-2AA078A20F63}" destId="{5EA30DCB-652C-49B8-9D97-8AF54B4F7E80}" srcOrd="3" destOrd="0" parTransId="{FAB1DA54-8633-4DA2-80C9-DA6F0989C0DB}" sibTransId="{B8684FF1-2E11-4AA1-8744-0C5546446438}"/>
    <dgm:cxn modelId="{5B1CB425-2908-4525-A8B0-E745A2D331CF}" type="presOf" srcId="{B51F8DC3-7A9F-4CF9-90CC-BC0B820F7B91}" destId="{882F28AC-AD1B-4E0E-AEA6-8989F5CE6A35}" srcOrd="0" destOrd="1" presId="urn:microsoft.com/office/officeart/2005/8/layout/hList1"/>
    <dgm:cxn modelId="{CF519EFD-A2DD-4B69-9F56-3F9C8F4E2CC2}" srcId="{5A047D2B-AE09-4A6A-B06B-F9BE7B733FC6}" destId="{6DCF312A-D696-446F-8AEF-7CC30783908B}" srcOrd="2" destOrd="0" parTransId="{3447F3BB-C176-403F-A440-AAA7B2132DFD}" sibTransId="{800753E0-C5D5-4C74-BD57-FDEE2C16A254}"/>
    <dgm:cxn modelId="{7144F0F9-11A9-4800-8F58-E84B14B4946F}" type="presOf" srcId="{876F12A8-3CBF-4C23-9511-B3BE912EE8A9}" destId="{8B58748B-2575-4D58-9FA0-9F6CA0DF6B78}" srcOrd="0" destOrd="0" presId="urn:microsoft.com/office/officeart/2005/8/layout/hList1"/>
    <dgm:cxn modelId="{D1E18ACA-E2AC-419B-B0C8-489177C231F1}" srcId="{D5C8C534-B55B-41EF-88DB-ED9C24EBB7FC}" destId="{876F12A8-3CBF-4C23-9511-B3BE912EE8A9}" srcOrd="0" destOrd="0" parTransId="{1BEBABA3-2449-4976-9CA0-CD33A6A3B3B9}" sibTransId="{9D64F3A3-F0ED-495F-BD66-97CC72F1F1F0}"/>
    <dgm:cxn modelId="{B89A155E-513F-47AF-B4BC-9A20D3997CAF}" type="presOf" srcId="{884C6235-9D16-4D95-BC42-131FB482992D}" destId="{2CE42794-9563-4A96-B9CC-520A06D6EE9D}" srcOrd="0" destOrd="2" presId="urn:microsoft.com/office/officeart/2005/8/layout/hList1"/>
    <dgm:cxn modelId="{208829A7-E4DE-4296-8B59-B7ED5D79D87F}" type="presOf" srcId="{77261A98-EA16-48DE-BDEC-862B033DFA44}" destId="{AAB1147D-BCEB-4287-850D-0C28E16B7E63}" srcOrd="0" destOrd="0" presId="urn:microsoft.com/office/officeart/2005/8/layout/hList1"/>
    <dgm:cxn modelId="{EC0C1EBC-1BB6-4B64-9783-15A05DC6D254}" srcId="{876F12A8-3CBF-4C23-9511-B3BE912EE8A9}" destId="{0C5135B2-B7D9-4A56-B321-EACBE96AD852}" srcOrd="5" destOrd="0" parTransId="{AFF35C9C-E88B-481D-A218-745179C42A89}" sibTransId="{2AF380E5-541E-476E-A57D-2AF52F0FD3CF}"/>
    <dgm:cxn modelId="{D71B0854-94D7-4E70-9906-79916BDF1C2E}" srcId="{876F12A8-3CBF-4C23-9511-B3BE912EE8A9}" destId="{ED3D8A5C-A004-4F25-9E95-105C5CBAC5B8}" srcOrd="4" destOrd="0" parTransId="{2602785F-5020-4C37-9349-25B3C6EB8027}" sibTransId="{B91310B6-65D7-4C98-8D22-83CC38A1C4FE}"/>
    <dgm:cxn modelId="{005C54AF-184D-4787-A7B1-0AB18749A37A}" type="presOf" srcId="{F0649716-B277-4246-B4C1-BC542F322F8A}" destId="{882F28AC-AD1B-4E0E-AEA6-8989F5CE6A35}" srcOrd="0" destOrd="4" presId="urn:microsoft.com/office/officeart/2005/8/layout/hList1"/>
    <dgm:cxn modelId="{59B3EA95-794A-41E4-AD77-16978C50CA9E}" srcId="{876F12A8-3CBF-4C23-9511-B3BE912EE8A9}" destId="{C47477C1-EBA0-4A69-9865-EEB1CC3C0A49}" srcOrd="1" destOrd="0" parTransId="{2DAF60AF-9674-4AD9-9AC9-067991921028}" sibTransId="{3208B049-162D-4726-BC74-C2FDF40ED359}"/>
    <dgm:cxn modelId="{931434B6-00F4-4699-887F-56BCBF48E59B}" srcId="{876F12A8-3CBF-4C23-9511-B3BE912EE8A9}" destId="{B388BF5D-1F28-4429-9317-BEF154AD918C}" srcOrd="7" destOrd="0" parTransId="{00DC2BDA-9FCE-4789-8612-CBAB489E1008}" sibTransId="{04381C85-A969-462F-89C0-62961ACABCF6}"/>
    <dgm:cxn modelId="{9E20866B-39E1-421E-BBF0-2C4CC4E668E7}" srcId="{D5C8C534-B55B-41EF-88DB-ED9C24EBB7FC}" destId="{52B1E9F8-FF5A-4290-A2EE-04416696410E}" srcOrd="1" destOrd="0" parTransId="{EE94DFC9-8FE1-4D92-A39A-2B2FA864EDE3}" sibTransId="{B47D46F4-2A52-46AE-8568-3E60E48D3D30}"/>
    <dgm:cxn modelId="{9E63657E-2948-4D46-870D-D48666D636F7}" type="presOf" srcId="{2BB21CFB-3C14-4EE0-BF97-9DE197EDB4FB}" destId="{8901B344-4CDE-44D5-B022-7E0CE2C33BF0}" srcOrd="0" destOrd="3" presId="urn:microsoft.com/office/officeart/2005/8/layout/hList1"/>
    <dgm:cxn modelId="{25D78AD7-111E-45EA-B17E-5767226B1533}" srcId="{5A047D2B-AE09-4A6A-B06B-F9BE7B733FC6}" destId="{13C8241D-30EB-4DA5-91CE-6455887CB532}" srcOrd="3" destOrd="0" parTransId="{1D178F00-0239-4F3A-B7E9-B16BC7D40770}" sibTransId="{FF284607-31F0-407C-BDD3-060E3A6EF9D4}"/>
    <dgm:cxn modelId="{B9961085-9E9F-436A-B159-E6AD8978BA4E}" type="presOf" srcId="{52B1E9F8-FF5A-4290-A2EE-04416696410E}" destId="{20330B3A-115A-4449-BBD2-F1DF7DA08C27}" srcOrd="0" destOrd="0" presId="urn:microsoft.com/office/officeart/2005/8/layout/hList1"/>
    <dgm:cxn modelId="{00292602-23F3-42C6-8D6C-3C0847A45E4F}" type="presOf" srcId="{59007718-4FEB-43D9-B9E5-8114FFCD746C}" destId="{2CE42794-9563-4A96-B9CC-520A06D6EE9D}" srcOrd="0" destOrd="7" presId="urn:microsoft.com/office/officeart/2005/8/layout/hList1"/>
    <dgm:cxn modelId="{0BACE77D-F836-403B-B540-97FDAFF4B97F}" type="presOf" srcId="{E0B0216D-FB34-4FF8-9D6F-878140CAD8C7}" destId="{2CE42794-9563-4A96-B9CC-520A06D6EE9D}" srcOrd="0" destOrd="6" presId="urn:microsoft.com/office/officeart/2005/8/layout/hList1"/>
    <dgm:cxn modelId="{EFBBF2D2-A0FC-4C39-B748-AD4175824DD9}" type="presOf" srcId="{C47477C1-EBA0-4A69-9865-EEB1CC3C0A49}" destId="{AAB1147D-BCEB-4287-850D-0C28E16B7E63}" srcOrd="0" destOrd="1" presId="urn:microsoft.com/office/officeart/2005/8/layout/hList1"/>
    <dgm:cxn modelId="{7670469B-3FA8-4F80-8253-5BE1CE179D8A}" type="presOf" srcId="{284F0E1D-70AC-40E5-B58D-8B75F4E28080}" destId="{2CE42794-9563-4A96-B9CC-520A06D6EE9D}" srcOrd="0" destOrd="8" presId="urn:microsoft.com/office/officeart/2005/8/layout/hList1"/>
    <dgm:cxn modelId="{835F4013-8682-4B06-BE9F-F0BDF23EC7A1}" type="presOf" srcId="{F3C8CAEE-C3C5-4F4E-B8D6-95CD478198FC}" destId="{2CE42794-9563-4A96-B9CC-520A06D6EE9D}" srcOrd="0" destOrd="0" presId="urn:microsoft.com/office/officeart/2005/8/layout/hList1"/>
    <dgm:cxn modelId="{B584686C-FF56-43FC-A6E9-BFDC110D0F3A}" srcId="{5A047D2B-AE09-4A6A-B06B-F9BE7B733FC6}" destId="{F0649716-B277-4246-B4C1-BC542F322F8A}" srcOrd="4" destOrd="0" parTransId="{27839B55-E584-422D-B72E-32A347E21FD6}" sibTransId="{3CA4F354-DF59-45C6-AF13-28268C39518D}"/>
    <dgm:cxn modelId="{882A1422-3035-42CC-B957-DAA940304E29}" type="presOf" srcId="{D5C8C534-B55B-41EF-88DB-ED9C24EBB7FC}" destId="{3B2B6EC3-FAFC-4F27-AF22-3209ABD0D639}" srcOrd="0" destOrd="0" presId="urn:microsoft.com/office/officeart/2005/8/layout/hList1"/>
    <dgm:cxn modelId="{7B5DB5B3-4382-41DF-A593-C2950026192E}" type="presOf" srcId="{5DCF5F03-40E3-4DF7-8D0C-5B2AC04E9710}" destId="{8901B344-4CDE-44D5-B022-7E0CE2C33BF0}" srcOrd="0" destOrd="2" presId="urn:microsoft.com/office/officeart/2005/8/layout/hList1"/>
    <dgm:cxn modelId="{DDA29D37-E8F9-42C3-B045-6EF36EA64061}" srcId="{D5C8C534-B55B-41EF-88DB-ED9C24EBB7FC}" destId="{5A047D2B-AE09-4A6A-B06B-F9BE7B733FC6}" srcOrd="3" destOrd="0" parTransId="{8B477AFB-3BB3-4E4F-A613-7C77A347B362}" sibTransId="{2A70620D-A631-4E94-958B-CBD6322152E7}"/>
    <dgm:cxn modelId="{558D6982-3136-43B9-B184-56E7146CE86D}" srcId="{EC2ECAB8-A85D-40C7-9117-2AA078A20F63}" destId="{63777967-36A7-42A3-AAA6-F67A82A84365}" srcOrd="4" destOrd="0" parTransId="{F3267288-52D4-4232-8EDE-0C06A198065D}" sibTransId="{F21EB987-DD12-4AE4-A891-7E0A1B3B9F7C}"/>
    <dgm:cxn modelId="{881EBBB6-15D8-4DA3-BC7F-64A5C098211B}" type="presOf" srcId="{C896329D-659F-41D8-8428-23F35A3F2A7F}" destId="{AAB1147D-BCEB-4287-850D-0C28E16B7E63}" srcOrd="0" destOrd="2" presId="urn:microsoft.com/office/officeart/2005/8/layout/hList1"/>
    <dgm:cxn modelId="{5D40A653-A696-4FD0-A24A-7CCAC7193D58}" srcId="{876F12A8-3CBF-4C23-9511-B3BE912EE8A9}" destId="{1D93A904-DA31-4610-8126-8F418CD7E1E6}" srcOrd="3" destOrd="0" parTransId="{637248D1-417D-468F-8F5A-263F0EEE4E25}" sibTransId="{4CE4025D-124A-4864-812A-CAFE879FDB0F}"/>
    <dgm:cxn modelId="{58B7B001-F24A-48C0-A169-02A75BBAF8BA}" srcId="{5A047D2B-AE09-4A6A-B06B-F9BE7B733FC6}" destId="{B51F8DC3-7A9F-4CF9-90CC-BC0B820F7B91}" srcOrd="1" destOrd="0" parTransId="{B548D59C-C2A0-4CDC-8BEB-4BECB5846444}" sibTransId="{03D855FF-F756-46AB-8876-3918B1753DDF}"/>
    <dgm:cxn modelId="{830DBDFA-603A-4B7A-80F0-2922629E6583}" type="presOf" srcId="{3D5166C9-5BA2-4001-892D-F49F4600D5B7}" destId="{882F28AC-AD1B-4E0E-AEA6-8989F5CE6A35}" srcOrd="0" destOrd="0" presId="urn:microsoft.com/office/officeart/2005/8/layout/hList1"/>
    <dgm:cxn modelId="{38793140-22FB-4290-95F5-D68F82D5906E}" srcId="{52B1E9F8-FF5A-4290-A2EE-04416696410E}" destId="{5DCF5F03-40E3-4DF7-8D0C-5B2AC04E9710}" srcOrd="2" destOrd="0" parTransId="{F587DB87-8C05-45E8-821D-48A0E1934C89}" sibTransId="{D015357F-31D5-4BDE-9234-A074B01E35F1}"/>
    <dgm:cxn modelId="{5F377A93-F874-4E15-A15F-14F7FBBD0C3E}" type="presOf" srcId="{0C5135B2-B7D9-4A56-B321-EACBE96AD852}" destId="{AAB1147D-BCEB-4287-850D-0C28E16B7E63}" srcOrd="0" destOrd="5" presId="urn:microsoft.com/office/officeart/2005/8/layout/hList1"/>
    <dgm:cxn modelId="{E7C37E4C-54D2-4BC9-B239-CAD8181BEBE4}" srcId="{5A047D2B-AE09-4A6A-B06B-F9BE7B733FC6}" destId="{582737C7-A23B-4BCF-8152-3B1924EDA793}" srcOrd="5" destOrd="0" parTransId="{37F03128-A80E-4CE0-BC23-6DF7CB8A11D8}" sibTransId="{FD69B635-10E7-462F-9558-02A0E5739F4C}"/>
    <dgm:cxn modelId="{DF223F19-81A7-4EA6-98DF-0E2387D499A4}" srcId="{52B1E9F8-FF5A-4290-A2EE-04416696410E}" destId="{D72C800D-6A31-4F3A-928F-3FAA9F4B2458}" srcOrd="4" destOrd="0" parTransId="{09F4EBD8-72E6-409A-BB6C-4843FEBEAA2B}" sibTransId="{3A004302-3BD4-436A-BFCE-E278615647A1}"/>
    <dgm:cxn modelId="{CBD1C9AE-9CB6-4DAC-9A13-CF429A4CF2CE}" srcId="{5A047D2B-AE09-4A6A-B06B-F9BE7B733FC6}" destId="{3D5166C9-5BA2-4001-892D-F49F4600D5B7}" srcOrd="0" destOrd="0" parTransId="{65196C88-0272-4B87-95C5-9ECF31C690C5}" sibTransId="{7A884809-F420-4DBC-B4D1-42CD63AA7E48}"/>
    <dgm:cxn modelId="{555B5F87-EAA2-4BF5-A85A-067F5B333468}" srcId="{52B1E9F8-FF5A-4290-A2EE-04416696410E}" destId="{DFACE991-8E53-485A-907C-1EFB2848046C}" srcOrd="0" destOrd="0" parTransId="{522FA040-2423-4F5F-A378-E20632813270}" sibTransId="{79202294-FE13-49A9-BC9A-1A8E948266D7}"/>
    <dgm:cxn modelId="{EE8863FA-4EF4-4EFB-9830-0C19734FF79F}" type="presOf" srcId="{DFACE991-8E53-485A-907C-1EFB2848046C}" destId="{8901B344-4CDE-44D5-B022-7E0CE2C33BF0}" srcOrd="0" destOrd="0" presId="urn:microsoft.com/office/officeart/2005/8/layout/hList1"/>
    <dgm:cxn modelId="{2F15E5B2-FD5A-4FCC-A0B1-6229D864EEE5}" type="presParOf" srcId="{3B2B6EC3-FAFC-4F27-AF22-3209ABD0D639}" destId="{D92851F3-0C0F-489F-A254-A6812400DD0A}" srcOrd="0" destOrd="0" presId="urn:microsoft.com/office/officeart/2005/8/layout/hList1"/>
    <dgm:cxn modelId="{0E883B7F-E08C-44F7-8A7B-E2AF13E4CCB5}" type="presParOf" srcId="{D92851F3-0C0F-489F-A254-A6812400DD0A}" destId="{8B58748B-2575-4D58-9FA0-9F6CA0DF6B78}" srcOrd="0" destOrd="0" presId="urn:microsoft.com/office/officeart/2005/8/layout/hList1"/>
    <dgm:cxn modelId="{E78670CA-3CEC-4E80-B71E-081F8260A350}" type="presParOf" srcId="{D92851F3-0C0F-489F-A254-A6812400DD0A}" destId="{AAB1147D-BCEB-4287-850D-0C28E16B7E63}" srcOrd="1" destOrd="0" presId="urn:microsoft.com/office/officeart/2005/8/layout/hList1"/>
    <dgm:cxn modelId="{DD9B5A52-DF3B-4D27-B538-F44260CB2585}" type="presParOf" srcId="{3B2B6EC3-FAFC-4F27-AF22-3209ABD0D639}" destId="{4F0A595E-783C-4E50-8B40-09F25FB93E7C}" srcOrd="1" destOrd="0" presId="urn:microsoft.com/office/officeart/2005/8/layout/hList1"/>
    <dgm:cxn modelId="{6284B8B7-85CF-475A-A4B9-F17A15183B56}" type="presParOf" srcId="{3B2B6EC3-FAFC-4F27-AF22-3209ABD0D639}" destId="{D92EDD19-9446-4D94-8EDB-D131762C721A}" srcOrd="2" destOrd="0" presId="urn:microsoft.com/office/officeart/2005/8/layout/hList1"/>
    <dgm:cxn modelId="{0BDD6E23-4333-4DEE-867C-E3279B6E94BF}" type="presParOf" srcId="{D92EDD19-9446-4D94-8EDB-D131762C721A}" destId="{20330B3A-115A-4449-BBD2-F1DF7DA08C27}" srcOrd="0" destOrd="0" presId="urn:microsoft.com/office/officeart/2005/8/layout/hList1"/>
    <dgm:cxn modelId="{22ABE753-D158-461C-9DC5-FA81CA19939D}" type="presParOf" srcId="{D92EDD19-9446-4D94-8EDB-D131762C721A}" destId="{8901B344-4CDE-44D5-B022-7E0CE2C33BF0}" srcOrd="1" destOrd="0" presId="urn:microsoft.com/office/officeart/2005/8/layout/hList1"/>
    <dgm:cxn modelId="{C1946456-9A98-4548-A83C-BB36964DCE0A}" type="presParOf" srcId="{3B2B6EC3-FAFC-4F27-AF22-3209ABD0D639}" destId="{1849843C-4BCF-4CA2-9DF2-6782D020EB95}" srcOrd="3" destOrd="0" presId="urn:microsoft.com/office/officeart/2005/8/layout/hList1"/>
    <dgm:cxn modelId="{FB0BBBAD-FA6D-49D1-B3FB-3C7FF93D82E6}" type="presParOf" srcId="{3B2B6EC3-FAFC-4F27-AF22-3209ABD0D639}" destId="{339E4B24-AAC5-4F06-B52E-2DF3F454F8CD}" srcOrd="4" destOrd="0" presId="urn:microsoft.com/office/officeart/2005/8/layout/hList1"/>
    <dgm:cxn modelId="{777DB1D2-02F2-41E3-BC77-FE93E5574D48}" type="presParOf" srcId="{339E4B24-AAC5-4F06-B52E-2DF3F454F8CD}" destId="{E3E6BEB8-B08E-43CD-A3AF-F2B85C4580AD}" srcOrd="0" destOrd="0" presId="urn:microsoft.com/office/officeart/2005/8/layout/hList1"/>
    <dgm:cxn modelId="{C79BB43A-B86E-4EC7-9FCB-1B2E139F8EA1}" type="presParOf" srcId="{339E4B24-AAC5-4F06-B52E-2DF3F454F8CD}" destId="{2CE42794-9563-4A96-B9CC-520A06D6EE9D}" srcOrd="1" destOrd="0" presId="urn:microsoft.com/office/officeart/2005/8/layout/hList1"/>
    <dgm:cxn modelId="{AB8D1ED5-0480-40B5-9C94-1C2356B06769}" type="presParOf" srcId="{3B2B6EC3-FAFC-4F27-AF22-3209ABD0D639}" destId="{B11BD261-271F-4274-A770-76A44AED9CB3}" srcOrd="5" destOrd="0" presId="urn:microsoft.com/office/officeart/2005/8/layout/hList1"/>
    <dgm:cxn modelId="{83A56E4B-AC31-48EB-BAAE-0856456F5800}" type="presParOf" srcId="{3B2B6EC3-FAFC-4F27-AF22-3209ABD0D639}" destId="{9FBE3C72-DB3A-46C6-B2EE-4B94FAA24B04}" srcOrd="6" destOrd="0" presId="urn:microsoft.com/office/officeart/2005/8/layout/hList1"/>
    <dgm:cxn modelId="{F5665721-6B08-498C-AA6A-27B67B7B9C3F}" type="presParOf" srcId="{9FBE3C72-DB3A-46C6-B2EE-4B94FAA24B04}" destId="{016C0C30-52FC-4CA5-B7B1-35861449347E}" srcOrd="0" destOrd="0" presId="urn:microsoft.com/office/officeart/2005/8/layout/hList1"/>
    <dgm:cxn modelId="{63B62100-35FB-438D-80F2-7196FAFF1882}" type="presParOf" srcId="{9FBE3C72-DB3A-46C6-B2EE-4B94FAA24B04}" destId="{882F28AC-AD1B-4E0E-AEA6-8989F5CE6A35}"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7FF2948-F2AF-4A85-8DBB-C91719AD40BF}" type="doc">
      <dgm:prSet loTypeId="urn:microsoft.com/office/officeart/2005/8/layout/default#1" loCatId="list" qsTypeId="urn:microsoft.com/office/officeart/2005/8/quickstyle/simple1" qsCatId="simple" csTypeId="urn:microsoft.com/office/officeart/2005/8/colors/colorful4" csCatId="colorful" phldr="1"/>
      <dgm:spPr/>
      <dgm:t>
        <a:bodyPr/>
        <a:lstStyle/>
        <a:p>
          <a:endParaRPr lang="fi-FI"/>
        </a:p>
      </dgm:t>
    </dgm:pt>
    <dgm:pt modelId="{E08CD60C-390A-40E8-9D0C-F255320B17D5}">
      <dgm:prSet/>
      <dgm:spPr/>
      <dgm:t>
        <a:bodyPr/>
        <a:lstStyle/>
        <a:p>
          <a:pPr rtl="0"/>
          <a:r>
            <a:rPr lang="fi-FI" b="1" dirty="0" smtClean="0"/>
            <a:t>Vahvuudet</a:t>
          </a:r>
          <a:endParaRPr lang="fi-FI" b="1" dirty="0"/>
        </a:p>
      </dgm:t>
    </dgm:pt>
    <dgm:pt modelId="{886AE80A-3320-443C-9FAF-6214AB59BF0C}" type="parTrans" cxnId="{6789916E-A73F-4A54-A5DB-03515E85B366}">
      <dgm:prSet/>
      <dgm:spPr/>
      <dgm:t>
        <a:bodyPr/>
        <a:lstStyle/>
        <a:p>
          <a:endParaRPr lang="fi-FI"/>
        </a:p>
      </dgm:t>
    </dgm:pt>
    <dgm:pt modelId="{6F555BAB-8527-4132-8460-E71909268D84}" type="sibTrans" cxnId="{6789916E-A73F-4A54-A5DB-03515E85B366}">
      <dgm:prSet/>
      <dgm:spPr/>
      <dgm:t>
        <a:bodyPr/>
        <a:lstStyle/>
        <a:p>
          <a:endParaRPr lang="fi-FI"/>
        </a:p>
      </dgm:t>
    </dgm:pt>
    <dgm:pt modelId="{442B2EE2-DEF2-44FE-8F51-1EF1883BA929}">
      <dgm:prSet/>
      <dgm:spPr/>
      <dgm:t>
        <a:bodyPr/>
        <a:lstStyle/>
        <a:p>
          <a:pPr rtl="0"/>
          <a:r>
            <a:rPr lang="fi-FI" b="1" dirty="0" smtClean="0"/>
            <a:t>Mahdollisuudet</a:t>
          </a:r>
          <a:endParaRPr lang="fi-FI" b="1" dirty="0"/>
        </a:p>
      </dgm:t>
    </dgm:pt>
    <dgm:pt modelId="{2969AA3C-84FA-4A5C-9FC2-50C994D007F8}" type="parTrans" cxnId="{B37B4E22-C721-4DE5-81AD-CE5DB3392534}">
      <dgm:prSet/>
      <dgm:spPr/>
      <dgm:t>
        <a:bodyPr/>
        <a:lstStyle/>
        <a:p>
          <a:endParaRPr lang="fi-FI"/>
        </a:p>
      </dgm:t>
    </dgm:pt>
    <dgm:pt modelId="{541CC04D-54C2-4A98-AAA5-12DF14DA6A6A}" type="sibTrans" cxnId="{B37B4E22-C721-4DE5-81AD-CE5DB3392534}">
      <dgm:prSet/>
      <dgm:spPr/>
      <dgm:t>
        <a:bodyPr/>
        <a:lstStyle/>
        <a:p>
          <a:endParaRPr lang="fi-FI"/>
        </a:p>
      </dgm:t>
    </dgm:pt>
    <dgm:pt modelId="{D7DB4D69-4C7E-4A40-BC04-38089200387D}">
      <dgm:prSet/>
      <dgm:spPr/>
      <dgm:t>
        <a:bodyPr/>
        <a:lstStyle/>
        <a:p>
          <a:pPr rtl="0"/>
          <a:r>
            <a:rPr lang="fi-FI" b="1" dirty="0" smtClean="0"/>
            <a:t>Heikkoudet</a:t>
          </a:r>
          <a:endParaRPr lang="fi-FI" b="1" dirty="0"/>
        </a:p>
      </dgm:t>
    </dgm:pt>
    <dgm:pt modelId="{9A553664-FF5F-4FE7-8C4E-3FFE8F555C08}" type="parTrans" cxnId="{F213787B-75A0-4428-9BC1-C979ECB32CAE}">
      <dgm:prSet/>
      <dgm:spPr/>
      <dgm:t>
        <a:bodyPr/>
        <a:lstStyle/>
        <a:p>
          <a:endParaRPr lang="fi-FI"/>
        </a:p>
      </dgm:t>
    </dgm:pt>
    <dgm:pt modelId="{352749A3-C183-4D7B-8BA3-4FD73F29EFFA}" type="sibTrans" cxnId="{F213787B-75A0-4428-9BC1-C979ECB32CAE}">
      <dgm:prSet/>
      <dgm:spPr/>
      <dgm:t>
        <a:bodyPr/>
        <a:lstStyle/>
        <a:p>
          <a:endParaRPr lang="fi-FI"/>
        </a:p>
      </dgm:t>
    </dgm:pt>
    <dgm:pt modelId="{AFEBCD76-B323-4768-B266-214D4E72C13F}">
      <dgm:prSet/>
      <dgm:spPr/>
      <dgm:t>
        <a:bodyPr/>
        <a:lstStyle/>
        <a:p>
          <a:pPr rtl="0"/>
          <a:r>
            <a:rPr lang="fi-FI" b="1" dirty="0" smtClean="0"/>
            <a:t>Uhat</a:t>
          </a:r>
          <a:endParaRPr lang="fi-FI" b="1" dirty="0"/>
        </a:p>
      </dgm:t>
    </dgm:pt>
    <dgm:pt modelId="{B46B1721-53F4-4FD3-B8D2-1D09269DAAE9}" type="parTrans" cxnId="{39525891-98CD-4531-BE05-833921850B5C}">
      <dgm:prSet/>
      <dgm:spPr/>
      <dgm:t>
        <a:bodyPr/>
        <a:lstStyle/>
        <a:p>
          <a:endParaRPr lang="fi-FI"/>
        </a:p>
      </dgm:t>
    </dgm:pt>
    <dgm:pt modelId="{60429BE8-EAAF-4B52-A69D-954AC77F0ACF}" type="sibTrans" cxnId="{39525891-98CD-4531-BE05-833921850B5C}">
      <dgm:prSet/>
      <dgm:spPr/>
      <dgm:t>
        <a:bodyPr/>
        <a:lstStyle/>
        <a:p>
          <a:endParaRPr lang="fi-FI"/>
        </a:p>
      </dgm:t>
    </dgm:pt>
    <dgm:pt modelId="{F82E6787-B264-4806-A38E-6947A4A2112A}" type="pres">
      <dgm:prSet presAssocID="{27FF2948-F2AF-4A85-8DBB-C91719AD40BF}" presName="diagram" presStyleCnt="0">
        <dgm:presLayoutVars>
          <dgm:dir/>
          <dgm:resizeHandles val="exact"/>
        </dgm:presLayoutVars>
      </dgm:prSet>
      <dgm:spPr/>
      <dgm:t>
        <a:bodyPr/>
        <a:lstStyle/>
        <a:p>
          <a:endParaRPr lang="fi-FI"/>
        </a:p>
      </dgm:t>
    </dgm:pt>
    <dgm:pt modelId="{6B094063-098D-4C8B-8414-7D0DE7708E58}" type="pres">
      <dgm:prSet presAssocID="{E08CD60C-390A-40E8-9D0C-F255320B17D5}" presName="node" presStyleLbl="node1" presStyleIdx="0" presStyleCnt="4">
        <dgm:presLayoutVars>
          <dgm:bulletEnabled val="1"/>
        </dgm:presLayoutVars>
      </dgm:prSet>
      <dgm:spPr/>
      <dgm:t>
        <a:bodyPr/>
        <a:lstStyle/>
        <a:p>
          <a:endParaRPr lang="fi-FI"/>
        </a:p>
      </dgm:t>
    </dgm:pt>
    <dgm:pt modelId="{4F1D96A1-E851-490D-89EF-9281B133DAF4}" type="pres">
      <dgm:prSet presAssocID="{6F555BAB-8527-4132-8460-E71909268D84}" presName="sibTrans" presStyleCnt="0"/>
      <dgm:spPr/>
    </dgm:pt>
    <dgm:pt modelId="{B2E81F0A-04FE-455F-BA32-AE831DBC3007}" type="pres">
      <dgm:prSet presAssocID="{442B2EE2-DEF2-44FE-8F51-1EF1883BA929}" presName="node" presStyleLbl="node1" presStyleIdx="1" presStyleCnt="4">
        <dgm:presLayoutVars>
          <dgm:bulletEnabled val="1"/>
        </dgm:presLayoutVars>
      </dgm:prSet>
      <dgm:spPr/>
      <dgm:t>
        <a:bodyPr/>
        <a:lstStyle/>
        <a:p>
          <a:endParaRPr lang="fi-FI"/>
        </a:p>
      </dgm:t>
    </dgm:pt>
    <dgm:pt modelId="{2BC39B09-7C49-4EF7-9405-43BCAE791DB7}" type="pres">
      <dgm:prSet presAssocID="{541CC04D-54C2-4A98-AAA5-12DF14DA6A6A}" presName="sibTrans" presStyleCnt="0"/>
      <dgm:spPr/>
    </dgm:pt>
    <dgm:pt modelId="{66C3AA43-F841-4B9B-AFB0-F556145A3590}" type="pres">
      <dgm:prSet presAssocID="{D7DB4D69-4C7E-4A40-BC04-38089200387D}" presName="node" presStyleLbl="node1" presStyleIdx="2" presStyleCnt="4">
        <dgm:presLayoutVars>
          <dgm:bulletEnabled val="1"/>
        </dgm:presLayoutVars>
      </dgm:prSet>
      <dgm:spPr/>
      <dgm:t>
        <a:bodyPr/>
        <a:lstStyle/>
        <a:p>
          <a:endParaRPr lang="fi-FI"/>
        </a:p>
      </dgm:t>
    </dgm:pt>
    <dgm:pt modelId="{68C22ABA-EF42-4E2C-96D0-C25889112518}" type="pres">
      <dgm:prSet presAssocID="{352749A3-C183-4D7B-8BA3-4FD73F29EFFA}" presName="sibTrans" presStyleCnt="0"/>
      <dgm:spPr/>
    </dgm:pt>
    <dgm:pt modelId="{4B2881A7-2ABA-49E5-9068-1111EB1CB39D}" type="pres">
      <dgm:prSet presAssocID="{AFEBCD76-B323-4768-B266-214D4E72C13F}" presName="node" presStyleLbl="node1" presStyleIdx="3" presStyleCnt="4">
        <dgm:presLayoutVars>
          <dgm:bulletEnabled val="1"/>
        </dgm:presLayoutVars>
      </dgm:prSet>
      <dgm:spPr/>
      <dgm:t>
        <a:bodyPr/>
        <a:lstStyle/>
        <a:p>
          <a:endParaRPr lang="fi-FI"/>
        </a:p>
      </dgm:t>
    </dgm:pt>
  </dgm:ptLst>
  <dgm:cxnLst>
    <dgm:cxn modelId="{B37B4E22-C721-4DE5-81AD-CE5DB3392534}" srcId="{27FF2948-F2AF-4A85-8DBB-C91719AD40BF}" destId="{442B2EE2-DEF2-44FE-8F51-1EF1883BA929}" srcOrd="1" destOrd="0" parTransId="{2969AA3C-84FA-4A5C-9FC2-50C994D007F8}" sibTransId="{541CC04D-54C2-4A98-AAA5-12DF14DA6A6A}"/>
    <dgm:cxn modelId="{B182F8E3-0819-4F2B-A100-5F28B0C4C255}" type="presOf" srcId="{AFEBCD76-B323-4768-B266-214D4E72C13F}" destId="{4B2881A7-2ABA-49E5-9068-1111EB1CB39D}" srcOrd="0" destOrd="0" presId="urn:microsoft.com/office/officeart/2005/8/layout/default#1"/>
    <dgm:cxn modelId="{223FDDCA-F160-4DF4-A7D6-879A99632FD9}" type="presOf" srcId="{442B2EE2-DEF2-44FE-8F51-1EF1883BA929}" destId="{B2E81F0A-04FE-455F-BA32-AE831DBC3007}" srcOrd="0" destOrd="0" presId="urn:microsoft.com/office/officeart/2005/8/layout/default#1"/>
    <dgm:cxn modelId="{E4BC8A79-25D1-4610-85A3-C5C39FC6C717}" type="presOf" srcId="{E08CD60C-390A-40E8-9D0C-F255320B17D5}" destId="{6B094063-098D-4C8B-8414-7D0DE7708E58}" srcOrd="0" destOrd="0" presId="urn:microsoft.com/office/officeart/2005/8/layout/default#1"/>
    <dgm:cxn modelId="{F213787B-75A0-4428-9BC1-C979ECB32CAE}" srcId="{27FF2948-F2AF-4A85-8DBB-C91719AD40BF}" destId="{D7DB4D69-4C7E-4A40-BC04-38089200387D}" srcOrd="2" destOrd="0" parTransId="{9A553664-FF5F-4FE7-8C4E-3FFE8F555C08}" sibTransId="{352749A3-C183-4D7B-8BA3-4FD73F29EFFA}"/>
    <dgm:cxn modelId="{39525891-98CD-4531-BE05-833921850B5C}" srcId="{27FF2948-F2AF-4A85-8DBB-C91719AD40BF}" destId="{AFEBCD76-B323-4768-B266-214D4E72C13F}" srcOrd="3" destOrd="0" parTransId="{B46B1721-53F4-4FD3-B8D2-1D09269DAAE9}" sibTransId="{60429BE8-EAAF-4B52-A69D-954AC77F0ACF}"/>
    <dgm:cxn modelId="{6789916E-A73F-4A54-A5DB-03515E85B366}" srcId="{27FF2948-F2AF-4A85-8DBB-C91719AD40BF}" destId="{E08CD60C-390A-40E8-9D0C-F255320B17D5}" srcOrd="0" destOrd="0" parTransId="{886AE80A-3320-443C-9FAF-6214AB59BF0C}" sibTransId="{6F555BAB-8527-4132-8460-E71909268D84}"/>
    <dgm:cxn modelId="{2E8C7D1F-A461-4F97-9102-2667CB9BDD3F}" type="presOf" srcId="{27FF2948-F2AF-4A85-8DBB-C91719AD40BF}" destId="{F82E6787-B264-4806-A38E-6947A4A2112A}" srcOrd="0" destOrd="0" presId="urn:microsoft.com/office/officeart/2005/8/layout/default#1"/>
    <dgm:cxn modelId="{63CCF2A1-0D74-4D80-97F2-AAC02A31E3EC}" type="presOf" srcId="{D7DB4D69-4C7E-4A40-BC04-38089200387D}" destId="{66C3AA43-F841-4B9B-AFB0-F556145A3590}" srcOrd="0" destOrd="0" presId="urn:microsoft.com/office/officeart/2005/8/layout/default#1"/>
    <dgm:cxn modelId="{575F33F8-1F36-4D67-B7FC-6BBB7958EF9C}" type="presParOf" srcId="{F82E6787-B264-4806-A38E-6947A4A2112A}" destId="{6B094063-098D-4C8B-8414-7D0DE7708E58}" srcOrd="0" destOrd="0" presId="urn:microsoft.com/office/officeart/2005/8/layout/default#1"/>
    <dgm:cxn modelId="{9BDF1F8B-22C5-447D-B065-F92677BD6CF8}" type="presParOf" srcId="{F82E6787-B264-4806-A38E-6947A4A2112A}" destId="{4F1D96A1-E851-490D-89EF-9281B133DAF4}" srcOrd="1" destOrd="0" presId="urn:microsoft.com/office/officeart/2005/8/layout/default#1"/>
    <dgm:cxn modelId="{7BCA20FA-D7DA-4279-9051-3742B08AB024}" type="presParOf" srcId="{F82E6787-B264-4806-A38E-6947A4A2112A}" destId="{B2E81F0A-04FE-455F-BA32-AE831DBC3007}" srcOrd="2" destOrd="0" presId="urn:microsoft.com/office/officeart/2005/8/layout/default#1"/>
    <dgm:cxn modelId="{EE2D9826-5BA9-4B56-A8EE-6955AD67F3AD}" type="presParOf" srcId="{F82E6787-B264-4806-A38E-6947A4A2112A}" destId="{2BC39B09-7C49-4EF7-9405-43BCAE791DB7}" srcOrd="3" destOrd="0" presId="urn:microsoft.com/office/officeart/2005/8/layout/default#1"/>
    <dgm:cxn modelId="{C9F79AEB-C081-4529-A75D-84302C5EC76D}" type="presParOf" srcId="{F82E6787-B264-4806-A38E-6947A4A2112A}" destId="{66C3AA43-F841-4B9B-AFB0-F556145A3590}" srcOrd="4" destOrd="0" presId="urn:microsoft.com/office/officeart/2005/8/layout/default#1"/>
    <dgm:cxn modelId="{8CF292F8-E31A-4F6C-BE13-925A129A1DF8}" type="presParOf" srcId="{F82E6787-B264-4806-A38E-6947A4A2112A}" destId="{68C22ABA-EF42-4E2C-96D0-C25889112518}" srcOrd="5" destOrd="0" presId="urn:microsoft.com/office/officeart/2005/8/layout/default#1"/>
    <dgm:cxn modelId="{64AC5C16-5D01-46DE-96A4-E7BA16E572F6}" type="presParOf" srcId="{F82E6787-B264-4806-A38E-6947A4A2112A}" destId="{4B2881A7-2ABA-49E5-9068-1111EB1CB39D}" srcOrd="6"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5C8C534-B55B-41EF-88DB-ED9C24EBB7FC}" type="doc">
      <dgm:prSet loTypeId="urn:microsoft.com/office/officeart/2005/8/layout/hList1" loCatId="list" qsTypeId="urn:microsoft.com/office/officeart/2005/8/quickstyle/simple1" qsCatId="simple" csTypeId="urn:microsoft.com/office/officeart/2005/8/colors/colorful1#7" csCatId="colorful" phldr="1"/>
      <dgm:spPr/>
      <dgm:t>
        <a:bodyPr/>
        <a:lstStyle/>
        <a:p>
          <a:endParaRPr lang="fi-FI"/>
        </a:p>
      </dgm:t>
    </dgm:pt>
    <dgm:pt modelId="{876F12A8-3CBF-4C23-9511-B3BE912EE8A9}">
      <dgm:prSet custT="1"/>
      <dgm:spPr/>
      <dgm:t>
        <a:bodyPr/>
        <a:lstStyle/>
        <a:p>
          <a:pPr rtl="0"/>
          <a:r>
            <a:rPr lang="fi-FI" sz="1100" b="1" dirty="0" smtClean="0"/>
            <a:t>Hyväksymistestauksen rooli ja merkitys</a:t>
          </a:r>
          <a:endParaRPr lang="fi-FI" sz="1100" b="1" dirty="0"/>
        </a:p>
      </dgm:t>
    </dgm:pt>
    <dgm:pt modelId="{1BEBABA3-2449-4976-9CA0-CD33A6A3B3B9}" type="parTrans" cxnId="{D1E18ACA-E2AC-419B-B0C8-489177C231F1}">
      <dgm:prSet/>
      <dgm:spPr/>
      <dgm:t>
        <a:bodyPr/>
        <a:lstStyle/>
        <a:p>
          <a:endParaRPr lang="fi-FI" sz="2000"/>
        </a:p>
      </dgm:t>
    </dgm:pt>
    <dgm:pt modelId="{9D64F3A3-F0ED-495F-BD66-97CC72F1F1F0}" type="sibTrans" cxnId="{D1E18ACA-E2AC-419B-B0C8-489177C231F1}">
      <dgm:prSet/>
      <dgm:spPr/>
      <dgm:t>
        <a:bodyPr/>
        <a:lstStyle/>
        <a:p>
          <a:endParaRPr lang="fi-FI" sz="2000"/>
        </a:p>
      </dgm:t>
    </dgm:pt>
    <dgm:pt modelId="{77261A98-EA16-48DE-BDEC-862B033DFA44}">
      <dgm:prSet custT="1"/>
      <dgm:spPr/>
      <dgm:t>
        <a:bodyPr/>
        <a:lstStyle/>
        <a:p>
          <a:pPr rtl="0"/>
          <a:r>
            <a:rPr lang="fi-FI" sz="1050" dirty="0" smtClean="0"/>
            <a:t>Testaus järjestelmän tilaajalle ja omistajalle</a:t>
          </a:r>
          <a:endParaRPr lang="fi-FI" sz="1050" dirty="0"/>
        </a:p>
      </dgm:t>
    </dgm:pt>
    <dgm:pt modelId="{4AE48503-4481-4041-AD0D-FB09D10A177D}" type="parTrans" cxnId="{6477DD6F-8191-4390-B4DF-FA9A84E61F4F}">
      <dgm:prSet/>
      <dgm:spPr/>
      <dgm:t>
        <a:bodyPr/>
        <a:lstStyle/>
        <a:p>
          <a:endParaRPr lang="fi-FI" sz="2000"/>
        </a:p>
      </dgm:t>
    </dgm:pt>
    <dgm:pt modelId="{F5E35242-EFA8-4231-BC41-3E8B48AEE665}" type="sibTrans" cxnId="{6477DD6F-8191-4390-B4DF-FA9A84E61F4F}">
      <dgm:prSet/>
      <dgm:spPr/>
      <dgm:t>
        <a:bodyPr/>
        <a:lstStyle/>
        <a:p>
          <a:endParaRPr lang="fi-FI" sz="2000"/>
        </a:p>
      </dgm:t>
    </dgm:pt>
    <dgm:pt modelId="{C47477C1-EBA0-4A69-9865-EEB1CC3C0A49}">
      <dgm:prSet custT="1"/>
      <dgm:spPr/>
      <dgm:t>
        <a:bodyPr/>
        <a:lstStyle/>
        <a:p>
          <a:pPr rtl="0"/>
          <a:r>
            <a:rPr lang="fi-FI" sz="1050" dirty="0" smtClean="0"/>
            <a:t>Monitoimittajaympäristön erityispiirteet hyväksymistestaukselle</a:t>
          </a:r>
          <a:endParaRPr lang="fi-FI" sz="1050" dirty="0"/>
        </a:p>
      </dgm:t>
    </dgm:pt>
    <dgm:pt modelId="{2DAF60AF-9674-4AD9-9AC9-067991921028}" type="parTrans" cxnId="{59B3EA95-794A-41E4-AD77-16978C50CA9E}">
      <dgm:prSet/>
      <dgm:spPr/>
      <dgm:t>
        <a:bodyPr/>
        <a:lstStyle/>
        <a:p>
          <a:endParaRPr lang="fi-FI" sz="2000"/>
        </a:p>
      </dgm:t>
    </dgm:pt>
    <dgm:pt modelId="{3208B049-162D-4726-BC74-C2FDF40ED359}" type="sibTrans" cxnId="{59B3EA95-794A-41E4-AD77-16978C50CA9E}">
      <dgm:prSet/>
      <dgm:spPr/>
      <dgm:t>
        <a:bodyPr/>
        <a:lstStyle/>
        <a:p>
          <a:endParaRPr lang="fi-FI" sz="2000"/>
        </a:p>
      </dgm:t>
    </dgm:pt>
    <dgm:pt modelId="{C896329D-659F-41D8-8428-23F35A3F2A7F}">
      <dgm:prSet custT="1"/>
      <dgm:spPr/>
      <dgm:t>
        <a:bodyPr/>
        <a:lstStyle/>
        <a:p>
          <a:pPr rtl="0"/>
          <a:r>
            <a:rPr lang="fi-FI" sz="1050" dirty="0" smtClean="0"/>
            <a:t>Laatutiedon rakentaminen palasille ja kokonaisuudelle</a:t>
          </a:r>
          <a:endParaRPr lang="fi-FI" sz="1050" dirty="0"/>
        </a:p>
      </dgm:t>
    </dgm:pt>
    <dgm:pt modelId="{1095EFC7-C63D-462E-9409-7653C01AAA33}" type="parTrans" cxnId="{A960D218-BB75-455A-95BF-012050E1AFB9}">
      <dgm:prSet/>
      <dgm:spPr/>
      <dgm:t>
        <a:bodyPr/>
        <a:lstStyle/>
        <a:p>
          <a:endParaRPr lang="fi-FI" sz="2000"/>
        </a:p>
      </dgm:t>
    </dgm:pt>
    <dgm:pt modelId="{B35503A3-5959-4612-89F8-373578912E93}" type="sibTrans" cxnId="{A960D218-BB75-455A-95BF-012050E1AFB9}">
      <dgm:prSet/>
      <dgm:spPr/>
      <dgm:t>
        <a:bodyPr/>
        <a:lstStyle/>
        <a:p>
          <a:endParaRPr lang="fi-FI" sz="2000"/>
        </a:p>
      </dgm:t>
    </dgm:pt>
    <dgm:pt modelId="{1D93A904-DA31-4610-8126-8F418CD7E1E6}">
      <dgm:prSet custT="1"/>
      <dgm:spPr/>
      <dgm:t>
        <a:bodyPr/>
        <a:lstStyle/>
        <a:p>
          <a:pPr rtl="0"/>
          <a:r>
            <a:rPr lang="fi-FI" sz="1050" dirty="0" smtClean="0"/>
            <a:t>Laadun monet näkökulmat: toiminnallinen ja ei-toiminnallinen testaus; näkyvä toimituslaatu sekä jatkokehityksen helppous</a:t>
          </a:r>
          <a:endParaRPr lang="fi-FI" sz="1050" dirty="0"/>
        </a:p>
      </dgm:t>
    </dgm:pt>
    <dgm:pt modelId="{637248D1-417D-468F-8F5A-263F0EEE4E25}" type="parTrans" cxnId="{5D40A653-A696-4FD0-A24A-7CCAC7193D58}">
      <dgm:prSet/>
      <dgm:spPr/>
      <dgm:t>
        <a:bodyPr/>
        <a:lstStyle/>
        <a:p>
          <a:endParaRPr lang="fi-FI" sz="2000"/>
        </a:p>
      </dgm:t>
    </dgm:pt>
    <dgm:pt modelId="{4CE4025D-124A-4864-812A-CAFE879FDB0F}" type="sibTrans" cxnId="{5D40A653-A696-4FD0-A24A-7CCAC7193D58}">
      <dgm:prSet/>
      <dgm:spPr/>
      <dgm:t>
        <a:bodyPr/>
        <a:lstStyle/>
        <a:p>
          <a:endParaRPr lang="fi-FI" sz="2000"/>
        </a:p>
      </dgm:t>
    </dgm:pt>
    <dgm:pt modelId="{ED3D8A5C-A004-4F25-9E95-105C5CBAC5B8}">
      <dgm:prSet custT="1"/>
      <dgm:spPr/>
      <dgm:t>
        <a:bodyPr/>
        <a:lstStyle/>
        <a:p>
          <a:pPr rtl="0"/>
          <a:r>
            <a:rPr lang="fi-FI" sz="1050" dirty="0" smtClean="0"/>
            <a:t>Dokumentaation katselmointien rooli hyväksymistestauksessa</a:t>
          </a:r>
          <a:endParaRPr lang="fi-FI" sz="1050" dirty="0"/>
        </a:p>
      </dgm:t>
    </dgm:pt>
    <dgm:pt modelId="{2602785F-5020-4C37-9349-25B3C6EB8027}" type="parTrans" cxnId="{D71B0854-94D7-4E70-9906-79916BDF1C2E}">
      <dgm:prSet/>
      <dgm:spPr/>
      <dgm:t>
        <a:bodyPr/>
        <a:lstStyle/>
        <a:p>
          <a:endParaRPr lang="fi-FI" sz="2000"/>
        </a:p>
      </dgm:t>
    </dgm:pt>
    <dgm:pt modelId="{B91310B6-65D7-4C98-8D22-83CC38A1C4FE}" type="sibTrans" cxnId="{D71B0854-94D7-4E70-9906-79916BDF1C2E}">
      <dgm:prSet/>
      <dgm:spPr/>
      <dgm:t>
        <a:bodyPr/>
        <a:lstStyle/>
        <a:p>
          <a:endParaRPr lang="fi-FI" sz="2000"/>
        </a:p>
      </dgm:t>
    </dgm:pt>
    <dgm:pt modelId="{0C5135B2-B7D9-4A56-B321-EACBE96AD852}">
      <dgm:prSet custT="1"/>
      <dgm:spPr/>
      <dgm:t>
        <a:bodyPr/>
        <a:lstStyle/>
        <a:p>
          <a:pPr rtl="0"/>
          <a:r>
            <a:rPr lang="fi-FI" sz="1050" dirty="0" smtClean="0"/>
            <a:t>Hyväksymistestauksen suhde muuhun testaukseen: tilaajan ja toimittajan työnjako</a:t>
          </a:r>
          <a:endParaRPr lang="fi-FI" sz="1050" dirty="0"/>
        </a:p>
      </dgm:t>
    </dgm:pt>
    <dgm:pt modelId="{AFF35C9C-E88B-481D-A218-745179C42A89}" type="parTrans" cxnId="{EC0C1EBC-1BB6-4B64-9783-15A05DC6D254}">
      <dgm:prSet/>
      <dgm:spPr/>
      <dgm:t>
        <a:bodyPr/>
        <a:lstStyle/>
        <a:p>
          <a:endParaRPr lang="fi-FI" sz="2000"/>
        </a:p>
      </dgm:t>
    </dgm:pt>
    <dgm:pt modelId="{2AF380E5-541E-476E-A57D-2AF52F0FD3CF}" type="sibTrans" cxnId="{EC0C1EBC-1BB6-4B64-9783-15A05DC6D254}">
      <dgm:prSet/>
      <dgm:spPr/>
      <dgm:t>
        <a:bodyPr/>
        <a:lstStyle/>
        <a:p>
          <a:endParaRPr lang="fi-FI" sz="2000"/>
        </a:p>
      </dgm:t>
    </dgm:pt>
    <dgm:pt modelId="{17A262F1-9003-4C77-8F50-D8E5C174B968}">
      <dgm:prSet custT="1"/>
      <dgm:spPr/>
      <dgm:t>
        <a:bodyPr/>
        <a:lstStyle/>
        <a:p>
          <a:pPr rtl="0"/>
          <a:r>
            <a:rPr lang="fi-FI" sz="1050" dirty="0" smtClean="0"/>
            <a:t>Hyväksymistestauksen erot laskunmaksuun ja tuotantoonsiirtoon liittyen</a:t>
          </a:r>
          <a:endParaRPr lang="fi-FI" sz="1050" dirty="0"/>
        </a:p>
      </dgm:t>
    </dgm:pt>
    <dgm:pt modelId="{6CB28059-AA75-4527-99CA-A3EDDA9850C4}" type="parTrans" cxnId="{30566708-7369-440D-8220-D3C7D17B04FC}">
      <dgm:prSet/>
      <dgm:spPr/>
      <dgm:t>
        <a:bodyPr/>
        <a:lstStyle/>
        <a:p>
          <a:endParaRPr lang="fi-FI" sz="2000"/>
        </a:p>
      </dgm:t>
    </dgm:pt>
    <dgm:pt modelId="{2C6A6872-2DBF-427F-9E6B-05310B7310D1}" type="sibTrans" cxnId="{30566708-7369-440D-8220-D3C7D17B04FC}">
      <dgm:prSet/>
      <dgm:spPr/>
      <dgm:t>
        <a:bodyPr/>
        <a:lstStyle/>
        <a:p>
          <a:endParaRPr lang="fi-FI" sz="2000"/>
        </a:p>
      </dgm:t>
    </dgm:pt>
    <dgm:pt modelId="{B388BF5D-1F28-4429-9317-BEF154AD918C}">
      <dgm:prSet custT="1"/>
      <dgm:spPr/>
      <dgm:t>
        <a:bodyPr/>
        <a:lstStyle/>
        <a:p>
          <a:pPr rtl="0"/>
          <a:r>
            <a:rPr lang="fi-FI" sz="1050" dirty="0" smtClean="0"/>
            <a:t>Hyväksymistestauksen erilainen merkitys ketterissä menetelmissä</a:t>
          </a:r>
          <a:endParaRPr lang="fi-FI" sz="1050" dirty="0"/>
        </a:p>
      </dgm:t>
    </dgm:pt>
    <dgm:pt modelId="{00DC2BDA-9FCE-4789-8612-CBAB489E1008}" type="parTrans" cxnId="{931434B6-00F4-4699-887F-56BCBF48E59B}">
      <dgm:prSet/>
      <dgm:spPr/>
      <dgm:t>
        <a:bodyPr/>
        <a:lstStyle/>
        <a:p>
          <a:endParaRPr lang="fi-FI" sz="2000"/>
        </a:p>
      </dgm:t>
    </dgm:pt>
    <dgm:pt modelId="{04381C85-A969-462F-89C0-62961ACABCF6}" type="sibTrans" cxnId="{931434B6-00F4-4699-887F-56BCBF48E59B}">
      <dgm:prSet/>
      <dgm:spPr/>
      <dgm:t>
        <a:bodyPr/>
        <a:lstStyle/>
        <a:p>
          <a:endParaRPr lang="fi-FI" sz="2000"/>
        </a:p>
      </dgm:t>
    </dgm:pt>
    <dgm:pt modelId="{52B1E9F8-FF5A-4290-A2EE-04416696410E}">
      <dgm:prSet custT="1"/>
      <dgm:spPr/>
      <dgm:t>
        <a:bodyPr/>
        <a:lstStyle/>
        <a:p>
          <a:pPr rtl="0"/>
          <a:r>
            <a:rPr lang="fi-FI" sz="1100" b="1" dirty="0" smtClean="0"/>
            <a:t>Onnistuneen hyväksymistestauksen edellytykset</a:t>
          </a:r>
          <a:endParaRPr lang="fi-FI" sz="1100" b="1" dirty="0"/>
        </a:p>
      </dgm:t>
    </dgm:pt>
    <dgm:pt modelId="{EE94DFC9-8FE1-4D92-A39A-2B2FA864EDE3}" type="parTrans" cxnId="{9E20866B-39E1-421E-BBF0-2C4CC4E668E7}">
      <dgm:prSet/>
      <dgm:spPr/>
      <dgm:t>
        <a:bodyPr/>
        <a:lstStyle/>
        <a:p>
          <a:endParaRPr lang="fi-FI" sz="2000"/>
        </a:p>
      </dgm:t>
    </dgm:pt>
    <dgm:pt modelId="{B47D46F4-2A52-46AE-8568-3E60E48D3D30}" type="sibTrans" cxnId="{9E20866B-39E1-421E-BBF0-2C4CC4E668E7}">
      <dgm:prSet/>
      <dgm:spPr/>
      <dgm:t>
        <a:bodyPr/>
        <a:lstStyle/>
        <a:p>
          <a:endParaRPr lang="fi-FI" sz="2000"/>
        </a:p>
      </dgm:t>
    </dgm:pt>
    <dgm:pt modelId="{DFACE991-8E53-485A-907C-1EFB2848046C}">
      <dgm:prSet custT="1"/>
      <dgm:spPr/>
      <dgm:t>
        <a:bodyPr/>
        <a:lstStyle/>
        <a:p>
          <a:pPr rtl="0"/>
          <a:r>
            <a:rPr lang="fi-FI" sz="1100" b="0" dirty="0" smtClean="0"/>
            <a:t>Toimituskokonaisuuksien määrittely ja projektointi</a:t>
          </a:r>
          <a:endParaRPr lang="fi-FI" sz="1100" b="0" dirty="0"/>
        </a:p>
      </dgm:t>
    </dgm:pt>
    <dgm:pt modelId="{522FA040-2423-4F5F-A378-E20632813270}" type="parTrans" cxnId="{555B5F87-EAA2-4BF5-A85A-067F5B333468}">
      <dgm:prSet/>
      <dgm:spPr/>
      <dgm:t>
        <a:bodyPr/>
        <a:lstStyle/>
        <a:p>
          <a:endParaRPr lang="fi-FI" sz="2000"/>
        </a:p>
      </dgm:t>
    </dgm:pt>
    <dgm:pt modelId="{79202294-FE13-49A9-BC9A-1A8E948266D7}" type="sibTrans" cxnId="{555B5F87-EAA2-4BF5-A85A-067F5B333468}">
      <dgm:prSet/>
      <dgm:spPr/>
      <dgm:t>
        <a:bodyPr/>
        <a:lstStyle/>
        <a:p>
          <a:endParaRPr lang="fi-FI" sz="2000"/>
        </a:p>
      </dgm:t>
    </dgm:pt>
    <dgm:pt modelId="{1916EEB6-8012-4C32-BB16-D45FE8388CAB}">
      <dgm:prSet custT="1"/>
      <dgm:spPr/>
      <dgm:t>
        <a:bodyPr/>
        <a:lstStyle/>
        <a:p>
          <a:pPr rtl="0"/>
          <a:r>
            <a:rPr lang="fi-FI" sz="1100" b="0" dirty="0" smtClean="0"/>
            <a:t>Toimittajan valinta ja sopimukset</a:t>
          </a:r>
          <a:endParaRPr lang="fi-FI" sz="1100" b="0" dirty="0"/>
        </a:p>
      </dgm:t>
    </dgm:pt>
    <dgm:pt modelId="{AAE70BB2-FF9F-4070-A5FC-ED235CA4153C}" type="parTrans" cxnId="{A5AB44A5-0A54-4255-863D-C63ECB47ADB4}">
      <dgm:prSet/>
      <dgm:spPr/>
      <dgm:t>
        <a:bodyPr/>
        <a:lstStyle/>
        <a:p>
          <a:endParaRPr lang="fi-FI" sz="2000"/>
        </a:p>
      </dgm:t>
    </dgm:pt>
    <dgm:pt modelId="{2FBCF5CD-18EA-4379-8DDB-078E7BE8F140}" type="sibTrans" cxnId="{A5AB44A5-0A54-4255-863D-C63ECB47ADB4}">
      <dgm:prSet/>
      <dgm:spPr/>
      <dgm:t>
        <a:bodyPr/>
        <a:lstStyle/>
        <a:p>
          <a:endParaRPr lang="fi-FI" sz="2000"/>
        </a:p>
      </dgm:t>
    </dgm:pt>
    <dgm:pt modelId="{5DCF5F03-40E3-4DF7-8D0C-5B2AC04E9710}">
      <dgm:prSet custT="1"/>
      <dgm:spPr/>
      <dgm:t>
        <a:bodyPr/>
        <a:lstStyle/>
        <a:p>
          <a:pPr rtl="0"/>
          <a:r>
            <a:rPr lang="fi-FI" sz="1100" b="0" dirty="0" smtClean="0"/>
            <a:t>Vaatimusten ja odotusten hallinta</a:t>
          </a:r>
          <a:endParaRPr lang="fi-FI" sz="1100" b="0" dirty="0"/>
        </a:p>
      </dgm:t>
    </dgm:pt>
    <dgm:pt modelId="{F587DB87-8C05-45E8-821D-48A0E1934C89}" type="parTrans" cxnId="{38793140-22FB-4290-95F5-D68F82D5906E}">
      <dgm:prSet/>
      <dgm:spPr/>
      <dgm:t>
        <a:bodyPr/>
        <a:lstStyle/>
        <a:p>
          <a:endParaRPr lang="fi-FI" sz="2000"/>
        </a:p>
      </dgm:t>
    </dgm:pt>
    <dgm:pt modelId="{D015357F-31D5-4BDE-9234-A074B01E35F1}" type="sibTrans" cxnId="{38793140-22FB-4290-95F5-D68F82D5906E}">
      <dgm:prSet/>
      <dgm:spPr/>
      <dgm:t>
        <a:bodyPr/>
        <a:lstStyle/>
        <a:p>
          <a:endParaRPr lang="fi-FI" sz="2000"/>
        </a:p>
      </dgm:t>
    </dgm:pt>
    <dgm:pt modelId="{2BB21CFB-3C14-4EE0-BF97-9DE197EDB4FB}">
      <dgm:prSet custT="1"/>
      <dgm:spPr/>
      <dgm:t>
        <a:bodyPr/>
        <a:lstStyle/>
        <a:p>
          <a:pPr rtl="0"/>
          <a:r>
            <a:rPr lang="fi-FI" sz="1100" b="0" dirty="0" smtClean="0"/>
            <a:t>Toimittajayhteistyö</a:t>
          </a:r>
          <a:endParaRPr lang="fi-FI" sz="1100" b="0" dirty="0"/>
        </a:p>
      </dgm:t>
    </dgm:pt>
    <dgm:pt modelId="{55DB9CF7-0918-46A0-A077-9B525FE754A0}" type="parTrans" cxnId="{FC853B53-7D65-41F8-842A-1527B7BD1F11}">
      <dgm:prSet/>
      <dgm:spPr/>
      <dgm:t>
        <a:bodyPr/>
        <a:lstStyle/>
        <a:p>
          <a:endParaRPr lang="fi-FI" sz="2000"/>
        </a:p>
      </dgm:t>
    </dgm:pt>
    <dgm:pt modelId="{B87C9EBE-1F3B-4B6F-8B1B-6ED6999EA57C}" type="sibTrans" cxnId="{FC853B53-7D65-41F8-842A-1527B7BD1F11}">
      <dgm:prSet/>
      <dgm:spPr/>
      <dgm:t>
        <a:bodyPr/>
        <a:lstStyle/>
        <a:p>
          <a:endParaRPr lang="fi-FI" sz="2000"/>
        </a:p>
      </dgm:t>
    </dgm:pt>
    <dgm:pt modelId="{D72C800D-6A31-4F3A-928F-3FAA9F4B2458}">
      <dgm:prSet custT="1"/>
      <dgm:spPr/>
      <dgm:t>
        <a:bodyPr/>
        <a:lstStyle/>
        <a:p>
          <a:pPr rtl="0"/>
          <a:r>
            <a:rPr lang="fi-FI" sz="1100" b="0" dirty="0" smtClean="0"/>
            <a:t>Kokonaisjärjestelmän ja osajärjestelmien tunnistaminen</a:t>
          </a:r>
          <a:endParaRPr lang="fi-FI" sz="1100" b="0" dirty="0"/>
        </a:p>
      </dgm:t>
    </dgm:pt>
    <dgm:pt modelId="{09F4EBD8-72E6-409A-BB6C-4843FEBEAA2B}" type="parTrans" cxnId="{DF223F19-81A7-4EA6-98DF-0E2387D499A4}">
      <dgm:prSet/>
      <dgm:spPr/>
      <dgm:t>
        <a:bodyPr/>
        <a:lstStyle/>
        <a:p>
          <a:endParaRPr lang="fi-FI" sz="2000"/>
        </a:p>
      </dgm:t>
    </dgm:pt>
    <dgm:pt modelId="{3A004302-3BD4-436A-BFCE-E278615647A1}" type="sibTrans" cxnId="{DF223F19-81A7-4EA6-98DF-0E2387D499A4}">
      <dgm:prSet/>
      <dgm:spPr/>
      <dgm:t>
        <a:bodyPr/>
        <a:lstStyle/>
        <a:p>
          <a:endParaRPr lang="fi-FI" sz="2000"/>
        </a:p>
      </dgm:t>
    </dgm:pt>
    <dgm:pt modelId="{EC2ECAB8-A85D-40C7-9117-2AA078A20F63}">
      <dgm:prSet custT="1"/>
      <dgm:spPr/>
      <dgm:t>
        <a:bodyPr/>
        <a:lstStyle/>
        <a:p>
          <a:pPr rtl="0"/>
          <a:r>
            <a:rPr lang="fi-FI" sz="1100" b="1" dirty="0" smtClean="0"/>
            <a:t>Hyväksymistestauksen organisointi ja puitteet</a:t>
          </a:r>
          <a:endParaRPr lang="fi-FI" sz="1100" b="1" dirty="0"/>
        </a:p>
      </dgm:t>
    </dgm:pt>
    <dgm:pt modelId="{5EE77FF3-6958-4AA2-A361-996476EE469F}" type="parTrans" cxnId="{F163E7A1-F61D-40FA-8D51-09DFBDF63920}">
      <dgm:prSet/>
      <dgm:spPr/>
      <dgm:t>
        <a:bodyPr/>
        <a:lstStyle/>
        <a:p>
          <a:endParaRPr lang="fi-FI" sz="2000"/>
        </a:p>
      </dgm:t>
    </dgm:pt>
    <dgm:pt modelId="{1857EB93-3123-4042-9586-557C94FF38FB}" type="sibTrans" cxnId="{F163E7A1-F61D-40FA-8D51-09DFBDF63920}">
      <dgm:prSet/>
      <dgm:spPr/>
      <dgm:t>
        <a:bodyPr/>
        <a:lstStyle/>
        <a:p>
          <a:endParaRPr lang="fi-FI" sz="2000"/>
        </a:p>
      </dgm:t>
    </dgm:pt>
    <dgm:pt modelId="{F3C8CAEE-C3C5-4F4E-B8D6-95CD478198FC}">
      <dgm:prSet custT="1"/>
      <dgm:spPr/>
      <dgm:t>
        <a:bodyPr/>
        <a:lstStyle/>
        <a:p>
          <a:r>
            <a:rPr lang="fi-FI" sz="1050" dirty="0" smtClean="0"/>
            <a:t>Testausprosessi suunnittelusta läpivientiin</a:t>
          </a:r>
          <a:endParaRPr lang="fi-FI" sz="1050" dirty="0"/>
        </a:p>
      </dgm:t>
    </dgm:pt>
    <dgm:pt modelId="{5285F996-D863-41D2-BCDC-C49BA518BF7E}" type="parTrans" cxnId="{36860DE1-6F5F-4025-A828-41782B80E483}">
      <dgm:prSet/>
      <dgm:spPr/>
      <dgm:t>
        <a:bodyPr/>
        <a:lstStyle/>
        <a:p>
          <a:endParaRPr lang="fi-FI" sz="2000"/>
        </a:p>
      </dgm:t>
    </dgm:pt>
    <dgm:pt modelId="{E224FB83-0D9D-4738-BEF7-DDCB4BC4B3E5}" type="sibTrans" cxnId="{36860DE1-6F5F-4025-A828-41782B80E483}">
      <dgm:prSet/>
      <dgm:spPr/>
      <dgm:t>
        <a:bodyPr/>
        <a:lstStyle/>
        <a:p>
          <a:endParaRPr lang="fi-FI" sz="2000"/>
        </a:p>
      </dgm:t>
    </dgm:pt>
    <dgm:pt modelId="{8FD7E9F2-2311-44BE-9382-0FD689EB7EE2}">
      <dgm:prSet custT="1"/>
      <dgm:spPr/>
      <dgm:t>
        <a:bodyPr/>
        <a:lstStyle/>
        <a:p>
          <a:r>
            <a:rPr lang="fi-FI" sz="1050" dirty="0" smtClean="0"/>
            <a:t>Toimittajan testauksien tarkastelu osana hyväksymistestausta</a:t>
          </a:r>
          <a:endParaRPr lang="fi-FI" sz="1050" dirty="0"/>
        </a:p>
      </dgm:t>
    </dgm:pt>
    <dgm:pt modelId="{5995E318-DFCD-47CE-9AC3-7D5D5C2C1D86}" type="parTrans" cxnId="{E1A005BE-128C-4479-A4FA-3DF86533F66C}">
      <dgm:prSet/>
      <dgm:spPr/>
      <dgm:t>
        <a:bodyPr/>
        <a:lstStyle/>
        <a:p>
          <a:endParaRPr lang="fi-FI" sz="2000"/>
        </a:p>
      </dgm:t>
    </dgm:pt>
    <dgm:pt modelId="{F367CA91-5390-4142-B6C6-B0F4A0631B49}" type="sibTrans" cxnId="{E1A005BE-128C-4479-A4FA-3DF86533F66C}">
      <dgm:prSet/>
      <dgm:spPr/>
      <dgm:t>
        <a:bodyPr/>
        <a:lstStyle/>
        <a:p>
          <a:endParaRPr lang="fi-FI" sz="2000"/>
        </a:p>
      </dgm:t>
    </dgm:pt>
    <dgm:pt modelId="{884C6235-9D16-4D95-BC42-131FB482992D}">
      <dgm:prSet custT="1"/>
      <dgm:spPr/>
      <dgm:t>
        <a:bodyPr/>
        <a:lstStyle/>
        <a:p>
          <a:r>
            <a:rPr lang="fi-FI" sz="1050" dirty="0" smtClean="0"/>
            <a:t>Ohjelmistokehityksen luonne, jatkuva muutos ja testauksen toistotarve</a:t>
          </a:r>
          <a:endParaRPr lang="fi-FI" sz="1050" dirty="0"/>
        </a:p>
      </dgm:t>
    </dgm:pt>
    <dgm:pt modelId="{0481730D-A61F-4DA9-9627-6BC82C4B148D}" type="parTrans" cxnId="{D0A56A45-20F2-4BCA-BD5A-BA373B2638CC}">
      <dgm:prSet/>
      <dgm:spPr/>
      <dgm:t>
        <a:bodyPr/>
        <a:lstStyle/>
        <a:p>
          <a:endParaRPr lang="fi-FI" sz="2000"/>
        </a:p>
      </dgm:t>
    </dgm:pt>
    <dgm:pt modelId="{555AD147-BAC6-43BB-90DD-1130ABA39199}" type="sibTrans" cxnId="{D0A56A45-20F2-4BCA-BD5A-BA373B2638CC}">
      <dgm:prSet/>
      <dgm:spPr/>
      <dgm:t>
        <a:bodyPr/>
        <a:lstStyle/>
        <a:p>
          <a:endParaRPr lang="fi-FI" sz="2000"/>
        </a:p>
      </dgm:t>
    </dgm:pt>
    <dgm:pt modelId="{5EA30DCB-652C-49B8-9D97-8AF54B4F7E80}">
      <dgm:prSet custT="1"/>
      <dgm:spPr/>
      <dgm:t>
        <a:bodyPr/>
        <a:lstStyle/>
        <a:p>
          <a:r>
            <a:rPr lang="fi-FI" sz="1050" dirty="0" smtClean="0"/>
            <a:t>Testauksen työmäärät ja tehokkuus tuloksina ja kustannuksina</a:t>
          </a:r>
          <a:endParaRPr lang="fi-FI" sz="1050" dirty="0"/>
        </a:p>
      </dgm:t>
    </dgm:pt>
    <dgm:pt modelId="{FAB1DA54-8633-4DA2-80C9-DA6F0989C0DB}" type="parTrans" cxnId="{EF253D2C-88A1-4A17-A421-A437AB497084}">
      <dgm:prSet/>
      <dgm:spPr/>
      <dgm:t>
        <a:bodyPr/>
        <a:lstStyle/>
        <a:p>
          <a:endParaRPr lang="fi-FI" sz="2000"/>
        </a:p>
      </dgm:t>
    </dgm:pt>
    <dgm:pt modelId="{B8684FF1-2E11-4AA1-8744-0C5546446438}" type="sibTrans" cxnId="{EF253D2C-88A1-4A17-A421-A437AB497084}">
      <dgm:prSet/>
      <dgm:spPr/>
      <dgm:t>
        <a:bodyPr/>
        <a:lstStyle/>
        <a:p>
          <a:endParaRPr lang="fi-FI" sz="2000"/>
        </a:p>
      </dgm:t>
    </dgm:pt>
    <dgm:pt modelId="{63777967-36A7-42A3-AAA6-F67A82A84365}">
      <dgm:prSet custT="1"/>
      <dgm:spPr/>
      <dgm:t>
        <a:bodyPr/>
        <a:lstStyle/>
        <a:p>
          <a:r>
            <a:rPr lang="fi-FI" sz="1050" dirty="0" smtClean="0"/>
            <a:t>Riskiohjattu testaus: rajallisen työmäärän kohdistaminen</a:t>
          </a:r>
          <a:endParaRPr lang="fi-FI" sz="1050" dirty="0"/>
        </a:p>
      </dgm:t>
    </dgm:pt>
    <dgm:pt modelId="{F3267288-52D4-4232-8EDE-0C06A198065D}" type="parTrans" cxnId="{558D6982-3136-43B9-B184-56E7146CE86D}">
      <dgm:prSet/>
      <dgm:spPr/>
      <dgm:t>
        <a:bodyPr/>
        <a:lstStyle/>
        <a:p>
          <a:endParaRPr lang="fi-FI" sz="2000"/>
        </a:p>
      </dgm:t>
    </dgm:pt>
    <dgm:pt modelId="{F21EB987-DD12-4AE4-A891-7E0A1B3B9F7C}" type="sibTrans" cxnId="{558D6982-3136-43B9-B184-56E7146CE86D}">
      <dgm:prSet/>
      <dgm:spPr/>
      <dgm:t>
        <a:bodyPr/>
        <a:lstStyle/>
        <a:p>
          <a:endParaRPr lang="fi-FI" sz="2000"/>
        </a:p>
      </dgm:t>
    </dgm:pt>
    <dgm:pt modelId="{8FA580CD-2825-4C51-B1DE-E59D1B218141}">
      <dgm:prSet custT="1"/>
      <dgm:spPr/>
      <dgm:t>
        <a:bodyPr/>
        <a:lstStyle/>
        <a:p>
          <a:r>
            <a:rPr lang="fi-FI" sz="1050" dirty="0" smtClean="0"/>
            <a:t>Havaintokirjausten käsittely ja muutoksista sopiminen</a:t>
          </a:r>
          <a:endParaRPr lang="fi-FI" sz="1050" dirty="0"/>
        </a:p>
      </dgm:t>
    </dgm:pt>
    <dgm:pt modelId="{3834143C-29CF-48A3-A93F-2F105F6D6050}" type="parTrans" cxnId="{C94072C2-A343-4034-AE65-F026F0256435}">
      <dgm:prSet/>
      <dgm:spPr/>
      <dgm:t>
        <a:bodyPr/>
        <a:lstStyle/>
        <a:p>
          <a:endParaRPr lang="fi-FI" sz="2000"/>
        </a:p>
      </dgm:t>
    </dgm:pt>
    <dgm:pt modelId="{72A3146F-3698-4795-BFC6-740EADE57467}" type="sibTrans" cxnId="{C94072C2-A343-4034-AE65-F026F0256435}">
      <dgm:prSet/>
      <dgm:spPr/>
      <dgm:t>
        <a:bodyPr/>
        <a:lstStyle/>
        <a:p>
          <a:endParaRPr lang="fi-FI" sz="2000"/>
        </a:p>
      </dgm:t>
    </dgm:pt>
    <dgm:pt modelId="{E0B0216D-FB34-4FF8-9D6F-878140CAD8C7}">
      <dgm:prSet custT="1"/>
      <dgm:spPr/>
      <dgm:t>
        <a:bodyPr/>
        <a:lstStyle/>
        <a:p>
          <a:r>
            <a:rPr lang="fi-FI" sz="1050" dirty="0" smtClean="0"/>
            <a:t>Testausympäristöt, testitapaukset ja testiaineisto</a:t>
          </a:r>
          <a:endParaRPr lang="fi-FI" sz="1050" dirty="0"/>
        </a:p>
      </dgm:t>
    </dgm:pt>
    <dgm:pt modelId="{742C2641-2368-450E-9041-6212968BDF28}" type="parTrans" cxnId="{165D3642-C139-40E0-AF02-1BF4FD25CF1B}">
      <dgm:prSet/>
      <dgm:spPr/>
      <dgm:t>
        <a:bodyPr/>
        <a:lstStyle/>
        <a:p>
          <a:endParaRPr lang="fi-FI" sz="2000"/>
        </a:p>
      </dgm:t>
    </dgm:pt>
    <dgm:pt modelId="{A52F8DC6-3D0E-458B-B9D3-8E5A5EB293DB}" type="sibTrans" cxnId="{165D3642-C139-40E0-AF02-1BF4FD25CF1B}">
      <dgm:prSet/>
      <dgm:spPr/>
      <dgm:t>
        <a:bodyPr/>
        <a:lstStyle/>
        <a:p>
          <a:endParaRPr lang="fi-FI" sz="2000"/>
        </a:p>
      </dgm:t>
    </dgm:pt>
    <dgm:pt modelId="{59007718-4FEB-43D9-B9E5-8114FFCD746C}">
      <dgm:prSet custT="1"/>
      <dgm:spPr/>
      <dgm:t>
        <a:bodyPr/>
        <a:lstStyle/>
        <a:p>
          <a:r>
            <a:rPr lang="fi-FI" sz="1050" dirty="0" smtClean="0"/>
            <a:t>Testauksen hallinta, seuranta ja mittarit</a:t>
          </a:r>
          <a:endParaRPr lang="fi-FI" sz="1050" dirty="0"/>
        </a:p>
      </dgm:t>
    </dgm:pt>
    <dgm:pt modelId="{90B8E4C9-9201-45CE-B9BA-F827E96CFDB4}" type="parTrans" cxnId="{8C048B0A-FDAC-44D2-B3BE-137FDDEC9FF6}">
      <dgm:prSet/>
      <dgm:spPr/>
      <dgm:t>
        <a:bodyPr/>
        <a:lstStyle/>
        <a:p>
          <a:endParaRPr lang="fi-FI" sz="2000"/>
        </a:p>
      </dgm:t>
    </dgm:pt>
    <dgm:pt modelId="{1BA139E2-2347-43A0-99EC-8A886F47E572}" type="sibTrans" cxnId="{8C048B0A-FDAC-44D2-B3BE-137FDDEC9FF6}">
      <dgm:prSet/>
      <dgm:spPr/>
      <dgm:t>
        <a:bodyPr/>
        <a:lstStyle/>
        <a:p>
          <a:endParaRPr lang="fi-FI" sz="2000"/>
        </a:p>
      </dgm:t>
    </dgm:pt>
    <dgm:pt modelId="{284F0E1D-70AC-40E5-B58D-8B75F4E28080}">
      <dgm:prSet custT="1"/>
      <dgm:spPr/>
      <dgm:t>
        <a:bodyPr/>
        <a:lstStyle/>
        <a:p>
          <a:r>
            <a:rPr lang="fi-FI" sz="1050" dirty="0" smtClean="0"/>
            <a:t>Toistuva hyväksymistestaus ylläpitoluonteiselle kehitystyölle</a:t>
          </a:r>
        </a:p>
      </dgm:t>
    </dgm:pt>
    <dgm:pt modelId="{31BA2C00-143D-4E09-82A4-A572C9C79C5A}" type="parTrans" cxnId="{CF06342C-923C-4B1A-A4EC-4D6001BB9FFD}">
      <dgm:prSet/>
      <dgm:spPr/>
      <dgm:t>
        <a:bodyPr/>
        <a:lstStyle/>
        <a:p>
          <a:endParaRPr lang="fi-FI" sz="2000"/>
        </a:p>
      </dgm:t>
    </dgm:pt>
    <dgm:pt modelId="{4F7A961E-8DB8-4F44-8B4F-2E1AA56DD794}" type="sibTrans" cxnId="{CF06342C-923C-4B1A-A4EC-4D6001BB9FFD}">
      <dgm:prSet/>
      <dgm:spPr/>
      <dgm:t>
        <a:bodyPr/>
        <a:lstStyle/>
        <a:p>
          <a:endParaRPr lang="fi-FI" sz="2000"/>
        </a:p>
      </dgm:t>
    </dgm:pt>
    <dgm:pt modelId="{5A047D2B-AE09-4A6A-B06B-F9BE7B733FC6}">
      <dgm:prSet custT="1"/>
      <dgm:spPr/>
      <dgm:t>
        <a:bodyPr/>
        <a:lstStyle/>
        <a:p>
          <a:r>
            <a:rPr lang="fi-FI" sz="1100" b="1" dirty="0" smtClean="0"/>
            <a:t>Testaus vaatimuksia ja odotuksia vastaan</a:t>
          </a:r>
          <a:endParaRPr lang="fi-FI" sz="1100" b="1" dirty="0"/>
        </a:p>
      </dgm:t>
    </dgm:pt>
    <dgm:pt modelId="{8B477AFB-3BB3-4E4F-A613-7C77A347B362}" type="parTrans" cxnId="{DDA29D37-E8F9-42C3-B045-6EF36EA64061}">
      <dgm:prSet/>
      <dgm:spPr/>
      <dgm:t>
        <a:bodyPr/>
        <a:lstStyle/>
        <a:p>
          <a:endParaRPr lang="fi-FI" sz="2000"/>
        </a:p>
      </dgm:t>
    </dgm:pt>
    <dgm:pt modelId="{2A70620D-A631-4E94-958B-CBD6322152E7}" type="sibTrans" cxnId="{DDA29D37-E8F9-42C3-B045-6EF36EA64061}">
      <dgm:prSet/>
      <dgm:spPr/>
      <dgm:t>
        <a:bodyPr/>
        <a:lstStyle/>
        <a:p>
          <a:endParaRPr lang="fi-FI" sz="2000"/>
        </a:p>
      </dgm:t>
    </dgm:pt>
    <dgm:pt modelId="{3D5166C9-5BA2-4001-892D-F49F4600D5B7}">
      <dgm:prSet custT="1"/>
      <dgm:spPr/>
      <dgm:t>
        <a:bodyPr/>
        <a:lstStyle/>
        <a:p>
          <a:r>
            <a:rPr lang="fi-FI" sz="1050" dirty="0" smtClean="0"/>
            <a:t>Sovellusalueosaamisen ja liiketoimintaprosessin osaamisen käyttö hyväksymistestauksessa</a:t>
          </a:r>
          <a:endParaRPr lang="fi-FI" sz="1050" dirty="0"/>
        </a:p>
      </dgm:t>
    </dgm:pt>
    <dgm:pt modelId="{65196C88-0272-4B87-95C5-9ECF31C690C5}" type="parTrans" cxnId="{CBD1C9AE-9CB6-4DAC-9A13-CF429A4CF2CE}">
      <dgm:prSet/>
      <dgm:spPr/>
      <dgm:t>
        <a:bodyPr/>
        <a:lstStyle/>
        <a:p>
          <a:endParaRPr lang="fi-FI" sz="2000"/>
        </a:p>
      </dgm:t>
    </dgm:pt>
    <dgm:pt modelId="{7A884809-F420-4DBC-B4D1-42CD63AA7E48}" type="sibTrans" cxnId="{CBD1C9AE-9CB6-4DAC-9A13-CF429A4CF2CE}">
      <dgm:prSet/>
      <dgm:spPr/>
      <dgm:t>
        <a:bodyPr/>
        <a:lstStyle/>
        <a:p>
          <a:endParaRPr lang="fi-FI" sz="2000"/>
        </a:p>
      </dgm:t>
    </dgm:pt>
    <dgm:pt modelId="{B51F8DC3-7A9F-4CF9-90CC-BC0B820F7B91}">
      <dgm:prSet custT="1"/>
      <dgm:spPr/>
      <dgm:t>
        <a:bodyPr/>
        <a:lstStyle/>
        <a:p>
          <a:r>
            <a:rPr lang="fi-FI" sz="1050" dirty="0" smtClean="0"/>
            <a:t>Vaatimusten järjestelmällinen läpikäynti</a:t>
          </a:r>
          <a:endParaRPr lang="fi-FI" sz="1050" dirty="0"/>
        </a:p>
      </dgm:t>
    </dgm:pt>
    <dgm:pt modelId="{B548D59C-C2A0-4CDC-8BEB-4BECB5846444}" type="parTrans" cxnId="{58B7B001-F24A-48C0-A169-02A75BBAF8BA}">
      <dgm:prSet/>
      <dgm:spPr/>
      <dgm:t>
        <a:bodyPr/>
        <a:lstStyle/>
        <a:p>
          <a:endParaRPr lang="fi-FI" sz="2000"/>
        </a:p>
      </dgm:t>
    </dgm:pt>
    <dgm:pt modelId="{03D855FF-F756-46AB-8876-3918B1753DDF}" type="sibTrans" cxnId="{58B7B001-F24A-48C0-A169-02A75BBAF8BA}">
      <dgm:prSet/>
      <dgm:spPr/>
      <dgm:t>
        <a:bodyPr/>
        <a:lstStyle/>
        <a:p>
          <a:endParaRPr lang="fi-FI" sz="2000"/>
        </a:p>
      </dgm:t>
    </dgm:pt>
    <dgm:pt modelId="{6DCF312A-D696-446F-8AEF-7CC30783908B}">
      <dgm:prSet custT="1"/>
      <dgm:spPr/>
      <dgm:t>
        <a:bodyPr/>
        <a:lstStyle/>
        <a:p>
          <a:r>
            <a:rPr lang="fi-FI" sz="1050" dirty="0" smtClean="0"/>
            <a:t>Testitapausten merkitys hyväksymistestaukselle</a:t>
          </a:r>
          <a:endParaRPr lang="fi-FI" sz="1050" dirty="0"/>
        </a:p>
      </dgm:t>
    </dgm:pt>
    <dgm:pt modelId="{3447F3BB-C176-403F-A440-AAA7B2132DFD}" type="parTrans" cxnId="{CF519EFD-A2DD-4B69-9F56-3F9C8F4E2CC2}">
      <dgm:prSet/>
      <dgm:spPr/>
      <dgm:t>
        <a:bodyPr/>
        <a:lstStyle/>
        <a:p>
          <a:endParaRPr lang="fi-FI" sz="2000"/>
        </a:p>
      </dgm:t>
    </dgm:pt>
    <dgm:pt modelId="{800753E0-C5D5-4C74-BD57-FDEE2C16A254}" type="sibTrans" cxnId="{CF519EFD-A2DD-4B69-9F56-3F9C8F4E2CC2}">
      <dgm:prSet/>
      <dgm:spPr/>
      <dgm:t>
        <a:bodyPr/>
        <a:lstStyle/>
        <a:p>
          <a:endParaRPr lang="fi-FI" sz="2000"/>
        </a:p>
      </dgm:t>
    </dgm:pt>
    <dgm:pt modelId="{13C8241D-30EB-4DA5-91CE-6455887CB532}">
      <dgm:prSet custT="1"/>
      <dgm:spPr/>
      <dgm:t>
        <a:bodyPr/>
        <a:lstStyle/>
        <a:p>
          <a:r>
            <a:rPr lang="fi-FI" sz="1050" dirty="0" smtClean="0"/>
            <a:t>Hyväksymistestausta tukevat testitapaukset</a:t>
          </a:r>
          <a:endParaRPr lang="fi-FI" sz="1050" dirty="0"/>
        </a:p>
      </dgm:t>
    </dgm:pt>
    <dgm:pt modelId="{1D178F00-0239-4F3A-B7E9-B16BC7D40770}" type="parTrans" cxnId="{25D78AD7-111E-45EA-B17E-5767226B1533}">
      <dgm:prSet/>
      <dgm:spPr/>
      <dgm:t>
        <a:bodyPr/>
        <a:lstStyle/>
        <a:p>
          <a:endParaRPr lang="fi-FI" sz="2000"/>
        </a:p>
      </dgm:t>
    </dgm:pt>
    <dgm:pt modelId="{FF284607-31F0-407C-BDD3-060E3A6EF9D4}" type="sibTrans" cxnId="{25D78AD7-111E-45EA-B17E-5767226B1533}">
      <dgm:prSet/>
      <dgm:spPr/>
      <dgm:t>
        <a:bodyPr/>
        <a:lstStyle/>
        <a:p>
          <a:endParaRPr lang="fi-FI" sz="2000"/>
        </a:p>
      </dgm:t>
    </dgm:pt>
    <dgm:pt modelId="{F0649716-B277-4246-B4C1-BC542F322F8A}">
      <dgm:prSet custT="1"/>
      <dgm:spPr/>
      <dgm:t>
        <a:bodyPr/>
        <a:lstStyle/>
        <a:p>
          <a:r>
            <a:rPr lang="fi-FI" sz="1050" dirty="0" smtClean="0"/>
            <a:t>Testitapausten priorisointi hyväksymistestaukselle: mistä tiedetään mikä on tärkeää liiketoiminnalle</a:t>
          </a:r>
          <a:endParaRPr lang="fi-FI" sz="1050" dirty="0"/>
        </a:p>
      </dgm:t>
    </dgm:pt>
    <dgm:pt modelId="{27839B55-E584-422D-B72E-32A347E21FD6}" type="parTrans" cxnId="{B584686C-FF56-43FC-A6E9-BFDC110D0F3A}">
      <dgm:prSet/>
      <dgm:spPr/>
      <dgm:t>
        <a:bodyPr/>
        <a:lstStyle/>
        <a:p>
          <a:endParaRPr lang="fi-FI" sz="2000"/>
        </a:p>
      </dgm:t>
    </dgm:pt>
    <dgm:pt modelId="{3CA4F354-DF59-45C6-AF13-28268C39518D}" type="sibTrans" cxnId="{B584686C-FF56-43FC-A6E9-BFDC110D0F3A}">
      <dgm:prSet/>
      <dgm:spPr/>
      <dgm:t>
        <a:bodyPr/>
        <a:lstStyle/>
        <a:p>
          <a:endParaRPr lang="fi-FI" sz="2000"/>
        </a:p>
      </dgm:t>
    </dgm:pt>
    <dgm:pt modelId="{582737C7-A23B-4BCF-8152-3B1924EDA793}">
      <dgm:prSet custT="1"/>
      <dgm:spPr/>
      <dgm:t>
        <a:bodyPr/>
        <a:lstStyle/>
        <a:p>
          <a:r>
            <a:rPr lang="fi-FI" sz="1050" dirty="0" smtClean="0"/>
            <a:t>Kelpuuttaminen käyttöön vs. todentaminen suhteessa vaatimuksiin</a:t>
          </a:r>
        </a:p>
      </dgm:t>
    </dgm:pt>
    <dgm:pt modelId="{37F03128-A80E-4CE0-BC23-6DF7CB8A11D8}" type="parTrans" cxnId="{E7C37E4C-54D2-4BC9-B239-CAD8181BEBE4}">
      <dgm:prSet/>
      <dgm:spPr/>
      <dgm:t>
        <a:bodyPr/>
        <a:lstStyle/>
        <a:p>
          <a:endParaRPr lang="fi-FI" sz="2000"/>
        </a:p>
      </dgm:t>
    </dgm:pt>
    <dgm:pt modelId="{FD69B635-10E7-462F-9558-02A0E5739F4C}" type="sibTrans" cxnId="{E7C37E4C-54D2-4BC9-B239-CAD8181BEBE4}">
      <dgm:prSet/>
      <dgm:spPr/>
      <dgm:t>
        <a:bodyPr/>
        <a:lstStyle/>
        <a:p>
          <a:endParaRPr lang="fi-FI" sz="2000"/>
        </a:p>
      </dgm:t>
    </dgm:pt>
    <dgm:pt modelId="{3B2B6EC3-FAFC-4F27-AF22-3209ABD0D639}" type="pres">
      <dgm:prSet presAssocID="{D5C8C534-B55B-41EF-88DB-ED9C24EBB7FC}" presName="Name0" presStyleCnt="0">
        <dgm:presLayoutVars>
          <dgm:dir/>
          <dgm:animLvl val="lvl"/>
          <dgm:resizeHandles val="exact"/>
        </dgm:presLayoutVars>
      </dgm:prSet>
      <dgm:spPr/>
      <dgm:t>
        <a:bodyPr/>
        <a:lstStyle/>
        <a:p>
          <a:endParaRPr lang="fi-FI"/>
        </a:p>
      </dgm:t>
    </dgm:pt>
    <dgm:pt modelId="{D92851F3-0C0F-489F-A254-A6812400DD0A}" type="pres">
      <dgm:prSet presAssocID="{876F12A8-3CBF-4C23-9511-B3BE912EE8A9}" presName="composite" presStyleCnt="0"/>
      <dgm:spPr/>
    </dgm:pt>
    <dgm:pt modelId="{8B58748B-2575-4D58-9FA0-9F6CA0DF6B78}" type="pres">
      <dgm:prSet presAssocID="{876F12A8-3CBF-4C23-9511-B3BE912EE8A9}" presName="parTx" presStyleLbl="alignNode1" presStyleIdx="0" presStyleCnt="4">
        <dgm:presLayoutVars>
          <dgm:chMax val="0"/>
          <dgm:chPref val="0"/>
          <dgm:bulletEnabled val="1"/>
        </dgm:presLayoutVars>
      </dgm:prSet>
      <dgm:spPr/>
      <dgm:t>
        <a:bodyPr/>
        <a:lstStyle/>
        <a:p>
          <a:endParaRPr lang="fi-FI"/>
        </a:p>
      </dgm:t>
    </dgm:pt>
    <dgm:pt modelId="{AAB1147D-BCEB-4287-850D-0C28E16B7E63}" type="pres">
      <dgm:prSet presAssocID="{876F12A8-3CBF-4C23-9511-B3BE912EE8A9}" presName="desTx" presStyleLbl="alignAccFollowNode1" presStyleIdx="0" presStyleCnt="4">
        <dgm:presLayoutVars>
          <dgm:bulletEnabled val="1"/>
        </dgm:presLayoutVars>
      </dgm:prSet>
      <dgm:spPr/>
      <dgm:t>
        <a:bodyPr/>
        <a:lstStyle/>
        <a:p>
          <a:endParaRPr lang="fi-FI"/>
        </a:p>
      </dgm:t>
    </dgm:pt>
    <dgm:pt modelId="{4F0A595E-783C-4E50-8B40-09F25FB93E7C}" type="pres">
      <dgm:prSet presAssocID="{9D64F3A3-F0ED-495F-BD66-97CC72F1F1F0}" presName="space" presStyleCnt="0"/>
      <dgm:spPr/>
    </dgm:pt>
    <dgm:pt modelId="{D92EDD19-9446-4D94-8EDB-D131762C721A}" type="pres">
      <dgm:prSet presAssocID="{52B1E9F8-FF5A-4290-A2EE-04416696410E}" presName="composite" presStyleCnt="0"/>
      <dgm:spPr/>
    </dgm:pt>
    <dgm:pt modelId="{20330B3A-115A-4449-BBD2-F1DF7DA08C27}" type="pres">
      <dgm:prSet presAssocID="{52B1E9F8-FF5A-4290-A2EE-04416696410E}" presName="parTx" presStyleLbl="alignNode1" presStyleIdx="1" presStyleCnt="4">
        <dgm:presLayoutVars>
          <dgm:chMax val="0"/>
          <dgm:chPref val="0"/>
          <dgm:bulletEnabled val="1"/>
        </dgm:presLayoutVars>
      </dgm:prSet>
      <dgm:spPr/>
      <dgm:t>
        <a:bodyPr/>
        <a:lstStyle/>
        <a:p>
          <a:endParaRPr lang="fi-FI"/>
        </a:p>
      </dgm:t>
    </dgm:pt>
    <dgm:pt modelId="{8901B344-4CDE-44D5-B022-7E0CE2C33BF0}" type="pres">
      <dgm:prSet presAssocID="{52B1E9F8-FF5A-4290-A2EE-04416696410E}" presName="desTx" presStyleLbl="alignAccFollowNode1" presStyleIdx="1" presStyleCnt="4" custLinFactNeighborX="-512" custLinFactNeighborY="-94">
        <dgm:presLayoutVars>
          <dgm:bulletEnabled val="1"/>
        </dgm:presLayoutVars>
      </dgm:prSet>
      <dgm:spPr/>
      <dgm:t>
        <a:bodyPr/>
        <a:lstStyle/>
        <a:p>
          <a:endParaRPr lang="fi-FI"/>
        </a:p>
      </dgm:t>
    </dgm:pt>
    <dgm:pt modelId="{1849843C-4BCF-4CA2-9DF2-6782D020EB95}" type="pres">
      <dgm:prSet presAssocID="{B47D46F4-2A52-46AE-8568-3E60E48D3D30}" presName="space" presStyleCnt="0"/>
      <dgm:spPr/>
    </dgm:pt>
    <dgm:pt modelId="{339E4B24-AAC5-4F06-B52E-2DF3F454F8CD}" type="pres">
      <dgm:prSet presAssocID="{EC2ECAB8-A85D-40C7-9117-2AA078A20F63}" presName="composite" presStyleCnt="0"/>
      <dgm:spPr/>
    </dgm:pt>
    <dgm:pt modelId="{E3E6BEB8-B08E-43CD-A3AF-F2B85C4580AD}" type="pres">
      <dgm:prSet presAssocID="{EC2ECAB8-A85D-40C7-9117-2AA078A20F63}" presName="parTx" presStyleLbl="alignNode1" presStyleIdx="2" presStyleCnt="4">
        <dgm:presLayoutVars>
          <dgm:chMax val="0"/>
          <dgm:chPref val="0"/>
          <dgm:bulletEnabled val="1"/>
        </dgm:presLayoutVars>
      </dgm:prSet>
      <dgm:spPr/>
      <dgm:t>
        <a:bodyPr/>
        <a:lstStyle/>
        <a:p>
          <a:endParaRPr lang="fi-FI"/>
        </a:p>
      </dgm:t>
    </dgm:pt>
    <dgm:pt modelId="{2CE42794-9563-4A96-B9CC-520A06D6EE9D}" type="pres">
      <dgm:prSet presAssocID="{EC2ECAB8-A85D-40C7-9117-2AA078A20F63}" presName="desTx" presStyleLbl="alignAccFollowNode1" presStyleIdx="2" presStyleCnt="4">
        <dgm:presLayoutVars>
          <dgm:bulletEnabled val="1"/>
        </dgm:presLayoutVars>
      </dgm:prSet>
      <dgm:spPr/>
      <dgm:t>
        <a:bodyPr/>
        <a:lstStyle/>
        <a:p>
          <a:endParaRPr lang="fi-FI"/>
        </a:p>
      </dgm:t>
    </dgm:pt>
    <dgm:pt modelId="{B11BD261-271F-4274-A770-76A44AED9CB3}" type="pres">
      <dgm:prSet presAssocID="{1857EB93-3123-4042-9586-557C94FF38FB}" presName="space" presStyleCnt="0"/>
      <dgm:spPr/>
    </dgm:pt>
    <dgm:pt modelId="{9FBE3C72-DB3A-46C6-B2EE-4B94FAA24B04}" type="pres">
      <dgm:prSet presAssocID="{5A047D2B-AE09-4A6A-B06B-F9BE7B733FC6}" presName="composite" presStyleCnt="0"/>
      <dgm:spPr/>
    </dgm:pt>
    <dgm:pt modelId="{016C0C30-52FC-4CA5-B7B1-35861449347E}" type="pres">
      <dgm:prSet presAssocID="{5A047D2B-AE09-4A6A-B06B-F9BE7B733FC6}" presName="parTx" presStyleLbl="alignNode1" presStyleIdx="3" presStyleCnt="4">
        <dgm:presLayoutVars>
          <dgm:chMax val="0"/>
          <dgm:chPref val="0"/>
          <dgm:bulletEnabled val="1"/>
        </dgm:presLayoutVars>
      </dgm:prSet>
      <dgm:spPr/>
      <dgm:t>
        <a:bodyPr/>
        <a:lstStyle/>
        <a:p>
          <a:endParaRPr lang="fi-FI"/>
        </a:p>
      </dgm:t>
    </dgm:pt>
    <dgm:pt modelId="{882F28AC-AD1B-4E0E-AEA6-8989F5CE6A35}" type="pres">
      <dgm:prSet presAssocID="{5A047D2B-AE09-4A6A-B06B-F9BE7B733FC6}" presName="desTx" presStyleLbl="alignAccFollowNode1" presStyleIdx="3" presStyleCnt="4">
        <dgm:presLayoutVars>
          <dgm:bulletEnabled val="1"/>
        </dgm:presLayoutVars>
      </dgm:prSet>
      <dgm:spPr/>
      <dgm:t>
        <a:bodyPr/>
        <a:lstStyle/>
        <a:p>
          <a:endParaRPr lang="fi-FI"/>
        </a:p>
      </dgm:t>
    </dgm:pt>
  </dgm:ptLst>
  <dgm:cxnLst>
    <dgm:cxn modelId="{528BE12C-8FCC-498F-B63A-CE875723D7FD}" type="presOf" srcId="{13C8241D-30EB-4DA5-91CE-6455887CB532}" destId="{882F28AC-AD1B-4E0E-AEA6-8989F5CE6A35}" srcOrd="0" destOrd="3" presId="urn:microsoft.com/office/officeart/2005/8/layout/hList1"/>
    <dgm:cxn modelId="{E1A005BE-128C-4479-A4FA-3DF86533F66C}" srcId="{EC2ECAB8-A85D-40C7-9117-2AA078A20F63}" destId="{8FD7E9F2-2311-44BE-9382-0FD689EB7EE2}" srcOrd="1" destOrd="0" parTransId="{5995E318-DFCD-47CE-9AC3-7D5D5C2C1D86}" sibTransId="{F367CA91-5390-4142-B6C6-B0F4A0631B49}"/>
    <dgm:cxn modelId="{30566708-7369-440D-8220-D3C7D17B04FC}" srcId="{876F12A8-3CBF-4C23-9511-B3BE912EE8A9}" destId="{17A262F1-9003-4C77-8F50-D8E5C174B968}" srcOrd="6" destOrd="0" parTransId="{6CB28059-AA75-4527-99CA-A3EDDA9850C4}" sibTransId="{2C6A6872-2DBF-427F-9E6B-05310B7310D1}"/>
    <dgm:cxn modelId="{5BC43895-C2C1-4A89-9EDB-D0F40C2329B3}" type="presOf" srcId="{876F12A8-3CBF-4C23-9511-B3BE912EE8A9}" destId="{8B58748B-2575-4D58-9FA0-9F6CA0DF6B78}" srcOrd="0" destOrd="0" presId="urn:microsoft.com/office/officeart/2005/8/layout/hList1"/>
    <dgm:cxn modelId="{165D3642-C139-40E0-AF02-1BF4FD25CF1B}" srcId="{EC2ECAB8-A85D-40C7-9117-2AA078A20F63}" destId="{E0B0216D-FB34-4FF8-9D6F-878140CAD8C7}" srcOrd="6" destOrd="0" parTransId="{742C2641-2368-450E-9041-6212968BDF28}" sibTransId="{A52F8DC6-3D0E-458B-B9D3-8E5A5EB293DB}"/>
    <dgm:cxn modelId="{9E20866B-39E1-421E-BBF0-2C4CC4E668E7}" srcId="{D5C8C534-B55B-41EF-88DB-ED9C24EBB7FC}" destId="{52B1E9F8-FF5A-4290-A2EE-04416696410E}" srcOrd="1" destOrd="0" parTransId="{EE94DFC9-8FE1-4D92-A39A-2B2FA864EDE3}" sibTransId="{B47D46F4-2A52-46AE-8568-3E60E48D3D30}"/>
    <dgm:cxn modelId="{49951ECF-0525-4FC9-B36D-034E520D0C73}" type="presOf" srcId="{1916EEB6-8012-4C32-BB16-D45FE8388CAB}" destId="{8901B344-4CDE-44D5-B022-7E0CE2C33BF0}" srcOrd="0" destOrd="1" presId="urn:microsoft.com/office/officeart/2005/8/layout/hList1"/>
    <dgm:cxn modelId="{F62B36CB-1951-42F0-9435-5BD5242A3A3F}" type="presOf" srcId="{DFACE991-8E53-485A-907C-1EFB2848046C}" destId="{8901B344-4CDE-44D5-B022-7E0CE2C33BF0}" srcOrd="0" destOrd="0" presId="urn:microsoft.com/office/officeart/2005/8/layout/hList1"/>
    <dgm:cxn modelId="{89FECD62-F08F-4CD7-9362-A8509B90B2A8}" type="presOf" srcId="{E0B0216D-FB34-4FF8-9D6F-878140CAD8C7}" destId="{2CE42794-9563-4A96-B9CC-520A06D6EE9D}" srcOrd="0" destOrd="6" presId="urn:microsoft.com/office/officeart/2005/8/layout/hList1"/>
    <dgm:cxn modelId="{8C048B0A-FDAC-44D2-B3BE-137FDDEC9FF6}" srcId="{EC2ECAB8-A85D-40C7-9117-2AA078A20F63}" destId="{59007718-4FEB-43D9-B9E5-8114FFCD746C}" srcOrd="7" destOrd="0" parTransId="{90B8E4C9-9201-45CE-B9BA-F827E96CFDB4}" sibTransId="{1BA139E2-2347-43A0-99EC-8A886F47E572}"/>
    <dgm:cxn modelId="{DF223F19-81A7-4EA6-98DF-0E2387D499A4}" srcId="{52B1E9F8-FF5A-4290-A2EE-04416696410E}" destId="{D72C800D-6A31-4F3A-928F-3FAA9F4B2458}" srcOrd="4" destOrd="0" parTransId="{09F4EBD8-72E6-409A-BB6C-4843FEBEAA2B}" sibTransId="{3A004302-3BD4-436A-BFCE-E278615647A1}"/>
    <dgm:cxn modelId="{A5AB44A5-0A54-4255-863D-C63ECB47ADB4}" srcId="{52B1E9F8-FF5A-4290-A2EE-04416696410E}" destId="{1916EEB6-8012-4C32-BB16-D45FE8388CAB}" srcOrd="1" destOrd="0" parTransId="{AAE70BB2-FF9F-4070-A5FC-ED235CA4153C}" sibTransId="{2FBCF5CD-18EA-4379-8DDB-078E7BE8F140}"/>
    <dgm:cxn modelId="{FC853B53-7D65-41F8-842A-1527B7BD1F11}" srcId="{52B1E9F8-FF5A-4290-A2EE-04416696410E}" destId="{2BB21CFB-3C14-4EE0-BF97-9DE197EDB4FB}" srcOrd="3" destOrd="0" parTransId="{55DB9CF7-0918-46A0-A077-9B525FE754A0}" sibTransId="{B87C9EBE-1F3B-4B6F-8B1B-6ED6999EA57C}"/>
    <dgm:cxn modelId="{58B7B001-F24A-48C0-A169-02A75BBAF8BA}" srcId="{5A047D2B-AE09-4A6A-B06B-F9BE7B733FC6}" destId="{B51F8DC3-7A9F-4CF9-90CC-BC0B820F7B91}" srcOrd="1" destOrd="0" parTransId="{B548D59C-C2A0-4CDC-8BEB-4BECB5846444}" sibTransId="{03D855FF-F756-46AB-8876-3918B1753DDF}"/>
    <dgm:cxn modelId="{7D889585-7278-4AB0-B956-B1014E8B7EE9}" type="presOf" srcId="{B388BF5D-1F28-4429-9317-BEF154AD918C}" destId="{AAB1147D-BCEB-4287-850D-0C28E16B7E63}" srcOrd="0" destOrd="7" presId="urn:microsoft.com/office/officeart/2005/8/layout/hList1"/>
    <dgm:cxn modelId="{7C7E74A2-99E7-47B1-9937-CF63B1850CD1}" type="presOf" srcId="{2BB21CFB-3C14-4EE0-BF97-9DE197EDB4FB}" destId="{8901B344-4CDE-44D5-B022-7E0CE2C33BF0}" srcOrd="0" destOrd="3" presId="urn:microsoft.com/office/officeart/2005/8/layout/hList1"/>
    <dgm:cxn modelId="{6273F925-2C30-47D5-84CC-2CC05591CA32}" type="presOf" srcId="{D72C800D-6A31-4F3A-928F-3FAA9F4B2458}" destId="{8901B344-4CDE-44D5-B022-7E0CE2C33BF0}" srcOrd="0" destOrd="4" presId="urn:microsoft.com/office/officeart/2005/8/layout/hList1"/>
    <dgm:cxn modelId="{5D40A653-A696-4FD0-A24A-7CCAC7193D58}" srcId="{876F12A8-3CBF-4C23-9511-B3BE912EE8A9}" destId="{1D93A904-DA31-4610-8126-8F418CD7E1E6}" srcOrd="3" destOrd="0" parTransId="{637248D1-417D-468F-8F5A-263F0EEE4E25}" sibTransId="{4CE4025D-124A-4864-812A-CAFE879FDB0F}"/>
    <dgm:cxn modelId="{931434B6-00F4-4699-887F-56BCBF48E59B}" srcId="{876F12A8-3CBF-4C23-9511-B3BE912EE8A9}" destId="{B388BF5D-1F28-4429-9317-BEF154AD918C}" srcOrd="7" destOrd="0" parTransId="{00DC2BDA-9FCE-4789-8612-CBAB489E1008}" sibTransId="{04381C85-A969-462F-89C0-62961ACABCF6}"/>
    <dgm:cxn modelId="{28631DFC-C385-4ABD-B9BA-0F171BF84282}" type="presOf" srcId="{EC2ECAB8-A85D-40C7-9117-2AA078A20F63}" destId="{E3E6BEB8-B08E-43CD-A3AF-F2B85C4580AD}" srcOrd="0" destOrd="0" presId="urn:microsoft.com/office/officeart/2005/8/layout/hList1"/>
    <dgm:cxn modelId="{45C209E3-7292-4AE2-B080-3F30EA7B5F36}" type="presOf" srcId="{582737C7-A23B-4BCF-8152-3B1924EDA793}" destId="{882F28AC-AD1B-4E0E-AEA6-8989F5CE6A35}" srcOrd="0" destOrd="5" presId="urn:microsoft.com/office/officeart/2005/8/layout/hList1"/>
    <dgm:cxn modelId="{C94072C2-A343-4034-AE65-F026F0256435}" srcId="{EC2ECAB8-A85D-40C7-9117-2AA078A20F63}" destId="{8FA580CD-2825-4C51-B1DE-E59D1B218141}" srcOrd="5" destOrd="0" parTransId="{3834143C-29CF-48A3-A93F-2F105F6D6050}" sibTransId="{72A3146F-3698-4795-BFC6-740EADE57467}"/>
    <dgm:cxn modelId="{D7F8303B-FAE1-403E-8B71-61ECA95F92C4}" type="presOf" srcId="{8FD7E9F2-2311-44BE-9382-0FD689EB7EE2}" destId="{2CE42794-9563-4A96-B9CC-520A06D6EE9D}" srcOrd="0" destOrd="1" presId="urn:microsoft.com/office/officeart/2005/8/layout/hList1"/>
    <dgm:cxn modelId="{C2F73DA8-A9CE-45D1-851D-2E9DA6F6F96F}" type="presOf" srcId="{77261A98-EA16-48DE-BDEC-862B033DFA44}" destId="{AAB1147D-BCEB-4287-850D-0C28E16B7E63}" srcOrd="0" destOrd="0" presId="urn:microsoft.com/office/officeart/2005/8/layout/hList1"/>
    <dgm:cxn modelId="{C3C0EC17-FA18-44BC-98EC-F9E75582BF1B}" type="presOf" srcId="{59007718-4FEB-43D9-B9E5-8114FFCD746C}" destId="{2CE42794-9563-4A96-B9CC-520A06D6EE9D}" srcOrd="0" destOrd="7" presId="urn:microsoft.com/office/officeart/2005/8/layout/hList1"/>
    <dgm:cxn modelId="{68129162-8E6E-4495-A68F-5B50EAB55788}" type="presOf" srcId="{C47477C1-EBA0-4A69-9865-EEB1CC3C0A49}" destId="{AAB1147D-BCEB-4287-850D-0C28E16B7E63}" srcOrd="0" destOrd="1" presId="urn:microsoft.com/office/officeart/2005/8/layout/hList1"/>
    <dgm:cxn modelId="{D1E18ACA-E2AC-419B-B0C8-489177C231F1}" srcId="{D5C8C534-B55B-41EF-88DB-ED9C24EBB7FC}" destId="{876F12A8-3CBF-4C23-9511-B3BE912EE8A9}" srcOrd="0" destOrd="0" parTransId="{1BEBABA3-2449-4976-9CA0-CD33A6A3B3B9}" sibTransId="{9D64F3A3-F0ED-495F-BD66-97CC72F1F1F0}"/>
    <dgm:cxn modelId="{4AE04352-7A27-4614-99ED-5F9EF8E69A0F}" type="presOf" srcId="{8FA580CD-2825-4C51-B1DE-E59D1B218141}" destId="{2CE42794-9563-4A96-B9CC-520A06D6EE9D}" srcOrd="0" destOrd="5" presId="urn:microsoft.com/office/officeart/2005/8/layout/hList1"/>
    <dgm:cxn modelId="{F163E7A1-F61D-40FA-8D51-09DFBDF63920}" srcId="{D5C8C534-B55B-41EF-88DB-ED9C24EBB7FC}" destId="{EC2ECAB8-A85D-40C7-9117-2AA078A20F63}" srcOrd="2" destOrd="0" parTransId="{5EE77FF3-6958-4AA2-A361-996476EE469F}" sibTransId="{1857EB93-3123-4042-9586-557C94FF38FB}"/>
    <dgm:cxn modelId="{EC0C1EBC-1BB6-4B64-9783-15A05DC6D254}" srcId="{876F12A8-3CBF-4C23-9511-B3BE912EE8A9}" destId="{0C5135B2-B7D9-4A56-B321-EACBE96AD852}" srcOrd="5" destOrd="0" parTransId="{AFF35C9C-E88B-481D-A218-745179C42A89}" sibTransId="{2AF380E5-541E-476E-A57D-2AF52F0FD3CF}"/>
    <dgm:cxn modelId="{B584686C-FF56-43FC-A6E9-BFDC110D0F3A}" srcId="{5A047D2B-AE09-4A6A-B06B-F9BE7B733FC6}" destId="{F0649716-B277-4246-B4C1-BC542F322F8A}" srcOrd="4" destOrd="0" parTransId="{27839B55-E584-422D-B72E-32A347E21FD6}" sibTransId="{3CA4F354-DF59-45C6-AF13-28268C39518D}"/>
    <dgm:cxn modelId="{2684783A-14D1-479E-B819-C27DA233CBB2}" type="presOf" srcId="{F3C8CAEE-C3C5-4F4E-B8D6-95CD478198FC}" destId="{2CE42794-9563-4A96-B9CC-520A06D6EE9D}" srcOrd="0" destOrd="0" presId="urn:microsoft.com/office/officeart/2005/8/layout/hList1"/>
    <dgm:cxn modelId="{D71B0854-94D7-4E70-9906-79916BDF1C2E}" srcId="{876F12A8-3CBF-4C23-9511-B3BE912EE8A9}" destId="{ED3D8A5C-A004-4F25-9E95-105C5CBAC5B8}" srcOrd="4" destOrd="0" parTransId="{2602785F-5020-4C37-9349-25B3C6EB8027}" sibTransId="{B91310B6-65D7-4C98-8D22-83CC38A1C4FE}"/>
    <dgm:cxn modelId="{631719BE-12FC-4114-9E6F-FD4CEF922937}" type="presOf" srcId="{5A047D2B-AE09-4A6A-B06B-F9BE7B733FC6}" destId="{016C0C30-52FC-4CA5-B7B1-35861449347E}" srcOrd="0" destOrd="0" presId="urn:microsoft.com/office/officeart/2005/8/layout/hList1"/>
    <dgm:cxn modelId="{081771B5-50A0-49B2-83EE-0549686F862F}" type="presOf" srcId="{284F0E1D-70AC-40E5-B58D-8B75F4E28080}" destId="{2CE42794-9563-4A96-B9CC-520A06D6EE9D}" srcOrd="0" destOrd="8" presId="urn:microsoft.com/office/officeart/2005/8/layout/hList1"/>
    <dgm:cxn modelId="{DDE0DC9A-7387-4657-A861-01BD4F6E447C}" type="presOf" srcId="{63777967-36A7-42A3-AAA6-F67A82A84365}" destId="{2CE42794-9563-4A96-B9CC-520A06D6EE9D}" srcOrd="0" destOrd="4" presId="urn:microsoft.com/office/officeart/2005/8/layout/hList1"/>
    <dgm:cxn modelId="{36860DE1-6F5F-4025-A828-41782B80E483}" srcId="{EC2ECAB8-A85D-40C7-9117-2AA078A20F63}" destId="{F3C8CAEE-C3C5-4F4E-B8D6-95CD478198FC}" srcOrd="0" destOrd="0" parTransId="{5285F996-D863-41D2-BCDC-C49BA518BF7E}" sibTransId="{E224FB83-0D9D-4738-BEF7-DDCB4BC4B3E5}"/>
    <dgm:cxn modelId="{460C4FCE-8F7E-4CA1-9C4D-41B80F92C1F6}" type="presOf" srcId="{C896329D-659F-41D8-8428-23F35A3F2A7F}" destId="{AAB1147D-BCEB-4287-850D-0C28E16B7E63}" srcOrd="0" destOrd="2" presId="urn:microsoft.com/office/officeart/2005/8/layout/hList1"/>
    <dgm:cxn modelId="{37D02BD5-F50F-4A21-A69A-6D128022390F}" type="presOf" srcId="{6DCF312A-D696-446F-8AEF-7CC30783908B}" destId="{882F28AC-AD1B-4E0E-AEA6-8989F5CE6A35}" srcOrd="0" destOrd="2" presId="urn:microsoft.com/office/officeart/2005/8/layout/hList1"/>
    <dgm:cxn modelId="{CBD1C9AE-9CB6-4DAC-9A13-CF429A4CF2CE}" srcId="{5A047D2B-AE09-4A6A-B06B-F9BE7B733FC6}" destId="{3D5166C9-5BA2-4001-892D-F49F4600D5B7}" srcOrd="0" destOrd="0" parTransId="{65196C88-0272-4B87-95C5-9ECF31C690C5}" sibTransId="{7A884809-F420-4DBC-B4D1-42CD63AA7E48}"/>
    <dgm:cxn modelId="{EF253D2C-88A1-4A17-A421-A437AB497084}" srcId="{EC2ECAB8-A85D-40C7-9117-2AA078A20F63}" destId="{5EA30DCB-652C-49B8-9D97-8AF54B4F7E80}" srcOrd="3" destOrd="0" parTransId="{FAB1DA54-8633-4DA2-80C9-DA6F0989C0DB}" sibTransId="{B8684FF1-2E11-4AA1-8744-0C5546446438}"/>
    <dgm:cxn modelId="{DDE94670-0C86-4067-BDCE-8FE26AF3861E}" type="presOf" srcId="{0C5135B2-B7D9-4A56-B321-EACBE96AD852}" destId="{AAB1147D-BCEB-4287-850D-0C28E16B7E63}" srcOrd="0" destOrd="5" presId="urn:microsoft.com/office/officeart/2005/8/layout/hList1"/>
    <dgm:cxn modelId="{E8439796-2F0C-424F-844C-6F0FE872594D}" type="presOf" srcId="{5EA30DCB-652C-49B8-9D97-8AF54B4F7E80}" destId="{2CE42794-9563-4A96-B9CC-520A06D6EE9D}" srcOrd="0" destOrd="3" presId="urn:microsoft.com/office/officeart/2005/8/layout/hList1"/>
    <dgm:cxn modelId="{2914A309-5DFB-46C9-866D-7A8F1BEDBE11}" type="presOf" srcId="{ED3D8A5C-A004-4F25-9E95-105C5CBAC5B8}" destId="{AAB1147D-BCEB-4287-850D-0C28E16B7E63}" srcOrd="0" destOrd="4" presId="urn:microsoft.com/office/officeart/2005/8/layout/hList1"/>
    <dgm:cxn modelId="{38793140-22FB-4290-95F5-D68F82D5906E}" srcId="{52B1E9F8-FF5A-4290-A2EE-04416696410E}" destId="{5DCF5F03-40E3-4DF7-8D0C-5B2AC04E9710}" srcOrd="2" destOrd="0" parTransId="{F587DB87-8C05-45E8-821D-48A0E1934C89}" sibTransId="{D015357F-31D5-4BDE-9234-A074B01E35F1}"/>
    <dgm:cxn modelId="{BD07B2B6-C699-4618-9704-A5A98339E8D3}" type="presOf" srcId="{5DCF5F03-40E3-4DF7-8D0C-5B2AC04E9710}" destId="{8901B344-4CDE-44D5-B022-7E0CE2C33BF0}" srcOrd="0" destOrd="2" presId="urn:microsoft.com/office/officeart/2005/8/layout/hList1"/>
    <dgm:cxn modelId="{95D330DC-CE8C-46AA-BE19-F684D8B0FC57}" type="presOf" srcId="{D5C8C534-B55B-41EF-88DB-ED9C24EBB7FC}" destId="{3B2B6EC3-FAFC-4F27-AF22-3209ABD0D639}" srcOrd="0" destOrd="0" presId="urn:microsoft.com/office/officeart/2005/8/layout/hList1"/>
    <dgm:cxn modelId="{555B5F87-EAA2-4BF5-A85A-067F5B333468}" srcId="{52B1E9F8-FF5A-4290-A2EE-04416696410E}" destId="{DFACE991-8E53-485A-907C-1EFB2848046C}" srcOrd="0" destOrd="0" parTransId="{522FA040-2423-4F5F-A378-E20632813270}" sibTransId="{79202294-FE13-49A9-BC9A-1A8E948266D7}"/>
    <dgm:cxn modelId="{6477DD6F-8191-4390-B4DF-FA9A84E61F4F}" srcId="{876F12A8-3CBF-4C23-9511-B3BE912EE8A9}" destId="{77261A98-EA16-48DE-BDEC-862B033DFA44}" srcOrd="0" destOrd="0" parTransId="{4AE48503-4481-4041-AD0D-FB09D10A177D}" sibTransId="{F5E35242-EFA8-4231-BC41-3E8B48AEE665}"/>
    <dgm:cxn modelId="{21C60780-6704-4188-B2BA-CB7A317D06AA}" type="presOf" srcId="{17A262F1-9003-4C77-8F50-D8E5C174B968}" destId="{AAB1147D-BCEB-4287-850D-0C28E16B7E63}" srcOrd="0" destOrd="6" presId="urn:microsoft.com/office/officeart/2005/8/layout/hList1"/>
    <dgm:cxn modelId="{DDA29D37-E8F9-42C3-B045-6EF36EA64061}" srcId="{D5C8C534-B55B-41EF-88DB-ED9C24EBB7FC}" destId="{5A047D2B-AE09-4A6A-B06B-F9BE7B733FC6}" srcOrd="3" destOrd="0" parTransId="{8B477AFB-3BB3-4E4F-A613-7C77A347B362}" sibTransId="{2A70620D-A631-4E94-958B-CBD6322152E7}"/>
    <dgm:cxn modelId="{DEDD35F5-942D-41DF-B1D3-102FB29BF9FB}" type="presOf" srcId="{52B1E9F8-FF5A-4290-A2EE-04416696410E}" destId="{20330B3A-115A-4449-BBD2-F1DF7DA08C27}" srcOrd="0" destOrd="0" presId="urn:microsoft.com/office/officeart/2005/8/layout/hList1"/>
    <dgm:cxn modelId="{A960D218-BB75-455A-95BF-012050E1AFB9}" srcId="{876F12A8-3CBF-4C23-9511-B3BE912EE8A9}" destId="{C896329D-659F-41D8-8428-23F35A3F2A7F}" srcOrd="2" destOrd="0" parTransId="{1095EFC7-C63D-462E-9409-7653C01AAA33}" sibTransId="{B35503A3-5959-4612-89F8-373578912E93}"/>
    <dgm:cxn modelId="{59B3EA95-794A-41E4-AD77-16978C50CA9E}" srcId="{876F12A8-3CBF-4C23-9511-B3BE912EE8A9}" destId="{C47477C1-EBA0-4A69-9865-EEB1CC3C0A49}" srcOrd="1" destOrd="0" parTransId="{2DAF60AF-9674-4AD9-9AC9-067991921028}" sibTransId="{3208B049-162D-4726-BC74-C2FDF40ED359}"/>
    <dgm:cxn modelId="{CF06342C-923C-4B1A-A4EC-4D6001BB9FFD}" srcId="{EC2ECAB8-A85D-40C7-9117-2AA078A20F63}" destId="{284F0E1D-70AC-40E5-B58D-8B75F4E28080}" srcOrd="8" destOrd="0" parTransId="{31BA2C00-143D-4E09-82A4-A572C9C79C5A}" sibTransId="{4F7A961E-8DB8-4F44-8B4F-2E1AA56DD794}"/>
    <dgm:cxn modelId="{CF519EFD-A2DD-4B69-9F56-3F9C8F4E2CC2}" srcId="{5A047D2B-AE09-4A6A-B06B-F9BE7B733FC6}" destId="{6DCF312A-D696-446F-8AEF-7CC30783908B}" srcOrd="2" destOrd="0" parTransId="{3447F3BB-C176-403F-A440-AAA7B2132DFD}" sibTransId="{800753E0-C5D5-4C74-BD57-FDEE2C16A254}"/>
    <dgm:cxn modelId="{5FB73A77-48C9-49B9-97EF-E58B9FBAC83A}" type="presOf" srcId="{B51F8DC3-7A9F-4CF9-90CC-BC0B820F7B91}" destId="{882F28AC-AD1B-4E0E-AEA6-8989F5CE6A35}" srcOrd="0" destOrd="1" presId="urn:microsoft.com/office/officeart/2005/8/layout/hList1"/>
    <dgm:cxn modelId="{25D78AD7-111E-45EA-B17E-5767226B1533}" srcId="{5A047D2B-AE09-4A6A-B06B-F9BE7B733FC6}" destId="{13C8241D-30EB-4DA5-91CE-6455887CB532}" srcOrd="3" destOrd="0" parTransId="{1D178F00-0239-4F3A-B7E9-B16BC7D40770}" sibTransId="{FF284607-31F0-407C-BDD3-060E3A6EF9D4}"/>
    <dgm:cxn modelId="{E7877163-2907-4E1C-9190-D92728114F3A}" type="presOf" srcId="{1D93A904-DA31-4610-8126-8F418CD7E1E6}" destId="{AAB1147D-BCEB-4287-850D-0C28E16B7E63}" srcOrd="0" destOrd="3" presId="urn:microsoft.com/office/officeart/2005/8/layout/hList1"/>
    <dgm:cxn modelId="{3FC8363F-5C27-4B20-84E1-4CEA2AF4E71F}" type="presOf" srcId="{884C6235-9D16-4D95-BC42-131FB482992D}" destId="{2CE42794-9563-4A96-B9CC-520A06D6EE9D}" srcOrd="0" destOrd="2" presId="urn:microsoft.com/office/officeart/2005/8/layout/hList1"/>
    <dgm:cxn modelId="{558D6982-3136-43B9-B184-56E7146CE86D}" srcId="{EC2ECAB8-A85D-40C7-9117-2AA078A20F63}" destId="{63777967-36A7-42A3-AAA6-F67A82A84365}" srcOrd="4" destOrd="0" parTransId="{F3267288-52D4-4232-8EDE-0C06A198065D}" sibTransId="{F21EB987-DD12-4AE4-A891-7E0A1B3B9F7C}"/>
    <dgm:cxn modelId="{E7C37E4C-54D2-4BC9-B239-CAD8181BEBE4}" srcId="{5A047D2B-AE09-4A6A-B06B-F9BE7B733FC6}" destId="{582737C7-A23B-4BCF-8152-3B1924EDA793}" srcOrd="5" destOrd="0" parTransId="{37F03128-A80E-4CE0-BC23-6DF7CB8A11D8}" sibTransId="{FD69B635-10E7-462F-9558-02A0E5739F4C}"/>
    <dgm:cxn modelId="{78C18111-0419-446A-B2BD-01C622DE31D5}" type="presOf" srcId="{3D5166C9-5BA2-4001-892D-F49F4600D5B7}" destId="{882F28AC-AD1B-4E0E-AEA6-8989F5CE6A35}" srcOrd="0" destOrd="0" presId="urn:microsoft.com/office/officeart/2005/8/layout/hList1"/>
    <dgm:cxn modelId="{14E94882-BBD9-4216-A679-9FED65FE2F71}" type="presOf" srcId="{F0649716-B277-4246-B4C1-BC542F322F8A}" destId="{882F28AC-AD1B-4E0E-AEA6-8989F5CE6A35}" srcOrd="0" destOrd="4" presId="urn:microsoft.com/office/officeart/2005/8/layout/hList1"/>
    <dgm:cxn modelId="{D0A56A45-20F2-4BCA-BD5A-BA373B2638CC}" srcId="{EC2ECAB8-A85D-40C7-9117-2AA078A20F63}" destId="{884C6235-9D16-4D95-BC42-131FB482992D}" srcOrd="2" destOrd="0" parTransId="{0481730D-A61F-4DA9-9627-6BC82C4B148D}" sibTransId="{555AD147-BAC6-43BB-90DD-1130ABA39199}"/>
    <dgm:cxn modelId="{BA89C22B-6BE4-4B16-8F9A-A165D1C570C3}" type="presParOf" srcId="{3B2B6EC3-FAFC-4F27-AF22-3209ABD0D639}" destId="{D92851F3-0C0F-489F-A254-A6812400DD0A}" srcOrd="0" destOrd="0" presId="urn:microsoft.com/office/officeart/2005/8/layout/hList1"/>
    <dgm:cxn modelId="{8481B64E-04DC-4AD8-9BEF-73D28DBF1ADC}" type="presParOf" srcId="{D92851F3-0C0F-489F-A254-A6812400DD0A}" destId="{8B58748B-2575-4D58-9FA0-9F6CA0DF6B78}" srcOrd="0" destOrd="0" presId="urn:microsoft.com/office/officeart/2005/8/layout/hList1"/>
    <dgm:cxn modelId="{5755597F-78A1-434C-9063-BE3A688AA438}" type="presParOf" srcId="{D92851F3-0C0F-489F-A254-A6812400DD0A}" destId="{AAB1147D-BCEB-4287-850D-0C28E16B7E63}" srcOrd="1" destOrd="0" presId="urn:microsoft.com/office/officeart/2005/8/layout/hList1"/>
    <dgm:cxn modelId="{BAEE3AB9-8B77-425D-9F00-AB03E7926802}" type="presParOf" srcId="{3B2B6EC3-FAFC-4F27-AF22-3209ABD0D639}" destId="{4F0A595E-783C-4E50-8B40-09F25FB93E7C}" srcOrd="1" destOrd="0" presId="urn:microsoft.com/office/officeart/2005/8/layout/hList1"/>
    <dgm:cxn modelId="{557E0B00-88DD-4D17-B0FB-2793E44B9509}" type="presParOf" srcId="{3B2B6EC3-FAFC-4F27-AF22-3209ABD0D639}" destId="{D92EDD19-9446-4D94-8EDB-D131762C721A}" srcOrd="2" destOrd="0" presId="urn:microsoft.com/office/officeart/2005/8/layout/hList1"/>
    <dgm:cxn modelId="{A1BB9AAB-485A-4543-BB9C-17396ED4CFDA}" type="presParOf" srcId="{D92EDD19-9446-4D94-8EDB-D131762C721A}" destId="{20330B3A-115A-4449-BBD2-F1DF7DA08C27}" srcOrd="0" destOrd="0" presId="urn:microsoft.com/office/officeart/2005/8/layout/hList1"/>
    <dgm:cxn modelId="{63BAB7AF-A234-407C-9636-A041F1140F2C}" type="presParOf" srcId="{D92EDD19-9446-4D94-8EDB-D131762C721A}" destId="{8901B344-4CDE-44D5-B022-7E0CE2C33BF0}" srcOrd="1" destOrd="0" presId="urn:microsoft.com/office/officeart/2005/8/layout/hList1"/>
    <dgm:cxn modelId="{5F43A877-2085-4433-A342-DC17F7CACED6}" type="presParOf" srcId="{3B2B6EC3-FAFC-4F27-AF22-3209ABD0D639}" destId="{1849843C-4BCF-4CA2-9DF2-6782D020EB95}" srcOrd="3" destOrd="0" presId="urn:microsoft.com/office/officeart/2005/8/layout/hList1"/>
    <dgm:cxn modelId="{25EFFB48-E9F9-4722-BB00-D6258539260E}" type="presParOf" srcId="{3B2B6EC3-FAFC-4F27-AF22-3209ABD0D639}" destId="{339E4B24-AAC5-4F06-B52E-2DF3F454F8CD}" srcOrd="4" destOrd="0" presId="urn:microsoft.com/office/officeart/2005/8/layout/hList1"/>
    <dgm:cxn modelId="{A2FF0E72-1EED-4298-9C2D-359C683EE1DF}" type="presParOf" srcId="{339E4B24-AAC5-4F06-B52E-2DF3F454F8CD}" destId="{E3E6BEB8-B08E-43CD-A3AF-F2B85C4580AD}" srcOrd="0" destOrd="0" presId="urn:microsoft.com/office/officeart/2005/8/layout/hList1"/>
    <dgm:cxn modelId="{791DDB9D-81E6-4A4E-BB60-8B9FC10CDAB4}" type="presParOf" srcId="{339E4B24-AAC5-4F06-B52E-2DF3F454F8CD}" destId="{2CE42794-9563-4A96-B9CC-520A06D6EE9D}" srcOrd="1" destOrd="0" presId="urn:microsoft.com/office/officeart/2005/8/layout/hList1"/>
    <dgm:cxn modelId="{B6669B56-9A65-4696-8FE3-DA87D7068576}" type="presParOf" srcId="{3B2B6EC3-FAFC-4F27-AF22-3209ABD0D639}" destId="{B11BD261-271F-4274-A770-76A44AED9CB3}" srcOrd="5" destOrd="0" presId="urn:microsoft.com/office/officeart/2005/8/layout/hList1"/>
    <dgm:cxn modelId="{1CE4181A-7D8E-4B96-AF6E-5FCCB95A23C4}" type="presParOf" srcId="{3B2B6EC3-FAFC-4F27-AF22-3209ABD0D639}" destId="{9FBE3C72-DB3A-46C6-B2EE-4B94FAA24B04}" srcOrd="6" destOrd="0" presId="urn:microsoft.com/office/officeart/2005/8/layout/hList1"/>
    <dgm:cxn modelId="{386F6A07-25D1-4909-B1CA-DDB780EB32C0}" type="presParOf" srcId="{9FBE3C72-DB3A-46C6-B2EE-4B94FAA24B04}" destId="{016C0C30-52FC-4CA5-B7B1-35861449347E}" srcOrd="0" destOrd="0" presId="urn:microsoft.com/office/officeart/2005/8/layout/hList1"/>
    <dgm:cxn modelId="{F9AA90A8-BE4D-4A64-B53E-60EA309EAC0D}" type="presParOf" srcId="{9FBE3C72-DB3A-46C6-B2EE-4B94FAA24B04}" destId="{882F28AC-AD1B-4E0E-AEA6-8989F5CE6A35}"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CE6B798-7D0D-4918-A3AF-70DEBE7A8D4C}" type="doc">
      <dgm:prSet loTypeId="urn:microsoft.com/office/officeart/2005/8/layout/process4" loCatId="list" qsTypeId="urn:microsoft.com/office/officeart/2005/8/quickstyle/simple1" qsCatId="simple" csTypeId="urn:microsoft.com/office/officeart/2005/8/colors/colorful1#8" csCatId="colorful" phldr="1"/>
      <dgm:spPr/>
      <dgm:t>
        <a:bodyPr/>
        <a:lstStyle/>
        <a:p>
          <a:endParaRPr lang="fi-FI"/>
        </a:p>
      </dgm:t>
    </dgm:pt>
    <dgm:pt modelId="{92CF5B69-53BB-4F9D-B9E7-5402C4D1EDAD}">
      <dgm:prSet custT="1"/>
      <dgm:spPr/>
      <dgm:t>
        <a:bodyPr/>
        <a:lstStyle/>
        <a:p>
          <a:pPr rtl="0"/>
          <a:r>
            <a:rPr lang="fi-FI" sz="1600" b="1" dirty="0" smtClean="0"/>
            <a:t>Suunnittelu</a:t>
          </a:r>
          <a:endParaRPr lang="en-US" sz="1600" b="1" dirty="0"/>
        </a:p>
      </dgm:t>
    </dgm:pt>
    <dgm:pt modelId="{B00339EF-D390-4466-8675-C938E865D2CE}" type="parTrans" cxnId="{1292EAB7-77A8-4F75-BCF9-E6209EF99B54}">
      <dgm:prSet/>
      <dgm:spPr/>
      <dgm:t>
        <a:bodyPr/>
        <a:lstStyle/>
        <a:p>
          <a:endParaRPr lang="fi-FI" b="1"/>
        </a:p>
      </dgm:t>
    </dgm:pt>
    <dgm:pt modelId="{FBBA59F7-C8F1-48F4-A128-45E4AD671C0E}" type="sibTrans" cxnId="{1292EAB7-77A8-4F75-BCF9-E6209EF99B54}">
      <dgm:prSet/>
      <dgm:spPr/>
      <dgm:t>
        <a:bodyPr/>
        <a:lstStyle/>
        <a:p>
          <a:endParaRPr lang="fi-FI" b="1"/>
        </a:p>
      </dgm:t>
    </dgm:pt>
    <dgm:pt modelId="{1F80CCCE-D682-43BB-924A-1688BFA5838E}">
      <dgm:prSet custT="1"/>
      <dgm:spPr/>
      <dgm:t>
        <a:bodyPr/>
        <a:lstStyle/>
        <a:p>
          <a:pPr rtl="0"/>
          <a:r>
            <a:rPr lang="fi-FI" sz="1200" b="1" dirty="0" smtClean="0"/>
            <a:t>Puitteiden sopiminen</a:t>
          </a:r>
          <a:endParaRPr lang="en-US" sz="1200" b="1" dirty="0"/>
        </a:p>
      </dgm:t>
    </dgm:pt>
    <dgm:pt modelId="{176B06F3-5F27-480D-BB19-A6A3020D0098}" type="parTrans" cxnId="{2A4E0071-6E75-4E6E-8E0E-5800CB5FD27B}">
      <dgm:prSet/>
      <dgm:spPr/>
      <dgm:t>
        <a:bodyPr/>
        <a:lstStyle/>
        <a:p>
          <a:endParaRPr lang="fi-FI" b="1"/>
        </a:p>
      </dgm:t>
    </dgm:pt>
    <dgm:pt modelId="{6BFE054E-742D-47C9-A4E3-4C401F308FA0}" type="sibTrans" cxnId="{2A4E0071-6E75-4E6E-8E0E-5800CB5FD27B}">
      <dgm:prSet/>
      <dgm:spPr/>
      <dgm:t>
        <a:bodyPr/>
        <a:lstStyle/>
        <a:p>
          <a:endParaRPr lang="fi-FI" b="1"/>
        </a:p>
      </dgm:t>
    </dgm:pt>
    <dgm:pt modelId="{BF90EE73-226C-4174-A4B8-97C8B5AB35DD}">
      <dgm:prSet custT="1"/>
      <dgm:spPr/>
      <dgm:t>
        <a:bodyPr/>
        <a:lstStyle/>
        <a:p>
          <a:pPr rtl="0"/>
          <a:r>
            <a:rPr lang="fi-FI" sz="1200" b="1" dirty="0" smtClean="0"/>
            <a:t>Budjetti</a:t>
          </a:r>
          <a:endParaRPr lang="en-US" sz="1200" b="1" dirty="0"/>
        </a:p>
      </dgm:t>
    </dgm:pt>
    <dgm:pt modelId="{25348945-0374-47CE-941A-9B03D7C1F80F}" type="parTrans" cxnId="{E2E21142-626E-44EA-872F-9F409B2679BD}">
      <dgm:prSet/>
      <dgm:spPr/>
      <dgm:t>
        <a:bodyPr/>
        <a:lstStyle/>
        <a:p>
          <a:endParaRPr lang="fi-FI" b="1"/>
        </a:p>
      </dgm:t>
    </dgm:pt>
    <dgm:pt modelId="{6B6AA6E2-8D90-4C5B-B86E-B22EC86D3BF1}" type="sibTrans" cxnId="{E2E21142-626E-44EA-872F-9F409B2679BD}">
      <dgm:prSet/>
      <dgm:spPr/>
      <dgm:t>
        <a:bodyPr/>
        <a:lstStyle/>
        <a:p>
          <a:endParaRPr lang="fi-FI" b="1"/>
        </a:p>
      </dgm:t>
    </dgm:pt>
    <dgm:pt modelId="{66509EDA-9D97-4D40-AF4E-8F970713BAF0}">
      <dgm:prSet custT="1"/>
      <dgm:spPr/>
      <dgm:t>
        <a:bodyPr/>
        <a:lstStyle/>
        <a:p>
          <a:pPr rtl="0"/>
          <a:r>
            <a:rPr lang="fi-FI" sz="1200" b="1" dirty="0" smtClean="0"/>
            <a:t>Hankinnat ja rekrytoinnit</a:t>
          </a:r>
          <a:endParaRPr lang="en-US" sz="1200" b="1" dirty="0"/>
        </a:p>
      </dgm:t>
    </dgm:pt>
    <dgm:pt modelId="{F10CDEFF-597D-4EFE-AE67-095ADC21AF1F}" type="parTrans" cxnId="{4C235192-F380-4A56-8CAF-589CD82DA57E}">
      <dgm:prSet/>
      <dgm:spPr/>
      <dgm:t>
        <a:bodyPr/>
        <a:lstStyle/>
        <a:p>
          <a:endParaRPr lang="fi-FI" b="1"/>
        </a:p>
      </dgm:t>
    </dgm:pt>
    <dgm:pt modelId="{FF2795F5-7A84-472E-BFE6-7706F7568249}" type="sibTrans" cxnId="{4C235192-F380-4A56-8CAF-589CD82DA57E}">
      <dgm:prSet/>
      <dgm:spPr/>
      <dgm:t>
        <a:bodyPr/>
        <a:lstStyle/>
        <a:p>
          <a:endParaRPr lang="fi-FI" b="1"/>
        </a:p>
      </dgm:t>
    </dgm:pt>
    <dgm:pt modelId="{247EEC64-4BDF-4038-9E90-A2DD4F8E8B5A}">
      <dgm:prSet custT="1"/>
      <dgm:spPr/>
      <dgm:t>
        <a:bodyPr/>
        <a:lstStyle/>
        <a:p>
          <a:pPr rtl="0"/>
          <a:r>
            <a:rPr lang="fi-FI" sz="1200" b="1" dirty="0" smtClean="0"/>
            <a:t>Versioiden toimituslogistiikka</a:t>
          </a:r>
          <a:endParaRPr lang="en-US" sz="1200" b="1" dirty="0"/>
        </a:p>
      </dgm:t>
    </dgm:pt>
    <dgm:pt modelId="{6483C0C3-0629-4884-AFB9-9730446EB69A}" type="parTrans" cxnId="{433941BC-DB29-43CE-850E-FA6B8C82C746}">
      <dgm:prSet/>
      <dgm:spPr/>
      <dgm:t>
        <a:bodyPr/>
        <a:lstStyle/>
        <a:p>
          <a:endParaRPr lang="fi-FI" b="1"/>
        </a:p>
      </dgm:t>
    </dgm:pt>
    <dgm:pt modelId="{FC51FB42-0A35-4115-AB43-4DE612163C98}" type="sibTrans" cxnId="{433941BC-DB29-43CE-850E-FA6B8C82C746}">
      <dgm:prSet/>
      <dgm:spPr/>
      <dgm:t>
        <a:bodyPr/>
        <a:lstStyle/>
        <a:p>
          <a:endParaRPr lang="fi-FI" b="1"/>
        </a:p>
      </dgm:t>
    </dgm:pt>
    <dgm:pt modelId="{943071FD-EB02-4CFC-ACCE-F60AF54B38D5}">
      <dgm:prSet custT="1"/>
      <dgm:spPr/>
      <dgm:t>
        <a:bodyPr/>
        <a:lstStyle/>
        <a:p>
          <a:pPr rtl="0"/>
          <a:r>
            <a:rPr lang="fi-FI" sz="1600" b="1" dirty="0" smtClean="0"/>
            <a:t>Valmistelu</a:t>
          </a:r>
          <a:endParaRPr lang="en-US" sz="1600" b="1" dirty="0"/>
        </a:p>
      </dgm:t>
    </dgm:pt>
    <dgm:pt modelId="{90D20866-D086-423F-BE43-8002055D6DEE}" type="parTrans" cxnId="{79774969-C7B1-4E1C-8419-380C3DE01078}">
      <dgm:prSet/>
      <dgm:spPr/>
      <dgm:t>
        <a:bodyPr/>
        <a:lstStyle/>
        <a:p>
          <a:endParaRPr lang="fi-FI" b="1"/>
        </a:p>
      </dgm:t>
    </dgm:pt>
    <dgm:pt modelId="{A4FFC771-ED83-4334-A9D8-C8DD11FD1220}" type="sibTrans" cxnId="{79774969-C7B1-4E1C-8419-380C3DE01078}">
      <dgm:prSet/>
      <dgm:spPr/>
      <dgm:t>
        <a:bodyPr/>
        <a:lstStyle/>
        <a:p>
          <a:endParaRPr lang="fi-FI" b="1"/>
        </a:p>
      </dgm:t>
    </dgm:pt>
    <dgm:pt modelId="{F87344E6-839A-4217-A7FA-1B574727E7CA}">
      <dgm:prSet custT="1"/>
      <dgm:spPr/>
      <dgm:t>
        <a:bodyPr/>
        <a:lstStyle/>
        <a:p>
          <a:pPr rtl="0"/>
          <a:r>
            <a:rPr lang="fi-FI" sz="1200" b="1" dirty="0" smtClean="0"/>
            <a:t>Vaatimusten lajittelu ja laajentaminen</a:t>
          </a:r>
          <a:endParaRPr lang="en-US" sz="1200" b="1" dirty="0"/>
        </a:p>
      </dgm:t>
    </dgm:pt>
    <dgm:pt modelId="{DBE5AC73-A700-4BAC-9DBC-07908BA2499B}" type="parTrans" cxnId="{E6F2908B-8850-4961-B151-EAD0EAD93769}">
      <dgm:prSet/>
      <dgm:spPr/>
      <dgm:t>
        <a:bodyPr/>
        <a:lstStyle/>
        <a:p>
          <a:endParaRPr lang="fi-FI" b="1"/>
        </a:p>
      </dgm:t>
    </dgm:pt>
    <dgm:pt modelId="{A85F8322-B70F-4109-9742-44BCCFD1EE91}" type="sibTrans" cxnId="{E6F2908B-8850-4961-B151-EAD0EAD93769}">
      <dgm:prSet/>
      <dgm:spPr/>
      <dgm:t>
        <a:bodyPr/>
        <a:lstStyle/>
        <a:p>
          <a:endParaRPr lang="fi-FI" b="1"/>
        </a:p>
      </dgm:t>
    </dgm:pt>
    <dgm:pt modelId="{A3CEBD14-6D74-4FD7-8314-172FC61FAB5E}">
      <dgm:prSet custT="1"/>
      <dgm:spPr/>
      <dgm:t>
        <a:bodyPr/>
        <a:lstStyle/>
        <a:p>
          <a:pPr rtl="0"/>
          <a:r>
            <a:rPr lang="fi-FI" sz="1200" b="1" dirty="0" smtClean="0"/>
            <a:t>Testiaineiston luominen, kerääminen, lajittelu ja sopiminen</a:t>
          </a:r>
          <a:endParaRPr lang="en-US" sz="1200" b="1" dirty="0"/>
        </a:p>
      </dgm:t>
    </dgm:pt>
    <dgm:pt modelId="{0E84763B-7B7B-4AD1-998C-F8B3D7FD9555}" type="parTrans" cxnId="{2BB7172C-9CFC-4EA3-AC6C-367FEDD39BA2}">
      <dgm:prSet/>
      <dgm:spPr/>
      <dgm:t>
        <a:bodyPr/>
        <a:lstStyle/>
        <a:p>
          <a:endParaRPr lang="fi-FI" b="1"/>
        </a:p>
      </dgm:t>
    </dgm:pt>
    <dgm:pt modelId="{04DD191B-31E9-49DA-9157-B14D349B002F}" type="sibTrans" cxnId="{2BB7172C-9CFC-4EA3-AC6C-367FEDD39BA2}">
      <dgm:prSet/>
      <dgm:spPr/>
      <dgm:t>
        <a:bodyPr/>
        <a:lstStyle/>
        <a:p>
          <a:endParaRPr lang="fi-FI" b="1"/>
        </a:p>
      </dgm:t>
    </dgm:pt>
    <dgm:pt modelId="{32530AB1-8811-4990-8B9A-6804C2FC87E9}">
      <dgm:prSet custT="1"/>
      <dgm:spPr/>
      <dgm:t>
        <a:bodyPr/>
        <a:lstStyle/>
        <a:p>
          <a:pPr rtl="0"/>
          <a:r>
            <a:rPr lang="fi-FI" sz="1600" b="1" dirty="0" smtClean="0"/>
            <a:t>Testaaminen</a:t>
          </a:r>
          <a:endParaRPr lang="en-US" sz="1600" b="1" dirty="0"/>
        </a:p>
      </dgm:t>
    </dgm:pt>
    <dgm:pt modelId="{9DFED0C2-D58F-4C39-A6AE-868FC8E5DC8B}" type="parTrans" cxnId="{BD3FE5C0-0C75-41D3-8041-0BA5CB4917FF}">
      <dgm:prSet/>
      <dgm:spPr/>
      <dgm:t>
        <a:bodyPr/>
        <a:lstStyle/>
        <a:p>
          <a:endParaRPr lang="fi-FI" b="1"/>
        </a:p>
      </dgm:t>
    </dgm:pt>
    <dgm:pt modelId="{FB1780AD-21CB-427F-A0C3-C71B57E20FCC}" type="sibTrans" cxnId="{BD3FE5C0-0C75-41D3-8041-0BA5CB4917FF}">
      <dgm:prSet/>
      <dgm:spPr/>
      <dgm:t>
        <a:bodyPr/>
        <a:lstStyle/>
        <a:p>
          <a:endParaRPr lang="fi-FI" b="1"/>
        </a:p>
      </dgm:t>
    </dgm:pt>
    <dgm:pt modelId="{1F09CBA5-34A4-40BC-82FA-76CA11B7BC1F}">
      <dgm:prSet custT="1"/>
      <dgm:spPr/>
      <dgm:t>
        <a:bodyPr/>
        <a:lstStyle/>
        <a:p>
          <a:pPr rtl="0"/>
          <a:r>
            <a:rPr lang="fi-FI" sz="1200" b="1" dirty="0" smtClean="0"/>
            <a:t>Havaintojen tekeminen, kirjaaminen, luokittelu</a:t>
          </a:r>
          <a:endParaRPr lang="en-US" sz="1200" b="1" dirty="0"/>
        </a:p>
      </dgm:t>
    </dgm:pt>
    <dgm:pt modelId="{058C5E29-D353-4C90-A546-1A9CB1336F08}" type="parTrans" cxnId="{75433D26-AAB4-458F-A7D4-E5EF237B522A}">
      <dgm:prSet/>
      <dgm:spPr/>
      <dgm:t>
        <a:bodyPr/>
        <a:lstStyle/>
        <a:p>
          <a:endParaRPr lang="fi-FI" b="1"/>
        </a:p>
      </dgm:t>
    </dgm:pt>
    <dgm:pt modelId="{B4370192-CA17-4CAD-BAE5-AB910E2552F3}" type="sibTrans" cxnId="{75433D26-AAB4-458F-A7D4-E5EF237B522A}">
      <dgm:prSet/>
      <dgm:spPr/>
      <dgm:t>
        <a:bodyPr/>
        <a:lstStyle/>
        <a:p>
          <a:endParaRPr lang="fi-FI" b="1"/>
        </a:p>
      </dgm:t>
    </dgm:pt>
    <dgm:pt modelId="{09ADB0EC-061C-482E-A68E-1CA217A4F1CA}">
      <dgm:prSet custT="1"/>
      <dgm:spPr/>
      <dgm:t>
        <a:bodyPr/>
        <a:lstStyle/>
        <a:p>
          <a:pPr rtl="0"/>
          <a:r>
            <a:rPr lang="fi-FI" sz="1200" b="1" dirty="0" smtClean="0"/>
            <a:t>Testauksen etenemisen arviointi</a:t>
          </a:r>
          <a:endParaRPr lang="en-US" sz="1200" b="1" dirty="0"/>
        </a:p>
      </dgm:t>
    </dgm:pt>
    <dgm:pt modelId="{5AFC677B-F457-4E56-9444-9DB42F8A4F18}" type="parTrans" cxnId="{61D2C5E1-109A-4BA6-B140-A6B21E9A583C}">
      <dgm:prSet/>
      <dgm:spPr/>
      <dgm:t>
        <a:bodyPr/>
        <a:lstStyle/>
        <a:p>
          <a:endParaRPr lang="fi-FI" b="1"/>
        </a:p>
      </dgm:t>
    </dgm:pt>
    <dgm:pt modelId="{9FB5C93E-AAF2-40AA-A813-888AE5B754A1}" type="sibTrans" cxnId="{61D2C5E1-109A-4BA6-B140-A6B21E9A583C}">
      <dgm:prSet/>
      <dgm:spPr/>
      <dgm:t>
        <a:bodyPr/>
        <a:lstStyle/>
        <a:p>
          <a:endParaRPr lang="fi-FI" b="1"/>
        </a:p>
      </dgm:t>
    </dgm:pt>
    <dgm:pt modelId="{599DC419-EA42-4ABD-B834-99F5579E16A2}">
      <dgm:prSet custT="1"/>
      <dgm:spPr/>
      <dgm:t>
        <a:bodyPr/>
        <a:lstStyle/>
        <a:p>
          <a:pPr rtl="0"/>
          <a:r>
            <a:rPr lang="fi-FI" sz="1200" b="1" dirty="0" smtClean="0"/>
            <a:t>Korjauksien varmistaminen, regressiotestaus</a:t>
          </a:r>
          <a:endParaRPr lang="en-US" sz="1200" b="1" dirty="0"/>
        </a:p>
      </dgm:t>
    </dgm:pt>
    <dgm:pt modelId="{6C46D2FA-5455-444D-9AB3-FD8B7A8C1FF7}" type="parTrans" cxnId="{090B4E00-83FE-49C3-9DC3-30B38A10B38B}">
      <dgm:prSet/>
      <dgm:spPr/>
      <dgm:t>
        <a:bodyPr/>
        <a:lstStyle/>
        <a:p>
          <a:endParaRPr lang="fi-FI" b="1"/>
        </a:p>
      </dgm:t>
    </dgm:pt>
    <dgm:pt modelId="{0CFB7CD8-98DF-4719-AD65-FFDB9B0E203F}" type="sibTrans" cxnId="{090B4E00-83FE-49C3-9DC3-30B38A10B38B}">
      <dgm:prSet/>
      <dgm:spPr/>
      <dgm:t>
        <a:bodyPr/>
        <a:lstStyle/>
        <a:p>
          <a:endParaRPr lang="fi-FI" b="1"/>
        </a:p>
      </dgm:t>
    </dgm:pt>
    <dgm:pt modelId="{923E71A7-970F-46C5-B8CA-29A4671791AC}">
      <dgm:prSet custT="1"/>
      <dgm:spPr/>
      <dgm:t>
        <a:bodyPr/>
        <a:lstStyle/>
        <a:p>
          <a:pPr rtl="0"/>
          <a:r>
            <a:rPr lang="fi-FI" sz="1600" b="1" dirty="0" smtClean="0"/>
            <a:t>Hyväksymispäätöksen tekeminen</a:t>
          </a:r>
          <a:endParaRPr lang="en-US" sz="1600" b="1" dirty="0"/>
        </a:p>
      </dgm:t>
    </dgm:pt>
    <dgm:pt modelId="{A8D4EB8B-FD08-43FF-B3A7-388843AB1E56}" type="parTrans" cxnId="{AD2539B3-4CE6-449E-844D-0B5C4E29D3B0}">
      <dgm:prSet/>
      <dgm:spPr/>
      <dgm:t>
        <a:bodyPr/>
        <a:lstStyle/>
        <a:p>
          <a:endParaRPr lang="fi-FI" b="1"/>
        </a:p>
      </dgm:t>
    </dgm:pt>
    <dgm:pt modelId="{41567073-9D01-4C1B-9521-37C600A14652}" type="sibTrans" cxnId="{AD2539B3-4CE6-449E-844D-0B5C4E29D3B0}">
      <dgm:prSet/>
      <dgm:spPr/>
      <dgm:t>
        <a:bodyPr/>
        <a:lstStyle/>
        <a:p>
          <a:endParaRPr lang="fi-FI" b="1"/>
        </a:p>
      </dgm:t>
    </dgm:pt>
    <dgm:pt modelId="{ACDD303F-74D7-46D9-ABCB-FA4D18EF078B}">
      <dgm:prSet custT="1"/>
      <dgm:spPr/>
      <dgm:t>
        <a:bodyPr/>
        <a:lstStyle/>
        <a:p>
          <a:pPr rtl="0"/>
          <a:r>
            <a:rPr lang="fi-FI" sz="1200" b="1" dirty="0" smtClean="0"/>
            <a:t>Testauksen riittävyyden arviointi</a:t>
          </a:r>
          <a:endParaRPr lang="en-US" sz="1200" b="1" dirty="0"/>
        </a:p>
      </dgm:t>
    </dgm:pt>
    <dgm:pt modelId="{CC35C215-3DFA-458D-ACD2-A7E2295E38D1}" type="parTrans" cxnId="{680A5E60-A224-48A4-8EB0-495D6263754F}">
      <dgm:prSet/>
      <dgm:spPr/>
      <dgm:t>
        <a:bodyPr/>
        <a:lstStyle/>
        <a:p>
          <a:endParaRPr lang="fi-FI" b="1"/>
        </a:p>
      </dgm:t>
    </dgm:pt>
    <dgm:pt modelId="{3E1D43DB-A24F-4789-8310-5833460C1DC3}" type="sibTrans" cxnId="{680A5E60-A224-48A4-8EB0-495D6263754F}">
      <dgm:prSet/>
      <dgm:spPr/>
      <dgm:t>
        <a:bodyPr/>
        <a:lstStyle/>
        <a:p>
          <a:endParaRPr lang="fi-FI" b="1"/>
        </a:p>
      </dgm:t>
    </dgm:pt>
    <dgm:pt modelId="{12FD6174-646A-463A-9114-0994EFBC229E}">
      <dgm:prSet custT="1"/>
      <dgm:spPr/>
      <dgm:t>
        <a:bodyPr/>
        <a:lstStyle/>
        <a:p>
          <a:pPr rtl="0"/>
          <a:r>
            <a:rPr lang="fi-FI" sz="1200" b="1" dirty="0" smtClean="0"/>
            <a:t>Testauksen tulosten tarkastelu</a:t>
          </a:r>
          <a:endParaRPr lang="fi-FI" sz="1200" b="1" dirty="0"/>
        </a:p>
      </dgm:t>
    </dgm:pt>
    <dgm:pt modelId="{37AB2D4F-FFD7-41AF-A58F-461FD2D21578}" type="parTrans" cxnId="{39613A1B-5380-421A-8F52-F294AAA92A18}">
      <dgm:prSet/>
      <dgm:spPr/>
      <dgm:t>
        <a:bodyPr/>
        <a:lstStyle/>
        <a:p>
          <a:endParaRPr lang="fi-FI" b="1"/>
        </a:p>
      </dgm:t>
    </dgm:pt>
    <dgm:pt modelId="{0D6D0EC9-FE81-4813-BE89-6ACC56030E93}" type="sibTrans" cxnId="{39613A1B-5380-421A-8F52-F294AAA92A18}">
      <dgm:prSet/>
      <dgm:spPr/>
      <dgm:t>
        <a:bodyPr/>
        <a:lstStyle/>
        <a:p>
          <a:endParaRPr lang="fi-FI" b="1"/>
        </a:p>
      </dgm:t>
    </dgm:pt>
    <dgm:pt modelId="{62F9AA6A-EE2D-4449-9A7A-21464E227DE8}">
      <dgm:prSet custT="1"/>
      <dgm:spPr/>
      <dgm:t>
        <a:bodyPr/>
        <a:lstStyle/>
        <a:p>
          <a:pPr rtl="0"/>
          <a:r>
            <a:rPr lang="en-US" sz="1200" b="1" dirty="0" err="1" smtClean="0"/>
            <a:t>Tavoitteet</a:t>
          </a:r>
          <a:r>
            <a:rPr lang="en-US" sz="1200" b="1" dirty="0" smtClean="0"/>
            <a:t> </a:t>
          </a:r>
          <a:r>
            <a:rPr lang="en-US" sz="1200" b="1" dirty="0" err="1" smtClean="0"/>
            <a:t>ja</a:t>
          </a:r>
          <a:r>
            <a:rPr lang="en-US" sz="1200" b="1" dirty="0" smtClean="0"/>
            <a:t> </a:t>
          </a:r>
          <a:r>
            <a:rPr lang="en-US" sz="1200" b="1" dirty="0" err="1" smtClean="0"/>
            <a:t>kohdistus</a:t>
          </a:r>
          <a:endParaRPr lang="en-US" sz="1200" b="1" dirty="0"/>
        </a:p>
      </dgm:t>
    </dgm:pt>
    <dgm:pt modelId="{F4CB0C18-D4A5-4D63-8FB1-4162823644B2}" type="parTrans" cxnId="{E43EBC36-76B1-45B0-A002-BD93094C40B1}">
      <dgm:prSet/>
      <dgm:spPr/>
      <dgm:t>
        <a:bodyPr/>
        <a:lstStyle/>
        <a:p>
          <a:endParaRPr lang="en-GB" b="1"/>
        </a:p>
      </dgm:t>
    </dgm:pt>
    <dgm:pt modelId="{8EDA2AAF-220A-4163-AF57-A64D484712F9}" type="sibTrans" cxnId="{E43EBC36-76B1-45B0-A002-BD93094C40B1}">
      <dgm:prSet/>
      <dgm:spPr/>
      <dgm:t>
        <a:bodyPr/>
        <a:lstStyle/>
        <a:p>
          <a:endParaRPr lang="en-GB" b="1"/>
        </a:p>
      </dgm:t>
    </dgm:pt>
    <dgm:pt modelId="{D46F3AFC-5B99-4C6F-949C-2EA6D0263C35}">
      <dgm:prSet custT="1"/>
      <dgm:spPr/>
      <dgm:t>
        <a:bodyPr/>
        <a:lstStyle/>
        <a:p>
          <a:pPr rtl="0"/>
          <a:r>
            <a:rPr lang="en-US" sz="1200" b="1" dirty="0" err="1" smtClean="0"/>
            <a:t>Toimittajan</a:t>
          </a:r>
          <a:r>
            <a:rPr lang="en-US" sz="1200" b="1" dirty="0" smtClean="0"/>
            <a:t> </a:t>
          </a:r>
          <a:r>
            <a:rPr lang="en-US" sz="1200" b="1" dirty="0" err="1" smtClean="0"/>
            <a:t>testauksen</a:t>
          </a:r>
          <a:r>
            <a:rPr lang="en-US" sz="1200" b="1" dirty="0" smtClean="0"/>
            <a:t> </a:t>
          </a:r>
          <a:r>
            <a:rPr lang="en-US" sz="1200" b="1" dirty="0" err="1" smtClean="0"/>
            <a:t>arviointi</a:t>
          </a:r>
          <a:endParaRPr lang="en-US" sz="1200" b="1" dirty="0"/>
        </a:p>
      </dgm:t>
    </dgm:pt>
    <dgm:pt modelId="{27828D9E-AE80-4D58-9E66-31F5BB1FD0D8}" type="parTrans" cxnId="{9D054EB3-AEE9-4670-950D-F5043ADE3072}">
      <dgm:prSet/>
      <dgm:spPr/>
      <dgm:t>
        <a:bodyPr/>
        <a:lstStyle/>
        <a:p>
          <a:endParaRPr lang="en-GB" b="1"/>
        </a:p>
      </dgm:t>
    </dgm:pt>
    <dgm:pt modelId="{7F9D18F8-F2C0-46BB-847B-BCC1F7322BB7}" type="sibTrans" cxnId="{9D054EB3-AEE9-4670-950D-F5043ADE3072}">
      <dgm:prSet/>
      <dgm:spPr/>
      <dgm:t>
        <a:bodyPr/>
        <a:lstStyle/>
        <a:p>
          <a:endParaRPr lang="en-GB" b="1"/>
        </a:p>
      </dgm:t>
    </dgm:pt>
    <dgm:pt modelId="{B344DE3F-293A-4E1F-8E86-CA3EF4698BB8}" type="pres">
      <dgm:prSet presAssocID="{CCE6B798-7D0D-4918-A3AF-70DEBE7A8D4C}" presName="Name0" presStyleCnt="0">
        <dgm:presLayoutVars>
          <dgm:dir/>
          <dgm:animLvl val="lvl"/>
          <dgm:resizeHandles val="exact"/>
        </dgm:presLayoutVars>
      </dgm:prSet>
      <dgm:spPr/>
      <dgm:t>
        <a:bodyPr/>
        <a:lstStyle/>
        <a:p>
          <a:endParaRPr lang="fi-FI"/>
        </a:p>
      </dgm:t>
    </dgm:pt>
    <dgm:pt modelId="{54455895-D35D-4B28-AB4C-08A82F6B0422}" type="pres">
      <dgm:prSet presAssocID="{923E71A7-970F-46C5-B8CA-29A4671791AC}" presName="boxAndChildren" presStyleCnt="0"/>
      <dgm:spPr/>
    </dgm:pt>
    <dgm:pt modelId="{17E58CBB-59AE-4B65-9C13-37D82FB9BAAC}" type="pres">
      <dgm:prSet presAssocID="{923E71A7-970F-46C5-B8CA-29A4671791AC}" presName="parentTextBox" presStyleLbl="node1" presStyleIdx="0" presStyleCnt="4"/>
      <dgm:spPr/>
      <dgm:t>
        <a:bodyPr/>
        <a:lstStyle/>
        <a:p>
          <a:endParaRPr lang="fi-FI"/>
        </a:p>
      </dgm:t>
    </dgm:pt>
    <dgm:pt modelId="{7343157F-351C-4900-BA19-7CF857D57FAC}" type="pres">
      <dgm:prSet presAssocID="{923E71A7-970F-46C5-B8CA-29A4671791AC}" presName="entireBox" presStyleLbl="node1" presStyleIdx="0" presStyleCnt="4"/>
      <dgm:spPr/>
      <dgm:t>
        <a:bodyPr/>
        <a:lstStyle/>
        <a:p>
          <a:endParaRPr lang="fi-FI"/>
        </a:p>
      </dgm:t>
    </dgm:pt>
    <dgm:pt modelId="{864AAB70-D2D7-467C-96C0-D1F0A536A7DD}" type="pres">
      <dgm:prSet presAssocID="{923E71A7-970F-46C5-B8CA-29A4671791AC}" presName="descendantBox" presStyleCnt="0"/>
      <dgm:spPr/>
    </dgm:pt>
    <dgm:pt modelId="{BC5829FE-AE62-4C72-87F8-50A99B4046C8}" type="pres">
      <dgm:prSet presAssocID="{ACDD303F-74D7-46D9-ABCB-FA4D18EF078B}" presName="childTextBox" presStyleLbl="fgAccFollowNode1" presStyleIdx="0" presStyleCnt="13">
        <dgm:presLayoutVars>
          <dgm:bulletEnabled val="1"/>
        </dgm:presLayoutVars>
      </dgm:prSet>
      <dgm:spPr/>
      <dgm:t>
        <a:bodyPr/>
        <a:lstStyle/>
        <a:p>
          <a:endParaRPr lang="fi-FI"/>
        </a:p>
      </dgm:t>
    </dgm:pt>
    <dgm:pt modelId="{F670390C-ABEF-4A62-BA35-08167288C47D}" type="pres">
      <dgm:prSet presAssocID="{12FD6174-646A-463A-9114-0994EFBC229E}" presName="childTextBox" presStyleLbl="fgAccFollowNode1" presStyleIdx="1" presStyleCnt="13">
        <dgm:presLayoutVars>
          <dgm:bulletEnabled val="1"/>
        </dgm:presLayoutVars>
      </dgm:prSet>
      <dgm:spPr/>
      <dgm:t>
        <a:bodyPr/>
        <a:lstStyle/>
        <a:p>
          <a:endParaRPr lang="fi-FI"/>
        </a:p>
      </dgm:t>
    </dgm:pt>
    <dgm:pt modelId="{D5877B07-3C40-4A2E-BDDA-D02DC2500DEC}" type="pres">
      <dgm:prSet presAssocID="{FB1780AD-21CB-427F-A0C3-C71B57E20FCC}" presName="sp" presStyleCnt="0"/>
      <dgm:spPr/>
    </dgm:pt>
    <dgm:pt modelId="{98F96779-022D-4F0E-B4B1-DF772F430BC0}" type="pres">
      <dgm:prSet presAssocID="{32530AB1-8811-4990-8B9A-6804C2FC87E9}" presName="arrowAndChildren" presStyleCnt="0"/>
      <dgm:spPr/>
    </dgm:pt>
    <dgm:pt modelId="{CB715751-B5FE-4768-AF3A-1BB21D9CCFE8}" type="pres">
      <dgm:prSet presAssocID="{32530AB1-8811-4990-8B9A-6804C2FC87E9}" presName="parentTextArrow" presStyleLbl="node1" presStyleIdx="0" presStyleCnt="4"/>
      <dgm:spPr/>
      <dgm:t>
        <a:bodyPr/>
        <a:lstStyle/>
        <a:p>
          <a:endParaRPr lang="fi-FI"/>
        </a:p>
      </dgm:t>
    </dgm:pt>
    <dgm:pt modelId="{CD6073F2-E99A-4092-99F1-8C5A9366EC04}" type="pres">
      <dgm:prSet presAssocID="{32530AB1-8811-4990-8B9A-6804C2FC87E9}" presName="arrow" presStyleLbl="node1" presStyleIdx="1" presStyleCnt="4"/>
      <dgm:spPr/>
      <dgm:t>
        <a:bodyPr/>
        <a:lstStyle/>
        <a:p>
          <a:endParaRPr lang="fi-FI"/>
        </a:p>
      </dgm:t>
    </dgm:pt>
    <dgm:pt modelId="{686BC6E8-3DCB-4927-9DA4-EC85B92D93CE}" type="pres">
      <dgm:prSet presAssocID="{32530AB1-8811-4990-8B9A-6804C2FC87E9}" presName="descendantArrow" presStyleCnt="0"/>
      <dgm:spPr/>
    </dgm:pt>
    <dgm:pt modelId="{0088C5A1-A7B7-47CD-A509-2C9524D241F6}" type="pres">
      <dgm:prSet presAssocID="{1F09CBA5-34A4-40BC-82FA-76CA11B7BC1F}" presName="childTextArrow" presStyleLbl="fgAccFollowNode1" presStyleIdx="2" presStyleCnt="13">
        <dgm:presLayoutVars>
          <dgm:bulletEnabled val="1"/>
        </dgm:presLayoutVars>
      </dgm:prSet>
      <dgm:spPr/>
      <dgm:t>
        <a:bodyPr/>
        <a:lstStyle/>
        <a:p>
          <a:endParaRPr lang="fi-FI"/>
        </a:p>
      </dgm:t>
    </dgm:pt>
    <dgm:pt modelId="{659195B5-86D5-4BF9-B2C7-2DC5CFDC5BDB}" type="pres">
      <dgm:prSet presAssocID="{09ADB0EC-061C-482E-A68E-1CA217A4F1CA}" presName="childTextArrow" presStyleLbl="fgAccFollowNode1" presStyleIdx="3" presStyleCnt="13">
        <dgm:presLayoutVars>
          <dgm:bulletEnabled val="1"/>
        </dgm:presLayoutVars>
      </dgm:prSet>
      <dgm:spPr/>
      <dgm:t>
        <a:bodyPr/>
        <a:lstStyle/>
        <a:p>
          <a:endParaRPr lang="fi-FI"/>
        </a:p>
      </dgm:t>
    </dgm:pt>
    <dgm:pt modelId="{8C9AC0C0-3DB3-4DCD-811E-9CCA3508B7B1}" type="pres">
      <dgm:prSet presAssocID="{599DC419-EA42-4ABD-B834-99F5579E16A2}" presName="childTextArrow" presStyleLbl="fgAccFollowNode1" presStyleIdx="4" presStyleCnt="13">
        <dgm:presLayoutVars>
          <dgm:bulletEnabled val="1"/>
        </dgm:presLayoutVars>
      </dgm:prSet>
      <dgm:spPr/>
      <dgm:t>
        <a:bodyPr/>
        <a:lstStyle/>
        <a:p>
          <a:endParaRPr lang="fi-FI"/>
        </a:p>
      </dgm:t>
    </dgm:pt>
    <dgm:pt modelId="{23CF2D90-7784-4748-A1A9-55109E9FB1CA}" type="pres">
      <dgm:prSet presAssocID="{A4FFC771-ED83-4334-A9D8-C8DD11FD1220}" presName="sp" presStyleCnt="0"/>
      <dgm:spPr/>
    </dgm:pt>
    <dgm:pt modelId="{47F6839E-02B7-41C1-96E6-5ACD335E352C}" type="pres">
      <dgm:prSet presAssocID="{943071FD-EB02-4CFC-ACCE-F60AF54B38D5}" presName="arrowAndChildren" presStyleCnt="0"/>
      <dgm:spPr/>
    </dgm:pt>
    <dgm:pt modelId="{8323D22D-2434-4FC9-BBF1-CC05622EAC5F}" type="pres">
      <dgm:prSet presAssocID="{943071FD-EB02-4CFC-ACCE-F60AF54B38D5}" presName="parentTextArrow" presStyleLbl="node1" presStyleIdx="1" presStyleCnt="4"/>
      <dgm:spPr/>
      <dgm:t>
        <a:bodyPr/>
        <a:lstStyle/>
        <a:p>
          <a:endParaRPr lang="fi-FI"/>
        </a:p>
      </dgm:t>
    </dgm:pt>
    <dgm:pt modelId="{2169BE9E-E813-4240-BE92-BB460A01A0BB}" type="pres">
      <dgm:prSet presAssocID="{943071FD-EB02-4CFC-ACCE-F60AF54B38D5}" presName="arrow" presStyleLbl="node1" presStyleIdx="2" presStyleCnt="4"/>
      <dgm:spPr/>
      <dgm:t>
        <a:bodyPr/>
        <a:lstStyle/>
        <a:p>
          <a:endParaRPr lang="fi-FI"/>
        </a:p>
      </dgm:t>
    </dgm:pt>
    <dgm:pt modelId="{ADDEF9F7-6290-4E04-896E-206670BAC7DE}" type="pres">
      <dgm:prSet presAssocID="{943071FD-EB02-4CFC-ACCE-F60AF54B38D5}" presName="descendantArrow" presStyleCnt="0"/>
      <dgm:spPr/>
    </dgm:pt>
    <dgm:pt modelId="{1D863E9C-272F-4035-ADD3-E4A566F9BD24}" type="pres">
      <dgm:prSet presAssocID="{F87344E6-839A-4217-A7FA-1B574727E7CA}" presName="childTextArrow" presStyleLbl="fgAccFollowNode1" presStyleIdx="5" presStyleCnt="13">
        <dgm:presLayoutVars>
          <dgm:bulletEnabled val="1"/>
        </dgm:presLayoutVars>
      </dgm:prSet>
      <dgm:spPr/>
      <dgm:t>
        <a:bodyPr/>
        <a:lstStyle/>
        <a:p>
          <a:endParaRPr lang="fi-FI"/>
        </a:p>
      </dgm:t>
    </dgm:pt>
    <dgm:pt modelId="{6C120B5F-968D-492C-818D-5E486E0387D0}" type="pres">
      <dgm:prSet presAssocID="{A3CEBD14-6D74-4FD7-8314-172FC61FAB5E}" presName="childTextArrow" presStyleLbl="fgAccFollowNode1" presStyleIdx="6" presStyleCnt="13">
        <dgm:presLayoutVars>
          <dgm:bulletEnabled val="1"/>
        </dgm:presLayoutVars>
      </dgm:prSet>
      <dgm:spPr/>
      <dgm:t>
        <a:bodyPr/>
        <a:lstStyle/>
        <a:p>
          <a:endParaRPr lang="fi-FI"/>
        </a:p>
      </dgm:t>
    </dgm:pt>
    <dgm:pt modelId="{B09D8E9E-0919-4ECF-BD63-5DC71DA4AF13}" type="pres">
      <dgm:prSet presAssocID="{D46F3AFC-5B99-4C6F-949C-2EA6D0263C35}" presName="childTextArrow" presStyleLbl="fgAccFollowNode1" presStyleIdx="7" presStyleCnt="13">
        <dgm:presLayoutVars>
          <dgm:bulletEnabled val="1"/>
        </dgm:presLayoutVars>
      </dgm:prSet>
      <dgm:spPr/>
      <dgm:t>
        <a:bodyPr/>
        <a:lstStyle/>
        <a:p>
          <a:endParaRPr lang="fi-FI"/>
        </a:p>
      </dgm:t>
    </dgm:pt>
    <dgm:pt modelId="{33CBF614-09B1-43EA-B712-074CA787EF03}" type="pres">
      <dgm:prSet presAssocID="{FBBA59F7-C8F1-48F4-A128-45E4AD671C0E}" presName="sp" presStyleCnt="0"/>
      <dgm:spPr/>
    </dgm:pt>
    <dgm:pt modelId="{AFECD586-76BD-4A60-AD25-4B0243AFC68F}" type="pres">
      <dgm:prSet presAssocID="{92CF5B69-53BB-4F9D-B9E7-5402C4D1EDAD}" presName="arrowAndChildren" presStyleCnt="0"/>
      <dgm:spPr/>
    </dgm:pt>
    <dgm:pt modelId="{070B736C-B461-48DE-B8AC-EE6FCDC1286E}" type="pres">
      <dgm:prSet presAssocID="{92CF5B69-53BB-4F9D-B9E7-5402C4D1EDAD}" presName="parentTextArrow" presStyleLbl="node1" presStyleIdx="2" presStyleCnt="4"/>
      <dgm:spPr/>
      <dgm:t>
        <a:bodyPr/>
        <a:lstStyle/>
        <a:p>
          <a:endParaRPr lang="fi-FI"/>
        </a:p>
      </dgm:t>
    </dgm:pt>
    <dgm:pt modelId="{7AC4B2C5-7A18-4385-AD1C-207D66702FC1}" type="pres">
      <dgm:prSet presAssocID="{92CF5B69-53BB-4F9D-B9E7-5402C4D1EDAD}" presName="arrow" presStyleLbl="node1" presStyleIdx="3" presStyleCnt="4"/>
      <dgm:spPr/>
      <dgm:t>
        <a:bodyPr/>
        <a:lstStyle/>
        <a:p>
          <a:endParaRPr lang="fi-FI"/>
        </a:p>
      </dgm:t>
    </dgm:pt>
    <dgm:pt modelId="{B4086B61-340D-40D2-A03E-79B601C8A0B9}" type="pres">
      <dgm:prSet presAssocID="{92CF5B69-53BB-4F9D-B9E7-5402C4D1EDAD}" presName="descendantArrow" presStyleCnt="0"/>
      <dgm:spPr/>
    </dgm:pt>
    <dgm:pt modelId="{5D608F82-99F0-4C9B-BBD3-A97ED2E65B39}" type="pres">
      <dgm:prSet presAssocID="{62F9AA6A-EE2D-4449-9A7A-21464E227DE8}" presName="childTextArrow" presStyleLbl="fgAccFollowNode1" presStyleIdx="8" presStyleCnt="13">
        <dgm:presLayoutVars>
          <dgm:bulletEnabled val="1"/>
        </dgm:presLayoutVars>
      </dgm:prSet>
      <dgm:spPr/>
      <dgm:t>
        <a:bodyPr/>
        <a:lstStyle/>
        <a:p>
          <a:endParaRPr lang="fi-FI"/>
        </a:p>
      </dgm:t>
    </dgm:pt>
    <dgm:pt modelId="{3896DD9B-66DE-4B16-B0FA-E659A0C1F565}" type="pres">
      <dgm:prSet presAssocID="{1F80CCCE-D682-43BB-924A-1688BFA5838E}" presName="childTextArrow" presStyleLbl="fgAccFollowNode1" presStyleIdx="9" presStyleCnt="13">
        <dgm:presLayoutVars>
          <dgm:bulletEnabled val="1"/>
        </dgm:presLayoutVars>
      </dgm:prSet>
      <dgm:spPr/>
      <dgm:t>
        <a:bodyPr/>
        <a:lstStyle/>
        <a:p>
          <a:endParaRPr lang="fi-FI"/>
        </a:p>
      </dgm:t>
    </dgm:pt>
    <dgm:pt modelId="{64042271-5038-4C0C-832F-DADB9C4C8795}" type="pres">
      <dgm:prSet presAssocID="{BF90EE73-226C-4174-A4B8-97C8B5AB35DD}" presName="childTextArrow" presStyleLbl="fgAccFollowNode1" presStyleIdx="10" presStyleCnt="13">
        <dgm:presLayoutVars>
          <dgm:bulletEnabled val="1"/>
        </dgm:presLayoutVars>
      </dgm:prSet>
      <dgm:spPr/>
      <dgm:t>
        <a:bodyPr/>
        <a:lstStyle/>
        <a:p>
          <a:endParaRPr lang="fi-FI"/>
        </a:p>
      </dgm:t>
    </dgm:pt>
    <dgm:pt modelId="{B7C74EA3-F818-4415-892D-3423E4AA0A9C}" type="pres">
      <dgm:prSet presAssocID="{66509EDA-9D97-4D40-AF4E-8F970713BAF0}" presName="childTextArrow" presStyleLbl="fgAccFollowNode1" presStyleIdx="11" presStyleCnt="13">
        <dgm:presLayoutVars>
          <dgm:bulletEnabled val="1"/>
        </dgm:presLayoutVars>
      </dgm:prSet>
      <dgm:spPr/>
      <dgm:t>
        <a:bodyPr/>
        <a:lstStyle/>
        <a:p>
          <a:endParaRPr lang="fi-FI"/>
        </a:p>
      </dgm:t>
    </dgm:pt>
    <dgm:pt modelId="{E134A9A1-440B-4E79-9492-DD73C2676446}" type="pres">
      <dgm:prSet presAssocID="{247EEC64-4BDF-4038-9E90-A2DD4F8E8B5A}" presName="childTextArrow" presStyleLbl="fgAccFollowNode1" presStyleIdx="12" presStyleCnt="13">
        <dgm:presLayoutVars>
          <dgm:bulletEnabled val="1"/>
        </dgm:presLayoutVars>
      </dgm:prSet>
      <dgm:spPr/>
      <dgm:t>
        <a:bodyPr/>
        <a:lstStyle/>
        <a:p>
          <a:endParaRPr lang="fi-FI"/>
        </a:p>
      </dgm:t>
    </dgm:pt>
  </dgm:ptLst>
  <dgm:cxnLst>
    <dgm:cxn modelId="{CADE8707-30FE-414A-A36F-091922CB0C39}" type="presOf" srcId="{66509EDA-9D97-4D40-AF4E-8F970713BAF0}" destId="{B7C74EA3-F818-4415-892D-3423E4AA0A9C}" srcOrd="0" destOrd="0" presId="urn:microsoft.com/office/officeart/2005/8/layout/process4"/>
    <dgm:cxn modelId="{E6F2908B-8850-4961-B151-EAD0EAD93769}" srcId="{943071FD-EB02-4CFC-ACCE-F60AF54B38D5}" destId="{F87344E6-839A-4217-A7FA-1B574727E7CA}" srcOrd="0" destOrd="0" parTransId="{DBE5AC73-A700-4BAC-9DBC-07908BA2499B}" sibTransId="{A85F8322-B70F-4109-9742-44BCCFD1EE91}"/>
    <dgm:cxn modelId="{BD3FE5C0-0C75-41D3-8041-0BA5CB4917FF}" srcId="{CCE6B798-7D0D-4918-A3AF-70DEBE7A8D4C}" destId="{32530AB1-8811-4990-8B9A-6804C2FC87E9}" srcOrd="2" destOrd="0" parTransId="{9DFED0C2-D58F-4C39-A6AE-868FC8E5DC8B}" sibTransId="{FB1780AD-21CB-427F-A0C3-C71B57E20FCC}"/>
    <dgm:cxn modelId="{E2E21142-626E-44EA-872F-9F409B2679BD}" srcId="{92CF5B69-53BB-4F9D-B9E7-5402C4D1EDAD}" destId="{BF90EE73-226C-4174-A4B8-97C8B5AB35DD}" srcOrd="2" destOrd="0" parTransId="{25348945-0374-47CE-941A-9B03D7C1F80F}" sibTransId="{6B6AA6E2-8D90-4C5B-B86E-B22EC86D3BF1}"/>
    <dgm:cxn modelId="{2BB7172C-9CFC-4EA3-AC6C-367FEDD39BA2}" srcId="{943071FD-EB02-4CFC-ACCE-F60AF54B38D5}" destId="{A3CEBD14-6D74-4FD7-8314-172FC61FAB5E}" srcOrd="1" destOrd="0" parTransId="{0E84763B-7B7B-4AD1-998C-F8B3D7FD9555}" sibTransId="{04DD191B-31E9-49DA-9157-B14D349B002F}"/>
    <dgm:cxn modelId="{74B3F5EF-1B77-4EB9-AD60-EED781C95738}" type="presOf" srcId="{1F80CCCE-D682-43BB-924A-1688BFA5838E}" destId="{3896DD9B-66DE-4B16-B0FA-E659A0C1F565}" srcOrd="0" destOrd="0" presId="urn:microsoft.com/office/officeart/2005/8/layout/process4"/>
    <dgm:cxn modelId="{35EF64CB-5C11-4AEE-97BE-0CD75E3CF7DE}" type="presOf" srcId="{12FD6174-646A-463A-9114-0994EFBC229E}" destId="{F670390C-ABEF-4A62-BA35-08167288C47D}" srcOrd="0" destOrd="0" presId="urn:microsoft.com/office/officeart/2005/8/layout/process4"/>
    <dgm:cxn modelId="{86A432B2-C535-4F9D-BEC2-CE598FDBC944}" type="presOf" srcId="{62F9AA6A-EE2D-4449-9A7A-21464E227DE8}" destId="{5D608F82-99F0-4C9B-BBD3-A97ED2E65B39}" srcOrd="0" destOrd="0" presId="urn:microsoft.com/office/officeart/2005/8/layout/process4"/>
    <dgm:cxn modelId="{AD2539B3-4CE6-449E-844D-0B5C4E29D3B0}" srcId="{CCE6B798-7D0D-4918-A3AF-70DEBE7A8D4C}" destId="{923E71A7-970F-46C5-B8CA-29A4671791AC}" srcOrd="3" destOrd="0" parTransId="{A8D4EB8B-FD08-43FF-B3A7-388843AB1E56}" sibTransId="{41567073-9D01-4C1B-9521-37C600A14652}"/>
    <dgm:cxn modelId="{E43EBC36-76B1-45B0-A002-BD93094C40B1}" srcId="{92CF5B69-53BB-4F9D-B9E7-5402C4D1EDAD}" destId="{62F9AA6A-EE2D-4449-9A7A-21464E227DE8}" srcOrd="0" destOrd="0" parTransId="{F4CB0C18-D4A5-4D63-8FB1-4162823644B2}" sibTransId="{8EDA2AAF-220A-4163-AF57-A64D484712F9}"/>
    <dgm:cxn modelId="{79774969-C7B1-4E1C-8419-380C3DE01078}" srcId="{CCE6B798-7D0D-4918-A3AF-70DEBE7A8D4C}" destId="{943071FD-EB02-4CFC-ACCE-F60AF54B38D5}" srcOrd="1" destOrd="0" parTransId="{90D20866-D086-423F-BE43-8002055D6DEE}" sibTransId="{A4FFC771-ED83-4334-A9D8-C8DD11FD1220}"/>
    <dgm:cxn modelId="{2A4E0071-6E75-4E6E-8E0E-5800CB5FD27B}" srcId="{92CF5B69-53BB-4F9D-B9E7-5402C4D1EDAD}" destId="{1F80CCCE-D682-43BB-924A-1688BFA5838E}" srcOrd="1" destOrd="0" parTransId="{176B06F3-5F27-480D-BB19-A6A3020D0098}" sibTransId="{6BFE054E-742D-47C9-A4E3-4C401F308FA0}"/>
    <dgm:cxn modelId="{75F4BB10-4C2A-4986-BD78-4C7075F01195}" type="presOf" srcId="{943071FD-EB02-4CFC-ACCE-F60AF54B38D5}" destId="{8323D22D-2434-4FC9-BBF1-CC05622EAC5F}" srcOrd="0" destOrd="0" presId="urn:microsoft.com/office/officeart/2005/8/layout/process4"/>
    <dgm:cxn modelId="{9D054EB3-AEE9-4670-950D-F5043ADE3072}" srcId="{943071FD-EB02-4CFC-ACCE-F60AF54B38D5}" destId="{D46F3AFC-5B99-4C6F-949C-2EA6D0263C35}" srcOrd="2" destOrd="0" parTransId="{27828D9E-AE80-4D58-9E66-31F5BB1FD0D8}" sibTransId="{7F9D18F8-F2C0-46BB-847B-BCC1F7322BB7}"/>
    <dgm:cxn modelId="{3DDC8AE2-9211-49D9-A858-588021F4CD43}" type="presOf" srcId="{923E71A7-970F-46C5-B8CA-29A4671791AC}" destId="{7343157F-351C-4900-BA19-7CF857D57FAC}" srcOrd="1" destOrd="0" presId="urn:microsoft.com/office/officeart/2005/8/layout/process4"/>
    <dgm:cxn modelId="{C455BDEB-0015-464F-8403-C1044B203FA9}" type="presOf" srcId="{32530AB1-8811-4990-8B9A-6804C2FC87E9}" destId="{CD6073F2-E99A-4092-99F1-8C5A9366EC04}" srcOrd="1" destOrd="0" presId="urn:microsoft.com/office/officeart/2005/8/layout/process4"/>
    <dgm:cxn modelId="{4ECEA9BF-12D0-48E9-90E9-046C9863EA36}" type="presOf" srcId="{1F09CBA5-34A4-40BC-82FA-76CA11B7BC1F}" destId="{0088C5A1-A7B7-47CD-A509-2C9524D241F6}" srcOrd="0" destOrd="0" presId="urn:microsoft.com/office/officeart/2005/8/layout/process4"/>
    <dgm:cxn modelId="{C263B23D-5780-4B15-BD40-04D528EFC7F0}" type="presOf" srcId="{599DC419-EA42-4ABD-B834-99F5579E16A2}" destId="{8C9AC0C0-3DB3-4DCD-811E-9CCA3508B7B1}" srcOrd="0" destOrd="0" presId="urn:microsoft.com/office/officeart/2005/8/layout/process4"/>
    <dgm:cxn modelId="{61D2C5E1-109A-4BA6-B140-A6B21E9A583C}" srcId="{32530AB1-8811-4990-8B9A-6804C2FC87E9}" destId="{09ADB0EC-061C-482E-A68E-1CA217A4F1CA}" srcOrd="1" destOrd="0" parTransId="{5AFC677B-F457-4E56-9444-9DB42F8A4F18}" sibTransId="{9FB5C93E-AAF2-40AA-A813-888AE5B754A1}"/>
    <dgm:cxn modelId="{680A5E60-A224-48A4-8EB0-495D6263754F}" srcId="{923E71A7-970F-46C5-B8CA-29A4671791AC}" destId="{ACDD303F-74D7-46D9-ABCB-FA4D18EF078B}" srcOrd="0" destOrd="0" parTransId="{CC35C215-3DFA-458D-ACD2-A7E2295E38D1}" sibTransId="{3E1D43DB-A24F-4789-8310-5833460C1DC3}"/>
    <dgm:cxn modelId="{4C235192-F380-4A56-8CAF-589CD82DA57E}" srcId="{92CF5B69-53BB-4F9D-B9E7-5402C4D1EDAD}" destId="{66509EDA-9D97-4D40-AF4E-8F970713BAF0}" srcOrd="3" destOrd="0" parTransId="{F10CDEFF-597D-4EFE-AE67-095ADC21AF1F}" sibTransId="{FF2795F5-7A84-472E-BFE6-7706F7568249}"/>
    <dgm:cxn modelId="{D187CAAA-5485-420F-A0FD-E543154B7197}" type="presOf" srcId="{F87344E6-839A-4217-A7FA-1B574727E7CA}" destId="{1D863E9C-272F-4035-ADD3-E4A566F9BD24}" srcOrd="0" destOrd="0" presId="urn:microsoft.com/office/officeart/2005/8/layout/process4"/>
    <dgm:cxn modelId="{E68066B0-73E4-4081-B369-B9DD9361ECAA}" type="presOf" srcId="{32530AB1-8811-4990-8B9A-6804C2FC87E9}" destId="{CB715751-B5FE-4768-AF3A-1BB21D9CCFE8}" srcOrd="0" destOrd="0" presId="urn:microsoft.com/office/officeart/2005/8/layout/process4"/>
    <dgm:cxn modelId="{433941BC-DB29-43CE-850E-FA6B8C82C746}" srcId="{92CF5B69-53BB-4F9D-B9E7-5402C4D1EDAD}" destId="{247EEC64-4BDF-4038-9E90-A2DD4F8E8B5A}" srcOrd="4" destOrd="0" parTransId="{6483C0C3-0629-4884-AFB9-9730446EB69A}" sibTransId="{FC51FB42-0A35-4115-AB43-4DE612163C98}"/>
    <dgm:cxn modelId="{FEE18322-7606-4EDD-A310-DA06F4DEE930}" type="presOf" srcId="{923E71A7-970F-46C5-B8CA-29A4671791AC}" destId="{17E58CBB-59AE-4B65-9C13-37D82FB9BAAC}" srcOrd="0" destOrd="0" presId="urn:microsoft.com/office/officeart/2005/8/layout/process4"/>
    <dgm:cxn modelId="{39613A1B-5380-421A-8F52-F294AAA92A18}" srcId="{923E71A7-970F-46C5-B8CA-29A4671791AC}" destId="{12FD6174-646A-463A-9114-0994EFBC229E}" srcOrd="1" destOrd="0" parTransId="{37AB2D4F-FFD7-41AF-A58F-461FD2D21578}" sibTransId="{0D6D0EC9-FE81-4813-BE89-6ACC56030E93}"/>
    <dgm:cxn modelId="{0E91FDDD-34F9-4777-99D0-40AC25410509}" type="presOf" srcId="{BF90EE73-226C-4174-A4B8-97C8B5AB35DD}" destId="{64042271-5038-4C0C-832F-DADB9C4C8795}" srcOrd="0" destOrd="0" presId="urn:microsoft.com/office/officeart/2005/8/layout/process4"/>
    <dgm:cxn modelId="{7E105A4E-A50F-4B20-9043-F118B22DE432}" type="presOf" srcId="{247EEC64-4BDF-4038-9E90-A2DD4F8E8B5A}" destId="{E134A9A1-440B-4E79-9492-DD73C2676446}" srcOrd="0" destOrd="0" presId="urn:microsoft.com/office/officeart/2005/8/layout/process4"/>
    <dgm:cxn modelId="{50CACFFA-B984-4187-894B-8F8890533B01}" type="presOf" srcId="{09ADB0EC-061C-482E-A68E-1CA217A4F1CA}" destId="{659195B5-86D5-4BF9-B2C7-2DC5CFDC5BDB}" srcOrd="0" destOrd="0" presId="urn:microsoft.com/office/officeart/2005/8/layout/process4"/>
    <dgm:cxn modelId="{090B4E00-83FE-49C3-9DC3-30B38A10B38B}" srcId="{32530AB1-8811-4990-8B9A-6804C2FC87E9}" destId="{599DC419-EA42-4ABD-B834-99F5579E16A2}" srcOrd="2" destOrd="0" parTransId="{6C46D2FA-5455-444D-9AB3-FD8B7A8C1FF7}" sibTransId="{0CFB7CD8-98DF-4719-AD65-FFDB9B0E203F}"/>
    <dgm:cxn modelId="{0CC9C9E9-B359-400F-BB79-2B81FB8A3AE4}" type="presOf" srcId="{ACDD303F-74D7-46D9-ABCB-FA4D18EF078B}" destId="{BC5829FE-AE62-4C72-87F8-50A99B4046C8}" srcOrd="0" destOrd="0" presId="urn:microsoft.com/office/officeart/2005/8/layout/process4"/>
    <dgm:cxn modelId="{4B30AE83-B4C7-412C-AF6F-5AE004D10371}" type="presOf" srcId="{A3CEBD14-6D74-4FD7-8314-172FC61FAB5E}" destId="{6C120B5F-968D-492C-818D-5E486E0387D0}" srcOrd="0" destOrd="0" presId="urn:microsoft.com/office/officeart/2005/8/layout/process4"/>
    <dgm:cxn modelId="{D01B637F-B5A3-4397-BD67-1D51179EE41B}" type="presOf" srcId="{943071FD-EB02-4CFC-ACCE-F60AF54B38D5}" destId="{2169BE9E-E813-4240-BE92-BB460A01A0BB}" srcOrd="1" destOrd="0" presId="urn:microsoft.com/office/officeart/2005/8/layout/process4"/>
    <dgm:cxn modelId="{A9D50EEE-5C13-42C2-B689-AACB2E2A6BCA}" type="presOf" srcId="{92CF5B69-53BB-4F9D-B9E7-5402C4D1EDAD}" destId="{7AC4B2C5-7A18-4385-AD1C-207D66702FC1}" srcOrd="1" destOrd="0" presId="urn:microsoft.com/office/officeart/2005/8/layout/process4"/>
    <dgm:cxn modelId="{74879E35-60A7-466A-BB08-F23AA9E6F386}" type="presOf" srcId="{CCE6B798-7D0D-4918-A3AF-70DEBE7A8D4C}" destId="{B344DE3F-293A-4E1F-8E86-CA3EF4698BB8}" srcOrd="0" destOrd="0" presId="urn:microsoft.com/office/officeart/2005/8/layout/process4"/>
    <dgm:cxn modelId="{1292EAB7-77A8-4F75-BCF9-E6209EF99B54}" srcId="{CCE6B798-7D0D-4918-A3AF-70DEBE7A8D4C}" destId="{92CF5B69-53BB-4F9D-B9E7-5402C4D1EDAD}" srcOrd="0" destOrd="0" parTransId="{B00339EF-D390-4466-8675-C938E865D2CE}" sibTransId="{FBBA59F7-C8F1-48F4-A128-45E4AD671C0E}"/>
    <dgm:cxn modelId="{7CD22CB1-B209-4B84-B09A-87B39650B18D}" type="presOf" srcId="{92CF5B69-53BB-4F9D-B9E7-5402C4D1EDAD}" destId="{070B736C-B461-48DE-B8AC-EE6FCDC1286E}" srcOrd="0" destOrd="0" presId="urn:microsoft.com/office/officeart/2005/8/layout/process4"/>
    <dgm:cxn modelId="{75433D26-AAB4-458F-A7D4-E5EF237B522A}" srcId="{32530AB1-8811-4990-8B9A-6804C2FC87E9}" destId="{1F09CBA5-34A4-40BC-82FA-76CA11B7BC1F}" srcOrd="0" destOrd="0" parTransId="{058C5E29-D353-4C90-A546-1A9CB1336F08}" sibTransId="{B4370192-CA17-4CAD-BAE5-AB910E2552F3}"/>
    <dgm:cxn modelId="{99DB97FD-6F1E-4A70-86C5-C3410885A373}" type="presOf" srcId="{D46F3AFC-5B99-4C6F-949C-2EA6D0263C35}" destId="{B09D8E9E-0919-4ECF-BD63-5DC71DA4AF13}" srcOrd="0" destOrd="0" presId="urn:microsoft.com/office/officeart/2005/8/layout/process4"/>
    <dgm:cxn modelId="{91690544-9D2B-4B4F-968C-C926DB9454DA}" type="presParOf" srcId="{B344DE3F-293A-4E1F-8E86-CA3EF4698BB8}" destId="{54455895-D35D-4B28-AB4C-08A82F6B0422}" srcOrd="0" destOrd="0" presId="urn:microsoft.com/office/officeart/2005/8/layout/process4"/>
    <dgm:cxn modelId="{63A42C6E-901C-4531-9AA1-BAC2BDE70679}" type="presParOf" srcId="{54455895-D35D-4B28-AB4C-08A82F6B0422}" destId="{17E58CBB-59AE-4B65-9C13-37D82FB9BAAC}" srcOrd="0" destOrd="0" presId="urn:microsoft.com/office/officeart/2005/8/layout/process4"/>
    <dgm:cxn modelId="{B3E5AEF3-B88C-4ABE-875D-B7A78C563FEF}" type="presParOf" srcId="{54455895-D35D-4B28-AB4C-08A82F6B0422}" destId="{7343157F-351C-4900-BA19-7CF857D57FAC}" srcOrd="1" destOrd="0" presId="urn:microsoft.com/office/officeart/2005/8/layout/process4"/>
    <dgm:cxn modelId="{3DD40123-3283-47FB-88E7-C78F474B73CC}" type="presParOf" srcId="{54455895-D35D-4B28-AB4C-08A82F6B0422}" destId="{864AAB70-D2D7-467C-96C0-D1F0A536A7DD}" srcOrd="2" destOrd="0" presId="urn:microsoft.com/office/officeart/2005/8/layout/process4"/>
    <dgm:cxn modelId="{398B8FEF-BE2B-4DDC-BB9D-F41E403D43A9}" type="presParOf" srcId="{864AAB70-D2D7-467C-96C0-D1F0A536A7DD}" destId="{BC5829FE-AE62-4C72-87F8-50A99B4046C8}" srcOrd="0" destOrd="0" presId="urn:microsoft.com/office/officeart/2005/8/layout/process4"/>
    <dgm:cxn modelId="{222906A4-51AE-482F-BCC6-1999DCB10054}" type="presParOf" srcId="{864AAB70-D2D7-467C-96C0-D1F0A536A7DD}" destId="{F670390C-ABEF-4A62-BA35-08167288C47D}" srcOrd="1" destOrd="0" presId="urn:microsoft.com/office/officeart/2005/8/layout/process4"/>
    <dgm:cxn modelId="{0BE3C1D7-76BC-44D4-82FA-A2C77B43C0A1}" type="presParOf" srcId="{B344DE3F-293A-4E1F-8E86-CA3EF4698BB8}" destId="{D5877B07-3C40-4A2E-BDDA-D02DC2500DEC}" srcOrd="1" destOrd="0" presId="urn:microsoft.com/office/officeart/2005/8/layout/process4"/>
    <dgm:cxn modelId="{A80EA5A7-F540-4AB7-A9B9-F1DFEBA2984D}" type="presParOf" srcId="{B344DE3F-293A-4E1F-8E86-CA3EF4698BB8}" destId="{98F96779-022D-4F0E-B4B1-DF772F430BC0}" srcOrd="2" destOrd="0" presId="urn:microsoft.com/office/officeart/2005/8/layout/process4"/>
    <dgm:cxn modelId="{31D7A73A-624C-453D-956F-43B9EA4BA953}" type="presParOf" srcId="{98F96779-022D-4F0E-B4B1-DF772F430BC0}" destId="{CB715751-B5FE-4768-AF3A-1BB21D9CCFE8}" srcOrd="0" destOrd="0" presId="urn:microsoft.com/office/officeart/2005/8/layout/process4"/>
    <dgm:cxn modelId="{209DD737-74BC-46C8-ACA0-4B5CBB60EE9C}" type="presParOf" srcId="{98F96779-022D-4F0E-B4B1-DF772F430BC0}" destId="{CD6073F2-E99A-4092-99F1-8C5A9366EC04}" srcOrd="1" destOrd="0" presId="urn:microsoft.com/office/officeart/2005/8/layout/process4"/>
    <dgm:cxn modelId="{7BEDB7E6-B76A-49BA-82B9-9619CAECB909}" type="presParOf" srcId="{98F96779-022D-4F0E-B4B1-DF772F430BC0}" destId="{686BC6E8-3DCB-4927-9DA4-EC85B92D93CE}" srcOrd="2" destOrd="0" presId="urn:microsoft.com/office/officeart/2005/8/layout/process4"/>
    <dgm:cxn modelId="{9CF7E1A0-60EC-423B-B098-2A50D520B032}" type="presParOf" srcId="{686BC6E8-3DCB-4927-9DA4-EC85B92D93CE}" destId="{0088C5A1-A7B7-47CD-A509-2C9524D241F6}" srcOrd="0" destOrd="0" presId="urn:microsoft.com/office/officeart/2005/8/layout/process4"/>
    <dgm:cxn modelId="{9417BA9D-21E0-424E-911A-D044BB9402A4}" type="presParOf" srcId="{686BC6E8-3DCB-4927-9DA4-EC85B92D93CE}" destId="{659195B5-86D5-4BF9-B2C7-2DC5CFDC5BDB}" srcOrd="1" destOrd="0" presId="urn:microsoft.com/office/officeart/2005/8/layout/process4"/>
    <dgm:cxn modelId="{1D27D599-345D-402F-9258-261745BF05CC}" type="presParOf" srcId="{686BC6E8-3DCB-4927-9DA4-EC85B92D93CE}" destId="{8C9AC0C0-3DB3-4DCD-811E-9CCA3508B7B1}" srcOrd="2" destOrd="0" presId="urn:microsoft.com/office/officeart/2005/8/layout/process4"/>
    <dgm:cxn modelId="{1824717E-69F0-4486-AB78-F20CC527E746}" type="presParOf" srcId="{B344DE3F-293A-4E1F-8E86-CA3EF4698BB8}" destId="{23CF2D90-7784-4748-A1A9-55109E9FB1CA}" srcOrd="3" destOrd="0" presId="urn:microsoft.com/office/officeart/2005/8/layout/process4"/>
    <dgm:cxn modelId="{B6B9EDD4-DFF9-46B2-B546-C465ECE4E621}" type="presParOf" srcId="{B344DE3F-293A-4E1F-8E86-CA3EF4698BB8}" destId="{47F6839E-02B7-41C1-96E6-5ACD335E352C}" srcOrd="4" destOrd="0" presId="urn:microsoft.com/office/officeart/2005/8/layout/process4"/>
    <dgm:cxn modelId="{8B598F3E-6167-4243-96C4-43BCE80A2FC2}" type="presParOf" srcId="{47F6839E-02B7-41C1-96E6-5ACD335E352C}" destId="{8323D22D-2434-4FC9-BBF1-CC05622EAC5F}" srcOrd="0" destOrd="0" presId="urn:microsoft.com/office/officeart/2005/8/layout/process4"/>
    <dgm:cxn modelId="{D07601A5-5D8A-4168-A854-4E83B6074D7D}" type="presParOf" srcId="{47F6839E-02B7-41C1-96E6-5ACD335E352C}" destId="{2169BE9E-E813-4240-BE92-BB460A01A0BB}" srcOrd="1" destOrd="0" presId="urn:microsoft.com/office/officeart/2005/8/layout/process4"/>
    <dgm:cxn modelId="{DA01B845-3FDC-402A-8F3A-3387A82A8771}" type="presParOf" srcId="{47F6839E-02B7-41C1-96E6-5ACD335E352C}" destId="{ADDEF9F7-6290-4E04-896E-206670BAC7DE}" srcOrd="2" destOrd="0" presId="urn:microsoft.com/office/officeart/2005/8/layout/process4"/>
    <dgm:cxn modelId="{F54E1921-0A8B-4BF3-8B9D-C92F2D558D3A}" type="presParOf" srcId="{ADDEF9F7-6290-4E04-896E-206670BAC7DE}" destId="{1D863E9C-272F-4035-ADD3-E4A566F9BD24}" srcOrd="0" destOrd="0" presId="urn:microsoft.com/office/officeart/2005/8/layout/process4"/>
    <dgm:cxn modelId="{51CC39E3-3686-4683-82C1-5B3096968FF5}" type="presParOf" srcId="{ADDEF9F7-6290-4E04-896E-206670BAC7DE}" destId="{6C120B5F-968D-492C-818D-5E486E0387D0}" srcOrd="1" destOrd="0" presId="urn:microsoft.com/office/officeart/2005/8/layout/process4"/>
    <dgm:cxn modelId="{4F5C52B5-30EA-4193-A78B-4A581F2E5EDC}" type="presParOf" srcId="{ADDEF9F7-6290-4E04-896E-206670BAC7DE}" destId="{B09D8E9E-0919-4ECF-BD63-5DC71DA4AF13}" srcOrd="2" destOrd="0" presId="urn:microsoft.com/office/officeart/2005/8/layout/process4"/>
    <dgm:cxn modelId="{52403748-47E0-46E5-949E-11B179E65E77}" type="presParOf" srcId="{B344DE3F-293A-4E1F-8E86-CA3EF4698BB8}" destId="{33CBF614-09B1-43EA-B712-074CA787EF03}" srcOrd="5" destOrd="0" presId="urn:microsoft.com/office/officeart/2005/8/layout/process4"/>
    <dgm:cxn modelId="{EC511697-D60F-4899-99DF-41BF9E3F5A33}" type="presParOf" srcId="{B344DE3F-293A-4E1F-8E86-CA3EF4698BB8}" destId="{AFECD586-76BD-4A60-AD25-4B0243AFC68F}" srcOrd="6" destOrd="0" presId="urn:microsoft.com/office/officeart/2005/8/layout/process4"/>
    <dgm:cxn modelId="{A881AA7C-7E7B-42DC-9119-02D21F383299}" type="presParOf" srcId="{AFECD586-76BD-4A60-AD25-4B0243AFC68F}" destId="{070B736C-B461-48DE-B8AC-EE6FCDC1286E}" srcOrd="0" destOrd="0" presId="urn:microsoft.com/office/officeart/2005/8/layout/process4"/>
    <dgm:cxn modelId="{404C7942-840D-49B8-A927-9A6B31399033}" type="presParOf" srcId="{AFECD586-76BD-4A60-AD25-4B0243AFC68F}" destId="{7AC4B2C5-7A18-4385-AD1C-207D66702FC1}" srcOrd="1" destOrd="0" presId="urn:microsoft.com/office/officeart/2005/8/layout/process4"/>
    <dgm:cxn modelId="{3F6A780F-9E80-4C9B-AA92-56D06CE5AD9E}" type="presParOf" srcId="{AFECD586-76BD-4A60-AD25-4B0243AFC68F}" destId="{B4086B61-340D-40D2-A03E-79B601C8A0B9}" srcOrd="2" destOrd="0" presId="urn:microsoft.com/office/officeart/2005/8/layout/process4"/>
    <dgm:cxn modelId="{7CE4FF81-124A-4CC2-8FA5-E77274114C4F}" type="presParOf" srcId="{B4086B61-340D-40D2-A03E-79B601C8A0B9}" destId="{5D608F82-99F0-4C9B-BBD3-A97ED2E65B39}" srcOrd="0" destOrd="0" presId="urn:microsoft.com/office/officeart/2005/8/layout/process4"/>
    <dgm:cxn modelId="{B5F3DC84-EFF6-4233-811E-372E5C5130A1}" type="presParOf" srcId="{B4086B61-340D-40D2-A03E-79B601C8A0B9}" destId="{3896DD9B-66DE-4B16-B0FA-E659A0C1F565}" srcOrd="1" destOrd="0" presId="urn:microsoft.com/office/officeart/2005/8/layout/process4"/>
    <dgm:cxn modelId="{549970DC-9D69-4260-9777-610FFF9C7F00}" type="presParOf" srcId="{B4086B61-340D-40D2-A03E-79B601C8A0B9}" destId="{64042271-5038-4C0C-832F-DADB9C4C8795}" srcOrd="2" destOrd="0" presId="urn:microsoft.com/office/officeart/2005/8/layout/process4"/>
    <dgm:cxn modelId="{10EC5C92-4E49-48C5-8F51-DCED80FF6772}" type="presParOf" srcId="{B4086B61-340D-40D2-A03E-79B601C8A0B9}" destId="{B7C74EA3-F818-4415-892D-3423E4AA0A9C}" srcOrd="3" destOrd="0" presId="urn:microsoft.com/office/officeart/2005/8/layout/process4"/>
    <dgm:cxn modelId="{8F86C967-40F7-4B30-BCCF-95D65066D89D}" type="presParOf" srcId="{B4086B61-340D-40D2-A03E-79B601C8A0B9}" destId="{E134A9A1-440B-4E79-9492-DD73C2676446}" srcOrd="4"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5C8C534-B55B-41EF-88DB-ED9C24EBB7FC}" type="doc">
      <dgm:prSet loTypeId="urn:microsoft.com/office/officeart/2005/8/layout/hList1" loCatId="list" qsTypeId="urn:microsoft.com/office/officeart/2005/8/quickstyle/simple1" qsCatId="simple" csTypeId="urn:microsoft.com/office/officeart/2005/8/colors/colorful1#9" csCatId="colorful" phldr="1"/>
      <dgm:spPr/>
      <dgm:t>
        <a:bodyPr/>
        <a:lstStyle/>
        <a:p>
          <a:endParaRPr lang="fi-FI"/>
        </a:p>
      </dgm:t>
    </dgm:pt>
    <dgm:pt modelId="{876F12A8-3CBF-4C23-9511-B3BE912EE8A9}">
      <dgm:prSet custT="1"/>
      <dgm:spPr/>
      <dgm:t>
        <a:bodyPr/>
        <a:lstStyle/>
        <a:p>
          <a:pPr rtl="0"/>
          <a:r>
            <a:rPr lang="fi-FI" sz="1100" b="1" dirty="0" smtClean="0"/>
            <a:t>Hyväksymistestauksen rooli ja merkitys</a:t>
          </a:r>
          <a:endParaRPr lang="fi-FI" sz="1100" b="1" dirty="0"/>
        </a:p>
      </dgm:t>
    </dgm:pt>
    <dgm:pt modelId="{1BEBABA3-2449-4976-9CA0-CD33A6A3B3B9}" type="parTrans" cxnId="{D1E18ACA-E2AC-419B-B0C8-489177C231F1}">
      <dgm:prSet/>
      <dgm:spPr/>
      <dgm:t>
        <a:bodyPr/>
        <a:lstStyle/>
        <a:p>
          <a:endParaRPr lang="fi-FI" sz="2000"/>
        </a:p>
      </dgm:t>
    </dgm:pt>
    <dgm:pt modelId="{9D64F3A3-F0ED-495F-BD66-97CC72F1F1F0}" type="sibTrans" cxnId="{D1E18ACA-E2AC-419B-B0C8-489177C231F1}">
      <dgm:prSet/>
      <dgm:spPr/>
      <dgm:t>
        <a:bodyPr/>
        <a:lstStyle/>
        <a:p>
          <a:endParaRPr lang="fi-FI" sz="2000"/>
        </a:p>
      </dgm:t>
    </dgm:pt>
    <dgm:pt modelId="{77261A98-EA16-48DE-BDEC-862B033DFA44}">
      <dgm:prSet custT="1"/>
      <dgm:spPr/>
      <dgm:t>
        <a:bodyPr/>
        <a:lstStyle/>
        <a:p>
          <a:pPr rtl="0"/>
          <a:r>
            <a:rPr lang="fi-FI" sz="1050" dirty="0" smtClean="0"/>
            <a:t>Testaus järjestelmän tilaajalle ja omistajalle</a:t>
          </a:r>
          <a:endParaRPr lang="fi-FI" sz="1050" dirty="0"/>
        </a:p>
      </dgm:t>
    </dgm:pt>
    <dgm:pt modelId="{4AE48503-4481-4041-AD0D-FB09D10A177D}" type="parTrans" cxnId="{6477DD6F-8191-4390-B4DF-FA9A84E61F4F}">
      <dgm:prSet/>
      <dgm:spPr/>
      <dgm:t>
        <a:bodyPr/>
        <a:lstStyle/>
        <a:p>
          <a:endParaRPr lang="fi-FI" sz="2000"/>
        </a:p>
      </dgm:t>
    </dgm:pt>
    <dgm:pt modelId="{F5E35242-EFA8-4231-BC41-3E8B48AEE665}" type="sibTrans" cxnId="{6477DD6F-8191-4390-B4DF-FA9A84E61F4F}">
      <dgm:prSet/>
      <dgm:spPr/>
      <dgm:t>
        <a:bodyPr/>
        <a:lstStyle/>
        <a:p>
          <a:endParaRPr lang="fi-FI" sz="2000"/>
        </a:p>
      </dgm:t>
    </dgm:pt>
    <dgm:pt modelId="{C47477C1-EBA0-4A69-9865-EEB1CC3C0A49}">
      <dgm:prSet custT="1"/>
      <dgm:spPr/>
      <dgm:t>
        <a:bodyPr/>
        <a:lstStyle/>
        <a:p>
          <a:pPr rtl="0"/>
          <a:r>
            <a:rPr lang="fi-FI" sz="1050" dirty="0" smtClean="0"/>
            <a:t>Monitoimittajaympäristön erityispiirteet hyväksymistestaukselle</a:t>
          </a:r>
          <a:endParaRPr lang="fi-FI" sz="1050" dirty="0"/>
        </a:p>
      </dgm:t>
    </dgm:pt>
    <dgm:pt modelId="{2DAF60AF-9674-4AD9-9AC9-067991921028}" type="parTrans" cxnId="{59B3EA95-794A-41E4-AD77-16978C50CA9E}">
      <dgm:prSet/>
      <dgm:spPr/>
      <dgm:t>
        <a:bodyPr/>
        <a:lstStyle/>
        <a:p>
          <a:endParaRPr lang="fi-FI" sz="2000"/>
        </a:p>
      </dgm:t>
    </dgm:pt>
    <dgm:pt modelId="{3208B049-162D-4726-BC74-C2FDF40ED359}" type="sibTrans" cxnId="{59B3EA95-794A-41E4-AD77-16978C50CA9E}">
      <dgm:prSet/>
      <dgm:spPr/>
      <dgm:t>
        <a:bodyPr/>
        <a:lstStyle/>
        <a:p>
          <a:endParaRPr lang="fi-FI" sz="2000"/>
        </a:p>
      </dgm:t>
    </dgm:pt>
    <dgm:pt modelId="{C896329D-659F-41D8-8428-23F35A3F2A7F}">
      <dgm:prSet custT="1"/>
      <dgm:spPr/>
      <dgm:t>
        <a:bodyPr/>
        <a:lstStyle/>
        <a:p>
          <a:pPr rtl="0"/>
          <a:r>
            <a:rPr lang="fi-FI" sz="1050" dirty="0" smtClean="0"/>
            <a:t>Laatutiedon rakentaminen palasille ja kokonaisuudelle</a:t>
          </a:r>
          <a:endParaRPr lang="fi-FI" sz="1050" dirty="0"/>
        </a:p>
      </dgm:t>
    </dgm:pt>
    <dgm:pt modelId="{1095EFC7-C63D-462E-9409-7653C01AAA33}" type="parTrans" cxnId="{A960D218-BB75-455A-95BF-012050E1AFB9}">
      <dgm:prSet/>
      <dgm:spPr/>
      <dgm:t>
        <a:bodyPr/>
        <a:lstStyle/>
        <a:p>
          <a:endParaRPr lang="fi-FI" sz="2000"/>
        </a:p>
      </dgm:t>
    </dgm:pt>
    <dgm:pt modelId="{B35503A3-5959-4612-89F8-373578912E93}" type="sibTrans" cxnId="{A960D218-BB75-455A-95BF-012050E1AFB9}">
      <dgm:prSet/>
      <dgm:spPr/>
      <dgm:t>
        <a:bodyPr/>
        <a:lstStyle/>
        <a:p>
          <a:endParaRPr lang="fi-FI" sz="2000"/>
        </a:p>
      </dgm:t>
    </dgm:pt>
    <dgm:pt modelId="{1D93A904-DA31-4610-8126-8F418CD7E1E6}">
      <dgm:prSet custT="1"/>
      <dgm:spPr/>
      <dgm:t>
        <a:bodyPr/>
        <a:lstStyle/>
        <a:p>
          <a:pPr rtl="0"/>
          <a:r>
            <a:rPr lang="fi-FI" sz="1050" dirty="0" smtClean="0"/>
            <a:t>Laadun monet näkökulmat: toiminnallinen ja ei-toiminnallinen testaus; näkyvä toimituslaatu sekä jatkokehityksen helppous</a:t>
          </a:r>
          <a:endParaRPr lang="fi-FI" sz="1050" dirty="0"/>
        </a:p>
      </dgm:t>
    </dgm:pt>
    <dgm:pt modelId="{637248D1-417D-468F-8F5A-263F0EEE4E25}" type="parTrans" cxnId="{5D40A653-A696-4FD0-A24A-7CCAC7193D58}">
      <dgm:prSet/>
      <dgm:spPr/>
      <dgm:t>
        <a:bodyPr/>
        <a:lstStyle/>
        <a:p>
          <a:endParaRPr lang="fi-FI" sz="2000"/>
        </a:p>
      </dgm:t>
    </dgm:pt>
    <dgm:pt modelId="{4CE4025D-124A-4864-812A-CAFE879FDB0F}" type="sibTrans" cxnId="{5D40A653-A696-4FD0-A24A-7CCAC7193D58}">
      <dgm:prSet/>
      <dgm:spPr/>
      <dgm:t>
        <a:bodyPr/>
        <a:lstStyle/>
        <a:p>
          <a:endParaRPr lang="fi-FI" sz="2000"/>
        </a:p>
      </dgm:t>
    </dgm:pt>
    <dgm:pt modelId="{ED3D8A5C-A004-4F25-9E95-105C5CBAC5B8}">
      <dgm:prSet custT="1"/>
      <dgm:spPr/>
      <dgm:t>
        <a:bodyPr/>
        <a:lstStyle/>
        <a:p>
          <a:pPr rtl="0"/>
          <a:r>
            <a:rPr lang="fi-FI" sz="1050" dirty="0" smtClean="0"/>
            <a:t>Dokumentaation katselmointien rooli hyväksymistestauksessa</a:t>
          </a:r>
          <a:endParaRPr lang="fi-FI" sz="1050" dirty="0"/>
        </a:p>
      </dgm:t>
    </dgm:pt>
    <dgm:pt modelId="{2602785F-5020-4C37-9349-25B3C6EB8027}" type="parTrans" cxnId="{D71B0854-94D7-4E70-9906-79916BDF1C2E}">
      <dgm:prSet/>
      <dgm:spPr/>
      <dgm:t>
        <a:bodyPr/>
        <a:lstStyle/>
        <a:p>
          <a:endParaRPr lang="fi-FI" sz="2000"/>
        </a:p>
      </dgm:t>
    </dgm:pt>
    <dgm:pt modelId="{B91310B6-65D7-4C98-8D22-83CC38A1C4FE}" type="sibTrans" cxnId="{D71B0854-94D7-4E70-9906-79916BDF1C2E}">
      <dgm:prSet/>
      <dgm:spPr/>
      <dgm:t>
        <a:bodyPr/>
        <a:lstStyle/>
        <a:p>
          <a:endParaRPr lang="fi-FI" sz="2000"/>
        </a:p>
      </dgm:t>
    </dgm:pt>
    <dgm:pt modelId="{0C5135B2-B7D9-4A56-B321-EACBE96AD852}">
      <dgm:prSet custT="1"/>
      <dgm:spPr/>
      <dgm:t>
        <a:bodyPr/>
        <a:lstStyle/>
        <a:p>
          <a:pPr rtl="0"/>
          <a:r>
            <a:rPr lang="fi-FI" sz="1050" dirty="0" smtClean="0"/>
            <a:t>Hyväksymistestauksen suhde muuhun testaukseen: tilaajan ja toimittajan työnjako</a:t>
          </a:r>
          <a:endParaRPr lang="fi-FI" sz="1050" dirty="0"/>
        </a:p>
      </dgm:t>
    </dgm:pt>
    <dgm:pt modelId="{AFF35C9C-E88B-481D-A218-745179C42A89}" type="parTrans" cxnId="{EC0C1EBC-1BB6-4B64-9783-15A05DC6D254}">
      <dgm:prSet/>
      <dgm:spPr/>
      <dgm:t>
        <a:bodyPr/>
        <a:lstStyle/>
        <a:p>
          <a:endParaRPr lang="fi-FI" sz="2000"/>
        </a:p>
      </dgm:t>
    </dgm:pt>
    <dgm:pt modelId="{2AF380E5-541E-476E-A57D-2AF52F0FD3CF}" type="sibTrans" cxnId="{EC0C1EBC-1BB6-4B64-9783-15A05DC6D254}">
      <dgm:prSet/>
      <dgm:spPr/>
      <dgm:t>
        <a:bodyPr/>
        <a:lstStyle/>
        <a:p>
          <a:endParaRPr lang="fi-FI" sz="2000"/>
        </a:p>
      </dgm:t>
    </dgm:pt>
    <dgm:pt modelId="{17A262F1-9003-4C77-8F50-D8E5C174B968}">
      <dgm:prSet custT="1"/>
      <dgm:spPr/>
      <dgm:t>
        <a:bodyPr/>
        <a:lstStyle/>
        <a:p>
          <a:pPr rtl="0"/>
          <a:r>
            <a:rPr lang="fi-FI" sz="1050" dirty="0" smtClean="0"/>
            <a:t>Hyväksymistestauksen erot laskunmaksuun ja tuotantoonsiirtoon liittyen</a:t>
          </a:r>
          <a:endParaRPr lang="fi-FI" sz="1050" dirty="0"/>
        </a:p>
      </dgm:t>
    </dgm:pt>
    <dgm:pt modelId="{6CB28059-AA75-4527-99CA-A3EDDA9850C4}" type="parTrans" cxnId="{30566708-7369-440D-8220-D3C7D17B04FC}">
      <dgm:prSet/>
      <dgm:spPr/>
      <dgm:t>
        <a:bodyPr/>
        <a:lstStyle/>
        <a:p>
          <a:endParaRPr lang="fi-FI" sz="2000"/>
        </a:p>
      </dgm:t>
    </dgm:pt>
    <dgm:pt modelId="{2C6A6872-2DBF-427F-9E6B-05310B7310D1}" type="sibTrans" cxnId="{30566708-7369-440D-8220-D3C7D17B04FC}">
      <dgm:prSet/>
      <dgm:spPr/>
      <dgm:t>
        <a:bodyPr/>
        <a:lstStyle/>
        <a:p>
          <a:endParaRPr lang="fi-FI" sz="2000"/>
        </a:p>
      </dgm:t>
    </dgm:pt>
    <dgm:pt modelId="{B388BF5D-1F28-4429-9317-BEF154AD918C}">
      <dgm:prSet custT="1"/>
      <dgm:spPr/>
      <dgm:t>
        <a:bodyPr/>
        <a:lstStyle/>
        <a:p>
          <a:pPr rtl="0"/>
          <a:r>
            <a:rPr lang="fi-FI" sz="1050" dirty="0" smtClean="0"/>
            <a:t>Hyväksymistestauksen erilainen merkitys ketterissä menetelmissä</a:t>
          </a:r>
          <a:endParaRPr lang="fi-FI" sz="1050" dirty="0"/>
        </a:p>
      </dgm:t>
    </dgm:pt>
    <dgm:pt modelId="{00DC2BDA-9FCE-4789-8612-CBAB489E1008}" type="parTrans" cxnId="{931434B6-00F4-4699-887F-56BCBF48E59B}">
      <dgm:prSet/>
      <dgm:spPr/>
      <dgm:t>
        <a:bodyPr/>
        <a:lstStyle/>
        <a:p>
          <a:endParaRPr lang="fi-FI" sz="2000"/>
        </a:p>
      </dgm:t>
    </dgm:pt>
    <dgm:pt modelId="{04381C85-A969-462F-89C0-62961ACABCF6}" type="sibTrans" cxnId="{931434B6-00F4-4699-887F-56BCBF48E59B}">
      <dgm:prSet/>
      <dgm:spPr/>
      <dgm:t>
        <a:bodyPr/>
        <a:lstStyle/>
        <a:p>
          <a:endParaRPr lang="fi-FI" sz="2000"/>
        </a:p>
      </dgm:t>
    </dgm:pt>
    <dgm:pt modelId="{52B1E9F8-FF5A-4290-A2EE-04416696410E}">
      <dgm:prSet custT="1"/>
      <dgm:spPr/>
      <dgm:t>
        <a:bodyPr/>
        <a:lstStyle/>
        <a:p>
          <a:pPr rtl="0"/>
          <a:r>
            <a:rPr lang="fi-FI" sz="1100" b="1" dirty="0" smtClean="0"/>
            <a:t>Onnistuneen hyväksymistestauksen edellytykset</a:t>
          </a:r>
          <a:endParaRPr lang="fi-FI" sz="1100" b="1" dirty="0"/>
        </a:p>
      </dgm:t>
    </dgm:pt>
    <dgm:pt modelId="{EE94DFC9-8FE1-4D92-A39A-2B2FA864EDE3}" type="parTrans" cxnId="{9E20866B-39E1-421E-BBF0-2C4CC4E668E7}">
      <dgm:prSet/>
      <dgm:spPr/>
      <dgm:t>
        <a:bodyPr/>
        <a:lstStyle/>
        <a:p>
          <a:endParaRPr lang="fi-FI" sz="2000"/>
        </a:p>
      </dgm:t>
    </dgm:pt>
    <dgm:pt modelId="{B47D46F4-2A52-46AE-8568-3E60E48D3D30}" type="sibTrans" cxnId="{9E20866B-39E1-421E-BBF0-2C4CC4E668E7}">
      <dgm:prSet/>
      <dgm:spPr/>
      <dgm:t>
        <a:bodyPr/>
        <a:lstStyle/>
        <a:p>
          <a:endParaRPr lang="fi-FI" sz="2000"/>
        </a:p>
      </dgm:t>
    </dgm:pt>
    <dgm:pt modelId="{DFACE991-8E53-485A-907C-1EFB2848046C}">
      <dgm:prSet custT="1"/>
      <dgm:spPr/>
      <dgm:t>
        <a:bodyPr/>
        <a:lstStyle/>
        <a:p>
          <a:pPr rtl="0"/>
          <a:r>
            <a:rPr lang="fi-FI" sz="1100" b="0" dirty="0" smtClean="0"/>
            <a:t>Toimituskokonaisuuksien määrittely ja projektointi</a:t>
          </a:r>
          <a:endParaRPr lang="fi-FI" sz="1100" b="0" dirty="0"/>
        </a:p>
      </dgm:t>
    </dgm:pt>
    <dgm:pt modelId="{522FA040-2423-4F5F-A378-E20632813270}" type="parTrans" cxnId="{555B5F87-EAA2-4BF5-A85A-067F5B333468}">
      <dgm:prSet/>
      <dgm:spPr/>
      <dgm:t>
        <a:bodyPr/>
        <a:lstStyle/>
        <a:p>
          <a:endParaRPr lang="fi-FI" sz="2000"/>
        </a:p>
      </dgm:t>
    </dgm:pt>
    <dgm:pt modelId="{79202294-FE13-49A9-BC9A-1A8E948266D7}" type="sibTrans" cxnId="{555B5F87-EAA2-4BF5-A85A-067F5B333468}">
      <dgm:prSet/>
      <dgm:spPr/>
      <dgm:t>
        <a:bodyPr/>
        <a:lstStyle/>
        <a:p>
          <a:endParaRPr lang="fi-FI" sz="2000"/>
        </a:p>
      </dgm:t>
    </dgm:pt>
    <dgm:pt modelId="{1916EEB6-8012-4C32-BB16-D45FE8388CAB}">
      <dgm:prSet custT="1"/>
      <dgm:spPr/>
      <dgm:t>
        <a:bodyPr/>
        <a:lstStyle/>
        <a:p>
          <a:pPr rtl="0"/>
          <a:r>
            <a:rPr lang="fi-FI" sz="1100" b="0" dirty="0" smtClean="0"/>
            <a:t>Toimittajan valinta ja sopimukset</a:t>
          </a:r>
          <a:endParaRPr lang="fi-FI" sz="1100" b="0" dirty="0"/>
        </a:p>
      </dgm:t>
    </dgm:pt>
    <dgm:pt modelId="{AAE70BB2-FF9F-4070-A5FC-ED235CA4153C}" type="parTrans" cxnId="{A5AB44A5-0A54-4255-863D-C63ECB47ADB4}">
      <dgm:prSet/>
      <dgm:spPr/>
      <dgm:t>
        <a:bodyPr/>
        <a:lstStyle/>
        <a:p>
          <a:endParaRPr lang="fi-FI" sz="2000"/>
        </a:p>
      </dgm:t>
    </dgm:pt>
    <dgm:pt modelId="{2FBCF5CD-18EA-4379-8DDB-078E7BE8F140}" type="sibTrans" cxnId="{A5AB44A5-0A54-4255-863D-C63ECB47ADB4}">
      <dgm:prSet/>
      <dgm:spPr/>
      <dgm:t>
        <a:bodyPr/>
        <a:lstStyle/>
        <a:p>
          <a:endParaRPr lang="fi-FI" sz="2000"/>
        </a:p>
      </dgm:t>
    </dgm:pt>
    <dgm:pt modelId="{5DCF5F03-40E3-4DF7-8D0C-5B2AC04E9710}">
      <dgm:prSet custT="1"/>
      <dgm:spPr/>
      <dgm:t>
        <a:bodyPr/>
        <a:lstStyle/>
        <a:p>
          <a:pPr rtl="0"/>
          <a:r>
            <a:rPr lang="fi-FI" sz="1100" b="0" dirty="0" smtClean="0"/>
            <a:t>Vaatimusten ja odotusten hallinta</a:t>
          </a:r>
          <a:endParaRPr lang="fi-FI" sz="1100" b="0" dirty="0"/>
        </a:p>
      </dgm:t>
    </dgm:pt>
    <dgm:pt modelId="{F587DB87-8C05-45E8-821D-48A0E1934C89}" type="parTrans" cxnId="{38793140-22FB-4290-95F5-D68F82D5906E}">
      <dgm:prSet/>
      <dgm:spPr/>
      <dgm:t>
        <a:bodyPr/>
        <a:lstStyle/>
        <a:p>
          <a:endParaRPr lang="fi-FI" sz="2000"/>
        </a:p>
      </dgm:t>
    </dgm:pt>
    <dgm:pt modelId="{D015357F-31D5-4BDE-9234-A074B01E35F1}" type="sibTrans" cxnId="{38793140-22FB-4290-95F5-D68F82D5906E}">
      <dgm:prSet/>
      <dgm:spPr/>
      <dgm:t>
        <a:bodyPr/>
        <a:lstStyle/>
        <a:p>
          <a:endParaRPr lang="fi-FI" sz="2000"/>
        </a:p>
      </dgm:t>
    </dgm:pt>
    <dgm:pt modelId="{2BB21CFB-3C14-4EE0-BF97-9DE197EDB4FB}">
      <dgm:prSet custT="1"/>
      <dgm:spPr/>
      <dgm:t>
        <a:bodyPr/>
        <a:lstStyle/>
        <a:p>
          <a:pPr rtl="0"/>
          <a:r>
            <a:rPr lang="fi-FI" sz="1100" b="0" dirty="0" smtClean="0"/>
            <a:t>Toimittajayhteistyö</a:t>
          </a:r>
          <a:endParaRPr lang="fi-FI" sz="1100" b="0" dirty="0"/>
        </a:p>
      </dgm:t>
    </dgm:pt>
    <dgm:pt modelId="{55DB9CF7-0918-46A0-A077-9B525FE754A0}" type="parTrans" cxnId="{FC853B53-7D65-41F8-842A-1527B7BD1F11}">
      <dgm:prSet/>
      <dgm:spPr/>
      <dgm:t>
        <a:bodyPr/>
        <a:lstStyle/>
        <a:p>
          <a:endParaRPr lang="fi-FI" sz="2000"/>
        </a:p>
      </dgm:t>
    </dgm:pt>
    <dgm:pt modelId="{B87C9EBE-1F3B-4B6F-8B1B-6ED6999EA57C}" type="sibTrans" cxnId="{FC853B53-7D65-41F8-842A-1527B7BD1F11}">
      <dgm:prSet/>
      <dgm:spPr/>
      <dgm:t>
        <a:bodyPr/>
        <a:lstStyle/>
        <a:p>
          <a:endParaRPr lang="fi-FI" sz="2000"/>
        </a:p>
      </dgm:t>
    </dgm:pt>
    <dgm:pt modelId="{D72C800D-6A31-4F3A-928F-3FAA9F4B2458}">
      <dgm:prSet custT="1"/>
      <dgm:spPr/>
      <dgm:t>
        <a:bodyPr/>
        <a:lstStyle/>
        <a:p>
          <a:pPr rtl="0"/>
          <a:r>
            <a:rPr lang="fi-FI" sz="1100" b="0" dirty="0" smtClean="0"/>
            <a:t>Kokonaisjärjestelmän ja osajärjestelmien tunnistaminen</a:t>
          </a:r>
          <a:endParaRPr lang="fi-FI" sz="1100" b="0" dirty="0"/>
        </a:p>
      </dgm:t>
    </dgm:pt>
    <dgm:pt modelId="{09F4EBD8-72E6-409A-BB6C-4843FEBEAA2B}" type="parTrans" cxnId="{DF223F19-81A7-4EA6-98DF-0E2387D499A4}">
      <dgm:prSet/>
      <dgm:spPr/>
      <dgm:t>
        <a:bodyPr/>
        <a:lstStyle/>
        <a:p>
          <a:endParaRPr lang="fi-FI" sz="2000"/>
        </a:p>
      </dgm:t>
    </dgm:pt>
    <dgm:pt modelId="{3A004302-3BD4-436A-BFCE-E278615647A1}" type="sibTrans" cxnId="{DF223F19-81A7-4EA6-98DF-0E2387D499A4}">
      <dgm:prSet/>
      <dgm:spPr/>
      <dgm:t>
        <a:bodyPr/>
        <a:lstStyle/>
        <a:p>
          <a:endParaRPr lang="fi-FI" sz="2000"/>
        </a:p>
      </dgm:t>
    </dgm:pt>
    <dgm:pt modelId="{EC2ECAB8-A85D-40C7-9117-2AA078A20F63}">
      <dgm:prSet custT="1"/>
      <dgm:spPr/>
      <dgm:t>
        <a:bodyPr/>
        <a:lstStyle/>
        <a:p>
          <a:pPr rtl="0"/>
          <a:r>
            <a:rPr lang="fi-FI" sz="1100" b="1" dirty="0" smtClean="0"/>
            <a:t>Hyväksymistestauksen organisointi ja puitteet</a:t>
          </a:r>
          <a:endParaRPr lang="fi-FI" sz="1100" b="1" dirty="0"/>
        </a:p>
      </dgm:t>
    </dgm:pt>
    <dgm:pt modelId="{5EE77FF3-6958-4AA2-A361-996476EE469F}" type="parTrans" cxnId="{F163E7A1-F61D-40FA-8D51-09DFBDF63920}">
      <dgm:prSet/>
      <dgm:spPr/>
      <dgm:t>
        <a:bodyPr/>
        <a:lstStyle/>
        <a:p>
          <a:endParaRPr lang="fi-FI" sz="2000"/>
        </a:p>
      </dgm:t>
    </dgm:pt>
    <dgm:pt modelId="{1857EB93-3123-4042-9586-557C94FF38FB}" type="sibTrans" cxnId="{F163E7A1-F61D-40FA-8D51-09DFBDF63920}">
      <dgm:prSet/>
      <dgm:spPr/>
      <dgm:t>
        <a:bodyPr/>
        <a:lstStyle/>
        <a:p>
          <a:endParaRPr lang="fi-FI" sz="2000"/>
        </a:p>
      </dgm:t>
    </dgm:pt>
    <dgm:pt modelId="{F3C8CAEE-C3C5-4F4E-B8D6-95CD478198FC}">
      <dgm:prSet custT="1"/>
      <dgm:spPr/>
      <dgm:t>
        <a:bodyPr/>
        <a:lstStyle/>
        <a:p>
          <a:r>
            <a:rPr lang="fi-FI" sz="1050" dirty="0" smtClean="0"/>
            <a:t>Testausprosessi suunnittelusta läpivientiin</a:t>
          </a:r>
          <a:endParaRPr lang="fi-FI" sz="1050" dirty="0"/>
        </a:p>
      </dgm:t>
    </dgm:pt>
    <dgm:pt modelId="{5285F996-D863-41D2-BCDC-C49BA518BF7E}" type="parTrans" cxnId="{36860DE1-6F5F-4025-A828-41782B80E483}">
      <dgm:prSet/>
      <dgm:spPr/>
      <dgm:t>
        <a:bodyPr/>
        <a:lstStyle/>
        <a:p>
          <a:endParaRPr lang="fi-FI" sz="2000"/>
        </a:p>
      </dgm:t>
    </dgm:pt>
    <dgm:pt modelId="{E224FB83-0D9D-4738-BEF7-DDCB4BC4B3E5}" type="sibTrans" cxnId="{36860DE1-6F5F-4025-A828-41782B80E483}">
      <dgm:prSet/>
      <dgm:spPr/>
      <dgm:t>
        <a:bodyPr/>
        <a:lstStyle/>
        <a:p>
          <a:endParaRPr lang="fi-FI" sz="2000"/>
        </a:p>
      </dgm:t>
    </dgm:pt>
    <dgm:pt modelId="{8FD7E9F2-2311-44BE-9382-0FD689EB7EE2}">
      <dgm:prSet custT="1"/>
      <dgm:spPr/>
      <dgm:t>
        <a:bodyPr/>
        <a:lstStyle/>
        <a:p>
          <a:r>
            <a:rPr lang="fi-FI" sz="1050" dirty="0" smtClean="0"/>
            <a:t>Toimittajan testauksien tarkastelu osana hyväksymistestausta</a:t>
          </a:r>
          <a:endParaRPr lang="fi-FI" sz="1050" dirty="0"/>
        </a:p>
      </dgm:t>
    </dgm:pt>
    <dgm:pt modelId="{5995E318-DFCD-47CE-9AC3-7D5D5C2C1D86}" type="parTrans" cxnId="{E1A005BE-128C-4479-A4FA-3DF86533F66C}">
      <dgm:prSet/>
      <dgm:spPr/>
      <dgm:t>
        <a:bodyPr/>
        <a:lstStyle/>
        <a:p>
          <a:endParaRPr lang="fi-FI" sz="2000"/>
        </a:p>
      </dgm:t>
    </dgm:pt>
    <dgm:pt modelId="{F367CA91-5390-4142-B6C6-B0F4A0631B49}" type="sibTrans" cxnId="{E1A005BE-128C-4479-A4FA-3DF86533F66C}">
      <dgm:prSet/>
      <dgm:spPr/>
      <dgm:t>
        <a:bodyPr/>
        <a:lstStyle/>
        <a:p>
          <a:endParaRPr lang="fi-FI" sz="2000"/>
        </a:p>
      </dgm:t>
    </dgm:pt>
    <dgm:pt modelId="{884C6235-9D16-4D95-BC42-131FB482992D}">
      <dgm:prSet custT="1"/>
      <dgm:spPr/>
      <dgm:t>
        <a:bodyPr/>
        <a:lstStyle/>
        <a:p>
          <a:r>
            <a:rPr lang="fi-FI" sz="1050" dirty="0" smtClean="0"/>
            <a:t>Ohjelmistokehityksen luonne, jatkuva muutos ja testauksen toistotarve</a:t>
          </a:r>
          <a:endParaRPr lang="fi-FI" sz="1050" dirty="0"/>
        </a:p>
      </dgm:t>
    </dgm:pt>
    <dgm:pt modelId="{0481730D-A61F-4DA9-9627-6BC82C4B148D}" type="parTrans" cxnId="{D0A56A45-20F2-4BCA-BD5A-BA373B2638CC}">
      <dgm:prSet/>
      <dgm:spPr/>
      <dgm:t>
        <a:bodyPr/>
        <a:lstStyle/>
        <a:p>
          <a:endParaRPr lang="fi-FI" sz="2000"/>
        </a:p>
      </dgm:t>
    </dgm:pt>
    <dgm:pt modelId="{555AD147-BAC6-43BB-90DD-1130ABA39199}" type="sibTrans" cxnId="{D0A56A45-20F2-4BCA-BD5A-BA373B2638CC}">
      <dgm:prSet/>
      <dgm:spPr/>
      <dgm:t>
        <a:bodyPr/>
        <a:lstStyle/>
        <a:p>
          <a:endParaRPr lang="fi-FI" sz="2000"/>
        </a:p>
      </dgm:t>
    </dgm:pt>
    <dgm:pt modelId="{5EA30DCB-652C-49B8-9D97-8AF54B4F7E80}">
      <dgm:prSet custT="1"/>
      <dgm:spPr/>
      <dgm:t>
        <a:bodyPr/>
        <a:lstStyle/>
        <a:p>
          <a:r>
            <a:rPr lang="fi-FI" sz="1050" dirty="0" smtClean="0"/>
            <a:t>Testauksen työmäärät ja tehokkuus tuloksina ja kustannuksina</a:t>
          </a:r>
          <a:endParaRPr lang="fi-FI" sz="1050" dirty="0"/>
        </a:p>
      </dgm:t>
    </dgm:pt>
    <dgm:pt modelId="{FAB1DA54-8633-4DA2-80C9-DA6F0989C0DB}" type="parTrans" cxnId="{EF253D2C-88A1-4A17-A421-A437AB497084}">
      <dgm:prSet/>
      <dgm:spPr/>
      <dgm:t>
        <a:bodyPr/>
        <a:lstStyle/>
        <a:p>
          <a:endParaRPr lang="fi-FI" sz="2000"/>
        </a:p>
      </dgm:t>
    </dgm:pt>
    <dgm:pt modelId="{B8684FF1-2E11-4AA1-8744-0C5546446438}" type="sibTrans" cxnId="{EF253D2C-88A1-4A17-A421-A437AB497084}">
      <dgm:prSet/>
      <dgm:spPr/>
      <dgm:t>
        <a:bodyPr/>
        <a:lstStyle/>
        <a:p>
          <a:endParaRPr lang="fi-FI" sz="2000"/>
        </a:p>
      </dgm:t>
    </dgm:pt>
    <dgm:pt modelId="{63777967-36A7-42A3-AAA6-F67A82A84365}">
      <dgm:prSet custT="1"/>
      <dgm:spPr/>
      <dgm:t>
        <a:bodyPr/>
        <a:lstStyle/>
        <a:p>
          <a:r>
            <a:rPr lang="fi-FI" sz="1050" dirty="0" smtClean="0"/>
            <a:t>Riskiohjattu testaus: rajallisen työmäärän kohdistaminen</a:t>
          </a:r>
          <a:endParaRPr lang="fi-FI" sz="1050" dirty="0"/>
        </a:p>
      </dgm:t>
    </dgm:pt>
    <dgm:pt modelId="{F3267288-52D4-4232-8EDE-0C06A198065D}" type="parTrans" cxnId="{558D6982-3136-43B9-B184-56E7146CE86D}">
      <dgm:prSet/>
      <dgm:spPr/>
      <dgm:t>
        <a:bodyPr/>
        <a:lstStyle/>
        <a:p>
          <a:endParaRPr lang="fi-FI" sz="2000"/>
        </a:p>
      </dgm:t>
    </dgm:pt>
    <dgm:pt modelId="{F21EB987-DD12-4AE4-A891-7E0A1B3B9F7C}" type="sibTrans" cxnId="{558D6982-3136-43B9-B184-56E7146CE86D}">
      <dgm:prSet/>
      <dgm:spPr/>
      <dgm:t>
        <a:bodyPr/>
        <a:lstStyle/>
        <a:p>
          <a:endParaRPr lang="fi-FI" sz="2000"/>
        </a:p>
      </dgm:t>
    </dgm:pt>
    <dgm:pt modelId="{8FA580CD-2825-4C51-B1DE-E59D1B218141}">
      <dgm:prSet custT="1"/>
      <dgm:spPr/>
      <dgm:t>
        <a:bodyPr/>
        <a:lstStyle/>
        <a:p>
          <a:r>
            <a:rPr lang="fi-FI" sz="1050" dirty="0" smtClean="0"/>
            <a:t>Havaintokirjausten käsittely ja muutoksista sopiminen</a:t>
          </a:r>
          <a:endParaRPr lang="fi-FI" sz="1050" dirty="0"/>
        </a:p>
      </dgm:t>
    </dgm:pt>
    <dgm:pt modelId="{3834143C-29CF-48A3-A93F-2F105F6D6050}" type="parTrans" cxnId="{C94072C2-A343-4034-AE65-F026F0256435}">
      <dgm:prSet/>
      <dgm:spPr/>
      <dgm:t>
        <a:bodyPr/>
        <a:lstStyle/>
        <a:p>
          <a:endParaRPr lang="fi-FI" sz="2000"/>
        </a:p>
      </dgm:t>
    </dgm:pt>
    <dgm:pt modelId="{72A3146F-3698-4795-BFC6-740EADE57467}" type="sibTrans" cxnId="{C94072C2-A343-4034-AE65-F026F0256435}">
      <dgm:prSet/>
      <dgm:spPr/>
      <dgm:t>
        <a:bodyPr/>
        <a:lstStyle/>
        <a:p>
          <a:endParaRPr lang="fi-FI" sz="2000"/>
        </a:p>
      </dgm:t>
    </dgm:pt>
    <dgm:pt modelId="{E0B0216D-FB34-4FF8-9D6F-878140CAD8C7}">
      <dgm:prSet custT="1"/>
      <dgm:spPr/>
      <dgm:t>
        <a:bodyPr/>
        <a:lstStyle/>
        <a:p>
          <a:r>
            <a:rPr lang="fi-FI" sz="1050" dirty="0" smtClean="0"/>
            <a:t>Testausympäristöt, testitapaukset ja testiaineisto</a:t>
          </a:r>
          <a:endParaRPr lang="fi-FI" sz="1050" dirty="0"/>
        </a:p>
      </dgm:t>
    </dgm:pt>
    <dgm:pt modelId="{742C2641-2368-450E-9041-6212968BDF28}" type="parTrans" cxnId="{165D3642-C139-40E0-AF02-1BF4FD25CF1B}">
      <dgm:prSet/>
      <dgm:spPr/>
      <dgm:t>
        <a:bodyPr/>
        <a:lstStyle/>
        <a:p>
          <a:endParaRPr lang="fi-FI" sz="2000"/>
        </a:p>
      </dgm:t>
    </dgm:pt>
    <dgm:pt modelId="{A52F8DC6-3D0E-458B-B9D3-8E5A5EB293DB}" type="sibTrans" cxnId="{165D3642-C139-40E0-AF02-1BF4FD25CF1B}">
      <dgm:prSet/>
      <dgm:spPr/>
      <dgm:t>
        <a:bodyPr/>
        <a:lstStyle/>
        <a:p>
          <a:endParaRPr lang="fi-FI" sz="2000"/>
        </a:p>
      </dgm:t>
    </dgm:pt>
    <dgm:pt modelId="{59007718-4FEB-43D9-B9E5-8114FFCD746C}">
      <dgm:prSet custT="1"/>
      <dgm:spPr/>
      <dgm:t>
        <a:bodyPr/>
        <a:lstStyle/>
        <a:p>
          <a:r>
            <a:rPr lang="fi-FI" sz="1050" dirty="0" smtClean="0"/>
            <a:t>Testauksen hallinta, seuranta ja mittarit</a:t>
          </a:r>
          <a:endParaRPr lang="fi-FI" sz="1050" dirty="0"/>
        </a:p>
      </dgm:t>
    </dgm:pt>
    <dgm:pt modelId="{90B8E4C9-9201-45CE-B9BA-F827E96CFDB4}" type="parTrans" cxnId="{8C048B0A-FDAC-44D2-B3BE-137FDDEC9FF6}">
      <dgm:prSet/>
      <dgm:spPr/>
      <dgm:t>
        <a:bodyPr/>
        <a:lstStyle/>
        <a:p>
          <a:endParaRPr lang="fi-FI" sz="2000"/>
        </a:p>
      </dgm:t>
    </dgm:pt>
    <dgm:pt modelId="{1BA139E2-2347-43A0-99EC-8A886F47E572}" type="sibTrans" cxnId="{8C048B0A-FDAC-44D2-B3BE-137FDDEC9FF6}">
      <dgm:prSet/>
      <dgm:spPr/>
      <dgm:t>
        <a:bodyPr/>
        <a:lstStyle/>
        <a:p>
          <a:endParaRPr lang="fi-FI" sz="2000"/>
        </a:p>
      </dgm:t>
    </dgm:pt>
    <dgm:pt modelId="{284F0E1D-70AC-40E5-B58D-8B75F4E28080}">
      <dgm:prSet custT="1"/>
      <dgm:spPr/>
      <dgm:t>
        <a:bodyPr/>
        <a:lstStyle/>
        <a:p>
          <a:r>
            <a:rPr lang="fi-FI" sz="1050" dirty="0" smtClean="0"/>
            <a:t>Toistuva hyväksymistestaus ylläpitoluonteiselle kehitystyölle</a:t>
          </a:r>
        </a:p>
      </dgm:t>
    </dgm:pt>
    <dgm:pt modelId="{31BA2C00-143D-4E09-82A4-A572C9C79C5A}" type="parTrans" cxnId="{CF06342C-923C-4B1A-A4EC-4D6001BB9FFD}">
      <dgm:prSet/>
      <dgm:spPr/>
      <dgm:t>
        <a:bodyPr/>
        <a:lstStyle/>
        <a:p>
          <a:endParaRPr lang="fi-FI" sz="2000"/>
        </a:p>
      </dgm:t>
    </dgm:pt>
    <dgm:pt modelId="{4F7A961E-8DB8-4F44-8B4F-2E1AA56DD794}" type="sibTrans" cxnId="{CF06342C-923C-4B1A-A4EC-4D6001BB9FFD}">
      <dgm:prSet/>
      <dgm:spPr/>
      <dgm:t>
        <a:bodyPr/>
        <a:lstStyle/>
        <a:p>
          <a:endParaRPr lang="fi-FI" sz="2000"/>
        </a:p>
      </dgm:t>
    </dgm:pt>
    <dgm:pt modelId="{5A047D2B-AE09-4A6A-B06B-F9BE7B733FC6}">
      <dgm:prSet custT="1"/>
      <dgm:spPr/>
      <dgm:t>
        <a:bodyPr/>
        <a:lstStyle/>
        <a:p>
          <a:r>
            <a:rPr lang="fi-FI" sz="1100" b="1" dirty="0" smtClean="0"/>
            <a:t>Testaus vaatimuksia ja odotuksia vastaan</a:t>
          </a:r>
          <a:endParaRPr lang="fi-FI" sz="1100" b="1" dirty="0"/>
        </a:p>
      </dgm:t>
    </dgm:pt>
    <dgm:pt modelId="{8B477AFB-3BB3-4E4F-A613-7C77A347B362}" type="parTrans" cxnId="{DDA29D37-E8F9-42C3-B045-6EF36EA64061}">
      <dgm:prSet/>
      <dgm:spPr/>
      <dgm:t>
        <a:bodyPr/>
        <a:lstStyle/>
        <a:p>
          <a:endParaRPr lang="fi-FI" sz="2000"/>
        </a:p>
      </dgm:t>
    </dgm:pt>
    <dgm:pt modelId="{2A70620D-A631-4E94-958B-CBD6322152E7}" type="sibTrans" cxnId="{DDA29D37-E8F9-42C3-B045-6EF36EA64061}">
      <dgm:prSet/>
      <dgm:spPr/>
      <dgm:t>
        <a:bodyPr/>
        <a:lstStyle/>
        <a:p>
          <a:endParaRPr lang="fi-FI" sz="2000"/>
        </a:p>
      </dgm:t>
    </dgm:pt>
    <dgm:pt modelId="{3D5166C9-5BA2-4001-892D-F49F4600D5B7}">
      <dgm:prSet custT="1"/>
      <dgm:spPr/>
      <dgm:t>
        <a:bodyPr/>
        <a:lstStyle/>
        <a:p>
          <a:r>
            <a:rPr lang="fi-FI" sz="1050" dirty="0" smtClean="0"/>
            <a:t>Sovellusalueosaamisen ja liiketoimintaprosessin osaamisen käyttö hyväksymistestauksessa</a:t>
          </a:r>
          <a:endParaRPr lang="fi-FI" sz="1050" dirty="0"/>
        </a:p>
      </dgm:t>
    </dgm:pt>
    <dgm:pt modelId="{65196C88-0272-4B87-95C5-9ECF31C690C5}" type="parTrans" cxnId="{CBD1C9AE-9CB6-4DAC-9A13-CF429A4CF2CE}">
      <dgm:prSet/>
      <dgm:spPr/>
      <dgm:t>
        <a:bodyPr/>
        <a:lstStyle/>
        <a:p>
          <a:endParaRPr lang="fi-FI" sz="2000"/>
        </a:p>
      </dgm:t>
    </dgm:pt>
    <dgm:pt modelId="{7A884809-F420-4DBC-B4D1-42CD63AA7E48}" type="sibTrans" cxnId="{CBD1C9AE-9CB6-4DAC-9A13-CF429A4CF2CE}">
      <dgm:prSet/>
      <dgm:spPr/>
      <dgm:t>
        <a:bodyPr/>
        <a:lstStyle/>
        <a:p>
          <a:endParaRPr lang="fi-FI" sz="2000"/>
        </a:p>
      </dgm:t>
    </dgm:pt>
    <dgm:pt modelId="{B51F8DC3-7A9F-4CF9-90CC-BC0B820F7B91}">
      <dgm:prSet custT="1"/>
      <dgm:spPr/>
      <dgm:t>
        <a:bodyPr/>
        <a:lstStyle/>
        <a:p>
          <a:r>
            <a:rPr lang="fi-FI" sz="1050" dirty="0" smtClean="0"/>
            <a:t>Vaatimusten järjestelmällinen läpikäynti</a:t>
          </a:r>
          <a:endParaRPr lang="fi-FI" sz="1050" dirty="0"/>
        </a:p>
      </dgm:t>
    </dgm:pt>
    <dgm:pt modelId="{B548D59C-C2A0-4CDC-8BEB-4BECB5846444}" type="parTrans" cxnId="{58B7B001-F24A-48C0-A169-02A75BBAF8BA}">
      <dgm:prSet/>
      <dgm:spPr/>
      <dgm:t>
        <a:bodyPr/>
        <a:lstStyle/>
        <a:p>
          <a:endParaRPr lang="fi-FI" sz="2000"/>
        </a:p>
      </dgm:t>
    </dgm:pt>
    <dgm:pt modelId="{03D855FF-F756-46AB-8876-3918B1753DDF}" type="sibTrans" cxnId="{58B7B001-F24A-48C0-A169-02A75BBAF8BA}">
      <dgm:prSet/>
      <dgm:spPr/>
      <dgm:t>
        <a:bodyPr/>
        <a:lstStyle/>
        <a:p>
          <a:endParaRPr lang="fi-FI" sz="2000"/>
        </a:p>
      </dgm:t>
    </dgm:pt>
    <dgm:pt modelId="{6DCF312A-D696-446F-8AEF-7CC30783908B}">
      <dgm:prSet custT="1"/>
      <dgm:spPr/>
      <dgm:t>
        <a:bodyPr/>
        <a:lstStyle/>
        <a:p>
          <a:r>
            <a:rPr lang="fi-FI" sz="1050" dirty="0" smtClean="0"/>
            <a:t>Testitapausten merkitys hyväksymistestaukselle</a:t>
          </a:r>
          <a:endParaRPr lang="fi-FI" sz="1050" dirty="0"/>
        </a:p>
      </dgm:t>
    </dgm:pt>
    <dgm:pt modelId="{3447F3BB-C176-403F-A440-AAA7B2132DFD}" type="parTrans" cxnId="{CF519EFD-A2DD-4B69-9F56-3F9C8F4E2CC2}">
      <dgm:prSet/>
      <dgm:spPr/>
      <dgm:t>
        <a:bodyPr/>
        <a:lstStyle/>
        <a:p>
          <a:endParaRPr lang="fi-FI" sz="2000"/>
        </a:p>
      </dgm:t>
    </dgm:pt>
    <dgm:pt modelId="{800753E0-C5D5-4C74-BD57-FDEE2C16A254}" type="sibTrans" cxnId="{CF519EFD-A2DD-4B69-9F56-3F9C8F4E2CC2}">
      <dgm:prSet/>
      <dgm:spPr/>
      <dgm:t>
        <a:bodyPr/>
        <a:lstStyle/>
        <a:p>
          <a:endParaRPr lang="fi-FI" sz="2000"/>
        </a:p>
      </dgm:t>
    </dgm:pt>
    <dgm:pt modelId="{13C8241D-30EB-4DA5-91CE-6455887CB532}">
      <dgm:prSet custT="1"/>
      <dgm:spPr/>
      <dgm:t>
        <a:bodyPr/>
        <a:lstStyle/>
        <a:p>
          <a:r>
            <a:rPr lang="fi-FI" sz="1050" dirty="0" smtClean="0"/>
            <a:t>Hyväksymistestausta tukevat testitapaukset</a:t>
          </a:r>
          <a:endParaRPr lang="fi-FI" sz="1050" dirty="0"/>
        </a:p>
      </dgm:t>
    </dgm:pt>
    <dgm:pt modelId="{1D178F00-0239-4F3A-B7E9-B16BC7D40770}" type="parTrans" cxnId="{25D78AD7-111E-45EA-B17E-5767226B1533}">
      <dgm:prSet/>
      <dgm:spPr/>
      <dgm:t>
        <a:bodyPr/>
        <a:lstStyle/>
        <a:p>
          <a:endParaRPr lang="fi-FI" sz="2000"/>
        </a:p>
      </dgm:t>
    </dgm:pt>
    <dgm:pt modelId="{FF284607-31F0-407C-BDD3-060E3A6EF9D4}" type="sibTrans" cxnId="{25D78AD7-111E-45EA-B17E-5767226B1533}">
      <dgm:prSet/>
      <dgm:spPr/>
      <dgm:t>
        <a:bodyPr/>
        <a:lstStyle/>
        <a:p>
          <a:endParaRPr lang="fi-FI" sz="2000"/>
        </a:p>
      </dgm:t>
    </dgm:pt>
    <dgm:pt modelId="{F0649716-B277-4246-B4C1-BC542F322F8A}">
      <dgm:prSet custT="1"/>
      <dgm:spPr/>
      <dgm:t>
        <a:bodyPr/>
        <a:lstStyle/>
        <a:p>
          <a:r>
            <a:rPr lang="fi-FI" sz="1050" dirty="0" smtClean="0"/>
            <a:t>Testitapausten priorisointi hyväksymistestaukselle: mistä tiedetään mikä on tärkeää liiketoiminnalle</a:t>
          </a:r>
          <a:endParaRPr lang="fi-FI" sz="1050" dirty="0"/>
        </a:p>
      </dgm:t>
    </dgm:pt>
    <dgm:pt modelId="{27839B55-E584-422D-B72E-32A347E21FD6}" type="parTrans" cxnId="{B584686C-FF56-43FC-A6E9-BFDC110D0F3A}">
      <dgm:prSet/>
      <dgm:spPr/>
      <dgm:t>
        <a:bodyPr/>
        <a:lstStyle/>
        <a:p>
          <a:endParaRPr lang="fi-FI" sz="2000"/>
        </a:p>
      </dgm:t>
    </dgm:pt>
    <dgm:pt modelId="{3CA4F354-DF59-45C6-AF13-28268C39518D}" type="sibTrans" cxnId="{B584686C-FF56-43FC-A6E9-BFDC110D0F3A}">
      <dgm:prSet/>
      <dgm:spPr/>
      <dgm:t>
        <a:bodyPr/>
        <a:lstStyle/>
        <a:p>
          <a:endParaRPr lang="fi-FI" sz="2000"/>
        </a:p>
      </dgm:t>
    </dgm:pt>
    <dgm:pt modelId="{582737C7-A23B-4BCF-8152-3B1924EDA793}">
      <dgm:prSet custT="1"/>
      <dgm:spPr/>
      <dgm:t>
        <a:bodyPr/>
        <a:lstStyle/>
        <a:p>
          <a:r>
            <a:rPr lang="fi-FI" sz="1050" dirty="0" smtClean="0"/>
            <a:t>Kelpuuttaminen käyttöön vs. todentaminen suhteessa vaatimuksiin</a:t>
          </a:r>
        </a:p>
      </dgm:t>
    </dgm:pt>
    <dgm:pt modelId="{37F03128-A80E-4CE0-BC23-6DF7CB8A11D8}" type="parTrans" cxnId="{E7C37E4C-54D2-4BC9-B239-CAD8181BEBE4}">
      <dgm:prSet/>
      <dgm:spPr/>
      <dgm:t>
        <a:bodyPr/>
        <a:lstStyle/>
        <a:p>
          <a:endParaRPr lang="fi-FI" sz="2000"/>
        </a:p>
      </dgm:t>
    </dgm:pt>
    <dgm:pt modelId="{FD69B635-10E7-462F-9558-02A0E5739F4C}" type="sibTrans" cxnId="{E7C37E4C-54D2-4BC9-B239-CAD8181BEBE4}">
      <dgm:prSet/>
      <dgm:spPr/>
      <dgm:t>
        <a:bodyPr/>
        <a:lstStyle/>
        <a:p>
          <a:endParaRPr lang="fi-FI" sz="2000"/>
        </a:p>
      </dgm:t>
    </dgm:pt>
    <dgm:pt modelId="{3B2B6EC3-FAFC-4F27-AF22-3209ABD0D639}" type="pres">
      <dgm:prSet presAssocID="{D5C8C534-B55B-41EF-88DB-ED9C24EBB7FC}" presName="Name0" presStyleCnt="0">
        <dgm:presLayoutVars>
          <dgm:dir/>
          <dgm:animLvl val="lvl"/>
          <dgm:resizeHandles val="exact"/>
        </dgm:presLayoutVars>
      </dgm:prSet>
      <dgm:spPr/>
      <dgm:t>
        <a:bodyPr/>
        <a:lstStyle/>
        <a:p>
          <a:endParaRPr lang="fi-FI"/>
        </a:p>
      </dgm:t>
    </dgm:pt>
    <dgm:pt modelId="{D92851F3-0C0F-489F-A254-A6812400DD0A}" type="pres">
      <dgm:prSet presAssocID="{876F12A8-3CBF-4C23-9511-B3BE912EE8A9}" presName="composite" presStyleCnt="0"/>
      <dgm:spPr/>
    </dgm:pt>
    <dgm:pt modelId="{8B58748B-2575-4D58-9FA0-9F6CA0DF6B78}" type="pres">
      <dgm:prSet presAssocID="{876F12A8-3CBF-4C23-9511-B3BE912EE8A9}" presName="parTx" presStyleLbl="alignNode1" presStyleIdx="0" presStyleCnt="4">
        <dgm:presLayoutVars>
          <dgm:chMax val="0"/>
          <dgm:chPref val="0"/>
          <dgm:bulletEnabled val="1"/>
        </dgm:presLayoutVars>
      </dgm:prSet>
      <dgm:spPr/>
      <dgm:t>
        <a:bodyPr/>
        <a:lstStyle/>
        <a:p>
          <a:endParaRPr lang="fi-FI"/>
        </a:p>
      </dgm:t>
    </dgm:pt>
    <dgm:pt modelId="{AAB1147D-BCEB-4287-850D-0C28E16B7E63}" type="pres">
      <dgm:prSet presAssocID="{876F12A8-3CBF-4C23-9511-B3BE912EE8A9}" presName="desTx" presStyleLbl="alignAccFollowNode1" presStyleIdx="0" presStyleCnt="4">
        <dgm:presLayoutVars>
          <dgm:bulletEnabled val="1"/>
        </dgm:presLayoutVars>
      </dgm:prSet>
      <dgm:spPr/>
      <dgm:t>
        <a:bodyPr/>
        <a:lstStyle/>
        <a:p>
          <a:endParaRPr lang="fi-FI"/>
        </a:p>
      </dgm:t>
    </dgm:pt>
    <dgm:pt modelId="{4F0A595E-783C-4E50-8B40-09F25FB93E7C}" type="pres">
      <dgm:prSet presAssocID="{9D64F3A3-F0ED-495F-BD66-97CC72F1F1F0}" presName="space" presStyleCnt="0"/>
      <dgm:spPr/>
    </dgm:pt>
    <dgm:pt modelId="{D92EDD19-9446-4D94-8EDB-D131762C721A}" type="pres">
      <dgm:prSet presAssocID="{52B1E9F8-FF5A-4290-A2EE-04416696410E}" presName="composite" presStyleCnt="0"/>
      <dgm:spPr/>
    </dgm:pt>
    <dgm:pt modelId="{20330B3A-115A-4449-BBD2-F1DF7DA08C27}" type="pres">
      <dgm:prSet presAssocID="{52B1E9F8-FF5A-4290-A2EE-04416696410E}" presName="parTx" presStyleLbl="alignNode1" presStyleIdx="1" presStyleCnt="4">
        <dgm:presLayoutVars>
          <dgm:chMax val="0"/>
          <dgm:chPref val="0"/>
          <dgm:bulletEnabled val="1"/>
        </dgm:presLayoutVars>
      </dgm:prSet>
      <dgm:spPr/>
      <dgm:t>
        <a:bodyPr/>
        <a:lstStyle/>
        <a:p>
          <a:endParaRPr lang="fi-FI"/>
        </a:p>
      </dgm:t>
    </dgm:pt>
    <dgm:pt modelId="{8901B344-4CDE-44D5-B022-7E0CE2C33BF0}" type="pres">
      <dgm:prSet presAssocID="{52B1E9F8-FF5A-4290-A2EE-04416696410E}" presName="desTx" presStyleLbl="alignAccFollowNode1" presStyleIdx="1" presStyleCnt="4" custLinFactNeighborX="-512" custLinFactNeighborY="-94">
        <dgm:presLayoutVars>
          <dgm:bulletEnabled val="1"/>
        </dgm:presLayoutVars>
      </dgm:prSet>
      <dgm:spPr/>
      <dgm:t>
        <a:bodyPr/>
        <a:lstStyle/>
        <a:p>
          <a:endParaRPr lang="fi-FI"/>
        </a:p>
      </dgm:t>
    </dgm:pt>
    <dgm:pt modelId="{1849843C-4BCF-4CA2-9DF2-6782D020EB95}" type="pres">
      <dgm:prSet presAssocID="{B47D46F4-2A52-46AE-8568-3E60E48D3D30}" presName="space" presStyleCnt="0"/>
      <dgm:spPr/>
    </dgm:pt>
    <dgm:pt modelId="{339E4B24-AAC5-4F06-B52E-2DF3F454F8CD}" type="pres">
      <dgm:prSet presAssocID="{EC2ECAB8-A85D-40C7-9117-2AA078A20F63}" presName="composite" presStyleCnt="0"/>
      <dgm:spPr/>
    </dgm:pt>
    <dgm:pt modelId="{E3E6BEB8-B08E-43CD-A3AF-F2B85C4580AD}" type="pres">
      <dgm:prSet presAssocID="{EC2ECAB8-A85D-40C7-9117-2AA078A20F63}" presName="parTx" presStyleLbl="alignNode1" presStyleIdx="2" presStyleCnt="4">
        <dgm:presLayoutVars>
          <dgm:chMax val="0"/>
          <dgm:chPref val="0"/>
          <dgm:bulletEnabled val="1"/>
        </dgm:presLayoutVars>
      </dgm:prSet>
      <dgm:spPr/>
      <dgm:t>
        <a:bodyPr/>
        <a:lstStyle/>
        <a:p>
          <a:endParaRPr lang="fi-FI"/>
        </a:p>
      </dgm:t>
    </dgm:pt>
    <dgm:pt modelId="{2CE42794-9563-4A96-B9CC-520A06D6EE9D}" type="pres">
      <dgm:prSet presAssocID="{EC2ECAB8-A85D-40C7-9117-2AA078A20F63}" presName="desTx" presStyleLbl="alignAccFollowNode1" presStyleIdx="2" presStyleCnt="4">
        <dgm:presLayoutVars>
          <dgm:bulletEnabled val="1"/>
        </dgm:presLayoutVars>
      </dgm:prSet>
      <dgm:spPr/>
      <dgm:t>
        <a:bodyPr/>
        <a:lstStyle/>
        <a:p>
          <a:endParaRPr lang="fi-FI"/>
        </a:p>
      </dgm:t>
    </dgm:pt>
    <dgm:pt modelId="{B11BD261-271F-4274-A770-76A44AED9CB3}" type="pres">
      <dgm:prSet presAssocID="{1857EB93-3123-4042-9586-557C94FF38FB}" presName="space" presStyleCnt="0"/>
      <dgm:spPr/>
    </dgm:pt>
    <dgm:pt modelId="{9FBE3C72-DB3A-46C6-B2EE-4B94FAA24B04}" type="pres">
      <dgm:prSet presAssocID="{5A047D2B-AE09-4A6A-B06B-F9BE7B733FC6}" presName="composite" presStyleCnt="0"/>
      <dgm:spPr/>
    </dgm:pt>
    <dgm:pt modelId="{016C0C30-52FC-4CA5-B7B1-35861449347E}" type="pres">
      <dgm:prSet presAssocID="{5A047D2B-AE09-4A6A-B06B-F9BE7B733FC6}" presName="parTx" presStyleLbl="alignNode1" presStyleIdx="3" presStyleCnt="4">
        <dgm:presLayoutVars>
          <dgm:chMax val="0"/>
          <dgm:chPref val="0"/>
          <dgm:bulletEnabled val="1"/>
        </dgm:presLayoutVars>
      </dgm:prSet>
      <dgm:spPr/>
      <dgm:t>
        <a:bodyPr/>
        <a:lstStyle/>
        <a:p>
          <a:endParaRPr lang="fi-FI"/>
        </a:p>
      </dgm:t>
    </dgm:pt>
    <dgm:pt modelId="{882F28AC-AD1B-4E0E-AEA6-8989F5CE6A35}" type="pres">
      <dgm:prSet presAssocID="{5A047D2B-AE09-4A6A-B06B-F9BE7B733FC6}" presName="desTx" presStyleLbl="alignAccFollowNode1" presStyleIdx="3" presStyleCnt="4">
        <dgm:presLayoutVars>
          <dgm:bulletEnabled val="1"/>
        </dgm:presLayoutVars>
      </dgm:prSet>
      <dgm:spPr/>
      <dgm:t>
        <a:bodyPr/>
        <a:lstStyle/>
        <a:p>
          <a:endParaRPr lang="fi-FI"/>
        </a:p>
      </dgm:t>
    </dgm:pt>
  </dgm:ptLst>
  <dgm:cxnLst>
    <dgm:cxn modelId="{E1A005BE-128C-4479-A4FA-3DF86533F66C}" srcId="{EC2ECAB8-A85D-40C7-9117-2AA078A20F63}" destId="{8FD7E9F2-2311-44BE-9382-0FD689EB7EE2}" srcOrd="1" destOrd="0" parTransId="{5995E318-DFCD-47CE-9AC3-7D5D5C2C1D86}" sibTransId="{F367CA91-5390-4142-B6C6-B0F4A0631B49}"/>
    <dgm:cxn modelId="{B3EE9AF7-5FD7-4F94-819F-FAE8726EE0C3}" type="presOf" srcId="{5EA30DCB-652C-49B8-9D97-8AF54B4F7E80}" destId="{2CE42794-9563-4A96-B9CC-520A06D6EE9D}" srcOrd="0" destOrd="3" presId="urn:microsoft.com/office/officeart/2005/8/layout/hList1"/>
    <dgm:cxn modelId="{30566708-7369-440D-8220-D3C7D17B04FC}" srcId="{876F12A8-3CBF-4C23-9511-B3BE912EE8A9}" destId="{17A262F1-9003-4C77-8F50-D8E5C174B968}" srcOrd="6" destOrd="0" parTransId="{6CB28059-AA75-4527-99CA-A3EDDA9850C4}" sibTransId="{2C6A6872-2DBF-427F-9E6B-05310B7310D1}"/>
    <dgm:cxn modelId="{165D3642-C139-40E0-AF02-1BF4FD25CF1B}" srcId="{EC2ECAB8-A85D-40C7-9117-2AA078A20F63}" destId="{E0B0216D-FB34-4FF8-9D6F-878140CAD8C7}" srcOrd="6" destOrd="0" parTransId="{742C2641-2368-450E-9041-6212968BDF28}" sibTransId="{A52F8DC6-3D0E-458B-B9D3-8E5A5EB293DB}"/>
    <dgm:cxn modelId="{0717C6F6-F619-4200-9176-49E0561F30A6}" type="presOf" srcId="{D5C8C534-B55B-41EF-88DB-ED9C24EBB7FC}" destId="{3B2B6EC3-FAFC-4F27-AF22-3209ABD0D639}" srcOrd="0" destOrd="0" presId="urn:microsoft.com/office/officeart/2005/8/layout/hList1"/>
    <dgm:cxn modelId="{DD123545-9D32-46C7-849F-26CC4B7F4282}" type="presOf" srcId="{E0B0216D-FB34-4FF8-9D6F-878140CAD8C7}" destId="{2CE42794-9563-4A96-B9CC-520A06D6EE9D}" srcOrd="0" destOrd="6" presId="urn:microsoft.com/office/officeart/2005/8/layout/hList1"/>
    <dgm:cxn modelId="{9E20866B-39E1-421E-BBF0-2C4CC4E668E7}" srcId="{D5C8C534-B55B-41EF-88DB-ED9C24EBB7FC}" destId="{52B1E9F8-FF5A-4290-A2EE-04416696410E}" srcOrd="1" destOrd="0" parTransId="{EE94DFC9-8FE1-4D92-A39A-2B2FA864EDE3}" sibTransId="{B47D46F4-2A52-46AE-8568-3E60E48D3D30}"/>
    <dgm:cxn modelId="{8D0A849E-F2A9-48C1-855D-192419B4769A}" type="presOf" srcId="{EC2ECAB8-A85D-40C7-9117-2AA078A20F63}" destId="{E3E6BEB8-B08E-43CD-A3AF-F2B85C4580AD}" srcOrd="0" destOrd="0" presId="urn:microsoft.com/office/officeart/2005/8/layout/hList1"/>
    <dgm:cxn modelId="{8C048B0A-FDAC-44D2-B3BE-137FDDEC9FF6}" srcId="{EC2ECAB8-A85D-40C7-9117-2AA078A20F63}" destId="{59007718-4FEB-43D9-B9E5-8114FFCD746C}" srcOrd="7" destOrd="0" parTransId="{90B8E4C9-9201-45CE-B9BA-F827E96CFDB4}" sibTransId="{1BA139E2-2347-43A0-99EC-8A886F47E572}"/>
    <dgm:cxn modelId="{DF223F19-81A7-4EA6-98DF-0E2387D499A4}" srcId="{52B1E9F8-FF5A-4290-A2EE-04416696410E}" destId="{D72C800D-6A31-4F3A-928F-3FAA9F4B2458}" srcOrd="4" destOrd="0" parTransId="{09F4EBD8-72E6-409A-BB6C-4843FEBEAA2B}" sibTransId="{3A004302-3BD4-436A-BFCE-E278615647A1}"/>
    <dgm:cxn modelId="{A5AB44A5-0A54-4255-863D-C63ECB47ADB4}" srcId="{52B1E9F8-FF5A-4290-A2EE-04416696410E}" destId="{1916EEB6-8012-4C32-BB16-D45FE8388CAB}" srcOrd="1" destOrd="0" parTransId="{AAE70BB2-FF9F-4070-A5FC-ED235CA4153C}" sibTransId="{2FBCF5CD-18EA-4379-8DDB-078E7BE8F140}"/>
    <dgm:cxn modelId="{FC853B53-7D65-41F8-842A-1527B7BD1F11}" srcId="{52B1E9F8-FF5A-4290-A2EE-04416696410E}" destId="{2BB21CFB-3C14-4EE0-BF97-9DE197EDB4FB}" srcOrd="3" destOrd="0" parTransId="{55DB9CF7-0918-46A0-A077-9B525FE754A0}" sibTransId="{B87C9EBE-1F3B-4B6F-8B1B-6ED6999EA57C}"/>
    <dgm:cxn modelId="{58B7B001-F24A-48C0-A169-02A75BBAF8BA}" srcId="{5A047D2B-AE09-4A6A-B06B-F9BE7B733FC6}" destId="{B51F8DC3-7A9F-4CF9-90CC-BC0B820F7B91}" srcOrd="1" destOrd="0" parTransId="{B548D59C-C2A0-4CDC-8BEB-4BECB5846444}" sibTransId="{03D855FF-F756-46AB-8876-3918B1753DDF}"/>
    <dgm:cxn modelId="{0D9AC40A-EBF9-41F4-BD33-D64A7307F52D}" type="presOf" srcId="{B51F8DC3-7A9F-4CF9-90CC-BC0B820F7B91}" destId="{882F28AC-AD1B-4E0E-AEA6-8989F5CE6A35}" srcOrd="0" destOrd="1" presId="urn:microsoft.com/office/officeart/2005/8/layout/hList1"/>
    <dgm:cxn modelId="{AD4AA08D-3329-44F6-9F8D-50BCD7E349F9}" type="presOf" srcId="{63777967-36A7-42A3-AAA6-F67A82A84365}" destId="{2CE42794-9563-4A96-B9CC-520A06D6EE9D}" srcOrd="0" destOrd="4" presId="urn:microsoft.com/office/officeart/2005/8/layout/hList1"/>
    <dgm:cxn modelId="{68172B2C-A245-4AC6-8363-A376E157E5EF}" type="presOf" srcId="{F3C8CAEE-C3C5-4F4E-B8D6-95CD478198FC}" destId="{2CE42794-9563-4A96-B9CC-520A06D6EE9D}" srcOrd="0" destOrd="0" presId="urn:microsoft.com/office/officeart/2005/8/layout/hList1"/>
    <dgm:cxn modelId="{3394FFF1-57AF-4E2F-801B-7ACE7764F96B}" type="presOf" srcId="{77261A98-EA16-48DE-BDEC-862B033DFA44}" destId="{AAB1147D-BCEB-4287-850D-0C28E16B7E63}" srcOrd="0" destOrd="0" presId="urn:microsoft.com/office/officeart/2005/8/layout/hList1"/>
    <dgm:cxn modelId="{7F5AEC47-13C3-40C1-B0B0-06D9D3D0E8EE}" type="presOf" srcId="{5DCF5F03-40E3-4DF7-8D0C-5B2AC04E9710}" destId="{8901B344-4CDE-44D5-B022-7E0CE2C33BF0}" srcOrd="0" destOrd="2" presId="urn:microsoft.com/office/officeart/2005/8/layout/hList1"/>
    <dgm:cxn modelId="{5D40A653-A696-4FD0-A24A-7CCAC7193D58}" srcId="{876F12A8-3CBF-4C23-9511-B3BE912EE8A9}" destId="{1D93A904-DA31-4610-8126-8F418CD7E1E6}" srcOrd="3" destOrd="0" parTransId="{637248D1-417D-468F-8F5A-263F0EEE4E25}" sibTransId="{4CE4025D-124A-4864-812A-CAFE879FDB0F}"/>
    <dgm:cxn modelId="{931434B6-00F4-4699-887F-56BCBF48E59B}" srcId="{876F12A8-3CBF-4C23-9511-B3BE912EE8A9}" destId="{B388BF5D-1F28-4429-9317-BEF154AD918C}" srcOrd="7" destOrd="0" parTransId="{00DC2BDA-9FCE-4789-8612-CBAB489E1008}" sibTransId="{04381C85-A969-462F-89C0-62961ACABCF6}"/>
    <dgm:cxn modelId="{8CC0396F-CB5B-497D-A8CE-CF9D4E76CD4F}" type="presOf" srcId="{C47477C1-EBA0-4A69-9865-EEB1CC3C0A49}" destId="{AAB1147D-BCEB-4287-850D-0C28E16B7E63}" srcOrd="0" destOrd="1" presId="urn:microsoft.com/office/officeart/2005/8/layout/hList1"/>
    <dgm:cxn modelId="{7E2C5C6B-6714-4D86-A63A-0D776061A40E}" type="presOf" srcId="{1916EEB6-8012-4C32-BB16-D45FE8388CAB}" destId="{8901B344-4CDE-44D5-B022-7E0CE2C33BF0}" srcOrd="0" destOrd="1" presId="urn:microsoft.com/office/officeart/2005/8/layout/hList1"/>
    <dgm:cxn modelId="{C94072C2-A343-4034-AE65-F026F0256435}" srcId="{EC2ECAB8-A85D-40C7-9117-2AA078A20F63}" destId="{8FA580CD-2825-4C51-B1DE-E59D1B218141}" srcOrd="5" destOrd="0" parTransId="{3834143C-29CF-48A3-A93F-2F105F6D6050}" sibTransId="{72A3146F-3698-4795-BFC6-740EADE57467}"/>
    <dgm:cxn modelId="{B9BF8872-7D8F-435F-A0AA-223F977525AA}" type="presOf" srcId="{ED3D8A5C-A004-4F25-9E95-105C5CBAC5B8}" destId="{AAB1147D-BCEB-4287-850D-0C28E16B7E63}" srcOrd="0" destOrd="4" presId="urn:microsoft.com/office/officeart/2005/8/layout/hList1"/>
    <dgm:cxn modelId="{D1E18ACA-E2AC-419B-B0C8-489177C231F1}" srcId="{D5C8C534-B55B-41EF-88DB-ED9C24EBB7FC}" destId="{876F12A8-3CBF-4C23-9511-B3BE912EE8A9}" srcOrd="0" destOrd="0" parTransId="{1BEBABA3-2449-4976-9CA0-CD33A6A3B3B9}" sibTransId="{9D64F3A3-F0ED-495F-BD66-97CC72F1F1F0}"/>
    <dgm:cxn modelId="{F163E7A1-F61D-40FA-8D51-09DFBDF63920}" srcId="{D5C8C534-B55B-41EF-88DB-ED9C24EBB7FC}" destId="{EC2ECAB8-A85D-40C7-9117-2AA078A20F63}" srcOrd="2" destOrd="0" parTransId="{5EE77FF3-6958-4AA2-A361-996476EE469F}" sibTransId="{1857EB93-3123-4042-9586-557C94FF38FB}"/>
    <dgm:cxn modelId="{EC0C1EBC-1BB6-4B64-9783-15A05DC6D254}" srcId="{876F12A8-3CBF-4C23-9511-B3BE912EE8A9}" destId="{0C5135B2-B7D9-4A56-B321-EACBE96AD852}" srcOrd="5" destOrd="0" parTransId="{AFF35C9C-E88B-481D-A218-745179C42A89}" sibTransId="{2AF380E5-541E-476E-A57D-2AF52F0FD3CF}"/>
    <dgm:cxn modelId="{B584686C-FF56-43FC-A6E9-BFDC110D0F3A}" srcId="{5A047D2B-AE09-4A6A-B06B-F9BE7B733FC6}" destId="{F0649716-B277-4246-B4C1-BC542F322F8A}" srcOrd="4" destOrd="0" parTransId="{27839B55-E584-422D-B72E-32A347E21FD6}" sibTransId="{3CA4F354-DF59-45C6-AF13-28268C39518D}"/>
    <dgm:cxn modelId="{42DD364C-F605-4827-9F12-A456995B678B}" type="presOf" srcId="{B388BF5D-1F28-4429-9317-BEF154AD918C}" destId="{AAB1147D-BCEB-4287-850D-0C28E16B7E63}" srcOrd="0" destOrd="7" presId="urn:microsoft.com/office/officeart/2005/8/layout/hList1"/>
    <dgm:cxn modelId="{4627018E-E5D7-4E26-85CE-06593E41F0EE}" type="presOf" srcId="{8FA580CD-2825-4C51-B1DE-E59D1B218141}" destId="{2CE42794-9563-4A96-B9CC-520A06D6EE9D}" srcOrd="0" destOrd="5" presId="urn:microsoft.com/office/officeart/2005/8/layout/hList1"/>
    <dgm:cxn modelId="{753A0656-DAA6-4BA1-A3A5-86407AE2752C}" type="presOf" srcId="{F0649716-B277-4246-B4C1-BC542F322F8A}" destId="{882F28AC-AD1B-4E0E-AEA6-8989F5CE6A35}" srcOrd="0" destOrd="4" presId="urn:microsoft.com/office/officeart/2005/8/layout/hList1"/>
    <dgm:cxn modelId="{D71B0854-94D7-4E70-9906-79916BDF1C2E}" srcId="{876F12A8-3CBF-4C23-9511-B3BE912EE8A9}" destId="{ED3D8A5C-A004-4F25-9E95-105C5CBAC5B8}" srcOrd="4" destOrd="0" parTransId="{2602785F-5020-4C37-9349-25B3C6EB8027}" sibTransId="{B91310B6-65D7-4C98-8D22-83CC38A1C4FE}"/>
    <dgm:cxn modelId="{6B9CF88E-D759-408B-907B-8345972F155C}" type="presOf" srcId="{13C8241D-30EB-4DA5-91CE-6455887CB532}" destId="{882F28AC-AD1B-4E0E-AEA6-8989F5CE6A35}" srcOrd="0" destOrd="3" presId="urn:microsoft.com/office/officeart/2005/8/layout/hList1"/>
    <dgm:cxn modelId="{36860DE1-6F5F-4025-A828-41782B80E483}" srcId="{EC2ECAB8-A85D-40C7-9117-2AA078A20F63}" destId="{F3C8CAEE-C3C5-4F4E-B8D6-95CD478198FC}" srcOrd="0" destOrd="0" parTransId="{5285F996-D863-41D2-BCDC-C49BA518BF7E}" sibTransId="{E224FB83-0D9D-4738-BEF7-DDCB4BC4B3E5}"/>
    <dgm:cxn modelId="{321A53BE-BF9D-4125-BA5A-57A853B2E459}" type="presOf" srcId="{52B1E9F8-FF5A-4290-A2EE-04416696410E}" destId="{20330B3A-115A-4449-BBD2-F1DF7DA08C27}" srcOrd="0" destOrd="0" presId="urn:microsoft.com/office/officeart/2005/8/layout/hList1"/>
    <dgm:cxn modelId="{CBD1C9AE-9CB6-4DAC-9A13-CF429A4CF2CE}" srcId="{5A047D2B-AE09-4A6A-B06B-F9BE7B733FC6}" destId="{3D5166C9-5BA2-4001-892D-F49F4600D5B7}" srcOrd="0" destOrd="0" parTransId="{65196C88-0272-4B87-95C5-9ECF31C690C5}" sibTransId="{7A884809-F420-4DBC-B4D1-42CD63AA7E48}"/>
    <dgm:cxn modelId="{265137D6-1781-4715-9996-EB276C2762A1}" type="presOf" srcId="{884C6235-9D16-4D95-BC42-131FB482992D}" destId="{2CE42794-9563-4A96-B9CC-520A06D6EE9D}" srcOrd="0" destOrd="2" presId="urn:microsoft.com/office/officeart/2005/8/layout/hList1"/>
    <dgm:cxn modelId="{FCF9EBB7-7FF7-4D46-BCA0-3F86425F0D12}" type="presOf" srcId="{2BB21CFB-3C14-4EE0-BF97-9DE197EDB4FB}" destId="{8901B344-4CDE-44D5-B022-7E0CE2C33BF0}" srcOrd="0" destOrd="3" presId="urn:microsoft.com/office/officeart/2005/8/layout/hList1"/>
    <dgm:cxn modelId="{EF253D2C-88A1-4A17-A421-A437AB497084}" srcId="{EC2ECAB8-A85D-40C7-9117-2AA078A20F63}" destId="{5EA30DCB-652C-49B8-9D97-8AF54B4F7E80}" srcOrd="3" destOrd="0" parTransId="{FAB1DA54-8633-4DA2-80C9-DA6F0989C0DB}" sibTransId="{B8684FF1-2E11-4AA1-8744-0C5546446438}"/>
    <dgm:cxn modelId="{38793140-22FB-4290-95F5-D68F82D5906E}" srcId="{52B1E9F8-FF5A-4290-A2EE-04416696410E}" destId="{5DCF5F03-40E3-4DF7-8D0C-5B2AC04E9710}" srcOrd="2" destOrd="0" parTransId="{F587DB87-8C05-45E8-821D-48A0E1934C89}" sibTransId="{D015357F-31D5-4BDE-9234-A074B01E35F1}"/>
    <dgm:cxn modelId="{A9E9F917-8C31-4E28-B7FE-3F0987B0D126}" type="presOf" srcId="{DFACE991-8E53-485A-907C-1EFB2848046C}" destId="{8901B344-4CDE-44D5-B022-7E0CE2C33BF0}" srcOrd="0" destOrd="0" presId="urn:microsoft.com/office/officeart/2005/8/layout/hList1"/>
    <dgm:cxn modelId="{23BA4B33-DABD-464F-9CA5-1393754BA229}" type="presOf" srcId="{59007718-4FEB-43D9-B9E5-8114FFCD746C}" destId="{2CE42794-9563-4A96-B9CC-520A06D6EE9D}" srcOrd="0" destOrd="7" presId="urn:microsoft.com/office/officeart/2005/8/layout/hList1"/>
    <dgm:cxn modelId="{555B5F87-EAA2-4BF5-A85A-067F5B333468}" srcId="{52B1E9F8-FF5A-4290-A2EE-04416696410E}" destId="{DFACE991-8E53-485A-907C-1EFB2848046C}" srcOrd="0" destOrd="0" parTransId="{522FA040-2423-4F5F-A378-E20632813270}" sibTransId="{79202294-FE13-49A9-BC9A-1A8E948266D7}"/>
    <dgm:cxn modelId="{6477DD6F-8191-4390-B4DF-FA9A84E61F4F}" srcId="{876F12A8-3CBF-4C23-9511-B3BE912EE8A9}" destId="{77261A98-EA16-48DE-BDEC-862B033DFA44}" srcOrd="0" destOrd="0" parTransId="{4AE48503-4481-4041-AD0D-FB09D10A177D}" sibTransId="{F5E35242-EFA8-4231-BC41-3E8B48AEE665}"/>
    <dgm:cxn modelId="{DDA29D37-E8F9-42C3-B045-6EF36EA64061}" srcId="{D5C8C534-B55B-41EF-88DB-ED9C24EBB7FC}" destId="{5A047D2B-AE09-4A6A-B06B-F9BE7B733FC6}" srcOrd="3" destOrd="0" parTransId="{8B477AFB-3BB3-4E4F-A613-7C77A347B362}" sibTransId="{2A70620D-A631-4E94-958B-CBD6322152E7}"/>
    <dgm:cxn modelId="{0081D104-2DD6-42A6-9581-F54A0DD4A7F2}" type="presOf" srcId="{3D5166C9-5BA2-4001-892D-F49F4600D5B7}" destId="{882F28AC-AD1B-4E0E-AEA6-8989F5CE6A35}" srcOrd="0" destOrd="0" presId="urn:microsoft.com/office/officeart/2005/8/layout/hList1"/>
    <dgm:cxn modelId="{A960D218-BB75-455A-95BF-012050E1AFB9}" srcId="{876F12A8-3CBF-4C23-9511-B3BE912EE8A9}" destId="{C896329D-659F-41D8-8428-23F35A3F2A7F}" srcOrd="2" destOrd="0" parTransId="{1095EFC7-C63D-462E-9409-7653C01AAA33}" sibTransId="{B35503A3-5959-4612-89F8-373578912E93}"/>
    <dgm:cxn modelId="{EA64118D-FE88-4176-8171-8F945D106140}" type="presOf" srcId="{8FD7E9F2-2311-44BE-9382-0FD689EB7EE2}" destId="{2CE42794-9563-4A96-B9CC-520A06D6EE9D}" srcOrd="0" destOrd="1" presId="urn:microsoft.com/office/officeart/2005/8/layout/hList1"/>
    <dgm:cxn modelId="{59B3EA95-794A-41E4-AD77-16978C50CA9E}" srcId="{876F12A8-3CBF-4C23-9511-B3BE912EE8A9}" destId="{C47477C1-EBA0-4A69-9865-EEB1CC3C0A49}" srcOrd="1" destOrd="0" parTransId="{2DAF60AF-9674-4AD9-9AC9-067991921028}" sibTransId="{3208B049-162D-4726-BC74-C2FDF40ED359}"/>
    <dgm:cxn modelId="{2A40F374-3778-4829-B7F0-AC1E0BA20E6C}" type="presOf" srcId="{1D93A904-DA31-4610-8126-8F418CD7E1E6}" destId="{AAB1147D-BCEB-4287-850D-0C28E16B7E63}" srcOrd="0" destOrd="3" presId="urn:microsoft.com/office/officeart/2005/8/layout/hList1"/>
    <dgm:cxn modelId="{CF06342C-923C-4B1A-A4EC-4D6001BB9FFD}" srcId="{EC2ECAB8-A85D-40C7-9117-2AA078A20F63}" destId="{284F0E1D-70AC-40E5-B58D-8B75F4E28080}" srcOrd="8" destOrd="0" parTransId="{31BA2C00-143D-4E09-82A4-A572C9C79C5A}" sibTransId="{4F7A961E-8DB8-4F44-8B4F-2E1AA56DD794}"/>
    <dgm:cxn modelId="{53AAFA69-5919-4411-8BA0-97982460833A}" type="presOf" srcId="{876F12A8-3CBF-4C23-9511-B3BE912EE8A9}" destId="{8B58748B-2575-4D58-9FA0-9F6CA0DF6B78}" srcOrd="0" destOrd="0" presId="urn:microsoft.com/office/officeart/2005/8/layout/hList1"/>
    <dgm:cxn modelId="{CF519EFD-A2DD-4B69-9F56-3F9C8F4E2CC2}" srcId="{5A047D2B-AE09-4A6A-B06B-F9BE7B733FC6}" destId="{6DCF312A-D696-446F-8AEF-7CC30783908B}" srcOrd="2" destOrd="0" parTransId="{3447F3BB-C176-403F-A440-AAA7B2132DFD}" sibTransId="{800753E0-C5D5-4C74-BD57-FDEE2C16A254}"/>
    <dgm:cxn modelId="{25D78AD7-111E-45EA-B17E-5767226B1533}" srcId="{5A047D2B-AE09-4A6A-B06B-F9BE7B733FC6}" destId="{13C8241D-30EB-4DA5-91CE-6455887CB532}" srcOrd="3" destOrd="0" parTransId="{1D178F00-0239-4F3A-B7E9-B16BC7D40770}" sibTransId="{FF284607-31F0-407C-BDD3-060E3A6EF9D4}"/>
    <dgm:cxn modelId="{558D6982-3136-43B9-B184-56E7146CE86D}" srcId="{EC2ECAB8-A85D-40C7-9117-2AA078A20F63}" destId="{63777967-36A7-42A3-AAA6-F67A82A84365}" srcOrd="4" destOrd="0" parTransId="{F3267288-52D4-4232-8EDE-0C06A198065D}" sibTransId="{F21EB987-DD12-4AE4-A891-7E0A1B3B9F7C}"/>
    <dgm:cxn modelId="{E7C37E4C-54D2-4BC9-B239-CAD8181BEBE4}" srcId="{5A047D2B-AE09-4A6A-B06B-F9BE7B733FC6}" destId="{582737C7-A23B-4BCF-8152-3B1924EDA793}" srcOrd="5" destOrd="0" parTransId="{37F03128-A80E-4CE0-BC23-6DF7CB8A11D8}" sibTransId="{FD69B635-10E7-462F-9558-02A0E5739F4C}"/>
    <dgm:cxn modelId="{9E7140CD-C71A-4264-A563-76FD1D0E0CFB}" type="presOf" srcId="{284F0E1D-70AC-40E5-B58D-8B75F4E28080}" destId="{2CE42794-9563-4A96-B9CC-520A06D6EE9D}" srcOrd="0" destOrd="8" presId="urn:microsoft.com/office/officeart/2005/8/layout/hList1"/>
    <dgm:cxn modelId="{FE654A26-F4BC-4581-A623-90F96598AC10}" type="presOf" srcId="{0C5135B2-B7D9-4A56-B321-EACBE96AD852}" destId="{AAB1147D-BCEB-4287-850D-0C28E16B7E63}" srcOrd="0" destOrd="5" presId="urn:microsoft.com/office/officeart/2005/8/layout/hList1"/>
    <dgm:cxn modelId="{B1CDE7C6-4524-40DE-AC4F-99854FA8E87F}" type="presOf" srcId="{17A262F1-9003-4C77-8F50-D8E5C174B968}" destId="{AAB1147D-BCEB-4287-850D-0C28E16B7E63}" srcOrd="0" destOrd="6" presId="urn:microsoft.com/office/officeart/2005/8/layout/hList1"/>
    <dgm:cxn modelId="{C4829A4C-FE81-4FFD-9523-CF848B8490BB}" type="presOf" srcId="{D72C800D-6A31-4F3A-928F-3FAA9F4B2458}" destId="{8901B344-4CDE-44D5-B022-7E0CE2C33BF0}" srcOrd="0" destOrd="4" presId="urn:microsoft.com/office/officeart/2005/8/layout/hList1"/>
    <dgm:cxn modelId="{CE21C26F-582D-4A7C-84D6-AFC6A17D230F}" type="presOf" srcId="{C896329D-659F-41D8-8428-23F35A3F2A7F}" destId="{AAB1147D-BCEB-4287-850D-0C28E16B7E63}" srcOrd="0" destOrd="2" presId="urn:microsoft.com/office/officeart/2005/8/layout/hList1"/>
    <dgm:cxn modelId="{093D45A2-4B71-42CA-B729-10E9EC1E7764}" type="presOf" srcId="{6DCF312A-D696-446F-8AEF-7CC30783908B}" destId="{882F28AC-AD1B-4E0E-AEA6-8989F5CE6A35}" srcOrd="0" destOrd="2" presId="urn:microsoft.com/office/officeart/2005/8/layout/hList1"/>
    <dgm:cxn modelId="{CDA6BC7E-A67F-48D0-BBE2-6433579387F7}" type="presOf" srcId="{5A047D2B-AE09-4A6A-B06B-F9BE7B733FC6}" destId="{016C0C30-52FC-4CA5-B7B1-35861449347E}" srcOrd="0" destOrd="0" presId="urn:microsoft.com/office/officeart/2005/8/layout/hList1"/>
    <dgm:cxn modelId="{D0A56A45-20F2-4BCA-BD5A-BA373B2638CC}" srcId="{EC2ECAB8-A85D-40C7-9117-2AA078A20F63}" destId="{884C6235-9D16-4D95-BC42-131FB482992D}" srcOrd="2" destOrd="0" parTransId="{0481730D-A61F-4DA9-9627-6BC82C4B148D}" sibTransId="{555AD147-BAC6-43BB-90DD-1130ABA39199}"/>
    <dgm:cxn modelId="{C92E2244-29CD-4B97-A9EE-9B07CC482CB9}" type="presOf" srcId="{582737C7-A23B-4BCF-8152-3B1924EDA793}" destId="{882F28AC-AD1B-4E0E-AEA6-8989F5CE6A35}" srcOrd="0" destOrd="5" presId="urn:microsoft.com/office/officeart/2005/8/layout/hList1"/>
    <dgm:cxn modelId="{7BEB2749-21D2-4EC8-8E7A-780B9E9014E0}" type="presParOf" srcId="{3B2B6EC3-FAFC-4F27-AF22-3209ABD0D639}" destId="{D92851F3-0C0F-489F-A254-A6812400DD0A}" srcOrd="0" destOrd="0" presId="urn:microsoft.com/office/officeart/2005/8/layout/hList1"/>
    <dgm:cxn modelId="{9A2D5874-43A6-4A1C-AE22-7B222052EB46}" type="presParOf" srcId="{D92851F3-0C0F-489F-A254-A6812400DD0A}" destId="{8B58748B-2575-4D58-9FA0-9F6CA0DF6B78}" srcOrd="0" destOrd="0" presId="urn:microsoft.com/office/officeart/2005/8/layout/hList1"/>
    <dgm:cxn modelId="{94AD8765-BD3A-456C-A674-169AC63D9BBA}" type="presParOf" srcId="{D92851F3-0C0F-489F-A254-A6812400DD0A}" destId="{AAB1147D-BCEB-4287-850D-0C28E16B7E63}" srcOrd="1" destOrd="0" presId="urn:microsoft.com/office/officeart/2005/8/layout/hList1"/>
    <dgm:cxn modelId="{82BEF2F5-C020-4B55-884B-E246EABB7C8F}" type="presParOf" srcId="{3B2B6EC3-FAFC-4F27-AF22-3209ABD0D639}" destId="{4F0A595E-783C-4E50-8B40-09F25FB93E7C}" srcOrd="1" destOrd="0" presId="urn:microsoft.com/office/officeart/2005/8/layout/hList1"/>
    <dgm:cxn modelId="{BC4DF5EB-2837-45A1-98B5-1D3CCA706ACD}" type="presParOf" srcId="{3B2B6EC3-FAFC-4F27-AF22-3209ABD0D639}" destId="{D92EDD19-9446-4D94-8EDB-D131762C721A}" srcOrd="2" destOrd="0" presId="urn:microsoft.com/office/officeart/2005/8/layout/hList1"/>
    <dgm:cxn modelId="{D4CFB7B7-F5EE-4349-A56F-CD031B72141A}" type="presParOf" srcId="{D92EDD19-9446-4D94-8EDB-D131762C721A}" destId="{20330B3A-115A-4449-BBD2-F1DF7DA08C27}" srcOrd="0" destOrd="0" presId="urn:microsoft.com/office/officeart/2005/8/layout/hList1"/>
    <dgm:cxn modelId="{CEF214AF-3984-43E2-86D0-69CDE96D9350}" type="presParOf" srcId="{D92EDD19-9446-4D94-8EDB-D131762C721A}" destId="{8901B344-4CDE-44D5-B022-7E0CE2C33BF0}" srcOrd="1" destOrd="0" presId="urn:microsoft.com/office/officeart/2005/8/layout/hList1"/>
    <dgm:cxn modelId="{AA80F246-5983-4166-8B2B-5AD55DFD33BB}" type="presParOf" srcId="{3B2B6EC3-FAFC-4F27-AF22-3209ABD0D639}" destId="{1849843C-4BCF-4CA2-9DF2-6782D020EB95}" srcOrd="3" destOrd="0" presId="urn:microsoft.com/office/officeart/2005/8/layout/hList1"/>
    <dgm:cxn modelId="{EC315378-47D8-4C92-9E78-52D44FED140D}" type="presParOf" srcId="{3B2B6EC3-FAFC-4F27-AF22-3209ABD0D639}" destId="{339E4B24-AAC5-4F06-B52E-2DF3F454F8CD}" srcOrd="4" destOrd="0" presId="urn:microsoft.com/office/officeart/2005/8/layout/hList1"/>
    <dgm:cxn modelId="{8EAB40C8-CBCC-4180-93DF-15CEA190B2D4}" type="presParOf" srcId="{339E4B24-AAC5-4F06-B52E-2DF3F454F8CD}" destId="{E3E6BEB8-B08E-43CD-A3AF-F2B85C4580AD}" srcOrd="0" destOrd="0" presId="urn:microsoft.com/office/officeart/2005/8/layout/hList1"/>
    <dgm:cxn modelId="{F28E21B0-280D-4BD4-93FE-0588CB05DD46}" type="presParOf" srcId="{339E4B24-AAC5-4F06-B52E-2DF3F454F8CD}" destId="{2CE42794-9563-4A96-B9CC-520A06D6EE9D}" srcOrd="1" destOrd="0" presId="urn:microsoft.com/office/officeart/2005/8/layout/hList1"/>
    <dgm:cxn modelId="{1F0D10FA-2AFF-4F4D-9FF5-92DB6A3A9D57}" type="presParOf" srcId="{3B2B6EC3-FAFC-4F27-AF22-3209ABD0D639}" destId="{B11BD261-271F-4274-A770-76A44AED9CB3}" srcOrd="5" destOrd="0" presId="urn:microsoft.com/office/officeart/2005/8/layout/hList1"/>
    <dgm:cxn modelId="{B99CE6DA-3287-4399-B84E-2D8A6E0DFE43}" type="presParOf" srcId="{3B2B6EC3-FAFC-4F27-AF22-3209ABD0D639}" destId="{9FBE3C72-DB3A-46C6-B2EE-4B94FAA24B04}" srcOrd="6" destOrd="0" presId="urn:microsoft.com/office/officeart/2005/8/layout/hList1"/>
    <dgm:cxn modelId="{73DDA5CD-6F60-428A-888E-C6440DF2808D}" type="presParOf" srcId="{9FBE3C72-DB3A-46C6-B2EE-4B94FAA24B04}" destId="{016C0C30-52FC-4CA5-B7B1-35861449347E}" srcOrd="0" destOrd="0" presId="urn:microsoft.com/office/officeart/2005/8/layout/hList1"/>
    <dgm:cxn modelId="{6868AFFF-B03B-447D-8BDA-295015F0C5E1}" type="presParOf" srcId="{9FBE3C72-DB3A-46C6-B2EE-4B94FAA24B04}" destId="{882F28AC-AD1B-4E0E-AEA6-8989F5CE6A35}"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6005D44-E58E-4144-9DA3-7F7BA9C41FAB}" type="doc">
      <dgm:prSet loTypeId="urn:microsoft.com/office/officeart/2005/8/layout/hProcess4" loCatId="process" qsTypeId="urn:microsoft.com/office/officeart/2005/8/quickstyle/simple1" qsCatId="simple" csTypeId="urn:microsoft.com/office/officeart/2005/8/colors/colorful1#10" csCatId="colorful" phldr="1"/>
      <dgm:spPr/>
      <dgm:t>
        <a:bodyPr/>
        <a:lstStyle/>
        <a:p>
          <a:endParaRPr lang="en-US"/>
        </a:p>
      </dgm:t>
    </dgm:pt>
    <dgm:pt modelId="{3238C46E-6273-4BCF-9D6C-F57E4B58A11A}">
      <dgm:prSet custT="1"/>
      <dgm:spPr/>
      <dgm:t>
        <a:bodyPr/>
        <a:lstStyle/>
        <a:p>
          <a:pPr rtl="0"/>
          <a:r>
            <a:rPr lang="fi-FI" sz="1200" dirty="0" smtClean="0"/>
            <a:t>Tarjous-prosessi</a:t>
          </a:r>
          <a:endParaRPr lang="en-US" sz="1200" dirty="0"/>
        </a:p>
      </dgm:t>
    </dgm:pt>
    <dgm:pt modelId="{A6B0C37E-AB52-4203-A44E-DF49D1D4B635}" type="parTrans" cxnId="{77F764AC-AF30-47ED-9847-4E33CBCD76A6}">
      <dgm:prSet/>
      <dgm:spPr/>
      <dgm:t>
        <a:bodyPr/>
        <a:lstStyle/>
        <a:p>
          <a:endParaRPr lang="en-US"/>
        </a:p>
      </dgm:t>
    </dgm:pt>
    <dgm:pt modelId="{766ECC75-9ABC-44FB-A67A-C34E196949B2}" type="sibTrans" cxnId="{77F764AC-AF30-47ED-9847-4E33CBCD76A6}">
      <dgm:prSet/>
      <dgm:spPr/>
      <dgm:t>
        <a:bodyPr/>
        <a:lstStyle/>
        <a:p>
          <a:endParaRPr lang="en-US"/>
        </a:p>
      </dgm:t>
    </dgm:pt>
    <dgm:pt modelId="{C6617C4D-E1A2-4156-B13B-A51C2C8118A1}">
      <dgm:prSet custT="1"/>
      <dgm:spPr/>
      <dgm:t>
        <a:bodyPr/>
        <a:lstStyle/>
        <a:p>
          <a:pPr rtl="0"/>
          <a:r>
            <a:rPr lang="fi-FI" sz="1200" dirty="0" smtClean="0"/>
            <a:t>Sopimuksien syntyminen</a:t>
          </a:r>
          <a:endParaRPr lang="en-US" sz="1200" dirty="0"/>
        </a:p>
      </dgm:t>
    </dgm:pt>
    <dgm:pt modelId="{C50D4634-256E-4CC1-BF96-DD18228FEB8C}" type="parTrans" cxnId="{CDECC5C5-1AC1-4E73-8075-83E182ECD517}">
      <dgm:prSet/>
      <dgm:spPr/>
      <dgm:t>
        <a:bodyPr/>
        <a:lstStyle/>
        <a:p>
          <a:endParaRPr lang="en-US"/>
        </a:p>
      </dgm:t>
    </dgm:pt>
    <dgm:pt modelId="{8257B397-9C95-45EE-9BF4-D4A6C7BFE1BA}" type="sibTrans" cxnId="{CDECC5C5-1AC1-4E73-8075-83E182ECD517}">
      <dgm:prSet/>
      <dgm:spPr/>
      <dgm:t>
        <a:bodyPr/>
        <a:lstStyle/>
        <a:p>
          <a:endParaRPr lang="en-US"/>
        </a:p>
      </dgm:t>
    </dgm:pt>
    <dgm:pt modelId="{AB842AE7-6582-4EF8-8959-0BA0FFF42289}">
      <dgm:prSet custT="1"/>
      <dgm:spPr/>
      <dgm:t>
        <a:bodyPr/>
        <a:lstStyle/>
        <a:p>
          <a:pPr rtl="0"/>
          <a:r>
            <a:rPr lang="fi-FI" sz="1200" dirty="0" smtClean="0"/>
            <a:t>Omat suunnitelmat</a:t>
          </a:r>
          <a:endParaRPr lang="en-US" sz="1200" dirty="0"/>
        </a:p>
      </dgm:t>
    </dgm:pt>
    <dgm:pt modelId="{C85F065C-223D-4CC3-97BF-1CF69CD37C90}" type="parTrans" cxnId="{3D06AEF7-4D58-4B14-A715-4E5DF8E8E8A2}">
      <dgm:prSet/>
      <dgm:spPr/>
      <dgm:t>
        <a:bodyPr/>
        <a:lstStyle/>
        <a:p>
          <a:endParaRPr lang="en-US"/>
        </a:p>
      </dgm:t>
    </dgm:pt>
    <dgm:pt modelId="{04830C55-D854-4ACE-8314-E72E36393FCA}" type="sibTrans" cxnId="{3D06AEF7-4D58-4B14-A715-4E5DF8E8E8A2}">
      <dgm:prSet/>
      <dgm:spPr/>
      <dgm:t>
        <a:bodyPr/>
        <a:lstStyle/>
        <a:p>
          <a:endParaRPr lang="en-US"/>
        </a:p>
      </dgm:t>
    </dgm:pt>
    <dgm:pt modelId="{F0408DB7-BFC9-4645-AF59-8CF099A806F7}">
      <dgm:prSet custT="1"/>
      <dgm:spPr/>
      <dgm:t>
        <a:bodyPr/>
        <a:lstStyle/>
        <a:p>
          <a:pPr rtl="0"/>
          <a:r>
            <a:rPr lang="fi-FI" sz="1200" dirty="0" err="1" smtClean="0"/>
            <a:t>Valmistau-tuminen</a:t>
          </a:r>
          <a:endParaRPr lang="en-US" sz="1200" dirty="0"/>
        </a:p>
      </dgm:t>
    </dgm:pt>
    <dgm:pt modelId="{CB3779CE-2AED-40A1-ACAA-A75E34999872}" type="parTrans" cxnId="{8FD11CA4-9E76-4D45-9CCA-97F2CCD1CB88}">
      <dgm:prSet/>
      <dgm:spPr/>
      <dgm:t>
        <a:bodyPr/>
        <a:lstStyle/>
        <a:p>
          <a:endParaRPr lang="en-US"/>
        </a:p>
      </dgm:t>
    </dgm:pt>
    <dgm:pt modelId="{C4C2E689-CAB0-458D-88F1-346313AE377D}" type="sibTrans" cxnId="{8FD11CA4-9E76-4D45-9CCA-97F2CCD1CB88}">
      <dgm:prSet/>
      <dgm:spPr/>
      <dgm:t>
        <a:bodyPr/>
        <a:lstStyle/>
        <a:p>
          <a:endParaRPr lang="en-US"/>
        </a:p>
      </dgm:t>
    </dgm:pt>
    <dgm:pt modelId="{80E9956A-23C0-4C73-883C-C0BEB03821EB}">
      <dgm:prSet custT="1"/>
      <dgm:spPr/>
      <dgm:t>
        <a:bodyPr/>
        <a:lstStyle/>
        <a:p>
          <a:pPr rtl="0"/>
          <a:r>
            <a:rPr lang="fi-FI" sz="1200" dirty="0" smtClean="0"/>
            <a:t>Testaus ja viimeistely</a:t>
          </a:r>
          <a:endParaRPr lang="en-US" sz="1200" dirty="0"/>
        </a:p>
      </dgm:t>
    </dgm:pt>
    <dgm:pt modelId="{D95097C3-44FE-4A5A-A30D-7BE3F1AAE9A3}" type="parTrans" cxnId="{7C8484E5-BBC4-4A37-8F57-5E07CA20EE11}">
      <dgm:prSet/>
      <dgm:spPr/>
      <dgm:t>
        <a:bodyPr/>
        <a:lstStyle/>
        <a:p>
          <a:endParaRPr lang="en-US"/>
        </a:p>
      </dgm:t>
    </dgm:pt>
    <dgm:pt modelId="{67A77F71-CCF2-4D53-BCA0-62234D6949BA}" type="sibTrans" cxnId="{7C8484E5-BBC4-4A37-8F57-5E07CA20EE11}">
      <dgm:prSet/>
      <dgm:spPr/>
      <dgm:t>
        <a:bodyPr/>
        <a:lstStyle/>
        <a:p>
          <a:endParaRPr lang="en-US"/>
        </a:p>
      </dgm:t>
    </dgm:pt>
    <dgm:pt modelId="{B84B109B-CA66-4C72-90CB-DBF29A6D5B85}">
      <dgm:prSet/>
      <dgm:spPr/>
      <dgm:t>
        <a:bodyPr/>
        <a:lstStyle/>
        <a:p>
          <a:pPr rtl="0"/>
          <a:r>
            <a:rPr lang="fi-FI" dirty="0" smtClean="0"/>
            <a:t>Hyväksymistestauksen edellytykset kunnossa?</a:t>
          </a:r>
          <a:endParaRPr lang="en-US" dirty="0"/>
        </a:p>
      </dgm:t>
    </dgm:pt>
    <dgm:pt modelId="{2DB57D93-EF5D-4E8F-B85D-60612F3E6FD0}" type="parTrans" cxnId="{7EF4A718-CB18-47FA-BB2E-6201001BE093}">
      <dgm:prSet/>
      <dgm:spPr/>
      <dgm:t>
        <a:bodyPr/>
        <a:lstStyle/>
        <a:p>
          <a:endParaRPr lang="en-US"/>
        </a:p>
      </dgm:t>
    </dgm:pt>
    <dgm:pt modelId="{47870A19-A8B8-462D-9F72-D4E8AEB28D48}" type="sibTrans" cxnId="{7EF4A718-CB18-47FA-BB2E-6201001BE093}">
      <dgm:prSet/>
      <dgm:spPr/>
      <dgm:t>
        <a:bodyPr/>
        <a:lstStyle/>
        <a:p>
          <a:endParaRPr lang="en-US"/>
        </a:p>
      </dgm:t>
    </dgm:pt>
    <dgm:pt modelId="{258DB33E-6B1F-4311-98EE-E66534633B03}">
      <dgm:prSet custT="1"/>
      <dgm:spPr/>
      <dgm:t>
        <a:bodyPr/>
        <a:lstStyle/>
        <a:p>
          <a:pPr rtl="0"/>
          <a:r>
            <a:rPr lang="fi-FI" sz="1200" dirty="0" err="1" smtClean="0"/>
            <a:t>Täydentä-minen</a:t>
          </a:r>
          <a:endParaRPr lang="en-US" sz="1200" dirty="0"/>
        </a:p>
      </dgm:t>
    </dgm:pt>
    <dgm:pt modelId="{13076CB9-D519-49F7-AFE1-9CE17139442F}" type="parTrans" cxnId="{ED109906-AA79-4D6A-A7EA-8C09A89DC0A0}">
      <dgm:prSet/>
      <dgm:spPr/>
      <dgm:t>
        <a:bodyPr/>
        <a:lstStyle/>
        <a:p>
          <a:endParaRPr lang="en-US"/>
        </a:p>
      </dgm:t>
    </dgm:pt>
    <dgm:pt modelId="{A33BA94C-02F4-49D8-8DAF-D2297779859F}" type="sibTrans" cxnId="{ED109906-AA79-4D6A-A7EA-8C09A89DC0A0}">
      <dgm:prSet/>
      <dgm:spPr/>
      <dgm:t>
        <a:bodyPr/>
        <a:lstStyle/>
        <a:p>
          <a:endParaRPr lang="en-US"/>
        </a:p>
      </dgm:t>
    </dgm:pt>
    <dgm:pt modelId="{39C341C2-0790-4A78-BA34-CA1AD27E4EDD}">
      <dgm:prSet/>
      <dgm:spPr/>
      <dgm:t>
        <a:bodyPr/>
        <a:lstStyle/>
        <a:p>
          <a:pPr rtl="0"/>
          <a:r>
            <a:rPr lang="fi-FI" dirty="0" smtClean="0"/>
            <a:t>Arvio vaihtoehdoista testauksen ja laadunvarmistuksen näkökulmasta</a:t>
          </a:r>
          <a:endParaRPr lang="en-US" dirty="0"/>
        </a:p>
      </dgm:t>
    </dgm:pt>
    <dgm:pt modelId="{1B2B7922-89C3-49A8-BAF0-623DEED84E48}" type="parTrans" cxnId="{99A933B9-F4AA-4804-B689-A98A6A91434C}">
      <dgm:prSet/>
      <dgm:spPr/>
      <dgm:t>
        <a:bodyPr/>
        <a:lstStyle/>
        <a:p>
          <a:endParaRPr lang="en-US"/>
        </a:p>
      </dgm:t>
    </dgm:pt>
    <dgm:pt modelId="{070C5254-8659-4F25-8DCF-40CADB96F538}" type="sibTrans" cxnId="{99A933B9-F4AA-4804-B689-A98A6A91434C}">
      <dgm:prSet/>
      <dgm:spPr/>
      <dgm:t>
        <a:bodyPr/>
        <a:lstStyle/>
        <a:p>
          <a:endParaRPr lang="en-US"/>
        </a:p>
      </dgm:t>
    </dgm:pt>
    <dgm:pt modelId="{837E765A-4512-4D24-916C-A226F88C2CDD}">
      <dgm:prSet/>
      <dgm:spPr/>
      <dgm:t>
        <a:bodyPr/>
        <a:lstStyle/>
        <a:p>
          <a:pPr rtl="0"/>
          <a:r>
            <a:rPr lang="fi-FI" dirty="0" smtClean="0"/>
            <a:t>Edellytysten sopimuksellinen varmistaminen</a:t>
          </a:r>
          <a:endParaRPr lang="en-US" dirty="0"/>
        </a:p>
      </dgm:t>
    </dgm:pt>
    <dgm:pt modelId="{D2F02EC1-BC6D-4438-8D1F-44928EF6249E}" type="parTrans" cxnId="{FE7B80BD-EAC6-4737-9340-212F559B50DE}">
      <dgm:prSet/>
      <dgm:spPr/>
      <dgm:t>
        <a:bodyPr/>
        <a:lstStyle/>
        <a:p>
          <a:endParaRPr lang="en-US"/>
        </a:p>
      </dgm:t>
    </dgm:pt>
    <dgm:pt modelId="{996B2E8C-B9B4-41A2-BEF5-99320C23D8F9}" type="sibTrans" cxnId="{FE7B80BD-EAC6-4737-9340-212F559B50DE}">
      <dgm:prSet/>
      <dgm:spPr/>
      <dgm:t>
        <a:bodyPr/>
        <a:lstStyle/>
        <a:p>
          <a:endParaRPr lang="en-US"/>
        </a:p>
      </dgm:t>
    </dgm:pt>
    <dgm:pt modelId="{746F77C0-9F2A-462D-86B6-DF7061A44A4B}">
      <dgm:prSet/>
      <dgm:spPr/>
      <dgm:t>
        <a:bodyPr/>
        <a:lstStyle/>
        <a:p>
          <a:pPr rtl="0"/>
          <a:r>
            <a:rPr lang="fi-FI" dirty="0" smtClean="0"/>
            <a:t>Hyväksymistestaus osana tietotekniikkahankkeen organisoitumista</a:t>
          </a:r>
          <a:endParaRPr lang="en-US" dirty="0"/>
        </a:p>
      </dgm:t>
    </dgm:pt>
    <dgm:pt modelId="{DCB6B1D5-1F25-4A92-BC86-FAD7444FF7DA}" type="parTrans" cxnId="{56213234-4721-47A0-90DC-74345E6096F1}">
      <dgm:prSet/>
      <dgm:spPr/>
      <dgm:t>
        <a:bodyPr/>
        <a:lstStyle/>
        <a:p>
          <a:endParaRPr lang="en-US"/>
        </a:p>
      </dgm:t>
    </dgm:pt>
    <dgm:pt modelId="{8771D43F-15E5-41E2-BAC5-AF318540B176}" type="sibTrans" cxnId="{56213234-4721-47A0-90DC-74345E6096F1}">
      <dgm:prSet/>
      <dgm:spPr/>
      <dgm:t>
        <a:bodyPr/>
        <a:lstStyle/>
        <a:p>
          <a:endParaRPr lang="en-US"/>
        </a:p>
      </dgm:t>
    </dgm:pt>
    <dgm:pt modelId="{A51A14DD-D154-4680-B3CD-94F4E33EB5F0}">
      <dgm:prSet/>
      <dgm:spPr/>
      <dgm:t>
        <a:bodyPr/>
        <a:lstStyle/>
        <a:p>
          <a:pPr rtl="0"/>
          <a:r>
            <a:rPr lang="fi-FI" dirty="0" smtClean="0"/>
            <a:t>Hyväksymistestaus-valmiuksien luominen</a:t>
          </a:r>
          <a:endParaRPr lang="en-US" dirty="0"/>
        </a:p>
      </dgm:t>
    </dgm:pt>
    <dgm:pt modelId="{53C56CE9-9919-4D7B-8CAF-561AC3437D75}" type="parTrans" cxnId="{A7A982F4-5C19-448A-9EE3-3F9E6CF56143}">
      <dgm:prSet/>
      <dgm:spPr/>
      <dgm:t>
        <a:bodyPr/>
        <a:lstStyle/>
        <a:p>
          <a:endParaRPr lang="en-US"/>
        </a:p>
      </dgm:t>
    </dgm:pt>
    <dgm:pt modelId="{1EFDF3C0-11EF-4606-A80B-4A68E30F7C32}" type="sibTrans" cxnId="{A7A982F4-5C19-448A-9EE3-3F9E6CF56143}">
      <dgm:prSet/>
      <dgm:spPr/>
      <dgm:t>
        <a:bodyPr/>
        <a:lstStyle/>
        <a:p>
          <a:endParaRPr lang="en-US"/>
        </a:p>
      </dgm:t>
    </dgm:pt>
    <dgm:pt modelId="{D47C19E2-D364-4D9A-8E35-CEA7A9C805B0}">
      <dgm:prSet/>
      <dgm:spPr/>
      <dgm:t>
        <a:bodyPr/>
        <a:lstStyle/>
        <a:p>
          <a:pPr rtl="0"/>
          <a:r>
            <a:rPr lang="fi-FI" dirty="0" smtClean="0"/>
            <a:t>Tilanneanalyysi muutostarpeista</a:t>
          </a:r>
          <a:endParaRPr lang="en-US" dirty="0"/>
        </a:p>
      </dgm:t>
    </dgm:pt>
    <dgm:pt modelId="{608519B1-D1DD-411F-9A2E-A5B236B7FC8C}" type="parTrans" cxnId="{D8EF2F0F-54B6-4BD8-BF1C-398F5B43ABCA}">
      <dgm:prSet/>
      <dgm:spPr/>
      <dgm:t>
        <a:bodyPr/>
        <a:lstStyle/>
        <a:p>
          <a:endParaRPr lang="en-US"/>
        </a:p>
      </dgm:t>
    </dgm:pt>
    <dgm:pt modelId="{0D151474-8A9E-410C-91CB-9AD4E3960E6C}" type="sibTrans" cxnId="{D8EF2F0F-54B6-4BD8-BF1C-398F5B43ABCA}">
      <dgm:prSet/>
      <dgm:spPr/>
      <dgm:t>
        <a:bodyPr/>
        <a:lstStyle/>
        <a:p>
          <a:endParaRPr lang="en-US"/>
        </a:p>
      </dgm:t>
    </dgm:pt>
    <dgm:pt modelId="{17AA6850-3F79-49AF-A9EE-BB099FDC25AA}">
      <dgm:prSet/>
      <dgm:spPr/>
      <dgm:t>
        <a:bodyPr/>
        <a:lstStyle/>
        <a:p>
          <a:pPr rtl="0"/>
          <a:r>
            <a:rPr lang="fi-FI" dirty="0" smtClean="0"/>
            <a:t>Tarpeelliset tiedot hyväksymispäätökselle</a:t>
          </a:r>
          <a:endParaRPr lang="en-US" dirty="0"/>
        </a:p>
      </dgm:t>
    </dgm:pt>
    <dgm:pt modelId="{8841B58B-0C54-4C86-B4F6-BF90A0564C0C}" type="parTrans" cxnId="{09B3A0BC-F433-4C38-BC85-72BC2F4B7B31}">
      <dgm:prSet/>
      <dgm:spPr/>
      <dgm:t>
        <a:bodyPr/>
        <a:lstStyle/>
        <a:p>
          <a:endParaRPr lang="en-US"/>
        </a:p>
      </dgm:t>
    </dgm:pt>
    <dgm:pt modelId="{F71634A5-B7D2-4C94-9ACA-5D96C80A41E6}" type="sibTrans" cxnId="{09B3A0BC-F433-4C38-BC85-72BC2F4B7B31}">
      <dgm:prSet/>
      <dgm:spPr/>
      <dgm:t>
        <a:bodyPr/>
        <a:lstStyle/>
        <a:p>
          <a:endParaRPr lang="en-US"/>
        </a:p>
      </dgm:t>
    </dgm:pt>
    <dgm:pt modelId="{C7783255-FB05-4835-BC91-1A0560200C3B}">
      <dgm:prSet/>
      <dgm:spPr/>
      <dgm:t>
        <a:bodyPr/>
        <a:lstStyle/>
        <a:p>
          <a:pPr rtl="0"/>
          <a:r>
            <a:rPr lang="fi-FI" dirty="0" smtClean="0"/>
            <a:t>Sopimushyväksyntä ja </a:t>
          </a:r>
          <a:r>
            <a:rPr lang="fi-FI" dirty="0" err="1" smtClean="0"/>
            <a:t>tuotantoonhyväksyntä</a:t>
          </a:r>
          <a:endParaRPr lang="en-US" dirty="0"/>
        </a:p>
      </dgm:t>
    </dgm:pt>
    <dgm:pt modelId="{455FD4E3-667E-4A94-90AB-05EE934288ED}" type="parTrans" cxnId="{FBAC0F7B-EF1E-4C9B-8036-9360BD5D66B8}">
      <dgm:prSet/>
      <dgm:spPr/>
      <dgm:t>
        <a:bodyPr/>
        <a:lstStyle/>
        <a:p>
          <a:endParaRPr lang="en-US"/>
        </a:p>
      </dgm:t>
    </dgm:pt>
    <dgm:pt modelId="{0E586DC7-3A44-47FA-B515-734C6F051EE3}" type="sibTrans" cxnId="{FBAC0F7B-EF1E-4C9B-8036-9360BD5D66B8}">
      <dgm:prSet/>
      <dgm:spPr/>
      <dgm:t>
        <a:bodyPr/>
        <a:lstStyle/>
        <a:p>
          <a:endParaRPr lang="en-US"/>
        </a:p>
      </dgm:t>
    </dgm:pt>
    <dgm:pt modelId="{B1285643-ACD7-4548-9515-C07A748F6113}">
      <dgm:prSet/>
      <dgm:spPr/>
      <dgm:t>
        <a:bodyPr/>
        <a:lstStyle/>
        <a:p>
          <a:pPr rtl="0"/>
          <a:r>
            <a:rPr lang="fi-FI" dirty="0" smtClean="0"/>
            <a:t>Toimittajan testaukseen reagointi</a:t>
          </a:r>
          <a:endParaRPr lang="en-US" dirty="0"/>
        </a:p>
      </dgm:t>
    </dgm:pt>
    <dgm:pt modelId="{EAF585A2-B7FD-4DAD-A2C4-01B6576E6C9C}" type="parTrans" cxnId="{09AFF141-1632-424B-9913-4E6B7D3A610E}">
      <dgm:prSet/>
      <dgm:spPr/>
      <dgm:t>
        <a:bodyPr/>
        <a:lstStyle/>
        <a:p>
          <a:endParaRPr lang="en-US"/>
        </a:p>
      </dgm:t>
    </dgm:pt>
    <dgm:pt modelId="{32D60315-FCE3-481C-97F5-92416E2E2189}" type="sibTrans" cxnId="{09AFF141-1632-424B-9913-4E6B7D3A610E}">
      <dgm:prSet/>
      <dgm:spPr/>
      <dgm:t>
        <a:bodyPr/>
        <a:lstStyle/>
        <a:p>
          <a:endParaRPr lang="en-US"/>
        </a:p>
      </dgm:t>
    </dgm:pt>
    <dgm:pt modelId="{0774A170-7B1E-4678-87B4-A8DBB00381B0}" type="pres">
      <dgm:prSet presAssocID="{66005D44-E58E-4144-9DA3-7F7BA9C41FAB}" presName="Name0" presStyleCnt="0">
        <dgm:presLayoutVars>
          <dgm:dir/>
          <dgm:animLvl val="lvl"/>
          <dgm:resizeHandles val="exact"/>
        </dgm:presLayoutVars>
      </dgm:prSet>
      <dgm:spPr/>
      <dgm:t>
        <a:bodyPr/>
        <a:lstStyle/>
        <a:p>
          <a:endParaRPr lang="en-US"/>
        </a:p>
      </dgm:t>
    </dgm:pt>
    <dgm:pt modelId="{FCE13242-86C5-4F74-AA76-08BD8F2A91B7}" type="pres">
      <dgm:prSet presAssocID="{66005D44-E58E-4144-9DA3-7F7BA9C41FAB}" presName="tSp" presStyleCnt="0"/>
      <dgm:spPr/>
    </dgm:pt>
    <dgm:pt modelId="{01BC4A80-1286-4BEF-B7EA-DD617A277D0F}" type="pres">
      <dgm:prSet presAssocID="{66005D44-E58E-4144-9DA3-7F7BA9C41FAB}" presName="bSp" presStyleCnt="0"/>
      <dgm:spPr/>
    </dgm:pt>
    <dgm:pt modelId="{9A4532A7-6310-4304-B1EC-61110FC20C08}" type="pres">
      <dgm:prSet presAssocID="{66005D44-E58E-4144-9DA3-7F7BA9C41FAB}" presName="process" presStyleCnt="0"/>
      <dgm:spPr/>
    </dgm:pt>
    <dgm:pt modelId="{0F731B6B-CFBA-4019-95DC-D0F8AE364FCB}" type="pres">
      <dgm:prSet presAssocID="{3238C46E-6273-4BCF-9D6C-F57E4B58A11A}" presName="composite1" presStyleCnt="0"/>
      <dgm:spPr/>
    </dgm:pt>
    <dgm:pt modelId="{CF100B87-4370-4103-9018-91B7473EBC36}" type="pres">
      <dgm:prSet presAssocID="{3238C46E-6273-4BCF-9D6C-F57E4B58A11A}" presName="dummyNode1" presStyleLbl="node1" presStyleIdx="0" presStyleCnt="6"/>
      <dgm:spPr/>
    </dgm:pt>
    <dgm:pt modelId="{1A216438-0285-49FA-A267-42725CEF5B9D}" type="pres">
      <dgm:prSet presAssocID="{3238C46E-6273-4BCF-9D6C-F57E4B58A11A}" presName="childNode1" presStyleLbl="bgAcc1" presStyleIdx="0" presStyleCnt="6">
        <dgm:presLayoutVars>
          <dgm:bulletEnabled val="1"/>
        </dgm:presLayoutVars>
      </dgm:prSet>
      <dgm:spPr/>
      <dgm:t>
        <a:bodyPr/>
        <a:lstStyle/>
        <a:p>
          <a:endParaRPr lang="en-US"/>
        </a:p>
      </dgm:t>
    </dgm:pt>
    <dgm:pt modelId="{9F4AE6E7-A878-4B6B-9106-78DACF3FD835}" type="pres">
      <dgm:prSet presAssocID="{3238C46E-6273-4BCF-9D6C-F57E4B58A11A}" presName="childNode1tx" presStyleLbl="bgAcc1" presStyleIdx="0" presStyleCnt="6">
        <dgm:presLayoutVars>
          <dgm:bulletEnabled val="1"/>
        </dgm:presLayoutVars>
      </dgm:prSet>
      <dgm:spPr/>
      <dgm:t>
        <a:bodyPr/>
        <a:lstStyle/>
        <a:p>
          <a:endParaRPr lang="en-US"/>
        </a:p>
      </dgm:t>
    </dgm:pt>
    <dgm:pt modelId="{53139389-E258-4AFE-9863-D755AB7A2AD4}" type="pres">
      <dgm:prSet presAssocID="{3238C46E-6273-4BCF-9D6C-F57E4B58A11A}" presName="parentNode1" presStyleLbl="node1" presStyleIdx="0" presStyleCnt="6">
        <dgm:presLayoutVars>
          <dgm:chMax val="1"/>
          <dgm:bulletEnabled val="1"/>
        </dgm:presLayoutVars>
      </dgm:prSet>
      <dgm:spPr/>
      <dgm:t>
        <a:bodyPr/>
        <a:lstStyle/>
        <a:p>
          <a:endParaRPr lang="en-US"/>
        </a:p>
      </dgm:t>
    </dgm:pt>
    <dgm:pt modelId="{B16D8E3B-015F-4F33-B125-84B207EFA959}" type="pres">
      <dgm:prSet presAssocID="{3238C46E-6273-4BCF-9D6C-F57E4B58A11A}" presName="connSite1" presStyleCnt="0"/>
      <dgm:spPr/>
    </dgm:pt>
    <dgm:pt modelId="{00C059B6-A293-4F06-8BBE-A96631B4D6E4}" type="pres">
      <dgm:prSet presAssocID="{766ECC75-9ABC-44FB-A67A-C34E196949B2}" presName="Name9" presStyleLbl="sibTrans2D1" presStyleIdx="0" presStyleCnt="5"/>
      <dgm:spPr/>
      <dgm:t>
        <a:bodyPr/>
        <a:lstStyle/>
        <a:p>
          <a:endParaRPr lang="en-US"/>
        </a:p>
      </dgm:t>
    </dgm:pt>
    <dgm:pt modelId="{3B3C328E-A6C8-409D-A098-1FB8A21AD81D}" type="pres">
      <dgm:prSet presAssocID="{C6617C4D-E1A2-4156-B13B-A51C2C8118A1}" presName="composite2" presStyleCnt="0"/>
      <dgm:spPr/>
    </dgm:pt>
    <dgm:pt modelId="{F3BC6BE0-6A1F-4C7E-862B-0F1A173310C8}" type="pres">
      <dgm:prSet presAssocID="{C6617C4D-E1A2-4156-B13B-A51C2C8118A1}" presName="dummyNode2" presStyleLbl="node1" presStyleIdx="0" presStyleCnt="6"/>
      <dgm:spPr/>
    </dgm:pt>
    <dgm:pt modelId="{C582EA06-BC04-4487-8E70-BE0C787D1385}" type="pres">
      <dgm:prSet presAssocID="{C6617C4D-E1A2-4156-B13B-A51C2C8118A1}" presName="childNode2" presStyleLbl="bgAcc1" presStyleIdx="1" presStyleCnt="6">
        <dgm:presLayoutVars>
          <dgm:bulletEnabled val="1"/>
        </dgm:presLayoutVars>
      </dgm:prSet>
      <dgm:spPr/>
      <dgm:t>
        <a:bodyPr/>
        <a:lstStyle/>
        <a:p>
          <a:endParaRPr lang="en-US"/>
        </a:p>
      </dgm:t>
    </dgm:pt>
    <dgm:pt modelId="{DEB76171-DDE2-4D67-8F79-FCC78748F898}" type="pres">
      <dgm:prSet presAssocID="{C6617C4D-E1A2-4156-B13B-A51C2C8118A1}" presName="childNode2tx" presStyleLbl="bgAcc1" presStyleIdx="1" presStyleCnt="6">
        <dgm:presLayoutVars>
          <dgm:bulletEnabled val="1"/>
        </dgm:presLayoutVars>
      </dgm:prSet>
      <dgm:spPr/>
      <dgm:t>
        <a:bodyPr/>
        <a:lstStyle/>
        <a:p>
          <a:endParaRPr lang="en-US"/>
        </a:p>
      </dgm:t>
    </dgm:pt>
    <dgm:pt modelId="{3E2DAF18-08B1-4930-802A-E1EB525128F8}" type="pres">
      <dgm:prSet presAssocID="{C6617C4D-E1A2-4156-B13B-A51C2C8118A1}" presName="parentNode2" presStyleLbl="node1" presStyleIdx="1" presStyleCnt="6">
        <dgm:presLayoutVars>
          <dgm:chMax val="0"/>
          <dgm:bulletEnabled val="1"/>
        </dgm:presLayoutVars>
      </dgm:prSet>
      <dgm:spPr/>
      <dgm:t>
        <a:bodyPr/>
        <a:lstStyle/>
        <a:p>
          <a:endParaRPr lang="en-US"/>
        </a:p>
      </dgm:t>
    </dgm:pt>
    <dgm:pt modelId="{C3402D4E-DBCF-4D27-ADFA-1E39916720E0}" type="pres">
      <dgm:prSet presAssocID="{C6617C4D-E1A2-4156-B13B-A51C2C8118A1}" presName="connSite2" presStyleCnt="0"/>
      <dgm:spPr/>
    </dgm:pt>
    <dgm:pt modelId="{D18818D4-AD7C-462C-B2CF-65DA383EEB21}" type="pres">
      <dgm:prSet presAssocID="{8257B397-9C95-45EE-9BF4-D4A6C7BFE1BA}" presName="Name18" presStyleLbl="sibTrans2D1" presStyleIdx="1" presStyleCnt="5"/>
      <dgm:spPr/>
      <dgm:t>
        <a:bodyPr/>
        <a:lstStyle/>
        <a:p>
          <a:endParaRPr lang="en-US"/>
        </a:p>
      </dgm:t>
    </dgm:pt>
    <dgm:pt modelId="{1FBCC334-F55B-493B-8967-A732D479B6EA}" type="pres">
      <dgm:prSet presAssocID="{AB842AE7-6582-4EF8-8959-0BA0FFF42289}" presName="composite1" presStyleCnt="0"/>
      <dgm:spPr/>
    </dgm:pt>
    <dgm:pt modelId="{4CA94526-E15B-41BF-910C-FBF01C463001}" type="pres">
      <dgm:prSet presAssocID="{AB842AE7-6582-4EF8-8959-0BA0FFF42289}" presName="dummyNode1" presStyleLbl="node1" presStyleIdx="1" presStyleCnt="6"/>
      <dgm:spPr/>
    </dgm:pt>
    <dgm:pt modelId="{DCF8FD84-3A48-4189-B4F1-F8BE494FA74F}" type="pres">
      <dgm:prSet presAssocID="{AB842AE7-6582-4EF8-8959-0BA0FFF42289}" presName="childNode1" presStyleLbl="bgAcc1" presStyleIdx="2" presStyleCnt="6">
        <dgm:presLayoutVars>
          <dgm:bulletEnabled val="1"/>
        </dgm:presLayoutVars>
      </dgm:prSet>
      <dgm:spPr/>
      <dgm:t>
        <a:bodyPr/>
        <a:lstStyle/>
        <a:p>
          <a:endParaRPr lang="en-US"/>
        </a:p>
      </dgm:t>
    </dgm:pt>
    <dgm:pt modelId="{3721DA87-1295-4FBF-8033-913B56611012}" type="pres">
      <dgm:prSet presAssocID="{AB842AE7-6582-4EF8-8959-0BA0FFF42289}" presName="childNode1tx" presStyleLbl="bgAcc1" presStyleIdx="2" presStyleCnt="6">
        <dgm:presLayoutVars>
          <dgm:bulletEnabled val="1"/>
        </dgm:presLayoutVars>
      </dgm:prSet>
      <dgm:spPr/>
      <dgm:t>
        <a:bodyPr/>
        <a:lstStyle/>
        <a:p>
          <a:endParaRPr lang="en-US"/>
        </a:p>
      </dgm:t>
    </dgm:pt>
    <dgm:pt modelId="{8498D3CA-E29A-4B4F-9660-ADCC27F55A64}" type="pres">
      <dgm:prSet presAssocID="{AB842AE7-6582-4EF8-8959-0BA0FFF42289}" presName="parentNode1" presStyleLbl="node1" presStyleIdx="2" presStyleCnt="6">
        <dgm:presLayoutVars>
          <dgm:chMax val="1"/>
          <dgm:bulletEnabled val="1"/>
        </dgm:presLayoutVars>
      </dgm:prSet>
      <dgm:spPr/>
      <dgm:t>
        <a:bodyPr/>
        <a:lstStyle/>
        <a:p>
          <a:endParaRPr lang="en-US"/>
        </a:p>
      </dgm:t>
    </dgm:pt>
    <dgm:pt modelId="{3AEBD81B-9F81-41AE-A186-AC217C2CCDC2}" type="pres">
      <dgm:prSet presAssocID="{AB842AE7-6582-4EF8-8959-0BA0FFF42289}" presName="connSite1" presStyleCnt="0"/>
      <dgm:spPr/>
    </dgm:pt>
    <dgm:pt modelId="{BA09C402-73F0-4A22-9C1E-B07F04A38AD1}" type="pres">
      <dgm:prSet presAssocID="{04830C55-D854-4ACE-8314-E72E36393FCA}" presName="Name9" presStyleLbl="sibTrans2D1" presStyleIdx="2" presStyleCnt="5"/>
      <dgm:spPr/>
      <dgm:t>
        <a:bodyPr/>
        <a:lstStyle/>
        <a:p>
          <a:endParaRPr lang="en-US"/>
        </a:p>
      </dgm:t>
    </dgm:pt>
    <dgm:pt modelId="{86E205BD-295C-4EF5-BE50-5AA0BCEDD8F5}" type="pres">
      <dgm:prSet presAssocID="{F0408DB7-BFC9-4645-AF59-8CF099A806F7}" presName="composite2" presStyleCnt="0"/>
      <dgm:spPr/>
    </dgm:pt>
    <dgm:pt modelId="{5DB82872-25A4-4AA7-8097-34F25E751861}" type="pres">
      <dgm:prSet presAssocID="{F0408DB7-BFC9-4645-AF59-8CF099A806F7}" presName="dummyNode2" presStyleLbl="node1" presStyleIdx="2" presStyleCnt="6"/>
      <dgm:spPr/>
    </dgm:pt>
    <dgm:pt modelId="{BBF989B2-8599-4B84-AA30-5FFCC9C08385}" type="pres">
      <dgm:prSet presAssocID="{F0408DB7-BFC9-4645-AF59-8CF099A806F7}" presName="childNode2" presStyleLbl="bgAcc1" presStyleIdx="3" presStyleCnt="6">
        <dgm:presLayoutVars>
          <dgm:bulletEnabled val="1"/>
        </dgm:presLayoutVars>
      </dgm:prSet>
      <dgm:spPr/>
      <dgm:t>
        <a:bodyPr/>
        <a:lstStyle/>
        <a:p>
          <a:endParaRPr lang="en-US"/>
        </a:p>
      </dgm:t>
    </dgm:pt>
    <dgm:pt modelId="{570152F5-6200-462A-88F9-BA7E9056BEAE}" type="pres">
      <dgm:prSet presAssocID="{F0408DB7-BFC9-4645-AF59-8CF099A806F7}" presName="childNode2tx" presStyleLbl="bgAcc1" presStyleIdx="3" presStyleCnt="6">
        <dgm:presLayoutVars>
          <dgm:bulletEnabled val="1"/>
        </dgm:presLayoutVars>
      </dgm:prSet>
      <dgm:spPr/>
      <dgm:t>
        <a:bodyPr/>
        <a:lstStyle/>
        <a:p>
          <a:endParaRPr lang="en-US"/>
        </a:p>
      </dgm:t>
    </dgm:pt>
    <dgm:pt modelId="{43B4A6BA-A847-4C60-B6C1-0C9A816F6026}" type="pres">
      <dgm:prSet presAssocID="{F0408DB7-BFC9-4645-AF59-8CF099A806F7}" presName="parentNode2" presStyleLbl="node1" presStyleIdx="3" presStyleCnt="6">
        <dgm:presLayoutVars>
          <dgm:chMax val="0"/>
          <dgm:bulletEnabled val="1"/>
        </dgm:presLayoutVars>
      </dgm:prSet>
      <dgm:spPr/>
      <dgm:t>
        <a:bodyPr/>
        <a:lstStyle/>
        <a:p>
          <a:endParaRPr lang="en-US"/>
        </a:p>
      </dgm:t>
    </dgm:pt>
    <dgm:pt modelId="{D58A7DD7-EC8C-4C64-8C4B-880B1EBAA4C9}" type="pres">
      <dgm:prSet presAssocID="{F0408DB7-BFC9-4645-AF59-8CF099A806F7}" presName="connSite2" presStyleCnt="0"/>
      <dgm:spPr/>
    </dgm:pt>
    <dgm:pt modelId="{E320EA12-B612-4A35-9B27-6B83FC8571C9}" type="pres">
      <dgm:prSet presAssocID="{C4C2E689-CAB0-458D-88F1-346313AE377D}" presName="Name18" presStyleLbl="sibTrans2D1" presStyleIdx="3" presStyleCnt="5"/>
      <dgm:spPr/>
      <dgm:t>
        <a:bodyPr/>
        <a:lstStyle/>
        <a:p>
          <a:endParaRPr lang="en-US"/>
        </a:p>
      </dgm:t>
    </dgm:pt>
    <dgm:pt modelId="{E5B49A54-A095-48CD-8C63-2FDB3C7E5DD9}" type="pres">
      <dgm:prSet presAssocID="{258DB33E-6B1F-4311-98EE-E66534633B03}" presName="composite1" presStyleCnt="0"/>
      <dgm:spPr/>
    </dgm:pt>
    <dgm:pt modelId="{6465DA55-9239-482A-9966-A4EEE46957D7}" type="pres">
      <dgm:prSet presAssocID="{258DB33E-6B1F-4311-98EE-E66534633B03}" presName="dummyNode1" presStyleLbl="node1" presStyleIdx="3" presStyleCnt="6"/>
      <dgm:spPr/>
    </dgm:pt>
    <dgm:pt modelId="{C257F2E2-1086-44A5-95DC-5DA4C7B8BBFE}" type="pres">
      <dgm:prSet presAssocID="{258DB33E-6B1F-4311-98EE-E66534633B03}" presName="childNode1" presStyleLbl="bgAcc1" presStyleIdx="4" presStyleCnt="6">
        <dgm:presLayoutVars>
          <dgm:bulletEnabled val="1"/>
        </dgm:presLayoutVars>
      </dgm:prSet>
      <dgm:spPr/>
      <dgm:t>
        <a:bodyPr/>
        <a:lstStyle/>
        <a:p>
          <a:endParaRPr lang="en-US"/>
        </a:p>
      </dgm:t>
    </dgm:pt>
    <dgm:pt modelId="{1490406C-C2AC-4963-A6C3-4731D8D75AB6}" type="pres">
      <dgm:prSet presAssocID="{258DB33E-6B1F-4311-98EE-E66534633B03}" presName="childNode1tx" presStyleLbl="bgAcc1" presStyleIdx="4" presStyleCnt="6">
        <dgm:presLayoutVars>
          <dgm:bulletEnabled val="1"/>
        </dgm:presLayoutVars>
      </dgm:prSet>
      <dgm:spPr/>
      <dgm:t>
        <a:bodyPr/>
        <a:lstStyle/>
        <a:p>
          <a:endParaRPr lang="en-US"/>
        </a:p>
      </dgm:t>
    </dgm:pt>
    <dgm:pt modelId="{70D37166-FEB6-47C4-87C4-3413F614521B}" type="pres">
      <dgm:prSet presAssocID="{258DB33E-6B1F-4311-98EE-E66534633B03}" presName="parentNode1" presStyleLbl="node1" presStyleIdx="4" presStyleCnt="6">
        <dgm:presLayoutVars>
          <dgm:chMax val="1"/>
          <dgm:bulletEnabled val="1"/>
        </dgm:presLayoutVars>
      </dgm:prSet>
      <dgm:spPr/>
      <dgm:t>
        <a:bodyPr/>
        <a:lstStyle/>
        <a:p>
          <a:endParaRPr lang="en-US"/>
        </a:p>
      </dgm:t>
    </dgm:pt>
    <dgm:pt modelId="{D12F06F8-2954-4254-8C53-3A4A55124BE4}" type="pres">
      <dgm:prSet presAssocID="{258DB33E-6B1F-4311-98EE-E66534633B03}" presName="connSite1" presStyleCnt="0"/>
      <dgm:spPr/>
    </dgm:pt>
    <dgm:pt modelId="{E43BDBF3-DD8D-4B4F-B133-B38F772A4877}" type="pres">
      <dgm:prSet presAssocID="{A33BA94C-02F4-49D8-8DAF-D2297779859F}" presName="Name9" presStyleLbl="sibTrans2D1" presStyleIdx="4" presStyleCnt="5"/>
      <dgm:spPr/>
      <dgm:t>
        <a:bodyPr/>
        <a:lstStyle/>
        <a:p>
          <a:endParaRPr lang="en-US"/>
        </a:p>
      </dgm:t>
    </dgm:pt>
    <dgm:pt modelId="{3BFBF20C-5AD3-417C-8E2B-E9C01BF4D65E}" type="pres">
      <dgm:prSet presAssocID="{80E9956A-23C0-4C73-883C-C0BEB03821EB}" presName="composite2" presStyleCnt="0"/>
      <dgm:spPr/>
    </dgm:pt>
    <dgm:pt modelId="{8E6AB987-56E8-4B83-AB50-A1D3DDFE406F}" type="pres">
      <dgm:prSet presAssocID="{80E9956A-23C0-4C73-883C-C0BEB03821EB}" presName="dummyNode2" presStyleLbl="node1" presStyleIdx="4" presStyleCnt="6"/>
      <dgm:spPr/>
    </dgm:pt>
    <dgm:pt modelId="{B527B6A8-429F-4ABA-AD86-B9731A890756}" type="pres">
      <dgm:prSet presAssocID="{80E9956A-23C0-4C73-883C-C0BEB03821EB}" presName="childNode2" presStyleLbl="bgAcc1" presStyleIdx="5" presStyleCnt="6">
        <dgm:presLayoutVars>
          <dgm:bulletEnabled val="1"/>
        </dgm:presLayoutVars>
      </dgm:prSet>
      <dgm:spPr/>
      <dgm:t>
        <a:bodyPr/>
        <a:lstStyle/>
        <a:p>
          <a:endParaRPr lang="en-US"/>
        </a:p>
      </dgm:t>
    </dgm:pt>
    <dgm:pt modelId="{504B1EE7-E69D-4C7E-94EC-E35A62F2C4E1}" type="pres">
      <dgm:prSet presAssocID="{80E9956A-23C0-4C73-883C-C0BEB03821EB}" presName="childNode2tx" presStyleLbl="bgAcc1" presStyleIdx="5" presStyleCnt="6">
        <dgm:presLayoutVars>
          <dgm:bulletEnabled val="1"/>
        </dgm:presLayoutVars>
      </dgm:prSet>
      <dgm:spPr/>
      <dgm:t>
        <a:bodyPr/>
        <a:lstStyle/>
        <a:p>
          <a:endParaRPr lang="en-US"/>
        </a:p>
      </dgm:t>
    </dgm:pt>
    <dgm:pt modelId="{4FFD6AE6-16F1-44F7-9B73-B5DAA17D7A40}" type="pres">
      <dgm:prSet presAssocID="{80E9956A-23C0-4C73-883C-C0BEB03821EB}" presName="parentNode2" presStyleLbl="node1" presStyleIdx="5" presStyleCnt="6">
        <dgm:presLayoutVars>
          <dgm:chMax val="0"/>
          <dgm:bulletEnabled val="1"/>
        </dgm:presLayoutVars>
      </dgm:prSet>
      <dgm:spPr/>
      <dgm:t>
        <a:bodyPr/>
        <a:lstStyle/>
        <a:p>
          <a:endParaRPr lang="en-US"/>
        </a:p>
      </dgm:t>
    </dgm:pt>
    <dgm:pt modelId="{72E8E903-CE99-40C9-A8BF-5923FB8947E5}" type="pres">
      <dgm:prSet presAssocID="{80E9956A-23C0-4C73-883C-C0BEB03821EB}" presName="connSite2" presStyleCnt="0"/>
      <dgm:spPr/>
    </dgm:pt>
  </dgm:ptLst>
  <dgm:cxnLst>
    <dgm:cxn modelId="{5FCA68D7-7CA7-404D-A9FA-2CB746E29FB5}" type="presOf" srcId="{39C341C2-0790-4A78-BA34-CA1AD27E4EDD}" destId="{9F4AE6E7-A878-4B6B-9106-78DACF3FD835}" srcOrd="1" destOrd="1" presId="urn:microsoft.com/office/officeart/2005/8/layout/hProcess4"/>
    <dgm:cxn modelId="{5E12116C-4E55-4DF1-A176-849D871320D0}" type="presOf" srcId="{746F77C0-9F2A-462D-86B6-DF7061A44A4B}" destId="{DCF8FD84-3A48-4189-B4F1-F8BE494FA74F}" srcOrd="0" destOrd="0" presId="urn:microsoft.com/office/officeart/2005/8/layout/hProcess4"/>
    <dgm:cxn modelId="{7C8484E5-BBC4-4A37-8F57-5E07CA20EE11}" srcId="{66005D44-E58E-4144-9DA3-7F7BA9C41FAB}" destId="{80E9956A-23C0-4C73-883C-C0BEB03821EB}" srcOrd="5" destOrd="0" parTransId="{D95097C3-44FE-4A5A-A30D-7BE3F1AAE9A3}" sibTransId="{67A77F71-CCF2-4D53-BCA0-62234D6949BA}"/>
    <dgm:cxn modelId="{5C725D26-8568-4F06-BDDE-D5D0253A6642}" type="presOf" srcId="{A51A14DD-D154-4680-B3CD-94F4E33EB5F0}" destId="{BBF989B2-8599-4B84-AA30-5FFCC9C08385}" srcOrd="0" destOrd="0" presId="urn:microsoft.com/office/officeart/2005/8/layout/hProcess4"/>
    <dgm:cxn modelId="{1642FFCA-0BEC-4981-8FA7-5492DFD85B30}" type="presOf" srcId="{C7783255-FB05-4835-BC91-1A0560200C3B}" destId="{504B1EE7-E69D-4C7E-94EC-E35A62F2C4E1}" srcOrd="1" destOrd="1" presId="urn:microsoft.com/office/officeart/2005/8/layout/hProcess4"/>
    <dgm:cxn modelId="{A7A982F4-5C19-448A-9EE3-3F9E6CF56143}" srcId="{F0408DB7-BFC9-4645-AF59-8CF099A806F7}" destId="{A51A14DD-D154-4680-B3CD-94F4E33EB5F0}" srcOrd="0" destOrd="0" parTransId="{53C56CE9-9919-4D7B-8CAF-561AC3437D75}" sibTransId="{1EFDF3C0-11EF-4606-A80B-4A68E30F7C32}"/>
    <dgm:cxn modelId="{81799E86-D5B9-4172-B7C2-AF028AF13AC0}" type="presOf" srcId="{B1285643-ACD7-4548-9515-C07A748F6113}" destId="{1490406C-C2AC-4963-A6C3-4731D8D75AB6}" srcOrd="1" destOrd="1" presId="urn:microsoft.com/office/officeart/2005/8/layout/hProcess4"/>
    <dgm:cxn modelId="{29EA38A9-56D3-4353-B151-524B035E9465}" type="presOf" srcId="{A51A14DD-D154-4680-B3CD-94F4E33EB5F0}" destId="{570152F5-6200-462A-88F9-BA7E9056BEAE}" srcOrd="1" destOrd="0" presId="urn:microsoft.com/office/officeart/2005/8/layout/hProcess4"/>
    <dgm:cxn modelId="{9EA49640-B10D-4D9E-9B00-A3855F66799D}" type="presOf" srcId="{17AA6850-3F79-49AF-A9EE-BB099FDC25AA}" destId="{B527B6A8-429F-4ABA-AD86-B9731A890756}" srcOrd="0" destOrd="0" presId="urn:microsoft.com/office/officeart/2005/8/layout/hProcess4"/>
    <dgm:cxn modelId="{CDECC5C5-1AC1-4E73-8075-83E182ECD517}" srcId="{66005D44-E58E-4144-9DA3-7F7BA9C41FAB}" destId="{C6617C4D-E1A2-4156-B13B-A51C2C8118A1}" srcOrd="1" destOrd="0" parTransId="{C50D4634-256E-4CC1-BF96-DD18228FEB8C}" sibTransId="{8257B397-9C95-45EE-9BF4-D4A6C7BFE1BA}"/>
    <dgm:cxn modelId="{7EF4A718-CB18-47FA-BB2E-6201001BE093}" srcId="{3238C46E-6273-4BCF-9D6C-F57E4B58A11A}" destId="{B84B109B-CA66-4C72-90CB-DBF29A6D5B85}" srcOrd="0" destOrd="0" parTransId="{2DB57D93-EF5D-4E8F-B85D-60612F3E6FD0}" sibTransId="{47870A19-A8B8-462D-9F72-D4E8AEB28D48}"/>
    <dgm:cxn modelId="{EC2673A3-5CE3-4CD0-8365-B2A0B7A9E846}" type="presOf" srcId="{C4C2E689-CAB0-458D-88F1-346313AE377D}" destId="{E320EA12-B612-4A35-9B27-6B83FC8571C9}" srcOrd="0" destOrd="0" presId="urn:microsoft.com/office/officeart/2005/8/layout/hProcess4"/>
    <dgm:cxn modelId="{FE7B80BD-EAC6-4737-9340-212F559B50DE}" srcId="{C6617C4D-E1A2-4156-B13B-A51C2C8118A1}" destId="{837E765A-4512-4D24-916C-A226F88C2CDD}" srcOrd="0" destOrd="0" parTransId="{D2F02EC1-BC6D-4438-8D1F-44928EF6249E}" sibTransId="{996B2E8C-B9B4-41A2-BEF5-99320C23D8F9}"/>
    <dgm:cxn modelId="{F0D76380-86AA-4CB2-921C-FD768E8D9478}" type="presOf" srcId="{B84B109B-CA66-4C72-90CB-DBF29A6D5B85}" destId="{9F4AE6E7-A878-4B6B-9106-78DACF3FD835}" srcOrd="1" destOrd="0" presId="urn:microsoft.com/office/officeart/2005/8/layout/hProcess4"/>
    <dgm:cxn modelId="{09B3A0BC-F433-4C38-BC85-72BC2F4B7B31}" srcId="{80E9956A-23C0-4C73-883C-C0BEB03821EB}" destId="{17AA6850-3F79-49AF-A9EE-BB099FDC25AA}" srcOrd="0" destOrd="0" parTransId="{8841B58B-0C54-4C86-B4F6-BF90A0564C0C}" sibTransId="{F71634A5-B7D2-4C94-9ACA-5D96C80A41E6}"/>
    <dgm:cxn modelId="{3D35031F-8AC6-4393-AD46-88E662278CB6}" type="presOf" srcId="{D47C19E2-D364-4D9A-8E35-CEA7A9C805B0}" destId="{1490406C-C2AC-4963-A6C3-4731D8D75AB6}" srcOrd="1" destOrd="0" presId="urn:microsoft.com/office/officeart/2005/8/layout/hProcess4"/>
    <dgm:cxn modelId="{ED109906-AA79-4D6A-A7EA-8C09A89DC0A0}" srcId="{66005D44-E58E-4144-9DA3-7F7BA9C41FAB}" destId="{258DB33E-6B1F-4311-98EE-E66534633B03}" srcOrd="4" destOrd="0" parTransId="{13076CB9-D519-49F7-AFE1-9CE17139442F}" sibTransId="{A33BA94C-02F4-49D8-8DAF-D2297779859F}"/>
    <dgm:cxn modelId="{F94A0C21-4209-4B1C-85FB-161313E5DC7C}" type="presOf" srcId="{746F77C0-9F2A-462D-86B6-DF7061A44A4B}" destId="{3721DA87-1295-4FBF-8033-913B56611012}" srcOrd="1" destOrd="0" presId="urn:microsoft.com/office/officeart/2005/8/layout/hProcess4"/>
    <dgm:cxn modelId="{69976C30-23AA-48AC-A928-0DA9B101C273}" type="presOf" srcId="{A33BA94C-02F4-49D8-8DAF-D2297779859F}" destId="{E43BDBF3-DD8D-4B4F-B133-B38F772A4877}" srcOrd="0" destOrd="0" presId="urn:microsoft.com/office/officeart/2005/8/layout/hProcess4"/>
    <dgm:cxn modelId="{383BBCCC-D6B4-4C54-A00E-4E0918E3ACDA}" type="presOf" srcId="{8257B397-9C95-45EE-9BF4-D4A6C7BFE1BA}" destId="{D18818D4-AD7C-462C-B2CF-65DA383EEB21}" srcOrd="0" destOrd="0" presId="urn:microsoft.com/office/officeart/2005/8/layout/hProcess4"/>
    <dgm:cxn modelId="{663B440B-5DA8-4E85-B4FB-66F8C6F9A1F6}" type="presOf" srcId="{66005D44-E58E-4144-9DA3-7F7BA9C41FAB}" destId="{0774A170-7B1E-4678-87B4-A8DBB00381B0}" srcOrd="0" destOrd="0" presId="urn:microsoft.com/office/officeart/2005/8/layout/hProcess4"/>
    <dgm:cxn modelId="{56213234-4721-47A0-90DC-74345E6096F1}" srcId="{AB842AE7-6582-4EF8-8959-0BA0FFF42289}" destId="{746F77C0-9F2A-462D-86B6-DF7061A44A4B}" srcOrd="0" destOrd="0" parTransId="{DCB6B1D5-1F25-4A92-BC86-FAD7444FF7DA}" sibTransId="{8771D43F-15E5-41E2-BAC5-AF318540B176}"/>
    <dgm:cxn modelId="{54FAEBF0-7B8F-469A-BFF3-9A0D818D7527}" type="presOf" srcId="{B84B109B-CA66-4C72-90CB-DBF29A6D5B85}" destId="{1A216438-0285-49FA-A267-42725CEF5B9D}" srcOrd="0" destOrd="0" presId="urn:microsoft.com/office/officeart/2005/8/layout/hProcess4"/>
    <dgm:cxn modelId="{417BC047-11DD-48A0-B726-9D35BB2053A5}" type="presOf" srcId="{D47C19E2-D364-4D9A-8E35-CEA7A9C805B0}" destId="{C257F2E2-1086-44A5-95DC-5DA4C7B8BBFE}" srcOrd="0" destOrd="0" presId="urn:microsoft.com/office/officeart/2005/8/layout/hProcess4"/>
    <dgm:cxn modelId="{D121D6A7-06F5-4DBF-9E6F-F917F170D45F}" type="presOf" srcId="{AB842AE7-6582-4EF8-8959-0BA0FFF42289}" destId="{8498D3CA-E29A-4B4F-9660-ADCC27F55A64}" srcOrd="0" destOrd="0" presId="urn:microsoft.com/office/officeart/2005/8/layout/hProcess4"/>
    <dgm:cxn modelId="{D8EF2F0F-54B6-4BD8-BF1C-398F5B43ABCA}" srcId="{258DB33E-6B1F-4311-98EE-E66534633B03}" destId="{D47C19E2-D364-4D9A-8E35-CEA7A9C805B0}" srcOrd="0" destOrd="0" parTransId="{608519B1-D1DD-411F-9A2E-A5B236B7FC8C}" sibTransId="{0D151474-8A9E-410C-91CB-9AD4E3960E6C}"/>
    <dgm:cxn modelId="{122FAE6F-C4A9-4233-9B20-5FB8B928722A}" type="presOf" srcId="{04830C55-D854-4ACE-8314-E72E36393FCA}" destId="{BA09C402-73F0-4A22-9C1E-B07F04A38AD1}" srcOrd="0" destOrd="0" presId="urn:microsoft.com/office/officeart/2005/8/layout/hProcess4"/>
    <dgm:cxn modelId="{3D06AEF7-4D58-4B14-A715-4E5DF8E8E8A2}" srcId="{66005D44-E58E-4144-9DA3-7F7BA9C41FAB}" destId="{AB842AE7-6582-4EF8-8959-0BA0FFF42289}" srcOrd="2" destOrd="0" parTransId="{C85F065C-223D-4CC3-97BF-1CF69CD37C90}" sibTransId="{04830C55-D854-4ACE-8314-E72E36393FCA}"/>
    <dgm:cxn modelId="{2B3D45ED-DA44-4B68-9BB0-F4B462B10861}" type="presOf" srcId="{3238C46E-6273-4BCF-9D6C-F57E4B58A11A}" destId="{53139389-E258-4AFE-9863-D755AB7A2AD4}" srcOrd="0" destOrd="0" presId="urn:microsoft.com/office/officeart/2005/8/layout/hProcess4"/>
    <dgm:cxn modelId="{4FE07D1A-CDF0-4053-945F-43A3F5AEA84D}" type="presOf" srcId="{258DB33E-6B1F-4311-98EE-E66534633B03}" destId="{70D37166-FEB6-47C4-87C4-3413F614521B}" srcOrd="0" destOrd="0" presId="urn:microsoft.com/office/officeart/2005/8/layout/hProcess4"/>
    <dgm:cxn modelId="{9362EB90-A082-4167-8F78-3D405299F7A4}" type="presOf" srcId="{80E9956A-23C0-4C73-883C-C0BEB03821EB}" destId="{4FFD6AE6-16F1-44F7-9B73-B5DAA17D7A40}" srcOrd="0" destOrd="0" presId="urn:microsoft.com/office/officeart/2005/8/layout/hProcess4"/>
    <dgm:cxn modelId="{C5CFC262-4C9A-43B2-810C-1D7E84487C08}" type="presOf" srcId="{C7783255-FB05-4835-BC91-1A0560200C3B}" destId="{B527B6A8-429F-4ABA-AD86-B9731A890756}" srcOrd="0" destOrd="1" presId="urn:microsoft.com/office/officeart/2005/8/layout/hProcess4"/>
    <dgm:cxn modelId="{6B8BF495-4F5D-4CCC-9CE8-95C611C977A1}" type="presOf" srcId="{837E765A-4512-4D24-916C-A226F88C2CDD}" destId="{C582EA06-BC04-4487-8E70-BE0C787D1385}" srcOrd="0" destOrd="0" presId="urn:microsoft.com/office/officeart/2005/8/layout/hProcess4"/>
    <dgm:cxn modelId="{C411B8B3-CA00-4C59-A535-7556DC23B019}" type="presOf" srcId="{766ECC75-9ABC-44FB-A67A-C34E196949B2}" destId="{00C059B6-A293-4F06-8BBE-A96631B4D6E4}" srcOrd="0" destOrd="0" presId="urn:microsoft.com/office/officeart/2005/8/layout/hProcess4"/>
    <dgm:cxn modelId="{C057A2D2-DA1C-42F5-A67B-50013EA95E38}" type="presOf" srcId="{B1285643-ACD7-4548-9515-C07A748F6113}" destId="{C257F2E2-1086-44A5-95DC-5DA4C7B8BBFE}" srcOrd="0" destOrd="1" presId="urn:microsoft.com/office/officeart/2005/8/layout/hProcess4"/>
    <dgm:cxn modelId="{99A933B9-F4AA-4804-B689-A98A6A91434C}" srcId="{3238C46E-6273-4BCF-9D6C-F57E4B58A11A}" destId="{39C341C2-0790-4A78-BA34-CA1AD27E4EDD}" srcOrd="1" destOrd="0" parTransId="{1B2B7922-89C3-49A8-BAF0-623DEED84E48}" sibTransId="{070C5254-8659-4F25-8DCF-40CADB96F538}"/>
    <dgm:cxn modelId="{E84AFE4E-B7E2-43AA-AB82-553C717F043D}" type="presOf" srcId="{F0408DB7-BFC9-4645-AF59-8CF099A806F7}" destId="{43B4A6BA-A847-4C60-B6C1-0C9A816F6026}" srcOrd="0" destOrd="0" presId="urn:microsoft.com/office/officeart/2005/8/layout/hProcess4"/>
    <dgm:cxn modelId="{C34CBB21-8098-4603-89EE-49AC0E6093F6}" type="presOf" srcId="{837E765A-4512-4D24-916C-A226F88C2CDD}" destId="{DEB76171-DDE2-4D67-8F79-FCC78748F898}" srcOrd="1" destOrd="0" presId="urn:microsoft.com/office/officeart/2005/8/layout/hProcess4"/>
    <dgm:cxn modelId="{77F764AC-AF30-47ED-9847-4E33CBCD76A6}" srcId="{66005D44-E58E-4144-9DA3-7F7BA9C41FAB}" destId="{3238C46E-6273-4BCF-9D6C-F57E4B58A11A}" srcOrd="0" destOrd="0" parTransId="{A6B0C37E-AB52-4203-A44E-DF49D1D4B635}" sibTransId="{766ECC75-9ABC-44FB-A67A-C34E196949B2}"/>
    <dgm:cxn modelId="{FBAC0F7B-EF1E-4C9B-8036-9360BD5D66B8}" srcId="{80E9956A-23C0-4C73-883C-C0BEB03821EB}" destId="{C7783255-FB05-4835-BC91-1A0560200C3B}" srcOrd="1" destOrd="0" parTransId="{455FD4E3-667E-4A94-90AB-05EE934288ED}" sibTransId="{0E586DC7-3A44-47FA-B515-734C6F051EE3}"/>
    <dgm:cxn modelId="{8FD11CA4-9E76-4D45-9CCA-97F2CCD1CB88}" srcId="{66005D44-E58E-4144-9DA3-7F7BA9C41FAB}" destId="{F0408DB7-BFC9-4645-AF59-8CF099A806F7}" srcOrd="3" destOrd="0" parTransId="{CB3779CE-2AED-40A1-ACAA-A75E34999872}" sibTransId="{C4C2E689-CAB0-458D-88F1-346313AE377D}"/>
    <dgm:cxn modelId="{FDBF64C3-A2B6-4199-BBC4-DAB25402C27A}" type="presOf" srcId="{17AA6850-3F79-49AF-A9EE-BB099FDC25AA}" destId="{504B1EE7-E69D-4C7E-94EC-E35A62F2C4E1}" srcOrd="1" destOrd="0" presId="urn:microsoft.com/office/officeart/2005/8/layout/hProcess4"/>
    <dgm:cxn modelId="{653D07D8-6D93-4CB5-BC24-B2A082FFD085}" type="presOf" srcId="{39C341C2-0790-4A78-BA34-CA1AD27E4EDD}" destId="{1A216438-0285-49FA-A267-42725CEF5B9D}" srcOrd="0" destOrd="1" presId="urn:microsoft.com/office/officeart/2005/8/layout/hProcess4"/>
    <dgm:cxn modelId="{09AFF141-1632-424B-9913-4E6B7D3A610E}" srcId="{258DB33E-6B1F-4311-98EE-E66534633B03}" destId="{B1285643-ACD7-4548-9515-C07A748F6113}" srcOrd="1" destOrd="0" parTransId="{EAF585A2-B7FD-4DAD-A2C4-01B6576E6C9C}" sibTransId="{32D60315-FCE3-481C-97F5-92416E2E2189}"/>
    <dgm:cxn modelId="{2A7C662A-94E0-4CB3-B7BE-DD40416C6FC8}" type="presOf" srcId="{C6617C4D-E1A2-4156-B13B-A51C2C8118A1}" destId="{3E2DAF18-08B1-4930-802A-E1EB525128F8}" srcOrd="0" destOrd="0" presId="urn:microsoft.com/office/officeart/2005/8/layout/hProcess4"/>
    <dgm:cxn modelId="{5118927C-6A69-4A27-B40E-B1F982DBDC1C}" type="presParOf" srcId="{0774A170-7B1E-4678-87B4-A8DBB00381B0}" destId="{FCE13242-86C5-4F74-AA76-08BD8F2A91B7}" srcOrd="0" destOrd="0" presId="urn:microsoft.com/office/officeart/2005/8/layout/hProcess4"/>
    <dgm:cxn modelId="{9CC6E039-9084-4DE6-B454-F60FEBE56BD1}" type="presParOf" srcId="{0774A170-7B1E-4678-87B4-A8DBB00381B0}" destId="{01BC4A80-1286-4BEF-B7EA-DD617A277D0F}" srcOrd="1" destOrd="0" presId="urn:microsoft.com/office/officeart/2005/8/layout/hProcess4"/>
    <dgm:cxn modelId="{92017826-3C2F-4C1A-BA4A-67948727DA4F}" type="presParOf" srcId="{0774A170-7B1E-4678-87B4-A8DBB00381B0}" destId="{9A4532A7-6310-4304-B1EC-61110FC20C08}" srcOrd="2" destOrd="0" presId="urn:microsoft.com/office/officeart/2005/8/layout/hProcess4"/>
    <dgm:cxn modelId="{A0EB13CE-60DE-4667-B0E1-5886DE3CCF85}" type="presParOf" srcId="{9A4532A7-6310-4304-B1EC-61110FC20C08}" destId="{0F731B6B-CFBA-4019-95DC-D0F8AE364FCB}" srcOrd="0" destOrd="0" presId="urn:microsoft.com/office/officeart/2005/8/layout/hProcess4"/>
    <dgm:cxn modelId="{B8486B39-9561-483F-A1D3-244B07E74B4B}" type="presParOf" srcId="{0F731B6B-CFBA-4019-95DC-D0F8AE364FCB}" destId="{CF100B87-4370-4103-9018-91B7473EBC36}" srcOrd="0" destOrd="0" presId="urn:microsoft.com/office/officeart/2005/8/layout/hProcess4"/>
    <dgm:cxn modelId="{C3FFE3D6-602D-4A25-B7D3-28BE8A3EA718}" type="presParOf" srcId="{0F731B6B-CFBA-4019-95DC-D0F8AE364FCB}" destId="{1A216438-0285-49FA-A267-42725CEF5B9D}" srcOrd="1" destOrd="0" presId="urn:microsoft.com/office/officeart/2005/8/layout/hProcess4"/>
    <dgm:cxn modelId="{53BC60AD-0858-43AA-9522-6534608473E1}" type="presParOf" srcId="{0F731B6B-CFBA-4019-95DC-D0F8AE364FCB}" destId="{9F4AE6E7-A878-4B6B-9106-78DACF3FD835}" srcOrd="2" destOrd="0" presId="urn:microsoft.com/office/officeart/2005/8/layout/hProcess4"/>
    <dgm:cxn modelId="{05873E21-C536-4681-8D55-B200C6BCEF00}" type="presParOf" srcId="{0F731B6B-CFBA-4019-95DC-D0F8AE364FCB}" destId="{53139389-E258-4AFE-9863-D755AB7A2AD4}" srcOrd="3" destOrd="0" presId="urn:microsoft.com/office/officeart/2005/8/layout/hProcess4"/>
    <dgm:cxn modelId="{E1657F27-0C3D-4882-8F80-6743508678DA}" type="presParOf" srcId="{0F731B6B-CFBA-4019-95DC-D0F8AE364FCB}" destId="{B16D8E3B-015F-4F33-B125-84B207EFA959}" srcOrd="4" destOrd="0" presId="urn:microsoft.com/office/officeart/2005/8/layout/hProcess4"/>
    <dgm:cxn modelId="{63A3415C-1319-4E57-805E-E9BC40FE5172}" type="presParOf" srcId="{9A4532A7-6310-4304-B1EC-61110FC20C08}" destId="{00C059B6-A293-4F06-8BBE-A96631B4D6E4}" srcOrd="1" destOrd="0" presId="urn:microsoft.com/office/officeart/2005/8/layout/hProcess4"/>
    <dgm:cxn modelId="{1AF012B8-A7F8-4510-9990-275911535ADE}" type="presParOf" srcId="{9A4532A7-6310-4304-B1EC-61110FC20C08}" destId="{3B3C328E-A6C8-409D-A098-1FB8A21AD81D}" srcOrd="2" destOrd="0" presId="urn:microsoft.com/office/officeart/2005/8/layout/hProcess4"/>
    <dgm:cxn modelId="{B1B32165-8CDF-4572-B091-C7DD38FCAC6C}" type="presParOf" srcId="{3B3C328E-A6C8-409D-A098-1FB8A21AD81D}" destId="{F3BC6BE0-6A1F-4C7E-862B-0F1A173310C8}" srcOrd="0" destOrd="0" presId="urn:microsoft.com/office/officeart/2005/8/layout/hProcess4"/>
    <dgm:cxn modelId="{C01B32F9-FA76-4CE2-BBFE-B4427B16F417}" type="presParOf" srcId="{3B3C328E-A6C8-409D-A098-1FB8A21AD81D}" destId="{C582EA06-BC04-4487-8E70-BE0C787D1385}" srcOrd="1" destOrd="0" presId="urn:microsoft.com/office/officeart/2005/8/layout/hProcess4"/>
    <dgm:cxn modelId="{5CD62500-1032-459C-9614-016D77960DDC}" type="presParOf" srcId="{3B3C328E-A6C8-409D-A098-1FB8A21AD81D}" destId="{DEB76171-DDE2-4D67-8F79-FCC78748F898}" srcOrd="2" destOrd="0" presId="urn:microsoft.com/office/officeart/2005/8/layout/hProcess4"/>
    <dgm:cxn modelId="{D4DC683C-8671-4D83-8891-7B6BDE0C62E9}" type="presParOf" srcId="{3B3C328E-A6C8-409D-A098-1FB8A21AD81D}" destId="{3E2DAF18-08B1-4930-802A-E1EB525128F8}" srcOrd="3" destOrd="0" presId="urn:microsoft.com/office/officeart/2005/8/layout/hProcess4"/>
    <dgm:cxn modelId="{722E02FD-049E-4746-ACCF-415D615BC7C4}" type="presParOf" srcId="{3B3C328E-A6C8-409D-A098-1FB8A21AD81D}" destId="{C3402D4E-DBCF-4D27-ADFA-1E39916720E0}" srcOrd="4" destOrd="0" presId="urn:microsoft.com/office/officeart/2005/8/layout/hProcess4"/>
    <dgm:cxn modelId="{31B64DC8-7C78-488C-AA1E-D9B757443376}" type="presParOf" srcId="{9A4532A7-6310-4304-B1EC-61110FC20C08}" destId="{D18818D4-AD7C-462C-B2CF-65DA383EEB21}" srcOrd="3" destOrd="0" presId="urn:microsoft.com/office/officeart/2005/8/layout/hProcess4"/>
    <dgm:cxn modelId="{E0AB6118-8E95-4937-BE0D-F178D6E5BDFF}" type="presParOf" srcId="{9A4532A7-6310-4304-B1EC-61110FC20C08}" destId="{1FBCC334-F55B-493B-8967-A732D479B6EA}" srcOrd="4" destOrd="0" presId="urn:microsoft.com/office/officeart/2005/8/layout/hProcess4"/>
    <dgm:cxn modelId="{410E4ABD-2F72-4DD8-833A-FD39BA1BAA2A}" type="presParOf" srcId="{1FBCC334-F55B-493B-8967-A732D479B6EA}" destId="{4CA94526-E15B-41BF-910C-FBF01C463001}" srcOrd="0" destOrd="0" presId="urn:microsoft.com/office/officeart/2005/8/layout/hProcess4"/>
    <dgm:cxn modelId="{A86990D1-6BE7-4257-8252-8463995A0674}" type="presParOf" srcId="{1FBCC334-F55B-493B-8967-A732D479B6EA}" destId="{DCF8FD84-3A48-4189-B4F1-F8BE494FA74F}" srcOrd="1" destOrd="0" presId="urn:microsoft.com/office/officeart/2005/8/layout/hProcess4"/>
    <dgm:cxn modelId="{9BB9F153-F405-4E2E-8495-AB043A2D15D3}" type="presParOf" srcId="{1FBCC334-F55B-493B-8967-A732D479B6EA}" destId="{3721DA87-1295-4FBF-8033-913B56611012}" srcOrd="2" destOrd="0" presId="urn:microsoft.com/office/officeart/2005/8/layout/hProcess4"/>
    <dgm:cxn modelId="{1D220C45-EC82-4023-BBD8-A5B78BE61909}" type="presParOf" srcId="{1FBCC334-F55B-493B-8967-A732D479B6EA}" destId="{8498D3CA-E29A-4B4F-9660-ADCC27F55A64}" srcOrd="3" destOrd="0" presId="urn:microsoft.com/office/officeart/2005/8/layout/hProcess4"/>
    <dgm:cxn modelId="{603FC9C1-C9EB-4F13-82AA-8A489D4CF473}" type="presParOf" srcId="{1FBCC334-F55B-493B-8967-A732D479B6EA}" destId="{3AEBD81B-9F81-41AE-A186-AC217C2CCDC2}" srcOrd="4" destOrd="0" presId="urn:microsoft.com/office/officeart/2005/8/layout/hProcess4"/>
    <dgm:cxn modelId="{301B7D4C-2377-4D0F-9D12-C187D840D680}" type="presParOf" srcId="{9A4532A7-6310-4304-B1EC-61110FC20C08}" destId="{BA09C402-73F0-4A22-9C1E-B07F04A38AD1}" srcOrd="5" destOrd="0" presId="urn:microsoft.com/office/officeart/2005/8/layout/hProcess4"/>
    <dgm:cxn modelId="{4D42C3B4-3370-49F2-9A00-85210F4AB5C4}" type="presParOf" srcId="{9A4532A7-6310-4304-B1EC-61110FC20C08}" destId="{86E205BD-295C-4EF5-BE50-5AA0BCEDD8F5}" srcOrd="6" destOrd="0" presId="urn:microsoft.com/office/officeart/2005/8/layout/hProcess4"/>
    <dgm:cxn modelId="{30598170-02DE-4E12-B604-892BDED74ED7}" type="presParOf" srcId="{86E205BD-295C-4EF5-BE50-5AA0BCEDD8F5}" destId="{5DB82872-25A4-4AA7-8097-34F25E751861}" srcOrd="0" destOrd="0" presId="urn:microsoft.com/office/officeart/2005/8/layout/hProcess4"/>
    <dgm:cxn modelId="{EE892332-751B-44F8-8783-846FC05168B1}" type="presParOf" srcId="{86E205BD-295C-4EF5-BE50-5AA0BCEDD8F5}" destId="{BBF989B2-8599-4B84-AA30-5FFCC9C08385}" srcOrd="1" destOrd="0" presId="urn:microsoft.com/office/officeart/2005/8/layout/hProcess4"/>
    <dgm:cxn modelId="{E01402EF-C803-4264-805F-652879E1DAE9}" type="presParOf" srcId="{86E205BD-295C-4EF5-BE50-5AA0BCEDD8F5}" destId="{570152F5-6200-462A-88F9-BA7E9056BEAE}" srcOrd="2" destOrd="0" presId="urn:microsoft.com/office/officeart/2005/8/layout/hProcess4"/>
    <dgm:cxn modelId="{B4267404-8DD1-4B22-8E24-66B22EF6CCC5}" type="presParOf" srcId="{86E205BD-295C-4EF5-BE50-5AA0BCEDD8F5}" destId="{43B4A6BA-A847-4C60-B6C1-0C9A816F6026}" srcOrd="3" destOrd="0" presId="urn:microsoft.com/office/officeart/2005/8/layout/hProcess4"/>
    <dgm:cxn modelId="{0003E56B-3B64-4B06-82D0-C4F6988059BA}" type="presParOf" srcId="{86E205BD-295C-4EF5-BE50-5AA0BCEDD8F5}" destId="{D58A7DD7-EC8C-4C64-8C4B-880B1EBAA4C9}" srcOrd="4" destOrd="0" presId="urn:microsoft.com/office/officeart/2005/8/layout/hProcess4"/>
    <dgm:cxn modelId="{C19249D8-287F-48C2-9B31-2A89478DE144}" type="presParOf" srcId="{9A4532A7-6310-4304-B1EC-61110FC20C08}" destId="{E320EA12-B612-4A35-9B27-6B83FC8571C9}" srcOrd="7" destOrd="0" presId="urn:microsoft.com/office/officeart/2005/8/layout/hProcess4"/>
    <dgm:cxn modelId="{011F3EDF-1E63-4AE8-BF2C-5C8CB54B0234}" type="presParOf" srcId="{9A4532A7-6310-4304-B1EC-61110FC20C08}" destId="{E5B49A54-A095-48CD-8C63-2FDB3C7E5DD9}" srcOrd="8" destOrd="0" presId="urn:microsoft.com/office/officeart/2005/8/layout/hProcess4"/>
    <dgm:cxn modelId="{7233ED52-1332-4B1F-9B9D-8039A93C5408}" type="presParOf" srcId="{E5B49A54-A095-48CD-8C63-2FDB3C7E5DD9}" destId="{6465DA55-9239-482A-9966-A4EEE46957D7}" srcOrd="0" destOrd="0" presId="urn:microsoft.com/office/officeart/2005/8/layout/hProcess4"/>
    <dgm:cxn modelId="{FADCF5E7-3B78-4C63-9FC6-6A3F8577A21D}" type="presParOf" srcId="{E5B49A54-A095-48CD-8C63-2FDB3C7E5DD9}" destId="{C257F2E2-1086-44A5-95DC-5DA4C7B8BBFE}" srcOrd="1" destOrd="0" presId="urn:microsoft.com/office/officeart/2005/8/layout/hProcess4"/>
    <dgm:cxn modelId="{9D1B1F2F-7371-4853-8BA6-C20351920CD2}" type="presParOf" srcId="{E5B49A54-A095-48CD-8C63-2FDB3C7E5DD9}" destId="{1490406C-C2AC-4963-A6C3-4731D8D75AB6}" srcOrd="2" destOrd="0" presId="urn:microsoft.com/office/officeart/2005/8/layout/hProcess4"/>
    <dgm:cxn modelId="{E0FD580A-BD62-481E-8906-CA242327812B}" type="presParOf" srcId="{E5B49A54-A095-48CD-8C63-2FDB3C7E5DD9}" destId="{70D37166-FEB6-47C4-87C4-3413F614521B}" srcOrd="3" destOrd="0" presId="urn:microsoft.com/office/officeart/2005/8/layout/hProcess4"/>
    <dgm:cxn modelId="{1E6F478A-6E56-4328-9677-0ED403363225}" type="presParOf" srcId="{E5B49A54-A095-48CD-8C63-2FDB3C7E5DD9}" destId="{D12F06F8-2954-4254-8C53-3A4A55124BE4}" srcOrd="4" destOrd="0" presId="urn:microsoft.com/office/officeart/2005/8/layout/hProcess4"/>
    <dgm:cxn modelId="{DA9BA3B4-00D9-4583-9224-A508503A1C56}" type="presParOf" srcId="{9A4532A7-6310-4304-B1EC-61110FC20C08}" destId="{E43BDBF3-DD8D-4B4F-B133-B38F772A4877}" srcOrd="9" destOrd="0" presId="urn:microsoft.com/office/officeart/2005/8/layout/hProcess4"/>
    <dgm:cxn modelId="{A729B737-6513-438F-B987-D4E56C776520}" type="presParOf" srcId="{9A4532A7-6310-4304-B1EC-61110FC20C08}" destId="{3BFBF20C-5AD3-417C-8E2B-E9C01BF4D65E}" srcOrd="10" destOrd="0" presId="urn:microsoft.com/office/officeart/2005/8/layout/hProcess4"/>
    <dgm:cxn modelId="{EFEDA7C0-EB90-4B53-B831-24DD39823AD2}" type="presParOf" srcId="{3BFBF20C-5AD3-417C-8E2B-E9C01BF4D65E}" destId="{8E6AB987-56E8-4B83-AB50-A1D3DDFE406F}" srcOrd="0" destOrd="0" presId="urn:microsoft.com/office/officeart/2005/8/layout/hProcess4"/>
    <dgm:cxn modelId="{91770E61-1F64-4F08-8A2C-EF4A46ECF128}" type="presParOf" srcId="{3BFBF20C-5AD3-417C-8E2B-E9C01BF4D65E}" destId="{B527B6A8-429F-4ABA-AD86-B9731A890756}" srcOrd="1" destOrd="0" presId="urn:microsoft.com/office/officeart/2005/8/layout/hProcess4"/>
    <dgm:cxn modelId="{808DDA62-979C-477C-94EB-CCEFB0F535F7}" type="presParOf" srcId="{3BFBF20C-5AD3-417C-8E2B-E9C01BF4D65E}" destId="{504B1EE7-E69D-4C7E-94EC-E35A62F2C4E1}" srcOrd="2" destOrd="0" presId="urn:microsoft.com/office/officeart/2005/8/layout/hProcess4"/>
    <dgm:cxn modelId="{88272ECB-D4FE-45F0-988B-04E5F3BB85F4}" type="presParOf" srcId="{3BFBF20C-5AD3-417C-8E2B-E9C01BF4D65E}" destId="{4FFD6AE6-16F1-44F7-9B73-B5DAA17D7A40}" srcOrd="3" destOrd="0" presId="urn:microsoft.com/office/officeart/2005/8/layout/hProcess4"/>
    <dgm:cxn modelId="{9481F9F7-213F-4FC6-9DF0-3DF10A48CCCC}" type="presParOf" srcId="{3BFBF20C-5AD3-417C-8E2B-E9C01BF4D65E}" destId="{72E8E903-CE99-40C9-A8BF-5923FB8947E5}"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72A0575-E4D5-4066-9776-8ED448F85F2F}" type="doc">
      <dgm:prSet loTypeId="urn:microsoft.com/office/officeart/2005/8/layout/vList5" loCatId="list" qsTypeId="urn:microsoft.com/office/officeart/2005/8/quickstyle/simple1" qsCatId="simple" csTypeId="urn:microsoft.com/office/officeart/2005/8/colors/accent0_3" csCatId="mainScheme" phldr="1"/>
      <dgm:spPr/>
      <dgm:t>
        <a:bodyPr/>
        <a:lstStyle/>
        <a:p>
          <a:endParaRPr lang="en-US"/>
        </a:p>
      </dgm:t>
    </dgm:pt>
    <dgm:pt modelId="{B5B145B0-D420-4A3F-9B70-1D6F8C604828}">
      <dgm:prSet/>
      <dgm:spPr/>
      <dgm:t>
        <a:bodyPr/>
        <a:lstStyle/>
        <a:p>
          <a:pPr rtl="0"/>
          <a:r>
            <a:rPr lang="fi-FI" dirty="0" smtClean="0"/>
            <a:t>Optimistinen hyväksymistestauksen tekeminen</a:t>
          </a:r>
          <a:endParaRPr lang="en-US" dirty="0"/>
        </a:p>
      </dgm:t>
    </dgm:pt>
    <dgm:pt modelId="{F179AD95-0287-4566-9FAA-F8E0FCEE3224}" type="parTrans" cxnId="{899A8AFD-7D30-4492-8BA3-706CA77B6A96}">
      <dgm:prSet/>
      <dgm:spPr/>
      <dgm:t>
        <a:bodyPr/>
        <a:lstStyle/>
        <a:p>
          <a:endParaRPr lang="en-US"/>
        </a:p>
      </dgm:t>
    </dgm:pt>
    <dgm:pt modelId="{4073F744-1912-4E14-B905-E0E8223F9020}" type="sibTrans" cxnId="{899A8AFD-7D30-4492-8BA3-706CA77B6A96}">
      <dgm:prSet/>
      <dgm:spPr/>
      <dgm:t>
        <a:bodyPr/>
        <a:lstStyle/>
        <a:p>
          <a:endParaRPr lang="en-US"/>
        </a:p>
      </dgm:t>
    </dgm:pt>
    <dgm:pt modelId="{A1DE7920-BFF5-40CC-9E75-E1C61E20CB00}">
      <dgm:prSet/>
      <dgm:spPr/>
      <dgm:t>
        <a:bodyPr/>
        <a:lstStyle/>
        <a:p>
          <a:pPr rtl="0"/>
          <a:r>
            <a:rPr lang="fi-FI" dirty="0" smtClean="0"/>
            <a:t>Ei virheitä, ei määrittelymuutoksia</a:t>
          </a:r>
          <a:endParaRPr lang="en-US" dirty="0"/>
        </a:p>
      </dgm:t>
    </dgm:pt>
    <dgm:pt modelId="{29535C23-C9F1-42A8-8DBD-EF8600D19DCE}" type="parTrans" cxnId="{01FD47C7-3A44-44C2-9143-5066224ED719}">
      <dgm:prSet/>
      <dgm:spPr/>
      <dgm:t>
        <a:bodyPr/>
        <a:lstStyle/>
        <a:p>
          <a:endParaRPr lang="en-US"/>
        </a:p>
      </dgm:t>
    </dgm:pt>
    <dgm:pt modelId="{27A2E7ED-2070-4A81-8FF1-B2B567C4B175}" type="sibTrans" cxnId="{01FD47C7-3A44-44C2-9143-5066224ED719}">
      <dgm:prSet/>
      <dgm:spPr/>
      <dgm:t>
        <a:bodyPr/>
        <a:lstStyle/>
        <a:p>
          <a:endParaRPr lang="en-US"/>
        </a:p>
      </dgm:t>
    </dgm:pt>
    <dgm:pt modelId="{3B7833F5-220C-4F3E-9681-303E181A7C0F}">
      <dgm:prSet/>
      <dgm:spPr/>
      <dgm:t>
        <a:bodyPr/>
        <a:lstStyle/>
        <a:p>
          <a:pPr rtl="0"/>
          <a:r>
            <a:rPr lang="fi-FI" dirty="0" smtClean="0"/>
            <a:t>Virheitä löytävän hyväksymistestauksen tekeminen</a:t>
          </a:r>
          <a:endParaRPr lang="en-US" dirty="0"/>
        </a:p>
      </dgm:t>
    </dgm:pt>
    <dgm:pt modelId="{089DCB3D-B158-4605-A819-0E23D144F478}" type="parTrans" cxnId="{B7C549DE-1C70-42E9-800A-11EFDC62E449}">
      <dgm:prSet/>
      <dgm:spPr/>
      <dgm:t>
        <a:bodyPr/>
        <a:lstStyle/>
        <a:p>
          <a:endParaRPr lang="en-US"/>
        </a:p>
      </dgm:t>
    </dgm:pt>
    <dgm:pt modelId="{8728180A-232F-4EEC-9583-BABC0BEBC0C0}" type="sibTrans" cxnId="{B7C549DE-1C70-42E9-800A-11EFDC62E449}">
      <dgm:prSet/>
      <dgm:spPr/>
      <dgm:t>
        <a:bodyPr/>
        <a:lstStyle/>
        <a:p>
          <a:endParaRPr lang="en-US"/>
        </a:p>
      </dgm:t>
    </dgm:pt>
    <dgm:pt modelId="{793AAC67-6446-42A4-B1EE-EB46C7244813}">
      <dgm:prSet/>
      <dgm:spPr/>
      <dgm:t>
        <a:bodyPr/>
        <a:lstStyle/>
        <a:p>
          <a:pPr rtl="0"/>
          <a:r>
            <a:rPr lang="fi-FI" dirty="0" smtClean="0"/>
            <a:t>Virheistä uuteen luovutukseen ja hyväksymistestauksen uusintaan</a:t>
          </a:r>
          <a:endParaRPr lang="en-US" dirty="0"/>
        </a:p>
      </dgm:t>
    </dgm:pt>
    <dgm:pt modelId="{6C8A5CCE-65D9-44FA-8566-BBE5B90F5039}" type="parTrans" cxnId="{C5D281E2-254B-4784-8834-40099884052B}">
      <dgm:prSet/>
      <dgm:spPr/>
      <dgm:t>
        <a:bodyPr/>
        <a:lstStyle/>
        <a:p>
          <a:endParaRPr lang="en-US"/>
        </a:p>
      </dgm:t>
    </dgm:pt>
    <dgm:pt modelId="{2660C179-B746-4358-BE79-30611FD10640}" type="sibTrans" cxnId="{C5D281E2-254B-4784-8834-40099884052B}">
      <dgm:prSet/>
      <dgm:spPr/>
      <dgm:t>
        <a:bodyPr/>
        <a:lstStyle/>
        <a:p>
          <a:endParaRPr lang="en-US"/>
        </a:p>
      </dgm:t>
    </dgm:pt>
    <dgm:pt modelId="{95BB8E2C-EE6F-48FD-88BE-37CF564420F5}">
      <dgm:prSet/>
      <dgm:spPr/>
      <dgm:t>
        <a:bodyPr/>
        <a:lstStyle/>
        <a:p>
          <a:pPr rtl="0"/>
          <a:r>
            <a:rPr lang="fi-FI" dirty="0" smtClean="0"/>
            <a:t>Määrittelymuutostarpeita löytävän hyväksymistestauksen tekeminen</a:t>
          </a:r>
          <a:endParaRPr lang="en-US" dirty="0"/>
        </a:p>
      </dgm:t>
    </dgm:pt>
    <dgm:pt modelId="{F5811D9E-1A48-42C9-AD4E-AAF9C1EF4CAD}" type="parTrans" cxnId="{95032D5D-9984-4CB4-B388-B1030EF0723E}">
      <dgm:prSet/>
      <dgm:spPr/>
      <dgm:t>
        <a:bodyPr/>
        <a:lstStyle/>
        <a:p>
          <a:endParaRPr lang="en-US"/>
        </a:p>
      </dgm:t>
    </dgm:pt>
    <dgm:pt modelId="{A0521788-FFD8-4FB9-AF19-1BD881387DC3}" type="sibTrans" cxnId="{95032D5D-9984-4CB4-B388-B1030EF0723E}">
      <dgm:prSet/>
      <dgm:spPr/>
      <dgm:t>
        <a:bodyPr/>
        <a:lstStyle/>
        <a:p>
          <a:endParaRPr lang="en-US"/>
        </a:p>
      </dgm:t>
    </dgm:pt>
    <dgm:pt modelId="{0DC60DEB-CBDC-4183-B4BA-964D4CA5F32F}">
      <dgm:prSet/>
      <dgm:spPr/>
      <dgm:t>
        <a:bodyPr/>
        <a:lstStyle/>
        <a:p>
          <a:pPr rtl="0"/>
          <a:r>
            <a:rPr lang="fi-FI" dirty="0" smtClean="0"/>
            <a:t>Budjetin ja aikataulun uudelleenneuvottelu</a:t>
          </a:r>
          <a:endParaRPr lang="en-US" dirty="0"/>
        </a:p>
      </dgm:t>
    </dgm:pt>
    <dgm:pt modelId="{8B12C18F-B118-4116-92D6-EA57F25BC3E3}" type="parTrans" cxnId="{90DB9AD3-4001-4931-8C8D-26D2AD6FB976}">
      <dgm:prSet/>
      <dgm:spPr/>
      <dgm:t>
        <a:bodyPr/>
        <a:lstStyle/>
        <a:p>
          <a:endParaRPr lang="en-US"/>
        </a:p>
      </dgm:t>
    </dgm:pt>
    <dgm:pt modelId="{DBD6B2E9-3E56-49B9-B05E-BFC168E45966}" type="sibTrans" cxnId="{90DB9AD3-4001-4931-8C8D-26D2AD6FB976}">
      <dgm:prSet/>
      <dgm:spPr/>
      <dgm:t>
        <a:bodyPr/>
        <a:lstStyle/>
        <a:p>
          <a:endParaRPr lang="en-US"/>
        </a:p>
      </dgm:t>
    </dgm:pt>
    <dgm:pt modelId="{94A5D23C-C58C-496B-ACBF-8E7762DD48AB}">
      <dgm:prSet/>
      <dgm:spPr/>
      <dgm:t>
        <a:bodyPr/>
        <a:lstStyle/>
        <a:p>
          <a:pPr rtl="0"/>
          <a:r>
            <a:rPr lang="fi-FI" dirty="0" smtClean="0"/>
            <a:t>Realistinen hyväksymistestauksen tekeminen</a:t>
          </a:r>
          <a:endParaRPr lang="en-US" dirty="0"/>
        </a:p>
      </dgm:t>
    </dgm:pt>
    <dgm:pt modelId="{242F1714-6E7E-445A-BAF6-AF8BC990D242}" type="parTrans" cxnId="{1CCD93B7-BCC4-4095-A9DB-A5299061D45F}">
      <dgm:prSet/>
      <dgm:spPr/>
      <dgm:t>
        <a:bodyPr/>
        <a:lstStyle/>
        <a:p>
          <a:endParaRPr lang="en-US"/>
        </a:p>
      </dgm:t>
    </dgm:pt>
    <dgm:pt modelId="{DFE32262-9242-4538-BA18-BC46AEFD7A5B}" type="sibTrans" cxnId="{1CCD93B7-BCC4-4095-A9DB-A5299061D45F}">
      <dgm:prSet/>
      <dgm:spPr/>
      <dgm:t>
        <a:bodyPr/>
        <a:lstStyle/>
        <a:p>
          <a:endParaRPr lang="en-US"/>
        </a:p>
      </dgm:t>
    </dgm:pt>
    <dgm:pt modelId="{3066386E-C547-4BDA-9220-6341CE35C4EF}">
      <dgm:prSet/>
      <dgm:spPr/>
      <dgm:t>
        <a:bodyPr/>
        <a:lstStyle/>
        <a:p>
          <a:pPr rtl="0"/>
          <a:r>
            <a:rPr lang="fi-FI" dirty="0" smtClean="0"/>
            <a:t>Yllättävästi estynyt hyväksymistestaus</a:t>
          </a:r>
          <a:endParaRPr lang="en-US" dirty="0"/>
        </a:p>
      </dgm:t>
    </dgm:pt>
    <dgm:pt modelId="{3ED64C16-B621-4A68-B918-5FE9024AC1BB}" type="parTrans" cxnId="{4D505A94-5090-44C9-8509-1586776BF7E5}">
      <dgm:prSet/>
      <dgm:spPr/>
      <dgm:t>
        <a:bodyPr/>
        <a:lstStyle/>
        <a:p>
          <a:endParaRPr lang="en-US"/>
        </a:p>
      </dgm:t>
    </dgm:pt>
    <dgm:pt modelId="{3E8499F4-0C45-4152-9416-D726C2354934}" type="sibTrans" cxnId="{4D505A94-5090-44C9-8509-1586776BF7E5}">
      <dgm:prSet/>
      <dgm:spPr/>
      <dgm:t>
        <a:bodyPr/>
        <a:lstStyle/>
        <a:p>
          <a:endParaRPr lang="en-US"/>
        </a:p>
      </dgm:t>
    </dgm:pt>
    <dgm:pt modelId="{32A8A835-9A9F-4DC8-B159-D939ED68C051}">
      <dgm:prSet/>
      <dgm:spPr/>
      <dgm:t>
        <a:bodyPr/>
        <a:lstStyle/>
        <a:p>
          <a:pPr rtl="0"/>
          <a:r>
            <a:rPr lang="fi-FI" dirty="0" smtClean="0"/>
            <a:t>Aikataulun viivästäminen</a:t>
          </a:r>
          <a:endParaRPr lang="en-US" dirty="0"/>
        </a:p>
      </dgm:t>
    </dgm:pt>
    <dgm:pt modelId="{866F75A2-C4B3-4EBD-B12B-438018CD7E0F}" type="parTrans" cxnId="{1D9D46D3-6B08-4F74-98A3-81E99ED8352A}">
      <dgm:prSet/>
      <dgm:spPr/>
      <dgm:t>
        <a:bodyPr/>
        <a:lstStyle/>
        <a:p>
          <a:endParaRPr lang="en-US"/>
        </a:p>
      </dgm:t>
    </dgm:pt>
    <dgm:pt modelId="{8FCED657-DB64-487B-982C-6858A6AE68C3}" type="sibTrans" cxnId="{1D9D46D3-6B08-4F74-98A3-81E99ED8352A}">
      <dgm:prSet/>
      <dgm:spPr/>
      <dgm:t>
        <a:bodyPr/>
        <a:lstStyle/>
        <a:p>
          <a:endParaRPr lang="en-US"/>
        </a:p>
      </dgm:t>
    </dgm:pt>
    <dgm:pt modelId="{1937CA47-E207-4A3F-9160-E55F91CAF108}">
      <dgm:prSet/>
      <dgm:spPr/>
      <dgm:t>
        <a:bodyPr/>
        <a:lstStyle/>
        <a:p>
          <a:pPr rtl="0"/>
          <a:r>
            <a:rPr lang="fi-FI" dirty="0" smtClean="0"/>
            <a:t>Virheitä ja määrittelymuutoksia</a:t>
          </a:r>
          <a:endParaRPr lang="en-US" dirty="0"/>
        </a:p>
      </dgm:t>
    </dgm:pt>
    <dgm:pt modelId="{81399A3E-A26B-418D-9B52-F0C6EFF8EADA}" type="parTrans" cxnId="{E08461B6-CCB5-4EB4-925F-035C2BF1D8ED}">
      <dgm:prSet/>
      <dgm:spPr/>
      <dgm:t>
        <a:bodyPr/>
        <a:lstStyle/>
        <a:p>
          <a:endParaRPr lang="en-US"/>
        </a:p>
      </dgm:t>
    </dgm:pt>
    <dgm:pt modelId="{94919F5A-F22A-4783-A03C-5E3E34743926}" type="sibTrans" cxnId="{E08461B6-CCB5-4EB4-925F-035C2BF1D8ED}">
      <dgm:prSet/>
      <dgm:spPr/>
      <dgm:t>
        <a:bodyPr/>
        <a:lstStyle/>
        <a:p>
          <a:endParaRPr lang="en-US"/>
        </a:p>
      </dgm:t>
    </dgm:pt>
    <dgm:pt modelId="{3F6BFC49-9E08-4862-AA5F-6153ADC73F34}" type="pres">
      <dgm:prSet presAssocID="{D72A0575-E4D5-4066-9776-8ED448F85F2F}" presName="Name0" presStyleCnt="0">
        <dgm:presLayoutVars>
          <dgm:dir/>
          <dgm:animLvl val="lvl"/>
          <dgm:resizeHandles val="exact"/>
        </dgm:presLayoutVars>
      </dgm:prSet>
      <dgm:spPr/>
      <dgm:t>
        <a:bodyPr/>
        <a:lstStyle/>
        <a:p>
          <a:endParaRPr lang="en-US"/>
        </a:p>
      </dgm:t>
    </dgm:pt>
    <dgm:pt modelId="{53FE5A1F-D4BB-4D0C-9DC6-B20C31795A85}" type="pres">
      <dgm:prSet presAssocID="{B5B145B0-D420-4A3F-9B70-1D6F8C604828}" presName="linNode" presStyleCnt="0"/>
      <dgm:spPr/>
    </dgm:pt>
    <dgm:pt modelId="{13F85B0C-CDB4-4C79-B7E8-7D2957B05424}" type="pres">
      <dgm:prSet presAssocID="{B5B145B0-D420-4A3F-9B70-1D6F8C604828}" presName="parentText" presStyleLbl="node1" presStyleIdx="0" presStyleCnt="5">
        <dgm:presLayoutVars>
          <dgm:chMax val="1"/>
          <dgm:bulletEnabled val="1"/>
        </dgm:presLayoutVars>
      </dgm:prSet>
      <dgm:spPr/>
      <dgm:t>
        <a:bodyPr/>
        <a:lstStyle/>
        <a:p>
          <a:endParaRPr lang="en-US"/>
        </a:p>
      </dgm:t>
    </dgm:pt>
    <dgm:pt modelId="{04C5D979-4E46-4FFC-B302-ED62E9BD527E}" type="pres">
      <dgm:prSet presAssocID="{B5B145B0-D420-4A3F-9B70-1D6F8C604828}" presName="descendantText" presStyleLbl="alignAccFollowNode1" presStyleIdx="0" presStyleCnt="5">
        <dgm:presLayoutVars>
          <dgm:bulletEnabled val="1"/>
        </dgm:presLayoutVars>
      </dgm:prSet>
      <dgm:spPr/>
      <dgm:t>
        <a:bodyPr/>
        <a:lstStyle/>
        <a:p>
          <a:endParaRPr lang="en-US"/>
        </a:p>
      </dgm:t>
    </dgm:pt>
    <dgm:pt modelId="{65AF8B25-0810-4BE4-B04A-9EB6665FA5CD}" type="pres">
      <dgm:prSet presAssocID="{4073F744-1912-4E14-B905-E0E8223F9020}" presName="sp" presStyleCnt="0"/>
      <dgm:spPr/>
    </dgm:pt>
    <dgm:pt modelId="{8D4B7753-4CEF-4A78-ACC5-6E33FA3919B7}" type="pres">
      <dgm:prSet presAssocID="{3B7833F5-220C-4F3E-9681-303E181A7C0F}" presName="linNode" presStyleCnt="0"/>
      <dgm:spPr/>
    </dgm:pt>
    <dgm:pt modelId="{2B0C999A-4871-4C7C-99F6-3FBA9C1DDFF2}" type="pres">
      <dgm:prSet presAssocID="{3B7833F5-220C-4F3E-9681-303E181A7C0F}" presName="parentText" presStyleLbl="node1" presStyleIdx="1" presStyleCnt="5">
        <dgm:presLayoutVars>
          <dgm:chMax val="1"/>
          <dgm:bulletEnabled val="1"/>
        </dgm:presLayoutVars>
      </dgm:prSet>
      <dgm:spPr/>
      <dgm:t>
        <a:bodyPr/>
        <a:lstStyle/>
        <a:p>
          <a:endParaRPr lang="en-US"/>
        </a:p>
      </dgm:t>
    </dgm:pt>
    <dgm:pt modelId="{FD4EDC9D-A9FF-45C6-8A7B-7D20DED1371A}" type="pres">
      <dgm:prSet presAssocID="{3B7833F5-220C-4F3E-9681-303E181A7C0F}" presName="descendantText" presStyleLbl="alignAccFollowNode1" presStyleIdx="1" presStyleCnt="5">
        <dgm:presLayoutVars>
          <dgm:bulletEnabled val="1"/>
        </dgm:presLayoutVars>
      </dgm:prSet>
      <dgm:spPr/>
      <dgm:t>
        <a:bodyPr/>
        <a:lstStyle/>
        <a:p>
          <a:endParaRPr lang="en-US"/>
        </a:p>
      </dgm:t>
    </dgm:pt>
    <dgm:pt modelId="{4F16EBEB-C768-4F93-A918-5F1D5DEE4FA3}" type="pres">
      <dgm:prSet presAssocID="{8728180A-232F-4EEC-9583-BABC0BEBC0C0}" presName="sp" presStyleCnt="0"/>
      <dgm:spPr/>
    </dgm:pt>
    <dgm:pt modelId="{88866845-C4C5-47AF-96EE-39EA09A5C97A}" type="pres">
      <dgm:prSet presAssocID="{95BB8E2C-EE6F-48FD-88BE-37CF564420F5}" presName="linNode" presStyleCnt="0"/>
      <dgm:spPr/>
    </dgm:pt>
    <dgm:pt modelId="{53A121A5-3A7D-45BA-8828-016126F0B3EA}" type="pres">
      <dgm:prSet presAssocID="{95BB8E2C-EE6F-48FD-88BE-37CF564420F5}" presName="parentText" presStyleLbl="node1" presStyleIdx="2" presStyleCnt="5">
        <dgm:presLayoutVars>
          <dgm:chMax val="1"/>
          <dgm:bulletEnabled val="1"/>
        </dgm:presLayoutVars>
      </dgm:prSet>
      <dgm:spPr/>
      <dgm:t>
        <a:bodyPr/>
        <a:lstStyle/>
        <a:p>
          <a:endParaRPr lang="en-US"/>
        </a:p>
      </dgm:t>
    </dgm:pt>
    <dgm:pt modelId="{B9D7383C-D603-4F34-BEA0-D3B37F354650}" type="pres">
      <dgm:prSet presAssocID="{95BB8E2C-EE6F-48FD-88BE-37CF564420F5}" presName="descendantText" presStyleLbl="alignAccFollowNode1" presStyleIdx="2" presStyleCnt="5">
        <dgm:presLayoutVars>
          <dgm:bulletEnabled val="1"/>
        </dgm:presLayoutVars>
      </dgm:prSet>
      <dgm:spPr/>
      <dgm:t>
        <a:bodyPr/>
        <a:lstStyle/>
        <a:p>
          <a:endParaRPr lang="en-US"/>
        </a:p>
      </dgm:t>
    </dgm:pt>
    <dgm:pt modelId="{33A37B9E-58C7-4338-94E0-642A8DA60768}" type="pres">
      <dgm:prSet presAssocID="{A0521788-FFD8-4FB9-AF19-1BD881387DC3}" presName="sp" presStyleCnt="0"/>
      <dgm:spPr/>
    </dgm:pt>
    <dgm:pt modelId="{71E23BA2-A412-495D-AE0D-A88D07AC6D03}" type="pres">
      <dgm:prSet presAssocID="{94A5D23C-C58C-496B-ACBF-8E7762DD48AB}" presName="linNode" presStyleCnt="0"/>
      <dgm:spPr/>
    </dgm:pt>
    <dgm:pt modelId="{10F9AE67-5F8B-4FDB-BDB3-7E2E805F44A7}" type="pres">
      <dgm:prSet presAssocID="{94A5D23C-C58C-496B-ACBF-8E7762DD48AB}" presName="parentText" presStyleLbl="node1" presStyleIdx="3" presStyleCnt="5">
        <dgm:presLayoutVars>
          <dgm:chMax val="1"/>
          <dgm:bulletEnabled val="1"/>
        </dgm:presLayoutVars>
      </dgm:prSet>
      <dgm:spPr/>
      <dgm:t>
        <a:bodyPr/>
        <a:lstStyle/>
        <a:p>
          <a:endParaRPr lang="en-US"/>
        </a:p>
      </dgm:t>
    </dgm:pt>
    <dgm:pt modelId="{49D1F22E-2D13-488A-9DF5-EF184BBD31D7}" type="pres">
      <dgm:prSet presAssocID="{94A5D23C-C58C-496B-ACBF-8E7762DD48AB}" presName="descendantText" presStyleLbl="alignAccFollowNode1" presStyleIdx="3" presStyleCnt="5">
        <dgm:presLayoutVars>
          <dgm:bulletEnabled val="1"/>
        </dgm:presLayoutVars>
      </dgm:prSet>
      <dgm:spPr/>
      <dgm:t>
        <a:bodyPr/>
        <a:lstStyle/>
        <a:p>
          <a:endParaRPr lang="en-US"/>
        </a:p>
      </dgm:t>
    </dgm:pt>
    <dgm:pt modelId="{4F27DE12-A1B1-4091-B15E-D19287008B10}" type="pres">
      <dgm:prSet presAssocID="{DFE32262-9242-4538-BA18-BC46AEFD7A5B}" presName="sp" presStyleCnt="0"/>
      <dgm:spPr/>
    </dgm:pt>
    <dgm:pt modelId="{6F5E813A-D144-4826-A4FB-B4F4BE7AA31D}" type="pres">
      <dgm:prSet presAssocID="{3066386E-C547-4BDA-9220-6341CE35C4EF}" presName="linNode" presStyleCnt="0"/>
      <dgm:spPr/>
    </dgm:pt>
    <dgm:pt modelId="{17BBD68E-5EB6-40BB-B40D-5562A3D6A95F}" type="pres">
      <dgm:prSet presAssocID="{3066386E-C547-4BDA-9220-6341CE35C4EF}" presName="parentText" presStyleLbl="node1" presStyleIdx="4" presStyleCnt="5">
        <dgm:presLayoutVars>
          <dgm:chMax val="1"/>
          <dgm:bulletEnabled val="1"/>
        </dgm:presLayoutVars>
      </dgm:prSet>
      <dgm:spPr/>
      <dgm:t>
        <a:bodyPr/>
        <a:lstStyle/>
        <a:p>
          <a:endParaRPr lang="en-US"/>
        </a:p>
      </dgm:t>
    </dgm:pt>
    <dgm:pt modelId="{F1B0F6CC-6C0D-4063-9E07-E47E4F24BB8E}" type="pres">
      <dgm:prSet presAssocID="{3066386E-C547-4BDA-9220-6341CE35C4EF}" presName="descendantText" presStyleLbl="alignAccFollowNode1" presStyleIdx="4" presStyleCnt="5">
        <dgm:presLayoutVars>
          <dgm:bulletEnabled val="1"/>
        </dgm:presLayoutVars>
      </dgm:prSet>
      <dgm:spPr/>
      <dgm:t>
        <a:bodyPr/>
        <a:lstStyle/>
        <a:p>
          <a:endParaRPr lang="en-US"/>
        </a:p>
      </dgm:t>
    </dgm:pt>
  </dgm:ptLst>
  <dgm:cxnLst>
    <dgm:cxn modelId="{306A435E-88B6-4C44-9893-127BB233F5DB}" type="presOf" srcId="{D72A0575-E4D5-4066-9776-8ED448F85F2F}" destId="{3F6BFC49-9E08-4862-AA5F-6153ADC73F34}" srcOrd="0" destOrd="0" presId="urn:microsoft.com/office/officeart/2005/8/layout/vList5"/>
    <dgm:cxn modelId="{CC76E2ED-2FA4-4F43-8A9D-3666B288D169}" type="presOf" srcId="{94A5D23C-C58C-496B-ACBF-8E7762DD48AB}" destId="{10F9AE67-5F8B-4FDB-BDB3-7E2E805F44A7}" srcOrd="0" destOrd="0" presId="urn:microsoft.com/office/officeart/2005/8/layout/vList5"/>
    <dgm:cxn modelId="{B7C549DE-1C70-42E9-800A-11EFDC62E449}" srcId="{D72A0575-E4D5-4066-9776-8ED448F85F2F}" destId="{3B7833F5-220C-4F3E-9681-303E181A7C0F}" srcOrd="1" destOrd="0" parTransId="{089DCB3D-B158-4605-A819-0E23D144F478}" sibTransId="{8728180A-232F-4EEC-9583-BABC0BEBC0C0}"/>
    <dgm:cxn modelId="{C5D281E2-254B-4784-8834-40099884052B}" srcId="{3B7833F5-220C-4F3E-9681-303E181A7C0F}" destId="{793AAC67-6446-42A4-B1EE-EB46C7244813}" srcOrd="0" destOrd="0" parTransId="{6C8A5CCE-65D9-44FA-8566-BBE5B90F5039}" sibTransId="{2660C179-B746-4358-BE79-30611FD10640}"/>
    <dgm:cxn modelId="{A159D421-E1FA-4D5F-A4C7-9F2611A3E544}" type="presOf" srcId="{1937CA47-E207-4A3F-9160-E55F91CAF108}" destId="{49D1F22E-2D13-488A-9DF5-EF184BBD31D7}" srcOrd="0" destOrd="0" presId="urn:microsoft.com/office/officeart/2005/8/layout/vList5"/>
    <dgm:cxn modelId="{89FBD003-FA88-468A-9F8D-35F3A32FAF2F}" type="presOf" srcId="{A1DE7920-BFF5-40CC-9E75-E1C61E20CB00}" destId="{04C5D979-4E46-4FFC-B302-ED62E9BD527E}" srcOrd="0" destOrd="0" presId="urn:microsoft.com/office/officeart/2005/8/layout/vList5"/>
    <dgm:cxn modelId="{1CCD93B7-BCC4-4095-A9DB-A5299061D45F}" srcId="{D72A0575-E4D5-4066-9776-8ED448F85F2F}" destId="{94A5D23C-C58C-496B-ACBF-8E7762DD48AB}" srcOrd="3" destOrd="0" parTransId="{242F1714-6E7E-445A-BAF6-AF8BC990D242}" sibTransId="{DFE32262-9242-4538-BA18-BC46AEFD7A5B}"/>
    <dgm:cxn modelId="{899A8AFD-7D30-4492-8BA3-706CA77B6A96}" srcId="{D72A0575-E4D5-4066-9776-8ED448F85F2F}" destId="{B5B145B0-D420-4A3F-9B70-1D6F8C604828}" srcOrd="0" destOrd="0" parTransId="{F179AD95-0287-4566-9FAA-F8E0FCEE3224}" sibTransId="{4073F744-1912-4E14-B905-E0E8223F9020}"/>
    <dgm:cxn modelId="{90DB9AD3-4001-4931-8C8D-26D2AD6FB976}" srcId="{95BB8E2C-EE6F-48FD-88BE-37CF564420F5}" destId="{0DC60DEB-CBDC-4183-B4BA-964D4CA5F32F}" srcOrd="0" destOrd="0" parTransId="{8B12C18F-B118-4116-92D6-EA57F25BC3E3}" sibTransId="{DBD6B2E9-3E56-49B9-B05E-BFC168E45966}"/>
    <dgm:cxn modelId="{E08461B6-CCB5-4EB4-925F-035C2BF1D8ED}" srcId="{94A5D23C-C58C-496B-ACBF-8E7762DD48AB}" destId="{1937CA47-E207-4A3F-9160-E55F91CAF108}" srcOrd="0" destOrd="0" parTransId="{81399A3E-A26B-418D-9B52-F0C6EFF8EADA}" sibTransId="{94919F5A-F22A-4783-A03C-5E3E34743926}"/>
    <dgm:cxn modelId="{4D505A94-5090-44C9-8509-1586776BF7E5}" srcId="{D72A0575-E4D5-4066-9776-8ED448F85F2F}" destId="{3066386E-C547-4BDA-9220-6341CE35C4EF}" srcOrd="4" destOrd="0" parTransId="{3ED64C16-B621-4A68-B918-5FE9024AC1BB}" sibTransId="{3E8499F4-0C45-4152-9416-D726C2354934}"/>
    <dgm:cxn modelId="{FC3DC1C9-A5DD-4BE0-BDED-6998BA00721C}" type="presOf" srcId="{B5B145B0-D420-4A3F-9B70-1D6F8C604828}" destId="{13F85B0C-CDB4-4C79-B7E8-7D2957B05424}" srcOrd="0" destOrd="0" presId="urn:microsoft.com/office/officeart/2005/8/layout/vList5"/>
    <dgm:cxn modelId="{5FB5AB66-635B-4C95-87BE-16699CC72158}" type="presOf" srcId="{95BB8E2C-EE6F-48FD-88BE-37CF564420F5}" destId="{53A121A5-3A7D-45BA-8828-016126F0B3EA}" srcOrd="0" destOrd="0" presId="urn:microsoft.com/office/officeart/2005/8/layout/vList5"/>
    <dgm:cxn modelId="{5A7E7F6D-5D4C-462A-B76D-7ADB19F36FE3}" type="presOf" srcId="{3066386E-C547-4BDA-9220-6341CE35C4EF}" destId="{17BBD68E-5EB6-40BB-B40D-5562A3D6A95F}" srcOrd="0" destOrd="0" presId="urn:microsoft.com/office/officeart/2005/8/layout/vList5"/>
    <dgm:cxn modelId="{95032D5D-9984-4CB4-B388-B1030EF0723E}" srcId="{D72A0575-E4D5-4066-9776-8ED448F85F2F}" destId="{95BB8E2C-EE6F-48FD-88BE-37CF564420F5}" srcOrd="2" destOrd="0" parTransId="{F5811D9E-1A48-42C9-AD4E-AAF9C1EF4CAD}" sibTransId="{A0521788-FFD8-4FB9-AF19-1BD881387DC3}"/>
    <dgm:cxn modelId="{400E52DB-FC6E-45AE-901E-B13A2BF4AED4}" type="presOf" srcId="{0DC60DEB-CBDC-4183-B4BA-964D4CA5F32F}" destId="{B9D7383C-D603-4F34-BEA0-D3B37F354650}" srcOrd="0" destOrd="0" presId="urn:microsoft.com/office/officeart/2005/8/layout/vList5"/>
    <dgm:cxn modelId="{01FD47C7-3A44-44C2-9143-5066224ED719}" srcId="{B5B145B0-D420-4A3F-9B70-1D6F8C604828}" destId="{A1DE7920-BFF5-40CC-9E75-E1C61E20CB00}" srcOrd="0" destOrd="0" parTransId="{29535C23-C9F1-42A8-8DBD-EF8600D19DCE}" sibTransId="{27A2E7ED-2070-4A81-8FF1-B2B567C4B175}"/>
    <dgm:cxn modelId="{7EA6A107-7305-45F2-8D1C-5C1CC1AB8AB7}" type="presOf" srcId="{793AAC67-6446-42A4-B1EE-EB46C7244813}" destId="{FD4EDC9D-A9FF-45C6-8A7B-7D20DED1371A}" srcOrd="0" destOrd="0" presId="urn:microsoft.com/office/officeart/2005/8/layout/vList5"/>
    <dgm:cxn modelId="{AB382B91-3181-4CB0-AA39-3A5C11C4F6FA}" type="presOf" srcId="{32A8A835-9A9F-4DC8-B159-D939ED68C051}" destId="{F1B0F6CC-6C0D-4063-9E07-E47E4F24BB8E}" srcOrd="0" destOrd="0" presId="urn:microsoft.com/office/officeart/2005/8/layout/vList5"/>
    <dgm:cxn modelId="{D1E2411F-DF8D-4313-8F65-8AD542C1C55F}" type="presOf" srcId="{3B7833F5-220C-4F3E-9681-303E181A7C0F}" destId="{2B0C999A-4871-4C7C-99F6-3FBA9C1DDFF2}" srcOrd="0" destOrd="0" presId="urn:microsoft.com/office/officeart/2005/8/layout/vList5"/>
    <dgm:cxn modelId="{1D9D46D3-6B08-4F74-98A3-81E99ED8352A}" srcId="{3066386E-C547-4BDA-9220-6341CE35C4EF}" destId="{32A8A835-9A9F-4DC8-B159-D939ED68C051}" srcOrd="0" destOrd="0" parTransId="{866F75A2-C4B3-4EBD-B12B-438018CD7E0F}" sibTransId="{8FCED657-DB64-487B-982C-6858A6AE68C3}"/>
    <dgm:cxn modelId="{A1F3287C-E526-4377-8B5C-97BF4A7DECE9}" type="presParOf" srcId="{3F6BFC49-9E08-4862-AA5F-6153ADC73F34}" destId="{53FE5A1F-D4BB-4D0C-9DC6-B20C31795A85}" srcOrd="0" destOrd="0" presId="urn:microsoft.com/office/officeart/2005/8/layout/vList5"/>
    <dgm:cxn modelId="{11982231-F924-44AC-B176-0E64A1BC099A}" type="presParOf" srcId="{53FE5A1F-D4BB-4D0C-9DC6-B20C31795A85}" destId="{13F85B0C-CDB4-4C79-B7E8-7D2957B05424}" srcOrd="0" destOrd="0" presId="urn:microsoft.com/office/officeart/2005/8/layout/vList5"/>
    <dgm:cxn modelId="{E37273A6-2B0E-417E-B0EA-1016946F4635}" type="presParOf" srcId="{53FE5A1F-D4BB-4D0C-9DC6-B20C31795A85}" destId="{04C5D979-4E46-4FFC-B302-ED62E9BD527E}" srcOrd="1" destOrd="0" presId="urn:microsoft.com/office/officeart/2005/8/layout/vList5"/>
    <dgm:cxn modelId="{6342E7C3-7F30-44C8-8218-48BC2332C5C0}" type="presParOf" srcId="{3F6BFC49-9E08-4862-AA5F-6153ADC73F34}" destId="{65AF8B25-0810-4BE4-B04A-9EB6665FA5CD}" srcOrd="1" destOrd="0" presId="urn:microsoft.com/office/officeart/2005/8/layout/vList5"/>
    <dgm:cxn modelId="{4B3791B2-75C9-466D-8732-9A31C8029B26}" type="presParOf" srcId="{3F6BFC49-9E08-4862-AA5F-6153ADC73F34}" destId="{8D4B7753-4CEF-4A78-ACC5-6E33FA3919B7}" srcOrd="2" destOrd="0" presId="urn:microsoft.com/office/officeart/2005/8/layout/vList5"/>
    <dgm:cxn modelId="{987292BD-0F0C-4B07-9BB4-ABFB464CCF42}" type="presParOf" srcId="{8D4B7753-4CEF-4A78-ACC5-6E33FA3919B7}" destId="{2B0C999A-4871-4C7C-99F6-3FBA9C1DDFF2}" srcOrd="0" destOrd="0" presId="urn:microsoft.com/office/officeart/2005/8/layout/vList5"/>
    <dgm:cxn modelId="{C7C305FC-7E96-4A20-AA6A-4862DF3F6594}" type="presParOf" srcId="{8D4B7753-4CEF-4A78-ACC5-6E33FA3919B7}" destId="{FD4EDC9D-A9FF-45C6-8A7B-7D20DED1371A}" srcOrd="1" destOrd="0" presId="urn:microsoft.com/office/officeart/2005/8/layout/vList5"/>
    <dgm:cxn modelId="{99A74F29-3A29-45AE-84E5-72CF077C0CCE}" type="presParOf" srcId="{3F6BFC49-9E08-4862-AA5F-6153ADC73F34}" destId="{4F16EBEB-C768-4F93-A918-5F1D5DEE4FA3}" srcOrd="3" destOrd="0" presId="urn:microsoft.com/office/officeart/2005/8/layout/vList5"/>
    <dgm:cxn modelId="{96859B19-14A8-4461-8FA9-D49059C6A049}" type="presParOf" srcId="{3F6BFC49-9E08-4862-AA5F-6153ADC73F34}" destId="{88866845-C4C5-47AF-96EE-39EA09A5C97A}" srcOrd="4" destOrd="0" presId="urn:microsoft.com/office/officeart/2005/8/layout/vList5"/>
    <dgm:cxn modelId="{D29B36B6-1C9A-4192-BE8B-DADD3B278D06}" type="presParOf" srcId="{88866845-C4C5-47AF-96EE-39EA09A5C97A}" destId="{53A121A5-3A7D-45BA-8828-016126F0B3EA}" srcOrd="0" destOrd="0" presId="urn:microsoft.com/office/officeart/2005/8/layout/vList5"/>
    <dgm:cxn modelId="{C0033C71-CFAE-4095-8EE5-F093E3BF95C1}" type="presParOf" srcId="{88866845-C4C5-47AF-96EE-39EA09A5C97A}" destId="{B9D7383C-D603-4F34-BEA0-D3B37F354650}" srcOrd="1" destOrd="0" presId="urn:microsoft.com/office/officeart/2005/8/layout/vList5"/>
    <dgm:cxn modelId="{84298714-953B-4F80-9B60-ED11E59AD791}" type="presParOf" srcId="{3F6BFC49-9E08-4862-AA5F-6153ADC73F34}" destId="{33A37B9E-58C7-4338-94E0-642A8DA60768}" srcOrd="5" destOrd="0" presId="urn:microsoft.com/office/officeart/2005/8/layout/vList5"/>
    <dgm:cxn modelId="{28BADBF4-25D5-4EF5-BE0D-C061565A8D9F}" type="presParOf" srcId="{3F6BFC49-9E08-4862-AA5F-6153ADC73F34}" destId="{71E23BA2-A412-495D-AE0D-A88D07AC6D03}" srcOrd="6" destOrd="0" presId="urn:microsoft.com/office/officeart/2005/8/layout/vList5"/>
    <dgm:cxn modelId="{4BED0ECE-D8E9-4F33-BA3C-8A9C8AB22F51}" type="presParOf" srcId="{71E23BA2-A412-495D-AE0D-A88D07AC6D03}" destId="{10F9AE67-5F8B-4FDB-BDB3-7E2E805F44A7}" srcOrd="0" destOrd="0" presId="urn:microsoft.com/office/officeart/2005/8/layout/vList5"/>
    <dgm:cxn modelId="{E372720C-BD44-41DA-897A-DB24AD58073E}" type="presParOf" srcId="{71E23BA2-A412-495D-AE0D-A88D07AC6D03}" destId="{49D1F22E-2D13-488A-9DF5-EF184BBD31D7}" srcOrd="1" destOrd="0" presId="urn:microsoft.com/office/officeart/2005/8/layout/vList5"/>
    <dgm:cxn modelId="{F3FC744E-DA39-4237-BD2E-26FA4F625A5E}" type="presParOf" srcId="{3F6BFC49-9E08-4862-AA5F-6153ADC73F34}" destId="{4F27DE12-A1B1-4091-B15E-D19287008B10}" srcOrd="7" destOrd="0" presId="urn:microsoft.com/office/officeart/2005/8/layout/vList5"/>
    <dgm:cxn modelId="{EF40D7C7-827F-4E4F-B367-85F1485A6995}" type="presParOf" srcId="{3F6BFC49-9E08-4862-AA5F-6153ADC73F34}" destId="{6F5E813A-D144-4826-A4FB-B4F4BE7AA31D}" srcOrd="8" destOrd="0" presId="urn:microsoft.com/office/officeart/2005/8/layout/vList5"/>
    <dgm:cxn modelId="{03CFD059-89E0-4C86-9D42-E3DA26F2BC67}" type="presParOf" srcId="{6F5E813A-D144-4826-A4FB-B4F4BE7AA31D}" destId="{17BBD68E-5EB6-40BB-B40D-5562A3D6A95F}" srcOrd="0" destOrd="0" presId="urn:microsoft.com/office/officeart/2005/8/layout/vList5"/>
    <dgm:cxn modelId="{CEF43C56-BE13-4BD0-824B-9085901F0FAD}" type="presParOf" srcId="{6F5E813A-D144-4826-A4FB-B4F4BE7AA31D}" destId="{F1B0F6CC-6C0D-4063-9E07-E47E4F24BB8E}"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50C2AB2-B633-4788-A5A1-4B20F4E17CF8}" type="doc">
      <dgm:prSet loTypeId="urn:microsoft.com/office/officeart/2005/8/layout/hList1" loCatId="list" qsTypeId="urn:microsoft.com/office/officeart/2005/8/quickstyle/simple1" qsCatId="simple" csTypeId="urn:microsoft.com/office/officeart/2005/8/colors/colorful1#11" csCatId="colorful" phldr="1"/>
      <dgm:spPr/>
      <dgm:t>
        <a:bodyPr/>
        <a:lstStyle/>
        <a:p>
          <a:endParaRPr lang="en-US"/>
        </a:p>
      </dgm:t>
    </dgm:pt>
    <dgm:pt modelId="{F78DCC10-1229-49A1-ADB1-5495972C921F}">
      <dgm:prSet phldrT="[Text]"/>
      <dgm:spPr/>
      <dgm:t>
        <a:bodyPr/>
        <a:lstStyle/>
        <a:p>
          <a:r>
            <a:rPr lang="fi-FI" b="1" dirty="0" smtClean="0"/>
            <a:t>Tarjouspyynnön valmistelu</a:t>
          </a:r>
          <a:endParaRPr lang="en-US" b="1" dirty="0"/>
        </a:p>
      </dgm:t>
    </dgm:pt>
    <dgm:pt modelId="{8A62FB8A-E81D-4BC6-BFE6-46BFB1126CD1}" type="parTrans" cxnId="{77A54386-9934-44F6-84FA-FF24D1C02E64}">
      <dgm:prSet/>
      <dgm:spPr/>
      <dgm:t>
        <a:bodyPr/>
        <a:lstStyle/>
        <a:p>
          <a:endParaRPr lang="en-US"/>
        </a:p>
      </dgm:t>
    </dgm:pt>
    <dgm:pt modelId="{982BB1E6-F0D8-46C6-AF8E-796430304297}" type="sibTrans" cxnId="{77A54386-9934-44F6-84FA-FF24D1C02E64}">
      <dgm:prSet/>
      <dgm:spPr/>
      <dgm:t>
        <a:bodyPr/>
        <a:lstStyle/>
        <a:p>
          <a:endParaRPr lang="en-US"/>
        </a:p>
      </dgm:t>
    </dgm:pt>
    <dgm:pt modelId="{C59ECF7C-653F-45DE-AB84-2F9A5D8D8577}">
      <dgm:prSet phldrT="[Text]"/>
      <dgm:spPr/>
      <dgm:t>
        <a:bodyPr/>
        <a:lstStyle/>
        <a:p>
          <a:r>
            <a:rPr lang="fi-FI" dirty="0" smtClean="0"/>
            <a:t>Järjestelmävaatimukset</a:t>
          </a:r>
          <a:endParaRPr lang="en-US" dirty="0"/>
        </a:p>
      </dgm:t>
    </dgm:pt>
    <dgm:pt modelId="{CD1232A4-86B0-409C-93E7-97801D0E8D27}" type="parTrans" cxnId="{1CA4D51F-AEBB-47EB-8887-90A6D4F26D13}">
      <dgm:prSet/>
      <dgm:spPr/>
      <dgm:t>
        <a:bodyPr/>
        <a:lstStyle/>
        <a:p>
          <a:endParaRPr lang="en-US"/>
        </a:p>
      </dgm:t>
    </dgm:pt>
    <dgm:pt modelId="{6F823EB7-B039-48E6-9A68-FF73ED4254BC}" type="sibTrans" cxnId="{1CA4D51F-AEBB-47EB-8887-90A6D4F26D13}">
      <dgm:prSet/>
      <dgm:spPr/>
      <dgm:t>
        <a:bodyPr/>
        <a:lstStyle/>
        <a:p>
          <a:endParaRPr lang="en-US"/>
        </a:p>
      </dgm:t>
    </dgm:pt>
    <dgm:pt modelId="{D6666D7D-0AE2-4370-943F-D9A0302C1724}">
      <dgm:prSet phldrT="[Text]"/>
      <dgm:spPr/>
      <dgm:t>
        <a:bodyPr/>
        <a:lstStyle/>
        <a:p>
          <a:r>
            <a:rPr lang="fi-FI" dirty="0" smtClean="0"/>
            <a:t>Palveluvaatimukset</a:t>
          </a:r>
          <a:br>
            <a:rPr lang="fi-FI" dirty="0" smtClean="0"/>
          </a:br>
          <a:r>
            <a:rPr lang="fi-FI" dirty="0" smtClean="0"/>
            <a:t/>
          </a:r>
          <a:br>
            <a:rPr lang="fi-FI" dirty="0" smtClean="0"/>
          </a:br>
          <a:r>
            <a:rPr lang="fi-FI" dirty="0" smtClean="0">
              <a:sym typeface="Wingdings" pitchFamily="2" charset="2"/>
            </a:rPr>
            <a:t> vertailukelpoiset tarjoukset, jotka vastaavat odotuksia ja tarpeita, erot hinnoissa ja toimintamalleissa</a:t>
          </a:r>
          <a:endParaRPr lang="en-US" dirty="0"/>
        </a:p>
      </dgm:t>
    </dgm:pt>
    <dgm:pt modelId="{B21D2E7D-DA2B-4327-A74A-BDDF3E7B7C81}" type="parTrans" cxnId="{F753A8CA-C155-488B-AD93-CDC1149E7AB7}">
      <dgm:prSet/>
      <dgm:spPr/>
      <dgm:t>
        <a:bodyPr/>
        <a:lstStyle/>
        <a:p>
          <a:endParaRPr lang="en-US"/>
        </a:p>
      </dgm:t>
    </dgm:pt>
    <dgm:pt modelId="{C3E7C7E3-6FDE-40DC-8F6D-14F71D9F3B07}" type="sibTrans" cxnId="{F753A8CA-C155-488B-AD93-CDC1149E7AB7}">
      <dgm:prSet/>
      <dgm:spPr/>
      <dgm:t>
        <a:bodyPr/>
        <a:lstStyle/>
        <a:p>
          <a:endParaRPr lang="en-US"/>
        </a:p>
      </dgm:t>
    </dgm:pt>
    <dgm:pt modelId="{AD0F0DE3-B6F8-434C-8274-EDC028447705}">
      <dgm:prSet phldrT="[Text]"/>
      <dgm:spPr/>
      <dgm:t>
        <a:bodyPr/>
        <a:lstStyle/>
        <a:p>
          <a:r>
            <a:rPr lang="fi-FI" b="1" dirty="0" smtClean="0"/>
            <a:t>Tarjousten arviointi</a:t>
          </a:r>
          <a:endParaRPr lang="en-US" b="1" dirty="0"/>
        </a:p>
      </dgm:t>
    </dgm:pt>
    <dgm:pt modelId="{47350A96-9069-475F-A4BE-746125950275}" type="parTrans" cxnId="{F7DF67BE-7F84-4BE3-BD60-57DD2A789427}">
      <dgm:prSet/>
      <dgm:spPr/>
      <dgm:t>
        <a:bodyPr/>
        <a:lstStyle/>
        <a:p>
          <a:endParaRPr lang="en-US"/>
        </a:p>
      </dgm:t>
    </dgm:pt>
    <dgm:pt modelId="{10191A8E-BD66-4E98-B57B-9C0E9FD0CA46}" type="sibTrans" cxnId="{F7DF67BE-7F84-4BE3-BD60-57DD2A789427}">
      <dgm:prSet/>
      <dgm:spPr/>
      <dgm:t>
        <a:bodyPr/>
        <a:lstStyle/>
        <a:p>
          <a:endParaRPr lang="en-US"/>
        </a:p>
      </dgm:t>
    </dgm:pt>
    <dgm:pt modelId="{89D67EC4-45CB-43A2-99EF-5C2BE5FBCE5B}">
      <dgm:prSet phldrT="[Text]"/>
      <dgm:spPr/>
      <dgm:t>
        <a:bodyPr/>
        <a:lstStyle/>
        <a:p>
          <a:r>
            <a:rPr lang="fi-FI" dirty="0" smtClean="0"/>
            <a:t> Erilaisten tarjousten tekeminen vertailukelpoiseksi (kustannusriskien vaikutus hintaan)</a:t>
          </a:r>
          <a:br>
            <a:rPr lang="fi-FI" dirty="0" smtClean="0"/>
          </a:br>
          <a:r>
            <a:rPr lang="fi-FI" dirty="0" smtClean="0"/>
            <a:t/>
          </a:r>
          <a:br>
            <a:rPr lang="fi-FI" dirty="0" smtClean="0"/>
          </a:br>
          <a:r>
            <a:rPr lang="fi-FI" dirty="0" smtClean="0">
              <a:sym typeface="Wingdings" pitchFamily="2" charset="2"/>
            </a:rPr>
            <a:t> puuttuvien asioiden hinnoittelu, kohdistaminen toimijoille, hintojen selvittäminen</a:t>
          </a:r>
          <a:endParaRPr lang="en-US" dirty="0"/>
        </a:p>
      </dgm:t>
    </dgm:pt>
    <dgm:pt modelId="{187515CA-5367-44EC-9CE8-DF4DDEF53A9A}" type="parTrans" cxnId="{6AF4A9B1-03FD-400B-A602-D891B60E5C95}">
      <dgm:prSet/>
      <dgm:spPr/>
      <dgm:t>
        <a:bodyPr/>
        <a:lstStyle/>
        <a:p>
          <a:endParaRPr lang="en-US"/>
        </a:p>
      </dgm:t>
    </dgm:pt>
    <dgm:pt modelId="{1234F921-8F46-4238-9E7E-F31F5ABC710B}" type="sibTrans" cxnId="{6AF4A9B1-03FD-400B-A602-D891B60E5C95}">
      <dgm:prSet/>
      <dgm:spPr/>
      <dgm:t>
        <a:bodyPr/>
        <a:lstStyle/>
        <a:p>
          <a:endParaRPr lang="en-US"/>
        </a:p>
      </dgm:t>
    </dgm:pt>
    <dgm:pt modelId="{8EF51AEB-CB0D-4103-8AB2-A31EAE3EAF4F}">
      <dgm:prSet phldrT="[Text]"/>
      <dgm:spPr/>
      <dgm:t>
        <a:bodyPr/>
        <a:lstStyle/>
        <a:p>
          <a:r>
            <a:rPr lang="fi-FI" b="1" dirty="0" smtClean="0"/>
            <a:t>Sopimusneuvottelu</a:t>
          </a:r>
          <a:endParaRPr lang="en-US" b="1" dirty="0"/>
        </a:p>
      </dgm:t>
    </dgm:pt>
    <dgm:pt modelId="{3CD81D0B-F9A1-4252-BA2B-9C9D0DEC39E7}" type="parTrans" cxnId="{74CB2533-E304-4AAF-8FAA-F9D861C2C511}">
      <dgm:prSet/>
      <dgm:spPr/>
      <dgm:t>
        <a:bodyPr/>
        <a:lstStyle/>
        <a:p>
          <a:endParaRPr lang="en-US"/>
        </a:p>
      </dgm:t>
    </dgm:pt>
    <dgm:pt modelId="{67B00647-EBE9-4BB4-B321-7FAB651A49D1}" type="sibTrans" cxnId="{74CB2533-E304-4AAF-8FAA-F9D861C2C511}">
      <dgm:prSet/>
      <dgm:spPr/>
      <dgm:t>
        <a:bodyPr/>
        <a:lstStyle/>
        <a:p>
          <a:endParaRPr lang="en-US"/>
        </a:p>
      </dgm:t>
    </dgm:pt>
    <dgm:pt modelId="{ADDD99A1-CCAB-45F1-AF33-07FC8E533354}">
      <dgm:prSet phldrT="[Text]"/>
      <dgm:spPr/>
      <dgm:t>
        <a:bodyPr/>
        <a:lstStyle/>
        <a:p>
          <a:r>
            <a:rPr lang="fi-FI" dirty="0" smtClean="0"/>
            <a:t> Tinkaaminen lisävaatimuksista</a:t>
          </a:r>
          <a:endParaRPr lang="en-US" dirty="0"/>
        </a:p>
      </dgm:t>
    </dgm:pt>
    <dgm:pt modelId="{280EF873-8B32-4544-9372-6D959FB0F3DF}" type="parTrans" cxnId="{BCE57858-8DFD-494D-AF81-C385E6D54E9C}">
      <dgm:prSet/>
      <dgm:spPr/>
      <dgm:t>
        <a:bodyPr/>
        <a:lstStyle/>
        <a:p>
          <a:endParaRPr lang="en-US"/>
        </a:p>
      </dgm:t>
    </dgm:pt>
    <dgm:pt modelId="{151BD963-12C5-42CA-AEEF-D8430DC9C89B}" type="sibTrans" cxnId="{BCE57858-8DFD-494D-AF81-C385E6D54E9C}">
      <dgm:prSet/>
      <dgm:spPr/>
      <dgm:t>
        <a:bodyPr/>
        <a:lstStyle/>
        <a:p>
          <a:endParaRPr lang="en-US"/>
        </a:p>
      </dgm:t>
    </dgm:pt>
    <dgm:pt modelId="{15192E4B-B255-4DC0-8BFF-E62A96552259}">
      <dgm:prSet phldrT="[Text]"/>
      <dgm:spPr/>
      <dgm:t>
        <a:bodyPr/>
        <a:lstStyle/>
        <a:p>
          <a:r>
            <a:rPr lang="fi-FI" dirty="0" smtClean="0"/>
            <a:t> Uusi tarjouskierros, tämä kierros oppimisena</a:t>
          </a:r>
          <a:br>
            <a:rPr lang="fi-FI" dirty="0" smtClean="0"/>
          </a:br>
          <a:r>
            <a:rPr lang="fi-FI" dirty="0" smtClean="0"/>
            <a:t/>
          </a:r>
          <a:br>
            <a:rPr lang="fi-FI" dirty="0" smtClean="0"/>
          </a:br>
          <a:r>
            <a:rPr lang="fi-FI" dirty="0" smtClean="0">
              <a:sym typeface="Wingdings" pitchFamily="2" charset="2"/>
            </a:rPr>
            <a:t> Tiukka aikataulu, toimittaja tehnyt oletukset tarjoukseensa sisältyville työmäärille, joista haluton joustamaan</a:t>
          </a:r>
          <a:endParaRPr lang="en-US" dirty="0"/>
        </a:p>
      </dgm:t>
    </dgm:pt>
    <dgm:pt modelId="{182C3C9B-E978-41BD-A5AA-5E2609D2FFA8}" type="parTrans" cxnId="{C9F28915-D633-4313-BCD7-B370F1AA5192}">
      <dgm:prSet/>
      <dgm:spPr/>
      <dgm:t>
        <a:bodyPr/>
        <a:lstStyle/>
        <a:p>
          <a:endParaRPr lang="en-US"/>
        </a:p>
      </dgm:t>
    </dgm:pt>
    <dgm:pt modelId="{C7957889-54E1-4C0B-9431-EE1CCBD8751A}" type="sibTrans" cxnId="{C9F28915-D633-4313-BCD7-B370F1AA5192}">
      <dgm:prSet/>
      <dgm:spPr/>
      <dgm:t>
        <a:bodyPr/>
        <a:lstStyle/>
        <a:p>
          <a:endParaRPr lang="en-US"/>
        </a:p>
      </dgm:t>
    </dgm:pt>
    <dgm:pt modelId="{6B90B2A3-2063-47FC-9B6F-6B3CE958D58E}">
      <dgm:prSet phldrT="[Text]"/>
      <dgm:spPr/>
      <dgm:t>
        <a:bodyPr/>
        <a:lstStyle/>
        <a:p>
          <a:r>
            <a:rPr lang="fi-FI" b="1" dirty="0" smtClean="0"/>
            <a:t>Vaatimusten</a:t>
          </a:r>
          <a:r>
            <a:rPr lang="fi-FI" dirty="0" smtClean="0"/>
            <a:t> </a:t>
          </a:r>
          <a:r>
            <a:rPr lang="fi-FI" b="1" dirty="0" smtClean="0"/>
            <a:t>tarkennus</a:t>
          </a:r>
          <a:endParaRPr lang="en-US" b="1" dirty="0"/>
        </a:p>
      </dgm:t>
    </dgm:pt>
    <dgm:pt modelId="{18D319B6-97B7-4C32-8A41-75B41B3ED8A7}" type="parTrans" cxnId="{659E17DD-52AB-4A85-B08D-F3B488ACD1BA}">
      <dgm:prSet/>
      <dgm:spPr/>
      <dgm:t>
        <a:bodyPr/>
        <a:lstStyle/>
        <a:p>
          <a:endParaRPr lang="en-US"/>
        </a:p>
      </dgm:t>
    </dgm:pt>
    <dgm:pt modelId="{A8B7C67D-F04B-4DF2-885B-228E96E40990}" type="sibTrans" cxnId="{659E17DD-52AB-4A85-B08D-F3B488ACD1BA}">
      <dgm:prSet/>
      <dgm:spPr/>
      <dgm:t>
        <a:bodyPr/>
        <a:lstStyle/>
        <a:p>
          <a:endParaRPr lang="en-US"/>
        </a:p>
      </dgm:t>
    </dgm:pt>
    <dgm:pt modelId="{97E66985-F7FB-4A9C-9302-E9AFB917C1A1}">
      <dgm:prSet phldrT="[Text]"/>
      <dgm:spPr/>
      <dgm:t>
        <a:bodyPr/>
        <a:lstStyle/>
        <a:p>
          <a:r>
            <a:rPr lang="fi-FI" dirty="0" smtClean="0"/>
            <a:t>Toimitettujen vaatimusluokkien puitteissa tarkentaminen (20 % kustannuskasvu)</a:t>
          </a:r>
          <a:endParaRPr lang="en-US" dirty="0"/>
        </a:p>
      </dgm:t>
    </dgm:pt>
    <dgm:pt modelId="{726915A8-BA2F-4A60-98CD-F72B66322B86}" type="parTrans" cxnId="{D4720990-5D05-4CC9-9CF3-EDE8F589EDA7}">
      <dgm:prSet/>
      <dgm:spPr/>
      <dgm:t>
        <a:bodyPr/>
        <a:lstStyle/>
        <a:p>
          <a:endParaRPr lang="en-US"/>
        </a:p>
      </dgm:t>
    </dgm:pt>
    <dgm:pt modelId="{676BF317-23B6-4852-87F4-359AD63584CE}" type="sibTrans" cxnId="{D4720990-5D05-4CC9-9CF3-EDE8F589EDA7}">
      <dgm:prSet/>
      <dgm:spPr/>
      <dgm:t>
        <a:bodyPr/>
        <a:lstStyle/>
        <a:p>
          <a:endParaRPr lang="en-US"/>
        </a:p>
      </dgm:t>
    </dgm:pt>
    <dgm:pt modelId="{6F054A6D-E2DB-4F3F-82A9-6279408BFAF8}">
      <dgm:prSet phldrT="[Text]"/>
      <dgm:spPr/>
      <dgm:t>
        <a:bodyPr/>
        <a:lstStyle/>
        <a:p>
          <a:r>
            <a:rPr lang="fi-FI" dirty="0" smtClean="0"/>
            <a:t>Muutospyynnöillä ei rajausta kustannusten kasvuun</a:t>
          </a:r>
          <a:br>
            <a:rPr lang="fi-FI" dirty="0" smtClean="0"/>
          </a:br>
          <a:r>
            <a:rPr lang="fi-FI" dirty="0" smtClean="0"/>
            <a:t/>
          </a:r>
          <a:br>
            <a:rPr lang="fi-FI" dirty="0" smtClean="0"/>
          </a:br>
          <a:r>
            <a:rPr lang="fi-FI" dirty="0" smtClean="0">
              <a:sym typeface="Wingdings" pitchFamily="2" charset="2"/>
            </a:rPr>
            <a:t> Asioita sisään pääasiassa kustannuksia nostavin muutospyynnöin, etenkin kun ei ”palveluvaatimus-luokkia” kuvattuna tarjouspyynnössä.</a:t>
          </a:r>
          <a:endParaRPr lang="en-US" dirty="0"/>
        </a:p>
      </dgm:t>
    </dgm:pt>
    <dgm:pt modelId="{B19CE188-1E78-412B-8E54-66B73FBD9E12}" type="parTrans" cxnId="{CC099752-04C3-4470-A051-1C45B0D95C59}">
      <dgm:prSet/>
      <dgm:spPr/>
      <dgm:t>
        <a:bodyPr/>
        <a:lstStyle/>
        <a:p>
          <a:endParaRPr lang="en-US"/>
        </a:p>
      </dgm:t>
    </dgm:pt>
    <dgm:pt modelId="{B8EAB387-A948-4CA7-A50B-449CBC9E6EC4}" type="sibTrans" cxnId="{CC099752-04C3-4470-A051-1C45B0D95C59}">
      <dgm:prSet/>
      <dgm:spPr/>
      <dgm:t>
        <a:bodyPr/>
        <a:lstStyle/>
        <a:p>
          <a:endParaRPr lang="en-US"/>
        </a:p>
      </dgm:t>
    </dgm:pt>
    <dgm:pt modelId="{2169001E-2E37-404E-912B-27AE77BC3630}">
      <dgm:prSet phldrT="[Text]"/>
      <dgm:spPr/>
      <dgm:t>
        <a:bodyPr/>
        <a:lstStyle/>
        <a:p>
          <a:endParaRPr lang="en-US" dirty="0"/>
        </a:p>
      </dgm:t>
    </dgm:pt>
    <dgm:pt modelId="{2C94F5C2-1FDA-4E8C-AD8D-E90DA55AB62D}" type="parTrans" cxnId="{F98FE105-8BB9-48EB-A2E1-91A30446E7F4}">
      <dgm:prSet/>
      <dgm:spPr/>
      <dgm:t>
        <a:bodyPr/>
        <a:lstStyle/>
        <a:p>
          <a:endParaRPr lang="en-US"/>
        </a:p>
      </dgm:t>
    </dgm:pt>
    <dgm:pt modelId="{74637120-CC5D-4BB2-9F83-C18408A14588}" type="sibTrans" cxnId="{F98FE105-8BB9-48EB-A2E1-91A30446E7F4}">
      <dgm:prSet/>
      <dgm:spPr/>
      <dgm:t>
        <a:bodyPr/>
        <a:lstStyle/>
        <a:p>
          <a:endParaRPr lang="en-US"/>
        </a:p>
      </dgm:t>
    </dgm:pt>
    <dgm:pt modelId="{AD0B00F8-32AA-444B-967E-CCA2CA92D5D7}">
      <dgm:prSet phldrT="[Text]"/>
      <dgm:spPr/>
      <dgm:t>
        <a:bodyPr/>
        <a:lstStyle/>
        <a:p>
          <a:endParaRPr lang="en-US" dirty="0"/>
        </a:p>
      </dgm:t>
    </dgm:pt>
    <dgm:pt modelId="{2537DAF4-B11D-407B-8729-BD4DFE7D30DE}" type="parTrans" cxnId="{ADE94F38-2847-4D7A-8503-9EECA82A543C}">
      <dgm:prSet/>
      <dgm:spPr/>
      <dgm:t>
        <a:bodyPr/>
        <a:lstStyle/>
        <a:p>
          <a:endParaRPr lang="en-US"/>
        </a:p>
      </dgm:t>
    </dgm:pt>
    <dgm:pt modelId="{6608FA3E-AB19-4877-AA8B-DF4F5EDBC132}" type="sibTrans" cxnId="{ADE94F38-2847-4D7A-8503-9EECA82A543C}">
      <dgm:prSet/>
      <dgm:spPr/>
      <dgm:t>
        <a:bodyPr/>
        <a:lstStyle/>
        <a:p>
          <a:endParaRPr lang="en-US"/>
        </a:p>
      </dgm:t>
    </dgm:pt>
    <dgm:pt modelId="{5342469C-4768-4F03-AB5E-F028874E0E72}" type="pres">
      <dgm:prSet presAssocID="{750C2AB2-B633-4788-A5A1-4B20F4E17CF8}" presName="Name0" presStyleCnt="0">
        <dgm:presLayoutVars>
          <dgm:dir/>
          <dgm:animLvl val="lvl"/>
          <dgm:resizeHandles val="exact"/>
        </dgm:presLayoutVars>
      </dgm:prSet>
      <dgm:spPr/>
      <dgm:t>
        <a:bodyPr/>
        <a:lstStyle/>
        <a:p>
          <a:endParaRPr lang="en-US"/>
        </a:p>
      </dgm:t>
    </dgm:pt>
    <dgm:pt modelId="{E1260676-3A12-44C0-AC09-FB0DDB9C2A3D}" type="pres">
      <dgm:prSet presAssocID="{F78DCC10-1229-49A1-ADB1-5495972C921F}" presName="composite" presStyleCnt="0"/>
      <dgm:spPr/>
    </dgm:pt>
    <dgm:pt modelId="{848B8FDA-AD72-401B-BD35-7599BF773FB5}" type="pres">
      <dgm:prSet presAssocID="{F78DCC10-1229-49A1-ADB1-5495972C921F}" presName="parTx" presStyleLbl="alignNode1" presStyleIdx="0" presStyleCnt="4">
        <dgm:presLayoutVars>
          <dgm:chMax val="0"/>
          <dgm:chPref val="0"/>
          <dgm:bulletEnabled val="1"/>
        </dgm:presLayoutVars>
      </dgm:prSet>
      <dgm:spPr/>
      <dgm:t>
        <a:bodyPr/>
        <a:lstStyle/>
        <a:p>
          <a:endParaRPr lang="en-US"/>
        </a:p>
      </dgm:t>
    </dgm:pt>
    <dgm:pt modelId="{1329C1D8-2ED7-42AD-AE84-217B8DECB76E}" type="pres">
      <dgm:prSet presAssocID="{F78DCC10-1229-49A1-ADB1-5495972C921F}" presName="desTx" presStyleLbl="alignAccFollowNode1" presStyleIdx="0" presStyleCnt="4">
        <dgm:presLayoutVars>
          <dgm:bulletEnabled val="1"/>
        </dgm:presLayoutVars>
      </dgm:prSet>
      <dgm:spPr/>
      <dgm:t>
        <a:bodyPr/>
        <a:lstStyle/>
        <a:p>
          <a:endParaRPr lang="en-US"/>
        </a:p>
      </dgm:t>
    </dgm:pt>
    <dgm:pt modelId="{80A553BE-5E34-400A-A6F1-6857A673D0DA}" type="pres">
      <dgm:prSet presAssocID="{982BB1E6-F0D8-46C6-AF8E-796430304297}" presName="space" presStyleCnt="0"/>
      <dgm:spPr/>
    </dgm:pt>
    <dgm:pt modelId="{448F0E0D-3C35-42EC-8800-118B8D3A72CA}" type="pres">
      <dgm:prSet presAssocID="{AD0F0DE3-B6F8-434C-8274-EDC028447705}" presName="composite" presStyleCnt="0"/>
      <dgm:spPr/>
    </dgm:pt>
    <dgm:pt modelId="{B42C56CA-3BB9-46A9-A079-46E48B3F7730}" type="pres">
      <dgm:prSet presAssocID="{AD0F0DE3-B6F8-434C-8274-EDC028447705}" presName="parTx" presStyleLbl="alignNode1" presStyleIdx="1" presStyleCnt="4">
        <dgm:presLayoutVars>
          <dgm:chMax val="0"/>
          <dgm:chPref val="0"/>
          <dgm:bulletEnabled val="1"/>
        </dgm:presLayoutVars>
      </dgm:prSet>
      <dgm:spPr/>
      <dgm:t>
        <a:bodyPr/>
        <a:lstStyle/>
        <a:p>
          <a:endParaRPr lang="en-US"/>
        </a:p>
      </dgm:t>
    </dgm:pt>
    <dgm:pt modelId="{393BE20D-8C44-4190-B16D-7D773AFE6BD9}" type="pres">
      <dgm:prSet presAssocID="{AD0F0DE3-B6F8-434C-8274-EDC028447705}" presName="desTx" presStyleLbl="alignAccFollowNode1" presStyleIdx="1" presStyleCnt="4">
        <dgm:presLayoutVars>
          <dgm:bulletEnabled val="1"/>
        </dgm:presLayoutVars>
      </dgm:prSet>
      <dgm:spPr/>
      <dgm:t>
        <a:bodyPr/>
        <a:lstStyle/>
        <a:p>
          <a:endParaRPr lang="en-US"/>
        </a:p>
      </dgm:t>
    </dgm:pt>
    <dgm:pt modelId="{FFCA2218-152B-4A1F-ACB7-01D9F7ECE31D}" type="pres">
      <dgm:prSet presAssocID="{10191A8E-BD66-4E98-B57B-9C0E9FD0CA46}" presName="space" presStyleCnt="0"/>
      <dgm:spPr/>
    </dgm:pt>
    <dgm:pt modelId="{50419267-1C6B-4F87-B321-DEEDF825E3F4}" type="pres">
      <dgm:prSet presAssocID="{8EF51AEB-CB0D-4103-8AB2-A31EAE3EAF4F}" presName="composite" presStyleCnt="0"/>
      <dgm:spPr/>
    </dgm:pt>
    <dgm:pt modelId="{FE7A7604-9CC5-4B06-8359-A58384DF1D0D}" type="pres">
      <dgm:prSet presAssocID="{8EF51AEB-CB0D-4103-8AB2-A31EAE3EAF4F}" presName="parTx" presStyleLbl="alignNode1" presStyleIdx="2" presStyleCnt="4">
        <dgm:presLayoutVars>
          <dgm:chMax val="0"/>
          <dgm:chPref val="0"/>
          <dgm:bulletEnabled val="1"/>
        </dgm:presLayoutVars>
      </dgm:prSet>
      <dgm:spPr/>
      <dgm:t>
        <a:bodyPr/>
        <a:lstStyle/>
        <a:p>
          <a:endParaRPr lang="en-US"/>
        </a:p>
      </dgm:t>
    </dgm:pt>
    <dgm:pt modelId="{58A989F6-DD1F-46CD-96D0-AC71EC7A807A}" type="pres">
      <dgm:prSet presAssocID="{8EF51AEB-CB0D-4103-8AB2-A31EAE3EAF4F}" presName="desTx" presStyleLbl="alignAccFollowNode1" presStyleIdx="2" presStyleCnt="4">
        <dgm:presLayoutVars>
          <dgm:bulletEnabled val="1"/>
        </dgm:presLayoutVars>
      </dgm:prSet>
      <dgm:spPr/>
      <dgm:t>
        <a:bodyPr/>
        <a:lstStyle/>
        <a:p>
          <a:endParaRPr lang="en-US"/>
        </a:p>
      </dgm:t>
    </dgm:pt>
    <dgm:pt modelId="{472BE0F6-F33F-4DBB-98EC-5667C6C3A80D}" type="pres">
      <dgm:prSet presAssocID="{67B00647-EBE9-4BB4-B321-7FAB651A49D1}" presName="space" presStyleCnt="0"/>
      <dgm:spPr/>
    </dgm:pt>
    <dgm:pt modelId="{91836560-7684-4345-BDBE-95572A699A1F}" type="pres">
      <dgm:prSet presAssocID="{6B90B2A3-2063-47FC-9B6F-6B3CE958D58E}" presName="composite" presStyleCnt="0"/>
      <dgm:spPr/>
    </dgm:pt>
    <dgm:pt modelId="{0247512D-B4C9-4784-BA17-ABDF745F68BB}" type="pres">
      <dgm:prSet presAssocID="{6B90B2A3-2063-47FC-9B6F-6B3CE958D58E}" presName="parTx" presStyleLbl="alignNode1" presStyleIdx="3" presStyleCnt="4">
        <dgm:presLayoutVars>
          <dgm:chMax val="0"/>
          <dgm:chPref val="0"/>
          <dgm:bulletEnabled val="1"/>
        </dgm:presLayoutVars>
      </dgm:prSet>
      <dgm:spPr/>
      <dgm:t>
        <a:bodyPr/>
        <a:lstStyle/>
        <a:p>
          <a:endParaRPr lang="en-US"/>
        </a:p>
      </dgm:t>
    </dgm:pt>
    <dgm:pt modelId="{A7C152AF-BCC1-448E-AE82-819C3061294C}" type="pres">
      <dgm:prSet presAssocID="{6B90B2A3-2063-47FC-9B6F-6B3CE958D58E}" presName="desTx" presStyleLbl="alignAccFollowNode1" presStyleIdx="3" presStyleCnt="4">
        <dgm:presLayoutVars>
          <dgm:bulletEnabled val="1"/>
        </dgm:presLayoutVars>
      </dgm:prSet>
      <dgm:spPr/>
      <dgm:t>
        <a:bodyPr/>
        <a:lstStyle/>
        <a:p>
          <a:endParaRPr lang="en-US"/>
        </a:p>
      </dgm:t>
    </dgm:pt>
  </dgm:ptLst>
  <dgm:cxnLst>
    <dgm:cxn modelId="{644D2180-C97A-4C70-BC7F-1448EB8F0BAF}" type="presOf" srcId="{D6666D7D-0AE2-4370-943F-D9A0302C1724}" destId="{1329C1D8-2ED7-42AD-AE84-217B8DECB76E}" srcOrd="0" destOrd="1" presId="urn:microsoft.com/office/officeart/2005/8/layout/hList1"/>
    <dgm:cxn modelId="{07E8608B-EC65-4337-AA6F-2180E4C8D103}" type="presOf" srcId="{ADDD99A1-CCAB-45F1-AF33-07FC8E533354}" destId="{58A989F6-DD1F-46CD-96D0-AC71EC7A807A}" srcOrd="0" destOrd="0" presId="urn:microsoft.com/office/officeart/2005/8/layout/hList1"/>
    <dgm:cxn modelId="{D4720990-5D05-4CC9-9CF3-EDE8F589EDA7}" srcId="{6B90B2A3-2063-47FC-9B6F-6B3CE958D58E}" destId="{97E66985-F7FB-4A9C-9302-E9AFB917C1A1}" srcOrd="0" destOrd="0" parTransId="{726915A8-BA2F-4A60-98CD-F72B66322B86}" sibTransId="{676BF317-23B6-4852-87F4-359AD63584CE}"/>
    <dgm:cxn modelId="{ADE94F38-2847-4D7A-8503-9EECA82A543C}" srcId="{6B90B2A3-2063-47FC-9B6F-6B3CE958D58E}" destId="{AD0B00F8-32AA-444B-967E-CCA2CA92D5D7}" srcOrd="2" destOrd="0" parTransId="{2537DAF4-B11D-407B-8729-BD4DFE7D30DE}" sibTransId="{6608FA3E-AB19-4877-AA8B-DF4F5EDBC132}"/>
    <dgm:cxn modelId="{83624294-AB64-4ECB-AA96-9B7AB6CD9882}" type="presOf" srcId="{6F054A6D-E2DB-4F3F-82A9-6279408BFAF8}" destId="{A7C152AF-BCC1-448E-AE82-819C3061294C}" srcOrd="0" destOrd="1" presId="urn:microsoft.com/office/officeart/2005/8/layout/hList1"/>
    <dgm:cxn modelId="{9E5FD8CE-FA9D-48A3-A5FE-C6A134DA4A02}" type="presOf" srcId="{8EF51AEB-CB0D-4103-8AB2-A31EAE3EAF4F}" destId="{FE7A7604-9CC5-4B06-8359-A58384DF1D0D}" srcOrd="0" destOrd="0" presId="urn:microsoft.com/office/officeart/2005/8/layout/hList1"/>
    <dgm:cxn modelId="{77A54386-9934-44F6-84FA-FF24D1C02E64}" srcId="{750C2AB2-B633-4788-A5A1-4B20F4E17CF8}" destId="{F78DCC10-1229-49A1-ADB1-5495972C921F}" srcOrd="0" destOrd="0" parTransId="{8A62FB8A-E81D-4BC6-BFE6-46BFB1126CD1}" sibTransId="{982BB1E6-F0D8-46C6-AF8E-796430304297}"/>
    <dgm:cxn modelId="{6AF4A9B1-03FD-400B-A602-D891B60E5C95}" srcId="{AD0F0DE3-B6F8-434C-8274-EDC028447705}" destId="{89D67EC4-45CB-43A2-99EF-5C2BE5FBCE5B}" srcOrd="0" destOrd="0" parTransId="{187515CA-5367-44EC-9CE8-DF4DDEF53A9A}" sibTransId="{1234F921-8F46-4238-9E7E-F31F5ABC710B}"/>
    <dgm:cxn modelId="{C9F28915-D633-4313-BCD7-B370F1AA5192}" srcId="{8EF51AEB-CB0D-4103-8AB2-A31EAE3EAF4F}" destId="{15192E4B-B255-4DC0-8BFF-E62A96552259}" srcOrd="1" destOrd="0" parTransId="{182C3C9B-E978-41BD-A5AA-5E2609D2FFA8}" sibTransId="{C7957889-54E1-4C0B-9431-EE1CCBD8751A}"/>
    <dgm:cxn modelId="{7EA83EAE-A096-453E-937D-1B4E0EBF2AF2}" type="presOf" srcId="{750C2AB2-B633-4788-A5A1-4B20F4E17CF8}" destId="{5342469C-4768-4F03-AB5E-F028874E0E72}" srcOrd="0" destOrd="0" presId="urn:microsoft.com/office/officeart/2005/8/layout/hList1"/>
    <dgm:cxn modelId="{F7DF67BE-7F84-4BE3-BD60-57DD2A789427}" srcId="{750C2AB2-B633-4788-A5A1-4B20F4E17CF8}" destId="{AD0F0DE3-B6F8-434C-8274-EDC028447705}" srcOrd="1" destOrd="0" parTransId="{47350A96-9069-475F-A4BE-746125950275}" sibTransId="{10191A8E-BD66-4E98-B57B-9C0E9FD0CA46}"/>
    <dgm:cxn modelId="{8DE96D34-44FB-4628-9836-671DA068609D}" type="presOf" srcId="{AD0F0DE3-B6F8-434C-8274-EDC028447705}" destId="{B42C56CA-3BB9-46A9-A079-46E48B3F7730}" srcOrd="0" destOrd="0" presId="urn:microsoft.com/office/officeart/2005/8/layout/hList1"/>
    <dgm:cxn modelId="{0D63783B-FC55-4832-A33E-DDE14FFB52C1}" type="presOf" srcId="{97E66985-F7FB-4A9C-9302-E9AFB917C1A1}" destId="{A7C152AF-BCC1-448E-AE82-819C3061294C}" srcOrd="0" destOrd="0" presId="urn:microsoft.com/office/officeart/2005/8/layout/hList1"/>
    <dgm:cxn modelId="{F98FE105-8BB9-48EB-A2E1-91A30446E7F4}" srcId="{6B90B2A3-2063-47FC-9B6F-6B3CE958D58E}" destId="{2169001E-2E37-404E-912B-27AE77BC3630}" srcOrd="3" destOrd="0" parTransId="{2C94F5C2-1FDA-4E8C-AD8D-E90DA55AB62D}" sibTransId="{74637120-CC5D-4BB2-9F83-C18408A14588}"/>
    <dgm:cxn modelId="{F753A8CA-C155-488B-AD93-CDC1149E7AB7}" srcId="{F78DCC10-1229-49A1-ADB1-5495972C921F}" destId="{D6666D7D-0AE2-4370-943F-D9A0302C1724}" srcOrd="1" destOrd="0" parTransId="{B21D2E7D-DA2B-4327-A74A-BDDF3E7B7C81}" sibTransId="{C3E7C7E3-6FDE-40DC-8F6D-14F71D9F3B07}"/>
    <dgm:cxn modelId="{CC72C22E-E726-4A05-A2C7-38E41B22C7A7}" type="presOf" srcId="{2169001E-2E37-404E-912B-27AE77BC3630}" destId="{A7C152AF-BCC1-448E-AE82-819C3061294C}" srcOrd="0" destOrd="3" presId="urn:microsoft.com/office/officeart/2005/8/layout/hList1"/>
    <dgm:cxn modelId="{0CE7EDC1-5DA3-4FA9-9DF4-F71FBBA287A2}" type="presOf" srcId="{F78DCC10-1229-49A1-ADB1-5495972C921F}" destId="{848B8FDA-AD72-401B-BD35-7599BF773FB5}" srcOrd="0" destOrd="0" presId="urn:microsoft.com/office/officeart/2005/8/layout/hList1"/>
    <dgm:cxn modelId="{CC099752-04C3-4470-A051-1C45B0D95C59}" srcId="{6B90B2A3-2063-47FC-9B6F-6B3CE958D58E}" destId="{6F054A6D-E2DB-4F3F-82A9-6279408BFAF8}" srcOrd="1" destOrd="0" parTransId="{B19CE188-1E78-412B-8E54-66B73FBD9E12}" sibTransId="{B8EAB387-A948-4CA7-A50B-449CBC9E6EC4}"/>
    <dgm:cxn modelId="{74CB2533-E304-4AAF-8FAA-F9D861C2C511}" srcId="{750C2AB2-B633-4788-A5A1-4B20F4E17CF8}" destId="{8EF51AEB-CB0D-4103-8AB2-A31EAE3EAF4F}" srcOrd="2" destOrd="0" parTransId="{3CD81D0B-F9A1-4252-BA2B-9C9D0DEC39E7}" sibTransId="{67B00647-EBE9-4BB4-B321-7FAB651A49D1}"/>
    <dgm:cxn modelId="{BCE57858-8DFD-494D-AF81-C385E6D54E9C}" srcId="{8EF51AEB-CB0D-4103-8AB2-A31EAE3EAF4F}" destId="{ADDD99A1-CCAB-45F1-AF33-07FC8E533354}" srcOrd="0" destOrd="0" parTransId="{280EF873-8B32-4544-9372-6D959FB0F3DF}" sibTransId="{151BD963-12C5-42CA-AEEF-D8430DC9C89B}"/>
    <dgm:cxn modelId="{32C585AC-4B51-4FDB-BD8E-92745661740C}" type="presOf" srcId="{15192E4B-B255-4DC0-8BFF-E62A96552259}" destId="{58A989F6-DD1F-46CD-96D0-AC71EC7A807A}" srcOrd="0" destOrd="1" presId="urn:microsoft.com/office/officeart/2005/8/layout/hList1"/>
    <dgm:cxn modelId="{1CA4D51F-AEBB-47EB-8887-90A6D4F26D13}" srcId="{F78DCC10-1229-49A1-ADB1-5495972C921F}" destId="{C59ECF7C-653F-45DE-AB84-2F9A5D8D8577}" srcOrd="0" destOrd="0" parTransId="{CD1232A4-86B0-409C-93E7-97801D0E8D27}" sibTransId="{6F823EB7-B039-48E6-9A68-FF73ED4254BC}"/>
    <dgm:cxn modelId="{7A8A11C3-6DBF-4177-B560-6AA647604F5E}" type="presOf" srcId="{C59ECF7C-653F-45DE-AB84-2F9A5D8D8577}" destId="{1329C1D8-2ED7-42AD-AE84-217B8DECB76E}" srcOrd="0" destOrd="0" presId="urn:microsoft.com/office/officeart/2005/8/layout/hList1"/>
    <dgm:cxn modelId="{BC5DC944-C4E5-4E62-A964-51CAA87F6745}" type="presOf" srcId="{6B90B2A3-2063-47FC-9B6F-6B3CE958D58E}" destId="{0247512D-B4C9-4784-BA17-ABDF745F68BB}" srcOrd="0" destOrd="0" presId="urn:microsoft.com/office/officeart/2005/8/layout/hList1"/>
    <dgm:cxn modelId="{096EEC0F-C652-4A05-9130-911458A42312}" type="presOf" srcId="{AD0B00F8-32AA-444B-967E-CCA2CA92D5D7}" destId="{A7C152AF-BCC1-448E-AE82-819C3061294C}" srcOrd="0" destOrd="2" presId="urn:microsoft.com/office/officeart/2005/8/layout/hList1"/>
    <dgm:cxn modelId="{7CFBAE4B-C274-4589-8912-3ACF9F70CFB1}" type="presOf" srcId="{89D67EC4-45CB-43A2-99EF-5C2BE5FBCE5B}" destId="{393BE20D-8C44-4190-B16D-7D773AFE6BD9}" srcOrd="0" destOrd="0" presId="urn:microsoft.com/office/officeart/2005/8/layout/hList1"/>
    <dgm:cxn modelId="{659E17DD-52AB-4A85-B08D-F3B488ACD1BA}" srcId="{750C2AB2-B633-4788-A5A1-4B20F4E17CF8}" destId="{6B90B2A3-2063-47FC-9B6F-6B3CE958D58E}" srcOrd="3" destOrd="0" parTransId="{18D319B6-97B7-4C32-8A41-75B41B3ED8A7}" sibTransId="{A8B7C67D-F04B-4DF2-885B-228E96E40990}"/>
    <dgm:cxn modelId="{098CE48F-11AD-4E02-858F-84EDC950E212}" type="presParOf" srcId="{5342469C-4768-4F03-AB5E-F028874E0E72}" destId="{E1260676-3A12-44C0-AC09-FB0DDB9C2A3D}" srcOrd="0" destOrd="0" presId="urn:microsoft.com/office/officeart/2005/8/layout/hList1"/>
    <dgm:cxn modelId="{5E5482AD-6117-4640-9BC2-D1E6263BA7CB}" type="presParOf" srcId="{E1260676-3A12-44C0-AC09-FB0DDB9C2A3D}" destId="{848B8FDA-AD72-401B-BD35-7599BF773FB5}" srcOrd="0" destOrd="0" presId="urn:microsoft.com/office/officeart/2005/8/layout/hList1"/>
    <dgm:cxn modelId="{00E0A528-1AFB-482A-9E7C-A75BBD872F0B}" type="presParOf" srcId="{E1260676-3A12-44C0-AC09-FB0DDB9C2A3D}" destId="{1329C1D8-2ED7-42AD-AE84-217B8DECB76E}" srcOrd="1" destOrd="0" presId="urn:microsoft.com/office/officeart/2005/8/layout/hList1"/>
    <dgm:cxn modelId="{329E15EB-BFD1-4BBE-AAD0-2AE0C3D4F2AD}" type="presParOf" srcId="{5342469C-4768-4F03-AB5E-F028874E0E72}" destId="{80A553BE-5E34-400A-A6F1-6857A673D0DA}" srcOrd="1" destOrd="0" presId="urn:microsoft.com/office/officeart/2005/8/layout/hList1"/>
    <dgm:cxn modelId="{230A9496-DF8D-4549-BAD8-7C2203A5154A}" type="presParOf" srcId="{5342469C-4768-4F03-AB5E-F028874E0E72}" destId="{448F0E0D-3C35-42EC-8800-118B8D3A72CA}" srcOrd="2" destOrd="0" presId="urn:microsoft.com/office/officeart/2005/8/layout/hList1"/>
    <dgm:cxn modelId="{5169A9B1-4099-4782-9EF0-24D897947A95}" type="presParOf" srcId="{448F0E0D-3C35-42EC-8800-118B8D3A72CA}" destId="{B42C56CA-3BB9-46A9-A079-46E48B3F7730}" srcOrd="0" destOrd="0" presId="urn:microsoft.com/office/officeart/2005/8/layout/hList1"/>
    <dgm:cxn modelId="{E877AFBE-D716-46BA-B53E-D81B7BB30A81}" type="presParOf" srcId="{448F0E0D-3C35-42EC-8800-118B8D3A72CA}" destId="{393BE20D-8C44-4190-B16D-7D773AFE6BD9}" srcOrd="1" destOrd="0" presId="urn:microsoft.com/office/officeart/2005/8/layout/hList1"/>
    <dgm:cxn modelId="{62691A7D-DDA7-4DC9-A5DC-3938CD3773C8}" type="presParOf" srcId="{5342469C-4768-4F03-AB5E-F028874E0E72}" destId="{FFCA2218-152B-4A1F-ACB7-01D9F7ECE31D}" srcOrd="3" destOrd="0" presId="urn:microsoft.com/office/officeart/2005/8/layout/hList1"/>
    <dgm:cxn modelId="{44ADE921-2155-46CB-B97E-7D6EC4E3863D}" type="presParOf" srcId="{5342469C-4768-4F03-AB5E-F028874E0E72}" destId="{50419267-1C6B-4F87-B321-DEEDF825E3F4}" srcOrd="4" destOrd="0" presId="urn:microsoft.com/office/officeart/2005/8/layout/hList1"/>
    <dgm:cxn modelId="{37A6D465-6CDA-46E6-9BBC-D7BE95F7431F}" type="presParOf" srcId="{50419267-1C6B-4F87-B321-DEEDF825E3F4}" destId="{FE7A7604-9CC5-4B06-8359-A58384DF1D0D}" srcOrd="0" destOrd="0" presId="urn:microsoft.com/office/officeart/2005/8/layout/hList1"/>
    <dgm:cxn modelId="{7B3EBC4A-8DE7-4BB0-86B6-5C3D0E6CBBA7}" type="presParOf" srcId="{50419267-1C6B-4F87-B321-DEEDF825E3F4}" destId="{58A989F6-DD1F-46CD-96D0-AC71EC7A807A}" srcOrd="1" destOrd="0" presId="urn:microsoft.com/office/officeart/2005/8/layout/hList1"/>
    <dgm:cxn modelId="{45B279F4-91FF-4EF2-93BA-4958ADA2DAD0}" type="presParOf" srcId="{5342469C-4768-4F03-AB5E-F028874E0E72}" destId="{472BE0F6-F33F-4DBB-98EC-5667C6C3A80D}" srcOrd="5" destOrd="0" presId="urn:microsoft.com/office/officeart/2005/8/layout/hList1"/>
    <dgm:cxn modelId="{606B7FBC-3865-4645-BC23-328D06985CEE}" type="presParOf" srcId="{5342469C-4768-4F03-AB5E-F028874E0E72}" destId="{91836560-7684-4345-BDBE-95572A699A1F}" srcOrd="6" destOrd="0" presId="urn:microsoft.com/office/officeart/2005/8/layout/hList1"/>
    <dgm:cxn modelId="{C78B356F-F818-4E14-A814-72B441431822}" type="presParOf" srcId="{91836560-7684-4345-BDBE-95572A699A1F}" destId="{0247512D-B4C9-4784-BA17-ABDF745F68BB}" srcOrd="0" destOrd="0" presId="urn:microsoft.com/office/officeart/2005/8/layout/hList1"/>
    <dgm:cxn modelId="{FEE54BCE-A58D-4A99-95C0-EBF73C5D2AF3}" type="presParOf" srcId="{91836560-7684-4345-BDBE-95572A699A1F}" destId="{A7C152AF-BCC1-448E-AE82-819C3061294C}"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5E7F01CE-85B5-48F5-9BA7-75EC56D8F290}" type="doc">
      <dgm:prSet loTypeId="urn:microsoft.com/office/officeart/2009/3/layout/StepUpProcess" loCatId="process" qsTypeId="urn:microsoft.com/office/officeart/2005/8/quickstyle/simple1" qsCatId="simple" csTypeId="urn:microsoft.com/office/officeart/2005/8/colors/colorful1#12" csCatId="colorful"/>
      <dgm:spPr/>
      <dgm:t>
        <a:bodyPr/>
        <a:lstStyle/>
        <a:p>
          <a:endParaRPr lang="en-US"/>
        </a:p>
      </dgm:t>
    </dgm:pt>
    <dgm:pt modelId="{15812178-5987-4179-A973-FCCDA757A77F}">
      <dgm:prSet custT="1"/>
      <dgm:spPr/>
      <dgm:t>
        <a:bodyPr/>
        <a:lstStyle/>
        <a:p>
          <a:pPr rtl="0"/>
          <a:r>
            <a:rPr lang="fi-FI" sz="1000" b="1" dirty="0" smtClean="0"/>
            <a:t>Toimittaja testaa (integrointitestaus, järjestelmätestaus, kokoava järjestelmätestaus)</a:t>
          </a:r>
          <a:endParaRPr lang="en-US" sz="1000" dirty="0"/>
        </a:p>
      </dgm:t>
    </dgm:pt>
    <dgm:pt modelId="{61CA78D5-8AC1-4721-947F-362DDC155AFC}" type="parTrans" cxnId="{AE06997E-A48F-46C9-8C68-91F559C9CDFA}">
      <dgm:prSet/>
      <dgm:spPr/>
      <dgm:t>
        <a:bodyPr/>
        <a:lstStyle/>
        <a:p>
          <a:endParaRPr lang="en-US" sz="1800"/>
        </a:p>
      </dgm:t>
    </dgm:pt>
    <dgm:pt modelId="{543D8D35-7039-47BC-A594-A63F8B724854}" type="sibTrans" cxnId="{AE06997E-A48F-46C9-8C68-91F559C9CDFA}">
      <dgm:prSet/>
      <dgm:spPr/>
      <dgm:t>
        <a:bodyPr/>
        <a:lstStyle/>
        <a:p>
          <a:endParaRPr lang="en-US" sz="1800"/>
        </a:p>
      </dgm:t>
    </dgm:pt>
    <dgm:pt modelId="{5F4FFAE3-D3C1-4EB2-80AE-9167A7DCDABF}">
      <dgm:prSet custT="1"/>
      <dgm:spPr/>
      <dgm:t>
        <a:bodyPr/>
        <a:lstStyle/>
        <a:p>
          <a:pPr rtl="0"/>
          <a:r>
            <a:rPr lang="fi-FI" sz="1000" b="1" dirty="0" smtClean="0"/>
            <a:t>Aloituskoe (järjestelmätestaus </a:t>
          </a:r>
          <a:r>
            <a:rPr lang="fi-FI" sz="1000" b="1" dirty="0" smtClean="0">
              <a:sym typeface="Wingdings"/>
            </a:rPr>
            <a:t></a:t>
          </a:r>
          <a:r>
            <a:rPr lang="fi-FI" sz="1000" b="1" dirty="0" smtClean="0"/>
            <a:t> yhteinen järjestelmätestaus)</a:t>
          </a:r>
          <a:endParaRPr lang="en-US" sz="1000" dirty="0"/>
        </a:p>
      </dgm:t>
    </dgm:pt>
    <dgm:pt modelId="{1DF9ABEA-9479-4B44-A9D9-A42FA18EA202}" type="parTrans" cxnId="{A997AF60-65BE-47A8-9DB3-0A5A276930B4}">
      <dgm:prSet/>
      <dgm:spPr/>
      <dgm:t>
        <a:bodyPr/>
        <a:lstStyle/>
        <a:p>
          <a:endParaRPr lang="en-US" sz="1800"/>
        </a:p>
      </dgm:t>
    </dgm:pt>
    <dgm:pt modelId="{4DA57205-25BD-4FF7-A740-0640FFDA6D98}" type="sibTrans" cxnId="{A997AF60-65BE-47A8-9DB3-0A5A276930B4}">
      <dgm:prSet/>
      <dgm:spPr/>
      <dgm:t>
        <a:bodyPr/>
        <a:lstStyle/>
        <a:p>
          <a:endParaRPr lang="en-US" sz="1800"/>
        </a:p>
      </dgm:t>
    </dgm:pt>
    <dgm:pt modelId="{F612891F-A017-4200-82D8-94A35C617C30}">
      <dgm:prSet custT="1"/>
      <dgm:spPr/>
      <dgm:t>
        <a:bodyPr/>
        <a:lstStyle/>
        <a:p>
          <a:pPr rtl="0"/>
          <a:r>
            <a:rPr lang="fi-FI" sz="1000" b="1" dirty="0" smtClean="0"/>
            <a:t>Yhteinen järjestelmätestaus</a:t>
          </a:r>
          <a:endParaRPr lang="en-US" sz="1000" dirty="0"/>
        </a:p>
      </dgm:t>
    </dgm:pt>
    <dgm:pt modelId="{865224DE-3BD4-4909-BC5C-C7302CF588FC}" type="parTrans" cxnId="{A3DB3F71-BE4C-49BF-9A58-9AAB29FD70BB}">
      <dgm:prSet/>
      <dgm:spPr/>
      <dgm:t>
        <a:bodyPr/>
        <a:lstStyle/>
        <a:p>
          <a:endParaRPr lang="en-US" sz="1800"/>
        </a:p>
      </dgm:t>
    </dgm:pt>
    <dgm:pt modelId="{7CD66654-A94F-4F4F-A624-BA20C4521541}" type="sibTrans" cxnId="{A3DB3F71-BE4C-49BF-9A58-9AAB29FD70BB}">
      <dgm:prSet/>
      <dgm:spPr/>
      <dgm:t>
        <a:bodyPr/>
        <a:lstStyle/>
        <a:p>
          <a:endParaRPr lang="en-US" sz="1800"/>
        </a:p>
      </dgm:t>
    </dgm:pt>
    <dgm:pt modelId="{F49B4EAE-EE72-4146-9610-E6F52259EDD7}">
      <dgm:prSet custT="1"/>
      <dgm:spPr/>
      <dgm:t>
        <a:bodyPr/>
        <a:lstStyle/>
        <a:p>
          <a:pPr rtl="0"/>
          <a:r>
            <a:rPr lang="fi-FI" sz="1000" b="1" dirty="0" smtClean="0"/>
            <a:t>Luovutuskoe</a:t>
          </a:r>
          <a:endParaRPr lang="en-US" sz="1000" dirty="0"/>
        </a:p>
      </dgm:t>
    </dgm:pt>
    <dgm:pt modelId="{B7A1AB10-3D6C-48FF-ABBE-A7D2382C0971}" type="parTrans" cxnId="{8743196E-8F60-4B8F-A11D-45F2F7E10BB2}">
      <dgm:prSet/>
      <dgm:spPr/>
      <dgm:t>
        <a:bodyPr/>
        <a:lstStyle/>
        <a:p>
          <a:endParaRPr lang="en-US" sz="1800"/>
        </a:p>
      </dgm:t>
    </dgm:pt>
    <dgm:pt modelId="{8E601255-F5C2-4BAB-9847-B267A4C8E233}" type="sibTrans" cxnId="{8743196E-8F60-4B8F-A11D-45F2F7E10BB2}">
      <dgm:prSet/>
      <dgm:spPr/>
      <dgm:t>
        <a:bodyPr/>
        <a:lstStyle/>
        <a:p>
          <a:endParaRPr lang="en-US" sz="1800"/>
        </a:p>
      </dgm:t>
    </dgm:pt>
    <dgm:pt modelId="{2268F788-802F-43E4-A0E5-149660113C65}">
      <dgm:prSet custT="1"/>
      <dgm:spPr/>
      <dgm:t>
        <a:bodyPr/>
        <a:lstStyle/>
        <a:p>
          <a:pPr rtl="0"/>
          <a:r>
            <a:rPr lang="fi-FI" sz="1000" b="1" dirty="0" smtClean="0"/>
            <a:t>Hyväksymistestaus</a:t>
          </a:r>
          <a:endParaRPr lang="en-US" sz="1000" dirty="0"/>
        </a:p>
      </dgm:t>
    </dgm:pt>
    <dgm:pt modelId="{5168FE2D-2BA9-4ACE-96AF-E92B164FDC24}" type="parTrans" cxnId="{815EF416-B078-46AD-830F-2DAAFF0D9A34}">
      <dgm:prSet/>
      <dgm:spPr/>
      <dgm:t>
        <a:bodyPr/>
        <a:lstStyle/>
        <a:p>
          <a:endParaRPr lang="en-US" sz="1800"/>
        </a:p>
      </dgm:t>
    </dgm:pt>
    <dgm:pt modelId="{86D83B3F-E8C9-433E-8B6C-A1057A1295F5}" type="sibTrans" cxnId="{815EF416-B078-46AD-830F-2DAAFF0D9A34}">
      <dgm:prSet/>
      <dgm:spPr/>
      <dgm:t>
        <a:bodyPr/>
        <a:lstStyle/>
        <a:p>
          <a:endParaRPr lang="en-US" sz="1800"/>
        </a:p>
      </dgm:t>
    </dgm:pt>
    <dgm:pt modelId="{60AD21C7-4B5C-4413-A597-F15C38C33DB0}" type="pres">
      <dgm:prSet presAssocID="{5E7F01CE-85B5-48F5-9BA7-75EC56D8F290}" presName="rootnode" presStyleCnt="0">
        <dgm:presLayoutVars>
          <dgm:chMax/>
          <dgm:chPref/>
          <dgm:dir/>
          <dgm:animLvl val="lvl"/>
        </dgm:presLayoutVars>
      </dgm:prSet>
      <dgm:spPr/>
      <dgm:t>
        <a:bodyPr/>
        <a:lstStyle/>
        <a:p>
          <a:endParaRPr lang="fi-FI"/>
        </a:p>
      </dgm:t>
    </dgm:pt>
    <dgm:pt modelId="{B9B7BD4E-5AFD-4F5D-B489-264510479914}" type="pres">
      <dgm:prSet presAssocID="{15812178-5987-4179-A973-FCCDA757A77F}" presName="composite" presStyleCnt="0"/>
      <dgm:spPr/>
    </dgm:pt>
    <dgm:pt modelId="{0E0E23AD-73F2-42F8-8788-5EC5038D34A4}" type="pres">
      <dgm:prSet presAssocID="{15812178-5987-4179-A973-FCCDA757A77F}" presName="LShape" presStyleLbl="alignNode1" presStyleIdx="0" presStyleCnt="9"/>
      <dgm:spPr/>
    </dgm:pt>
    <dgm:pt modelId="{9BA9BD57-BB71-48E4-B038-7B17EEDD65AD}" type="pres">
      <dgm:prSet presAssocID="{15812178-5987-4179-A973-FCCDA757A77F}" presName="ParentText" presStyleLbl="revTx" presStyleIdx="0" presStyleCnt="5">
        <dgm:presLayoutVars>
          <dgm:chMax val="0"/>
          <dgm:chPref val="0"/>
          <dgm:bulletEnabled val="1"/>
        </dgm:presLayoutVars>
      </dgm:prSet>
      <dgm:spPr/>
      <dgm:t>
        <a:bodyPr/>
        <a:lstStyle/>
        <a:p>
          <a:endParaRPr lang="fi-FI"/>
        </a:p>
      </dgm:t>
    </dgm:pt>
    <dgm:pt modelId="{013D13E6-706A-45CD-A764-D2BE8136D671}" type="pres">
      <dgm:prSet presAssocID="{15812178-5987-4179-A973-FCCDA757A77F}" presName="Triangle" presStyleLbl="alignNode1" presStyleIdx="1" presStyleCnt="9"/>
      <dgm:spPr/>
    </dgm:pt>
    <dgm:pt modelId="{90C5D5B4-27D7-4A5A-A7B2-07B9922F2366}" type="pres">
      <dgm:prSet presAssocID="{543D8D35-7039-47BC-A594-A63F8B724854}" presName="sibTrans" presStyleCnt="0"/>
      <dgm:spPr/>
    </dgm:pt>
    <dgm:pt modelId="{23860E30-B916-4668-8943-AD50B5A5E0B9}" type="pres">
      <dgm:prSet presAssocID="{543D8D35-7039-47BC-A594-A63F8B724854}" presName="space" presStyleCnt="0"/>
      <dgm:spPr/>
    </dgm:pt>
    <dgm:pt modelId="{EC7E82D4-5C4F-486A-B5C3-A333C2785435}" type="pres">
      <dgm:prSet presAssocID="{5F4FFAE3-D3C1-4EB2-80AE-9167A7DCDABF}" presName="composite" presStyleCnt="0"/>
      <dgm:spPr/>
    </dgm:pt>
    <dgm:pt modelId="{033F2236-DDA7-4B20-8911-B35C01F83599}" type="pres">
      <dgm:prSet presAssocID="{5F4FFAE3-D3C1-4EB2-80AE-9167A7DCDABF}" presName="LShape" presStyleLbl="alignNode1" presStyleIdx="2" presStyleCnt="9"/>
      <dgm:spPr/>
    </dgm:pt>
    <dgm:pt modelId="{5330EF91-36B9-4DFB-8346-F38B9E8976E2}" type="pres">
      <dgm:prSet presAssocID="{5F4FFAE3-D3C1-4EB2-80AE-9167A7DCDABF}" presName="ParentText" presStyleLbl="revTx" presStyleIdx="1" presStyleCnt="5">
        <dgm:presLayoutVars>
          <dgm:chMax val="0"/>
          <dgm:chPref val="0"/>
          <dgm:bulletEnabled val="1"/>
        </dgm:presLayoutVars>
      </dgm:prSet>
      <dgm:spPr/>
      <dgm:t>
        <a:bodyPr/>
        <a:lstStyle/>
        <a:p>
          <a:endParaRPr lang="fi-FI"/>
        </a:p>
      </dgm:t>
    </dgm:pt>
    <dgm:pt modelId="{73CA509F-F2AD-45C6-A7C9-98CB3D779DD7}" type="pres">
      <dgm:prSet presAssocID="{5F4FFAE3-D3C1-4EB2-80AE-9167A7DCDABF}" presName="Triangle" presStyleLbl="alignNode1" presStyleIdx="3" presStyleCnt="9"/>
      <dgm:spPr/>
    </dgm:pt>
    <dgm:pt modelId="{5FCC150A-F9DE-4D77-B9D0-AD906B7E98D8}" type="pres">
      <dgm:prSet presAssocID="{4DA57205-25BD-4FF7-A740-0640FFDA6D98}" presName="sibTrans" presStyleCnt="0"/>
      <dgm:spPr/>
    </dgm:pt>
    <dgm:pt modelId="{3D8483EB-1D28-4754-AA3A-70566147AA91}" type="pres">
      <dgm:prSet presAssocID="{4DA57205-25BD-4FF7-A740-0640FFDA6D98}" presName="space" presStyleCnt="0"/>
      <dgm:spPr/>
    </dgm:pt>
    <dgm:pt modelId="{B35AB68B-64DA-4F56-9224-A733DDF90339}" type="pres">
      <dgm:prSet presAssocID="{F612891F-A017-4200-82D8-94A35C617C30}" presName="composite" presStyleCnt="0"/>
      <dgm:spPr/>
    </dgm:pt>
    <dgm:pt modelId="{874F1902-64DE-43CD-878E-A181D17C9366}" type="pres">
      <dgm:prSet presAssocID="{F612891F-A017-4200-82D8-94A35C617C30}" presName="LShape" presStyleLbl="alignNode1" presStyleIdx="4" presStyleCnt="9"/>
      <dgm:spPr/>
    </dgm:pt>
    <dgm:pt modelId="{FE16397D-904B-4B0B-8A02-921B837F1EE4}" type="pres">
      <dgm:prSet presAssocID="{F612891F-A017-4200-82D8-94A35C617C30}" presName="ParentText" presStyleLbl="revTx" presStyleIdx="2" presStyleCnt="5">
        <dgm:presLayoutVars>
          <dgm:chMax val="0"/>
          <dgm:chPref val="0"/>
          <dgm:bulletEnabled val="1"/>
        </dgm:presLayoutVars>
      </dgm:prSet>
      <dgm:spPr/>
      <dgm:t>
        <a:bodyPr/>
        <a:lstStyle/>
        <a:p>
          <a:endParaRPr lang="fi-FI"/>
        </a:p>
      </dgm:t>
    </dgm:pt>
    <dgm:pt modelId="{56B47AAB-4D12-496C-9177-39C6A0D2A743}" type="pres">
      <dgm:prSet presAssocID="{F612891F-A017-4200-82D8-94A35C617C30}" presName="Triangle" presStyleLbl="alignNode1" presStyleIdx="5" presStyleCnt="9"/>
      <dgm:spPr/>
    </dgm:pt>
    <dgm:pt modelId="{E2AF953C-C2C1-46ED-82F3-883341419123}" type="pres">
      <dgm:prSet presAssocID="{7CD66654-A94F-4F4F-A624-BA20C4521541}" presName="sibTrans" presStyleCnt="0"/>
      <dgm:spPr/>
    </dgm:pt>
    <dgm:pt modelId="{355774DB-FB70-4AEC-95EC-5D8BAE6512C2}" type="pres">
      <dgm:prSet presAssocID="{7CD66654-A94F-4F4F-A624-BA20C4521541}" presName="space" presStyleCnt="0"/>
      <dgm:spPr/>
    </dgm:pt>
    <dgm:pt modelId="{05834D31-F62D-48B1-8033-DF09AC31947E}" type="pres">
      <dgm:prSet presAssocID="{F49B4EAE-EE72-4146-9610-E6F52259EDD7}" presName="composite" presStyleCnt="0"/>
      <dgm:spPr/>
    </dgm:pt>
    <dgm:pt modelId="{EF20AE6A-929F-4428-A1E9-044C242E3423}" type="pres">
      <dgm:prSet presAssocID="{F49B4EAE-EE72-4146-9610-E6F52259EDD7}" presName="LShape" presStyleLbl="alignNode1" presStyleIdx="6" presStyleCnt="9"/>
      <dgm:spPr/>
    </dgm:pt>
    <dgm:pt modelId="{ADDCF7FC-2CF3-45C6-AEF8-C90EAE0A4F62}" type="pres">
      <dgm:prSet presAssocID="{F49B4EAE-EE72-4146-9610-E6F52259EDD7}" presName="ParentText" presStyleLbl="revTx" presStyleIdx="3" presStyleCnt="5">
        <dgm:presLayoutVars>
          <dgm:chMax val="0"/>
          <dgm:chPref val="0"/>
          <dgm:bulletEnabled val="1"/>
        </dgm:presLayoutVars>
      </dgm:prSet>
      <dgm:spPr/>
      <dgm:t>
        <a:bodyPr/>
        <a:lstStyle/>
        <a:p>
          <a:endParaRPr lang="fi-FI"/>
        </a:p>
      </dgm:t>
    </dgm:pt>
    <dgm:pt modelId="{5D0462A8-FC13-4C79-96B5-019547105254}" type="pres">
      <dgm:prSet presAssocID="{F49B4EAE-EE72-4146-9610-E6F52259EDD7}" presName="Triangle" presStyleLbl="alignNode1" presStyleIdx="7" presStyleCnt="9"/>
      <dgm:spPr/>
    </dgm:pt>
    <dgm:pt modelId="{6A445D8F-28E5-4261-959B-DB4D59EA0181}" type="pres">
      <dgm:prSet presAssocID="{8E601255-F5C2-4BAB-9847-B267A4C8E233}" presName="sibTrans" presStyleCnt="0"/>
      <dgm:spPr/>
    </dgm:pt>
    <dgm:pt modelId="{4E158A39-9EEE-4B3E-B065-062933C7AB36}" type="pres">
      <dgm:prSet presAssocID="{8E601255-F5C2-4BAB-9847-B267A4C8E233}" presName="space" presStyleCnt="0"/>
      <dgm:spPr/>
    </dgm:pt>
    <dgm:pt modelId="{AA67E302-D635-4BAC-BCAD-D15C2B86EAC8}" type="pres">
      <dgm:prSet presAssocID="{2268F788-802F-43E4-A0E5-149660113C65}" presName="composite" presStyleCnt="0"/>
      <dgm:spPr/>
    </dgm:pt>
    <dgm:pt modelId="{62200CB1-2DB7-4464-869E-E258D328C5A9}" type="pres">
      <dgm:prSet presAssocID="{2268F788-802F-43E4-A0E5-149660113C65}" presName="LShape" presStyleLbl="alignNode1" presStyleIdx="8" presStyleCnt="9"/>
      <dgm:spPr/>
    </dgm:pt>
    <dgm:pt modelId="{918A8383-AF36-47B6-ABAF-D9DCE2B1838E}" type="pres">
      <dgm:prSet presAssocID="{2268F788-802F-43E4-A0E5-149660113C65}" presName="ParentText" presStyleLbl="revTx" presStyleIdx="4" presStyleCnt="5">
        <dgm:presLayoutVars>
          <dgm:chMax val="0"/>
          <dgm:chPref val="0"/>
          <dgm:bulletEnabled val="1"/>
        </dgm:presLayoutVars>
      </dgm:prSet>
      <dgm:spPr/>
      <dgm:t>
        <a:bodyPr/>
        <a:lstStyle/>
        <a:p>
          <a:endParaRPr lang="fi-FI"/>
        </a:p>
      </dgm:t>
    </dgm:pt>
  </dgm:ptLst>
  <dgm:cxnLst>
    <dgm:cxn modelId="{AE06997E-A48F-46C9-8C68-91F559C9CDFA}" srcId="{5E7F01CE-85B5-48F5-9BA7-75EC56D8F290}" destId="{15812178-5987-4179-A973-FCCDA757A77F}" srcOrd="0" destOrd="0" parTransId="{61CA78D5-8AC1-4721-947F-362DDC155AFC}" sibTransId="{543D8D35-7039-47BC-A594-A63F8B724854}"/>
    <dgm:cxn modelId="{8743196E-8F60-4B8F-A11D-45F2F7E10BB2}" srcId="{5E7F01CE-85B5-48F5-9BA7-75EC56D8F290}" destId="{F49B4EAE-EE72-4146-9610-E6F52259EDD7}" srcOrd="3" destOrd="0" parTransId="{B7A1AB10-3D6C-48FF-ABBE-A7D2382C0971}" sibTransId="{8E601255-F5C2-4BAB-9847-B267A4C8E233}"/>
    <dgm:cxn modelId="{CB74625A-5A7F-47A2-A4E8-CB8AE5DB0FE2}" type="presOf" srcId="{F49B4EAE-EE72-4146-9610-E6F52259EDD7}" destId="{ADDCF7FC-2CF3-45C6-AEF8-C90EAE0A4F62}" srcOrd="0" destOrd="0" presId="urn:microsoft.com/office/officeart/2009/3/layout/StepUpProcess"/>
    <dgm:cxn modelId="{DC8E00E6-1636-41E1-A03E-B6E07E12DC86}" type="presOf" srcId="{5E7F01CE-85B5-48F5-9BA7-75EC56D8F290}" destId="{60AD21C7-4B5C-4413-A597-F15C38C33DB0}" srcOrd="0" destOrd="0" presId="urn:microsoft.com/office/officeart/2009/3/layout/StepUpProcess"/>
    <dgm:cxn modelId="{7D677B83-D4C3-4818-8189-5FC9BC28B109}" type="presOf" srcId="{2268F788-802F-43E4-A0E5-149660113C65}" destId="{918A8383-AF36-47B6-ABAF-D9DCE2B1838E}" srcOrd="0" destOrd="0" presId="urn:microsoft.com/office/officeart/2009/3/layout/StepUpProcess"/>
    <dgm:cxn modelId="{A997AF60-65BE-47A8-9DB3-0A5A276930B4}" srcId="{5E7F01CE-85B5-48F5-9BA7-75EC56D8F290}" destId="{5F4FFAE3-D3C1-4EB2-80AE-9167A7DCDABF}" srcOrd="1" destOrd="0" parTransId="{1DF9ABEA-9479-4B44-A9D9-A42FA18EA202}" sibTransId="{4DA57205-25BD-4FF7-A740-0640FFDA6D98}"/>
    <dgm:cxn modelId="{8ABDA66D-7EF5-4CC4-87EB-289B43A3F8D6}" type="presOf" srcId="{5F4FFAE3-D3C1-4EB2-80AE-9167A7DCDABF}" destId="{5330EF91-36B9-4DFB-8346-F38B9E8976E2}" srcOrd="0" destOrd="0" presId="urn:microsoft.com/office/officeart/2009/3/layout/StepUpProcess"/>
    <dgm:cxn modelId="{A3DB3F71-BE4C-49BF-9A58-9AAB29FD70BB}" srcId="{5E7F01CE-85B5-48F5-9BA7-75EC56D8F290}" destId="{F612891F-A017-4200-82D8-94A35C617C30}" srcOrd="2" destOrd="0" parTransId="{865224DE-3BD4-4909-BC5C-C7302CF588FC}" sibTransId="{7CD66654-A94F-4F4F-A624-BA20C4521541}"/>
    <dgm:cxn modelId="{DF355FD0-B82A-4968-969E-DDC0B1BE88AF}" type="presOf" srcId="{15812178-5987-4179-A973-FCCDA757A77F}" destId="{9BA9BD57-BB71-48E4-B038-7B17EEDD65AD}" srcOrd="0" destOrd="0" presId="urn:microsoft.com/office/officeart/2009/3/layout/StepUpProcess"/>
    <dgm:cxn modelId="{815EF416-B078-46AD-830F-2DAAFF0D9A34}" srcId="{5E7F01CE-85B5-48F5-9BA7-75EC56D8F290}" destId="{2268F788-802F-43E4-A0E5-149660113C65}" srcOrd="4" destOrd="0" parTransId="{5168FE2D-2BA9-4ACE-96AF-E92B164FDC24}" sibTransId="{86D83B3F-E8C9-433E-8B6C-A1057A1295F5}"/>
    <dgm:cxn modelId="{C6CCDAAB-9DB5-48D4-81A8-4C7F63F7A69B}" type="presOf" srcId="{F612891F-A017-4200-82D8-94A35C617C30}" destId="{FE16397D-904B-4B0B-8A02-921B837F1EE4}" srcOrd="0" destOrd="0" presId="urn:microsoft.com/office/officeart/2009/3/layout/StepUpProcess"/>
    <dgm:cxn modelId="{47EF83DF-7C9F-40CC-AA63-1C4DFA42D330}" type="presParOf" srcId="{60AD21C7-4B5C-4413-A597-F15C38C33DB0}" destId="{B9B7BD4E-5AFD-4F5D-B489-264510479914}" srcOrd="0" destOrd="0" presId="urn:microsoft.com/office/officeart/2009/3/layout/StepUpProcess"/>
    <dgm:cxn modelId="{2721E2E2-A51E-4B75-879F-57EC3736FEA0}" type="presParOf" srcId="{B9B7BD4E-5AFD-4F5D-B489-264510479914}" destId="{0E0E23AD-73F2-42F8-8788-5EC5038D34A4}" srcOrd="0" destOrd="0" presId="urn:microsoft.com/office/officeart/2009/3/layout/StepUpProcess"/>
    <dgm:cxn modelId="{D42F2476-1927-4264-A635-9D26CF9701C2}" type="presParOf" srcId="{B9B7BD4E-5AFD-4F5D-B489-264510479914}" destId="{9BA9BD57-BB71-48E4-B038-7B17EEDD65AD}" srcOrd="1" destOrd="0" presId="urn:microsoft.com/office/officeart/2009/3/layout/StepUpProcess"/>
    <dgm:cxn modelId="{7D393392-7E24-48C4-8FBE-64D68F14323E}" type="presParOf" srcId="{B9B7BD4E-5AFD-4F5D-B489-264510479914}" destId="{013D13E6-706A-45CD-A764-D2BE8136D671}" srcOrd="2" destOrd="0" presId="urn:microsoft.com/office/officeart/2009/3/layout/StepUpProcess"/>
    <dgm:cxn modelId="{89E94E1D-02AC-4BD0-B588-122D4952F0D4}" type="presParOf" srcId="{60AD21C7-4B5C-4413-A597-F15C38C33DB0}" destId="{90C5D5B4-27D7-4A5A-A7B2-07B9922F2366}" srcOrd="1" destOrd="0" presId="urn:microsoft.com/office/officeart/2009/3/layout/StepUpProcess"/>
    <dgm:cxn modelId="{5C2C0ABC-FFCB-4A96-A147-6367FDC8C5FC}" type="presParOf" srcId="{90C5D5B4-27D7-4A5A-A7B2-07B9922F2366}" destId="{23860E30-B916-4668-8943-AD50B5A5E0B9}" srcOrd="0" destOrd="0" presId="urn:microsoft.com/office/officeart/2009/3/layout/StepUpProcess"/>
    <dgm:cxn modelId="{C1F56987-91FB-475D-B2F6-F0AA3407CC29}" type="presParOf" srcId="{60AD21C7-4B5C-4413-A597-F15C38C33DB0}" destId="{EC7E82D4-5C4F-486A-B5C3-A333C2785435}" srcOrd="2" destOrd="0" presId="urn:microsoft.com/office/officeart/2009/3/layout/StepUpProcess"/>
    <dgm:cxn modelId="{266B3A9D-DE36-47F6-A8AE-308E6DA0C6E3}" type="presParOf" srcId="{EC7E82D4-5C4F-486A-B5C3-A333C2785435}" destId="{033F2236-DDA7-4B20-8911-B35C01F83599}" srcOrd="0" destOrd="0" presId="urn:microsoft.com/office/officeart/2009/3/layout/StepUpProcess"/>
    <dgm:cxn modelId="{81E66B9B-016D-4055-9EB2-B1AE6BC0E9B0}" type="presParOf" srcId="{EC7E82D4-5C4F-486A-B5C3-A333C2785435}" destId="{5330EF91-36B9-4DFB-8346-F38B9E8976E2}" srcOrd="1" destOrd="0" presId="urn:microsoft.com/office/officeart/2009/3/layout/StepUpProcess"/>
    <dgm:cxn modelId="{61718B9E-2F03-4845-AD12-75453F124B5D}" type="presParOf" srcId="{EC7E82D4-5C4F-486A-B5C3-A333C2785435}" destId="{73CA509F-F2AD-45C6-A7C9-98CB3D779DD7}" srcOrd="2" destOrd="0" presId="urn:microsoft.com/office/officeart/2009/3/layout/StepUpProcess"/>
    <dgm:cxn modelId="{3D1D2F8C-B0F7-42D0-85EE-65F5340D7313}" type="presParOf" srcId="{60AD21C7-4B5C-4413-A597-F15C38C33DB0}" destId="{5FCC150A-F9DE-4D77-B9D0-AD906B7E98D8}" srcOrd="3" destOrd="0" presId="urn:microsoft.com/office/officeart/2009/3/layout/StepUpProcess"/>
    <dgm:cxn modelId="{1D0F9A0C-01CA-46A3-B116-4C5C7B0497EF}" type="presParOf" srcId="{5FCC150A-F9DE-4D77-B9D0-AD906B7E98D8}" destId="{3D8483EB-1D28-4754-AA3A-70566147AA91}" srcOrd="0" destOrd="0" presId="urn:microsoft.com/office/officeart/2009/3/layout/StepUpProcess"/>
    <dgm:cxn modelId="{DAB71EEA-76E9-4BA2-BFAB-DCB2441988C7}" type="presParOf" srcId="{60AD21C7-4B5C-4413-A597-F15C38C33DB0}" destId="{B35AB68B-64DA-4F56-9224-A733DDF90339}" srcOrd="4" destOrd="0" presId="urn:microsoft.com/office/officeart/2009/3/layout/StepUpProcess"/>
    <dgm:cxn modelId="{37BD6895-9E30-41A5-8DFF-D647102BD6E1}" type="presParOf" srcId="{B35AB68B-64DA-4F56-9224-A733DDF90339}" destId="{874F1902-64DE-43CD-878E-A181D17C9366}" srcOrd="0" destOrd="0" presId="urn:microsoft.com/office/officeart/2009/3/layout/StepUpProcess"/>
    <dgm:cxn modelId="{F06D2921-9224-4EEC-A895-A591F16CAD1D}" type="presParOf" srcId="{B35AB68B-64DA-4F56-9224-A733DDF90339}" destId="{FE16397D-904B-4B0B-8A02-921B837F1EE4}" srcOrd="1" destOrd="0" presId="urn:microsoft.com/office/officeart/2009/3/layout/StepUpProcess"/>
    <dgm:cxn modelId="{E9370CA2-1A0B-460B-B337-16A25983076D}" type="presParOf" srcId="{B35AB68B-64DA-4F56-9224-A733DDF90339}" destId="{56B47AAB-4D12-496C-9177-39C6A0D2A743}" srcOrd="2" destOrd="0" presId="urn:microsoft.com/office/officeart/2009/3/layout/StepUpProcess"/>
    <dgm:cxn modelId="{DCA9309F-BB8E-44F5-98C5-55F2363EB514}" type="presParOf" srcId="{60AD21C7-4B5C-4413-A597-F15C38C33DB0}" destId="{E2AF953C-C2C1-46ED-82F3-883341419123}" srcOrd="5" destOrd="0" presId="urn:microsoft.com/office/officeart/2009/3/layout/StepUpProcess"/>
    <dgm:cxn modelId="{5F92CB1F-8C7A-400C-BA22-96F4315BDD49}" type="presParOf" srcId="{E2AF953C-C2C1-46ED-82F3-883341419123}" destId="{355774DB-FB70-4AEC-95EC-5D8BAE6512C2}" srcOrd="0" destOrd="0" presId="urn:microsoft.com/office/officeart/2009/3/layout/StepUpProcess"/>
    <dgm:cxn modelId="{20530BC5-D3FC-48CD-B649-41BD65424C9D}" type="presParOf" srcId="{60AD21C7-4B5C-4413-A597-F15C38C33DB0}" destId="{05834D31-F62D-48B1-8033-DF09AC31947E}" srcOrd="6" destOrd="0" presId="urn:microsoft.com/office/officeart/2009/3/layout/StepUpProcess"/>
    <dgm:cxn modelId="{B8ECBC1A-B67A-455C-A1A3-A7174AE5B190}" type="presParOf" srcId="{05834D31-F62D-48B1-8033-DF09AC31947E}" destId="{EF20AE6A-929F-4428-A1E9-044C242E3423}" srcOrd="0" destOrd="0" presId="urn:microsoft.com/office/officeart/2009/3/layout/StepUpProcess"/>
    <dgm:cxn modelId="{A1ACCE80-D1A1-48A0-AB36-11C329D22819}" type="presParOf" srcId="{05834D31-F62D-48B1-8033-DF09AC31947E}" destId="{ADDCF7FC-2CF3-45C6-AEF8-C90EAE0A4F62}" srcOrd="1" destOrd="0" presId="urn:microsoft.com/office/officeart/2009/3/layout/StepUpProcess"/>
    <dgm:cxn modelId="{6E9D524A-4DD8-4C88-85F2-36B4934D3093}" type="presParOf" srcId="{05834D31-F62D-48B1-8033-DF09AC31947E}" destId="{5D0462A8-FC13-4C79-96B5-019547105254}" srcOrd="2" destOrd="0" presId="urn:microsoft.com/office/officeart/2009/3/layout/StepUpProcess"/>
    <dgm:cxn modelId="{159FE0D5-6D85-4A88-9D84-CDE56CDDD69F}" type="presParOf" srcId="{60AD21C7-4B5C-4413-A597-F15C38C33DB0}" destId="{6A445D8F-28E5-4261-959B-DB4D59EA0181}" srcOrd="7" destOrd="0" presId="urn:microsoft.com/office/officeart/2009/3/layout/StepUpProcess"/>
    <dgm:cxn modelId="{B9C4CA10-45DB-445E-8330-EF35D2BF62C6}" type="presParOf" srcId="{6A445D8F-28E5-4261-959B-DB4D59EA0181}" destId="{4E158A39-9EEE-4B3E-B065-062933C7AB36}" srcOrd="0" destOrd="0" presId="urn:microsoft.com/office/officeart/2009/3/layout/StepUpProcess"/>
    <dgm:cxn modelId="{3615E8AF-5796-4961-BAA4-A53A608A5B21}" type="presParOf" srcId="{60AD21C7-4B5C-4413-A597-F15C38C33DB0}" destId="{AA67E302-D635-4BAC-BCAD-D15C2B86EAC8}" srcOrd="8" destOrd="0" presId="urn:microsoft.com/office/officeart/2009/3/layout/StepUpProcess"/>
    <dgm:cxn modelId="{8FDDA8B8-3AE9-4ABF-95A2-A1B901E88D56}" type="presParOf" srcId="{AA67E302-D635-4BAC-BCAD-D15C2B86EAC8}" destId="{62200CB1-2DB7-4464-869E-E258D328C5A9}" srcOrd="0" destOrd="0" presId="urn:microsoft.com/office/officeart/2009/3/layout/StepUpProcess"/>
    <dgm:cxn modelId="{B2D4F010-0D01-4CAD-A687-E8B18EF61837}" type="presParOf" srcId="{AA67E302-D635-4BAC-BCAD-D15C2B86EAC8}" destId="{918A8383-AF36-47B6-ABAF-D9DCE2B1838E}" srcOrd="1" destOrd="0" presId="urn:microsoft.com/office/officeart/2009/3/layout/StepUp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5E7F01CE-85B5-48F5-9BA7-75EC56D8F290}" type="doc">
      <dgm:prSet loTypeId="urn:microsoft.com/office/officeart/2009/3/layout/StepUpProcess" loCatId="process" qsTypeId="urn:microsoft.com/office/officeart/2005/8/quickstyle/simple1" qsCatId="simple" csTypeId="urn:microsoft.com/office/officeart/2005/8/colors/colorful1#13" csCatId="colorful"/>
      <dgm:spPr/>
      <dgm:t>
        <a:bodyPr/>
        <a:lstStyle/>
        <a:p>
          <a:endParaRPr lang="en-US"/>
        </a:p>
      </dgm:t>
    </dgm:pt>
    <dgm:pt modelId="{15812178-5987-4179-A973-FCCDA757A77F}">
      <dgm:prSet custT="1"/>
      <dgm:spPr/>
      <dgm:t>
        <a:bodyPr/>
        <a:lstStyle/>
        <a:p>
          <a:pPr rtl="0"/>
          <a:r>
            <a:rPr lang="fi-FI" sz="1000" b="1" dirty="0" smtClean="0"/>
            <a:t>Toimittaja testaa (integrointitestaus, järjestelmätestaus, kokoava järjestelmätestaus)</a:t>
          </a:r>
          <a:endParaRPr lang="en-US" sz="1000" dirty="0"/>
        </a:p>
      </dgm:t>
    </dgm:pt>
    <dgm:pt modelId="{61CA78D5-8AC1-4721-947F-362DDC155AFC}" type="parTrans" cxnId="{AE06997E-A48F-46C9-8C68-91F559C9CDFA}">
      <dgm:prSet/>
      <dgm:spPr/>
      <dgm:t>
        <a:bodyPr/>
        <a:lstStyle/>
        <a:p>
          <a:endParaRPr lang="en-US" sz="1800"/>
        </a:p>
      </dgm:t>
    </dgm:pt>
    <dgm:pt modelId="{543D8D35-7039-47BC-A594-A63F8B724854}" type="sibTrans" cxnId="{AE06997E-A48F-46C9-8C68-91F559C9CDFA}">
      <dgm:prSet/>
      <dgm:spPr/>
      <dgm:t>
        <a:bodyPr/>
        <a:lstStyle/>
        <a:p>
          <a:endParaRPr lang="en-US" sz="1800"/>
        </a:p>
      </dgm:t>
    </dgm:pt>
    <dgm:pt modelId="{5F4FFAE3-D3C1-4EB2-80AE-9167A7DCDABF}">
      <dgm:prSet custT="1"/>
      <dgm:spPr/>
      <dgm:t>
        <a:bodyPr/>
        <a:lstStyle/>
        <a:p>
          <a:pPr rtl="0"/>
          <a:r>
            <a:rPr lang="fi-FI" sz="1000" b="1" dirty="0" smtClean="0"/>
            <a:t>Aloituskoe (järjestelmätestaus </a:t>
          </a:r>
          <a:r>
            <a:rPr lang="fi-FI" sz="1000" b="1" dirty="0" smtClean="0">
              <a:sym typeface="Wingdings"/>
            </a:rPr>
            <a:t></a:t>
          </a:r>
          <a:r>
            <a:rPr lang="fi-FI" sz="1000" b="1" dirty="0" smtClean="0"/>
            <a:t> yhteinen järjestelmätestaus)</a:t>
          </a:r>
          <a:endParaRPr lang="en-US" sz="1000" dirty="0"/>
        </a:p>
      </dgm:t>
    </dgm:pt>
    <dgm:pt modelId="{1DF9ABEA-9479-4B44-A9D9-A42FA18EA202}" type="parTrans" cxnId="{A997AF60-65BE-47A8-9DB3-0A5A276930B4}">
      <dgm:prSet/>
      <dgm:spPr/>
      <dgm:t>
        <a:bodyPr/>
        <a:lstStyle/>
        <a:p>
          <a:endParaRPr lang="en-US" sz="1800"/>
        </a:p>
      </dgm:t>
    </dgm:pt>
    <dgm:pt modelId="{4DA57205-25BD-4FF7-A740-0640FFDA6D98}" type="sibTrans" cxnId="{A997AF60-65BE-47A8-9DB3-0A5A276930B4}">
      <dgm:prSet/>
      <dgm:spPr/>
      <dgm:t>
        <a:bodyPr/>
        <a:lstStyle/>
        <a:p>
          <a:endParaRPr lang="en-US" sz="1800"/>
        </a:p>
      </dgm:t>
    </dgm:pt>
    <dgm:pt modelId="{F612891F-A017-4200-82D8-94A35C617C30}">
      <dgm:prSet custT="1"/>
      <dgm:spPr/>
      <dgm:t>
        <a:bodyPr/>
        <a:lstStyle/>
        <a:p>
          <a:pPr rtl="0"/>
          <a:r>
            <a:rPr lang="fi-FI" sz="1000" b="1" dirty="0" smtClean="0"/>
            <a:t>Yhteinen järjestelmätestaus</a:t>
          </a:r>
          <a:endParaRPr lang="en-US" sz="1000" dirty="0"/>
        </a:p>
      </dgm:t>
    </dgm:pt>
    <dgm:pt modelId="{865224DE-3BD4-4909-BC5C-C7302CF588FC}" type="parTrans" cxnId="{A3DB3F71-BE4C-49BF-9A58-9AAB29FD70BB}">
      <dgm:prSet/>
      <dgm:spPr/>
      <dgm:t>
        <a:bodyPr/>
        <a:lstStyle/>
        <a:p>
          <a:endParaRPr lang="en-US" sz="1800"/>
        </a:p>
      </dgm:t>
    </dgm:pt>
    <dgm:pt modelId="{7CD66654-A94F-4F4F-A624-BA20C4521541}" type="sibTrans" cxnId="{A3DB3F71-BE4C-49BF-9A58-9AAB29FD70BB}">
      <dgm:prSet/>
      <dgm:spPr/>
      <dgm:t>
        <a:bodyPr/>
        <a:lstStyle/>
        <a:p>
          <a:endParaRPr lang="en-US" sz="1800"/>
        </a:p>
      </dgm:t>
    </dgm:pt>
    <dgm:pt modelId="{F49B4EAE-EE72-4146-9610-E6F52259EDD7}">
      <dgm:prSet custT="1"/>
      <dgm:spPr/>
      <dgm:t>
        <a:bodyPr/>
        <a:lstStyle/>
        <a:p>
          <a:pPr rtl="0"/>
          <a:r>
            <a:rPr lang="fi-FI" sz="1000" b="1" dirty="0" smtClean="0"/>
            <a:t>Luovutuskoe</a:t>
          </a:r>
          <a:endParaRPr lang="en-US" sz="1000" dirty="0"/>
        </a:p>
      </dgm:t>
    </dgm:pt>
    <dgm:pt modelId="{B7A1AB10-3D6C-48FF-ABBE-A7D2382C0971}" type="parTrans" cxnId="{8743196E-8F60-4B8F-A11D-45F2F7E10BB2}">
      <dgm:prSet/>
      <dgm:spPr/>
      <dgm:t>
        <a:bodyPr/>
        <a:lstStyle/>
        <a:p>
          <a:endParaRPr lang="en-US" sz="1800"/>
        </a:p>
      </dgm:t>
    </dgm:pt>
    <dgm:pt modelId="{8E601255-F5C2-4BAB-9847-B267A4C8E233}" type="sibTrans" cxnId="{8743196E-8F60-4B8F-A11D-45F2F7E10BB2}">
      <dgm:prSet/>
      <dgm:spPr/>
      <dgm:t>
        <a:bodyPr/>
        <a:lstStyle/>
        <a:p>
          <a:endParaRPr lang="en-US" sz="1800"/>
        </a:p>
      </dgm:t>
    </dgm:pt>
    <dgm:pt modelId="{2268F788-802F-43E4-A0E5-149660113C65}">
      <dgm:prSet custT="1"/>
      <dgm:spPr/>
      <dgm:t>
        <a:bodyPr/>
        <a:lstStyle/>
        <a:p>
          <a:pPr rtl="0"/>
          <a:r>
            <a:rPr lang="fi-FI" sz="1000" b="1" dirty="0" smtClean="0"/>
            <a:t>Hyväksymistestaus</a:t>
          </a:r>
          <a:endParaRPr lang="en-US" sz="1000" dirty="0"/>
        </a:p>
      </dgm:t>
    </dgm:pt>
    <dgm:pt modelId="{5168FE2D-2BA9-4ACE-96AF-E92B164FDC24}" type="parTrans" cxnId="{815EF416-B078-46AD-830F-2DAAFF0D9A34}">
      <dgm:prSet/>
      <dgm:spPr/>
      <dgm:t>
        <a:bodyPr/>
        <a:lstStyle/>
        <a:p>
          <a:endParaRPr lang="en-US" sz="1800"/>
        </a:p>
      </dgm:t>
    </dgm:pt>
    <dgm:pt modelId="{86D83B3F-E8C9-433E-8B6C-A1057A1295F5}" type="sibTrans" cxnId="{815EF416-B078-46AD-830F-2DAAFF0D9A34}">
      <dgm:prSet/>
      <dgm:spPr/>
      <dgm:t>
        <a:bodyPr/>
        <a:lstStyle/>
        <a:p>
          <a:endParaRPr lang="en-US" sz="1800"/>
        </a:p>
      </dgm:t>
    </dgm:pt>
    <dgm:pt modelId="{60AD21C7-4B5C-4413-A597-F15C38C33DB0}" type="pres">
      <dgm:prSet presAssocID="{5E7F01CE-85B5-48F5-9BA7-75EC56D8F290}" presName="rootnode" presStyleCnt="0">
        <dgm:presLayoutVars>
          <dgm:chMax/>
          <dgm:chPref/>
          <dgm:dir/>
          <dgm:animLvl val="lvl"/>
        </dgm:presLayoutVars>
      </dgm:prSet>
      <dgm:spPr/>
      <dgm:t>
        <a:bodyPr/>
        <a:lstStyle/>
        <a:p>
          <a:endParaRPr lang="fi-FI"/>
        </a:p>
      </dgm:t>
    </dgm:pt>
    <dgm:pt modelId="{B9B7BD4E-5AFD-4F5D-B489-264510479914}" type="pres">
      <dgm:prSet presAssocID="{15812178-5987-4179-A973-FCCDA757A77F}" presName="composite" presStyleCnt="0"/>
      <dgm:spPr/>
    </dgm:pt>
    <dgm:pt modelId="{0E0E23AD-73F2-42F8-8788-5EC5038D34A4}" type="pres">
      <dgm:prSet presAssocID="{15812178-5987-4179-A973-FCCDA757A77F}" presName="LShape" presStyleLbl="alignNode1" presStyleIdx="0" presStyleCnt="9"/>
      <dgm:spPr/>
    </dgm:pt>
    <dgm:pt modelId="{9BA9BD57-BB71-48E4-B038-7B17EEDD65AD}" type="pres">
      <dgm:prSet presAssocID="{15812178-5987-4179-A973-FCCDA757A77F}" presName="ParentText" presStyleLbl="revTx" presStyleIdx="0" presStyleCnt="5">
        <dgm:presLayoutVars>
          <dgm:chMax val="0"/>
          <dgm:chPref val="0"/>
          <dgm:bulletEnabled val="1"/>
        </dgm:presLayoutVars>
      </dgm:prSet>
      <dgm:spPr/>
      <dgm:t>
        <a:bodyPr/>
        <a:lstStyle/>
        <a:p>
          <a:endParaRPr lang="fi-FI"/>
        </a:p>
      </dgm:t>
    </dgm:pt>
    <dgm:pt modelId="{013D13E6-706A-45CD-A764-D2BE8136D671}" type="pres">
      <dgm:prSet presAssocID="{15812178-5987-4179-A973-FCCDA757A77F}" presName="Triangle" presStyleLbl="alignNode1" presStyleIdx="1" presStyleCnt="9"/>
      <dgm:spPr/>
    </dgm:pt>
    <dgm:pt modelId="{90C5D5B4-27D7-4A5A-A7B2-07B9922F2366}" type="pres">
      <dgm:prSet presAssocID="{543D8D35-7039-47BC-A594-A63F8B724854}" presName="sibTrans" presStyleCnt="0"/>
      <dgm:spPr/>
    </dgm:pt>
    <dgm:pt modelId="{23860E30-B916-4668-8943-AD50B5A5E0B9}" type="pres">
      <dgm:prSet presAssocID="{543D8D35-7039-47BC-A594-A63F8B724854}" presName="space" presStyleCnt="0"/>
      <dgm:spPr/>
    </dgm:pt>
    <dgm:pt modelId="{EC7E82D4-5C4F-486A-B5C3-A333C2785435}" type="pres">
      <dgm:prSet presAssocID="{5F4FFAE3-D3C1-4EB2-80AE-9167A7DCDABF}" presName="composite" presStyleCnt="0"/>
      <dgm:spPr/>
    </dgm:pt>
    <dgm:pt modelId="{033F2236-DDA7-4B20-8911-B35C01F83599}" type="pres">
      <dgm:prSet presAssocID="{5F4FFAE3-D3C1-4EB2-80AE-9167A7DCDABF}" presName="LShape" presStyleLbl="alignNode1" presStyleIdx="2" presStyleCnt="9"/>
      <dgm:spPr/>
    </dgm:pt>
    <dgm:pt modelId="{5330EF91-36B9-4DFB-8346-F38B9E8976E2}" type="pres">
      <dgm:prSet presAssocID="{5F4FFAE3-D3C1-4EB2-80AE-9167A7DCDABF}" presName="ParentText" presStyleLbl="revTx" presStyleIdx="1" presStyleCnt="5">
        <dgm:presLayoutVars>
          <dgm:chMax val="0"/>
          <dgm:chPref val="0"/>
          <dgm:bulletEnabled val="1"/>
        </dgm:presLayoutVars>
      </dgm:prSet>
      <dgm:spPr/>
      <dgm:t>
        <a:bodyPr/>
        <a:lstStyle/>
        <a:p>
          <a:endParaRPr lang="fi-FI"/>
        </a:p>
      </dgm:t>
    </dgm:pt>
    <dgm:pt modelId="{73CA509F-F2AD-45C6-A7C9-98CB3D779DD7}" type="pres">
      <dgm:prSet presAssocID="{5F4FFAE3-D3C1-4EB2-80AE-9167A7DCDABF}" presName="Triangle" presStyleLbl="alignNode1" presStyleIdx="3" presStyleCnt="9"/>
      <dgm:spPr/>
    </dgm:pt>
    <dgm:pt modelId="{5FCC150A-F9DE-4D77-B9D0-AD906B7E98D8}" type="pres">
      <dgm:prSet presAssocID="{4DA57205-25BD-4FF7-A740-0640FFDA6D98}" presName="sibTrans" presStyleCnt="0"/>
      <dgm:spPr/>
    </dgm:pt>
    <dgm:pt modelId="{3D8483EB-1D28-4754-AA3A-70566147AA91}" type="pres">
      <dgm:prSet presAssocID="{4DA57205-25BD-4FF7-A740-0640FFDA6D98}" presName="space" presStyleCnt="0"/>
      <dgm:spPr/>
    </dgm:pt>
    <dgm:pt modelId="{B35AB68B-64DA-4F56-9224-A733DDF90339}" type="pres">
      <dgm:prSet presAssocID="{F612891F-A017-4200-82D8-94A35C617C30}" presName="composite" presStyleCnt="0"/>
      <dgm:spPr/>
    </dgm:pt>
    <dgm:pt modelId="{874F1902-64DE-43CD-878E-A181D17C9366}" type="pres">
      <dgm:prSet presAssocID="{F612891F-A017-4200-82D8-94A35C617C30}" presName="LShape" presStyleLbl="alignNode1" presStyleIdx="4" presStyleCnt="9"/>
      <dgm:spPr/>
    </dgm:pt>
    <dgm:pt modelId="{FE16397D-904B-4B0B-8A02-921B837F1EE4}" type="pres">
      <dgm:prSet presAssocID="{F612891F-A017-4200-82D8-94A35C617C30}" presName="ParentText" presStyleLbl="revTx" presStyleIdx="2" presStyleCnt="5">
        <dgm:presLayoutVars>
          <dgm:chMax val="0"/>
          <dgm:chPref val="0"/>
          <dgm:bulletEnabled val="1"/>
        </dgm:presLayoutVars>
      </dgm:prSet>
      <dgm:spPr/>
      <dgm:t>
        <a:bodyPr/>
        <a:lstStyle/>
        <a:p>
          <a:endParaRPr lang="fi-FI"/>
        </a:p>
      </dgm:t>
    </dgm:pt>
    <dgm:pt modelId="{56B47AAB-4D12-496C-9177-39C6A0D2A743}" type="pres">
      <dgm:prSet presAssocID="{F612891F-A017-4200-82D8-94A35C617C30}" presName="Triangle" presStyleLbl="alignNode1" presStyleIdx="5" presStyleCnt="9"/>
      <dgm:spPr/>
    </dgm:pt>
    <dgm:pt modelId="{E2AF953C-C2C1-46ED-82F3-883341419123}" type="pres">
      <dgm:prSet presAssocID="{7CD66654-A94F-4F4F-A624-BA20C4521541}" presName="sibTrans" presStyleCnt="0"/>
      <dgm:spPr/>
    </dgm:pt>
    <dgm:pt modelId="{355774DB-FB70-4AEC-95EC-5D8BAE6512C2}" type="pres">
      <dgm:prSet presAssocID="{7CD66654-A94F-4F4F-A624-BA20C4521541}" presName="space" presStyleCnt="0"/>
      <dgm:spPr/>
    </dgm:pt>
    <dgm:pt modelId="{05834D31-F62D-48B1-8033-DF09AC31947E}" type="pres">
      <dgm:prSet presAssocID="{F49B4EAE-EE72-4146-9610-E6F52259EDD7}" presName="composite" presStyleCnt="0"/>
      <dgm:spPr/>
    </dgm:pt>
    <dgm:pt modelId="{EF20AE6A-929F-4428-A1E9-044C242E3423}" type="pres">
      <dgm:prSet presAssocID="{F49B4EAE-EE72-4146-9610-E6F52259EDD7}" presName="LShape" presStyleLbl="alignNode1" presStyleIdx="6" presStyleCnt="9"/>
      <dgm:spPr/>
    </dgm:pt>
    <dgm:pt modelId="{ADDCF7FC-2CF3-45C6-AEF8-C90EAE0A4F62}" type="pres">
      <dgm:prSet presAssocID="{F49B4EAE-EE72-4146-9610-E6F52259EDD7}" presName="ParentText" presStyleLbl="revTx" presStyleIdx="3" presStyleCnt="5">
        <dgm:presLayoutVars>
          <dgm:chMax val="0"/>
          <dgm:chPref val="0"/>
          <dgm:bulletEnabled val="1"/>
        </dgm:presLayoutVars>
      </dgm:prSet>
      <dgm:spPr/>
      <dgm:t>
        <a:bodyPr/>
        <a:lstStyle/>
        <a:p>
          <a:endParaRPr lang="fi-FI"/>
        </a:p>
      </dgm:t>
    </dgm:pt>
    <dgm:pt modelId="{5D0462A8-FC13-4C79-96B5-019547105254}" type="pres">
      <dgm:prSet presAssocID="{F49B4EAE-EE72-4146-9610-E6F52259EDD7}" presName="Triangle" presStyleLbl="alignNode1" presStyleIdx="7" presStyleCnt="9"/>
      <dgm:spPr/>
    </dgm:pt>
    <dgm:pt modelId="{6A445D8F-28E5-4261-959B-DB4D59EA0181}" type="pres">
      <dgm:prSet presAssocID="{8E601255-F5C2-4BAB-9847-B267A4C8E233}" presName="sibTrans" presStyleCnt="0"/>
      <dgm:spPr/>
    </dgm:pt>
    <dgm:pt modelId="{4E158A39-9EEE-4B3E-B065-062933C7AB36}" type="pres">
      <dgm:prSet presAssocID="{8E601255-F5C2-4BAB-9847-B267A4C8E233}" presName="space" presStyleCnt="0"/>
      <dgm:spPr/>
    </dgm:pt>
    <dgm:pt modelId="{AA67E302-D635-4BAC-BCAD-D15C2B86EAC8}" type="pres">
      <dgm:prSet presAssocID="{2268F788-802F-43E4-A0E5-149660113C65}" presName="composite" presStyleCnt="0"/>
      <dgm:spPr/>
    </dgm:pt>
    <dgm:pt modelId="{62200CB1-2DB7-4464-869E-E258D328C5A9}" type="pres">
      <dgm:prSet presAssocID="{2268F788-802F-43E4-A0E5-149660113C65}" presName="LShape" presStyleLbl="alignNode1" presStyleIdx="8" presStyleCnt="9"/>
      <dgm:spPr/>
    </dgm:pt>
    <dgm:pt modelId="{918A8383-AF36-47B6-ABAF-D9DCE2B1838E}" type="pres">
      <dgm:prSet presAssocID="{2268F788-802F-43E4-A0E5-149660113C65}" presName="ParentText" presStyleLbl="revTx" presStyleIdx="4" presStyleCnt="5">
        <dgm:presLayoutVars>
          <dgm:chMax val="0"/>
          <dgm:chPref val="0"/>
          <dgm:bulletEnabled val="1"/>
        </dgm:presLayoutVars>
      </dgm:prSet>
      <dgm:spPr/>
      <dgm:t>
        <a:bodyPr/>
        <a:lstStyle/>
        <a:p>
          <a:endParaRPr lang="fi-FI"/>
        </a:p>
      </dgm:t>
    </dgm:pt>
  </dgm:ptLst>
  <dgm:cxnLst>
    <dgm:cxn modelId="{AE06997E-A48F-46C9-8C68-91F559C9CDFA}" srcId="{5E7F01CE-85B5-48F5-9BA7-75EC56D8F290}" destId="{15812178-5987-4179-A973-FCCDA757A77F}" srcOrd="0" destOrd="0" parTransId="{61CA78D5-8AC1-4721-947F-362DDC155AFC}" sibTransId="{543D8D35-7039-47BC-A594-A63F8B724854}"/>
    <dgm:cxn modelId="{FAC0597B-80F6-469C-A6B7-56F614E83E19}" type="presOf" srcId="{15812178-5987-4179-A973-FCCDA757A77F}" destId="{9BA9BD57-BB71-48E4-B038-7B17EEDD65AD}" srcOrd="0" destOrd="0" presId="urn:microsoft.com/office/officeart/2009/3/layout/StepUpProcess"/>
    <dgm:cxn modelId="{A672BB33-17BF-4B34-BB87-BB837C49AB00}" type="presOf" srcId="{5E7F01CE-85B5-48F5-9BA7-75EC56D8F290}" destId="{60AD21C7-4B5C-4413-A597-F15C38C33DB0}" srcOrd="0" destOrd="0" presId="urn:microsoft.com/office/officeart/2009/3/layout/StepUpProcess"/>
    <dgm:cxn modelId="{9E94A2F1-97F1-4BC5-AF67-56DF399CA51D}" type="presOf" srcId="{F612891F-A017-4200-82D8-94A35C617C30}" destId="{FE16397D-904B-4B0B-8A02-921B837F1EE4}" srcOrd="0" destOrd="0" presId="urn:microsoft.com/office/officeart/2009/3/layout/StepUpProcess"/>
    <dgm:cxn modelId="{8743196E-8F60-4B8F-A11D-45F2F7E10BB2}" srcId="{5E7F01CE-85B5-48F5-9BA7-75EC56D8F290}" destId="{F49B4EAE-EE72-4146-9610-E6F52259EDD7}" srcOrd="3" destOrd="0" parTransId="{B7A1AB10-3D6C-48FF-ABBE-A7D2382C0971}" sibTransId="{8E601255-F5C2-4BAB-9847-B267A4C8E233}"/>
    <dgm:cxn modelId="{A997AF60-65BE-47A8-9DB3-0A5A276930B4}" srcId="{5E7F01CE-85B5-48F5-9BA7-75EC56D8F290}" destId="{5F4FFAE3-D3C1-4EB2-80AE-9167A7DCDABF}" srcOrd="1" destOrd="0" parTransId="{1DF9ABEA-9479-4B44-A9D9-A42FA18EA202}" sibTransId="{4DA57205-25BD-4FF7-A740-0640FFDA6D98}"/>
    <dgm:cxn modelId="{A3DB3F71-BE4C-49BF-9A58-9AAB29FD70BB}" srcId="{5E7F01CE-85B5-48F5-9BA7-75EC56D8F290}" destId="{F612891F-A017-4200-82D8-94A35C617C30}" srcOrd="2" destOrd="0" parTransId="{865224DE-3BD4-4909-BC5C-C7302CF588FC}" sibTransId="{7CD66654-A94F-4F4F-A624-BA20C4521541}"/>
    <dgm:cxn modelId="{CD83B129-CC2D-4031-8EFA-6DFC11A13C54}" type="presOf" srcId="{5F4FFAE3-D3C1-4EB2-80AE-9167A7DCDABF}" destId="{5330EF91-36B9-4DFB-8346-F38B9E8976E2}" srcOrd="0" destOrd="0" presId="urn:microsoft.com/office/officeart/2009/3/layout/StepUpProcess"/>
    <dgm:cxn modelId="{CD1592FA-64BD-42D3-901E-EC40967E691E}" type="presOf" srcId="{2268F788-802F-43E4-A0E5-149660113C65}" destId="{918A8383-AF36-47B6-ABAF-D9DCE2B1838E}" srcOrd="0" destOrd="0" presId="urn:microsoft.com/office/officeart/2009/3/layout/StepUpProcess"/>
    <dgm:cxn modelId="{815EF416-B078-46AD-830F-2DAAFF0D9A34}" srcId="{5E7F01CE-85B5-48F5-9BA7-75EC56D8F290}" destId="{2268F788-802F-43E4-A0E5-149660113C65}" srcOrd="4" destOrd="0" parTransId="{5168FE2D-2BA9-4ACE-96AF-E92B164FDC24}" sibTransId="{86D83B3F-E8C9-433E-8B6C-A1057A1295F5}"/>
    <dgm:cxn modelId="{43810775-4FE9-407F-89DF-29DB897DDA41}" type="presOf" srcId="{F49B4EAE-EE72-4146-9610-E6F52259EDD7}" destId="{ADDCF7FC-2CF3-45C6-AEF8-C90EAE0A4F62}" srcOrd="0" destOrd="0" presId="urn:microsoft.com/office/officeart/2009/3/layout/StepUpProcess"/>
    <dgm:cxn modelId="{12091A94-E00A-4758-905B-F8183435CFE5}" type="presParOf" srcId="{60AD21C7-4B5C-4413-A597-F15C38C33DB0}" destId="{B9B7BD4E-5AFD-4F5D-B489-264510479914}" srcOrd="0" destOrd="0" presId="urn:microsoft.com/office/officeart/2009/3/layout/StepUpProcess"/>
    <dgm:cxn modelId="{43A06404-FB08-4C2C-84BF-5A74F52F2F50}" type="presParOf" srcId="{B9B7BD4E-5AFD-4F5D-B489-264510479914}" destId="{0E0E23AD-73F2-42F8-8788-5EC5038D34A4}" srcOrd="0" destOrd="0" presId="urn:microsoft.com/office/officeart/2009/3/layout/StepUpProcess"/>
    <dgm:cxn modelId="{4865581E-C6E3-4203-B5C4-0EC8CE0783A2}" type="presParOf" srcId="{B9B7BD4E-5AFD-4F5D-B489-264510479914}" destId="{9BA9BD57-BB71-48E4-B038-7B17EEDD65AD}" srcOrd="1" destOrd="0" presId="urn:microsoft.com/office/officeart/2009/3/layout/StepUpProcess"/>
    <dgm:cxn modelId="{AFABDACB-B15D-48D1-8567-F5B1DDC524B0}" type="presParOf" srcId="{B9B7BD4E-5AFD-4F5D-B489-264510479914}" destId="{013D13E6-706A-45CD-A764-D2BE8136D671}" srcOrd="2" destOrd="0" presId="urn:microsoft.com/office/officeart/2009/3/layout/StepUpProcess"/>
    <dgm:cxn modelId="{5238DDF0-46B7-4EA8-9967-F1E5362B20D7}" type="presParOf" srcId="{60AD21C7-4B5C-4413-A597-F15C38C33DB0}" destId="{90C5D5B4-27D7-4A5A-A7B2-07B9922F2366}" srcOrd="1" destOrd="0" presId="urn:microsoft.com/office/officeart/2009/3/layout/StepUpProcess"/>
    <dgm:cxn modelId="{4211E7B1-F299-4EA2-BC76-D223F202EC63}" type="presParOf" srcId="{90C5D5B4-27D7-4A5A-A7B2-07B9922F2366}" destId="{23860E30-B916-4668-8943-AD50B5A5E0B9}" srcOrd="0" destOrd="0" presId="urn:microsoft.com/office/officeart/2009/3/layout/StepUpProcess"/>
    <dgm:cxn modelId="{640D17F9-5ED3-4AC6-BF38-CCB9CA7A35F0}" type="presParOf" srcId="{60AD21C7-4B5C-4413-A597-F15C38C33DB0}" destId="{EC7E82D4-5C4F-486A-B5C3-A333C2785435}" srcOrd="2" destOrd="0" presId="urn:microsoft.com/office/officeart/2009/3/layout/StepUpProcess"/>
    <dgm:cxn modelId="{DBA2189F-B82C-4209-AC0F-8E09640233A7}" type="presParOf" srcId="{EC7E82D4-5C4F-486A-B5C3-A333C2785435}" destId="{033F2236-DDA7-4B20-8911-B35C01F83599}" srcOrd="0" destOrd="0" presId="urn:microsoft.com/office/officeart/2009/3/layout/StepUpProcess"/>
    <dgm:cxn modelId="{627F59AA-AE8D-4D24-898F-BEE2A86F2317}" type="presParOf" srcId="{EC7E82D4-5C4F-486A-B5C3-A333C2785435}" destId="{5330EF91-36B9-4DFB-8346-F38B9E8976E2}" srcOrd="1" destOrd="0" presId="urn:microsoft.com/office/officeart/2009/3/layout/StepUpProcess"/>
    <dgm:cxn modelId="{F46FA73A-8B50-4306-86AE-F3043A8BEE33}" type="presParOf" srcId="{EC7E82D4-5C4F-486A-B5C3-A333C2785435}" destId="{73CA509F-F2AD-45C6-A7C9-98CB3D779DD7}" srcOrd="2" destOrd="0" presId="urn:microsoft.com/office/officeart/2009/3/layout/StepUpProcess"/>
    <dgm:cxn modelId="{B3521AFE-4D46-412C-9E83-723CEBADD001}" type="presParOf" srcId="{60AD21C7-4B5C-4413-A597-F15C38C33DB0}" destId="{5FCC150A-F9DE-4D77-B9D0-AD906B7E98D8}" srcOrd="3" destOrd="0" presId="urn:microsoft.com/office/officeart/2009/3/layout/StepUpProcess"/>
    <dgm:cxn modelId="{56682C80-F4E2-448F-AE1D-7A71D3723A3B}" type="presParOf" srcId="{5FCC150A-F9DE-4D77-B9D0-AD906B7E98D8}" destId="{3D8483EB-1D28-4754-AA3A-70566147AA91}" srcOrd="0" destOrd="0" presId="urn:microsoft.com/office/officeart/2009/3/layout/StepUpProcess"/>
    <dgm:cxn modelId="{F9F121B5-A4C2-45B6-A3BE-FAD2BAF37246}" type="presParOf" srcId="{60AD21C7-4B5C-4413-A597-F15C38C33DB0}" destId="{B35AB68B-64DA-4F56-9224-A733DDF90339}" srcOrd="4" destOrd="0" presId="urn:microsoft.com/office/officeart/2009/3/layout/StepUpProcess"/>
    <dgm:cxn modelId="{C1E2A0FD-6B5C-4155-BF0F-A4FAF05E4A39}" type="presParOf" srcId="{B35AB68B-64DA-4F56-9224-A733DDF90339}" destId="{874F1902-64DE-43CD-878E-A181D17C9366}" srcOrd="0" destOrd="0" presId="urn:microsoft.com/office/officeart/2009/3/layout/StepUpProcess"/>
    <dgm:cxn modelId="{D6162EEB-0B5D-4094-A439-124BA52616C1}" type="presParOf" srcId="{B35AB68B-64DA-4F56-9224-A733DDF90339}" destId="{FE16397D-904B-4B0B-8A02-921B837F1EE4}" srcOrd="1" destOrd="0" presId="urn:microsoft.com/office/officeart/2009/3/layout/StepUpProcess"/>
    <dgm:cxn modelId="{A05F2BBD-C1F9-46CC-B53D-530318B789A9}" type="presParOf" srcId="{B35AB68B-64DA-4F56-9224-A733DDF90339}" destId="{56B47AAB-4D12-496C-9177-39C6A0D2A743}" srcOrd="2" destOrd="0" presId="urn:microsoft.com/office/officeart/2009/3/layout/StepUpProcess"/>
    <dgm:cxn modelId="{A72CAEB5-236E-44AE-B211-65C9FC8B7867}" type="presParOf" srcId="{60AD21C7-4B5C-4413-A597-F15C38C33DB0}" destId="{E2AF953C-C2C1-46ED-82F3-883341419123}" srcOrd="5" destOrd="0" presId="urn:microsoft.com/office/officeart/2009/3/layout/StepUpProcess"/>
    <dgm:cxn modelId="{054B990C-1500-4D28-893B-272B16429C74}" type="presParOf" srcId="{E2AF953C-C2C1-46ED-82F3-883341419123}" destId="{355774DB-FB70-4AEC-95EC-5D8BAE6512C2}" srcOrd="0" destOrd="0" presId="urn:microsoft.com/office/officeart/2009/3/layout/StepUpProcess"/>
    <dgm:cxn modelId="{A895C4F8-88E8-4C52-8B88-A3F47E420DF7}" type="presParOf" srcId="{60AD21C7-4B5C-4413-A597-F15C38C33DB0}" destId="{05834D31-F62D-48B1-8033-DF09AC31947E}" srcOrd="6" destOrd="0" presId="urn:microsoft.com/office/officeart/2009/3/layout/StepUpProcess"/>
    <dgm:cxn modelId="{09C5E4F9-07B8-429E-B364-112186C6F88F}" type="presParOf" srcId="{05834D31-F62D-48B1-8033-DF09AC31947E}" destId="{EF20AE6A-929F-4428-A1E9-044C242E3423}" srcOrd="0" destOrd="0" presId="urn:microsoft.com/office/officeart/2009/3/layout/StepUpProcess"/>
    <dgm:cxn modelId="{2171A668-A849-403A-A398-9EFA511938A3}" type="presParOf" srcId="{05834D31-F62D-48B1-8033-DF09AC31947E}" destId="{ADDCF7FC-2CF3-45C6-AEF8-C90EAE0A4F62}" srcOrd="1" destOrd="0" presId="urn:microsoft.com/office/officeart/2009/3/layout/StepUpProcess"/>
    <dgm:cxn modelId="{C9C824B1-E90F-4484-97C0-BAC4D8788696}" type="presParOf" srcId="{05834D31-F62D-48B1-8033-DF09AC31947E}" destId="{5D0462A8-FC13-4C79-96B5-019547105254}" srcOrd="2" destOrd="0" presId="urn:microsoft.com/office/officeart/2009/3/layout/StepUpProcess"/>
    <dgm:cxn modelId="{E260DA00-3F75-4627-98D7-20DF5F175DBD}" type="presParOf" srcId="{60AD21C7-4B5C-4413-A597-F15C38C33DB0}" destId="{6A445D8F-28E5-4261-959B-DB4D59EA0181}" srcOrd="7" destOrd="0" presId="urn:microsoft.com/office/officeart/2009/3/layout/StepUpProcess"/>
    <dgm:cxn modelId="{49859829-0530-49F3-9422-FAE4BF859880}" type="presParOf" srcId="{6A445D8F-28E5-4261-959B-DB4D59EA0181}" destId="{4E158A39-9EEE-4B3E-B065-062933C7AB36}" srcOrd="0" destOrd="0" presId="urn:microsoft.com/office/officeart/2009/3/layout/StepUpProcess"/>
    <dgm:cxn modelId="{98D69B56-59E3-4026-9222-2E55C3000353}" type="presParOf" srcId="{60AD21C7-4B5C-4413-A597-F15C38C33DB0}" destId="{AA67E302-D635-4BAC-BCAD-D15C2B86EAC8}" srcOrd="8" destOrd="0" presId="urn:microsoft.com/office/officeart/2009/3/layout/StepUpProcess"/>
    <dgm:cxn modelId="{F82CD746-F0A3-461C-86C6-99040C8AD3C5}" type="presParOf" srcId="{AA67E302-D635-4BAC-BCAD-D15C2B86EAC8}" destId="{62200CB1-2DB7-4464-869E-E258D328C5A9}" srcOrd="0" destOrd="0" presId="urn:microsoft.com/office/officeart/2009/3/layout/StepUpProcess"/>
    <dgm:cxn modelId="{C6936B3D-EF1C-4D3D-91CA-B0BEBF602042}" type="presParOf" srcId="{AA67E302-D635-4BAC-BCAD-D15C2B86EAC8}" destId="{918A8383-AF36-47B6-ABAF-D9DCE2B1838E}" srcOrd="1" destOrd="0" presId="urn:microsoft.com/office/officeart/2009/3/layout/StepUp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71AC063B-1F8B-40DC-9B5E-CDD47ADBF745}" type="doc">
      <dgm:prSet loTypeId="urn:microsoft.com/office/officeart/2005/8/layout/hProcess7#1" loCatId="list" qsTypeId="urn:microsoft.com/office/officeart/2005/8/quickstyle/simple1" qsCatId="simple" csTypeId="urn:microsoft.com/office/officeart/2005/8/colors/colorful1#14" csCatId="colorful" phldr="1"/>
      <dgm:spPr/>
      <dgm:t>
        <a:bodyPr/>
        <a:lstStyle/>
        <a:p>
          <a:endParaRPr lang="en-US"/>
        </a:p>
      </dgm:t>
    </dgm:pt>
    <dgm:pt modelId="{7215ABDC-44DA-4CB7-B128-DE11F9FC6ADD}">
      <dgm:prSet/>
      <dgm:spPr/>
      <dgm:t>
        <a:bodyPr/>
        <a:lstStyle/>
        <a:p>
          <a:pPr rtl="0"/>
          <a:r>
            <a:rPr lang="fi-FI" dirty="0" smtClean="0"/>
            <a:t>Toimittajan testaukset</a:t>
          </a:r>
          <a:endParaRPr lang="en-US" dirty="0"/>
        </a:p>
      </dgm:t>
    </dgm:pt>
    <dgm:pt modelId="{C2176A83-39E3-4E10-BA96-033B2C149C3C}" type="parTrans" cxnId="{68DC0EDE-FDF8-4DA5-B1DD-90D0BB92CC6B}">
      <dgm:prSet/>
      <dgm:spPr/>
      <dgm:t>
        <a:bodyPr/>
        <a:lstStyle/>
        <a:p>
          <a:endParaRPr lang="en-US"/>
        </a:p>
      </dgm:t>
    </dgm:pt>
    <dgm:pt modelId="{CAEBC850-EB09-4792-8970-817B3FD37687}" type="sibTrans" cxnId="{68DC0EDE-FDF8-4DA5-B1DD-90D0BB92CC6B}">
      <dgm:prSet/>
      <dgm:spPr/>
      <dgm:t>
        <a:bodyPr/>
        <a:lstStyle/>
        <a:p>
          <a:endParaRPr lang="en-US"/>
        </a:p>
      </dgm:t>
    </dgm:pt>
    <dgm:pt modelId="{26C64614-AF1C-4412-81BC-FF66D9E744FF}">
      <dgm:prSet/>
      <dgm:spPr/>
      <dgm:t>
        <a:bodyPr/>
        <a:lstStyle/>
        <a:p>
          <a:pPr rtl="0"/>
          <a:r>
            <a:rPr lang="fi-FI" dirty="0" smtClean="0"/>
            <a:t>Toimittaja organisoi haluamallaan tavalla asiakkaan vaatimusten puitteissa</a:t>
          </a:r>
          <a:endParaRPr lang="en-US" dirty="0"/>
        </a:p>
      </dgm:t>
    </dgm:pt>
    <dgm:pt modelId="{1010040A-3348-4E0A-BA04-24CD765ED1C0}" type="parTrans" cxnId="{EF19A44C-F1F3-44BB-86B6-CC060E4C402E}">
      <dgm:prSet/>
      <dgm:spPr/>
      <dgm:t>
        <a:bodyPr/>
        <a:lstStyle/>
        <a:p>
          <a:endParaRPr lang="en-US"/>
        </a:p>
      </dgm:t>
    </dgm:pt>
    <dgm:pt modelId="{722CDDCB-8914-4704-9CBC-B2AC4F1F8750}" type="sibTrans" cxnId="{EF19A44C-F1F3-44BB-86B6-CC060E4C402E}">
      <dgm:prSet/>
      <dgm:spPr/>
      <dgm:t>
        <a:bodyPr/>
        <a:lstStyle/>
        <a:p>
          <a:endParaRPr lang="en-US"/>
        </a:p>
      </dgm:t>
    </dgm:pt>
    <dgm:pt modelId="{53483EDA-B9AE-4AB3-B398-92F9886BCEB2}">
      <dgm:prSet/>
      <dgm:spPr/>
      <dgm:t>
        <a:bodyPr/>
        <a:lstStyle/>
        <a:p>
          <a:pPr rtl="0"/>
          <a:r>
            <a:rPr lang="fi-FI" dirty="0" smtClean="0"/>
            <a:t>Toimittaja vastaa, pyrkimyksenä virheettömyys</a:t>
          </a:r>
          <a:endParaRPr lang="en-US" dirty="0"/>
        </a:p>
      </dgm:t>
    </dgm:pt>
    <dgm:pt modelId="{58777CFE-A1C6-4226-BBBD-0D46DE1D7C24}" type="parTrans" cxnId="{5DECAA11-E75E-4C58-9EBF-C49E5AE404A7}">
      <dgm:prSet/>
      <dgm:spPr/>
      <dgm:t>
        <a:bodyPr/>
        <a:lstStyle/>
        <a:p>
          <a:endParaRPr lang="en-US"/>
        </a:p>
      </dgm:t>
    </dgm:pt>
    <dgm:pt modelId="{9363F82B-05F9-480C-B925-D0677E8A726B}" type="sibTrans" cxnId="{5DECAA11-E75E-4C58-9EBF-C49E5AE404A7}">
      <dgm:prSet/>
      <dgm:spPr/>
      <dgm:t>
        <a:bodyPr/>
        <a:lstStyle/>
        <a:p>
          <a:endParaRPr lang="en-US"/>
        </a:p>
      </dgm:t>
    </dgm:pt>
    <dgm:pt modelId="{A280C288-3EC6-4295-BBBC-B606E902D9A8}">
      <dgm:prSet/>
      <dgm:spPr/>
      <dgm:t>
        <a:bodyPr/>
        <a:lstStyle/>
        <a:p>
          <a:pPr rtl="0"/>
          <a:r>
            <a:rPr lang="fi-FI" dirty="0" smtClean="0"/>
            <a:t>Virheettömyys ei ole sama kuin testattu – testaamaton voi olla virheetön! </a:t>
          </a:r>
          <a:endParaRPr lang="en-US" dirty="0"/>
        </a:p>
      </dgm:t>
    </dgm:pt>
    <dgm:pt modelId="{3EC9AF79-6CE7-400B-B0C7-18B58E6AF357}" type="parTrans" cxnId="{03F456D3-C2AE-4AE9-B647-3A86AAE3851F}">
      <dgm:prSet/>
      <dgm:spPr/>
      <dgm:t>
        <a:bodyPr/>
        <a:lstStyle/>
        <a:p>
          <a:endParaRPr lang="en-US"/>
        </a:p>
      </dgm:t>
    </dgm:pt>
    <dgm:pt modelId="{DAD7A0B1-342C-411B-B7F6-D58C346F63F9}" type="sibTrans" cxnId="{03F456D3-C2AE-4AE9-B647-3A86AAE3851F}">
      <dgm:prSet/>
      <dgm:spPr/>
      <dgm:t>
        <a:bodyPr/>
        <a:lstStyle/>
        <a:p>
          <a:endParaRPr lang="en-US"/>
        </a:p>
      </dgm:t>
    </dgm:pt>
    <dgm:pt modelId="{03A41B8D-57CD-42CA-843E-F2C378D2A8AA}">
      <dgm:prSet/>
      <dgm:spPr/>
      <dgm:t>
        <a:bodyPr/>
        <a:lstStyle/>
        <a:p>
          <a:pPr rtl="0"/>
          <a:r>
            <a:rPr lang="fi-FI" dirty="0" smtClean="0"/>
            <a:t>Luovutuskoe</a:t>
          </a:r>
          <a:endParaRPr lang="en-US" dirty="0"/>
        </a:p>
      </dgm:t>
    </dgm:pt>
    <dgm:pt modelId="{DABC19FA-A3B9-4644-B08C-6A9B3160DF40}" type="parTrans" cxnId="{52F65236-60C9-4A58-9301-B33A53B7468D}">
      <dgm:prSet/>
      <dgm:spPr/>
      <dgm:t>
        <a:bodyPr/>
        <a:lstStyle/>
        <a:p>
          <a:endParaRPr lang="en-US"/>
        </a:p>
      </dgm:t>
    </dgm:pt>
    <dgm:pt modelId="{E2322CD7-7417-456B-9983-081E9E6DE3EB}" type="sibTrans" cxnId="{52F65236-60C9-4A58-9301-B33A53B7468D}">
      <dgm:prSet/>
      <dgm:spPr/>
      <dgm:t>
        <a:bodyPr/>
        <a:lstStyle/>
        <a:p>
          <a:endParaRPr lang="en-US"/>
        </a:p>
      </dgm:t>
    </dgm:pt>
    <dgm:pt modelId="{780B6FD5-163C-467D-AEAE-BE42D044BFFC}">
      <dgm:prSet/>
      <dgm:spPr/>
      <dgm:t>
        <a:bodyPr/>
        <a:lstStyle/>
        <a:p>
          <a:pPr rtl="0"/>
          <a:r>
            <a:rPr lang="fi-FI" dirty="0" smtClean="0"/>
            <a:t>Toimittaja </a:t>
          </a:r>
          <a:r>
            <a:rPr lang="fi-FI" i="1" dirty="0" smtClean="0"/>
            <a:t>osoittaa </a:t>
          </a:r>
          <a:r>
            <a:rPr lang="fi-FI" dirty="0" smtClean="0"/>
            <a:t>virheettömyyden</a:t>
          </a:r>
          <a:endParaRPr lang="en-US" dirty="0"/>
        </a:p>
      </dgm:t>
    </dgm:pt>
    <dgm:pt modelId="{FF002DF7-E0A2-49E3-B7B7-8ADD45B49F4A}" type="parTrans" cxnId="{796144E4-B179-44EC-86CC-BC54335AAED1}">
      <dgm:prSet/>
      <dgm:spPr/>
      <dgm:t>
        <a:bodyPr/>
        <a:lstStyle/>
        <a:p>
          <a:endParaRPr lang="en-US"/>
        </a:p>
      </dgm:t>
    </dgm:pt>
    <dgm:pt modelId="{23992D68-0A23-464D-8316-30BDAC7EBEB5}" type="sibTrans" cxnId="{796144E4-B179-44EC-86CC-BC54335AAED1}">
      <dgm:prSet/>
      <dgm:spPr/>
      <dgm:t>
        <a:bodyPr/>
        <a:lstStyle/>
        <a:p>
          <a:endParaRPr lang="en-US"/>
        </a:p>
      </dgm:t>
    </dgm:pt>
    <dgm:pt modelId="{6ABBEB04-5929-455C-8445-61A6ABE9D743}">
      <dgm:prSet/>
      <dgm:spPr/>
      <dgm:t>
        <a:bodyPr/>
        <a:lstStyle/>
        <a:p>
          <a:pPr rtl="0"/>
          <a:r>
            <a:rPr lang="fi-FI" dirty="0" smtClean="0"/>
            <a:t>Toimitettu sovittu järjestelmä + sovittu dokumentaatio hyväksyntää varten sovituin palveluin (esim. testaustoimenpiteet)</a:t>
          </a:r>
        </a:p>
      </dgm:t>
    </dgm:pt>
    <dgm:pt modelId="{D63E4410-82EA-4C18-9D03-BC9F61292E1B}" type="parTrans" cxnId="{5E018038-3713-43DB-9427-E58FE017D401}">
      <dgm:prSet/>
      <dgm:spPr/>
      <dgm:t>
        <a:bodyPr/>
        <a:lstStyle/>
        <a:p>
          <a:endParaRPr lang="en-US"/>
        </a:p>
      </dgm:t>
    </dgm:pt>
    <dgm:pt modelId="{CA2AF2D1-1B96-486F-8E19-6C31B0CC34C7}" type="sibTrans" cxnId="{5E018038-3713-43DB-9427-E58FE017D401}">
      <dgm:prSet/>
      <dgm:spPr/>
      <dgm:t>
        <a:bodyPr/>
        <a:lstStyle/>
        <a:p>
          <a:endParaRPr lang="en-US"/>
        </a:p>
      </dgm:t>
    </dgm:pt>
    <dgm:pt modelId="{D1EAD4AD-A47B-44AB-821F-6988E2B78FCB}">
      <dgm:prSet/>
      <dgm:spPr/>
      <dgm:t>
        <a:bodyPr/>
        <a:lstStyle/>
        <a:p>
          <a:pPr rtl="0"/>
          <a:r>
            <a:rPr lang="fi-FI" dirty="0" smtClean="0"/>
            <a:t>Hyväksymistestaus</a:t>
          </a:r>
          <a:endParaRPr lang="en-US" dirty="0"/>
        </a:p>
      </dgm:t>
    </dgm:pt>
    <dgm:pt modelId="{746D1857-F7D8-4E45-8899-E77184B360AD}" type="parTrans" cxnId="{07841F38-72ED-474D-8D55-5D932BD2D101}">
      <dgm:prSet/>
      <dgm:spPr/>
      <dgm:t>
        <a:bodyPr/>
        <a:lstStyle/>
        <a:p>
          <a:endParaRPr lang="en-US"/>
        </a:p>
      </dgm:t>
    </dgm:pt>
    <dgm:pt modelId="{DCD36050-AAA6-455B-AEA8-D7FE0B93EA9B}" type="sibTrans" cxnId="{07841F38-72ED-474D-8D55-5D932BD2D101}">
      <dgm:prSet/>
      <dgm:spPr/>
      <dgm:t>
        <a:bodyPr/>
        <a:lstStyle/>
        <a:p>
          <a:endParaRPr lang="en-US"/>
        </a:p>
      </dgm:t>
    </dgm:pt>
    <dgm:pt modelId="{A10A9771-CB30-4239-B2DA-562C8CB1E6F8}">
      <dgm:prSet/>
      <dgm:spPr/>
      <dgm:t>
        <a:bodyPr/>
        <a:lstStyle/>
        <a:p>
          <a:pPr rtl="0"/>
          <a:r>
            <a:rPr lang="fi-FI" dirty="0" smtClean="0"/>
            <a:t>Asiakas arvioi toimittajan kykyä toimittaa virheetön kokonaisuus testaamalla omassa ohjauksessaan omilla menetelmillään</a:t>
          </a:r>
        </a:p>
      </dgm:t>
    </dgm:pt>
    <dgm:pt modelId="{BE56B5F9-971B-4FC8-82F5-9F7D96618B5D}" type="parTrans" cxnId="{27009098-55D9-4628-805E-D16C185B37F9}">
      <dgm:prSet/>
      <dgm:spPr/>
      <dgm:t>
        <a:bodyPr/>
        <a:lstStyle/>
        <a:p>
          <a:endParaRPr lang="en-US"/>
        </a:p>
      </dgm:t>
    </dgm:pt>
    <dgm:pt modelId="{0286D0FB-5DAC-46C7-B763-FCE6BCF43127}" type="sibTrans" cxnId="{27009098-55D9-4628-805E-D16C185B37F9}">
      <dgm:prSet/>
      <dgm:spPr/>
      <dgm:t>
        <a:bodyPr/>
        <a:lstStyle/>
        <a:p>
          <a:endParaRPr lang="en-US"/>
        </a:p>
      </dgm:t>
    </dgm:pt>
    <dgm:pt modelId="{9D13BC1C-16EE-4BE6-A2AA-15A6D511C856}">
      <dgm:prSet/>
      <dgm:spPr/>
      <dgm:t>
        <a:bodyPr/>
        <a:lstStyle/>
        <a:p>
          <a:pPr rtl="0"/>
          <a:r>
            <a:rPr lang="fi-FI" dirty="0" smtClean="0"/>
            <a:t>Virheetön järjestelmä + virheetön palvelu</a:t>
          </a:r>
          <a:endParaRPr lang="en-US" dirty="0"/>
        </a:p>
      </dgm:t>
    </dgm:pt>
    <dgm:pt modelId="{701588EA-D959-4468-9FCC-63D284125159}" type="parTrans" cxnId="{1766687B-5476-41C2-BC1A-43CDD48BF9CB}">
      <dgm:prSet/>
      <dgm:spPr/>
      <dgm:t>
        <a:bodyPr/>
        <a:lstStyle/>
        <a:p>
          <a:endParaRPr lang="fi-FI"/>
        </a:p>
      </dgm:t>
    </dgm:pt>
    <dgm:pt modelId="{2E08C3AC-6B5C-411A-A873-94D7606F902A}" type="sibTrans" cxnId="{1766687B-5476-41C2-BC1A-43CDD48BF9CB}">
      <dgm:prSet/>
      <dgm:spPr/>
      <dgm:t>
        <a:bodyPr/>
        <a:lstStyle/>
        <a:p>
          <a:endParaRPr lang="fi-FI"/>
        </a:p>
      </dgm:t>
    </dgm:pt>
    <dgm:pt modelId="{D74510CA-4434-4F6C-AE2C-D9F8F2BF36AA}" type="pres">
      <dgm:prSet presAssocID="{71AC063B-1F8B-40DC-9B5E-CDD47ADBF745}" presName="Name0" presStyleCnt="0">
        <dgm:presLayoutVars>
          <dgm:dir/>
          <dgm:animLvl val="lvl"/>
          <dgm:resizeHandles val="exact"/>
        </dgm:presLayoutVars>
      </dgm:prSet>
      <dgm:spPr/>
      <dgm:t>
        <a:bodyPr/>
        <a:lstStyle/>
        <a:p>
          <a:endParaRPr lang="en-US"/>
        </a:p>
      </dgm:t>
    </dgm:pt>
    <dgm:pt modelId="{3726C808-F18A-4E1F-A46D-64BDA9884B70}" type="pres">
      <dgm:prSet presAssocID="{7215ABDC-44DA-4CB7-B128-DE11F9FC6ADD}" presName="compositeNode" presStyleCnt="0">
        <dgm:presLayoutVars>
          <dgm:bulletEnabled val="1"/>
        </dgm:presLayoutVars>
      </dgm:prSet>
      <dgm:spPr/>
    </dgm:pt>
    <dgm:pt modelId="{DACE89EC-84FA-4891-B998-52BC3D37F95A}" type="pres">
      <dgm:prSet presAssocID="{7215ABDC-44DA-4CB7-B128-DE11F9FC6ADD}" presName="bgRect" presStyleLbl="node1" presStyleIdx="0" presStyleCnt="3"/>
      <dgm:spPr/>
      <dgm:t>
        <a:bodyPr/>
        <a:lstStyle/>
        <a:p>
          <a:endParaRPr lang="en-US"/>
        </a:p>
      </dgm:t>
    </dgm:pt>
    <dgm:pt modelId="{B0A40720-9172-4B3D-8678-70153859155E}" type="pres">
      <dgm:prSet presAssocID="{7215ABDC-44DA-4CB7-B128-DE11F9FC6ADD}" presName="parentNode" presStyleLbl="node1" presStyleIdx="0" presStyleCnt="3">
        <dgm:presLayoutVars>
          <dgm:chMax val="0"/>
          <dgm:bulletEnabled val="1"/>
        </dgm:presLayoutVars>
      </dgm:prSet>
      <dgm:spPr/>
      <dgm:t>
        <a:bodyPr/>
        <a:lstStyle/>
        <a:p>
          <a:endParaRPr lang="en-US"/>
        </a:p>
      </dgm:t>
    </dgm:pt>
    <dgm:pt modelId="{CB46B105-2818-441B-84E5-80AFE4EDBFE5}" type="pres">
      <dgm:prSet presAssocID="{7215ABDC-44DA-4CB7-B128-DE11F9FC6ADD}" presName="childNode" presStyleLbl="node1" presStyleIdx="0" presStyleCnt="3">
        <dgm:presLayoutVars>
          <dgm:bulletEnabled val="1"/>
        </dgm:presLayoutVars>
      </dgm:prSet>
      <dgm:spPr/>
      <dgm:t>
        <a:bodyPr/>
        <a:lstStyle/>
        <a:p>
          <a:endParaRPr lang="en-US"/>
        </a:p>
      </dgm:t>
    </dgm:pt>
    <dgm:pt modelId="{E1815FD0-A624-4E5B-B469-616E740EB967}" type="pres">
      <dgm:prSet presAssocID="{CAEBC850-EB09-4792-8970-817B3FD37687}" presName="hSp" presStyleCnt="0"/>
      <dgm:spPr/>
    </dgm:pt>
    <dgm:pt modelId="{C9ABE2D8-F846-4D54-84EA-2E40F9AF9734}" type="pres">
      <dgm:prSet presAssocID="{CAEBC850-EB09-4792-8970-817B3FD37687}" presName="vProcSp" presStyleCnt="0"/>
      <dgm:spPr/>
    </dgm:pt>
    <dgm:pt modelId="{9B33459D-A366-4BF4-B269-D9CB55D5024E}" type="pres">
      <dgm:prSet presAssocID="{CAEBC850-EB09-4792-8970-817B3FD37687}" presName="vSp1" presStyleCnt="0"/>
      <dgm:spPr/>
    </dgm:pt>
    <dgm:pt modelId="{D5037477-BEB2-4ECC-B9C1-B06EDFB4C17E}" type="pres">
      <dgm:prSet presAssocID="{CAEBC850-EB09-4792-8970-817B3FD37687}" presName="simulatedConn" presStyleLbl="solidFgAcc1" presStyleIdx="0" presStyleCnt="2"/>
      <dgm:spPr/>
    </dgm:pt>
    <dgm:pt modelId="{0AF0848C-6CBF-4AD0-9086-76FB0DC126BF}" type="pres">
      <dgm:prSet presAssocID="{CAEBC850-EB09-4792-8970-817B3FD37687}" presName="vSp2" presStyleCnt="0"/>
      <dgm:spPr/>
    </dgm:pt>
    <dgm:pt modelId="{7CBEA657-E89C-4AFE-97E1-F66EE3BC7C55}" type="pres">
      <dgm:prSet presAssocID="{CAEBC850-EB09-4792-8970-817B3FD37687}" presName="sibTrans" presStyleCnt="0"/>
      <dgm:spPr/>
    </dgm:pt>
    <dgm:pt modelId="{5788F4FB-4584-4460-BC11-F79161A9D7EE}" type="pres">
      <dgm:prSet presAssocID="{03A41B8D-57CD-42CA-843E-F2C378D2A8AA}" presName="compositeNode" presStyleCnt="0">
        <dgm:presLayoutVars>
          <dgm:bulletEnabled val="1"/>
        </dgm:presLayoutVars>
      </dgm:prSet>
      <dgm:spPr/>
    </dgm:pt>
    <dgm:pt modelId="{B98D4052-D875-4C91-AECF-876A5F2E64BB}" type="pres">
      <dgm:prSet presAssocID="{03A41B8D-57CD-42CA-843E-F2C378D2A8AA}" presName="bgRect" presStyleLbl="node1" presStyleIdx="1" presStyleCnt="3"/>
      <dgm:spPr/>
      <dgm:t>
        <a:bodyPr/>
        <a:lstStyle/>
        <a:p>
          <a:endParaRPr lang="en-US"/>
        </a:p>
      </dgm:t>
    </dgm:pt>
    <dgm:pt modelId="{6260A32E-DAA5-49D3-B896-C71D73FCA253}" type="pres">
      <dgm:prSet presAssocID="{03A41B8D-57CD-42CA-843E-F2C378D2A8AA}" presName="parentNode" presStyleLbl="node1" presStyleIdx="1" presStyleCnt="3">
        <dgm:presLayoutVars>
          <dgm:chMax val="0"/>
          <dgm:bulletEnabled val="1"/>
        </dgm:presLayoutVars>
      </dgm:prSet>
      <dgm:spPr/>
      <dgm:t>
        <a:bodyPr/>
        <a:lstStyle/>
        <a:p>
          <a:endParaRPr lang="en-US"/>
        </a:p>
      </dgm:t>
    </dgm:pt>
    <dgm:pt modelId="{951B8A78-1562-4534-AB4B-864F9D73E248}" type="pres">
      <dgm:prSet presAssocID="{03A41B8D-57CD-42CA-843E-F2C378D2A8AA}" presName="childNode" presStyleLbl="node1" presStyleIdx="1" presStyleCnt="3">
        <dgm:presLayoutVars>
          <dgm:bulletEnabled val="1"/>
        </dgm:presLayoutVars>
      </dgm:prSet>
      <dgm:spPr/>
      <dgm:t>
        <a:bodyPr/>
        <a:lstStyle/>
        <a:p>
          <a:endParaRPr lang="en-US"/>
        </a:p>
      </dgm:t>
    </dgm:pt>
    <dgm:pt modelId="{FA8AB69E-37DA-4A84-8139-09F55E900902}" type="pres">
      <dgm:prSet presAssocID="{E2322CD7-7417-456B-9983-081E9E6DE3EB}" presName="hSp" presStyleCnt="0"/>
      <dgm:spPr/>
    </dgm:pt>
    <dgm:pt modelId="{625EBBF8-F6B7-4BC0-B147-9BCB19BE0C68}" type="pres">
      <dgm:prSet presAssocID="{E2322CD7-7417-456B-9983-081E9E6DE3EB}" presName="vProcSp" presStyleCnt="0"/>
      <dgm:spPr/>
    </dgm:pt>
    <dgm:pt modelId="{4B7F47D6-666C-4703-A599-E931B4323A75}" type="pres">
      <dgm:prSet presAssocID="{E2322CD7-7417-456B-9983-081E9E6DE3EB}" presName="vSp1" presStyleCnt="0"/>
      <dgm:spPr/>
    </dgm:pt>
    <dgm:pt modelId="{F4CBB3C7-98CA-420D-B419-8ACD7132BB53}" type="pres">
      <dgm:prSet presAssocID="{E2322CD7-7417-456B-9983-081E9E6DE3EB}" presName="simulatedConn" presStyleLbl="solidFgAcc1" presStyleIdx="1" presStyleCnt="2"/>
      <dgm:spPr/>
    </dgm:pt>
    <dgm:pt modelId="{F94F22EC-7FA5-43FC-9E3E-B31B849EFAC6}" type="pres">
      <dgm:prSet presAssocID="{E2322CD7-7417-456B-9983-081E9E6DE3EB}" presName="vSp2" presStyleCnt="0"/>
      <dgm:spPr/>
    </dgm:pt>
    <dgm:pt modelId="{74B4A82B-6967-4078-ABB3-503360B89C4E}" type="pres">
      <dgm:prSet presAssocID="{E2322CD7-7417-456B-9983-081E9E6DE3EB}" presName="sibTrans" presStyleCnt="0"/>
      <dgm:spPr/>
    </dgm:pt>
    <dgm:pt modelId="{CC3C8797-704B-4DDB-B44E-28EA53FA186E}" type="pres">
      <dgm:prSet presAssocID="{D1EAD4AD-A47B-44AB-821F-6988E2B78FCB}" presName="compositeNode" presStyleCnt="0">
        <dgm:presLayoutVars>
          <dgm:bulletEnabled val="1"/>
        </dgm:presLayoutVars>
      </dgm:prSet>
      <dgm:spPr/>
    </dgm:pt>
    <dgm:pt modelId="{1E82EA6E-EEB0-4F92-937B-08550FC2CA29}" type="pres">
      <dgm:prSet presAssocID="{D1EAD4AD-A47B-44AB-821F-6988E2B78FCB}" presName="bgRect" presStyleLbl="node1" presStyleIdx="2" presStyleCnt="3"/>
      <dgm:spPr/>
      <dgm:t>
        <a:bodyPr/>
        <a:lstStyle/>
        <a:p>
          <a:endParaRPr lang="en-US"/>
        </a:p>
      </dgm:t>
    </dgm:pt>
    <dgm:pt modelId="{4BD788C7-E194-46CB-B00A-C0987A16541C}" type="pres">
      <dgm:prSet presAssocID="{D1EAD4AD-A47B-44AB-821F-6988E2B78FCB}" presName="parentNode" presStyleLbl="node1" presStyleIdx="2" presStyleCnt="3">
        <dgm:presLayoutVars>
          <dgm:chMax val="0"/>
          <dgm:bulletEnabled val="1"/>
        </dgm:presLayoutVars>
      </dgm:prSet>
      <dgm:spPr/>
      <dgm:t>
        <a:bodyPr/>
        <a:lstStyle/>
        <a:p>
          <a:endParaRPr lang="en-US"/>
        </a:p>
      </dgm:t>
    </dgm:pt>
    <dgm:pt modelId="{F4B2232F-B079-46FF-BB4D-E845F0E9E58B}" type="pres">
      <dgm:prSet presAssocID="{D1EAD4AD-A47B-44AB-821F-6988E2B78FCB}" presName="childNode" presStyleLbl="node1" presStyleIdx="2" presStyleCnt="3">
        <dgm:presLayoutVars>
          <dgm:bulletEnabled val="1"/>
        </dgm:presLayoutVars>
      </dgm:prSet>
      <dgm:spPr/>
      <dgm:t>
        <a:bodyPr/>
        <a:lstStyle/>
        <a:p>
          <a:endParaRPr lang="en-US"/>
        </a:p>
      </dgm:t>
    </dgm:pt>
  </dgm:ptLst>
  <dgm:cxnLst>
    <dgm:cxn modelId="{54F1D0E7-806B-4067-8DD3-1BFC686C8CD2}" type="presOf" srcId="{7215ABDC-44DA-4CB7-B128-DE11F9FC6ADD}" destId="{DACE89EC-84FA-4891-B998-52BC3D37F95A}" srcOrd="0" destOrd="0" presId="urn:microsoft.com/office/officeart/2005/8/layout/hProcess7#1"/>
    <dgm:cxn modelId="{7F3FAF2E-E0D1-48B8-9DDF-D7DA42F0D2C3}" type="presOf" srcId="{26C64614-AF1C-4412-81BC-FF66D9E744FF}" destId="{CB46B105-2818-441B-84E5-80AFE4EDBFE5}" srcOrd="0" destOrd="0" presId="urn:microsoft.com/office/officeart/2005/8/layout/hProcess7#1"/>
    <dgm:cxn modelId="{D37C1E5D-373A-446A-900E-FE344FAFE96D}" type="presOf" srcId="{03A41B8D-57CD-42CA-843E-F2C378D2A8AA}" destId="{B98D4052-D875-4C91-AECF-876A5F2E64BB}" srcOrd="0" destOrd="0" presId="urn:microsoft.com/office/officeart/2005/8/layout/hProcess7#1"/>
    <dgm:cxn modelId="{5DECAA11-E75E-4C58-9EBF-C49E5AE404A7}" srcId="{7215ABDC-44DA-4CB7-B128-DE11F9FC6ADD}" destId="{53483EDA-B9AE-4AB3-B398-92F9886BCEB2}" srcOrd="1" destOrd="0" parTransId="{58777CFE-A1C6-4226-BBBD-0D46DE1D7C24}" sibTransId="{9363F82B-05F9-480C-B925-D0677E8A726B}"/>
    <dgm:cxn modelId="{5E018038-3713-43DB-9427-E58FE017D401}" srcId="{03A41B8D-57CD-42CA-843E-F2C378D2A8AA}" destId="{6ABBEB04-5929-455C-8445-61A6ABE9D743}" srcOrd="1" destOrd="0" parTransId="{D63E4410-82EA-4C18-9D03-BC9F61292E1B}" sibTransId="{CA2AF2D1-1B96-486F-8E19-6C31B0CC34C7}"/>
    <dgm:cxn modelId="{494C5423-616B-4DE6-9B1F-B88B689466A9}" type="presOf" srcId="{A280C288-3EC6-4295-BBBC-B606E902D9A8}" destId="{CB46B105-2818-441B-84E5-80AFE4EDBFE5}" srcOrd="0" destOrd="2" presId="urn:microsoft.com/office/officeart/2005/8/layout/hProcess7#1"/>
    <dgm:cxn modelId="{27009098-55D9-4628-805E-D16C185B37F9}" srcId="{D1EAD4AD-A47B-44AB-821F-6988E2B78FCB}" destId="{A10A9771-CB30-4239-B2DA-562C8CB1E6F8}" srcOrd="0" destOrd="0" parTransId="{BE56B5F9-971B-4FC8-82F5-9F7D96618B5D}" sibTransId="{0286D0FB-5DAC-46C7-B763-FCE6BCF43127}"/>
    <dgm:cxn modelId="{0EA05EDC-640C-4AA7-B438-E086C0CD1DD5}" type="presOf" srcId="{D1EAD4AD-A47B-44AB-821F-6988E2B78FCB}" destId="{1E82EA6E-EEB0-4F92-937B-08550FC2CA29}" srcOrd="0" destOrd="0" presId="urn:microsoft.com/office/officeart/2005/8/layout/hProcess7#1"/>
    <dgm:cxn modelId="{0DED8DE3-08AC-4A95-80A7-BCADFE43122F}" type="presOf" srcId="{9D13BC1C-16EE-4BE6-A2AA-15A6D511C856}" destId="{951B8A78-1562-4534-AB4B-864F9D73E248}" srcOrd="0" destOrd="1" presId="urn:microsoft.com/office/officeart/2005/8/layout/hProcess7#1"/>
    <dgm:cxn modelId="{33EF924F-0442-4D81-8D8F-08D1A590A55F}" type="presOf" srcId="{03A41B8D-57CD-42CA-843E-F2C378D2A8AA}" destId="{6260A32E-DAA5-49D3-B896-C71D73FCA253}" srcOrd="1" destOrd="0" presId="urn:microsoft.com/office/officeart/2005/8/layout/hProcess7#1"/>
    <dgm:cxn modelId="{796144E4-B179-44EC-86CC-BC54335AAED1}" srcId="{03A41B8D-57CD-42CA-843E-F2C378D2A8AA}" destId="{780B6FD5-163C-467D-AEAE-BE42D044BFFC}" srcOrd="0" destOrd="0" parTransId="{FF002DF7-E0A2-49E3-B7B7-8ADD45B49F4A}" sibTransId="{23992D68-0A23-464D-8316-30BDAC7EBEB5}"/>
    <dgm:cxn modelId="{4C5646A4-4D47-4CBD-B62F-84D03E32830A}" type="presOf" srcId="{53483EDA-B9AE-4AB3-B398-92F9886BCEB2}" destId="{CB46B105-2818-441B-84E5-80AFE4EDBFE5}" srcOrd="0" destOrd="1" presId="urn:microsoft.com/office/officeart/2005/8/layout/hProcess7#1"/>
    <dgm:cxn modelId="{D3D8C2AE-44E3-492C-A3C4-99671B80A9D6}" type="presOf" srcId="{A10A9771-CB30-4239-B2DA-562C8CB1E6F8}" destId="{F4B2232F-B079-46FF-BB4D-E845F0E9E58B}" srcOrd="0" destOrd="0" presId="urn:microsoft.com/office/officeart/2005/8/layout/hProcess7#1"/>
    <dgm:cxn modelId="{027F6826-5B47-460D-9965-7C5584450CCF}" type="presOf" srcId="{7215ABDC-44DA-4CB7-B128-DE11F9FC6ADD}" destId="{B0A40720-9172-4B3D-8678-70153859155E}" srcOrd="1" destOrd="0" presId="urn:microsoft.com/office/officeart/2005/8/layout/hProcess7#1"/>
    <dgm:cxn modelId="{98886683-3C36-4CA2-85EE-9C65A56DFDAC}" type="presOf" srcId="{71AC063B-1F8B-40DC-9B5E-CDD47ADBF745}" destId="{D74510CA-4434-4F6C-AE2C-D9F8F2BF36AA}" srcOrd="0" destOrd="0" presId="urn:microsoft.com/office/officeart/2005/8/layout/hProcess7#1"/>
    <dgm:cxn modelId="{3C3F867A-273A-4E9F-B56F-4AB58772C50A}" type="presOf" srcId="{D1EAD4AD-A47B-44AB-821F-6988E2B78FCB}" destId="{4BD788C7-E194-46CB-B00A-C0987A16541C}" srcOrd="1" destOrd="0" presId="urn:microsoft.com/office/officeart/2005/8/layout/hProcess7#1"/>
    <dgm:cxn modelId="{EF19A44C-F1F3-44BB-86B6-CC060E4C402E}" srcId="{7215ABDC-44DA-4CB7-B128-DE11F9FC6ADD}" destId="{26C64614-AF1C-4412-81BC-FF66D9E744FF}" srcOrd="0" destOrd="0" parTransId="{1010040A-3348-4E0A-BA04-24CD765ED1C0}" sibTransId="{722CDDCB-8914-4704-9CBC-B2AC4F1F8750}"/>
    <dgm:cxn modelId="{4C316DBA-587C-4E4B-87FC-9C94C0608984}" type="presOf" srcId="{780B6FD5-163C-467D-AEAE-BE42D044BFFC}" destId="{951B8A78-1562-4534-AB4B-864F9D73E248}" srcOrd="0" destOrd="0" presId="urn:microsoft.com/office/officeart/2005/8/layout/hProcess7#1"/>
    <dgm:cxn modelId="{52F65236-60C9-4A58-9301-B33A53B7468D}" srcId="{71AC063B-1F8B-40DC-9B5E-CDD47ADBF745}" destId="{03A41B8D-57CD-42CA-843E-F2C378D2A8AA}" srcOrd="1" destOrd="0" parTransId="{DABC19FA-A3B9-4644-B08C-6A9B3160DF40}" sibTransId="{E2322CD7-7417-456B-9983-081E9E6DE3EB}"/>
    <dgm:cxn modelId="{03F456D3-C2AE-4AE9-B647-3A86AAE3851F}" srcId="{7215ABDC-44DA-4CB7-B128-DE11F9FC6ADD}" destId="{A280C288-3EC6-4295-BBBC-B606E902D9A8}" srcOrd="2" destOrd="0" parTransId="{3EC9AF79-6CE7-400B-B0C7-18B58E6AF357}" sibTransId="{DAD7A0B1-342C-411B-B7F6-D58C346F63F9}"/>
    <dgm:cxn modelId="{1766687B-5476-41C2-BC1A-43CDD48BF9CB}" srcId="{780B6FD5-163C-467D-AEAE-BE42D044BFFC}" destId="{9D13BC1C-16EE-4BE6-A2AA-15A6D511C856}" srcOrd="0" destOrd="0" parTransId="{701588EA-D959-4468-9FCC-63D284125159}" sibTransId="{2E08C3AC-6B5C-411A-A873-94D7606F902A}"/>
    <dgm:cxn modelId="{68DC0EDE-FDF8-4DA5-B1DD-90D0BB92CC6B}" srcId="{71AC063B-1F8B-40DC-9B5E-CDD47ADBF745}" destId="{7215ABDC-44DA-4CB7-B128-DE11F9FC6ADD}" srcOrd="0" destOrd="0" parTransId="{C2176A83-39E3-4E10-BA96-033B2C149C3C}" sibTransId="{CAEBC850-EB09-4792-8970-817B3FD37687}"/>
    <dgm:cxn modelId="{07841F38-72ED-474D-8D55-5D932BD2D101}" srcId="{71AC063B-1F8B-40DC-9B5E-CDD47ADBF745}" destId="{D1EAD4AD-A47B-44AB-821F-6988E2B78FCB}" srcOrd="2" destOrd="0" parTransId="{746D1857-F7D8-4E45-8899-E77184B360AD}" sibTransId="{DCD36050-AAA6-455B-AEA8-D7FE0B93EA9B}"/>
    <dgm:cxn modelId="{6189836C-E9F8-4420-898A-29E92941138B}" type="presOf" srcId="{6ABBEB04-5929-455C-8445-61A6ABE9D743}" destId="{951B8A78-1562-4534-AB4B-864F9D73E248}" srcOrd="0" destOrd="2" presId="urn:microsoft.com/office/officeart/2005/8/layout/hProcess7#1"/>
    <dgm:cxn modelId="{0009FA8B-B13A-45D0-8338-F78A14AB28E2}" type="presParOf" srcId="{D74510CA-4434-4F6C-AE2C-D9F8F2BF36AA}" destId="{3726C808-F18A-4E1F-A46D-64BDA9884B70}" srcOrd="0" destOrd="0" presId="urn:microsoft.com/office/officeart/2005/8/layout/hProcess7#1"/>
    <dgm:cxn modelId="{674CC328-605F-4A96-800C-3167A814834C}" type="presParOf" srcId="{3726C808-F18A-4E1F-A46D-64BDA9884B70}" destId="{DACE89EC-84FA-4891-B998-52BC3D37F95A}" srcOrd="0" destOrd="0" presId="urn:microsoft.com/office/officeart/2005/8/layout/hProcess7#1"/>
    <dgm:cxn modelId="{0CC58891-8995-4520-8273-FAC91AD5AEF0}" type="presParOf" srcId="{3726C808-F18A-4E1F-A46D-64BDA9884B70}" destId="{B0A40720-9172-4B3D-8678-70153859155E}" srcOrd="1" destOrd="0" presId="urn:microsoft.com/office/officeart/2005/8/layout/hProcess7#1"/>
    <dgm:cxn modelId="{6B6FB871-29E2-48C3-AC16-1EE9F85DA4D4}" type="presParOf" srcId="{3726C808-F18A-4E1F-A46D-64BDA9884B70}" destId="{CB46B105-2818-441B-84E5-80AFE4EDBFE5}" srcOrd="2" destOrd="0" presId="urn:microsoft.com/office/officeart/2005/8/layout/hProcess7#1"/>
    <dgm:cxn modelId="{D0ED6EC9-338E-4984-93C4-0E768A1F8561}" type="presParOf" srcId="{D74510CA-4434-4F6C-AE2C-D9F8F2BF36AA}" destId="{E1815FD0-A624-4E5B-B469-616E740EB967}" srcOrd="1" destOrd="0" presId="urn:microsoft.com/office/officeart/2005/8/layout/hProcess7#1"/>
    <dgm:cxn modelId="{3062B546-A8D1-4B3D-B18E-83B777A8DB16}" type="presParOf" srcId="{D74510CA-4434-4F6C-AE2C-D9F8F2BF36AA}" destId="{C9ABE2D8-F846-4D54-84EA-2E40F9AF9734}" srcOrd="2" destOrd="0" presId="urn:microsoft.com/office/officeart/2005/8/layout/hProcess7#1"/>
    <dgm:cxn modelId="{2EC3E047-0CB7-455B-9411-E7D3A53EC262}" type="presParOf" srcId="{C9ABE2D8-F846-4D54-84EA-2E40F9AF9734}" destId="{9B33459D-A366-4BF4-B269-D9CB55D5024E}" srcOrd="0" destOrd="0" presId="urn:microsoft.com/office/officeart/2005/8/layout/hProcess7#1"/>
    <dgm:cxn modelId="{E5379FEE-EB4E-49AA-B574-D812117537E9}" type="presParOf" srcId="{C9ABE2D8-F846-4D54-84EA-2E40F9AF9734}" destId="{D5037477-BEB2-4ECC-B9C1-B06EDFB4C17E}" srcOrd="1" destOrd="0" presId="urn:microsoft.com/office/officeart/2005/8/layout/hProcess7#1"/>
    <dgm:cxn modelId="{79F28E90-8F34-4128-8907-396B7FFE9A3A}" type="presParOf" srcId="{C9ABE2D8-F846-4D54-84EA-2E40F9AF9734}" destId="{0AF0848C-6CBF-4AD0-9086-76FB0DC126BF}" srcOrd="2" destOrd="0" presId="urn:microsoft.com/office/officeart/2005/8/layout/hProcess7#1"/>
    <dgm:cxn modelId="{519193BB-842E-497B-9CE5-78CB041F20D0}" type="presParOf" srcId="{D74510CA-4434-4F6C-AE2C-D9F8F2BF36AA}" destId="{7CBEA657-E89C-4AFE-97E1-F66EE3BC7C55}" srcOrd="3" destOrd="0" presId="urn:microsoft.com/office/officeart/2005/8/layout/hProcess7#1"/>
    <dgm:cxn modelId="{CE3422BA-DECE-46CC-9C4A-F860B8073170}" type="presParOf" srcId="{D74510CA-4434-4F6C-AE2C-D9F8F2BF36AA}" destId="{5788F4FB-4584-4460-BC11-F79161A9D7EE}" srcOrd="4" destOrd="0" presId="urn:microsoft.com/office/officeart/2005/8/layout/hProcess7#1"/>
    <dgm:cxn modelId="{C442B87D-F94F-44A1-B7D1-CDB746F88EE9}" type="presParOf" srcId="{5788F4FB-4584-4460-BC11-F79161A9D7EE}" destId="{B98D4052-D875-4C91-AECF-876A5F2E64BB}" srcOrd="0" destOrd="0" presId="urn:microsoft.com/office/officeart/2005/8/layout/hProcess7#1"/>
    <dgm:cxn modelId="{F24E2A63-F71E-4858-A667-538C6BB0ACE7}" type="presParOf" srcId="{5788F4FB-4584-4460-BC11-F79161A9D7EE}" destId="{6260A32E-DAA5-49D3-B896-C71D73FCA253}" srcOrd="1" destOrd="0" presId="urn:microsoft.com/office/officeart/2005/8/layout/hProcess7#1"/>
    <dgm:cxn modelId="{96DCFB63-FE30-48A1-ACF1-9CABBB4690A8}" type="presParOf" srcId="{5788F4FB-4584-4460-BC11-F79161A9D7EE}" destId="{951B8A78-1562-4534-AB4B-864F9D73E248}" srcOrd="2" destOrd="0" presId="urn:microsoft.com/office/officeart/2005/8/layout/hProcess7#1"/>
    <dgm:cxn modelId="{A1A9F9B5-2907-4FA8-B01B-A961D51DA147}" type="presParOf" srcId="{D74510CA-4434-4F6C-AE2C-D9F8F2BF36AA}" destId="{FA8AB69E-37DA-4A84-8139-09F55E900902}" srcOrd="5" destOrd="0" presId="urn:microsoft.com/office/officeart/2005/8/layout/hProcess7#1"/>
    <dgm:cxn modelId="{F003CD60-A6CB-4377-AF8B-504B63B2736C}" type="presParOf" srcId="{D74510CA-4434-4F6C-AE2C-D9F8F2BF36AA}" destId="{625EBBF8-F6B7-4BC0-B147-9BCB19BE0C68}" srcOrd="6" destOrd="0" presId="urn:microsoft.com/office/officeart/2005/8/layout/hProcess7#1"/>
    <dgm:cxn modelId="{950F57FC-E27B-42E6-8513-ECBF54556D9E}" type="presParOf" srcId="{625EBBF8-F6B7-4BC0-B147-9BCB19BE0C68}" destId="{4B7F47D6-666C-4703-A599-E931B4323A75}" srcOrd="0" destOrd="0" presId="urn:microsoft.com/office/officeart/2005/8/layout/hProcess7#1"/>
    <dgm:cxn modelId="{43D8E5E8-9AE2-4C26-B081-D3F54955826D}" type="presParOf" srcId="{625EBBF8-F6B7-4BC0-B147-9BCB19BE0C68}" destId="{F4CBB3C7-98CA-420D-B419-8ACD7132BB53}" srcOrd="1" destOrd="0" presId="urn:microsoft.com/office/officeart/2005/8/layout/hProcess7#1"/>
    <dgm:cxn modelId="{E7636A23-ACF1-477A-A8CC-67B7646EBDAF}" type="presParOf" srcId="{625EBBF8-F6B7-4BC0-B147-9BCB19BE0C68}" destId="{F94F22EC-7FA5-43FC-9E3E-B31B849EFAC6}" srcOrd="2" destOrd="0" presId="urn:microsoft.com/office/officeart/2005/8/layout/hProcess7#1"/>
    <dgm:cxn modelId="{96B6B17F-F4C3-4F75-8CAA-A9675240640C}" type="presParOf" srcId="{D74510CA-4434-4F6C-AE2C-D9F8F2BF36AA}" destId="{74B4A82B-6967-4078-ABB3-503360B89C4E}" srcOrd="7" destOrd="0" presId="urn:microsoft.com/office/officeart/2005/8/layout/hProcess7#1"/>
    <dgm:cxn modelId="{3905A579-15B1-4BE0-B089-70F3AC462558}" type="presParOf" srcId="{D74510CA-4434-4F6C-AE2C-D9F8F2BF36AA}" destId="{CC3C8797-704B-4DDB-B44E-28EA53FA186E}" srcOrd="8" destOrd="0" presId="urn:microsoft.com/office/officeart/2005/8/layout/hProcess7#1"/>
    <dgm:cxn modelId="{B4AB747D-CA28-482F-B8FF-817D66047EE9}" type="presParOf" srcId="{CC3C8797-704B-4DDB-B44E-28EA53FA186E}" destId="{1E82EA6E-EEB0-4F92-937B-08550FC2CA29}" srcOrd="0" destOrd="0" presId="urn:microsoft.com/office/officeart/2005/8/layout/hProcess7#1"/>
    <dgm:cxn modelId="{EB453768-B218-4B84-A9BD-A1345B9CCD7B}" type="presParOf" srcId="{CC3C8797-704B-4DDB-B44E-28EA53FA186E}" destId="{4BD788C7-E194-46CB-B00A-C0987A16541C}" srcOrd="1" destOrd="0" presId="urn:microsoft.com/office/officeart/2005/8/layout/hProcess7#1"/>
    <dgm:cxn modelId="{BCC198BA-1D6B-490C-92CE-A228862FE9A6}" type="presParOf" srcId="{CC3C8797-704B-4DDB-B44E-28EA53FA186E}" destId="{F4B2232F-B079-46FF-BB4D-E845F0E9E58B}" srcOrd="2" destOrd="0" presId="urn:microsoft.com/office/officeart/2005/8/layout/hProcess7#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98A0B613-4959-40B6-84C6-ABC21A909E0D}"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0E6BBF93-A0ED-42FB-8757-866651BCBE40}">
      <dgm:prSet/>
      <dgm:spPr/>
      <dgm:t>
        <a:bodyPr/>
        <a:lstStyle/>
        <a:p>
          <a:pPr rtl="0"/>
          <a:r>
            <a:rPr lang="fi-FI" dirty="0" smtClean="0"/>
            <a:t>Vaihtoehto 1 – ”smoke test”</a:t>
          </a:r>
          <a:endParaRPr lang="en-US" dirty="0"/>
        </a:p>
      </dgm:t>
    </dgm:pt>
    <dgm:pt modelId="{3FC4248C-735C-48F6-8378-3A89F01779A0}" type="parTrans" cxnId="{FD3CA5E1-5CE2-4871-938D-27922F3BE508}">
      <dgm:prSet/>
      <dgm:spPr/>
      <dgm:t>
        <a:bodyPr/>
        <a:lstStyle/>
        <a:p>
          <a:endParaRPr lang="en-US"/>
        </a:p>
      </dgm:t>
    </dgm:pt>
    <dgm:pt modelId="{C99997CA-970A-4862-8BB3-EA3027C1F85A}" type="sibTrans" cxnId="{FD3CA5E1-5CE2-4871-938D-27922F3BE508}">
      <dgm:prSet/>
      <dgm:spPr/>
      <dgm:t>
        <a:bodyPr/>
        <a:lstStyle/>
        <a:p>
          <a:endParaRPr lang="en-US"/>
        </a:p>
      </dgm:t>
    </dgm:pt>
    <dgm:pt modelId="{970D984D-6D53-43F5-AE55-0A82D3488AB8}">
      <dgm:prSet/>
      <dgm:spPr/>
      <dgm:t>
        <a:bodyPr/>
        <a:lstStyle/>
        <a:p>
          <a:pPr rtl="0"/>
          <a:r>
            <a:rPr lang="fi-FI" dirty="0" smtClean="0"/>
            <a:t>Erillinen luovutuskoe + raportti. Valikoidut testit hyväksymistestiympäristössä.</a:t>
          </a:r>
          <a:endParaRPr lang="en-US" dirty="0"/>
        </a:p>
      </dgm:t>
    </dgm:pt>
    <dgm:pt modelId="{F5E2809A-969E-4D11-B4A1-218E54B3B2E2}" type="parTrans" cxnId="{FB4A6F6D-DBB9-4831-A51B-36F55286447F}">
      <dgm:prSet/>
      <dgm:spPr/>
      <dgm:t>
        <a:bodyPr/>
        <a:lstStyle/>
        <a:p>
          <a:endParaRPr lang="en-US"/>
        </a:p>
      </dgm:t>
    </dgm:pt>
    <dgm:pt modelId="{B3396F7E-17FF-475C-AA62-415C8D04CAD5}" type="sibTrans" cxnId="{FB4A6F6D-DBB9-4831-A51B-36F55286447F}">
      <dgm:prSet/>
      <dgm:spPr/>
      <dgm:t>
        <a:bodyPr/>
        <a:lstStyle/>
        <a:p>
          <a:endParaRPr lang="en-US"/>
        </a:p>
      </dgm:t>
    </dgm:pt>
    <dgm:pt modelId="{DF15ABC0-4A24-4D5A-B383-668DEF3A959B}">
      <dgm:prSet/>
      <dgm:spPr/>
      <dgm:t>
        <a:bodyPr/>
        <a:lstStyle/>
        <a:p>
          <a:pPr rtl="0"/>
          <a:r>
            <a:rPr lang="fi-FI" dirty="0" smtClean="0"/>
            <a:t>Edellytykset: toimittajan testauksen materiaalit osa luovutettavaa kokonaisuutta ja hyväksytään osana hyväksymistestausta. </a:t>
          </a:r>
          <a:endParaRPr lang="en-US" dirty="0"/>
        </a:p>
      </dgm:t>
    </dgm:pt>
    <dgm:pt modelId="{1E94CD89-2402-418D-8917-111AC6433AE2}" type="parTrans" cxnId="{2951F13A-1C52-43B3-A953-4B79C5401A13}">
      <dgm:prSet/>
      <dgm:spPr/>
      <dgm:t>
        <a:bodyPr/>
        <a:lstStyle/>
        <a:p>
          <a:endParaRPr lang="en-US"/>
        </a:p>
      </dgm:t>
    </dgm:pt>
    <dgm:pt modelId="{F84F575E-4113-46F6-8AB6-136D01AAB05B}" type="sibTrans" cxnId="{2951F13A-1C52-43B3-A953-4B79C5401A13}">
      <dgm:prSet/>
      <dgm:spPr/>
      <dgm:t>
        <a:bodyPr/>
        <a:lstStyle/>
        <a:p>
          <a:endParaRPr lang="en-US"/>
        </a:p>
      </dgm:t>
    </dgm:pt>
    <dgm:pt modelId="{7ECB99C5-1AA8-4869-9A96-BE0379352F47}">
      <dgm:prSet/>
      <dgm:spPr/>
      <dgm:t>
        <a:bodyPr/>
        <a:lstStyle/>
        <a:p>
          <a:pPr rtl="0"/>
          <a:r>
            <a:rPr lang="fi-FI" dirty="0" smtClean="0"/>
            <a:t>Vaihtoehto 2 – ”selonteko”</a:t>
          </a:r>
          <a:endParaRPr lang="en-US" dirty="0"/>
        </a:p>
      </dgm:t>
    </dgm:pt>
    <dgm:pt modelId="{B860E39F-B4B1-44C6-B4C6-C5533310324A}" type="parTrans" cxnId="{F28F4577-45A7-46AF-B025-0256D205C4F6}">
      <dgm:prSet/>
      <dgm:spPr/>
      <dgm:t>
        <a:bodyPr/>
        <a:lstStyle/>
        <a:p>
          <a:endParaRPr lang="en-US"/>
        </a:p>
      </dgm:t>
    </dgm:pt>
    <dgm:pt modelId="{0F94A22A-ED8C-408E-912A-45F460F0AE50}" type="sibTrans" cxnId="{F28F4577-45A7-46AF-B025-0256D205C4F6}">
      <dgm:prSet/>
      <dgm:spPr/>
      <dgm:t>
        <a:bodyPr/>
        <a:lstStyle/>
        <a:p>
          <a:endParaRPr lang="en-US"/>
        </a:p>
      </dgm:t>
    </dgm:pt>
    <dgm:pt modelId="{EC65BDFF-E07E-4D30-B35B-F9B28E7A0A72}">
      <dgm:prSet/>
      <dgm:spPr/>
      <dgm:t>
        <a:bodyPr/>
        <a:lstStyle/>
        <a:p>
          <a:pPr rtl="0"/>
          <a:r>
            <a:rPr lang="fi-FI" dirty="0" smtClean="0"/>
            <a:t>Toimittajan testauksen kokonaisuuden esittely</a:t>
          </a:r>
          <a:endParaRPr lang="en-US" dirty="0"/>
        </a:p>
      </dgm:t>
    </dgm:pt>
    <dgm:pt modelId="{32EE2215-16FF-4D85-B274-DE18E88776CA}" type="parTrans" cxnId="{6494C279-0CDE-40DD-8744-70208ECBBA4A}">
      <dgm:prSet/>
      <dgm:spPr/>
      <dgm:t>
        <a:bodyPr/>
        <a:lstStyle/>
        <a:p>
          <a:endParaRPr lang="en-US"/>
        </a:p>
      </dgm:t>
    </dgm:pt>
    <dgm:pt modelId="{F8339332-7E17-4389-A5A7-0AFD88B76DA6}" type="sibTrans" cxnId="{6494C279-0CDE-40DD-8744-70208ECBBA4A}">
      <dgm:prSet/>
      <dgm:spPr/>
      <dgm:t>
        <a:bodyPr/>
        <a:lstStyle/>
        <a:p>
          <a:endParaRPr lang="en-US"/>
        </a:p>
      </dgm:t>
    </dgm:pt>
    <dgm:pt modelId="{67DA4DE6-C7A5-4963-B046-27BC0E506301}">
      <dgm:prSet/>
      <dgm:spPr/>
      <dgm:t>
        <a:bodyPr/>
        <a:lstStyle/>
        <a:p>
          <a:pPr rtl="0"/>
          <a:r>
            <a:rPr lang="fi-FI" dirty="0" smtClean="0"/>
            <a:t>Vaihtoehto 4 – ”toimittajan testauksen laadunvarmistus”</a:t>
          </a:r>
          <a:endParaRPr lang="en-US" dirty="0"/>
        </a:p>
      </dgm:t>
    </dgm:pt>
    <dgm:pt modelId="{7ADB95F4-EEA4-444C-853E-68A5FCDA9A8A}" type="parTrans" cxnId="{B85A0069-D38B-4C3F-8427-C7DA5ED4EE93}">
      <dgm:prSet/>
      <dgm:spPr/>
      <dgm:t>
        <a:bodyPr/>
        <a:lstStyle/>
        <a:p>
          <a:endParaRPr lang="en-US"/>
        </a:p>
      </dgm:t>
    </dgm:pt>
    <dgm:pt modelId="{9CB732B1-E257-461C-A1D1-77F3E67ECE16}" type="sibTrans" cxnId="{B85A0069-D38B-4C3F-8427-C7DA5ED4EE93}">
      <dgm:prSet/>
      <dgm:spPr/>
      <dgm:t>
        <a:bodyPr/>
        <a:lstStyle/>
        <a:p>
          <a:endParaRPr lang="en-US"/>
        </a:p>
      </dgm:t>
    </dgm:pt>
    <dgm:pt modelId="{8C5A3E78-3105-4FA2-9193-D81DABACA958}">
      <dgm:prSet/>
      <dgm:spPr/>
      <dgm:t>
        <a:bodyPr/>
        <a:lstStyle/>
        <a:p>
          <a:pPr rtl="0"/>
          <a:r>
            <a:rPr lang="fi-FI" dirty="0" smtClean="0"/>
            <a:t>Asiakkaan laadunvarmistustoimet </a:t>
          </a:r>
          <a:endParaRPr lang="en-US" dirty="0"/>
        </a:p>
      </dgm:t>
    </dgm:pt>
    <dgm:pt modelId="{E0158E08-242C-41BA-98B7-CC774544455A}" type="parTrans" cxnId="{3B314B50-5119-49DC-9BF0-C271F1DEBC24}">
      <dgm:prSet/>
      <dgm:spPr/>
      <dgm:t>
        <a:bodyPr/>
        <a:lstStyle/>
        <a:p>
          <a:endParaRPr lang="en-US"/>
        </a:p>
      </dgm:t>
    </dgm:pt>
    <dgm:pt modelId="{4984B09A-C79B-45E8-94D1-331653623F92}" type="sibTrans" cxnId="{3B314B50-5119-49DC-9BF0-C271F1DEBC24}">
      <dgm:prSet/>
      <dgm:spPr/>
      <dgm:t>
        <a:bodyPr/>
        <a:lstStyle/>
        <a:p>
          <a:endParaRPr lang="en-US"/>
        </a:p>
      </dgm:t>
    </dgm:pt>
    <dgm:pt modelId="{78F9FDAC-E74C-47C1-8E3A-85DAE9B18BE0}">
      <dgm:prSet/>
      <dgm:spPr/>
      <dgm:t>
        <a:bodyPr/>
        <a:lstStyle/>
        <a:p>
          <a:pPr rtl="0"/>
          <a:r>
            <a:rPr lang="fi-FI" dirty="0" smtClean="0"/>
            <a:t>Laadunvarmistustoimet = ”näytä minulle…” tai ”anna minä kokeilen” – onko toimittajan osaaminen ja tapa tehdä testausta voinut varmistaa virheettömyyden</a:t>
          </a:r>
          <a:endParaRPr lang="en-US" dirty="0"/>
        </a:p>
      </dgm:t>
    </dgm:pt>
    <dgm:pt modelId="{B62A0F1C-85F1-4205-A35A-65C9B3604D8B}" type="parTrans" cxnId="{1BE3EB9A-443F-4444-819C-6BE32228AEC8}">
      <dgm:prSet/>
      <dgm:spPr/>
      <dgm:t>
        <a:bodyPr/>
        <a:lstStyle/>
        <a:p>
          <a:endParaRPr lang="en-US"/>
        </a:p>
      </dgm:t>
    </dgm:pt>
    <dgm:pt modelId="{48C481C0-61B4-4100-851F-59139D5DC000}" type="sibTrans" cxnId="{1BE3EB9A-443F-4444-819C-6BE32228AEC8}">
      <dgm:prSet/>
      <dgm:spPr/>
      <dgm:t>
        <a:bodyPr/>
        <a:lstStyle/>
        <a:p>
          <a:endParaRPr lang="en-US"/>
        </a:p>
      </dgm:t>
    </dgm:pt>
    <dgm:pt modelId="{32B082DD-B760-4266-81A8-5866424DBC14}">
      <dgm:prSet/>
      <dgm:spPr/>
      <dgm:t>
        <a:bodyPr/>
        <a:lstStyle/>
        <a:p>
          <a:pPr rtl="0"/>
          <a:r>
            <a:rPr lang="fi-FI" dirty="0" smtClean="0"/>
            <a:t>Hallittava riski: SOVITTU TOIMITUSSISÄLTÖ, TOIMITTAJAN KOKONAISRAPORTOINTI</a:t>
          </a:r>
          <a:endParaRPr lang="en-US" dirty="0"/>
        </a:p>
      </dgm:t>
    </dgm:pt>
    <dgm:pt modelId="{278DFFCA-8629-40B8-ADED-DA615D2B4112}" type="parTrans" cxnId="{02C5586C-B89B-42A2-9A35-68972956BE97}">
      <dgm:prSet/>
      <dgm:spPr/>
      <dgm:t>
        <a:bodyPr/>
        <a:lstStyle/>
        <a:p>
          <a:endParaRPr lang="en-US"/>
        </a:p>
      </dgm:t>
    </dgm:pt>
    <dgm:pt modelId="{52246406-E60A-4485-B0E1-B51D6CDFC00C}" type="sibTrans" cxnId="{02C5586C-B89B-42A2-9A35-68972956BE97}">
      <dgm:prSet/>
      <dgm:spPr/>
      <dgm:t>
        <a:bodyPr/>
        <a:lstStyle/>
        <a:p>
          <a:endParaRPr lang="en-US"/>
        </a:p>
      </dgm:t>
    </dgm:pt>
    <dgm:pt modelId="{66B2AA1E-5B85-451B-B855-0418EE79A6F8}">
      <dgm:prSet/>
      <dgm:spPr/>
      <dgm:t>
        <a:bodyPr/>
        <a:lstStyle/>
        <a:p>
          <a:pPr rtl="0"/>
          <a:r>
            <a:rPr lang="fi-FI" dirty="0" smtClean="0"/>
            <a:t>Hallittava riski: OMAT RESURSSIT, AIKATAULUN REALISMI</a:t>
          </a:r>
          <a:endParaRPr lang="en-US" dirty="0"/>
        </a:p>
      </dgm:t>
    </dgm:pt>
    <dgm:pt modelId="{06FF03EC-A61F-4806-B708-7277B43022D2}" type="parTrans" cxnId="{92AA156F-E7EB-4929-B78E-2BC02EA221B8}">
      <dgm:prSet/>
      <dgm:spPr/>
      <dgm:t>
        <a:bodyPr/>
        <a:lstStyle/>
        <a:p>
          <a:endParaRPr lang="en-US"/>
        </a:p>
      </dgm:t>
    </dgm:pt>
    <dgm:pt modelId="{641DE3A7-3759-41B4-95E2-EEA353C35DC2}" type="sibTrans" cxnId="{92AA156F-E7EB-4929-B78E-2BC02EA221B8}">
      <dgm:prSet/>
      <dgm:spPr/>
      <dgm:t>
        <a:bodyPr/>
        <a:lstStyle/>
        <a:p>
          <a:endParaRPr lang="en-US"/>
        </a:p>
      </dgm:t>
    </dgm:pt>
    <dgm:pt modelId="{E3BAA994-D750-4458-89C9-419995362C27}">
      <dgm:prSet/>
      <dgm:spPr/>
      <dgm:t>
        <a:bodyPr/>
        <a:lstStyle/>
        <a:p>
          <a:pPr rtl="0"/>
          <a:r>
            <a:rPr lang="fi-FI" dirty="0" smtClean="0"/>
            <a:t>Hallittava riski: YMPÄRISTÖSIIRTO</a:t>
          </a:r>
          <a:endParaRPr lang="en-US" dirty="0"/>
        </a:p>
      </dgm:t>
    </dgm:pt>
    <dgm:pt modelId="{63C606DB-5D2D-4F3F-AD47-F98EBDB63F8B}" type="parTrans" cxnId="{48EDCFF2-3127-46C0-B894-A6734AD0604D}">
      <dgm:prSet/>
      <dgm:spPr/>
      <dgm:t>
        <a:bodyPr/>
        <a:lstStyle/>
        <a:p>
          <a:endParaRPr lang="en-US"/>
        </a:p>
      </dgm:t>
    </dgm:pt>
    <dgm:pt modelId="{E7DDB05F-3B56-4480-83A2-8472CE30AF7E}" type="sibTrans" cxnId="{48EDCFF2-3127-46C0-B894-A6734AD0604D}">
      <dgm:prSet/>
      <dgm:spPr/>
      <dgm:t>
        <a:bodyPr/>
        <a:lstStyle/>
        <a:p>
          <a:endParaRPr lang="en-US"/>
        </a:p>
      </dgm:t>
    </dgm:pt>
    <dgm:pt modelId="{C83A76BA-302F-4558-8BF2-C3275A9A12C5}">
      <dgm:prSet/>
      <dgm:spPr/>
      <dgm:t>
        <a:bodyPr/>
        <a:lstStyle/>
        <a:p>
          <a:pPr rtl="0"/>
          <a:r>
            <a:rPr lang="fi-FI" dirty="0" smtClean="0"/>
            <a:t>Edellytykset: testauksen kokonaisuus sisältää hyväksymistestin ympäristön varmistamisen.  Mahdollisuus tutustua esiteltävään materiaaliin ennakkoon. </a:t>
          </a:r>
          <a:endParaRPr lang="en-US" dirty="0"/>
        </a:p>
      </dgm:t>
    </dgm:pt>
    <dgm:pt modelId="{1B0AFE09-3A1A-4F2F-9C4F-0A6FAA1818F7}" type="parTrans" cxnId="{8FC823EB-75D8-42A6-96D7-84415CEAAEF9}">
      <dgm:prSet/>
      <dgm:spPr/>
      <dgm:t>
        <a:bodyPr/>
        <a:lstStyle/>
        <a:p>
          <a:endParaRPr lang="en-US"/>
        </a:p>
      </dgm:t>
    </dgm:pt>
    <dgm:pt modelId="{FE913A83-B2C3-4237-8671-7689496F8009}" type="sibTrans" cxnId="{8FC823EB-75D8-42A6-96D7-84415CEAAEF9}">
      <dgm:prSet/>
      <dgm:spPr/>
      <dgm:t>
        <a:bodyPr/>
        <a:lstStyle/>
        <a:p>
          <a:endParaRPr lang="en-US"/>
        </a:p>
      </dgm:t>
    </dgm:pt>
    <dgm:pt modelId="{05F274F5-6978-445A-98C3-55B170BDDF20}">
      <dgm:prSet/>
      <dgm:spPr/>
      <dgm:t>
        <a:bodyPr/>
        <a:lstStyle/>
        <a:p>
          <a:pPr rtl="0"/>
          <a:r>
            <a:rPr lang="fi-FI" dirty="0" smtClean="0"/>
            <a:t>Vaihtoehto 3 – ”järjestelmäesittely”</a:t>
          </a:r>
          <a:endParaRPr lang="en-US" dirty="0"/>
        </a:p>
      </dgm:t>
    </dgm:pt>
    <dgm:pt modelId="{C14D882C-A736-43E9-B112-3522123CC8ED}" type="parTrans" cxnId="{CC486E70-63B6-4A47-AF74-DF5869D26BC6}">
      <dgm:prSet/>
      <dgm:spPr/>
      <dgm:t>
        <a:bodyPr/>
        <a:lstStyle/>
        <a:p>
          <a:endParaRPr lang="en-US"/>
        </a:p>
      </dgm:t>
    </dgm:pt>
    <dgm:pt modelId="{32E87DB4-8778-4961-81CF-5A5DCEDC0D4D}" type="sibTrans" cxnId="{CC486E70-63B6-4A47-AF74-DF5869D26BC6}">
      <dgm:prSet/>
      <dgm:spPr/>
      <dgm:t>
        <a:bodyPr/>
        <a:lstStyle/>
        <a:p>
          <a:endParaRPr lang="en-US"/>
        </a:p>
      </dgm:t>
    </dgm:pt>
    <dgm:pt modelId="{002C84AB-40DD-4413-84D7-6044816EC44E}">
      <dgm:prSet/>
      <dgm:spPr/>
      <dgm:t>
        <a:bodyPr/>
        <a:lstStyle/>
        <a:p>
          <a:r>
            <a:rPr lang="fi-FI" dirty="0" smtClean="0"/>
            <a:t>Toimittajan järjestelmän ja testauksen esittely demolla, muutoksien näkyvyys järjestelmässä</a:t>
          </a:r>
          <a:endParaRPr lang="en-US" dirty="0"/>
        </a:p>
      </dgm:t>
    </dgm:pt>
    <dgm:pt modelId="{69814EFB-0B10-4908-B000-7ADAFB8D7B85}" type="parTrans" cxnId="{DE8F438F-9EBA-4B66-9A55-BB86CDB9ABC5}">
      <dgm:prSet/>
      <dgm:spPr/>
      <dgm:t>
        <a:bodyPr/>
        <a:lstStyle/>
        <a:p>
          <a:endParaRPr lang="en-US"/>
        </a:p>
      </dgm:t>
    </dgm:pt>
    <dgm:pt modelId="{B4B5E32C-2BDD-4F7D-8419-C706CADA379E}" type="sibTrans" cxnId="{DE8F438F-9EBA-4B66-9A55-BB86CDB9ABC5}">
      <dgm:prSet/>
      <dgm:spPr/>
      <dgm:t>
        <a:bodyPr/>
        <a:lstStyle/>
        <a:p>
          <a:endParaRPr lang="en-US"/>
        </a:p>
      </dgm:t>
    </dgm:pt>
    <dgm:pt modelId="{1CB3A217-AD19-4E8C-B95C-B19340B1F2B9}">
      <dgm:prSet/>
      <dgm:spPr/>
      <dgm:t>
        <a:bodyPr/>
        <a:lstStyle/>
        <a:p>
          <a:r>
            <a:rPr lang="fi-FI" dirty="0" smtClean="0"/>
            <a:t>Hallittava riski: JÄRJESTELMÄ-MUUTOSOSAAMINEN</a:t>
          </a:r>
          <a:endParaRPr lang="en-US" dirty="0"/>
        </a:p>
      </dgm:t>
    </dgm:pt>
    <dgm:pt modelId="{F256C625-F9D2-44F5-8CE7-966F4352B3FB}" type="parTrans" cxnId="{051EAE73-903E-46EE-867F-F8D3E95E5090}">
      <dgm:prSet/>
      <dgm:spPr/>
      <dgm:t>
        <a:bodyPr/>
        <a:lstStyle/>
        <a:p>
          <a:endParaRPr lang="en-US"/>
        </a:p>
      </dgm:t>
    </dgm:pt>
    <dgm:pt modelId="{3A2E0302-5EBE-4403-B521-1C584CAD2DE4}" type="sibTrans" cxnId="{051EAE73-903E-46EE-867F-F8D3E95E5090}">
      <dgm:prSet/>
      <dgm:spPr/>
      <dgm:t>
        <a:bodyPr/>
        <a:lstStyle/>
        <a:p>
          <a:endParaRPr lang="en-US"/>
        </a:p>
      </dgm:t>
    </dgm:pt>
    <dgm:pt modelId="{99C1E937-5BAF-4305-B53C-292A79E523F1}" type="pres">
      <dgm:prSet presAssocID="{98A0B613-4959-40B6-84C6-ABC21A909E0D}" presName="Name0" presStyleCnt="0">
        <dgm:presLayoutVars>
          <dgm:dir/>
          <dgm:animLvl val="lvl"/>
          <dgm:resizeHandles val="exact"/>
        </dgm:presLayoutVars>
      </dgm:prSet>
      <dgm:spPr/>
      <dgm:t>
        <a:bodyPr/>
        <a:lstStyle/>
        <a:p>
          <a:endParaRPr lang="en-US"/>
        </a:p>
      </dgm:t>
    </dgm:pt>
    <dgm:pt modelId="{2E403A4A-6435-4AE0-9653-9BF86C99187A}" type="pres">
      <dgm:prSet presAssocID="{0E6BBF93-A0ED-42FB-8757-866651BCBE40}" presName="composite" presStyleCnt="0"/>
      <dgm:spPr/>
    </dgm:pt>
    <dgm:pt modelId="{FFC4D010-9498-4C2D-84FB-E2C61DCF1B31}" type="pres">
      <dgm:prSet presAssocID="{0E6BBF93-A0ED-42FB-8757-866651BCBE40}" presName="parTx" presStyleLbl="alignNode1" presStyleIdx="0" presStyleCnt="4">
        <dgm:presLayoutVars>
          <dgm:chMax val="0"/>
          <dgm:chPref val="0"/>
          <dgm:bulletEnabled val="1"/>
        </dgm:presLayoutVars>
      </dgm:prSet>
      <dgm:spPr/>
      <dgm:t>
        <a:bodyPr/>
        <a:lstStyle/>
        <a:p>
          <a:endParaRPr lang="en-US"/>
        </a:p>
      </dgm:t>
    </dgm:pt>
    <dgm:pt modelId="{F148BAB8-0323-4184-A381-2A9E6118E688}" type="pres">
      <dgm:prSet presAssocID="{0E6BBF93-A0ED-42FB-8757-866651BCBE40}" presName="desTx" presStyleLbl="alignAccFollowNode1" presStyleIdx="0" presStyleCnt="4">
        <dgm:presLayoutVars>
          <dgm:bulletEnabled val="1"/>
        </dgm:presLayoutVars>
      </dgm:prSet>
      <dgm:spPr/>
      <dgm:t>
        <a:bodyPr/>
        <a:lstStyle/>
        <a:p>
          <a:endParaRPr lang="en-US"/>
        </a:p>
      </dgm:t>
    </dgm:pt>
    <dgm:pt modelId="{8D3DBB25-565B-4C0B-BABF-BB75540AB08C}" type="pres">
      <dgm:prSet presAssocID="{C99997CA-970A-4862-8BB3-EA3027C1F85A}" presName="space" presStyleCnt="0"/>
      <dgm:spPr/>
    </dgm:pt>
    <dgm:pt modelId="{9A32DBF6-5109-4B7A-BC26-37F2A7F18A64}" type="pres">
      <dgm:prSet presAssocID="{7ECB99C5-1AA8-4869-9A96-BE0379352F47}" presName="composite" presStyleCnt="0"/>
      <dgm:spPr/>
    </dgm:pt>
    <dgm:pt modelId="{23F11A3C-3552-4D21-8EA9-24D1A8EA9717}" type="pres">
      <dgm:prSet presAssocID="{7ECB99C5-1AA8-4869-9A96-BE0379352F47}" presName="parTx" presStyleLbl="alignNode1" presStyleIdx="1" presStyleCnt="4">
        <dgm:presLayoutVars>
          <dgm:chMax val="0"/>
          <dgm:chPref val="0"/>
          <dgm:bulletEnabled val="1"/>
        </dgm:presLayoutVars>
      </dgm:prSet>
      <dgm:spPr/>
      <dgm:t>
        <a:bodyPr/>
        <a:lstStyle/>
        <a:p>
          <a:endParaRPr lang="en-US"/>
        </a:p>
      </dgm:t>
    </dgm:pt>
    <dgm:pt modelId="{0BDDF048-AE9D-41DA-BB99-38A65E93F2AA}" type="pres">
      <dgm:prSet presAssocID="{7ECB99C5-1AA8-4869-9A96-BE0379352F47}" presName="desTx" presStyleLbl="alignAccFollowNode1" presStyleIdx="1" presStyleCnt="4">
        <dgm:presLayoutVars>
          <dgm:bulletEnabled val="1"/>
        </dgm:presLayoutVars>
      </dgm:prSet>
      <dgm:spPr/>
      <dgm:t>
        <a:bodyPr/>
        <a:lstStyle/>
        <a:p>
          <a:endParaRPr lang="en-US"/>
        </a:p>
      </dgm:t>
    </dgm:pt>
    <dgm:pt modelId="{7E53E5C7-33FF-46E5-9555-5137CC883785}" type="pres">
      <dgm:prSet presAssocID="{0F94A22A-ED8C-408E-912A-45F460F0AE50}" presName="space" presStyleCnt="0"/>
      <dgm:spPr/>
    </dgm:pt>
    <dgm:pt modelId="{721882CB-85A2-4A5E-A0F8-1F7209B214F1}" type="pres">
      <dgm:prSet presAssocID="{05F274F5-6978-445A-98C3-55B170BDDF20}" presName="composite" presStyleCnt="0"/>
      <dgm:spPr/>
    </dgm:pt>
    <dgm:pt modelId="{31F4902E-A00B-4A2D-8254-4426B4A3927C}" type="pres">
      <dgm:prSet presAssocID="{05F274F5-6978-445A-98C3-55B170BDDF20}" presName="parTx" presStyleLbl="alignNode1" presStyleIdx="2" presStyleCnt="4">
        <dgm:presLayoutVars>
          <dgm:chMax val="0"/>
          <dgm:chPref val="0"/>
          <dgm:bulletEnabled val="1"/>
        </dgm:presLayoutVars>
      </dgm:prSet>
      <dgm:spPr/>
      <dgm:t>
        <a:bodyPr/>
        <a:lstStyle/>
        <a:p>
          <a:endParaRPr lang="en-US"/>
        </a:p>
      </dgm:t>
    </dgm:pt>
    <dgm:pt modelId="{89416B4A-3A22-4F5E-B2FA-ACF13B1F5CA5}" type="pres">
      <dgm:prSet presAssocID="{05F274F5-6978-445A-98C3-55B170BDDF20}" presName="desTx" presStyleLbl="alignAccFollowNode1" presStyleIdx="2" presStyleCnt="4">
        <dgm:presLayoutVars>
          <dgm:bulletEnabled val="1"/>
        </dgm:presLayoutVars>
      </dgm:prSet>
      <dgm:spPr/>
      <dgm:t>
        <a:bodyPr/>
        <a:lstStyle/>
        <a:p>
          <a:endParaRPr lang="en-US"/>
        </a:p>
      </dgm:t>
    </dgm:pt>
    <dgm:pt modelId="{DBE2A1D6-97D3-478B-A0AB-2E72D0B55424}" type="pres">
      <dgm:prSet presAssocID="{32E87DB4-8778-4961-81CF-5A5DCEDC0D4D}" presName="space" presStyleCnt="0"/>
      <dgm:spPr/>
    </dgm:pt>
    <dgm:pt modelId="{84DA4AA6-2324-4CAA-AB80-E64EA10E36B5}" type="pres">
      <dgm:prSet presAssocID="{67DA4DE6-C7A5-4963-B046-27BC0E506301}" presName="composite" presStyleCnt="0"/>
      <dgm:spPr/>
    </dgm:pt>
    <dgm:pt modelId="{31ADBB05-4559-48CB-8901-78B127010DCE}" type="pres">
      <dgm:prSet presAssocID="{67DA4DE6-C7A5-4963-B046-27BC0E506301}" presName="parTx" presStyleLbl="alignNode1" presStyleIdx="3" presStyleCnt="4">
        <dgm:presLayoutVars>
          <dgm:chMax val="0"/>
          <dgm:chPref val="0"/>
          <dgm:bulletEnabled val="1"/>
        </dgm:presLayoutVars>
      </dgm:prSet>
      <dgm:spPr/>
      <dgm:t>
        <a:bodyPr/>
        <a:lstStyle/>
        <a:p>
          <a:endParaRPr lang="en-US"/>
        </a:p>
      </dgm:t>
    </dgm:pt>
    <dgm:pt modelId="{EC85C425-CD4D-474B-AC41-F8ADA2529519}" type="pres">
      <dgm:prSet presAssocID="{67DA4DE6-C7A5-4963-B046-27BC0E506301}" presName="desTx" presStyleLbl="alignAccFollowNode1" presStyleIdx="3" presStyleCnt="4">
        <dgm:presLayoutVars>
          <dgm:bulletEnabled val="1"/>
        </dgm:presLayoutVars>
      </dgm:prSet>
      <dgm:spPr/>
      <dgm:t>
        <a:bodyPr/>
        <a:lstStyle/>
        <a:p>
          <a:endParaRPr lang="en-US"/>
        </a:p>
      </dgm:t>
    </dgm:pt>
  </dgm:ptLst>
  <dgm:cxnLst>
    <dgm:cxn modelId="{9B61E343-9C3A-4D6E-A0A3-2B0141961941}" type="presOf" srcId="{970D984D-6D53-43F5-AE55-0A82D3488AB8}" destId="{F148BAB8-0323-4184-A381-2A9E6118E688}" srcOrd="0" destOrd="0" presId="urn:microsoft.com/office/officeart/2005/8/layout/hList1"/>
    <dgm:cxn modelId="{6494C279-0CDE-40DD-8744-70208ECBBA4A}" srcId="{7ECB99C5-1AA8-4869-9A96-BE0379352F47}" destId="{EC65BDFF-E07E-4D30-B35B-F9B28E7A0A72}" srcOrd="0" destOrd="0" parTransId="{32EE2215-16FF-4D85-B274-DE18E88776CA}" sibTransId="{F8339332-7E17-4389-A5A7-0AFD88B76DA6}"/>
    <dgm:cxn modelId="{1BE3EB9A-443F-4444-819C-6BE32228AEC8}" srcId="{67DA4DE6-C7A5-4963-B046-27BC0E506301}" destId="{78F9FDAC-E74C-47C1-8E3A-85DAE9B18BE0}" srcOrd="1" destOrd="0" parTransId="{B62A0F1C-85F1-4205-A35A-65C9B3604D8B}" sibTransId="{48C481C0-61B4-4100-851F-59139D5DC000}"/>
    <dgm:cxn modelId="{7A6A5995-BE78-4168-B10D-08A9E68C76D1}" type="presOf" srcId="{7ECB99C5-1AA8-4869-9A96-BE0379352F47}" destId="{23F11A3C-3552-4D21-8EA9-24D1A8EA9717}" srcOrd="0" destOrd="0" presId="urn:microsoft.com/office/officeart/2005/8/layout/hList1"/>
    <dgm:cxn modelId="{F28F4577-45A7-46AF-B025-0256D205C4F6}" srcId="{98A0B613-4959-40B6-84C6-ABC21A909E0D}" destId="{7ECB99C5-1AA8-4869-9A96-BE0379352F47}" srcOrd="1" destOrd="0" parTransId="{B860E39F-B4B1-44C6-B4C6-C5533310324A}" sibTransId="{0F94A22A-ED8C-408E-912A-45F460F0AE50}"/>
    <dgm:cxn modelId="{97F9D136-1488-473D-9040-44186E9E2EFE}" type="presOf" srcId="{E3BAA994-D750-4458-89C9-419995362C27}" destId="{F148BAB8-0323-4184-A381-2A9E6118E688}" srcOrd="0" destOrd="2" presId="urn:microsoft.com/office/officeart/2005/8/layout/hList1"/>
    <dgm:cxn modelId="{DF84C934-FE21-4926-9A90-0F1D15AE53F2}" type="presOf" srcId="{002C84AB-40DD-4413-84D7-6044816EC44E}" destId="{89416B4A-3A22-4F5E-B2FA-ACF13B1F5CA5}" srcOrd="0" destOrd="0" presId="urn:microsoft.com/office/officeart/2005/8/layout/hList1"/>
    <dgm:cxn modelId="{DC06B723-9B8D-40E8-B948-E814764EFCCE}" type="presOf" srcId="{66B2AA1E-5B85-451B-B855-0418EE79A6F8}" destId="{EC85C425-CD4D-474B-AC41-F8ADA2529519}" srcOrd="0" destOrd="2" presId="urn:microsoft.com/office/officeart/2005/8/layout/hList1"/>
    <dgm:cxn modelId="{FD3CA5E1-5CE2-4871-938D-27922F3BE508}" srcId="{98A0B613-4959-40B6-84C6-ABC21A909E0D}" destId="{0E6BBF93-A0ED-42FB-8757-866651BCBE40}" srcOrd="0" destOrd="0" parTransId="{3FC4248C-735C-48F6-8378-3A89F01779A0}" sibTransId="{C99997CA-970A-4862-8BB3-EA3027C1F85A}"/>
    <dgm:cxn modelId="{051EAE73-903E-46EE-867F-F8D3E95E5090}" srcId="{05F274F5-6978-445A-98C3-55B170BDDF20}" destId="{1CB3A217-AD19-4E8C-B95C-B19340B1F2B9}" srcOrd="1" destOrd="0" parTransId="{F256C625-F9D2-44F5-8CE7-966F4352B3FB}" sibTransId="{3A2E0302-5EBE-4403-B521-1C584CAD2DE4}"/>
    <dgm:cxn modelId="{2C629D55-A409-4802-9461-59172CC46954}" type="presOf" srcId="{1CB3A217-AD19-4E8C-B95C-B19340B1F2B9}" destId="{89416B4A-3A22-4F5E-B2FA-ACF13B1F5CA5}" srcOrd="0" destOrd="1" presId="urn:microsoft.com/office/officeart/2005/8/layout/hList1"/>
    <dgm:cxn modelId="{C0C11268-DC05-4AD5-BD4C-177BEBA251A1}" type="presOf" srcId="{78F9FDAC-E74C-47C1-8E3A-85DAE9B18BE0}" destId="{EC85C425-CD4D-474B-AC41-F8ADA2529519}" srcOrd="0" destOrd="1" presId="urn:microsoft.com/office/officeart/2005/8/layout/hList1"/>
    <dgm:cxn modelId="{AB8CA968-45EA-496D-A6D2-9C2AE61D5C8B}" type="presOf" srcId="{98A0B613-4959-40B6-84C6-ABC21A909E0D}" destId="{99C1E937-5BAF-4305-B53C-292A79E523F1}" srcOrd="0" destOrd="0" presId="urn:microsoft.com/office/officeart/2005/8/layout/hList1"/>
    <dgm:cxn modelId="{C56C3D03-23AA-4955-A344-04BA1259F772}" type="presOf" srcId="{DF15ABC0-4A24-4D5A-B383-668DEF3A959B}" destId="{F148BAB8-0323-4184-A381-2A9E6118E688}" srcOrd="0" destOrd="1" presId="urn:microsoft.com/office/officeart/2005/8/layout/hList1"/>
    <dgm:cxn modelId="{D407D1B1-A377-4BC8-9EF3-C152A8D91015}" type="presOf" srcId="{32B082DD-B760-4266-81A8-5866424DBC14}" destId="{0BDDF048-AE9D-41DA-BB99-38A65E93F2AA}" srcOrd="0" destOrd="2" presId="urn:microsoft.com/office/officeart/2005/8/layout/hList1"/>
    <dgm:cxn modelId="{68C2947E-F4DE-41DA-8529-4B14739D2398}" type="presOf" srcId="{C83A76BA-302F-4558-8BF2-C3275A9A12C5}" destId="{0BDDF048-AE9D-41DA-BB99-38A65E93F2AA}" srcOrd="0" destOrd="1" presId="urn:microsoft.com/office/officeart/2005/8/layout/hList1"/>
    <dgm:cxn modelId="{B85A0069-D38B-4C3F-8427-C7DA5ED4EE93}" srcId="{98A0B613-4959-40B6-84C6-ABC21A909E0D}" destId="{67DA4DE6-C7A5-4963-B046-27BC0E506301}" srcOrd="3" destOrd="0" parTransId="{7ADB95F4-EEA4-444C-853E-68A5FCDA9A8A}" sibTransId="{9CB732B1-E257-461C-A1D1-77F3E67ECE16}"/>
    <dgm:cxn modelId="{4D388B98-23EE-46F3-873C-5D7E0CD11ED8}" type="presOf" srcId="{05F274F5-6978-445A-98C3-55B170BDDF20}" destId="{31F4902E-A00B-4A2D-8254-4426B4A3927C}" srcOrd="0" destOrd="0" presId="urn:microsoft.com/office/officeart/2005/8/layout/hList1"/>
    <dgm:cxn modelId="{48EDCFF2-3127-46C0-B894-A6734AD0604D}" srcId="{0E6BBF93-A0ED-42FB-8757-866651BCBE40}" destId="{E3BAA994-D750-4458-89C9-419995362C27}" srcOrd="2" destOrd="0" parTransId="{63C606DB-5D2D-4F3F-AD47-F98EBDB63F8B}" sibTransId="{E7DDB05F-3B56-4480-83A2-8472CE30AF7E}"/>
    <dgm:cxn modelId="{3B565252-4C8F-407B-919E-8C13FA95AA96}" type="presOf" srcId="{EC65BDFF-E07E-4D30-B35B-F9B28E7A0A72}" destId="{0BDDF048-AE9D-41DA-BB99-38A65E93F2AA}" srcOrd="0" destOrd="0" presId="urn:microsoft.com/office/officeart/2005/8/layout/hList1"/>
    <dgm:cxn modelId="{8F9932DD-D052-4323-BC25-9E553347D70D}" type="presOf" srcId="{67DA4DE6-C7A5-4963-B046-27BC0E506301}" destId="{31ADBB05-4559-48CB-8901-78B127010DCE}" srcOrd="0" destOrd="0" presId="urn:microsoft.com/office/officeart/2005/8/layout/hList1"/>
    <dgm:cxn modelId="{2951F13A-1C52-43B3-A953-4B79C5401A13}" srcId="{0E6BBF93-A0ED-42FB-8757-866651BCBE40}" destId="{DF15ABC0-4A24-4D5A-B383-668DEF3A959B}" srcOrd="1" destOrd="0" parTransId="{1E94CD89-2402-418D-8917-111AC6433AE2}" sibTransId="{F84F575E-4113-46F6-8AB6-136D01AAB05B}"/>
    <dgm:cxn modelId="{92AA156F-E7EB-4929-B78E-2BC02EA221B8}" srcId="{67DA4DE6-C7A5-4963-B046-27BC0E506301}" destId="{66B2AA1E-5B85-451B-B855-0418EE79A6F8}" srcOrd="2" destOrd="0" parTransId="{06FF03EC-A61F-4806-B708-7277B43022D2}" sibTransId="{641DE3A7-3759-41B4-95E2-EEA353C35DC2}"/>
    <dgm:cxn modelId="{A17E7857-3D13-4D20-A099-B947D888C7F0}" type="presOf" srcId="{0E6BBF93-A0ED-42FB-8757-866651BCBE40}" destId="{FFC4D010-9498-4C2D-84FB-E2C61DCF1B31}" srcOrd="0" destOrd="0" presId="urn:microsoft.com/office/officeart/2005/8/layout/hList1"/>
    <dgm:cxn modelId="{02C5586C-B89B-42A2-9A35-68972956BE97}" srcId="{7ECB99C5-1AA8-4869-9A96-BE0379352F47}" destId="{32B082DD-B760-4266-81A8-5866424DBC14}" srcOrd="2" destOrd="0" parTransId="{278DFFCA-8629-40B8-ADED-DA615D2B4112}" sibTransId="{52246406-E60A-4485-B0E1-B51D6CDFC00C}"/>
    <dgm:cxn modelId="{8FC823EB-75D8-42A6-96D7-84415CEAAEF9}" srcId="{7ECB99C5-1AA8-4869-9A96-BE0379352F47}" destId="{C83A76BA-302F-4558-8BF2-C3275A9A12C5}" srcOrd="1" destOrd="0" parTransId="{1B0AFE09-3A1A-4F2F-9C4F-0A6FAA1818F7}" sibTransId="{FE913A83-B2C3-4237-8671-7689496F8009}"/>
    <dgm:cxn modelId="{3B314B50-5119-49DC-9BF0-C271F1DEBC24}" srcId="{67DA4DE6-C7A5-4963-B046-27BC0E506301}" destId="{8C5A3E78-3105-4FA2-9193-D81DABACA958}" srcOrd="0" destOrd="0" parTransId="{E0158E08-242C-41BA-98B7-CC774544455A}" sibTransId="{4984B09A-C79B-45E8-94D1-331653623F92}"/>
    <dgm:cxn modelId="{CC486E70-63B6-4A47-AF74-DF5869D26BC6}" srcId="{98A0B613-4959-40B6-84C6-ABC21A909E0D}" destId="{05F274F5-6978-445A-98C3-55B170BDDF20}" srcOrd="2" destOrd="0" parTransId="{C14D882C-A736-43E9-B112-3522123CC8ED}" sibTransId="{32E87DB4-8778-4961-81CF-5A5DCEDC0D4D}"/>
    <dgm:cxn modelId="{FB4A6F6D-DBB9-4831-A51B-36F55286447F}" srcId="{0E6BBF93-A0ED-42FB-8757-866651BCBE40}" destId="{970D984D-6D53-43F5-AE55-0A82D3488AB8}" srcOrd="0" destOrd="0" parTransId="{F5E2809A-969E-4D11-B4A1-218E54B3B2E2}" sibTransId="{B3396F7E-17FF-475C-AA62-415C8D04CAD5}"/>
    <dgm:cxn modelId="{9170A230-1831-4906-A643-A3A27DB5DF20}" type="presOf" srcId="{8C5A3E78-3105-4FA2-9193-D81DABACA958}" destId="{EC85C425-CD4D-474B-AC41-F8ADA2529519}" srcOrd="0" destOrd="0" presId="urn:microsoft.com/office/officeart/2005/8/layout/hList1"/>
    <dgm:cxn modelId="{DE8F438F-9EBA-4B66-9A55-BB86CDB9ABC5}" srcId="{05F274F5-6978-445A-98C3-55B170BDDF20}" destId="{002C84AB-40DD-4413-84D7-6044816EC44E}" srcOrd="0" destOrd="0" parTransId="{69814EFB-0B10-4908-B000-7ADAFB8D7B85}" sibTransId="{B4B5E32C-2BDD-4F7D-8419-C706CADA379E}"/>
    <dgm:cxn modelId="{D4C9805A-F0E9-487B-87C1-D04E4D6C5E5C}" type="presParOf" srcId="{99C1E937-5BAF-4305-B53C-292A79E523F1}" destId="{2E403A4A-6435-4AE0-9653-9BF86C99187A}" srcOrd="0" destOrd="0" presId="urn:microsoft.com/office/officeart/2005/8/layout/hList1"/>
    <dgm:cxn modelId="{B3F946E8-84BD-41CC-B549-BE94F6B33BA1}" type="presParOf" srcId="{2E403A4A-6435-4AE0-9653-9BF86C99187A}" destId="{FFC4D010-9498-4C2D-84FB-E2C61DCF1B31}" srcOrd="0" destOrd="0" presId="urn:microsoft.com/office/officeart/2005/8/layout/hList1"/>
    <dgm:cxn modelId="{BA482B65-6C6B-4BA3-AAD6-2A6D3F3283DD}" type="presParOf" srcId="{2E403A4A-6435-4AE0-9653-9BF86C99187A}" destId="{F148BAB8-0323-4184-A381-2A9E6118E688}" srcOrd="1" destOrd="0" presId="urn:microsoft.com/office/officeart/2005/8/layout/hList1"/>
    <dgm:cxn modelId="{CA168997-C922-440F-B59D-FF922C882EEA}" type="presParOf" srcId="{99C1E937-5BAF-4305-B53C-292A79E523F1}" destId="{8D3DBB25-565B-4C0B-BABF-BB75540AB08C}" srcOrd="1" destOrd="0" presId="urn:microsoft.com/office/officeart/2005/8/layout/hList1"/>
    <dgm:cxn modelId="{6DC2600E-898D-423F-B1F9-B4E543E05AB6}" type="presParOf" srcId="{99C1E937-5BAF-4305-B53C-292A79E523F1}" destId="{9A32DBF6-5109-4B7A-BC26-37F2A7F18A64}" srcOrd="2" destOrd="0" presId="urn:microsoft.com/office/officeart/2005/8/layout/hList1"/>
    <dgm:cxn modelId="{E54AF50F-D2FC-4DF7-B1FE-C2A6DC5A738F}" type="presParOf" srcId="{9A32DBF6-5109-4B7A-BC26-37F2A7F18A64}" destId="{23F11A3C-3552-4D21-8EA9-24D1A8EA9717}" srcOrd="0" destOrd="0" presId="urn:microsoft.com/office/officeart/2005/8/layout/hList1"/>
    <dgm:cxn modelId="{43230465-A287-4B3D-A961-ACF80B8FFDE6}" type="presParOf" srcId="{9A32DBF6-5109-4B7A-BC26-37F2A7F18A64}" destId="{0BDDF048-AE9D-41DA-BB99-38A65E93F2AA}" srcOrd="1" destOrd="0" presId="urn:microsoft.com/office/officeart/2005/8/layout/hList1"/>
    <dgm:cxn modelId="{FF700D7F-A54E-4E74-9DEF-BC9DF3ACD0FF}" type="presParOf" srcId="{99C1E937-5BAF-4305-B53C-292A79E523F1}" destId="{7E53E5C7-33FF-46E5-9555-5137CC883785}" srcOrd="3" destOrd="0" presId="urn:microsoft.com/office/officeart/2005/8/layout/hList1"/>
    <dgm:cxn modelId="{3695FA3B-F0CE-46CF-AB55-6527BD5B42AD}" type="presParOf" srcId="{99C1E937-5BAF-4305-B53C-292A79E523F1}" destId="{721882CB-85A2-4A5E-A0F8-1F7209B214F1}" srcOrd="4" destOrd="0" presId="urn:microsoft.com/office/officeart/2005/8/layout/hList1"/>
    <dgm:cxn modelId="{5F96237C-8C5D-4F34-AE86-2C4749AB0C04}" type="presParOf" srcId="{721882CB-85A2-4A5E-A0F8-1F7209B214F1}" destId="{31F4902E-A00B-4A2D-8254-4426B4A3927C}" srcOrd="0" destOrd="0" presId="urn:microsoft.com/office/officeart/2005/8/layout/hList1"/>
    <dgm:cxn modelId="{58AF6838-90F3-4217-9333-FB942ECCF0B8}" type="presParOf" srcId="{721882CB-85A2-4A5E-A0F8-1F7209B214F1}" destId="{89416B4A-3A22-4F5E-B2FA-ACF13B1F5CA5}" srcOrd="1" destOrd="0" presId="urn:microsoft.com/office/officeart/2005/8/layout/hList1"/>
    <dgm:cxn modelId="{36C1F198-090D-43BA-898D-9F58ED8AD125}" type="presParOf" srcId="{99C1E937-5BAF-4305-B53C-292A79E523F1}" destId="{DBE2A1D6-97D3-478B-A0AB-2E72D0B55424}" srcOrd="5" destOrd="0" presId="urn:microsoft.com/office/officeart/2005/8/layout/hList1"/>
    <dgm:cxn modelId="{55D9BB80-4D95-4226-8DD1-C7EBF27498E4}" type="presParOf" srcId="{99C1E937-5BAF-4305-B53C-292A79E523F1}" destId="{84DA4AA6-2324-4CAA-AB80-E64EA10E36B5}" srcOrd="6" destOrd="0" presId="urn:microsoft.com/office/officeart/2005/8/layout/hList1"/>
    <dgm:cxn modelId="{EE29CBC6-C26A-4410-A726-9E53F0CC1588}" type="presParOf" srcId="{84DA4AA6-2324-4CAA-AB80-E64EA10E36B5}" destId="{31ADBB05-4559-48CB-8901-78B127010DCE}" srcOrd="0" destOrd="0" presId="urn:microsoft.com/office/officeart/2005/8/layout/hList1"/>
    <dgm:cxn modelId="{7A1A0DC4-E121-4EFF-858D-22981E34594B}" type="presParOf" srcId="{84DA4AA6-2324-4CAA-AB80-E64EA10E36B5}" destId="{EC85C425-CD4D-474B-AC41-F8ADA2529519}"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D5C8C534-B55B-41EF-88DB-ED9C24EBB7FC}" type="doc">
      <dgm:prSet loTypeId="urn:microsoft.com/office/officeart/2005/8/layout/hList1" loCatId="list" qsTypeId="urn:microsoft.com/office/officeart/2005/8/quickstyle/simple1" qsCatId="simple" csTypeId="urn:microsoft.com/office/officeart/2005/8/colors/colorful1#15" csCatId="colorful" phldr="1"/>
      <dgm:spPr/>
      <dgm:t>
        <a:bodyPr/>
        <a:lstStyle/>
        <a:p>
          <a:endParaRPr lang="fi-FI"/>
        </a:p>
      </dgm:t>
    </dgm:pt>
    <dgm:pt modelId="{876F12A8-3CBF-4C23-9511-B3BE912EE8A9}">
      <dgm:prSet custT="1"/>
      <dgm:spPr/>
      <dgm:t>
        <a:bodyPr/>
        <a:lstStyle/>
        <a:p>
          <a:pPr rtl="0"/>
          <a:r>
            <a:rPr lang="fi-FI" sz="1100" b="1" dirty="0" smtClean="0"/>
            <a:t>Hyväksymistestauksen rooli ja merkitys</a:t>
          </a:r>
          <a:endParaRPr lang="fi-FI" sz="1100" b="1" dirty="0"/>
        </a:p>
      </dgm:t>
    </dgm:pt>
    <dgm:pt modelId="{1BEBABA3-2449-4976-9CA0-CD33A6A3B3B9}" type="parTrans" cxnId="{D1E18ACA-E2AC-419B-B0C8-489177C231F1}">
      <dgm:prSet/>
      <dgm:spPr/>
      <dgm:t>
        <a:bodyPr/>
        <a:lstStyle/>
        <a:p>
          <a:endParaRPr lang="fi-FI" sz="2000"/>
        </a:p>
      </dgm:t>
    </dgm:pt>
    <dgm:pt modelId="{9D64F3A3-F0ED-495F-BD66-97CC72F1F1F0}" type="sibTrans" cxnId="{D1E18ACA-E2AC-419B-B0C8-489177C231F1}">
      <dgm:prSet/>
      <dgm:spPr/>
      <dgm:t>
        <a:bodyPr/>
        <a:lstStyle/>
        <a:p>
          <a:endParaRPr lang="fi-FI" sz="2000"/>
        </a:p>
      </dgm:t>
    </dgm:pt>
    <dgm:pt modelId="{77261A98-EA16-48DE-BDEC-862B033DFA44}">
      <dgm:prSet custT="1"/>
      <dgm:spPr/>
      <dgm:t>
        <a:bodyPr/>
        <a:lstStyle/>
        <a:p>
          <a:pPr rtl="0"/>
          <a:r>
            <a:rPr lang="fi-FI" sz="1050" dirty="0" smtClean="0"/>
            <a:t>Testaus järjestelmän tilaajalle ja omistajalle</a:t>
          </a:r>
          <a:endParaRPr lang="fi-FI" sz="1050" dirty="0"/>
        </a:p>
      </dgm:t>
    </dgm:pt>
    <dgm:pt modelId="{4AE48503-4481-4041-AD0D-FB09D10A177D}" type="parTrans" cxnId="{6477DD6F-8191-4390-B4DF-FA9A84E61F4F}">
      <dgm:prSet/>
      <dgm:spPr/>
      <dgm:t>
        <a:bodyPr/>
        <a:lstStyle/>
        <a:p>
          <a:endParaRPr lang="fi-FI" sz="2000"/>
        </a:p>
      </dgm:t>
    </dgm:pt>
    <dgm:pt modelId="{F5E35242-EFA8-4231-BC41-3E8B48AEE665}" type="sibTrans" cxnId="{6477DD6F-8191-4390-B4DF-FA9A84E61F4F}">
      <dgm:prSet/>
      <dgm:spPr/>
      <dgm:t>
        <a:bodyPr/>
        <a:lstStyle/>
        <a:p>
          <a:endParaRPr lang="fi-FI" sz="2000"/>
        </a:p>
      </dgm:t>
    </dgm:pt>
    <dgm:pt modelId="{C47477C1-EBA0-4A69-9865-EEB1CC3C0A49}">
      <dgm:prSet custT="1"/>
      <dgm:spPr/>
      <dgm:t>
        <a:bodyPr/>
        <a:lstStyle/>
        <a:p>
          <a:pPr rtl="0"/>
          <a:r>
            <a:rPr lang="fi-FI" sz="1050" dirty="0" smtClean="0"/>
            <a:t>Monitoimittajaympäristön erityispiirteet hyväksymistestaukselle</a:t>
          </a:r>
          <a:endParaRPr lang="fi-FI" sz="1050" dirty="0"/>
        </a:p>
      </dgm:t>
    </dgm:pt>
    <dgm:pt modelId="{2DAF60AF-9674-4AD9-9AC9-067991921028}" type="parTrans" cxnId="{59B3EA95-794A-41E4-AD77-16978C50CA9E}">
      <dgm:prSet/>
      <dgm:spPr/>
      <dgm:t>
        <a:bodyPr/>
        <a:lstStyle/>
        <a:p>
          <a:endParaRPr lang="fi-FI" sz="2000"/>
        </a:p>
      </dgm:t>
    </dgm:pt>
    <dgm:pt modelId="{3208B049-162D-4726-BC74-C2FDF40ED359}" type="sibTrans" cxnId="{59B3EA95-794A-41E4-AD77-16978C50CA9E}">
      <dgm:prSet/>
      <dgm:spPr/>
      <dgm:t>
        <a:bodyPr/>
        <a:lstStyle/>
        <a:p>
          <a:endParaRPr lang="fi-FI" sz="2000"/>
        </a:p>
      </dgm:t>
    </dgm:pt>
    <dgm:pt modelId="{C896329D-659F-41D8-8428-23F35A3F2A7F}">
      <dgm:prSet custT="1"/>
      <dgm:spPr/>
      <dgm:t>
        <a:bodyPr/>
        <a:lstStyle/>
        <a:p>
          <a:pPr rtl="0"/>
          <a:r>
            <a:rPr lang="fi-FI" sz="1050" dirty="0" smtClean="0"/>
            <a:t>Laatutiedon rakentaminen palasille ja kokonaisuudelle</a:t>
          </a:r>
          <a:endParaRPr lang="fi-FI" sz="1050" dirty="0"/>
        </a:p>
      </dgm:t>
    </dgm:pt>
    <dgm:pt modelId="{1095EFC7-C63D-462E-9409-7653C01AAA33}" type="parTrans" cxnId="{A960D218-BB75-455A-95BF-012050E1AFB9}">
      <dgm:prSet/>
      <dgm:spPr/>
      <dgm:t>
        <a:bodyPr/>
        <a:lstStyle/>
        <a:p>
          <a:endParaRPr lang="fi-FI" sz="2000"/>
        </a:p>
      </dgm:t>
    </dgm:pt>
    <dgm:pt modelId="{B35503A3-5959-4612-89F8-373578912E93}" type="sibTrans" cxnId="{A960D218-BB75-455A-95BF-012050E1AFB9}">
      <dgm:prSet/>
      <dgm:spPr/>
      <dgm:t>
        <a:bodyPr/>
        <a:lstStyle/>
        <a:p>
          <a:endParaRPr lang="fi-FI" sz="2000"/>
        </a:p>
      </dgm:t>
    </dgm:pt>
    <dgm:pt modelId="{1D93A904-DA31-4610-8126-8F418CD7E1E6}">
      <dgm:prSet custT="1"/>
      <dgm:spPr/>
      <dgm:t>
        <a:bodyPr/>
        <a:lstStyle/>
        <a:p>
          <a:pPr rtl="0"/>
          <a:r>
            <a:rPr lang="fi-FI" sz="1050" dirty="0" smtClean="0"/>
            <a:t>Laadun monet näkökulmat: toiminnallinen ja ei-toiminnallinen testaus; näkyvä toimituslaatu sekä jatkokehityksen helppous</a:t>
          </a:r>
          <a:endParaRPr lang="fi-FI" sz="1050" dirty="0"/>
        </a:p>
      </dgm:t>
    </dgm:pt>
    <dgm:pt modelId="{637248D1-417D-468F-8F5A-263F0EEE4E25}" type="parTrans" cxnId="{5D40A653-A696-4FD0-A24A-7CCAC7193D58}">
      <dgm:prSet/>
      <dgm:spPr/>
      <dgm:t>
        <a:bodyPr/>
        <a:lstStyle/>
        <a:p>
          <a:endParaRPr lang="fi-FI" sz="2000"/>
        </a:p>
      </dgm:t>
    </dgm:pt>
    <dgm:pt modelId="{4CE4025D-124A-4864-812A-CAFE879FDB0F}" type="sibTrans" cxnId="{5D40A653-A696-4FD0-A24A-7CCAC7193D58}">
      <dgm:prSet/>
      <dgm:spPr/>
      <dgm:t>
        <a:bodyPr/>
        <a:lstStyle/>
        <a:p>
          <a:endParaRPr lang="fi-FI" sz="2000"/>
        </a:p>
      </dgm:t>
    </dgm:pt>
    <dgm:pt modelId="{ED3D8A5C-A004-4F25-9E95-105C5CBAC5B8}">
      <dgm:prSet custT="1"/>
      <dgm:spPr/>
      <dgm:t>
        <a:bodyPr/>
        <a:lstStyle/>
        <a:p>
          <a:pPr rtl="0"/>
          <a:r>
            <a:rPr lang="fi-FI" sz="1050" dirty="0" smtClean="0"/>
            <a:t>Dokumentaation katselmointien rooli hyväksymistestauksessa</a:t>
          </a:r>
          <a:endParaRPr lang="fi-FI" sz="1050" dirty="0"/>
        </a:p>
      </dgm:t>
    </dgm:pt>
    <dgm:pt modelId="{2602785F-5020-4C37-9349-25B3C6EB8027}" type="parTrans" cxnId="{D71B0854-94D7-4E70-9906-79916BDF1C2E}">
      <dgm:prSet/>
      <dgm:spPr/>
      <dgm:t>
        <a:bodyPr/>
        <a:lstStyle/>
        <a:p>
          <a:endParaRPr lang="fi-FI" sz="2000"/>
        </a:p>
      </dgm:t>
    </dgm:pt>
    <dgm:pt modelId="{B91310B6-65D7-4C98-8D22-83CC38A1C4FE}" type="sibTrans" cxnId="{D71B0854-94D7-4E70-9906-79916BDF1C2E}">
      <dgm:prSet/>
      <dgm:spPr/>
      <dgm:t>
        <a:bodyPr/>
        <a:lstStyle/>
        <a:p>
          <a:endParaRPr lang="fi-FI" sz="2000"/>
        </a:p>
      </dgm:t>
    </dgm:pt>
    <dgm:pt modelId="{0C5135B2-B7D9-4A56-B321-EACBE96AD852}">
      <dgm:prSet custT="1"/>
      <dgm:spPr/>
      <dgm:t>
        <a:bodyPr/>
        <a:lstStyle/>
        <a:p>
          <a:pPr rtl="0"/>
          <a:r>
            <a:rPr lang="fi-FI" sz="1050" dirty="0" smtClean="0"/>
            <a:t>Hyväksymistestauksen suhde muuhun testaukseen: tilaajan ja toimittajan työnjako</a:t>
          </a:r>
          <a:endParaRPr lang="fi-FI" sz="1050" dirty="0"/>
        </a:p>
      </dgm:t>
    </dgm:pt>
    <dgm:pt modelId="{AFF35C9C-E88B-481D-A218-745179C42A89}" type="parTrans" cxnId="{EC0C1EBC-1BB6-4B64-9783-15A05DC6D254}">
      <dgm:prSet/>
      <dgm:spPr/>
      <dgm:t>
        <a:bodyPr/>
        <a:lstStyle/>
        <a:p>
          <a:endParaRPr lang="fi-FI" sz="2000"/>
        </a:p>
      </dgm:t>
    </dgm:pt>
    <dgm:pt modelId="{2AF380E5-541E-476E-A57D-2AF52F0FD3CF}" type="sibTrans" cxnId="{EC0C1EBC-1BB6-4B64-9783-15A05DC6D254}">
      <dgm:prSet/>
      <dgm:spPr/>
      <dgm:t>
        <a:bodyPr/>
        <a:lstStyle/>
        <a:p>
          <a:endParaRPr lang="fi-FI" sz="2000"/>
        </a:p>
      </dgm:t>
    </dgm:pt>
    <dgm:pt modelId="{17A262F1-9003-4C77-8F50-D8E5C174B968}">
      <dgm:prSet custT="1"/>
      <dgm:spPr/>
      <dgm:t>
        <a:bodyPr/>
        <a:lstStyle/>
        <a:p>
          <a:pPr rtl="0"/>
          <a:r>
            <a:rPr lang="fi-FI" sz="1050" dirty="0" smtClean="0"/>
            <a:t>Hyväksymistestauksen erot laskunmaksuun ja tuotantoonsiirtoon liittyen</a:t>
          </a:r>
          <a:endParaRPr lang="fi-FI" sz="1050" dirty="0"/>
        </a:p>
      </dgm:t>
    </dgm:pt>
    <dgm:pt modelId="{6CB28059-AA75-4527-99CA-A3EDDA9850C4}" type="parTrans" cxnId="{30566708-7369-440D-8220-D3C7D17B04FC}">
      <dgm:prSet/>
      <dgm:spPr/>
      <dgm:t>
        <a:bodyPr/>
        <a:lstStyle/>
        <a:p>
          <a:endParaRPr lang="fi-FI" sz="2000"/>
        </a:p>
      </dgm:t>
    </dgm:pt>
    <dgm:pt modelId="{2C6A6872-2DBF-427F-9E6B-05310B7310D1}" type="sibTrans" cxnId="{30566708-7369-440D-8220-D3C7D17B04FC}">
      <dgm:prSet/>
      <dgm:spPr/>
      <dgm:t>
        <a:bodyPr/>
        <a:lstStyle/>
        <a:p>
          <a:endParaRPr lang="fi-FI" sz="2000"/>
        </a:p>
      </dgm:t>
    </dgm:pt>
    <dgm:pt modelId="{B388BF5D-1F28-4429-9317-BEF154AD918C}">
      <dgm:prSet custT="1"/>
      <dgm:spPr/>
      <dgm:t>
        <a:bodyPr/>
        <a:lstStyle/>
        <a:p>
          <a:pPr rtl="0"/>
          <a:r>
            <a:rPr lang="fi-FI" sz="1050" dirty="0" smtClean="0"/>
            <a:t>Hyväksymistestauksen erilainen merkitys ketterissä menetelmissä</a:t>
          </a:r>
          <a:endParaRPr lang="fi-FI" sz="1050" dirty="0"/>
        </a:p>
      </dgm:t>
    </dgm:pt>
    <dgm:pt modelId="{00DC2BDA-9FCE-4789-8612-CBAB489E1008}" type="parTrans" cxnId="{931434B6-00F4-4699-887F-56BCBF48E59B}">
      <dgm:prSet/>
      <dgm:spPr/>
      <dgm:t>
        <a:bodyPr/>
        <a:lstStyle/>
        <a:p>
          <a:endParaRPr lang="fi-FI" sz="2000"/>
        </a:p>
      </dgm:t>
    </dgm:pt>
    <dgm:pt modelId="{04381C85-A969-462F-89C0-62961ACABCF6}" type="sibTrans" cxnId="{931434B6-00F4-4699-887F-56BCBF48E59B}">
      <dgm:prSet/>
      <dgm:spPr/>
      <dgm:t>
        <a:bodyPr/>
        <a:lstStyle/>
        <a:p>
          <a:endParaRPr lang="fi-FI" sz="2000"/>
        </a:p>
      </dgm:t>
    </dgm:pt>
    <dgm:pt modelId="{52B1E9F8-FF5A-4290-A2EE-04416696410E}">
      <dgm:prSet custT="1"/>
      <dgm:spPr/>
      <dgm:t>
        <a:bodyPr/>
        <a:lstStyle/>
        <a:p>
          <a:pPr rtl="0"/>
          <a:r>
            <a:rPr lang="fi-FI" sz="1100" b="1" dirty="0" smtClean="0"/>
            <a:t>Onnistuneen hyväksymistestauksen edellytykset</a:t>
          </a:r>
          <a:endParaRPr lang="fi-FI" sz="1100" b="1" dirty="0"/>
        </a:p>
      </dgm:t>
    </dgm:pt>
    <dgm:pt modelId="{EE94DFC9-8FE1-4D92-A39A-2B2FA864EDE3}" type="parTrans" cxnId="{9E20866B-39E1-421E-BBF0-2C4CC4E668E7}">
      <dgm:prSet/>
      <dgm:spPr/>
      <dgm:t>
        <a:bodyPr/>
        <a:lstStyle/>
        <a:p>
          <a:endParaRPr lang="fi-FI" sz="2000"/>
        </a:p>
      </dgm:t>
    </dgm:pt>
    <dgm:pt modelId="{B47D46F4-2A52-46AE-8568-3E60E48D3D30}" type="sibTrans" cxnId="{9E20866B-39E1-421E-BBF0-2C4CC4E668E7}">
      <dgm:prSet/>
      <dgm:spPr/>
      <dgm:t>
        <a:bodyPr/>
        <a:lstStyle/>
        <a:p>
          <a:endParaRPr lang="fi-FI" sz="2000"/>
        </a:p>
      </dgm:t>
    </dgm:pt>
    <dgm:pt modelId="{DFACE991-8E53-485A-907C-1EFB2848046C}">
      <dgm:prSet custT="1"/>
      <dgm:spPr/>
      <dgm:t>
        <a:bodyPr/>
        <a:lstStyle/>
        <a:p>
          <a:pPr rtl="0"/>
          <a:r>
            <a:rPr lang="fi-FI" sz="1100" b="0" dirty="0" smtClean="0"/>
            <a:t>Toimituskokonaisuuksien määrittely ja projektointi</a:t>
          </a:r>
          <a:endParaRPr lang="fi-FI" sz="1100" b="0" dirty="0"/>
        </a:p>
      </dgm:t>
    </dgm:pt>
    <dgm:pt modelId="{522FA040-2423-4F5F-A378-E20632813270}" type="parTrans" cxnId="{555B5F87-EAA2-4BF5-A85A-067F5B333468}">
      <dgm:prSet/>
      <dgm:spPr/>
      <dgm:t>
        <a:bodyPr/>
        <a:lstStyle/>
        <a:p>
          <a:endParaRPr lang="fi-FI" sz="2000"/>
        </a:p>
      </dgm:t>
    </dgm:pt>
    <dgm:pt modelId="{79202294-FE13-49A9-BC9A-1A8E948266D7}" type="sibTrans" cxnId="{555B5F87-EAA2-4BF5-A85A-067F5B333468}">
      <dgm:prSet/>
      <dgm:spPr/>
      <dgm:t>
        <a:bodyPr/>
        <a:lstStyle/>
        <a:p>
          <a:endParaRPr lang="fi-FI" sz="2000"/>
        </a:p>
      </dgm:t>
    </dgm:pt>
    <dgm:pt modelId="{1916EEB6-8012-4C32-BB16-D45FE8388CAB}">
      <dgm:prSet custT="1"/>
      <dgm:spPr/>
      <dgm:t>
        <a:bodyPr/>
        <a:lstStyle/>
        <a:p>
          <a:pPr rtl="0"/>
          <a:r>
            <a:rPr lang="fi-FI" sz="1100" b="0" dirty="0" smtClean="0"/>
            <a:t>Toimittajan valinta ja sopimukset</a:t>
          </a:r>
          <a:endParaRPr lang="fi-FI" sz="1100" b="0" dirty="0"/>
        </a:p>
      </dgm:t>
    </dgm:pt>
    <dgm:pt modelId="{AAE70BB2-FF9F-4070-A5FC-ED235CA4153C}" type="parTrans" cxnId="{A5AB44A5-0A54-4255-863D-C63ECB47ADB4}">
      <dgm:prSet/>
      <dgm:spPr/>
      <dgm:t>
        <a:bodyPr/>
        <a:lstStyle/>
        <a:p>
          <a:endParaRPr lang="fi-FI" sz="2000"/>
        </a:p>
      </dgm:t>
    </dgm:pt>
    <dgm:pt modelId="{2FBCF5CD-18EA-4379-8DDB-078E7BE8F140}" type="sibTrans" cxnId="{A5AB44A5-0A54-4255-863D-C63ECB47ADB4}">
      <dgm:prSet/>
      <dgm:spPr/>
      <dgm:t>
        <a:bodyPr/>
        <a:lstStyle/>
        <a:p>
          <a:endParaRPr lang="fi-FI" sz="2000"/>
        </a:p>
      </dgm:t>
    </dgm:pt>
    <dgm:pt modelId="{5DCF5F03-40E3-4DF7-8D0C-5B2AC04E9710}">
      <dgm:prSet custT="1"/>
      <dgm:spPr/>
      <dgm:t>
        <a:bodyPr/>
        <a:lstStyle/>
        <a:p>
          <a:pPr rtl="0"/>
          <a:r>
            <a:rPr lang="fi-FI" sz="1100" b="0" dirty="0" smtClean="0"/>
            <a:t>Vaatimusten ja odotusten hallinta</a:t>
          </a:r>
          <a:endParaRPr lang="fi-FI" sz="1100" b="0" dirty="0"/>
        </a:p>
      </dgm:t>
    </dgm:pt>
    <dgm:pt modelId="{F587DB87-8C05-45E8-821D-48A0E1934C89}" type="parTrans" cxnId="{38793140-22FB-4290-95F5-D68F82D5906E}">
      <dgm:prSet/>
      <dgm:spPr/>
      <dgm:t>
        <a:bodyPr/>
        <a:lstStyle/>
        <a:p>
          <a:endParaRPr lang="fi-FI" sz="2000"/>
        </a:p>
      </dgm:t>
    </dgm:pt>
    <dgm:pt modelId="{D015357F-31D5-4BDE-9234-A074B01E35F1}" type="sibTrans" cxnId="{38793140-22FB-4290-95F5-D68F82D5906E}">
      <dgm:prSet/>
      <dgm:spPr/>
      <dgm:t>
        <a:bodyPr/>
        <a:lstStyle/>
        <a:p>
          <a:endParaRPr lang="fi-FI" sz="2000"/>
        </a:p>
      </dgm:t>
    </dgm:pt>
    <dgm:pt modelId="{2BB21CFB-3C14-4EE0-BF97-9DE197EDB4FB}">
      <dgm:prSet custT="1"/>
      <dgm:spPr/>
      <dgm:t>
        <a:bodyPr/>
        <a:lstStyle/>
        <a:p>
          <a:pPr rtl="0"/>
          <a:r>
            <a:rPr lang="fi-FI" sz="1100" b="0" dirty="0" smtClean="0"/>
            <a:t>Toimittajayhteistyö</a:t>
          </a:r>
          <a:endParaRPr lang="fi-FI" sz="1100" b="0" dirty="0"/>
        </a:p>
      </dgm:t>
    </dgm:pt>
    <dgm:pt modelId="{55DB9CF7-0918-46A0-A077-9B525FE754A0}" type="parTrans" cxnId="{FC853B53-7D65-41F8-842A-1527B7BD1F11}">
      <dgm:prSet/>
      <dgm:spPr/>
      <dgm:t>
        <a:bodyPr/>
        <a:lstStyle/>
        <a:p>
          <a:endParaRPr lang="fi-FI" sz="2000"/>
        </a:p>
      </dgm:t>
    </dgm:pt>
    <dgm:pt modelId="{B87C9EBE-1F3B-4B6F-8B1B-6ED6999EA57C}" type="sibTrans" cxnId="{FC853B53-7D65-41F8-842A-1527B7BD1F11}">
      <dgm:prSet/>
      <dgm:spPr/>
      <dgm:t>
        <a:bodyPr/>
        <a:lstStyle/>
        <a:p>
          <a:endParaRPr lang="fi-FI" sz="2000"/>
        </a:p>
      </dgm:t>
    </dgm:pt>
    <dgm:pt modelId="{D72C800D-6A31-4F3A-928F-3FAA9F4B2458}">
      <dgm:prSet custT="1"/>
      <dgm:spPr/>
      <dgm:t>
        <a:bodyPr/>
        <a:lstStyle/>
        <a:p>
          <a:pPr rtl="0"/>
          <a:r>
            <a:rPr lang="fi-FI" sz="1100" b="0" dirty="0" smtClean="0"/>
            <a:t>Kokonaisjärjestelmän ja osajärjestelmien tunnistaminen</a:t>
          </a:r>
          <a:endParaRPr lang="fi-FI" sz="1100" b="0" dirty="0"/>
        </a:p>
      </dgm:t>
    </dgm:pt>
    <dgm:pt modelId="{09F4EBD8-72E6-409A-BB6C-4843FEBEAA2B}" type="parTrans" cxnId="{DF223F19-81A7-4EA6-98DF-0E2387D499A4}">
      <dgm:prSet/>
      <dgm:spPr/>
      <dgm:t>
        <a:bodyPr/>
        <a:lstStyle/>
        <a:p>
          <a:endParaRPr lang="fi-FI" sz="2000"/>
        </a:p>
      </dgm:t>
    </dgm:pt>
    <dgm:pt modelId="{3A004302-3BD4-436A-BFCE-E278615647A1}" type="sibTrans" cxnId="{DF223F19-81A7-4EA6-98DF-0E2387D499A4}">
      <dgm:prSet/>
      <dgm:spPr/>
      <dgm:t>
        <a:bodyPr/>
        <a:lstStyle/>
        <a:p>
          <a:endParaRPr lang="fi-FI" sz="2000"/>
        </a:p>
      </dgm:t>
    </dgm:pt>
    <dgm:pt modelId="{EC2ECAB8-A85D-40C7-9117-2AA078A20F63}">
      <dgm:prSet custT="1"/>
      <dgm:spPr/>
      <dgm:t>
        <a:bodyPr/>
        <a:lstStyle/>
        <a:p>
          <a:pPr rtl="0"/>
          <a:r>
            <a:rPr lang="fi-FI" sz="1100" b="1" dirty="0" smtClean="0"/>
            <a:t>Hyväksymistestauksen organisointi ja puitteet</a:t>
          </a:r>
          <a:endParaRPr lang="fi-FI" sz="1100" b="1" dirty="0"/>
        </a:p>
      </dgm:t>
    </dgm:pt>
    <dgm:pt modelId="{5EE77FF3-6958-4AA2-A361-996476EE469F}" type="parTrans" cxnId="{F163E7A1-F61D-40FA-8D51-09DFBDF63920}">
      <dgm:prSet/>
      <dgm:spPr/>
      <dgm:t>
        <a:bodyPr/>
        <a:lstStyle/>
        <a:p>
          <a:endParaRPr lang="fi-FI" sz="2000"/>
        </a:p>
      </dgm:t>
    </dgm:pt>
    <dgm:pt modelId="{1857EB93-3123-4042-9586-557C94FF38FB}" type="sibTrans" cxnId="{F163E7A1-F61D-40FA-8D51-09DFBDF63920}">
      <dgm:prSet/>
      <dgm:spPr/>
      <dgm:t>
        <a:bodyPr/>
        <a:lstStyle/>
        <a:p>
          <a:endParaRPr lang="fi-FI" sz="2000"/>
        </a:p>
      </dgm:t>
    </dgm:pt>
    <dgm:pt modelId="{F3C8CAEE-C3C5-4F4E-B8D6-95CD478198FC}">
      <dgm:prSet custT="1"/>
      <dgm:spPr/>
      <dgm:t>
        <a:bodyPr/>
        <a:lstStyle/>
        <a:p>
          <a:r>
            <a:rPr lang="fi-FI" sz="1050" dirty="0" smtClean="0"/>
            <a:t>Testausprosessi suunnittelusta läpivientiin</a:t>
          </a:r>
          <a:endParaRPr lang="fi-FI" sz="1050" dirty="0"/>
        </a:p>
      </dgm:t>
    </dgm:pt>
    <dgm:pt modelId="{5285F996-D863-41D2-BCDC-C49BA518BF7E}" type="parTrans" cxnId="{36860DE1-6F5F-4025-A828-41782B80E483}">
      <dgm:prSet/>
      <dgm:spPr/>
      <dgm:t>
        <a:bodyPr/>
        <a:lstStyle/>
        <a:p>
          <a:endParaRPr lang="fi-FI" sz="2000"/>
        </a:p>
      </dgm:t>
    </dgm:pt>
    <dgm:pt modelId="{E224FB83-0D9D-4738-BEF7-DDCB4BC4B3E5}" type="sibTrans" cxnId="{36860DE1-6F5F-4025-A828-41782B80E483}">
      <dgm:prSet/>
      <dgm:spPr/>
      <dgm:t>
        <a:bodyPr/>
        <a:lstStyle/>
        <a:p>
          <a:endParaRPr lang="fi-FI" sz="2000"/>
        </a:p>
      </dgm:t>
    </dgm:pt>
    <dgm:pt modelId="{8FD7E9F2-2311-44BE-9382-0FD689EB7EE2}">
      <dgm:prSet custT="1"/>
      <dgm:spPr/>
      <dgm:t>
        <a:bodyPr/>
        <a:lstStyle/>
        <a:p>
          <a:r>
            <a:rPr lang="fi-FI" sz="1050" dirty="0" smtClean="0"/>
            <a:t>Toimittajan testauksien tarkastelu osana hyväksymistestausta</a:t>
          </a:r>
          <a:endParaRPr lang="fi-FI" sz="1050" dirty="0"/>
        </a:p>
      </dgm:t>
    </dgm:pt>
    <dgm:pt modelId="{5995E318-DFCD-47CE-9AC3-7D5D5C2C1D86}" type="parTrans" cxnId="{E1A005BE-128C-4479-A4FA-3DF86533F66C}">
      <dgm:prSet/>
      <dgm:spPr/>
      <dgm:t>
        <a:bodyPr/>
        <a:lstStyle/>
        <a:p>
          <a:endParaRPr lang="fi-FI" sz="2000"/>
        </a:p>
      </dgm:t>
    </dgm:pt>
    <dgm:pt modelId="{F367CA91-5390-4142-B6C6-B0F4A0631B49}" type="sibTrans" cxnId="{E1A005BE-128C-4479-A4FA-3DF86533F66C}">
      <dgm:prSet/>
      <dgm:spPr/>
      <dgm:t>
        <a:bodyPr/>
        <a:lstStyle/>
        <a:p>
          <a:endParaRPr lang="fi-FI" sz="2000"/>
        </a:p>
      </dgm:t>
    </dgm:pt>
    <dgm:pt modelId="{884C6235-9D16-4D95-BC42-131FB482992D}">
      <dgm:prSet custT="1"/>
      <dgm:spPr/>
      <dgm:t>
        <a:bodyPr/>
        <a:lstStyle/>
        <a:p>
          <a:r>
            <a:rPr lang="fi-FI" sz="1050" dirty="0" smtClean="0"/>
            <a:t>Ohjelmistokehityksen luonne, jatkuva muutos ja testauksen toistotarve</a:t>
          </a:r>
          <a:endParaRPr lang="fi-FI" sz="1050" dirty="0"/>
        </a:p>
      </dgm:t>
    </dgm:pt>
    <dgm:pt modelId="{0481730D-A61F-4DA9-9627-6BC82C4B148D}" type="parTrans" cxnId="{D0A56A45-20F2-4BCA-BD5A-BA373B2638CC}">
      <dgm:prSet/>
      <dgm:spPr/>
      <dgm:t>
        <a:bodyPr/>
        <a:lstStyle/>
        <a:p>
          <a:endParaRPr lang="fi-FI" sz="2000"/>
        </a:p>
      </dgm:t>
    </dgm:pt>
    <dgm:pt modelId="{555AD147-BAC6-43BB-90DD-1130ABA39199}" type="sibTrans" cxnId="{D0A56A45-20F2-4BCA-BD5A-BA373B2638CC}">
      <dgm:prSet/>
      <dgm:spPr/>
      <dgm:t>
        <a:bodyPr/>
        <a:lstStyle/>
        <a:p>
          <a:endParaRPr lang="fi-FI" sz="2000"/>
        </a:p>
      </dgm:t>
    </dgm:pt>
    <dgm:pt modelId="{5EA30DCB-652C-49B8-9D97-8AF54B4F7E80}">
      <dgm:prSet custT="1"/>
      <dgm:spPr/>
      <dgm:t>
        <a:bodyPr/>
        <a:lstStyle/>
        <a:p>
          <a:r>
            <a:rPr lang="fi-FI" sz="1050" dirty="0" smtClean="0"/>
            <a:t>Testauksen työmäärät ja tehokkuus tuloksina ja kustannuksina</a:t>
          </a:r>
          <a:endParaRPr lang="fi-FI" sz="1050" dirty="0"/>
        </a:p>
      </dgm:t>
    </dgm:pt>
    <dgm:pt modelId="{FAB1DA54-8633-4DA2-80C9-DA6F0989C0DB}" type="parTrans" cxnId="{EF253D2C-88A1-4A17-A421-A437AB497084}">
      <dgm:prSet/>
      <dgm:spPr/>
      <dgm:t>
        <a:bodyPr/>
        <a:lstStyle/>
        <a:p>
          <a:endParaRPr lang="fi-FI" sz="2000"/>
        </a:p>
      </dgm:t>
    </dgm:pt>
    <dgm:pt modelId="{B8684FF1-2E11-4AA1-8744-0C5546446438}" type="sibTrans" cxnId="{EF253D2C-88A1-4A17-A421-A437AB497084}">
      <dgm:prSet/>
      <dgm:spPr/>
      <dgm:t>
        <a:bodyPr/>
        <a:lstStyle/>
        <a:p>
          <a:endParaRPr lang="fi-FI" sz="2000"/>
        </a:p>
      </dgm:t>
    </dgm:pt>
    <dgm:pt modelId="{63777967-36A7-42A3-AAA6-F67A82A84365}">
      <dgm:prSet custT="1"/>
      <dgm:spPr/>
      <dgm:t>
        <a:bodyPr/>
        <a:lstStyle/>
        <a:p>
          <a:r>
            <a:rPr lang="fi-FI" sz="1050" dirty="0" smtClean="0"/>
            <a:t>Riskiohjattu testaus: rajallisen työmäärän kohdistaminen</a:t>
          </a:r>
          <a:endParaRPr lang="fi-FI" sz="1050" dirty="0"/>
        </a:p>
      </dgm:t>
    </dgm:pt>
    <dgm:pt modelId="{F3267288-52D4-4232-8EDE-0C06A198065D}" type="parTrans" cxnId="{558D6982-3136-43B9-B184-56E7146CE86D}">
      <dgm:prSet/>
      <dgm:spPr/>
      <dgm:t>
        <a:bodyPr/>
        <a:lstStyle/>
        <a:p>
          <a:endParaRPr lang="fi-FI" sz="2000"/>
        </a:p>
      </dgm:t>
    </dgm:pt>
    <dgm:pt modelId="{F21EB987-DD12-4AE4-A891-7E0A1B3B9F7C}" type="sibTrans" cxnId="{558D6982-3136-43B9-B184-56E7146CE86D}">
      <dgm:prSet/>
      <dgm:spPr/>
      <dgm:t>
        <a:bodyPr/>
        <a:lstStyle/>
        <a:p>
          <a:endParaRPr lang="fi-FI" sz="2000"/>
        </a:p>
      </dgm:t>
    </dgm:pt>
    <dgm:pt modelId="{8FA580CD-2825-4C51-B1DE-E59D1B218141}">
      <dgm:prSet custT="1"/>
      <dgm:spPr/>
      <dgm:t>
        <a:bodyPr/>
        <a:lstStyle/>
        <a:p>
          <a:r>
            <a:rPr lang="fi-FI" sz="1050" dirty="0" smtClean="0"/>
            <a:t>Havaintokirjausten käsittely ja muutoksista sopiminen</a:t>
          </a:r>
          <a:endParaRPr lang="fi-FI" sz="1050" dirty="0"/>
        </a:p>
      </dgm:t>
    </dgm:pt>
    <dgm:pt modelId="{3834143C-29CF-48A3-A93F-2F105F6D6050}" type="parTrans" cxnId="{C94072C2-A343-4034-AE65-F026F0256435}">
      <dgm:prSet/>
      <dgm:spPr/>
      <dgm:t>
        <a:bodyPr/>
        <a:lstStyle/>
        <a:p>
          <a:endParaRPr lang="fi-FI" sz="2000"/>
        </a:p>
      </dgm:t>
    </dgm:pt>
    <dgm:pt modelId="{72A3146F-3698-4795-BFC6-740EADE57467}" type="sibTrans" cxnId="{C94072C2-A343-4034-AE65-F026F0256435}">
      <dgm:prSet/>
      <dgm:spPr/>
      <dgm:t>
        <a:bodyPr/>
        <a:lstStyle/>
        <a:p>
          <a:endParaRPr lang="fi-FI" sz="2000"/>
        </a:p>
      </dgm:t>
    </dgm:pt>
    <dgm:pt modelId="{E0B0216D-FB34-4FF8-9D6F-878140CAD8C7}">
      <dgm:prSet custT="1"/>
      <dgm:spPr/>
      <dgm:t>
        <a:bodyPr/>
        <a:lstStyle/>
        <a:p>
          <a:r>
            <a:rPr lang="fi-FI" sz="1050" dirty="0" smtClean="0"/>
            <a:t>Testausympäristöt, testitapaukset ja testiaineisto</a:t>
          </a:r>
          <a:endParaRPr lang="fi-FI" sz="1050" dirty="0"/>
        </a:p>
      </dgm:t>
    </dgm:pt>
    <dgm:pt modelId="{742C2641-2368-450E-9041-6212968BDF28}" type="parTrans" cxnId="{165D3642-C139-40E0-AF02-1BF4FD25CF1B}">
      <dgm:prSet/>
      <dgm:spPr/>
      <dgm:t>
        <a:bodyPr/>
        <a:lstStyle/>
        <a:p>
          <a:endParaRPr lang="fi-FI" sz="2000"/>
        </a:p>
      </dgm:t>
    </dgm:pt>
    <dgm:pt modelId="{A52F8DC6-3D0E-458B-B9D3-8E5A5EB293DB}" type="sibTrans" cxnId="{165D3642-C139-40E0-AF02-1BF4FD25CF1B}">
      <dgm:prSet/>
      <dgm:spPr/>
      <dgm:t>
        <a:bodyPr/>
        <a:lstStyle/>
        <a:p>
          <a:endParaRPr lang="fi-FI" sz="2000"/>
        </a:p>
      </dgm:t>
    </dgm:pt>
    <dgm:pt modelId="{59007718-4FEB-43D9-B9E5-8114FFCD746C}">
      <dgm:prSet custT="1"/>
      <dgm:spPr/>
      <dgm:t>
        <a:bodyPr/>
        <a:lstStyle/>
        <a:p>
          <a:r>
            <a:rPr lang="fi-FI" sz="1050" dirty="0" smtClean="0"/>
            <a:t>Testauksen hallinta, seuranta ja mittarit</a:t>
          </a:r>
          <a:endParaRPr lang="fi-FI" sz="1050" dirty="0"/>
        </a:p>
      </dgm:t>
    </dgm:pt>
    <dgm:pt modelId="{90B8E4C9-9201-45CE-B9BA-F827E96CFDB4}" type="parTrans" cxnId="{8C048B0A-FDAC-44D2-B3BE-137FDDEC9FF6}">
      <dgm:prSet/>
      <dgm:spPr/>
      <dgm:t>
        <a:bodyPr/>
        <a:lstStyle/>
        <a:p>
          <a:endParaRPr lang="fi-FI" sz="2000"/>
        </a:p>
      </dgm:t>
    </dgm:pt>
    <dgm:pt modelId="{1BA139E2-2347-43A0-99EC-8A886F47E572}" type="sibTrans" cxnId="{8C048B0A-FDAC-44D2-B3BE-137FDDEC9FF6}">
      <dgm:prSet/>
      <dgm:spPr/>
      <dgm:t>
        <a:bodyPr/>
        <a:lstStyle/>
        <a:p>
          <a:endParaRPr lang="fi-FI" sz="2000"/>
        </a:p>
      </dgm:t>
    </dgm:pt>
    <dgm:pt modelId="{284F0E1D-70AC-40E5-B58D-8B75F4E28080}">
      <dgm:prSet custT="1"/>
      <dgm:spPr/>
      <dgm:t>
        <a:bodyPr/>
        <a:lstStyle/>
        <a:p>
          <a:r>
            <a:rPr lang="fi-FI" sz="1050" dirty="0" smtClean="0"/>
            <a:t>Toistuva hyväksymistestaus ylläpitoluonteiselle kehitystyölle</a:t>
          </a:r>
        </a:p>
      </dgm:t>
    </dgm:pt>
    <dgm:pt modelId="{31BA2C00-143D-4E09-82A4-A572C9C79C5A}" type="parTrans" cxnId="{CF06342C-923C-4B1A-A4EC-4D6001BB9FFD}">
      <dgm:prSet/>
      <dgm:spPr/>
      <dgm:t>
        <a:bodyPr/>
        <a:lstStyle/>
        <a:p>
          <a:endParaRPr lang="fi-FI" sz="2000"/>
        </a:p>
      </dgm:t>
    </dgm:pt>
    <dgm:pt modelId="{4F7A961E-8DB8-4F44-8B4F-2E1AA56DD794}" type="sibTrans" cxnId="{CF06342C-923C-4B1A-A4EC-4D6001BB9FFD}">
      <dgm:prSet/>
      <dgm:spPr/>
      <dgm:t>
        <a:bodyPr/>
        <a:lstStyle/>
        <a:p>
          <a:endParaRPr lang="fi-FI" sz="2000"/>
        </a:p>
      </dgm:t>
    </dgm:pt>
    <dgm:pt modelId="{5A047D2B-AE09-4A6A-B06B-F9BE7B733FC6}">
      <dgm:prSet custT="1"/>
      <dgm:spPr/>
      <dgm:t>
        <a:bodyPr/>
        <a:lstStyle/>
        <a:p>
          <a:r>
            <a:rPr lang="fi-FI" sz="1100" b="1" dirty="0" smtClean="0"/>
            <a:t>Testaus vaatimuksia ja odotuksia vastaan</a:t>
          </a:r>
          <a:endParaRPr lang="fi-FI" sz="1100" b="1" dirty="0"/>
        </a:p>
      </dgm:t>
    </dgm:pt>
    <dgm:pt modelId="{8B477AFB-3BB3-4E4F-A613-7C77A347B362}" type="parTrans" cxnId="{DDA29D37-E8F9-42C3-B045-6EF36EA64061}">
      <dgm:prSet/>
      <dgm:spPr/>
      <dgm:t>
        <a:bodyPr/>
        <a:lstStyle/>
        <a:p>
          <a:endParaRPr lang="fi-FI" sz="2000"/>
        </a:p>
      </dgm:t>
    </dgm:pt>
    <dgm:pt modelId="{2A70620D-A631-4E94-958B-CBD6322152E7}" type="sibTrans" cxnId="{DDA29D37-E8F9-42C3-B045-6EF36EA64061}">
      <dgm:prSet/>
      <dgm:spPr/>
      <dgm:t>
        <a:bodyPr/>
        <a:lstStyle/>
        <a:p>
          <a:endParaRPr lang="fi-FI" sz="2000"/>
        </a:p>
      </dgm:t>
    </dgm:pt>
    <dgm:pt modelId="{3D5166C9-5BA2-4001-892D-F49F4600D5B7}">
      <dgm:prSet custT="1"/>
      <dgm:spPr/>
      <dgm:t>
        <a:bodyPr/>
        <a:lstStyle/>
        <a:p>
          <a:r>
            <a:rPr lang="fi-FI" sz="1050" dirty="0" smtClean="0"/>
            <a:t>Sovellusalueosaamisen ja liiketoimintaprosessin osaamisen käyttö hyväksymistestauksessa</a:t>
          </a:r>
          <a:endParaRPr lang="fi-FI" sz="1050" dirty="0"/>
        </a:p>
      </dgm:t>
    </dgm:pt>
    <dgm:pt modelId="{65196C88-0272-4B87-95C5-9ECF31C690C5}" type="parTrans" cxnId="{CBD1C9AE-9CB6-4DAC-9A13-CF429A4CF2CE}">
      <dgm:prSet/>
      <dgm:spPr/>
      <dgm:t>
        <a:bodyPr/>
        <a:lstStyle/>
        <a:p>
          <a:endParaRPr lang="fi-FI" sz="2000"/>
        </a:p>
      </dgm:t>
    </dgm:pt>
    <dgm:pt modelId="{7A884809-F420-4DBC-B4D1-42CD63AA7E48}" type="sibTrans" cxnId="{CBD1C9AE-9CB6-4DAC-9A13-CF429A4CF2CE}">
      <dgm:prSet/>
      <dgm:spPr/>
      <dgm:t>
        <a:bodyPr/>
        <a:lstStyle/>
        <a:p>
          <a:endParaRPr lang="fi-FI" sz="2000"/>
        </a:p>
      </dgm:t>
    </dgm:pt>
    <dgm:pt modelId="{B51F8DC3-7A9F-4CF9-90CC-BC0B820F7B91}">
      <dgm:prSet custT="1"/>
      <dgm:spPr/>
      <dgm:t>
        <a:bodyPr/>
        <a:lstStyle/>
        <a:p>
          <a:r>
            <a:rPr lang="fi-FI" sz="1050" dirty="0" smtClean="0"/>
            <a:t>Vaatimusten järjestelmällinen läpikäynti</a:t>
          </a:r>
          <a:endParaRPr lang="fi-FI" sz="1050" dirty="0"/>
        </a:p>
      </dgm:t>
    </dgm:pt>
    <dgm:pt modelId="{B548D59C-C2A0-4CDC-8BEB-4BECB5846444}" type="parTrans" cxnId="{58B7B001-F24A-48C0-A169-02A75BBAF8BA}">
      <dgm:prSet/>
      <dgm:spPr/>
      <dgm:t>
        <a:bodyPr/>
        <a:lstStyle/>
        <a:p>
          <a:endParaRPr lang="fi-FI" sz="2000"/>
        </a:p>
      </dgm:t>
    </dgm:pt>
    <dgm:pt modelId="{03D855FF-F756-46AB-8876-3918B1753DDF}" type="sibTrans" cxnId="{58B7B001-F24A-48C0-A169-02A75BBAF8BA}">
      <dgm:prSet/>
      <dgm:spPr/>
      <dgm:t>
        <a:bodyPr/>
        <a:lstStyle/>
        <a:p>
          <a:endParaRPr lang="fi-FI" sz="2000"/>
        </a:p>
      </dgm:t>
    </dgm:pt>
    <dgm:pt modelId="{6DCF312A-D696-446F-8AEF-7CC30783908B}">
      <dgm:prSet custT="1"/>
      <dgm:spPr/>
      <dgm:t>
        <a:bodyPr/>
        <a:lstStyle/>
        <a:p>
          <a:r>
            <a:rPr lang="fi-FI" sz="1050" dirty="0" smtClean="0"/>
            <a:t>Testitapausten merkitys hyväksymistestaukselle</a:t>
          </a:r>
          <a:endParaRPr lang="fi-FI" sz="1050" dirty="0"/>
        </a:p>
      </dgm:t>
    </dgm:pt>
    <dgm:pt modelId="{3447F3BB-C176-403F-A440-AAA7B2132DFD}" type="parTrans" cxnId="{CF519EFD-A2DD-4B69-9F56-3F9C8F4E2CC2}">
      <dgm:prSet/>
      <dgm:spPr/>
      <dgm:t>
        <a:bodyPr/>
        <a:lstStyle/>
        <a:p>
          <a:endParaRPr lang="fi-FI" sz="2000"/>
        </a:p>
      </dgm:t>
    </dgm:pt>
    <dgm:pt modelId="{800753E0-C5D5-4C74-BD57-FDEE2C16A254}" type="sibTrans" cxnId="{CF519EFD-A2DD-4B69-9F56-3F9C8F4E2CC2}">
      <dgm:prSet/>
      <dgm:spPr/>
      <dgm:t>
        <a:bodyPr/>
        <a:lstStyle/>
        <a:p>
          <a:endParaRPr lang="fi-FI" sz="2000"/>
        </a:p>
      </dgm:t>
    </dgm:pt>
    <dgm:pt modelId="{13C8241D-30EB-4DA5-91CE-6455887CB532}">
      <dgm:prSet custT="1"/>
      <dgm:spPr/>
      <dgm:t>
        <a:bodyPr/>
        <a:lstStyle/>
        <a:p>
          <a:r>
            <a:rPr lang="fi-FI" sz="1050" dirty="0" smtClean="0"/>
            <a:t>Hyväksymistestausta tukevat testitapaukset</a:t>
          </a:r>
          <a:endParaRPr lang="fi-FI" sz="1050" dirty="0"/>
        </a:p>
      </dgm:t>
    </dgm:pt>
    <dgm:pt modelId="{1D178F00-0239-4F3A-B7E9-B16BC7D40770}" type="parTrans" cxnId="{25D78AD7-111E-45EA-B17E-5767226B1533}">
      <dgm:prSet/>
      <dgm:spPr/>
      <dgm:t>
        <a:bodyPr/>
        <a:lstStyle/>
        <a:p>
          <a:endParaRPr lang="fi-FI" sz="2000"/>
        </a:p>
      </dgm:t>
    </dgm:pt>
    <dgm:pt modelId="{FF284607-31F0-407C-BDD3-060E3A6EF9D4}" type="sibTrans" cxnId="{25D78AD7-111E-45EA-B17E-5767226B1533}">
      <dgm:prSet/>
      <dgm:spPr/>
      <dgm:t>
        <a:bodyPr/>
        <a:lstStyle/>
        <a:p>
          <a:endParaRPr lang="fi-FI" sz="2000"/>
        </a:p>
      </dgm:t>
    </dgm:pt>
    <dgm:pt modelId="{F0649716-B277-4246-B4C1-BC542F322F8A}">
      <dgm:prSet custT="1"/>
      <dgm:spPr/>
      <dgm:t>
        <a:bodyPr/>
        <a:lstStyle/>
        <a:p>
          <a:r>
            <a:rPr lang="fi-FI" sz="1050" dirty="0" smtClean="0"/>
            <a:t>Testitapausten priorisointi hyväksymistestaukselle: mistä tiedetään mikä on tärkeää liiketoiminnalle</a:t>
          </a:r>
          <a:endParaRPr lang="fi-FI" sz="1050" dirty="0"/>
        </a:p>
      </dgm:t>
    </dgm:pt>
    <dgm:pt modelId="{27839B55-E584-422D-B72E-32A347E21FD6}" type="parTrans" cxnId="{B584686C-FF56-43FC-A6E9-BFDC110D0F3A}">
      <dgm:prSet/>
      <dgm:spPr/>
      <dgm:t>
        <a:bodyPr/>
        <a:lstStyle/>
        <a:p>
          <a:endParaRPr lang="fi-FI" sz="2000"/>
        </a:p>
      </dgm:t>
    </dgm:pt>
    <dgm:pt modelId="{3CA4F354-DF59-45C6-AF13-28268C39518D}" type="sibTrans" cxnId="{B584686C-FF56-43FC-A6E9-BFDC110D0F3A}">
      <dgm:prSet/>
      <dgm:spPr/>
      <dgm:t>
        <a:bodyPr/>
        <a:lstStyle/>
        <a:p>
          <a:endParaRPr lang="fi-FI" sz="2000"/>
        </a:p>
      </dgm:t>
    </dgm:pt>
    <dgm:pt modelId="{582737C7-A23B-4BCF-8152-3B1924EDA793}">
      <dgm:prSet custT="1"/>
      <dgm:spPr/>
      <dgm:t>
        <a:bodyPr/>
        <a:lstStyle/>
        <a:p>
          <a:r>
            <a:rPr lang="fi-FI" sz="1050" dirty="0" smtClean="0"/>
            <a:t>Kelpuuttaminen käyttöön vs. todentaminen suhteessa vaatimuksiin</a:t>
          </a:r>
        </a:p>
      </dgm:t>
    </dgm:pt>
    <dgm:pt modelId="{37F03128-A80E-4CE0-BC23-6DF7CB8A11D8}" type="parTrans" cxnId="{E7C37E4C-54D2-4BC9-B239-CAD8181BEBE4}">
      <dgm:prSet/>
      <dgm:spPr/>
      <dgm:t>
        <a:bodyPr/>
        <a:lstStyle/>
        <a:p>
          <a:endParaRPr lang="fi-FI" sz="2000"/>
        </a:p>
      </dgm:t>
    </dgm:pt>
    <dgm:pt modelId="{FD69B635-10E7-462F-9558-02A0E5739F4C}" type="sibTrans" cxnId="{E7C37E4C-54D2-4BC9-B239-CAD8181BEBE4}">
      <dgm:prSet/>
      <dgm:spPr/>
      <dgm:t>
        <a:bodyPr/>
        <a:lstStyle/>
        <a:p>
          <a:endParaRPr lang="fi-FI" sz="2000"/>
        </a:p>
      </dgm:t>
    </dgm:pt>
    <dgm:pt modelId="{3B2B6EC3-FAFC-4F27-AF22-3209ABD0D639}" type="pres">
      <dgm:prSet presAssocID="{D5C8C534-B55B-41EF-88DB-ED9C24EBB7FC}" presName="Name0" presStyleCnt="0">
        <dgm:presLayoutVars>
          <dgm:dir/>
          <dgm:animLvl val="lvl"/>
          <dgm:resizeHandles val="exact"/>
        </dgm:presLayoutVars>
      </dgm:prSet>
      <dgm:spPr/>
      <dgm:t>
        <a:bodyPr/>
        <a:lstStyle/>
        <a:p>
          <a:endParaRPr lang="fi-FI"/>
        </a:p>
      </dgm:t>
    </dgm:pt>
    <dgm:pt modelId="{D92851F3-0C0F-489F-A254-A6812400DD0A}" type="pres">
      <dgm:prSet presAssocID="{876F12A8-3CBF-4C23-9511-B3BE912EE8A9}" presName="composite" presStyleCnt="0"/>
      <dgm:spPr/>
    </dgm:pt>
    <dgm:pt modelId="{8B58748B-2575-4D58-9FA0-9F6CA0DF6B78}" type="pres">
      <dgm:prSet presAssocID="{876F12A8-3CBF-4C23-9511-B3BE912EE8A9}" presName="parTx" presStyleLbl="alignNode1" presStyleIdx="0" presStyleCnt="4">
        <dgm:presLayoutVars>
          <dgm:chMax val="0"/>
          <dgm:chPref val="0"/>
          <dgm:bulletEnabled val="1"/>
        </dgm:presLayoutVars>
      </dgm:prSet>
      <dgm:spPr/>
      <dgm:t>
        <a:bodyPr/>
        <a:lstStyle/>
        <a:p>
          <a:endParaRPr lang="fi-FI"/>
        </a:p>
      </dgm:t>
    </dgm:pt>
    <dgm:pt modelId="{AAB1147D-BCEB-4287-850D-0C28E16B7E63}" type="pres">
      <dgm:prSet presAssocID="{876F12A8-3CBF-4C23-9511-B3BE912EE8A9}" presName="desTx" presStyleLbl="alignAccFollowNode1" presStyleIdx="0" presStyleCnt="4">
        <dgm:presLayoutVars>
          <dgm:bulletEnabled val="1"/>
        </dgm:presLayoutVars>
      </dgm:prSet>
      <dgm:spPr/>
      <dgm:t>
        <a:bodyPr/>
        <a:lstStyle/>
        <a:p>
          <a:endParaRPr lang="fi-FI"/>
        </a:p>
      </dgm:t>
    </dgm:pt>
    <dgm:pt modelId="{4F0A595E-783C-4E50-8B40-09F25FB93E7C}" type="pres">
      <dgm:prSet presAssocID="{9D64F3A3-F0ED-495F-BD66-97CC72F1F1F0}" presName="space" presStyleCnt="0"/>
      <dgm:spPr/>
    </dgm:pt>
    <dgm:pt modelId="{D92EDD19-9446-4D94-8EDB-D131762C721A}" type="pres">
      <dgm:prSet presAssocID="{52B1E9F8-FF5A-4290-A2EE-04416696410E}" presName="composite" presStyleCnt="0"/>
      <dgm:spPr/>
    </dgm:pt>
    <dgm:pt modelId="{20330B3A-115A-4449-BBD2-F1DF7DA08C27}" type="pres">
      <dgm:prSet presAssocID="{52B1E9F8-FF5A-4290-A2EE-04416696410E}" presName="parTx" presStyleLbl="alignNode1" presStyleIdx="1" presStyleCnt="4">
        <dgm:presLayoutVars>
          <dgm:chMax val="0"/>
          <dgm:chPref val="0"/>
          <dgm:bulletEnabled val="1"/>
        </dgm:presLayoutVars>
      </dgm:prSet>
      <dgm:spPr/>
      <dgm:t>
        <a:bodyPr/>
        <a:lstStyle/>
        <a:p>
          <a:endParaRPr lang="fi-FI"/>
        </a:p>
      </dgm:t>
    </dgm:pt>
    <dgm:pt modelId="{8901B344-4CDE-44D5-B022-7E0CE2C33BF0}" type="pres">
      <dgm:prSet presAssocID="{52B1E9F8-FF5A-4290-A2EE-04416696410E}" presName="desTx" presStyleLbl="alignAccFollowNode1" presStyleIdx="1" presStyleCnt="4" custLinFactNeighborX="-512" custLinFactNeighborY="-94">
        <dgm:presLayoutVars>
          <dgm:bulletEnabled val="1"/>
        </dgm:presLayoutVars>
      </dgm:prSet>
      <dgm:spPr/>
      <dgm:t>
        <a:bodyPr/>
        <a:lstStyle/>
        <a:p>
          <a:endParaRPr lang="fi-FI"/>
        </a:p>
      </dgm:t>
    </dgm:pt>
    <dgm:pt modelId="{1849843C-4BCF-4CA2-9DF2-6782D020EB95}" type="pres">
      <dgm:prSet presAssocID="{B47D46F4-2A52-46AE-8568-3E60E48D3D30}" presName="space" presStyleCnt="0"/>
      <dgm:spPr/>
    </dgm:pt>
    <dgm:pt modelId="{339E4B24-AAC5-4F06-B52E-2DF3F454F8CD}" type="pres">
      <dgm:prSet presAssocID="{EC2ECAB8-A85D-40C7-9117-2AA078A20F63}" presName="composite" presStyleCnt="0"/>
      <dgm:spPr/>
    </dgm:pt>
    <dgm:pt modelId="{E3E6BEB8-B08E-43CD-A3AF-F2B85C4580AD}" type="pres">
      <dgm:prSet presAssocID="{EC2ECAB8-A85D-40C7-9117-2AA078A20F63}" presName="parTx" presStyleLbl="alignNode1" presStyleIdx="2" presStyleCnt="4">
        <dgm:presLayoutVars>
          <dgm:chMax val="0"/>
          <dgm:chPref val="0"/>
          <dgm:bulletEnabled val="1"/>
        </dgm:presLayoutVars>
      </dgm:prSet>
      <dgm:spPr/>
      <dgm:t>
        <a:bodyPr/>
        <a:lstStyle/>
        <a:p>
          <a:endParaRPr lang="fi-FI"/>
        </a:p>
      </dgm:t>
    </dgm:pt>
    <dgm:pt modelId="{2CE42794-9563-4A96-B9CC-520A06D6EE9D}" type="pres">
      <dgm:prSet presAssocID="{EC2ECAB8-A85D-40C7-9117-2AA078A20F63}" presName="desTx" presStyleLbl="alignAccFollowNode1" presStyleIdx="2" presStyleCnt="4">
        <dgm:presLayoutVars>
          <dgm:bulletEnabled val="1"/>
        </dgm:presLayoutVars>
      </dgm:prSet>
      <dgm:spPr/>
      <dgm:t>
        <a:bodyPr/>
        <a:lstStyle/>
        <a:p>
          <a:endParaRPr lang="fi-FI"/>
        </a:p>
      </dgm:t>
    </dgm:pt>
    <dgm:pt modelId="{B11BD261-271F-4274-A770-76A44AED9CB3}" type="pres">
      <dgm:prSet presAssocID="{1857EB93-3123-4042-9586-557C94FF38FB}" presName="space" presStyleCnt="0"/>
      <dgm:spPr/>
    </dgm:pt>
    <dgm:pt modelId="{9FBE3C72-DB3A-46C6-B2EE-4B94FAA24B04}" type="pres">
      <dgm:prSet presAssocID="{5A047D2B-AE09-4A6A-B06B-F9BE7B733FC6}" presName="composite" presStyleCnt="0"/>
      <dgm:spPr/>
    </dgm:pt>
    <dgm:pt modelId="{016C0C30-52FC-4CA5-B7B1-35861449347E}" type="pres">
      <dgm:prSet presAssocID="{5A047D2B-AE09-4A6A-B06B-F9BE7B733FC6}" presName="parTx" presStyleLbl="alignNode1" presStyleIdx="3" presStyleCnt="4">
        <dgm:presLayoutVars>
          <dgm:chMax val="0"/>
          <dgm:chPref val="0"/>
          <dgm:bulletEnabled val="1"/>
        </dgm:presLayoutVars>
      </dgm:prSet>
      <dgm:spPr/>
      <dgm:t>
        <a:bodyPr/>
        <a:lstStyle/>
        <a:p>
          <a:endParaRPr lang="fi-FI"/>
        </a:p>
      </dgm:t>
    </dgm:pt>
    <dgm:pt modelId="{882F28AC-AD1B-4E0E-AEA6-8989F5CE6A35}" type="pres">
      <dgm:prSet presAssocID="{5A047D2B-AE09-4A6A-B06B-F9BE7B733FC6}" presName="desTx" presStyleLbl="alignAccFollowNode1" presStyleIdx="3" presStyleCnt="4">
        <dgm:presLayoutVars>
          <dgm:bulletEnabled val="1"/>
        </dgm:presLayoutVars>
      </dgm:prSet>
      <dgm:spPr/>
      <dgm:t>
        <a:bodyPr/>
        <a:lstStyle/>
        <a:p>
          <a:endParaRPr lang="fi-FI"/>
        </a:p>
      </dgm:t>
    </dgm:pt>
  </dgm:ptLst>
  <dgm:cxnLst>
    <dgm:cxn modelId="{E1A005BE-128C-4479-A4FA-3DF86533F66C}" srcId="{EC2ECAB8-A85D-40C7-9117-2AA078A20F63}" destId="{8FD7E9F2-2311-44BE-9382-0FD689EB7EE2}" srcOrd="1" destOrd="0" parTransId="{5995E318-DFCD-47CE-9AC3-7D5D5C2C1D86}" sibTransId="{F367CA91-5390-4142-B6C6-B0F4A0631B49}"/>
    <dgm:cxn modelId="{0CFE4C58-CDC3-4356-BC53-2F702192EE9F}" type="presOf" srcId="{D72C800D-6A31-4F3A-928F-3FAA9F4B2458}" destId="{8901B344-4CDE-44D5-B022-7E0CE2C33BF0}" srcOrd="0" destOrd="4" presId="urn:microsoft.com/office/officeart/2005/8/layout/hList1"/>
    <dgm:cxn modelId="{30566708-7369-440D-8220-D3C7D17B04FC}" srcId="{876F12A8-3CBF-4C23-9511-B3BE912EE8A9}" destId="{17A262F1-9003-4C77-8F50-D8E5C174B968}" srcOrd="6" destOrd="0" parTransId="{6CB28059-AA75-4527-99CA-A3EDDA9850C4}" sibTransId="{2C6A6872-2DBF-427F-9E6B-05310B7310D1}"/>
    <dgm:cxn modelId="{3E2A5F5C-CAA0-4755-95B6-38BAC3EAD15E}" type="presOf" srcId="{8FA580CD-2825-4C51-B1DE-E59D1B218141}" destId="{2CE42794-9563-4A96-B9CC-520A06D6EE9D}" srcOrd="0" destOrd="5" presId="urn:microsoft.com/office/officeart/2005/8/layout/hList1"/>
    <dgm:cxn modelId="{165D3642-C139-40E0-AF02-1BF4FD25CF1B}" srcId="{EC2ECAB8-A85D-40C7-9117-2AA078A20F63}" destId="{E0B0216D-FB34-4FF8-9D6F-878140CAD8C7}" srcOrd="6" destOrd="0" parTransId="{742C2641-2368-450E-9041-6212968BDF28}" sibTransId="{A52F8DC6-3D0E-458B-B9D3-8E5A5EB293DB}"/>
    <dgm:cxn modelId="{D7A22F33-A714-499C-B824-B67C4DAFB562}" type="presOf" srcId="{C896329D-659F-41D8-8428-23F35A3F2A7F}" destId="{AAB1147D-BCEB-4287-850D-0C28E16B7E63}" srcOrd="0" destOrd="2" presId="urn:microsoft.com/office/officeart/2005/8/layout/hList1"/>
    <dgm:cxn modelId="{FA62453E-1BD2-493F-840B-6D439D1AF56F}" type="presOf" srcId="{D5C8C534-B55B-41EF-88DB-ED9C24EBB7FC}" destId="{3B2B6EC3-FAFC-4F27-AF22-3209ABD0D639}" srcOrd="0" destOrd="0" presId="urn:microsoft.com/office/officeart/2005/8/layout/hList1"/>
    <dgm:cxn modelId="{2E5C2DC3-841D-404E-99E2-4083C53010A1}" type="presOf" srcId="{5A047D2B-AE09-4A6A-B06B-F9BE7B733FC6}" destId="{016C0C30-52FC-4CA5-B7B1-35861449347E}" srcOrd="0" destOrd="0" presId="urn:microsoft.com/office/officeart/2005/8/layout/hList1"/>
    <dgm:cxn modelId="{9E20866B-39E1-421E-BBF0-2C4CC4E668E7}" srcId="{D5C8C534-B55B-41EF-88DB-ED9C24EBB7FC}" destId="{52B1E9F8-FF5A-4290-A2EE-04416696410E}" srcOrd="1" destOrd="0" parTransId="{EE94DFC9-8FE1-4D92-A39A-2B2FA864EDE3}" sibTransId="{B47D46F4-2A52-46AE-8568-3E60E48D3D30}"/>
    <dgm:cxn modelId="{C78356CA-0517-4735-8652-8905BAF5A5B1}" type="presOf" srcId="{1D93A904-DA31-4610-8126-8F418CD7E1E6}" destId="{AAB1147D-BCEB-4287-850D-0C28E16B7E63}" srcOrd="0" destOrd="3" presId="urn:microsoft.com/office/officeart/2005/8/layout/hList1"/>
    <dgm:cxn modelId="{978BC0E4-3D6F-4CCD-81BB-6D94DF706989}" type="presOf" srcId="{13C8241D-30EB-4DA5-91CE-6455887CB532}" destId="{882F28AC-AD1B-4E0E-AEA6-8989F5CE6A35}" srcOrd="0" destOrd="3" presId="urn:microsoft.com/office/officeart/2005/8/layout/hList1"/>
    <dgm:cxn modelId="{E5AB476D-10D1-4DFA-AB5F-FFBBC67CBC72}" type="presOf" srcId="{52B1E9F8-FF5A-4290-A2EE-04416696410E}" destId="{20330B3A-115A-4449-BBD2-F1DF7DA08C27}" srcOrd="0" destOrd="0" presId="urn:microsoft.com/office/officeart/2005/8/layout/hList1"/>
    <dgm:cxn modelId="{8C048B0A-FDAC-44D2-B3BE-137FDDEC9FF6}" srcId="{EC2ECAB8-A85D-40C7-9117-2AA078A20F63}" destId="{59007718-4FEB-43D9-B9E5-8114FFCD746C}" srcOrd="7" destOrd="0" parTransId="{90B8E4C9-9201-45CE-B9BA-F827E96CFDB4}" sibTransId="{1BA139E2-2347-43A0-99EC-8A886F47E572}"/>
    <dgm:cxn modelId="{DF223F19-81A7-4EA6-98DF-0E2387D499A4}" srcId="{52B1E9F8-FF5A-4290-A2EE-04416696410E}" destId="{D72C800D-6A31-4F3A-928F-3FAA9F4B2458}" srcOrd="4" destOrd="0" parTransId="{09F4EBD8-72E6-409A-BB6C-4843FEBEAA2B}" sibTransId="{3A004302-3BD4-436A-BFCE-E278615647A1}"/>
    <dgm:cxn modelId="{A5AB44A5-0A54-4255-863D-C63ECB47ADB4}" srcId="{52B1E9F8-FF5A-4290-A2EE-04416696410E}" destId="{1916EEB6-8012-4C32-BB16-D45FE8388CAB}" srcOrd="1" destOrd="0" parTransId="{AAE70BB2-FF9F-4070-A5FC-ED235CA4153C}" sibTransId="{2FBCF5CD-18EA-4379-8DDB-078E7BE8F140}"/>
    <dgm:cxn modelId="{FC853B53-7D65-41F8-842A-1527B7BD1F11}" srcId="{52B1E9F8-FF5A-4290-A2EE-04416696410E}" destId="{2BB21CFB-3C14-4EE0-BF97-9DE197EDB4FB}" srcOrd="3" destOrd="0" parTransId="{55DB9CF7-0918-46A0-A077-9B525FE754A0}" sibTransId="{B87C9EBE-1F3B-4B6F-8B1B-6ED6999EA57C}"/>
    <dgm:cxn modelId="{F3BBAB88-C070-479A-B7DC-BDBD47E41B54}" type="presOf" srcId="{B51F8DC3-7A9F-4CF9-90CC-BC0B820F7B91}" destId="{882F28AC-AD1B-4E0E-AEA6-8989F5CE6A35}" srcOrd="0" destOrd="1" presId="urn:microsoft.com/office/officeart/2005/8/layout/hList1"/>
    <dgm:cxn modelId="{58B7B001-F24A-48C0-A169-02A75BBAF8BA}" srcId="{5A047D2B-AE09-4A6A-B06B-F9BE7B733FC6}" destId="{B51F8DC3-7A9F-4CF9-90CC-BC0B820F7B91}" srcOrd="1" destOrd="0" parTransId="{B548D59C-C2A0-4CDC-8BEB-4BECB5846444}" sibTransId="{03D855FF-F756-46AB-8876-3918B1753DDF}"/>
    <dgm:cxn modelId="{A5336A68-D219-41E4-84C2-83ED0D8F3C08}" type="presOf" srcId="{0C5135B2-B7D9-4A56-B321-EACBE96AD852}" destId="{AAB1147D-BCEB-4287-850D-0C28E16B7E63}" srcOrd="0" destOrd="5" presId="urn:microsoft.com/office/officeart/2005/8/layout/hList1"/>
    <dgm:cxn modelId="{BFDBCF6B-8421-49AF-8B18-8BA661778DA5}" type="presOf" srcId="{284F0E1D-70AC-40E5-B58D-8B75F4E28080}" destId="{2CE42794-9563-4A96-B9CC-520A06D6EE9D}" srcOrd="0" destOrd="8" presId="urn:microsoft.com/office/officeart/2005/8/layout/hList1"/>
    <dgm:cxn modelId="{4F5FC082-CAB6-48B7-811D-7AFD3E41D218}" type="presOf" srcId="{C47477C1-EBA0-4A69-9865-EEB1CC3C0A49}" destId="{AAB1147D-BCEB-4287-850D-0C28E16B7E63}" srcOrd="0" destOrd="1" presId="urn:microsoft.com/office/officeart/2005/8/layout/hList1"/>
    <dgm:cxn modelId="{5D40A653-A696-4FD0-A24A-7CCAC7193D58}" srcId="{876F12A8-3CBF-4C23-9511-B3BE912EE8A9}" destId="{1D93A904-DA31-4610-8126-8F418CD7E1E6}" srcOrd="3" destOrd="0" parTransId="{637248D1-417D-468F-8F5A-263F0EEE4E25}" sibTransId="{4CE4025D-124A-4864-812A-CAFE879FDB0F}"/>
    <dgm:cxn modelId="{931434B6-00F4-4699-887F-56BCBF48E59B}" srcId="{876F12A8-3CBF-4C23-9511-B3BE912EE8A9}" destId="{B388BF5D-1F28-4429-9317-BEF154AD918C}" srcOrd="7" destOrd="0" parTransId="{00DC2BDA-9FCE-4789-8612-CBAB489E1008}" sibTransId="{04381C85-A969-462F-89C0-62961ACABCF6}"/>
    <dgm:cxn modelId="{C58A83BF-8203-455F-B252-C17D380E0CFB}" type="presOf" srcId="{59007718-4FEB-43D9-B9E5-8114FFCD746C}" destId="{2CE42794-9563-4A96-B9CC-520A06D6EE9D}" srcOrd="0" destOrd="7" presId="urn:microsoft.com/office/officeart/2005/8/layout/hList1"/>
    <dgm:cxn modelId="{B994008C-8A67-4A8E-BFFF-87FE5FCDC49C}" type="presOf" srcId="{17A262F1-9003-4C77-8F50-D8E5C174B968}" destId="{AAB1147D-BCEB-4287-850D-0C28E16B7E63}" srcOrd="0" destOrd="6" presId="urn:microsoft.com/office/officeart/2005/8/layout/hList1"/>
    <dgm:cxn modelId="{C94072C2-A343-4034-AE65-F026F0256435}" srcId="{EC2ECAB8-A85D-40C7-9117-2AA078A20F63}" destId="{8FA580CD-2825-4C51-B1DE-E59D1B218141}" srcOrd="5" destOrd="0" parTransId="{3834143C-29CF-48A3-A93F-2F105F6D6050}" sibTransId="{72A3146F-3698-4795-BFC6-740EADE57467}"/>
    <dgm:cxn modelId="{98423C15-27B0-4403-B293-08AE9ECEBFA7}" type="presOf" srcId="{1916EEB6-8012-4C32-BB16-D45FE8388CAB}" destId="{8901B344-4CDE-44D5-B022-7E0CE2C33BF0}" srcOrd="0" destOrd="1" presId="urn:microsoft.com/office/officeart/2005/8/layout/hList1"/>
    <dgm:cxn modelId="{D1E18ACA-E2AC-419B-B0C8-489177C231F1}" srcId="{D5C8C534-B55B-41EF-88DB-ED9C24EBB7FC}" destId="{876F12A8-3CBF-4C23-9511-B3BE912EE8A9}" srcOrd="0" destOrd="0" parTransId="{1BEBABA3-2449-4976-9CA0-CD33A6A3B3B9}" sibTransId="{9D64F3A3-F0ED-495F-BD66-97CC72F1F1F0}"/>
    <dgm:cxn modelId="{F163E7A1-F61D-40FA-8D51-09DFBDF63920}" srcId="{D5C8C534-B55B-41EF-88DB-ED9C24EBB7FC}" destId="{EC2ECAB8-A85D-40C7-9117-2AA078A20F63}" srcOrd="2" destOrd="0" parTransId="{5EE77FF3-6958-4AA2-A361-996476EE469F}" sibTransId="{1857EB93-3123-4042-9586-557C94FF38FB}"/>
    <dgm:cxn modelId="{EC0C1EBC-1BB6-4B64-9783-15A05DC6D254}" srcId="{876F12A8-3CBF-4C23-9511-B3BE912EE8A9}" destId="{0C5135B2-B7D9-4A56-B321-EACBE96AD852}" srcOrd="5" destOrd="0" parTransId="{AFF35C9C-E88B-481D-A218-745179C42A89}" sibTransId="{2AF380E5-541E-476E-A57D-2AF52F0FD3CF}"/>
    <dgm:cxn modelId="{B584686C-FF56-43FC-A6E9-BFDC110D0F3A}" srcId="{5A047D2B-AE09-4A6A-B06B-F9BE7B733FC6}" destId="{F0649716-B277-4246-B4C1-BC542F322F8A}" srcOrd="4" destOrd="0" parTransId="{27839B55-E584-422D-B72E-32A347E21FD6}" sibTransId="{3CA4F354-DF59-45C6-AF13-28268C39518D}"/>
    <dgm:cxn modelId="{2CE8F16B-3798-449C-86E1-2FB6AA12E53A}" type="presOf" srcId="{F0649716-B277-4246-B4C1-BC542F322F8A}" destId="{882F28AC-AD1B-4E0E-AEA6-8989F5CE6A35}" srcOrd="0" destOrd="4" presId="urn:microsoft.com/office/officeart/2005/8/layout/hList1"/>
    <dgm:cxn modelId="{D71B0854-94D7-4E70-9906-79916BDF1C2E}" srcId="{876F12A8-3CBF-4C23-9511-B3BE912EE8A9}" destId="{ED3D8A5C-A004-4F25-9E95-105C5CBAC5B8}" srcOrd="4" destOrd="0" parTransId="{2602785F-5020-4C37-9349-25B3C6EB8027}" sibTransId="{B91310B6-65D7-4C98-8D22-83CC38A1C4FE}"/>
    <dgm:cxn modelId="{4B5932BF-AF36-4E66-9C13-C51B690C5DA2}" type="presOf" srcId="{63777967-36A7-42A3-AAA6-F67A82A84365}" destId="{2CE42794-9563-4A96-B9CC-520A06D6EE9D}" srcOrd="0" destOrd="4" presId="urn:microsoft.com/office/officeart/2005/8/layout/hList1"/>
    <dgm:cxn modelId="{59350227-04A8-4FAD-AA07-06A40DDA4841}" type="presOf" srcId="{6DCF312A-D696-446F-8AEF-7CC30783908B}" destId="{882F28AC-AD1B-4E0E-AEA6-8989F5CE6A35}" srcOrd="0" destOrd="2" presId="urn:microsoft.com/office/officeart/2005/8/layout/hList1"/>
    <dgm:cxn modelId="{01BB8F0A-DBB6-4A80-94EE-43D8A24D23C3}" type="presOf" srcId="{884C6235-9D16-4D95-BC42-131FB482992D}" destId="{2CE42794-9563-4A96-B9CC-520A06D6EE9D}" srcOrd="0" destOrd="2" presId="urn:microsoft.com/office/officeart/2005/8/layout/hList1"/>
    <dgm:cxn modelId="{31A74A7C-6EE4-4354-996F-8AAB1F1F1E27}" type="presOf" srcId="{F3C8CAEE-C3C5-4F4E-B8D6-95CD478198FC}" destId="{2CE42794-9563-4A96-B9CC-520A06D6EE9D}" srcOrd="0" destOrd="0" presId="urn:microsoft.com/office/officeart/2005/8/layout/hList1"/>
    <dgm:cxn modelId="{20F112EA-FA0A-4E49-B8A3-7CA204796284}" type="presOf" srcId="{77261A98-EA16-48DE-BDEC-862B033DFA44}" destId="{AAB1147D-BCEB-4287-850D-0C28E16B7E63}" srcOrd="0" destOrd="0" presId="urn:microsoft.com/office/officeart/2005/8/layout/hList1"/>
    <dgm:cxn modelId="{36860DE1-6F5F-4025-A828-41782B80E483}" srcId="{EC2ECAB8-A85D-40C7-9117-2AA078A20F63}" destId="{F3C8CAEE-C3C5-4F4E-B8D6-95CD478198FC}" srcOrd="0" destOrd="0" parTransId="{5285F996-D863-41D2-BCDC-C49BA518BF7E}" sibTransId="{E224FB83-0D9D-4738-BEF7-DDCB4BC4B3E5}"/>
    <dgm:cxn modelId="{1150D432-F2AA-4822-8A0F-1FA908126E66}" type="presOf" srcId="{876F12A8-3CBF-4C23-9511-B3BE912EE8A9}" destId="{8B58748B-2575-4D58-9FA0-9F6CA0DF6B78}" srcOrd="0" destOrd="0" presId="urn:microsoft.com/office/officeart/2005/8/layout/hList1"/>
    <dgm:cxn modelId="{CBD1C9AE-9CB6-4DAC-9A13-CF429A4CF2CE}" srcId="{5A047D2B-AE09-4A6A-B06B-F9BE7B733FC6}" destId="{3D5166C9-5BA2-4001-892D-F49F4600D5B7}" srcOrd="0" destOrd="0" parTransId="{65196C88-0272-4B87-95C5-9ECF31C690C5}" sibTransId="{7A884809-F420-4DBC-B4D1-42CD63AA7E48}"/>
    <dgm:cxn modelId="{FD2B44D2-373D-489D-8F27-ED8F5F06FCCA}" type="presOf" srcId="{8FD7E9F2-2311-44BE-9382-0FD689EB7EE2}" destId="{2CE42794-9563-4A96-B9CC-520A06D6EE9D}" srcOrd="0" destOrd="1" presId="urn:microsoft.com/office/officeart/2005/8/layout/hList1"/>
    <dgm:cxn modelId="{EF253D2C-88A1-4A17-A421-A437AB497084}" srcId="{EC2ECAB8-A85D-40C7-9117-2AA078A20F63}" destId="{5EA30DCB-652C-49B8-9D97-8AF54B4F7E80}" srcOrd="3" destOrd="0" parTransId="{FAB1DA54-8633-4DA2-80C9-DA6F0989C0DB}" sibTransId="{B8684FF1-2E11-4AA1-8744-0C5546446438}"/>
    <dgm:cxn modelId="{38793140-22FB-4290-95F5-D68F82D5906E}" srcId="{52B1E9F8-FF5A-4290-A2EE-04416696410E}" destId="{5DCF5F03-40E3-4DF7-8D0C-5B2AC04E9710}" srcOrd="2" destOrd="0" parTransId="{F587DB87-8C05-45E8-821D-48A0E1934C89}" sibTransId="{D015357F-31D5-4BDE-9234-A074B01E35F1}"/>
    <dgm:cxn modelId="{69C49552-1A0C-49AD-AFBD-4A3D3A13AB35}" type="presOf" srcId="{B388BF5D-1F28-4429-9317-BEF154AD918C}" destId="{AAB1147D-BCEB-4287-850D-0C28E16B7E63}" srcOrd="0" destOrd="7" presId="urn:microsoft.com/office/officeart/2005/8/layout/hList1"/>
    <dgm:cxn modelId="{555B5F87-EAA2-4BF5-A85A-067F5B333468}" srcId="{52B1E9F8-FF5A-4290-A2EE-04416696410E}" destId="{DFACE991-8E53-485A-907C-1EFB2848046C}" srcOrd="0" destOrd="0" parTransId="{522FA040-2423-4F5F-A378-E20632813270}" sibTransId="{79202294-FE13-49A9-BC9A-1A8E948266D7}"/>
    <dgm:cxn modelId="{6477DD6F-8191-4390-B4DF-FA9A84E61F4F}" srcId="{876F12A8-3CBF-4C23-9511-B3BE912EE8A9}" destId="{77261A98-EA16-48DE-BDEC-862B033DFA44}" srcOrd="0" destOrd="0" parTransId="{4AE48503-4481-4041-AD0D-FB09D10A177D}" sibTransId="{F5E35242-EFA8-4231-BC41-3E8B48AEE665}"/>
    <dgm:cxn modelId="{DDA29D37-E8F9-42C3-B045-6EF36EA64061}" srcId="{D5C8C534-B55B-41EF-88DB-ED9C24EBB7FC}" destId="{5A047D2B-AE09-4A6A-B06B-F9BE7B733FC6}" srcOrd="3" destOrd="0" parTransId="{8B477AFB-3BB3-4E4F-A613-7C77A347B362}" sibTransId="{2A70620D-A631-4E94-958B-CBD6322152E7}"/>
    <dgm:cxn modelId="{AB9B6171-21B1-4D8D-ADB2-BAAA7F795611}" type="presOf" srcId="{EC2ECAB8-A85D-40C7-9117-2AA078A20F63}" destId="{E3E6BEB8-B08E-43CD-A3AF-F2B85C4580AD}" srcOrd="0" destOrd="0" presId="urn:microsoft.com/office/officeart/2005/8/layout/hList1"/>
    <dgm:cxn modelId="{1C87293D-0FB5-422F-854A-23294492A2F4}" type="presOf" srcId="{E0B0216D-FB34-4FF8-9D6F-878140CAD8C7}" destId="{2CE42794-9563-4A96-B9CC-520A06D6EE9D}" srcOrd="0" destOrd="6" presId="urn:microsoft.com/office/officeart/2005/8/layout/hList1"/>
    <dgm:cxn modelId="{09D8AC42-A63F-4CDE-A131-3EFEA247882F}" type="presOf" srcId="{2BB21CFB-3C14-4EE0-BF97-9DE197EDB4FB}" destId="{8901B344-4CDE-44D5-B022-7E0CE2C33BF0}" srcOrd="0" destOrd="3" presId="urn:microsoft.com/office/officeart/2005/8/layout/hList1"/>
    <dgm:cxn modelId="{FBA45175-E378-48C4-A629-0098131B5809}" type="presOf" srcId="{ED3D8A5C-A004-4F25-9E95-105C5CBAC5B8}" destId="{AAB1147D-BCEB-4287-850D-0C28E16B7E63}" srcOrd="0" destOrd="4" presId="urn:microsoft.com/office/officeart/2005/8/layout/hList1"/>
    <dgm:cxn modelId="{A960D218-BB75-455A-95BF-012050E1AFB9}" srcId="{876F12A8-3CBF-4C23-9511-B3BE912EE8A9}" destId="{C896329D-659F-41D8-8428-23F35A3F2A7F}" srcOrd="2" destOrd="0" parTransId="{1095EFC7-C63D-462E-9409-7653C01AAA33}" sibTransId="{B35503A3-5959-4612-89F8-373578912E93}"/>
    <dgm:cxn modelId="{0A0E1042-5E19-4A58-995A-617C52FDA8EB}" type="presOf" srcId="{582737C7-A23B-4BCF-8152-3B1924EDA793}" destId="{882F28AC-AD1B-4E0E-AEA6-8989F5CE6A35}" srcOrd="0" destOrd="5" presId="urn:microsoft.com/office/officeart/2005/8/layout/hList1"/>
    <dgm:cxn modelId="{59B3EA95-794A-41E4-AD77-16978C50CA9E}" srcId="{876F12A8-3CBF-4C23-9511-B3BE912EE8A9}" destId="{C47477C1-EBA0-4A69-9865-EEB1CC3C0A49}" srcOrd="1" destOrd="0" parTransId="{2DAF60AF-9674-4AD9-9AC9-067991921028}" sibTransId="{3208B049-162D-4726-BC74-C2FDF40ED359}"/>
    <dgm:cxn modelId="{CF06342C-923C-4B1A-A4EC-4D6001BB9FFD}" srcId="{EC2ECAB8-A85D-40C7-9117-2AA078A20F63}" destId="{284F0E1D-70AC-40E5-B58D-8B75F4E28080}" srcOrd="8" destOrd="0" parTransId="{31BA2C00-143D-4E09-82A4-A572C9C79C5A}" sibTransId="{4F7A961E-8DB8-4F44-8B4F-2E1AA56DD794}"/>
    <dgm:cxn modelId="{CF519EFD-A2DD-4B69-9F56-3F9C8F4E2CC2}" srcId="{5A047D2B-AE09-4A6A-B06B-F9BE7B733FC6}" destId="{6DCF312A-D696-446F-8AEF-7CC30783908B}" srcOrd="2" destOrd="0" parTransId="{3447F3BB-C176-403F-A440-AAA7B2132DFD}" sibTransId="{800753E0-C5D5-4C74-BD57-FDEE2C16A254}"/>
    <dgm:cxn modelId="{25D78AD7-111E-45EA-B17E-5767226B1533}" srcId="{5A047D2B-AE09-4A6A-B06B-F9BE7B733FC6}" destId="{13C8241D-30EB-4DA5-91CE-6455887CB532}" srcOrd="3" destOrd="0" parTransId="{1D178F00-0239-4F3A-B7E9-B16BC7D40770}" sibTransId="{FF284607-31F0-407C-BDD3-060E3A6EF9D4}"/>
    <dgm:cxn modelId="{558D6982-3136-43B9-B184-56E7146CE86D}" srcId="{EC2ECAB8-A85D-40C7-9117-2AA078A20F63}" destId="{63777967-36A7-42A3-AAA6-F67A82A84365}" srcOrd="4" destOrd="0" parTransId="{F3267288-52D4-4232-8EDE-0C06A198065D}" sibTransId="{F21EB987-DD12-4AE4-A891-7E0A1B3B9F7C}"/>
    <dgm:cxn modelId="{E7C37E4C-54D2-4BC9-B239-CAD8181BEBE4}" srcId="{5A047D2B-AE09-4A6A-B06B-F9BE7B733FC6}" destId="{582737C7-A23B-4BCF-8152-3B1924EDA793}" srcOrd="5" destOrd="0" parTransId="{37F03128-A80E-4CE0-BC23-6DF7CB8A11D8}" sibTransId="{FD69B635-10E7-462F-9558-02A0E5739F4C}"/>
    <dgm:cxn modelId="{A946585F-65A5-4DE3-A5F2-9434E6524CB8}" type="presOf" srcId="{5DCF5F03-40E3-4DF7-8D0C-5B2AC04E9710}" destId="{8901B344-4CDE-44D5-B022-7E0CE2C33BF0}" srcOrd="0" destOrd="2" presId="urn:microsoft.com/office/officeart/2005/8/layout/hList1"/>
    <dgm:cxn modelId="{D0A56A45-20F2-4BCA-BD5A-BA373B2638CC}" srcId="{EC2ECAB8-A85D-40C7-9117-2AA078A20F63}" destId="{884C6235-9D16-4D95-BC42-131FB482992D}" srcOrd="2" destOrd="0" parTransId="{0481730D-A61F-4DA9-9627-6BC82C4B148D}" sibTransId="{555AD147-BAC6-43BB-90DD-1130ABA39199}"/>
    <dgm:cxn modelId="{773A8832-CC6B-4FE5-8DCD-F6F80EC9B44D}" type="presOf" srcId="{5EA30DCB-652C-49B8-9D97-8AF54B4F7E80}" destId="{2CE42794-9563-4A96-B9CC-520A06D6EE9D}" srcOrd="0" destOrd="3" presId="urn:microsoft.com/office/officeart/2005/8/layout/hList1"/>
    <dgm:cxn modelId="{E048E7EC-92BA-4AB2-9DA3-81DE1205FE82}" type="presOf" srcId="{3D5166C9-5BA2-4001-892D-F49F4600D5B7}" destId="{882F28AC-AD1B-4E0E-AEA6-8989F5CE6A35}" srcOrd="0" destOrd="0" presId="urn:microsoft.com/office/officeart/2005/8/layout/hList1"/>
    <dgm:cxn modelId="{8FD7CDEF-7163-42BC-91E7-56AAC6CF2A5B}" type="presOf" srcId="{DFACE991-8E53-485A-907C-1EFB2848046C}" destId="{8901B344-4CDE-44D5-B022-7E0CE2C33BF0}" srcOrd="0" destOrd="0" presId="urn:microsoft.com/office/officeart/2005/8/layout/hList1"/>
    <dgm:cxn modelId="{88ACA89E-FA7E-4DA5-9B4B-3817B2C8DCE6}" type="presParOf" srcId="{3B2B6EC3-FAFC-4F27-AF22-3209ABD0D639}" destId="{D92851F3-0C0F-489F-A254-A6812400DD0A}" srcOrd="0" destOrd="0" presId="urn:microsoft.com/office/officeart/2005/8/layout/hList1"/>
    <dgm:cxn modelId="{AB2C9C9D-F998-4FE5-8874-E0926C46D0CF}" type="presParOf" srcId="{D92851F3-0C0F-489F-A254-A6812400DD0A}" destId="{8B58748B-2575-4D58-9FA0-9F6CA0DF6B78}" srcOrd="0" destOrd="0" presId="urn:microsoft.com/office/officeart/2005/8/layout/hList1"/>
    <dgm:cxn modelId="{00389C80-EEAA-4D79-B75E-C4111D1DE040}" type="presParOf" srcId="{D92851F3-0C0F-489F-A254-A6812400DD0A}" destId="{AAB1147D-BCEB-4287-850D-0C28E16B7E63}" srcOrd="1" destOrd="0" presId="urn:microsoft.com/office/officeart/2005/8/layout/hList1"/>
    <dgm:cxn modelId="{937EDAB1-EB7E-4271-8B64-B1CDB33F375D}" type="presParOf" srcId="{3B2B6EC3-FAFC-4F27-AF22-3209ABD0D639}" destId="{4F0A595E-783C-4E50-8B40-09F25FB93E7C}" srcOrd="1" destOrd="0" presId="urn:microsoft.com/office/officeart/2005/8/layout/hList1"/>
    <dgm:cxn modelId="{2A455BAB-92F7-4920-A74F-7EEBF6248917}" type="presParOf" srcId="{3B2B6EC3-FAFC-4F27-AF22-3209ABD0D639}" destId="{D92EDD19-9446-4D94-8EDB-D131762C721A}" srcOrd="2" destOrd="0" presId="urn:microsoft.com/office/officeart/2005/8/layout/hList1"/>
    <dgm:cxn modelId="{13017438-CC1D-4916-97D1-E4DAD866D8C1}" type="presParOf" srcId="{D92EDD19-9446-4D94-8EDB-D131762C721A}" destId="{20330B3A-115A-4449-BBD2-F1DF7DA08C27}" srcOrd="0" destOrd="0" presId="urn:microsoft.com/office/officeart/2005/8/layout/hList1"/>
    <dgm:cxn modelId="{6E80B8F3-F7E2-4068-92DB-17C2D975FF7F}" type="presParOf" srcId="{D92EDD19-9446-4D94-8EDB-D131762C721A}" destId="{8901B344-4CDE-44D5-B022-7E0CE2C33BF0}" srcOrd="1" destOrd="0" presId="urn:microsoft.com/office/officeart/2005/8/layout/hList1"/>
    <dgm:cxn modelId="{1EACB59F-0E3B-46A8-9118-174EF82CC269}" type="presParOf" srcId="{3B2B6EC3-FAFC-4F27-AF22-3209ABD0D639}" destId="{1849843C-4BCF-4CA2-9DF2-6782D020EB95}" srcOrd="3" destOrd="0" presId="urn:microsoft.com/office/officeart/2005/8/layout/hList1"/>
    <dgm:cxn modelId="{D6342887-0063-4124-A3CB-549A8CDDDE61}" type="presParOf" srcId="{3B2B6EC3-FAFC-4F27-AF22-3209ABD0D639}" destId="{339E4B24-AAC5-4F06-B52E-2DF3F454F8CD}" srcOrd="4" destOrd="0" presId="urn:microsoft.com/office/officeart/2005/8/layout/hList1"/>
    <dgm:cxn modelId="{BD479E13-21B4-4B38-953F-887D4E4A6B3A}" type="presParOf" srcId="{339E4B24-AAC5-4F06-B52E-2DF3F454F8CD}" destId="{E3E6BEB8-B08E-43CD-A3AF-F2B85C4580AD}" srcOrd="0" destOrd="0" presId="urn:microsoft.com/office/officeart/2005/8/layout/hList1"/>
    <dgm:cxn modelId="{1762A041-96A3-405C-9364-B1C5D993E021}" type="presParOf" srcId="{339E4B24-AAC5-4F06-B52E-2DF3F454F8CD}" destId="{2CE42794-9563-4A96-B9CC-520A06D6EE9D}" srcOrd="1" destOrd="0" presId="urn:microsoft.com/office/officeart/2005/8/layout/hList1"/>
    <dgm:cxn modelId="{59C04D2E-4ABC-414B-B130-DE7FDB87D203}" type="presParOf" srcId="{3B2B6EC3-FAFC-4F27-AF22-3209ABD0D639}" destId="{B11BD261-271F-4274-A770-76A44AED9CB3}" srcOrd="5" destOrd="0" presId="urn:microsoft.com/office/officeart/2005/8/layout/hList1"/>
    <dgm:cxn modelId="{A7529ED4-1B13-4C29-8BB2-88D78FB0B064}" type="presParOf" srcId="{3B2B6EC3-FAFC-4F27-AF22-3209ABD0D639}" destId="{9FBE3C72-DB3A-46C6-B2EE-4B94FAA24B04}" srcOrd="6" destOrd="0" presId="urn:microsoft.com/office/officeart/2005/8/layout/hList1"/>
    <dgm:cxn modelId="{C9AD0F99-70CC-4B21-AF01-9632DC33AE07}" type="presParOf" srcId="{9FBE3C72-DB3A-46C6-B2EE-4B94FAA24B04}" destId="{016C0C30-52FC-4CA5-B7B1-35861449347E}" srcOrd="0" destOrd="0" presId="urn:microsoft.com/office/officeart/2005/8/layout/hList1"/>
    <dgm:cxn modelId="{57212562-A903-4EE4-91BA-8BCB14FF11F8}" type="presParOf" srcId="{9FBE3C72-DB3A-46C6-B2EE-4B94FAA24B04}" destId="{882F28AC-AD1B-4E0E-AEA6-8989F5CE6A35}"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01296186-0468-4BEE-B834-ACD51E90DE83}" type="doc">
      <dgm:prSet loTypeId="urn:microsoft.com/office/officeart/2005/8/layout/matrix3" loCatId="matrix" qsTypeId="urn:microsoft.com/office/officeart/2005/8/quickstyle/simple1" qsCatId="simple" csTypeId="urn:microsoft.com/office/officeart/2005/8/colors/colorful1#16" csCatId="colorful" phldr="1"/>
      <dgm:spPr/>
      <dgm:t>
        <a:bodyPr/>
        <a:lstStyle/>
        <a:p>
          <a:endParaRPr lang="fi-FI"/>
        </a:p>
      </dgm:t>
    </dgm:pt>
    <dgm:pt modelId="{CED49D5E-6A2B-4B68-A781-15B97B84A5D0}">
      <dgm:prSet/>
      <dgm:spPr/>
      <dgm:t>
        <a:bodyPr/>
        <a:lstStyle/>
        <a:p>
          <a:pPr rtl="0"/>
          <a:r>
            <a:rPr lang="fi-FI" dirty="0" smtClean="0"/>
            <a:t>Pragmaatikko</a:t>
          </a:r>
          <a:endParaRPr lang="en-US" dirty="0"/>
        </a:p>
      </dgm:t>
    </dgm:pt>
    <dgm:pt modelId="{201E8ADB-AD9B-43B4-B488-47539D3BAB12}" type="parTrans" cxnId="{95534623-C1F0-4D6E-B21F-2C8053A03551}">
      <dgm:prSet/>
      <dgm:spPr/>
      <dgm:t>
        <a:bodyPr/>
        <a:lstStyle/>
        <a:p>
          <a:endParaRPr lang="fi-FI"/>
        </a:p>
      </dgm:t>
    </dgm:pt>
    <dgm:pt modelId="{A99DE711-E91F-41C7-B410-3BD289F426BE}" type="sibTrans" cxnId="{95534623-C1F0-4D6E-B21F-2C8053A03551}">
      <dgm:prSet/>
      <dgm:spPr/>
      <dgm:t>
        <a:bodyPr/>
        <a:lstStyle/>
        <a:p>
          <a:endParaRPr lang="fi-FI"/>
        </a:p>
      </dgm:t>
    </dgm:pt>
    <dgm:pt modelId="{1EB481E4-B53A-41EA-82CB-F4118ACC592F}">
      <dgm:prSet/>
      <dgm:spPr/>
      <dgm:t>
        <a:bodyPr/>
        <a:lstStyle/>
        <a:p>
          <a:pPr rtl="0"/>
          <a:r>
            <a:rPr lang="fi-FI" dirty="0" smtClean="0"/>
            <a:t>Pioneeri</a:t>
          </a:r>
          <a:endParaRPr lang="en-US" dirty="0"/>
        </a:p>
      </dgm:t>
    </dgm:pt>
    <dgm:pt modelId="{07F58E88-FE69-4F63-ACCF-F35B484A365A}" type="parTrans" cxnId="{0D929043-8FE2-446C-B22A-DB9EECEAF168}">
      <dgm:prSet/>
      <dgm:spPr/>
      <dgm:t>
        <a:bodyPr/>
        <a:lstStyle/>
        <a:p>
          <a:endParaRPr lang="fi-FI"/>
        </a:p>
      </dgm:t>
    </dgm:pt>
    <dgm:pt modelId="{63D950F7-0659-4A51-A582-BA94F7953BC8}" type="sibTrans" cxnId="{0D929043-8FE2-446C-B22A-DB9EECEAF168}">
      <dgm:prSet/>
      <dgm:spPr/>
      <dgm:t>
        <a:bodyPr/>
        <a:lstStyle/>
        <a:p>
          <a:endParaRPr lang="fi-FI"/>
        </a:p>
      </dgm:t>
    </dgm:pt>
    <dgm:pt modelId="{648C95C0-50B3-4C5C-8480-5D288AC0EB0F}">
      <dgm:prSet/>
      <dgm:spPr/>
      <dgm:t>
        <a:bodyPr/>
        <a:lstStyle/>
        <a:p>
          <a:pPr rtl="0"/>
          <a:r>
            <a:rPr lang="fi-FI" dirty="0" smtClean="0"/>
            <a:t>Analysoija</a:t>
          </a:r>
          <a:endParaRPr lang="en-US" dirty="0"/>
        </a:p>
      </dgm:t>
    </dgm:pt>
    <dgm:pt modelId="{8B528189-0272-4FBD-A761-222005D8ED6D}" type="parTrans" cxnId="{9FD24CF3-C882-4070-A925-4D5CEDE61722}">
      <dgm:prSet/>
      <dgm:spPr/>
      <dgm:t>
        <a:bodyPr/>
        <a:lstStyle/>
        <a:p>
          <a:endParaRPr lang="fi-FI"/>
        </a:p>
      </dgm:t>
    </dgm:pt>
    <dgm:pt modelId="{6BF7F062-1D25-4198-8EE9-529D557B8E73}" type="sibTrans" cxnId="{9FD24CF3-C882-4070-A925-4D5CEDE61722}">
      <dgm:prSet/>
      <dgm:spPr/>
      <dgm:t>
        <a:bodyPr/>
        <a:lstStyle/>
        <a:p>
          <a:endParaRPr lang="fi-FI"/>
        </a:p>
      </dgm:t>
    </dgm:pt>
    <dgm:pt modelId="{2BD1543B-E6AE-4506-A828-CDD13BEE5D53}">
      <dgm:prSet/>
      <dgm:spPr/>
      <dgm:t>
        <a:bodyPr/>
        <a:lstStyle/>
        <a:p>
          <a:pPr rtl="0"/>
          <a:r>
            <a:rPr lang="fi-FI" dirty="0" smtClean="0"/>
            <a:t>Mahdollistaja</a:t>
          </a:r>
          <a:endParaRPr lang="en-US" dirty="0"/>
        </a:p>
      </dgm:t>
    </dgm:pt>
    <dgm:pt modelId="{127AAF42-87AE-4249-8928-A6B0A01D5F01}" type="parTrans" cxnId="{DAB4BFC6-D2EA-4F31-B8FB-27E20B89858C}">
      <dgm:prSet/>
      <dgm:spPr/>
      <dgm:t>
        <a:bodyPr/>
        <a:lstStyle/>
        <a:p>
          <a:endParaRPr lang="fi-FI"/>
        </a:p>
      </dgm:t>
    </dgm:pt>
    <dgm:pt modelId="{7660C718-437E-41FA-BE99-4E759A9D47FB}" type="sibTrans" cxnId="{DAB4BFC6-D2EA-4F31-B8FB-27E20B89858C}">
      <dgm:prSet/>
      <dgm:spPr/>
      <dgm:t>
        <a:bodyPr/>
        <a:lstStyle/>
        <a:p>
          <a:endParaRPr lang="fi-FI"/>
        </a:p>
      </dgm:t>
    </dgm:pt>
    <dgm:pt modelId="{7F63D5FF-E5DE-41DA-B657-DF2B36084FBF}" type="pres">
      <dgm:prSet presAssocID="{01296186-0468-4BEE-B834-ACD51E90DE83}" presName="matrix" presStyleCnt="0">
        <dgm:presLayoutVars>
          <dgm:chMax val="1"/>
          <dgm:dir/>
          <dgm:resizeHandles val="exact"/>
        </dgm:presLayoutVars>
      </dgm:prSet>
      <dgm:spPr/>
      <dgm:t>
        <a:bodyPr/>
        <a:lstStyle/>
        <a:p>
          <a:endParaRPr lang="fi-FI"/>
        </a:p>
      </dgm:t>
    </dgm:pt>
    <dgm:pt modelId="{494BEF6E-3794-4D77-A896-8B27B2033E24}" type="pres">
      <dgm:prSet presAssocID="{01296186-0468-4BEE-B834-ACD51E90DE83}" presName="diamond" presStyleLbl="bgShp" presStyleIdx="0" presStyleCnt="1"/>
      <dgm:spPr/>
    </dgm:pt>
    <dgm:pt modelId="{51D3CAEC-1660-485B-81F0-922A9B6499D5}" type="pres">
      <dgm:prSet presAssocID="{01296186-0468-4BEE-B834-ACD51E90DE83}" presName="quad1" presStyleLbl="node1" presStyleIdx="0" presStyleCnt="4">
        <dgm:presLayoutVars>
          <dgm:chMax val="0"/>
          <dgm:chPref val="0"/>
          <dgm:bulletEnabled val="1"/>
        </dgm:presLayoutVars>
      </dgm:prSet>
      <dgm:spPr/>
      <dgm:t>
        <a:bodyPr/>
        <a:lstStyle/>
        <a:p>
          <a:endParaRPr lang="fi-FI"/>
        </a:p>
      </dgm:t>
    </dgm:pt>
    <dgm:pt modelId="{A353EA05-BE3E-4FC8-B550-FE9C3B399CB7}" type="pres">
      <dgm:prSet presAssocID="{01296186-0468-4BEE-B834-ACD51E90DE83}" presName="quad2" presStyleLbl="node1" presStyleIdx="1" presStyleCnt="4">
        <dgm:presLayoutVars>
          <dgm:chMax val="0"/>
          <dgm:chPref val="0"/>
          <dgm:bulletEnabled val="1"/>
        </dgm:presLayoutVars>
      </dgm:prSet>
      <dgm:spPr/>
      <dgm:t>
        <a:bodyPr/>
        <a:lstStyle/>
        <a:p>
          <a:endParaRPr lang="fi-FI"/>
        </a:p>
      </dgm:t>
    </dgm:pt>
    <dgm:pt modelId="{19F0EBA6-6C33-4003-868E-3DDC624226AE}" type="pres">
      <dgm:prSet presAssocID="{01296186-0468-4BEE-B834-ACD51E90DE83}" presName="quad3" presStyleLbl="node1" presStyleIdx="2" presStyleCnt="4">
        <dgm:presLayoutVars>
          <dgm:chMax val="0"/>
          <dgm:chPref val="0"/>
          <dgm:bulletEnabled val="1"/>
        </dgm:presLayoutVars>
      </dgm:prSet>
      <dgm:spPr/>
      <dgm:t>
        <a:bodyPr/>
        <a:lstStyle/>
        <a:p>
          <a:endParaRPr lang="fi-FI"/>
        </a:p>
      </dgm:t>
    </dgm:pt>
    <dgm:pt modelId="{865A9AAB-4EA8-428C-8C15-5CCA24A5A1DA}" type="pres">
      <dgm:prSet presAssocID="{01296186-0468-4BEE-B834-ACD51E90DE83}" presName="quad4" presStyleLbl="node1" presStyleIdx="3" presStyleCnt="4">
        <dgm:presLayoutVars>
          <dgm:chMax val="0"/>
          <dgm:chPref val="0"/>
          <dgm:bulletEnabled val="1"/>
        </dgm:presLayoutVars>
      </dgm:prSet>
      <dgm:spPr/>
      <dgm:t>
        <a:bodyPr/>
        <a:lstStyle/>
        <a:p>
          <a:endParaRPr lang="fi-FI"/>
        </a:p>
      </dgm:t>
    </dgm:pt>
  </dgm:ptLst>
  <dgm:cxnLst>
    <dgm:cxn modelId="{FC411B19-112F-4C43-883E-42CB8B5DDF70}" type="presOf" srcId="{CED49D5E-6A2B-4B68-A781-15B97B84A5D0}" destId="{51D3CAEC-1660-485B-81F0-922A9B6499D5}" srcOrd="0" destOrd="0" presId="urn:microsoft.com/office/officeart/2005/8/layout/matrix3"/>
    <dgm:cxn modelId="{6327BA0C-06DD-495D-99F0-DBC4A7FBC505}" type="presOf" srcId="{01296186-0468-4BEE-B834-ACD51E90DE83}" destId="{7F63D5FF-E5DE-41DA-B657-DF2B36084FBF}" srcOrd="0" destOrd="0" presId="urn:microsoft.com/office/officeart/2005/8/layout/matrix3"/>
    <dgm:cxn modelId="{0D929043-8FE2-446C-B22A-DB9EECEAF168}" srcId="{01296186-0468-4BEE-B834-ACD51E90DE83}" destId="{1EB481E4-B53A-41EA-82CB-F4118ACC592F}" srcOrd="1" destOrd="0" parTransId="{07F58E88-FE69-4F63-ACCF-F35B484A365A}" sibTransId="{63D950F7-0659-4A51-A582-BA94F7953BC8}"/>
    <dgm:cxn modelId="{F8558F4E-179B-4E9F-A09C-888B409BC278}" type="presOf" srcId="{648C95C0-50B3-4C5C-8480-5D288AC0EB0F}" destId="{19F0EBA6-6C33-4003-868E-3DDC624226AE}" srcOrd="0" destOrd="0" presId="urn:microsoft.com/office/officeart/2005/8/layout/matrix3"/>
    <dgm:cxn modelId="{DAB4BFC6-D2EA-4F31-B8FB-27E20B89858C}" srcId="{01296186-0468-4BEE-B834-ACD51E90DE83}" destId="{2BD1543B-E6AE-4506-A828-CDD13BEE5D53}" srcOrd="3" destOrd="0" parTransId="{127AAF42-87AE-4249-8928-A6B0A01D5F01}" sibTransId="{7660C718-437E-41FA-BE99-4E759A9D47FB}"/>
    <dgm:cxn modelId="{95534623-C1F0-4D6E-B21F-2C8053A03551}" srcId="{01296186-0468-4BEE-B834-ACD51E90DE83}" destId="{CED49D5E-6A2B-4B68-A781-15B97B84A5D0}" srcOrd="0" destOrd="0" parTransId="{201E8ADB-AD9B-43B4-B488-47539D3BAB12}" sibTransId="{A99DE711-E91F-41C7-B410-3BD289F426BE}"/>
    <dgm:cxn modelId="{A4DBC5C1-AE53-4263-B691-20D0B77900C8}" type="presOf" srcId="{2BD1543B-E6AE-4506-A828-CDD13BEE5D53}" destId="{865A9AAB-4EA8-428C-8C15-5CCA24A5A1DA}" srcOrd="0" destOrd="0" presId="urn:microsoft.com/office/officeart/2005/8/layout/matrix3"/>
    <dgm:cxn modelId="{81FBCFD1-FF65-417B-A979-CDB29CA3DC96}" type="presOf" srcId="{1EB481E4-B53A-41EA-82CB-F4118ACC592F}" destId="{A353EA05-BE3E-4FC8-B550-FE9C3B399CB7}" srcOrd="0" destOrd="0" presId="urn:microsoft.com/office/officeart/2005/8/layout/matrix3"/>
    <dgm:cxn modelId="{9FD24CF3-C882-4070-A925-4D5CEDE61722}" srcId="{01296186-0468-4BEE-B834-ACD51E90DE83}" destId="{648C95C0-50B3-4C5C-8480-5D288AC0EB0F}" srcOrd="2" destOrd="0" parTransId="{8B528189-0272-4FBD-A761-222005D8ED6D}" sibTransId="{6BF7F062-1D25-4198-8EE9-529D557B8E73}"/>
    <dgm:cxn modelId="{CE64D011-4C01-4056-B512-0420A80C6C6A}" type="presParOf" srcId="{7F63D5FF-E5DE-41DA-B657-DF2B36084FBF}" destId="{494BEF6E-3794-4D77-A896-8B27B2033E24}" srcOrd="0" destOrd="0" presId="urn:microsoft.com/office/officeart/2005/8/layout/matrix3"/>
    <dgm:cxn modelId="{005F2E08-18EA-4E89-ADB2-F26E441082B4}" type="presParOf" srcId="{7F63D5FF-E5DE-41DA-B657-DF2B36084FBF}" destId="{51D3CAEC-1660-485B-81F0-922A9B6499D5}" srcOrd="1" destOrd="0" presId="urn:microsoft.com/office/officeart/2005/8/layout/matrix3"/>
    <dgm:cxn modelId="{380BDF05-31A6-4AF7-9C91-B19EB1E7FDB4}" type="presParOf" srcId="{7F63D5FF-E5DE-41DA-B657-DF2B36084FBF}" destId="{A353EA05-BE3E-4FC8-B550-FE9C3B399CB7}" srcOrd="2" destOrd="0" presId="urn:microsoft.com/office/officeart/2005/8/layout/matrix3"/>
    <dgm:cxn modelId="{5A3860AF-0FAE-485E-B94B-EE7713A28A80}" type="presParOf" srcId="{7F63D5FF-E5DE-41DA-B657-DF2B36084FBF}" destId="{19F0EBA6-6C33-4003-868E-3DDC624226AE}" srcOrd="3" destOrd="0" presId="urn:microsoft.com/office/officeart/2005/8/layout/matrix3"/>
    <dgm:cxn modelId="{627B9860-D1F8-4940-A7FA-A7888F971762}" type="presParOf" srcId="{7F63D5FF-E5DE-41DA-B657-DF2B36084FBF}" destId="{865A9AAB-4EA8-428C-8C15-5CCA24A5A1DA}"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CCE6B798-7D0D-4918-A3AF-70DEBE7A8D4C}" type="doc">
      <dgm:prSet loTypeId="urn:microsoft.com/office/officeart/2005/8/layout/process4" loCatId="list" qsTypeId="urn:microsoft.com/office/officeart/2005/8/quickstyle/simple1" qsCatId="simple" csTypeId="urn:microsoft.com/office/officeart/2005/8/colors/colorful1#17" csCatId="colorful" phldr="1"/>
      <dgm:spPr/>
      <dgm:t>
        <a:bodyPr/>
        <a:lstStyle/>
        <a:p>
          <a:endParaRPr lang="fi-FI"/>
        </a:p>
      </dgm:t>
    </dgm:pt>
    <dgm:pt modelId="{92CF5B69-53BB-4F9D-B9E7-5402C4D1EDAD}">
      <dgm:prSet custT="1"/>
      <dgm:spPr/>
      <dgm:t>
        <a:bodyPr/>
        <a:lstStyle/>
        <a:p>
          <a:pPr rtl="0"/>
          <a:r>
            <a:rPr lang="fi-FI" sz="1600" dirty="0" smtClean="0"/>
            <a:t>Suunnittelu</a:t>
          </a:r>
          <a:endParaRPr lang="en-US" sz="1600" dirty="0"/>
        </a:p>
      </dgm:t>
    </dgm:pt>
    <dgm:pt modelId="{B00339EF-D390-4466-8675-C938E865D2CE}" type="parTrans" cxnId="{1292EAB7-77A8-4F75-BCF9-E6209EF99B54}">
      <dgm:prSet/>
      <dgm:spPr/>
      <dgm:t>
        <a:bodyPr/>
        <a:lstStyle/>
        <a:p>
          <a:endParaRPr lang="fi-FI"/>
        </a:p>
      </dgm:t>
    </dgm:pt>
    <dgm:pt modelId="{FBBA59F7-C8F1-48F4-A128-45E4AD671C0E}" type="sibTrans" cxnId="{1292EAB7-77A8-4F75-BCF9-E6209EF99B54}">
      <dgm:prSet/>
      <dgm:spPr/>
      <dgm:t>
        <a:bodyPr/>
        <a:lstStyle/>
        <a:p>
          <a:endParaRPr lang="fi-FI"/>
        </a:p>
      </dgm:t>
    </dgm:pt>
    <dgm:pt modelId="{1F80CCCE-D682-43BB-924A-1688BFA5838E}">
      <dgm:prSet custT="1"/>
      <dgm:spPr/>
      <dgm:t>
        <a:bodyPr/>
        <a:lstStyle/>
        <a:p>
          <a:pPr rtl="0"/>
          <a:r>
            <a:rPr lang="fi-FI" sz="1200" dirty="0" smtClean="0"/>
            <a:t>Puitteiden sopiminen</a:t>
          </a:r>
          <a:endParaRPr lang="en-US" sz="1200" dirty="0"/>
        </a:p>
      </dgm:t>
    </dgm:pt>
    <dgm:pt modelId="{176B06F3-5F27-480D-BB19-A6A3020D0098}" type="parTrans" cxnId="{2A4E0071-6E75-4E6E-8E0E-5800CB5FD27B}">
      <dgm:prSet/>
      <dgm:spPr/>
      <dgm:t>
        <a:bodyPr/>
        <a:lstStyle/>
        <a:p>
          <a:endParaRPr lang="fi-FI"/>
        </a:p>
      </dgm:t>
    </dgm:pt>
    <dgm:pt modelId="{6BFE054E-742D-47C9-A4E3-4C401F308FA0}" type="sibTrans" cxnId="{2A4E0071-6E75-4E6E-8E0E-5800CB5FD27B}">
      <dgm:prSet/>
      <dgm:spPr/>
      <dgm:t>
        <a:bodyPr/>
        <a:lstStyle/>
        <a:p>
          <a:endParaRPr lang="fi-FI"/>
        </a:p>
      </dgm:t>
    </dgm:pt>
    <dgm:pt modelId="{BF90EE73-226C-4174-A4B8-97C8B5AB35DD}">
      <dgm:prSet custT="1"/>
      <dgm:spPr/>
      <dgm:t>
        <a:bodyPr/>
        <a:lstStyle/>
        <a:p>
          <a:pPr rtl="0"/>
          <a:r>
            <a:rPr lang="fi-FI" sz="1200" dirty="0" smtClean="0"/>
            <a:t>Budjetti</a:t>
          </a:r>
          <a:endParaRPr lang="en-US" sz="1200" dirty="0"/>
        </a:p>
      </dgm:t>
    </dgm:pt>
    <dgm:pt modelId="{25348945-0374-47CE-941A-9B03D7C1F80F}" type="parTrans" cxnId="{E2E21142-626E-44EA-872F-9F409B2679BD}">
      <dgm:prSet/>
      <dgm:spPr/>
      <dgm:t>
        <a:bodyPr/>
        <a:lstStyle/>
        <a:p>
          <a:endParaRPr lang="fi-FI"/>
        </a:p>
      </dgm:t>
    </dgm:pt>
    <dgm:pt modelId="{6B6AA6E2-8D90-4C5B-B86E-B22EC86D3BF1}" type="sibTrans" cxnId="{E2E21142-626E-44EA-872F-9F409B2679BD}">
      <dgm:prSet/>
      <dgm:spPr/>
      <dgm:t>
        <a:bodyPr/>
        <a:lstStyle/>
        <a:p>
          <a:endParaRPr lang="fi-FI"/>
        </a:p>
      </dgm:t>
    </dgm:pt>
    <dgm:pt modelId="{66509EDA-9D97-4D40-AF4E-8F970713BAF0}">
      <dgm:prSet custT="1"/>
      <dgm:spPr/>
      <dgm:t>
        <a:bodyPr/>
        <a:lstStyle/>
        <a:p>
          <a:pPr rtl="0"/>
          <a:r>
            <a:rPr lang="fi-FI" sz="1200" dirty="0" smtClean="0"/>
            <a:t>Hankinnat ja rekrytoinnit</a:t>
          </a:r>
          <a:endParaRPr lang="en-US" sz="1200" dirty="0"/>
        </a:p>
      </dgm:t>
    </dgm:pt>
    <dgm:pt modelId="{F10CDEFF-597D-4EFE-AE67-095ADC21AF1F}" type="parTrans" cxnId="{4C235192-F380-4A56-8CAF-589CD82DA57E}">
      <dgm:prSet/>
      <dgm:spPr/>
      <dgm:t>
        <a:bodyPr/>
        <a:lstStyle/>
        <a:p>
          <a:endParaRPr lang="fi-FI"/>
        </a:p>
      </dgm:t>
    </dgm:pt>
    <dgm:pt modelId="{FF2795F5-7A84-472E-BFE6-7706F7568249}" type="sibTrans" cxnId="{4C235192-F380-4A56-8CAF-589CD82DA57E}">
      <dgm:prSet/>
      <dgm:spPr/>
      <dgm:t>
        <a:bodyPr/>
        <a:lstStyle/>
        <a:p>
          <a:endParaRPr lang="fi-FI"/>
        </a:p>
      </dgm:t>
    </dgm:pt>
    <dgm:pt modelId="{247EEC64-4BDF-4038-9E90-A2DD4F8E8B5A}">
      <dgm:prSet custT="1"/>
      <dgm:spPr/>
      <dgm:t>
        <a:bodyPr/>
        <a:lstStyle/>
        <a:p>
          <a:pPr rtl="0"/>
          <a:r>
            <a:rPr lang="fi-FI" sz="1200" dirty="0" smtClean="0"/>
            <a:t>Versioiden toimituslogistiikka</a:t>
          </a:r>
          <a:endParaRPr lang="en-US" sz="1200" dirty="0"/>
        </a:p>
      </dgm:t>
    </dgm:pt>
    <dgm:pt modelId="{6483C0C3-0629-4884-AFB9-9730446EB69A}" type="parTrans" cxnId="{433941BC-DB29-43CE-850E-FA6B8C82C746}">
      <dgm:prSet/>
      <dgm:spPr/>
      <dgm:t>
        <a:bodyPr/>
        <a:lstStyle/>
        <a:p>
          <a:endParaRPr lang="fi-FI"/>
        </a:p>
      </dgm:t>
    </dgm:pt>
    <dgm:pt modelId="{FC51FB42-0A35-4115-AB43-4DE612163C98}" type="sibTrans" cxnId="{433941BC-DB29-43CE-850E-FA6B8C82C746}">
      <dgm:prSet/>
      <dgm:spPr/>
      <dgm:t>
        <a:bodyPr/>
        <a:lstStyle/>
        <a:p>
          <a:endParaRPr lang="fi-FI"/>
        </a:p>
      </dgm:t>
    </dgm:pt>
    <dgm:pt modelId="{943071FD-EB02-4CFC-ACCE-F60AF54B38D5}">
      <dgm:prSet custT="1"/>
      <dgm:spPr/>
      <dgm:t>
        <a:bodyPr/>
        <a:lstStyle/>
        <a:p>
          <a:pPr rtl="0"/>
          <a:r>
            <a:rPr lang="fi-FI" sz="1600" dirty="0" smtClean="0"/>
            <a:t>Valmistelu</a:t>
          </a:r>
          <a:endParaRPr lang="en-US" sz="1600" dirty="0"/>
        </a:p>
      </dgm:t>
    </dgm:pt>
    <dgm:pt modelId="{90D20866-D086-423F-BE43-8002055D6DEE}" type="parTrans" cxnId="{79774969-C7B1-4E1C-8419-380C3DE01078}">
      <dgm:prSet/>
      <dgm:spPr/>
      <dgm:t>
        <a:bodyPr/>
        <a:lstStyle/>
        <a:p>
          <a:endParaRPr lang="fi-FI"/>
        </a:p>
      </dgm:t>
    </dgm:pt>
    <dgm:pt modelId="{A4FFC771-ED83-4334-A9D8-C8DD11FD1220}" type="sibTrans" cxnId="{79774969-C7B1-4E1C-8419-380C3DE01078}">
      <dgm:prSet/>
      <dgm:spPr/>
      <dgm:t>
        <a:bodyPr/>
        <a:lstStyle/>
        <a:p>
          <a:endParaRPr lang="fi-FI"/>
        </a:p>
      </dgm:t>
    </dgm:pt>
    <dgm:pt modelId="{F87344E6-839A-4217-A7FA-1B574727E7CA}">
      <dgm:prSet custT="1"/>
      <dgm:spPr/>
      <dgm:t>
        <a:bodyPr/>
        <a:lstStyle/>
        <a:p>
          <a:pPr rtl="0"/>
          <a:r>
            <a:rPr lang="fi-FI" sz="1200" dirty="0" smtClean="0"/>
            <a:t>Vaatimusten lajittelu ja laajentaminen</a:t>
          </a:r>
          <a:endParaRPr lang="en-US" sz="1200" dirty="0"/>
        </a:p>
      </dgm:t>
    </dgm:pt>
    <dgm:pt modelId="{DBE5AC73-A700-4BAC-9DBC-07908BA2499B}" type="parTrans" cxnId="{E6F2908B-8850-4961-B151-EAD0EAD93769}">
      <dgm:prSet/>
      <dgm:spPr/>
      <dgm:t>
        <a:bodyPr/>
        <a:lstStyle/>
        <a:p>
          <a:endParaRPr lang="fi-FI"/>
        </a:p>
      </dgm:t>
    </dgm:pt>
    <dgm:pt modelId="{A85F8322-B70F-4109-9742-44BCCFD1EE91}" type="sibTrans" cxnId="{E6F2908B-8850-4961-B151-EAD0EAD93769}">
      <dgm:prSet/>
      <dgm:spPr/>
      <dgm:t>
        <a:bodyPr/>
        <a:lstStyle/>
        <a:p>
          <a:endParaRPr lang="fi-FI"/>
        </a:p>
      </dgm:t>
    </dgm:pt>
    <dgm:pt modelId="{A3CEBD14-6D74-4FD7-8314-172FC61FAB5E}">
      <dgm:prSet custT="1"/>
      <dgm:spPr/>
      <dgm:t>
        <a:bodyPr/>
        <a:lstStyle/>
        <a:p>
          <a:pPr rtl="0"/>
          <a:r>
            <a:rPr lang="fi-FI" sz="1200" dirty="0" smtClean="0"/>
            <a:t>Testiaineiston luominen, kerääminen, lajittelu ja sopiminen</a:t>
          </a:r>
          <a:endParaRPr lang="en-US" sz="1200" dirty="0"/>
        </a:p>
      </dgm:t>
    </dgm:pt>
    <dgm:pt modelId="{0E84763B-7B7B-4AD1-998C-F8B3D7FD9555}" type="parTrans" cxnId="{2BB7172C-9CFC-4EA3-AC6C-367FEDD39BA2}">
      <dgm:prSet/>
      <dgm:spPr/>
      <dgm:t>
        <a:bodyPr/>
        <a:lstStyle/>
        <a:p>
          <a:endParaRPr lang="fi-FI"/>
        </a:p>
      </dgm:t>
    </dgm:pt>
    <dgm:pt modelId="{04DD191B-31E9-49DA-9157-B14D349B002F}" type="sibTrans" cxnId="{2BB7172C-9CFC-4EA3-AC6C-367FEDD39BA2}">
      <dgm:prSet/>
      <dgm:spPr/>
      <dgm:t>
        <a:bodyPr/>
        <a:lstStyle/>
        <a:p>
          <a:endParaRPr lang="fi-FI"/>
        </a:p>
      </dgm:t>
    </dgm:pt>
    <dgm:pt modelId="{32530AB1-8811-4990-8B9A-6804C2FC87E9}">
      <dgm:prSet custT="1"/>
      <dgm:spPr/>
      <dgm:t>
        <a:bodyPr/>
        <a:lstStyle/>
        <a:p>
          <a:pPr rtl="0"/>
          <a:r>
            <a:rPr lang="fi-FI" sz="1600" dirty="0" smtClean="0"/>
            <a:t>Testaaminen</a:t>
          </a:r>
          <a:endParaRPr lang="en-US" sz="1600" dirty="0"/>
        </a:p>
      </dgm:t>
    </dgm:pt>
    <dgm:pt modelId="{9DFED0C2-D58F-4C39-A6AE-868FC8E5DC8B}" type="parTrans" cxnId="{BD3FE5C0-0C75-41D3-8041-0BA5CB4917FF}">
      <dgm:prSet/>
      <dgm:spPr/>
      <dgm:t>
        <a:bodyPr/>
        <a:lstStyle/>
        <a:p>
          <a:endParaRPr lang="fi-FI"/>
        </a:p>
      </dgm:t>
    </dgm:pt>
    <dgm:pt modelId="{FB1780AD-21CB-427F-A0C3-C71B57E20FCC}" type="sibTrans" cxnId="{BD3FE5C0-0C75-41D3-8041-0BA5CB4917FF}">
      <dgm:prSet/>
      <dgm:spPr/>
      <dgm:t>
        <a:bodyPr/>
        <a:lstStyle/>
        <a:p>
          <a:endParaRPr lang="fi-FI"/>
        </a:p>
      </dgm:t>
    </dgm:pt>
    <dgm:pt modelId="{1F09CBA5-34A4-40BC-82FA-76CA11B7BC1F}">
      <dgm:prSet custT="1"/>
      <dgm:spPr/>
      <dgm:t>
        <a:bodyPr/>
        <a:lstStyle/>
        <a:p>
          <a:pPr rtl="0"/>
          <a:r>
            <a:rPr lang="fi-FI" sz="1200" dirty="0" smtClean="0"/>
            <a:t>Havaintojen tekeminen, kirjaaminen, luokittelu</a:t>
          </a:r>
          <a:endParaRPr lang="en-US" sz="1200" dirty="0"/>
        </a:p>
      </dgm:t>
    </dgm:pt>
    <dgm:pt modelId="{058C5E29-D353-4C90-A546-1A9CB1336F08}" type="parTrans" cxnId="{75433D26-AAB4-458F-A7D4-E5EF237B522A}">
      <dgm:prSet/>
      <dgm:spPr/>
      <dgm:t>
        <a:bodyPr/>
        <a:lstStyle/>
        <a:p>
          <a:endParaRPr lang="fi-FI"/>
        </a:p>
      </dgm:t>
    </dgm:pt>
    <dgm:pt modelId="{B4370192-CA17-4CAD-BAE5-AB910E2552F3}" type="sibTrans" cxnId="{75433D26-AAB4-458F-A7D4-E5EF237B522A}">
      <dgm:prSet/>
      <dgm:spPr/>
      <dgm:t>
        <a:bodyPr/>
        <a:lstStyle/>
        <a:p>
          <a:endParaRPr lang="fi-FI"/>
        </a:p>
      </dgm:t>
    </dgm:pt>
    <dgm:pt modelId="{09ADB0EC-061C-482E-A68E-1CA217A4F1CA}">
      <dgm:prSet custT="1"/>
      <dgm:spPr/>
      <dgm:t>
        <a:bodyPr/>
        <a:lstStyle/>
        <a:p>
          <a:pPr rtl="0"/>
          <a:r>
            <a:rPr lang="fi-FI" sz="1200" dirty="0" smtClean="0"/>
            <a:t>Testauksen etenemisen arviointi</a:t>
          </a:r>
          <a:endParaRPr lang="en-US" sz="1200" dirty="0"/>
        </a:p>
      </dgm:t>
    </dgm:pt>
    <dgm:pt modelId="{5AFC677B-F457-4E56-9444-9DB42F8A4F18}" type="parTrans" cxnId="{61D2C5E1-109A-4BA6-B140-A6B21E9A583C}">
      <dgm:prSet/>
      <dgm:spPr/>
      <dgm:t>
        <a:bodyPr/>
        <a:lstStyle/>
        <a:p>
          <a:endParaRPr lang="fi-FI"/>
        </a:p>
      </dgm:t>
    </dgm:pt>
    <dgm:pt modelId="{9FB5C93E-AAF2-40AA-A813-888AE5B754A1}" type="sibTrans" cxnId="{61D2C5E1-109A-4BA6-B140-A6B21E9A583C}">
      <dgm:prSet/>
      <dgm:spPr/>
      <dgm:t>
        <a:bodyPr/>
        <a:lstStyle/>
        <a:p>
          <a:endParaRPr lang="fi-FI"/>
        </a:p>
      </dgm:t>
    </dgm:pt>
    <dgm:pt modelId="{599DC419-EA42-4ABD-B834-99F5579E16A2}">
      <dgm:prSet custT="1"/>
      <dgm:spPr/>
      <dgm:t>
        <a:bodyPr/>
        <a:lstStyle/>
        <a:p>
          <a:pPr rtl="0"/>
          <a:r>
            <a:rPr lang="fi-FI" sz="1200" dirty="0" smtClean="0"/>
            <a:t>Korjauksien varmistaminen, regressiotestaus</a:t>
          </a:r>
          <a:endParaRPr lang="en-US" sz="1200" dirty="0"/>
        </a:p>
      </dgm:t>
    </dgm:pt>
    <dgm:pt modelId="{6C46D2FA-5455-444D-9AB3-FD8B7A8C1FF7}" type="parTrans" cxnId="{090B4E00-83FE-49C3-9DC3-30B38A10B38B}">
      <dgm:prSet/>
      <dgm:spPr/>
      <dgm:t>
        <a:bodyPr/>
        <a:lstStyle/>
        <a:p>
          <a:endParaRPr lang="fi-FI"/>
        </a:p>
      </dgm:t>
    </dgm:pt>
    <dgm:pt modelId="{0CFB7CD8-98DF-4719-AD65-FFDB9B0E203F}" type="sibTrans" cxnId="{090B4E00-83FE-49C3-9DC3-30B38A10B38B}">
      <dgm:prSet/>
      <dgm:spPr/>
      <dgm:t>
        <a:bodyPr/>
        <a:lstStyle/>
        <a:p>
          <a:endParaRPr lang="fi-FI"/>
        </a:p>
      </dgm:t>
    </dgm:pt>
    <dgm:pt modelId="{923E71A7-970F-46C5-B8CA-29A4671791AC}">
      <dgm:prSet custT="1"/>
      <dgm:spPr/>
      <dgm:t>
        <a:bodyPr/>
        <a:lstStyle/>
        <a:p>
          <a:pPr rtl="0"/>
          <a:r>
            <a:rPr lang="fi-FI" sz="1600" dirty="0" smtClean="0"/>
            <a:t>Hyväksymispäätöksen tekeminen</a:t>
          </a:r>
          <a:endParaRPr lang="en-US" sz="1600" dirty="0"/>
        </a:p>
      </dgm:t>
    </dgm:pt>
    <dgm:pt modelId="{A8D4EB8B-FD08-43FF-B3A7-388843AB1E56}" type="parTrans" cxnId="{AD2539B3-4CE6-449E-844D-0B5C4E29D3B0}">
      <dgm:prSet/>
      <dgm:spPr/>
      <dgm:t>
        <a:bodyPr/>
        <a:lstStyle/>
        <a:p>
          <a:endParaRPr lang="fi-FI"/>
        </a:p>
      </dgm:t>
    </dgm:pt>
    <dgm:pt modelId="{41567073-9D01-4C1B-9521-37C600A14652}" type="sibTrans" cxnId="{AD2539B3-4CE6-449E-844D-0B5C4E29D3B0}">
      <dgm:prSet/>
      <dgm:spPr/>
      <dgm:t>
        <a:bodyPr/>
        <a:lstStyle/>
        <a:p>
          <a:endParaRPr lang="fi-FI"/>
        </a:p>
      </dgm:t>
    </dgm:pt>
    <dgm:pt modelId="{ACDD303F-74D7-46D9-ABCB-FA4D18EF078B}">
      <dgm:prSet custT="1"/>
      <dgm:spPr/>
      <dgm:t>
        <a:bodyPr/>
        <a:lstStyle/>
        <a:p>
          <a:pPr rtl="0"/>
          <a:r>
            <a:rPr lang="fi-FI" sz="1200" dirty="0" smtClean="0"/>
            <a:t>Testauksen riittävyyden arviointi</a:t>
          </a:r>
          <a:endParaRPr lang="en-US" sz="1200" dirty="0"/>
        </a:p>
      </dgm:t>
    </dgm:pt>
    <dgm:pt modelId="{CC35C215-3DFA-458D-ACD2-A7E2295E38D1}" type="parTrans" cxnId="{680A5E60-A224-48A4-8EB0-495D6263754F}">
      <dgm:prSet/>
      <dgm:spPr/>
      <dgm:t>
        <a:bodyPr/>
        <a:lstStyle/>
        <a:p>
          <a:endParaRPr lang="fi-FI"/>
        </a:p>
      </dgm:t>
    </dgm:pt>
    <dgm:pt modelId="{3E1D43DB-A24F-4789-8310-5833460C1DC3}" type="sibTrans" cxnId="{680A5E60-A224-48A4-8EB0-495D6263754F}">
      <dgm:prSet/>
      <dgm:spPr/>
      <dgm:t>
        <a:bodyPr/>
        <a:lstStyle/>
        <a:p>
          <a:endParaRPr lang="fi-FI"/>
        </a:p>
      </dgm:t>
    </dgm:pt>
    <dgm:pt modelId="{12FD6174-646A-463A-9114-0994EFBC229E}">
      <dgm:prSet custT="1"/>
      <dgm:spPr/>
      <dgm:t>
        <a:bodyPr/>
        <a:lstStyle/>
        <a:p>
          <a:pPr rtl="0"/>
          <a:r>
            <a:rPr lang="fi-FI" sz="1200" dirty="0" smtClean="0"/>
            <a:t>Testauksen tulosten tarkastelu</a:t>
          </a:r>
          <a:endParaRPr lang="fi-FI" sz="1200" dirty="0"/>
        </a:p>
      </dgm:t>
    </dgm:pt>
    <dgm:pt modelId="{37AB2D4F-FFD7-41AF-A58F-461FD2D21578}" type="parTrans" cxnId="{39613A1B-5380-421A-8F52-F294AAA92A18}">
      <dgm:prSet/>
      <dgm:spPr/>
      <dgm:t>
        <a:bodyPr/>
        <a:lstStyle/>
        <a:p>
          <a:endParaRPr lang="fi-FI"/>
        </a:p>
      </dgm:t>
    </dgm:pt>
    <dgm:pt modelId="{0D6D0EC9-FE81-4813-BE89-6ACC56030E93}" type="sibTrans" cxnId="{39613A1B-5380-421A-8F52-F294AAA92A18}">
      <dgm:prSet/>
      <dgm:spPr/>
      <dgm:t>
        <a:bodyPr/>
        <a:lstStyle/>
        <a:p>
          <a:endParaRPr lang="fi-FI"/>
        </a:p>
      </dgm:t>
    </dgm:pt>
    <dgm:pt modelId="{62F9AA6A-EE2D-4449-9A7A-21464E227DE8}">
      <dgm:prSet custT="1"/>
      <dgm:spPr/>
      <dgm:t>
        <a:bodyPr/>
        <a:lstStyle/>
        <a:p>
          <a:pPr rtl="0"/>
          <a:r>
            <a:rPr lang="en-US" sz="1200" dirty="0" err="1" smtClean="0"/>
            <a:t>Tavoitteet</a:t>
          </a:r>
          <a:r>
            <a:rPr lang="en-US" sz="1200" dirty="0" smtClean="0"/>
            <a:t> </a:t>
          </a:r>
          <a:r>
            <a:rPr lang="en-US" sz="1200" dirty="0" err="1" smtClean="0"/>
            <a:t>ja</a:t>
          </a:r>
          <a:r>
            <a:rPr lang="en-US" sz="1200" dirty="0" smtClean="0"/>
            <a:t> </a:t>
          </a:r>
          <a:r>
            <a:rPr lang="en-US" sz="1200" dirty="0" err="1" smtClean="0"/>
            <a:t>kohdistus</a:t>
          </a:r>
          <a:endParaRPr lang="en-US" sz="1200" dirty="0"/>
        </a:p>
      </dgm:t>
    </dgm:pt>
    <dgm:pt modelId="{F4CB0C18-D4A5-4D63-8FB1-4162823644B2}" type="parTrans" cxnId="{E43EBC36-76B1-45B0-A002-BD93094C40B1}">
      <dgm:prSet/>
      <dgm:spPr/>
    </dgm:pt>
    <dgm:pt modelId="{8EDA2AAF-220A-4163-AF57-A64D484712F9}" type="sibTrans" cxnId="{E43EBC36-76B1-45B0-A002-BD93094C40B1}">
      <dgm:prSet/>
      <dgm:spPr/>
    </dgm:pt>
    <dgm:pt modelId="{D46F3AFC-5B99-4C6F-949C-2EA6D0263C35}">
      <dgm:prSet custT="1"/>
      <dgm:spPr/>
      <dgm:t>
        <a:bodyPr/>
        <a:lstStyle/>
        <a:p>
          <a:pPr rtl="0"/>
          <a:r>
            <a:rPr lang="en-US" sz="1200" dirty="0" err="1" smtClean="0"/>
            <a:t>Toimittajan</a:t>
          </a:r>
          <a:r>
            <a:rPr lang="en-US" sz="1200" dirty="0" smtClean="0"/>
            <a:t> </a:t>
          </a:r>
          <a:r>
            <a:rPr lang="en-US" sz="1200" dirty="0" err="1" smtClean="0"/>
            <a:t>testauksen</a:t>
          </a:r>
          <a:r>
            <a:rPr lang="en-US" sz="1200" dirty="0" smtClean="0"/>
            <a:t> </a:t>
          </a:r>
          <a:r>
            <a:rPr lang="en-US" sz="1200" dirty="0" err="1" smtClean="0"/>
            <a:t>arviointi</a:t>
          </a:r>
          <a:endParaRPr lang="en-US" sz="1200" dirty="0"/>
        </a:p>
      </dgm:t>
    </dgm:pt>
    <dgm:pt modelId="{27828D9E-AE80-4D58-9E66-31F5BB1FD0D8}" type="parTrans" cxnId="{9D054EB3-AEE9-4670-950D-F5043ADE3072}">
      <dgm:prSet/>
      <dgm:spPr/>
    </dgm:pt>
    <dgm:pt modelId="{7F9D18F8-F2C0-46BB-847B-BCC1F7322BB7}" type="sibTrans" cxnId="{9D054EB3-AEE9-4670-950D-F5043ADE3072}">
      <dgm:prSet/>
      <dgm:spPr/>
    </dgm:pt>
    <dgm:pt modelId="{B344DE3F-293A-4E1F-8E86-CA3EF4698BB8}" type="pres">
      <dgm:prSet presAssocID="{CCE6B798-7D0D-4918-A3AF-70DEBE7A8D4C}" presName="Name0" presStyleCnt="0">
        <dgm:presLayoutVars>
          <dgm:dir/>
          <dgm:animLvl val="lvl"/>
          <dgm:resizeHandles val="exact"/>
        </dgm:presLayoutVars>
      </dgm:prSet>
      <dgm:spPr/>
      <dgm:t>
        <a:bodyPr/>
        <a:lstStyle/>
        <a:p>
          <a:endParaRPr lang="fi-FI"/>
        </a:p>
      </dgm:t>
    </dgm:pt>
    <dgm:pt modelId="{54455895-D35D-4B28-AB4C-08A82F6B0422}" type="pres">
      <dgm:prSet presAssocID="{923E71A7-970F-46C5-B8CA-29A4671791AC}" presName="boxAndChildren" presStyleCnt="0"/>
      <dgm:spPr/>
    </dgm:pt>
    <dgm:pt modelId="{17E58CBB-59AE-4B65-9C13-37D82FB9BAAC}" type="pres">
      <dgm:prSet presAssocID="{923E71A7-970F-46C5-B8CA-29A4671791AC}" presName="parentTextBox" presStyleLbl="node1" presStyleIdx="0" presStyleCnt="4"/>
      <dgm:spPr/>
      <dgm:t>
        <a:bodyPr/>
        <a:lstStyle/>
        <a:p>
          <a:endParaRPr lang="fi-FI"/>
        </a:p>
      </dgm:t>
    </dgm:pt>
    <dgm:pt modelId="{7343157F-351C-4900-BA19-7CF857D57FAC}" type="pres">
      <dgm:prSet presAssocID="{923E71A7-970F-46C5-B8CA-29A4671791AC}" presName="entireBox" presStyleLbl="node1" presStyleIdx="0" presStyleCnt="4"/>
      <dgm:spPr/>
      <dgm:t>
        <a:bodyPr/>
        <a:lstStyle/>
        <a:p>
          <a:endParaRPr lang="fi-FI"/>
        </a:p>
      </dgm:t>
    </dgm:pt>
    <dgm:pt modelId="{864AAB70-D2D7-467C-96C0-D1F0A536A7DD}" type="pres">
      <dgm:prSet presAssocID="{923E71A7-970F-46C5-B8CA-29A4671791AC}" presName="descendantBox" presStyleCnt="0"/>
      <dgm:spPr/>
    </dgm:pt>
    <dgm:pt modelId="{BC5829FE-AE62-4C72-87F8-50A99B4046C8}" type="pres">
      <dgm:prSet presAssocID="{ACDD303F-74D7-46D9-ABCB-FA4D18EF078B}" presName="childTextBox" presStyleLbl="fgAccFollowNode1" presStyleIdx="0" presStyleCnt="13">
        <dgm:presLayoutVars>
          <dgm:bulletEnabled val="1"/>
        </dgm:presLayoutVars>
      </dgm:prSet>
      <dgm:spPr/>
      <dgm:t>
        <a:bodyPr/>
        <a:lstStyle/>
        <a:p>
          <a:endParaRPr lang="fi-FI"/>
        </a:p>
      </dgm:t>
    </dgm:pt>
    <dgm:pt modelId="{F670390C-ABEF-4A62-BA35-08167288C47D}" type="pres">
      <dgm:prSet presAssocID="{12FD6174-646A-463A-9114-0994EFBC229E}" presName="childTextBox" presStyleLbl="fgAccFollowNode1" presStyleIdx="1" presStyleCnt="13">
        <dgm:presLayoutVars>
          <dgm:bulletEnabled val="1"/>
        </dgm:presLayoutVars>
      </dgm:prSet>
      <dgm:spPr/>
      <dgm:t>
        <a:bodyPr/>
        <a:lstStyle/>
        <a:p>
          <a:endParaRPr lang="fi-FI"/>
        </a:p>
      </dgm:t>
    </dgm:pt>
    <dgm:pt modelId="{D5877B07-3C40-4A2E-BDDA-D02DC2500DEC}" type="pres">
      <dgm:prSet presAssocID="{FB1780AD-21CB-427F-A0C3-C71B57E20FCC}" presName="sp" presStyleCnt="0"/>
      <dgm:spPr/>
    </dgm:pt>
    <dgm:pt modelId="{98F96779-022D-4F0E-B4B1-DF772F430BC0}" type="pres">
      <dgm:prSet presAssocID="{32530AB1-8811-4990-8B9A-6804C2FC87E9}" presName="arrowAndChildren" presStyleCnt="0"/>
      <dgm:spPr/>
    </dgm:pt>
    <dgm:pt modelId="{CB715751-B5FE-4768-AF3A-1BB21D9CCFE8}" type="pres">
      <dgm:prSet presAssocID="{32530AB1-8811-4990-8B9A-6804C2FC87E9}" presName="parentTextArrow" presStyleLbl="node1" presStyleIdx="0" presStyleCnt="4"/>
      <dgm:spPr/>
      <dgm:t>
        <a:bodyPr/>
        <a:lstStyle/>
        <a:p>
          <a:endParaRPr lang="fi-FI"/>
        </a:p>
      </dgm:t>
    </dgm:pt>
    <dgm:pt modelId="{CD6073F2-E99A-4092-99F1-8C5A9366EC04}" type="pres">
      <dgm:prSet presAssocID="{32530AB1-8811-4990-8B9A-6804C2FC87E9}" presName="arrow" presStyleLbl="node1" presStyleIdx="1" presStyleCnt="4"/>
      <dgm:spPr/>
      <dgm:t>
        <a:bodyPr/>
        <a:lstStyle/>
        <a:p>
          <a:endParaRPr lang="fi-FI"/>
        </a:p>
      </dgm:t>
    </dgm:pt>
    <dgm:pt modelId="{686BC6E8-3DCB-4927-9DA4-EC85B92D93CE}" type="pres">
      <dgm:prSet presAssocID="{32530AB1-8811-4990-8B9A-6804C2FC87E9}" presName="descendantArrow" presStyleCnt="0"/>
      <dgm:spPr/>
    </dgm:pt>
    <dgm:pt modelId="{0088C5A1-A7B7-47CD-A509-2C9524D241F6}" type="pres">
      <dgm:prSet presAssocID="{1F09CBA5-34A4-40BC-82FA-76CA11B7BC1F}" presName="childTextArrow" presStyleLbl="fgAccFollowNode1" presStyleIdx="2" presStyleCnt="13">
        <dgm:presLayoutVars>
          <dgm:bulletEnabled val="1"/>
        </dgm:presLayoutVars>
      </dgm:prSet>
      <dgm:spPr/>
      <dgm:t>
        <a:bodyPr/>
        <a:lstStyle/>
        <a:p>
          <a:endParaRPr lang="fi-FI"/>
        </a:p>
      </dgm:t>
    </dgm:pt>
    <dgm:pt modelId="{659195B5-86D5-4BF9-B2C7-2DC5CFDC5BDB}" type="pres">
      <dgm:prSet presAssocID="{09ADB0EC-061C-482E-A68E-1CA217A4F1CA}" presName="childTextArrow" presStyleLbl="fgAccFollowNode1" presStyleIdx="3" presStyleCnt="13">
        <dgm:presLayoutVars>
          <dgm:bulletEnabled val="1"/>
        </dgm:presLayoutVars>
      </dgm:prSet>
      <dgm:spPr/>
      <dgm:t>
        <a:bodyPr/>
        <a:lstStyle/>
        <a:p>
          <a:endParaRPr lang="fi-FI"/>
        </a:p>
      </dgm:t>
    </dgm:pt>
    <dgm:pt modelId="{8C9AC0C0-3DB3-4DCD-811E-9CCA3508B7B1}" type="pres">
      <dgm:prSet presAssocID="{599DC419-EA42-4ABD-B834-99F5579E16A2}" presName="childTextArrow" presStyleLbl="fgAccFollowNode1" presStyleIdx="4" presStyleCnt="13">
        <dgm:presLayoutVars>
          <dgm:bulletEnabled val="1"/>
        </dgm:presLayoutVars>
      </dgm:prSet>
      <dgm:spPr/>
      <dgm:t>
        <a:bodyPr/>
        <a:lstStyle/>
        <a:p>
          <a:endParaRPr lang="fi-FI"/>
        </a:p>
      </dgm:t>
    </dgm:pt>
    <dgm:pt modelId="{23CF2D90-7784-4748-A1A9-55109E9FB1CA}" type="pres">
      <dgm:prSet presAssocID="{A4FFC771-ED83-4334-A9D8-C8DD11FD1220}" presName="sp" presStyleCnt="0"/>
      <dgm:spPr/>
    </dgm:pt>
    <dgm:pt modelId="{47F6839E-02B7-41C1-96E6-5ACD335E352C}" type="pres">
      <dgm:prSet presAssocID="{943071FD-EB02-4CFC-ACCE-F60AF54B38D5}" presName="arrowAndChildren" presStyleCnt="0"/>
      <dgm:spPr/>
    </dgm:pt>
    <dgm:pt modelId="{8323D22D-2434-4FC9-BBF1-CC05622EAC5F}" type="pres">
      <dgm:prSet presAssocID="{943071FD-EB02-4CFC-ACCE-F60AF54B38D5}" presName="parentTextArrow" presStyleLbl="node1" presStyleIdx="1" presStyleCnt="4"/>
      <dgm:spPr/>
      <dgm:t>
        <a:bodyPr/>
        <a:lstStyle/>
        <a:p>
          <a:endParaRPr lang="fi-FI"/>
        </a:p>
      </dgm:t>
    </dgm:pt>
    <dgm:pt modelId="{2169BE9E-E813-4240-BE92-BB460A01A0BB}" type="pres">
      <dgm:prSet presAssocID="{943071FD-EB02-4CFC-ACCE-F60AF54B38D5}" presName="arrow" presStyleLbl="node1" presStyleIdx="2" presStyleCnt="4"/>
      <dgm:spPr/>
      <dgm:t>
        <a:bodyPr/>
        <a:lstStyle/>
        <a:p>
          <a:endParaRPr lang="fi-FI"/>
        </a:p>
      </dgm:t>
    </dgm:pt>
    <dgm:pt modelId="{ADDEF9F7-6290-4E04-896E-206670BAC7DE}" type="pres">
      <dgm:prSet presAssocID="{943071FD-EB02-4CFC-ACCE-F60AF54B38D5}" presName="descendantArrow" presStyleCnt="0"/>
      <dgm:spPr/>
    </dgm:pt>
    <dgm:pt modelId="{1D863E9C-272F-4035-ADD3-E4A566F9BD24}" type="pres">
      <dgm:prSet presAssocID="{F87344E6-839A-4217-A7FA-1B574727E7CA}" presName="childTextArrow" presStyleLbl="fgAccFollowNode1" presStyleIdx="5" presStyleCnt="13">
        <dgm:presLayoutVars>
          <dgm:bulletEnabled val="1"/>
        </dgm:presLayoutVars>
      </dgm:prSet>
      <dgm:spPr/>
      <dgm:t>
        <a:bodyPr/>
        <a:lstStyle/>
        <a:p>
          <a:endParaRPr lang="fi-FI"/>
        </a:p>
      </dgm:t>
    </dgm:pt>
    <dgm:pt modelId="{6C120B5F-968D-492C-818D-5E486E0387D0}" type="pres">
      <dgm:prSet presAssocID="{A3CEBD14-6D74-4FD7-8314-172FC61FAB5E}" presName="childTextArrow" presStyleLbl="fgAccFollowNode1" presStyleIdx="6" presStyleCnt="13">
        <dgm:presLayoutVars>
          <dgm:bulletEnabled val="1"/>
        </dgm:presLayoutVars>
      </dgm:prSet>
      <dgm:spPr/>
      <dgm:t>
        <a:bodyPr/>
        <a:lstStyle/>
        <a:p>
          <a:endParaRPr lang="fi-FI"/>
        </a:p>
      </dgm:t>
    </dgm:pt>
    <dgm:pt modelId="{B09D8E9E-0919-4ECF-BD63-5DC71DA4AF13}" type="pres">
      <dgm:prSet presAssocID="{D46F3AFC-5B99-4C6F-949C-2EA6D0263C35}" presName="childTextArrow" presStyleLbl="fgAccFollowNode1" presStyleIdx="7" presStyleCnt="13">
        <dgm:presLayoutVars>
          <dgm:bulletEnabled val="1"/>
        </dgm:presLayoutVars>
      </dgm:prSet>
      <dgm:spPr/>
      <dgm:t>
        <a:bodyPr/>
        <a:lstStyle/>
        <a:p>
          <a:endParaRPr lang="fi-FI"/>
        </a:p>
      </dgm:t>
    </dgm:pt>
    <dgm:pt modelId="{33CBF614-09B1-43EA-B712-074CA787EF03}" type="pres">
      <dgm:prSet presAssocID="{FBBA59F7-C8F1-48F4-A128-45E4AD671C0E}" presName="sp" presStyleCnt="0"/>
      <dgm:spPr/>
    </dgm:pt>
    <dgm:pt modelId="{AFECD586-76BD-4A60-AD25-4B0243AFC68F}" type="pres">
      <dgm:prSet presAssocID="{92CF5B69-53BB-4F9D-B9E7-5402C4D1EDAD}" presName="arrowAndChildren" presStyleCnt="0"/>
      <dgm:spPr/>
    </dgm:pt>
    <dgm:pt modelId="{070B736C-B461-48DE-B8AC-EE6FCDC1286E}" type="pres">
      <dgm:prSet presAssocID="{92CF5B69-53BB-4F9D-B9E7-5402C4D1EDAD}" presName="parentTextArrow" presStyleLbl="node1" presStyleIdx="2" presStyleCnt="4"/>
      <dgm:spPr/>
      <dgm:t>
        <a:bodyPr/>
        <a:lstStyle/>
        <a:p>
          <a:endParaRPr lang="fi-FI"/>
        </a:p>
      </dgm:t>
    </dgm:pt>
    <dgm:pt modelId="{7AC4B2C5-7A18-4385-AD1C-207D66702FC1}" type="pres">
      <dgm:prSet presAssocID="{92CF5B69-53BB-4F9D-B9E7-5402C4D1EDAD}" presName="arrow" presStyleLbl="node1" presStyleIdx="3" presStyleCnt="4"/>
      <dgm:spPr/>
      <dgm:t>
        <a:bodyPr/>
        <a:lstStyle/>
        <a:p>
          <a:endParaRPr lang="fi-FI"/>
        </a:p>
      </dgm:t>
    </dgm:pt>
    <dgm:pt modelId="{B4086B61-340D-40D2-A03E-79B601C8A0B9}" type="pres">
      <dgm:prSet presAssocID="{92CF5B69-53BB-4F9D-B9E7-5402C4D1EDAD}" presName="descendantArrow" presStyleCnt="0"/>
      <dgm:spPr/>
    </dgm:pt>
    <dgm:pt modelId="{5D608F82-99F0-4C9B-BBD3-A97ED2E65B39}" type="pres">
      <dgm:prSet presAssocID="{62F9AA6A-EE2D-4449-9A7A-21464E227DE8}" presName="childTextArrow" presStyleLbl="fgAccFollowNode1" presStyleIdx="8" presStyleCnt="13">
        <dgm:presLayoutVars>
          <dgm:bulletEnabled val="1"/>
        </dgm:presLayoutVars>
      </dgm:prSet>
      <dgm:spPr/>
      <dgm:t>
        <a:bodyPr/>
        <a:lstStyle/>
        <a:p>
          <a:endParaRPr lang="fi-FI"/>
        </a:p>
      </dgm:t>
    </dgm:pt>
    <dgm:pt modelId="{3896DD9B-66DE-4B16-B0FA-E659A0C1F565}" type="pres">
      <dgm:prSet presAssocID="{1F80CCCE-D682-43BB-924A-1688BFA5838E}" presName="childTextArrow" presStyleLbl="fgAccFollowNode1" presStyleIdx="9" presStyleCnt="13">
        <dgm:presLayoutVars>
          <dgm:bulletEnabled val="1"/>
        </dgm:presLayoutVars>
      </dgm:prSet>
      <dgm:spPr/>
      <dgm:t>
        <a:bodyPr/>
        <a:lstStyle/>
        <a:p>
          <a:endParaRPr lang="fi-FI"/>
        </a:p>
      </dgm:t>
    </dgm:pt>
    <dgm:pt modelId="{64042271-5038-4C0C-832F-DADB9C4C8795}" type="pres">
      <dgm:prSet presAssocID="{BF90EE73-226C-4174-A4B8-97C8B5AB35DD}" presName="childTextArrow" presStyleLbl="fgAccFollowNode1" presStyleIdx="10" presStyleCnt="13">
        <dgm:presLayoutVars>
          <dgm:bulletEnabled val="1"/>
        </dgm:presLayoutVars>
      </dgm:prSet>
      <dgm:spPr/>
      <dgm:t>
        <a:bodyPr/>
        <a:lstStyle/>
        <a:p>
          <a:endParaRPr lang="fi-FI"/>
        </a:p>
      </dgm:t>
    </dgm:pt>
    <dgm:pt modelId="{B7C74EA3-F818-4415-892D-3423E4AA0A9C}" type="pres">
      <dgm:prSet presAssocID="{66509EDA-9D97-4D40-AF4E-8F970713BAF0}" presName="childTextArrow" presStyleLbl="fgAccFollowNode1" presStyleIdx="11" presStyleCnt="13">
        <dgm:presLayoutVars>
          <dgm:bulletEnabled val="1"/>
        </dgm:presLayoutVars>
      </dgm:prSet>
      <dgm:spPr/>
      <dgm:t>
        <a:bodyPr/>
        <a:lstStyle/>
        <a:p>
          <a:endParaRPr lang="fi-FI"/>
        </a:p>
      </dgm:t>
    </dgm:pt>
    <dgm:pt modelId="{E134A9A1-440B-4E79-9492-DD73C2676446}" type="pres">
      <dgm:prSet presAssocID="{247EEC64-4BDF-4038-9E90-A2DD4F8E8B5A}" presName="childTextArrow" presStyleLbl="fgAccFollowNode1" presStyleIdx="12" presStyleCnt="13">
        <dgm:presLayoutVars>
          <dgm:bulletEnabled val="1"/>
        </dgm:presLayoutVars>
      </dgm:prSet>
      <dgm:spPr/>
      <dgm:t>
        <a:bodyPr/>
        <a:lstStyle/>
        <a:p>
          <a:endParaRPr lang="fi-FI"/>
        </a:p>
      </dgm:t>
    </dgm:pt>
  </dgm:ptLst>
  <dgm:cxnLst>
    <dgm:cxn modelId="{E6F2908B-8850-4961-B151-EAD0EAD93769}" srcId="{943071FD-EB02-4CFC-ACCE-F60AF54B38D5}" destId="{F87344E6-839A-4217-A7FA-1B574727E7CA}" srcOrd="0" destOrd="0" parTransId="{DBE5AC73-A700-4BAC-9DBC-07908BA2499B}" sibTransId="{A85F8322-B70F-4109-9742-44BCCFD1EE91}"/>
    <dgm:cxn modelId="{63842D9F-191D-40FD-9780-1441D63518DF}" type="presOf" srcId="{09ADB0EC-061C-482E-A68E-1CA217A4F1CA}" destId="{659195B5-86D5-4BF9-B2C7-2DC5CFDC5BDB}" srcOrd="0" destOrd="0" presId="urn:microsoft.com/office/officeart/2005/8/layout/process4"/>
    <dgm:cxn modelId="{BD3FE5C0-0C75-41D3-8041-0BA5CB4917FF}" srcId="{CCE6B798-7D0D-4918-A3AF-70DEBE7A8D4C}" destId="{32530AB1-8811-4990-8B9A-6804C2FC87E9}" srcOrd="2" destOrd="0" parTransId="{9DFED0C2-D58F-4C39-A6AE-868FC8E5DC8B}" sibTransId="{FB1780AD-21CB-427F-A0C3-C71B57E20FCC}"/>
    <dgm:cxn modelId="{E2E21142-626E-44EA-872F-9F409B2679BD}" srcId="{92CF5B69-53BB-4F9D-B9E7-5402C4D1EDAD}" destId="{BF90EE73-226C-4174-A4B8-97C8B5AB35DD}" srcOrd="2" destOrd="0" parTransId="{25348945-0374-47CE-941A-9B03D7C1F80F}" sibTransId="{6B6AA6E2-8D90-4C5B-B86E-B22EC86D3BF1}"/>
    <dgm:cxn modelId="{2BB7172C-9CFC-4EA3-AC6C-367FEDD39BA2}" srcId="{943071FD-EB02-4CFC-ACCE-F60AF54B38D5}" destId="{A3CEBD14-6D74-4FD7-8314-172FC61FAB5E}" srcOrd="1" destOrd="0" parTransId="{0E84763B-7B7B-4AD1-998C-F8B3D7FD9555}" sibTransId="{04DD191B-31E9-49DA-9157-B14D349B002F}"/>
    <dgm:cxn modelId="{BEAABA94-937F-4757-A8EB-DC6EA21C99F3}" type="presOf" srcId="{247EEC64-4BDF-4038-9E90-A2DD4F8E8B5A}" destId="{E134A9A1-440B-4E79-9492-DD73C2676446}" srcOrd="0" destOrd="0" presId="urn:microsoft.com/office/officeart/2005/8/layout/process4"/>
    <dgm:cxn modelId="{82459472-3BCA-49E5-BC1A-1F6488CC955A}" type="presOf" srcId="{923E71A7-970F-46C5-B8CA-29A4671791AC}" destId="{7343157F-351C-4900-BA19-7CF857D57FAC}" srcOrd="1" destOrd="0" presId="urn:microsoft.com/office/officeart/2005/8/layout/process4"/>
    <dgm:cxn modelId="{B1F1C6A4-C913-4E3F-90FD-ECE0F37DC255}" type="presOf" srcId="{1F80CCCE-D682-43BB-924A-1688BFA5838E}" destId="{3896DD9B-66DE-4B16-B0FA-E659A0C1F565}" srcOrd="0" destOrd="0" presId="urn:microsoft.com/office/officeart/2005/8/layout/process4"/>
    <dgm:cxn modelId="{AD2539B3-4CE6-449E-844D-0B5C4E29D3B0}" srcId="{CCE6B798-7D0D-4918-A3AF-70DEBE7A8D4C}" destId="{923E71A7-970F-46C5-B8CA-29A4671791AC}" srcOrd="3" destOrd="0" parTransId="{A8D4EB8B-FD08-43FF-B3A7-388843AB1E56}" sibTransId="{41567073-9D01-4C1B-9521-37C600A14652}"/>
    <dgm:cxn modelId="{E43EBC36-76B1-45B0-A002-BD93094C40B1}" srcId="{92CF5B69-53BB-4F9D-B9E7-5402C4D1EDAD}" destId="{62F9AA6A-EE2D-4449-9A7A-21464E227DE8}" srcOrd="0" destOrd="0" parTransId="{F4CB0C18-D4A5-4D63-8FB1-4162823644B2}" sibTransId="{8EDA2AAF-220A-4163-AF57-A64D484712F9}"/>
    <dgm:cxn modelId="{D117C18C-CBB2-43C3-817C-A806D0120ADA}" type="presOf" srcId="{A3CEBD14-6D74-4FD7-8314-172FC61FAB5E}" destId="{6C120B5F-968D-492C-818D-5E486E0387D0}" srcOrd="0" destOrd="0" presId="urn:microsoft.com/office/officeart/2005/8/layout/process4"/>
    <dgm:cxn modelId="{0564DDC0-4C31-4E45-9823-54FA236390AC}" type="presOf" srcId="{943071FD-EB02-4CFC-ACCE-F60AF54B38D5}" destId="{2169BE9E-E813-4240-BE92-BB460A01A0BB}" srcOrd="1" destOrd="0" presId="urn:microsoft.com/office/officeart/2005/8/layout/process4"/>
    <dgm:cxn modelId="{53F51EEE-9DF3-47EA-A6A5-D699F53B7AA7}" type="presOf" srcId="{923E71A7-970F-46C5-B8CA-29A4671791AC}" destId="{17E58CBB-59AE-4B65-9C13-37D82FB9BAAC}" srcOrd="0" destOrd="0" presId="urn:microsoft.com/office/officeart/2005/8/layout/process4"/>
    <dgm:cxn modelId="{27A957CC-9D46-46AF-81F7-6716882F9CD5}" type="presOf" srcId="{F87344E6-839A-4217-A7FA-1B574727E7CA}" destId="{1D863E9C-272F-4035-ADD3-E4A566F9BD24}" srcOrd="0" destOrd="0" presId="urn:microsoft.com/office/officeart/2005/8/layout/process4"/>
    <dgm:cxn modelId="{671D7A5F-1126-4C23-BCAF-B394738F7387}" type="presOf" srcId="{32530AB1-8811-4990-8B9A-6804C2FC87E9}" destId="{CB715751-B5FE-4768-AF3A-1BB21D9CCFE8}" srcOrd="0" destOrd="0" presId="urn:microsoft.com/office/officeart/2005/8/layout/process4"/>
    <dgm:cxn modelId="{79774969-C7B1-4E1C-8419-380C3DE01078}" srcId="{CCE6B798-7D0D-4918-A3AF-70DEBE7A8D4C}" destId="{943071FD-EB02-4CFC-ACCE-F60AF54B38D5}" srcOrd="1" destOrd="0" parTransId="{90D20866-D086-423F-BE43-8002055D6DEE}" sibTransId="{A4FFC771-ED83-4334-A9D8-C8DD11FD1220}"/>
    <dgm:cxn modelId="{2A4E0071-6E75-4E6E-8E0E-5800CB5FD27B}" srcId="{92CF5B69-53BB-4F9D-B9E7-5402C4D1EDAD}" destId="{1F80CCCE-D682-43BB-924A-1688BFA5838E}" srcOrd="1" destOrd="0" parTransId="{176B06F3-5F27-480D-BB19-A6A3020D0098}" sibTransId="{6BFE054E-742D-47C9-A4E3-4C401F308FA0}"/>
    <dgm:cxn modelId="{9D054EB3-AEE9-4670-950D-F5043ADE3072}" srcId="{943071FD-EB02-4CFC-ACCE-F60AF54B38D5}" destId="{D46F3AFC-5B99-4C6F-949C-2EA6D0263C35}" srcOrd="2" destOrd="0" parTransId="{27828D9E-AE80-4D58-9E66-31F5BB1FD0D8}" sibTransId="{7F9D18F8-F2C0-46BB-847B-BCC1F7322BB7}"/>
    <dgm:cxn modelId="{E5E799C2-502A-44CC-9097-FCBBB3DF474E}" type="presOf" srcId="{D46F3AFC-5B99-4C6F-949C-2EA6D0263C35}" destId="{B09D8E9E-0919-4ECF-BD63-5DC71DA4AF13}" srcOrd="0" destOrd="0" presId="urn:microsoft.com/office/officeart/2005/8/layout/process4"/>
    <dgm:cxn modelId="{5CAE24C5-31B9-493F-882A-464EC2D225CC}" type="presOf" srcId="{62F9AA6A-EE2D-4449-9A7A-21464E227DE8}" destId="{5D608F82-99F0-4C9B-BBD3-A97ED2E65B39}" srcOrd="0" destOrd="0" presId="urn:microsoft.com/office/officeart/2005/8/layout/process4"/>
    <dgm:cxn modelId="{61D2C5E1-109A-4BA6-B140-A6B21E9A583C}" srcId="{32530AB1-8811-4990-8B9A-6804C2FC87E9}" destId="{09ADB0EC-061C-482E-A68E-1CA217A4F1CA}" srcOrd="1" destOrd="0" parTransId="{5AFC677B-F457-4E56-9444-9DB42F8A4F18}" sibTransId="{9FB5C93E-AAF2-40AA-A813-888AE5B754A1}"/>
    <dgm:cxn modelId="{680A5E60-A224-48A4-8EB0-495D6263754F}" srcId="{923E71A7-970F-46C5-B8CA-29A4671791AC}" destId="{ACDD303F-74D7-46D9-ABCB-FA4D18EF078B}" srcOrd="0" destOrd="0" parTransId="{CC35C215-3DFA-458D-ACD2-A7E2295E38D1}" sibTransId="{3E1D43DB-A24F-4789-8310-5833460C1DC3}"/>
    <dgm:cxn modelId="{4C235192-F380-4A56-8CAF-589CD82DA57E}" srcId="{92CF5B69-53BB-4F9D-B9E7-5402C4D1EDAD}" destId="{66509EDA-9D97-4D40-AF4E-8F970713BAF0}" srcOrd="3" destOrd="0" parTransId="{F10CDEFF-597D-4EFE-AE67-095ADC21AF1F}" sibTransId="{FF2795F5-7A84-472E-BFE6-7706F7568249}"/>
    <dgm:cxn modelId="{E2582232-D041-4DDC-87E4-DBEC62C0368C}" type="presOf" srcId="{BF90EE73-226C-4174-A4B8-97C8B5AB35DD}" destId="{64042271-5038-4C0C-832F-DADB9C4C8795}" srcOrd="0" destOrd="0" presId="urn:microsoft.com/office/officeart/2005/8/layout/process4"/>
    <dgm:cxn modelId="{BB600E33-BF12-452A-948C-28E04F212126}" type="presOf" srcId="{92CF5B69-53BB-4F9D-B9E7-5402C4D1EDAD}" destId="{7AC4B2C5-7A18-4385-AD1C-207D66702FC1}" srcOrd="1" destOrd="0" presId="urn:microsoft.com/office/officeart/2005/8/layout/process4"/>
    <dgm:cxn modelId="{433941BC-DB29-43CE-850E-FA6B8C82C746}" srcId="{92CF5B69-53BB-4F9D-B9E7-5402C4D1EDAD}" destId="{247EEC64-4BDF-4038-9E90-A2DD4F8E8B5A}" srcOrd="4" destOrd="0" parTransId="{6483C0C3-0629-4884-AFB9-9730446EB69A}" sibTransId="{FC51FB42-0A35-4115-AB43-4DE612163C98}"/>
    <dgm:cxn modelId="{372D4BAE-BF89-4DFC-AED5-7C8A183492F4}" type="presOf" srcId="{CCE6B798-7D0D-4918-A3AF-70DEBE7A8D4C}" destId="{B344DE3F-293A-4E1F-8E86-CA3EF4698BB8}" srcOrd="0" destOrd="0" presId="urn:microsoft.com/office/officeart/2005/8/layout/process4"/>
    <dgm:cxn modelId="{925A882C-D538-40EF-91F1-AF74049997DB}" type="presOf" srcId="{66509EDA-9D97-4D40-AF4E-8F970713BAF0}" destId="{B7C74EA3-F818-4415-892D-3423E4AA0A9C}" srcOrd="0" destOrd="0" presId="urn:microsoft.com/office/officeart/2005/8/layout/process4"/>
    <dgm:cxn modelId="{39613A1B-5380-421A-8F52-F294AAA92A18}" srcId="{923E71A7-970F-46C5-B8CA-29A4671791AC}" destId="{12FD6174-646A-463A-9114-0994EFBC229E}" srcOrd="1" destOrd="0" parTransId="{37AB2D4F-FFD7-41AF-A58F-461FD2D21578}" sibTransId="{0D6D0EC9-FE81-4813-BE89-6ACC56030E93}"/>
    <dgm:cxn modelId="{1E8F31A7-389F-4389-9A5B-E5453D8C6C80}" type="presOf" srcId="{943071FD-EB02-4CFC-ACCE-F60AF54B38D5}" destId="{8323D22D-2434-4FC9-BBF1-CC05622EAC5F}" srcOrd="0" destOrd="0" presId="urn:microsoft.com/office/officeart/2005/8/layout/process4"/>
    <dgm:cxn modelId="{9032000D-2279-44E5-B485-88E35683A1D4}" type="presOf" srcId="{599DC419-EA42-4ABD-B834-99F5579E16A2}" destId="{8C9AC0C0-3DB3-4DCD-811E-9CCA3508B7B1}" srcOrd="0" destOrd="0" presId="urn:microsoft.com/office/officeart/2005/8/layout/process4"/>
    <dgm:cxn modelId="{090B4E00-83FE-49C3-9DC3-30B38A10B38B}" srcId="{32530AB1-8811-4990-8B9A-6804C2FC87E9}" destId="{599DC419-EA42-4ABD-B834-99F5579E16A2}" srcOrd="2" destOrd="0" parTransId="{6C46D2FA-5455-444D-9AB3-FD8B7A8C1FF7}" sibTransId="{0CFB7CD8-98DF-4719-AD65-FFDB9B0E203F}"/>
    <dgm:cxn modelId="{39DFF838-95B9-4711-95A4-8060154CC285}" type="presOf" srcId="{1F09CBA5-34A4-40BC-82FA-76CA11B7BC1F}" destId="{0088C5A1-A7B7-47CD-A509-2C9524D241F6}" srcOrd="0" destOrd="0" presId="urn:microsoft.com/office/officeart/2005/8/layout/process4"/>
    <dgm:cxn modelId="{8DC6A555-4B91-45A4-8E33-2EB5F9469C6D}" type="presOf" srcId="{12FD6174-646A-463A-9114-0994EFBC229E}" destId="{F670390C-ABEF-4A62-BA35-08167288C47D}" srcOrd="0" destOrd="0" presId="urn:microsoft.com/office/officeart/2005/8/layout/process4"/>
    <dgm:cxn modelId="{A767FF6C-C65C-42D4-BC03-7473B55EA44E}" type="presOf" srcId="{92CF5B69-53BB-4F9D-B9E7-5402C4D1EDAD}" destId="{070B736C-B461-48DE-B8AC-EE6FCDC1286E}" srcOrd="0" destOrd="0" presId="urn:microsoft.com/office/officeart/2005/8/layout/process4"/>
    <dgm:cxn modelId="{1292EAB7-77A8-4F75-BCF9-E6209EF99B54}" srcId="{CCE6B798-7D0D-4918-A3AF-70DEBE7A8D4C}" destId="{92CF5B69-53BB-4F9D-B9E7-5402C4D1EDAD}" srcOrd="0" destOrd="0" parTransId="{B00339EF-D390-4466-8675-C938E865D2CE}" sibTransId="{FBBA59F7-C8F1-48F4-A128-45E4AD671C0E}"/>
    <dgm:cxn modelId="{2AD8E555-5034-44AA-BBF1-252FF20888AB}" type="presOf" srcId="{ACDD303F-74D7-46D9-ABCB-FA4D18EF078B}" destId="{BC5829FE-AE62-4C72-87F8-50A99B4046C8}" srcOrd="0" destOrd="0" presId="urn:microsoft.com/office/officeart/2005/8/layout/process4"/>
    <dgm:cxn modelId="{5DCD37A0-F27C-4CDE-BCB8-113C7229A9F9}" type="presOf" srcId="{32530AB1-8811-4990-8B9A-6804C2FC87E9}" destId="{CD6073F2-E99A-4092-99F1-8C5A9366EC04}" srcOrd="1" destOrd="0" presId="urn:microsoft.com/office/officeart/2005/8/layout/process4"/>
    <dgm:cxn modelId="{75433D26-AAB4-458F-A7D4-E5EF237B522A}" srcId="{32530AB1-8811-4990-8B9A-6804C2FC87E9}" destId="{1F09CBA5-34A4-40BC-82FA-76CA11B7BC1F}" srcOrd="0" destOrd="0" parTransId="{058C5E29-D353-4C90-A546-1A9CB1336F08}" sibTransId="{B4370192-CA17-4CAD-BAE5-AB910E2552F3}"/>
    <dgm:cxn modelId="{24E461D5-8EB1-4A44-82F1-CCDF7ACA5C90}" type="presParOf" srcId="{B344DE3F-293A-4E1F-8E86-CA3EF4698BB8}" destId="{54455895-D35D-4B28-AB4C-08A82F6B0422}" srcOrd="0" destOrd="0" presId="urn:microsoft.com/office/officeart/2005/8/layout/process4"/>
    <dgm:cxn modelId="{D7714990-455F-4E6F-B3F9-797DD101B96A}" type="presParOf" srcId="{54455895-D35D-4B28-AB4C-08A82F6B0422}" destId="{17E58CBB-59AE-4B65-9C13-37D82FB9BAAC}" srcOrd="0" destOrd="0" presId="urn:microsoft.com/office/officeart/2005/8/layout/process4"/>
    <dgm:cxn modelId="{C07AFF67-4CCD-4295-AB2A-CBB07DBC44AB}" type="presParOf" srcId="{54455895-D35D-4B28-AB4C-08A82F6B0422}" destId="{7343157F-351C-4900-BA19-7CF857D57FAC}" srcOrd="1" destOrd="0" presId="urn:microsoft.com/office/officeart/2005/8/layout/process4"/>
    <dgm:cxn modelId="{68F98B1E-B8B1-4F46-81FD-68703DC3A659}" type="presParOf" srcId="{54455895-D35D-4B28-AB4C-08A82F6B0422}" destId="{864AAB70-D2D7-467C-96C0-D1F0A536A7DD}" srcOrd="2" destOrd="0" presId="urn:microsoft.com/office/officeart/2005/8/layout/process4"/>
    <dgm:cxn modelId="{EB7124E2-3CAD-4145-A80D-7D733B97A1FE}" type="presParOf" srcId="{864AAB70-D2D7-467C-96C0-D1F0A536A7DD}" destId="{BC5829FE-AE62-4C72-87F8-50A99B4046C8}" srcOrd="0" destOrd="0" presId="urn:microsoft.com/office/officeart/2005/8/layout/process4"/>
    <dgm:cxn modelId="{1BE8EB48-929D-4638-9990-FB2983634E70}" type="presParOf" srcId="{864AAB70-D2D7-467C-96C0-D1F0A536A7DD}" destId="{F670390C-ABEF-4A62-BA35-08167288C47D}" srcOrd="1" destOrd="0" presId="urn:microsoft.com/office/officeart/2005/8/layout/process4"/>
    <dgm:cxn modelId="{80210773-C1D0-49C5-934D-31DAA50FACF5}" type="presParOf" srcId="{B344DE3F-293A-4E1F-8E86-CA3EF4698BB8}" destId="{D5877B07-3C40-4A2E-BDDA-D02DC2500DEC}" srcOrd="1" destOrd="0" presId="urn:microsoft.com/office/officeart/2005/8/layout/process4"/>
    <dgm:cxn modelId="{B19EF617-1094-4ABB-AFF4-847446567908}" type="presParOf" srcId="{B344DE3F-293A-4E1F-8E86-CA3EF4698BB8}" destId="{98F96779-022D-4F0E-B4B1-DF772F430BC0}" srcOrd="2" destOrd="0" presId="urn:microsoft.com/office/officeart/2005/8/layout/process4"/>
    <dgm:cxn modelId="{D426C00D-89C2-4218-8E71-D7D85A7BCD3C}" type="presParOf" srcId="{98F96779-022D-4F0E-B4B1-DF772F430BC0}" destId="{CB715751-B5FE-4768-AF3A-1BB21D9CCFE8}" srcOrd="0" destOrd="0" presId="urn:microsoft.com/office/officeart/2005/8/layout/process4"/>
    <dgm:cxn modelId="{A9BF717C-3E9F-4385-9844-A59734CC1647}" type="presParOf" srcId="{98F96779-022D-4F0E-B4B1-DF772F430BC0}" destId="{CD6073F2-E99A-4092-99F1-8C5A9366EC04}" srcOrd="1" destOrd="0" presId="urn:microsoft.com/office/officeart/2005/8/layout/process4"/>
    <dgm:cxn modelId="{0BE88140-BBE6-430F-9D88-25F405C598FB}" type="presParOf" srcId="{98F96779-022D-4F0E-B4B1-DF772F430BC0}" destId="{686BC6E8-3DCB-4927-9DA4-EC85B92D93CE}" srcOrd="2" destOrd="0" presId="urn:microsoft.com/office/officeart/2005/8/layout/process4"/>
    <dgm:cxn modelId="{20D7B460-97A2-47A5-A247-D9D648AED94A}" type="presParOf" srcId="{686BC6E8-3DCB-4927-9DA4-EC85B92D93CE}" destId="{0088C5A1-A7B7-47CD-A509-2C9524D241F6}" srcOrd="0" destOrd="0" presId="urn:microsoft.com/office/officeart/2005/8/layout/process4"/>
    <dgm:cxn modelId="{BAD0FDAC-4779-4D8F-8BC9-C4CA0763BF0D}" type="presParOf" srcId="{686BC6E8-3DCB-4927-9DA4-EC85B92D93CE}" destId="{659195B5-86D5-4BF9-B2C7-2DC5CFDC5BDB}" srcOrd="1" destOrd="0" presId="urn:microsoft.com/office/officeart/2005/8/layout/process4"/>
    <dgm:cxn modelId="{4A980EAC-E52A-4162-BE9D-58DB49107023}" type="presParOf" srcId="{686BC6E8-3DCB-4927-9DA4-EC85B92D93CE}" destId="{8C9AC0C0-3DB3-4DCD-811E-9CCA3508B7B1}" srcOrd="2" destOrd="0" presId="urn:microsoft.com/office/officeart/2005/8/layout/process4"/>
    <dgm:cxn modelId="{432B12DB-725E-409F-BBDB-B5B9CE745B9D}" type="presParOf" srcId="{B344DE3F-293A-4E1F-8E86-CA3EF4698BB8}" destId="{23CF2D90-7784-4748-A1A9-55109E9FB1CA}" srcOrd="3" destOrd="0" presId="urn:microsoft.com/office/officeart/2005/8/layout/process4"/>
    <dgm:cxn modelId="{D4385E28-C8D7-4583-8177-8C2800FABDA7}" type="presParOf" srcId="{B344DE3F-293A-4E1F-8E86-CA3EF4698BB8}" destId="{47F6839E-02B7-41C1-96E6-5ACD335E352C}" srcOrd="4" destOrd="0" presId="urn:microsoft.com/office/officeart/2005/8/layout/process4"/>
    <dgm:cxn modelId="{E75D1BC9-F44C-4214-91FC-4883C65C6A85}" type="presParOf" srcId="{47F6839E-02B7-41C1-96E6-5ACD335E352C}" destId="{8323D22D-2434-4FC9-BBF1-CC05622EAC5F}" srcOrd="0" destOrd="0" presId="urn:microsoft.com/office/officeart/2005/8/layout/process4"/>
    <dgm:cxn modelId="{802E68D0-2B19-4ECA-8C53-26C69AD43F53}" type="presParOf" srcId="{47F6839E-02B7-41C1-96E6-5ACD335E352C}" destId="{2169BE9E-E813-4240-BE92-BB460A01A0BB}" srcOrd="1" destOrd="0" presId="urn:microsoft.com/office/officeart/2005/8/layout/process4"/>
    <dgm:cxn modelId="{140D88C4-A88C-4D7D-ADDF-27B15DF87F25}" type="presParOf" srcId="{47F6839E-02B7-41C1-96E6-5ACD335E352C}" destId="{ADDEF9F7-6290-4E04-896E-206670BAC7DE}" srcOrd="2" destOrd="0" presId="urn:microsoft.com/office/officeart/2005/8/layout/process4"/>
    <dgm:cxn modelId="{D326971B-13A6-4BE2-B234-E5E60B2BB795}" type="presParOf" srcId="{ADDEF9F7-6290-4E04-896E-206670BAC7DE}" destId="{1D863E9C-272F-4035-ADD3-E4A566F9BD24}" srcOrd="0" destOrd="0" presId="urn:microsoft.com/office/officeart/2005/8/layout/process4"/>
    <dgm:cxn modelId="{EEE6F7C1-3392-4A83-B648-FFD204263E51}" type="presParOf" srcId="{ADDEF9F7-6290-4E04-896E-206670BAC7DE}" destId="{6C120B5F-968D-492C-818D-5E486E0387D0}" srcOrd="1" destOrd="0" presId="urn:microsoft.com/office/officeart/2005/8/layout/process4"/>
    <dgm:cxn modelId="{01E79554-4C2A-491E-AAC5-1A187BE5FE41}" type="presParOf" srcId="{ADDEF9F7-6290-4E04-896E-206670BAC7DE}" destId="{B09D8E9E-0919-4ECF-BD63-5DC71DA4AF13}" srcOrd="2" destOrd="0" presId="urn:microsoft.com/office/officeart/2005/8/layout/process4"/>
    <dgm:cxn modelId="{C2327AD1-455E-4353-AE1A-907A27D447E8}" type="presParOf" srcId="{B344DE3F-293A-4E1F-8E86-CA3EF4698BB8}" destId="{33CBF614-09B1-43EA-B712-074CA787EF03}" srcOrd="5" destOrd="0" presId="urn:microsoft.com/office/officeart/2005/8/layout/process4"/>
    <dgm:cxn modelId="{E048655B-20D0-4888-BD39-F537B32A6A25}" type="presParOf" srcId="{B344DE3F-293A-4E1F-8E86-CA3EF4698BB8}" destId="{AFECD586-76BD-4A60-AD25-4B0243AFC68F}" srcOrd="6" destOrd="0" presId="urn:microsoft.com/office/officeart/2005/8/layout/process4"/>
    <dgm:cxn modelId="{7733E64F-BCBB-46B4-83E8-98EE7D533103}" type="presParOf" srcId="{AFECD586-76BD-4A60-AD25-4B0243AFC68F}" destId="{070B736C-B461-48DE-B8AC-EE6FCDC1286E}" srcOrd="0" destOrd="0" presId="urn:microsoft.com/office/officeart/2005/8/layout/process4"/>
    <dgm:cxn modelId="{CFAB1EDD-A88D-4A4E-A98C-8A2A4BAD4890}" type="presParOf" srcId="{AFECD586-76BD-4A60-AD25-4B0243AFC68F}" destId="{7AC4B2C5-7A18-4385-AD1C-207D66702FC1}" srcOrd="1" destOrd="0" presId="urn:microsoft.com/office/officeart/2005/8/layout/process4"/>
    <dgm:cxn modelId="{AA3DDD9F-61FA-41C7-9755-1898840CA6B3}" type="presParOf" srcId="{AFECD586-76BD-4A60-AD25-4B0243AFC68F}" destId="{B4086B61-340D-40D2-A03E-79B601C8A0B9}" srcOrd="2" destOrd="0" presId="urn:microsoft.com/office/officeart/2005/8/layout/process4"/>
    <dgm:cxn modelId="{C90C7CAE-38FD-4BEB-84F0-66D7099CDBEC}" type="presParOf" srcId="{B4086B61-340D-40D2-A03E-79B601C8A0B9}" destId="{5D608F82-99F0-4C9B-BBD3-A97ED2E65B39}" srcOrd="0" destOrd="0" presId="urn:microsoft.com/office/officeart/2005/8/layout/process4"/>
    <dgm:cxn modelId="{42291277-3E5A-4A88-BF03-392697D6FAD7}" type="presParOf" srcId="{B4086B61-340D-40D2-A03E-79B601C8A0B9}" destId="{3896DD9B-66DE-4B16-B0FA-E659A0C1F565}" srcOrd="1" destOrd="0" presId="urn:microsoft.com/office/officeart/2005/8/layout/process4"/>
    <dgm:cxn modelId="{27A91462-23C7-4C33-8C34-A8083347DF04}" type="presParOf" srcId="{B4086B61-340D-40D2-A03E-79B601C8A0B9}" destId="{64042271-5038-4C0C-832F-DADB9C4C8795}" srcOrd="2" destOrd="0" presId="urn:microsoft.com/office/officeart/2005/8/layout/process4"/>
    <dgm:cxn modelId="{9F02117F-4842-42CD-83CB-778CD34B1BA9}" type="presParOf" srcId="{B4086B61-340D-40D2-A03E-79B601C8A0B9}" destId="{B7C74EA3-F818-4415-892D-3423E4AA0A9C}" srcOrd="3" destOrd="0" presId="urn:microsoft.com/office/officeart/2005/8/layout/process4"/>
    <dgm:cxn modelId="{4CC94B05-684A-4064-AA9F-EBF84433A977}" type="presParOf" srcId="{B4086B61-340D-40D2-A03E-79B601C8A0B9}" destId="{E134A9A1-440B-4E79-9492-DD73C2676446}" srcOrd="4"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E75275D6-5AA5-4480-8A60-682023C8B13A}" type="doc">
      <dgm:prSet loTypeId="urn:microsoft.com/office/officeart/2005/8/layout/orgChart1" loCatId="hierarchy" qsTypeId="urn:microsoft.com/office/officeart/2005/8/quickstyle/simple1" qsCatId="simple" csTypeId="urn:microsoft.com/office/officeart/2005/8/colors/colorful1#18" csCatId="colorful" phldr="1"/>
      <dgm:spPr/>
      <dgm:t>
        <a:bodyPr/>
        <a:lstStyle/>
        <a:p>
          <a:endParaRPr lang="en-US"/>
        </a:p>
      </dgm:t>
    </dgm:pt>
    <dgm:pt modelId="{6B087EC6-67AF-4AEA-977D-5F8294F0B48C}">
      <dgm:prSet/>
      <dgm:spPr/>
      <dgm:t>
        <a:bodyPr/>
        <a:lstStyle/>
        <a:p>
          <a:pPr rtl="0"/>
          <a:r>
            <a:rPr lang="fi-FI" dirty="0" smtClean="0"/>
            <a:t>Havainto (oletettu virhe)</a:t>
          </a:r>
          <a:endParaRPr lang="en-US" dirty="0"/>
        </a:p>
      </dgm:t>
    </dgm:pt>
    <dgm:pt modelId="{1B27961D-2FD5-48C3-9D7E-618CF34C7F85}" type="parTrans" cxnId="{72BF2173-6FD2-4EAE-B485-D1FC8127C670}">
      <dgm:prSet/>
      <dgm:spPr/>
      <dgm:t>
        <a:bodyPr/>
        <a:lstStyle/>
        <a:p>
          <a:endParaRPr lang="en-US"/>
        </a:p>
      </dgm:t>
    </dgm:pt>
    <dgm:pt modelId="{5C7043AA-BB4C-4CE5-9503-D538CC414497}" type="sibTrans" cxnId="{72BF2173-6FD2-4EAE-B485-D1FC8127C670}">
      <dgm:prSet/>
      <dgm:spPr/>
      <dgm:t>
        <a:bodyPr/>
        <a:lstStyle/>
        <a:p>
          <a:endParaRPr lang="en-US"/>
        </a:p>
      </dgm:t>
    </dgm:pt>
    <dgm:pt modelId="{C3D6B9A2-1469-4E0E-B467-F06DDDEB895B}">
      <dgm:prSet/>
      <dgm:spPr/>
      <dgm:t>
        <a:bodyPr/>
        <a:lstStyle/>
        <a:p>
          <a:pPr rtl="0"/>
          <a:r>
            <a:rPr lang="fi-FI" dirty="0" smtClean="0"/>
            <a:t>Virhe</a:t>
          </a:r>
          <a:endParaRPr lang="en-US" dirty="0"/>
        </a:p>
      </dgm:t>
    </dgm:pt>
    <dgm:pt modelId="{656B533F-454F-4CB2-9776-F78937D10B08}" type="parTrans" cxnId="{A22DD2EC-DBF5-4735-9F42-82789C78B011}">
      <dgm:prSet/>
      <dgm:spPr/>
      <dgm:t>
        <a:bodyPr/>
        <a:lstStyle/>
        <a:p>
          <a:endParaRPr lang="en-US"/>
        </a:p>
      </dgm:t>
    </dgm:pt>
    <dgm:pt modelId="{231865D0-F27F-4FB9-806F-387D190B042D}" type="sibTrans" cxnId="{A22DD2EC-DBF5-4735-9F42-82789C78B011}">
      <dgm:prSet/>
      <dgm:spPr/>
      <dgm:t>
        <a:bodyPr/>
        <a:lstStyle/>
        <a:p>
          <a:endParaRPr lang="en-US"/>
        </a:p>
      </dgm:t>
    </dgm:pt>
    <dgm:pt modelId="{6414317E-2D99-4460-A367-CCA674A1FB82}">
      <dgm:prSet/>
      <dgm:spPr/>
      <dgm:t>
        <a:bodyPr/>
        <a:lstStyle/>
        <a:p>
          <a:pPr rtl="0"/>
          <a:r>
            <a:rPr lang="fi-FI" b="1" dirty="0" smtClean="0"/>
            <a:t>Aika</a:t>
          </a:r>
          <a:r>
            <a:rPr lang="fi-FI" dirty="0" smtClean="0"/>
            <a:t>: laskenta pidentämistarpeelle alkaa analyysin alusta</a:t>
          </a:r>
          <a:endParaRPr lang="en-US" dirty="0"/>
        </a:p>
      </dgm:t>
    </dgm:pt>
    <dgm:pt modelId="{54B9C4E9-30E7-4A13-9842-3C48F3238D78}" type="parTrans" cxnId="{B15820FA-F18E-4041-998E-B377DE55BB33}">
      <dgm:prSet/>
      <dgm:spPr/>
      <dgm:t>
        <a:bodyPr/>
        <a:lstStyle/>
        <a:p>
          <a:endParaRPr lang="en-US"/>
        </a:p>
      </dgm:t>
    </dgm:pt>
    <dgm:pt modelId="{916CAE83-395E-43DE-849D-8AF36F71334F}" type="sibTrans" cxnId="{B15820FA-F18E-4041-998E-B377DE55BB33}">
      <dgm:prSet/>
      <dgm:spPr/>
      <dgm:t>
        <a:bodyPr/>
        <a:lstStyle/>
        <a:p>
          <a:endParaRPr lang="en-US"/>
        </a:p>
      </dgm:t>
    </dgm:pt>
    <dgm:pt modelId="{143FF422-595A-43B8-9643-34646071DC0B}">
      <dgm:prSet/>
      <dgm:spPr/>
      <dgm:t>
        <a:bodyPr/>
        <a:lstStyle/>
        <a:p>
          <a:pPr rtl="0"/>
          <a:r>
            <a:rPr lang="fi-FI" b="1" dirty="0" smtClean="0"/>
            <a:t>Raha</a:t>
          </a:r>
          <a:r>
            <a:rPr lang="fi-FI" dirty="0" smtClean="0"/>
            <a:t>: analyysi + korjaus + uudelleentestaus + regressiotestaus toimittajan vastuulla (kustannuspaikka toimittajan takuutyöt)</a:t>
          </a:r>
          <a:endParaRPr lang="en-US" dirty="0"/>
        </a:p>
      </dgm:t>
    </dgm:pt>
    <dgm:pt modelId="{44C37B02-C9B6-4AE1-A8F5-5A9DA03F25E1}" type="parTrans" cxnId="{16CFE34C-1C8C-4082-9EC6-FABDCE48A308}">
      <dgm:prSet/>
      <dgm:spPr/>
      <dgm:t>
        <a:bodyPr/>
        <a:lstStyle/>
        <a:p>
          <a:endParaRPr lang="en-US"/>
        </a:p>
      </dgm:t>
    </dgm:pt>
    <dgm:pt modelId="{5881CFF1-9BF1-48F2-9DDD-2CF9047BB0CF}" type="sibTrans" cxnId="{16CFE34C-1C8C-4082-9EC6-FABDCE48A308}">
      <dgm:prSet/>
      <dgm:spPr/>
      <dgm:t>
        <a:bodyPr/>
        <a:lstStyle/>
        <a:p>
          <a:endParaRPr lang="en-US"/>
        </a:p>
      </dgm:t>
    </dgm:pt>
    <dgm:pt modelId="{D5B5C054-F82A-48F9-8D42-6A43D75D3052}">
      <dgm:prSet/>
      <dgm:spPr/>
      <dgm:t>
        <a:bodyPr/>
        <a:lstStyle/>
        <a:p>
          <a:pPr rtl="0"/>
          <a:r>
            <a:rPr lang="fi-FI" dirty="0" smtClean="0"/>
            <a:t>Määrittelymuutos</a:t>
          </a:r>
          <a:endParaRPr lang="en-US" dirty="0"/>
        </a:p>
      </dgm:t>
    </dgm:pt>
    <dgm:pt modelId="{302A62D6-5E29-40E1-B8DB-F44E10CE3ACA}" type="parTrans" cxnId="{3963948F-BA9A-47C3-8D8D-BD6BF47305FF}">
      <dgm:prSet/>
      <dgm:spPr/>
      <dgm:t>
        <a:bodyPr/>
        <a:lstStyle/>
        <a:p>
          <a:endParaRPr lang="en-US"/>
        </a:p>
      </dgm:t>
    </dgm:pt>
    <dgm:pt modelId="{BC011640-E618-4521-9ED4-8FA45094ABEA}" type="sibTrans" cxnId="{3963948F-BA9A-47C3-8D8D-BD6BF47305FF}">
      <dgm:prSet/>
      <dgm:spPr/>
      <dgm:t>
        <a:bodyPr/>
        <a:lstStyle/>
        <a:p>
          <a:endParaRPr lang="en-US"/>
        </a:p>
      </dgm:t>
    </dgm:pt>
    <dgm:pt modelId="{90D0A21E-B465-4FA8-B73C-280122019CD4}">
      <dgm:prSet/>
      <dgm:spPr/>
      <dgm:t>
        <a:bodyPr/>
        <a:lstStyle/>
        <a:p>
          <a:pPr rtl="0"/>
          <a:r>
            <a:rPr lang="fi-FI" b="1" dirty="0" smtClean="0"/>
            <a:t>Aika</a:t>
          </a:r>
          <a:r>
            <a:rPr lang="fi-FI" dirty="0" smtClean="0"/>
            <a:t>: ei pidennä </a:t>
          </a:r>
          <a:endParaRPr lang="en-US" dirty="0"/>
        </a:p>
      </dgm:t>
    </dgm:pt>
    <dgm:pt modelId="{9C214DBB-6254-400A-B1DA-9C7269AAD286}" type="parTrans" cxnId="{0533C6D0-3D17-450E-96A3-13C0342CF40F}">
      <dgm:prSet/>
      <dgm:spPr/>
      <dgm:t>
        <a:bodyPr/>
        <a:lstStyle/>
        <a:p>
          <a:endParaRPr lang="en-US"/>
        </a:p>
      </dgm:t>
    </dgm:pt>
    <dgm:pt modelId="{1AF0BB33-85AD-4B9C-B2D7-A0083E351618}" type="sibTrans" cxnId="{0533C6D0-3D17-450E-96A3-13C0342CF40F}">
      <dgm:prSet/>
      <dgm:spPr/>
      <dgm:t>
        <a:bodyPr/>
        <a:lstStyle/>
        <a:p>
          <a:endParaRPr lang="en-US"/>
        </a:p>
      </dgm:t>
    </dgm:pt>
    <dgm:pt modelId="{A40BB5A7-06AE-4512-8233-7C3F0A4707BE}">
      <dgm:prSet/>
      <dgm:spPr/>
      <dgm:t>
        <a:bodyPr/>
        <a:lstStyle/>
        <a:p>
          <a:pPr rtl="0"/>
          <a:r>
            <a:rPr lang="fi-FI" dirty="0" smtClean="0"/>
            <a:t>Huti</a:t>
          </a:r>
          <a:endParaRPr lang="en-US" dirty="0"/>
        </a:p>
      </dgm:t>
    </dgm:pt>
    <dgm:pt modelId="{83B1D1A8-C847-4E11-BEE1-91BBA91BEF31}" type="parTrans" cxnId="{416851DD-C6AD-47AE-ADE9-82F52F58C028}">
      <dgm:prSet/>
      <dgm:spPr/>
      <dgm:t>
        <a:bodyPr/>
        <a:lstStyle/>
        <a:p>
          <a:endParaRPr lang="en-US"/>
        </a:p>
      </dgm:t>
    </dgm:pt>
    <dgm:pt modelId="{7984AC78-4C48-4AA6-9B83-8FE1D5B1A9CF}" type="sibTrans" cxnId="{416851DD-C6AD-47AE-ADE9-82F52F58C028}">
      <dgm:prSet/>
      <dgm:spPr/>
      <dgm:t>
        <a:bodyPr/>
        <a:lstStyle/>
        <a:p>
          <a:endParaRPr lang="en-US"/>
        </a:p>
      </dgm:t>
    </dgm:pt>
    <dgm:pt modelId="{A95640D3-6232-4BBB-B04B-A7C2ABF09E36}">
      <dgm:prSet/>
      <dgm:spPr/>
      <dgm:t>
        <a:bodyPr/>
        <a:lstStyle/>
        <a:p>
          <a:pPr rtl="0"/>
          <a:r>
            <a:rPr lang="fi-FI" b="1" dirty="0" smtClean="0"/>
            <a:t>Aika</a:t>
          </a:r>
          <a:r>
            <a:rPr lang="fi-FI" dirty="0" smtClean="0"/>
            <a:t>: ei pidennä </a:t>
          </a:r>
          <a:endParaRPr lang="en-US" dirty="0"/>
        </a:p>
      </dgm:t>
    </dgm:pt>
    <dgm:pt modelId="{5FE36767-61F4-4757-94DC-E28EEE6A65F6}" type="parTrans" cxnId="{4AFD2D44-C595-4BB1-8405-A8341CD0E8BA}">
      <dgm:prSet/>
      <dgm:spPr/>
      <dgm:t>
        <a:bodyPr/>
        <a:lstStyle/>
        <a:p>
          <a:endParaRPr lang="en-US"/>
        </a:p>
      </dgm:t>
    </dgm:pt>
    <dgm:pt modelId="{86E52E23-4FA9-4541-8713-61D2666CE346}" type="sibTrans" cxnId="{4AFD2D44-C595-4BB1-8405-A8341CD0E8BA}">
      <dgm:prSet/>
      <dgm:spPr/>
      <dgm:t>
        <a:bodyPr/>
        <a:lstStyle/>
        <a:p>
          <a:endParaRPr lang="en-US"/>
        </a:p>
      </dgm:t>
    </dgm:pt>
    <dgm:pt modelId="{9EF8562C-32B7-4059-9C24-4965BEDDB6B6}">
      <dgm:prSet/>
      <dgm:spPr/>
      <dgm:t>
        <a:bodyPr/>
        <a:lstStyle/>
        <a:p>
          <a:pPr rtl="0"/>
          <a:r>
            <a:rPr lang="fi-FI" b="1" dirty="0" smtClean="0"/>
            <a:t>Raha</a:t>
          </a:r>
          <a:r>
            <a:rPr lang="fi-FI" dirty="0" smtClean="0"/>
            <a:t>: analyysi tavoitehintaisen projektin työtä (kustannuspaikka  hyväksymistestauksen tuki)</a:t>
          </a:r>
          <a:endParaRPr lang="en-US" dirty="0"/>
        </a:p>
      </dgm:t>
    </dgm:pt>
    <dgm:pt modelId="{E09CB385-F3D6-4700-8BC8-9580E58406F8}" type="parTrans" cxnId="{FD006100-A12C-4681-8261-18516A705FDB}">
      <dgm:prSet/>
      <dgm:spPr/>
      <dgm:t>
        <a:bodyPr/>
        <a:lstStyle/>
        <a:p>
          <a:endParaRPr lang="en-US"/>
        </a:p>
      </dgm:t>
    </dgm:pt>
    <dgm:pt modelId="{36619FD1-A312-48A1-9343-FC065D22FA62}" type="sibTrans" cxnId="{FD006100-A12C-4681-8261-18516A705FDB}">
      <dgm:prSet/>
      <dgm:spPr/>
      <dgm:t>
        <a:bodyPr/>
        <a:lstStyle/>
        <a:p>
          <a:endParaRPr lang="en-US"/>
        </a:p>
      </dgm:t>
    </dgm:pt>
    <dgm:pt modelId="{0DAFB042-AAAE-456C-AD1E-8449BCA8BB69}">
      <dgm:prSet/>
      <dgm:spPr/>
      <dgm:t>
        <a:bodyPr/>
        <a:lstStyle/>
        <a:p>
          <a:pPr rtl="0"/>
          <a:r>
            <a:rPr lang="fi-FI" dirty="0" smtClean="0"/>
            <a:t>Ulkoinen virhe</a:t>
          </a:r>
          <a:endParaRPr lang="en-US" dirty="0"/>
        </a:p>
      </dgm:t>
    </dgm:pt>
    <dgm:pt modelId="{7B8EF2E4-6F12-4883-93C9-03AD6B82865F}" type="parTrans" cxnId="{2336286F-91BE-4395-817D-86D97B41FA4A}">
      <dgm:prSet/>
      <dgm:spPr/>
      <dgm:t>
        <a:bodyPr/>
        <a:lstStyle/>
        <a:p>
          <a:endParaRPr lang="en-US"/>
        </a:p>
      </dgm:t>
    </dgm:pt>
    <dgm:pt modelId="{85795E35-DC19-4158-AC9D-F3766D54DCAE}" type="sibTrans" cxnId="{2336286F-91BE-4395-817D-86D97B41FA4A}">
      <dgm:prSet/>
      <dgm:spPr/>
      <dgm:t>
        <a:bodyPr/>
        <a:lstStyle/>
        <a:p>
          <a:endParaRPr lang="en-US"/>
        </a:p>
      </dgm:t>
    </dgm:pt>
    <dgm:pt modelId="{44F54471-C54B-475A-B5A4-71CEAA0D6724}">
      <dgm:prSet/>
      <dgm:spPr/>
      <dgm:t>
        <a:bodyPr/>
        <a:lstStyle/>
        <a:p>
          <a:pPr rtl="0"/>
          <a:r>
            <a:rPr lang="fi-FI" b="1" dirty="0" smtClean="0"/>
            <a:t>Raha</a:t>
          </a:r>
          <a:r>
            <a:rPr lang="fi-FI" dirty="0" smtClean="0"/>
            <a:t>: analyysi ilman korjausehdotusta  tavoitehintaisen projektin työtä (kustannuspaikka  hyväksymistestauksen tuki)</a:t>
          </a:r>
          <a:endParaRPr lang="en-US" dirty="0"/>
        </a:p>
      </dgm:t>
    </dgm:pt>
    <dgm:pt modelId="{B7508706-3A24-4511-B661-91366C7D4DC1}" type="sibTrans" cxnId="{A251BE65-365F-409D-AAB8-E3D32446C4ED}">
      <dgm:prSet/>
      <dgm:spPr/>
      <dgm:t>
        <a:bodyPr/>
        <a:lstStyle/>
        <a:p>
          <a:endParaRPr lang="en-US"/>
        </a:p>
      </dgm:t>
    </dgm:pt>
    <dgm:pt modelId="{ABB3CAB2-671F-4D2E-9A34-E90CAAA40AD8}" type="parTrans" cxnId="{A251BE65-365F-409D-AAB8-E3D32446C4ED}">
      <dgm:prSet/>
      <dgm:spPr/>
      <dgm:t>
        <a:bodyPr/>
        <a:lstStyle/>
        <a:p>
          <a:endParaRPr lang="en-US"/>
        </a:p>
      </dgm:t>
    </dgm:pt>
    <dgm:pt modelId="{B5D36F80-937E-424E-8F3A-186D647CA33D}">
      <dgm:prSet/>
      <dgm:spPr/>
      <dgm:t>
        <a:bodyPr/>
        <a:lstStyle/>
        <a:p>
          <a:pPr rtl="0"/>
          <a:r>
            <a:rPr lang="fi-FI" b="1" dirty="0" smtClean="0"/>
            <a:t>Aika</a:t>
          </a:r>
          <a:r>
            <a:rPr lang="fi-FI" dirty="0" smtClean="0"/>
            <a:t>: ei pidennä </a:t>
          </a:r>
          <a:endParaRPr lang="en-US" dirty="0"/>
        </a:p>
      </dgm:t>
    </dgm:pt>
    <dgm:pt modelId="{2B1061C3-8DA0-485B-BE88-81C4F97E4253}" type="parTrans" cxnId="{C00559A1-2776-432C-A98A-FB2B316B0EEF}">
      <dgm:prSet/>
      <dgm:spPr/>
    </dgm:pt>
    <dgm:pt modelId="{02120C43-9233-4131-AB42-7CEF6AD33CF4}" type="sibTrans" cxnId="{C00559A1-2776-432C-A98A-FB2B316B0EEF}">
      <dgm:prSet/>
      <dgm:spPr/>
    </dgm:pt>
    <dgm:pt modelId="{4CED8E60-A28C-4F95-AFF2-DBF49F2F1910}">
      <dgm:prSet/>
      <dgm:spPr/>
      <dgm:t>
        <a:bodyPr/>
        <a:lstStyle/>
        <a:p>
          <a:pPr rtl="0"/>
          <a:r>
            <a:rPr lang="fi-FI" b="1" dirty="0" smtClean="0"/>
            <a:t>Raha</a:t>
          </a:r>
          <a:r>
            <a:rPr lang="fi-FI" dirty="0" smtClean="0"/>
            <a:t>: analyysi ilman korjausehdotusta  tavoitehintaisen projektin työtä (kustannuspaikka  hyväksymistestauksen tuki)</a:t>
          </a:r>
          <a:endParaRPr lang="en-US" dirty="0"/>
        </a:p>
      </dgm:t>
    </dgm:pt>
    <dgm:pt modelId="{2AB8CD0E-C6C2-4B03-94D8-7C2BBA691EE1}" type="parTrans" cxnId="{AD45A3A5-11EE-4D27-9CA5-CB219E2C7106}">
      <dgm:prSet/>
      <dgm:spPr/>
      <dgm:t>
        <a:bodyPr/>
        <a:lstStyle/>
        <a:p>
          <a:endParaRPr lang="en-US"/>
        </a:p>
      </dgm:t>
    </dgm:pt>
    <dgm:pt modelId="{4B359D9A-F0B3-4335-B648-6ED68E542E5F}" type="sibTrans" cxnId="{AD45A3A5-11EE-4D27-9CA5-CB219E2C7106}">
      <dgm:prSet/>
      <dgm:spPr/>
      <dgm:t>
        <a:bodyPr/>
        <a:lstStyle/>
        <a:p>
          <a:endParaRPr lang="en-US"/>
        </a:p>
      </dgm:t>
    </dgm:pt>
    <dgm:pt modelId="{AEDA33CE-7C2E-4C2C-A6D0-78620E2AA0E6}" type="pres">
      <dgm:prSet presAssocID="{E75275D6-5AA5-4480-8A60-682023C8B13A}" presName="hierChild1" presStyleCnt="0">
        <dgm:presLayoutVars>
          <dgm:orgChart val="1"/>
          <dgm:chPref val="1"/>
          <dgm:dir/>
          <dgm:animOne val="branch"/>
          <dgm:animLvl val="lvl"/>
          <dgm:resizeHandles/>
        </dgm:presLayoutVars>
      </dgm:prSet>
      <dgm:spPr/>
      <dgm:t>
        <a:bodyPr/>
        <a:lstStyle/>
        <a:p>
          <a:endParaRPr lang="en-US"/>
        </a:p>
      </dgm:t>
    </dgm:pt>
    <dgm:pt modelId="{9B5BA73B-FFF5-4E03-B2B7-C378640D2C1F}" type="pres">
      <dgm:prSet presAssocID="{6B087EC6-67AF-4AEA-977D-5F8294F0B48C}" presName="hierRoot1" presStyleCnt="0">
        <dgm:presLayoutVars>
          <dgm:hierBranch val="init"/>
        </dgm:presLayoutVars>
      </dgm:prSet>
      <dgm:spPr/>
    </dgm:pt>
    <dgm:pt modelId="{1054FC03-2DB2-402E-BB15-FFE22C2347C4}" type="pres">
      <dgm:prSet presAssocID="{6B087EC6-67AF-4AEA-977D-5F8294F0B48C}" presName="rootComposite1" presStyleCnt="0"/>
      <dgm:spPr/>
    </dgm:pt>
    <dgm:pt modelId="{089B6290-4B61-447E-AAF6-90A28BA1642E}" type="pres">
      <dgm:prSet presAssocID="{6B087EC6-67AF-4AEA-977D-5F8294F0B48C}" presName="rootText1" presStyleLbl="node0" presStyleIdx="0" presStyleCnt="1">
        <dgm:presLayoutVars>
          <dgm:chPref val="3"/>
        </dgm:presLayoutVars>
      </dgm:prSet>
      <dgm:spPr/>
      <dgm:t>
        <a:bodyPr/>
        <a:lstStyle/>
        <a:p>
          <a:endParaRPr lang="en-US"/>
        </a:p>
      </dgm:t>
    </dgm:pt>
    <dgm:pt modelId="{7BAEECC9-40B7-4A98-9664-10C3EC8EA146}" type="pres">
      <dgm:prSet presAssocID="{6B087EC6-67AF-4AEA-977D-5F8294F0B48C}" presName="rootConnector1" presStyleLbl="node1" presStyleIdx="0" presStyleCnt="0"/>
      <dgm:spPr/>
      <dgm:t>
        <a:bodyPr/>
        <a:lstStyle/>
        <a:p>
          <a:endParaRPr lang="en-US"/>
        </a:p>
      </dgm:t>
    </dgm:pt>
    <dgm:pt modelId="{63B5F113-E48D-4A1F-B474-FD308CACE2F9}" type="pres">
      <dgm:prSet presAssocID="{6B087EC6-67AF-4AEA-977D-5F8294F0B48C}" presName="hierChild2" presStyleCnt="0"/>
      <dgm:spPr/>
    </dgm:pt>
    <dgm:pt modelId="{6AE5DD16-B3EB-4EFB-A3A4-9202AD55349D}" type="pres">
      <dgm:prSet presAssocID="{656B533F-454F-4CB2-9776-F78937D10B08}" presName="Name37" presStyleLbl="parChTrans1D2" presStyleIdx="0" presStyleCnt="4"/>
      <dgm:spPr/>
      <dgm:t>
        <a:bodyPr/>
        <a:lstStyle/>
        <a:p>
          <a:endParaRPr lang="en-US"/>
        </a:p>
      </dgm:t>
    </dgm:pt>
    <dgm:pt modelId="{E10E4D3F-D7DA-47BD-B5F4-2D6E984BB7C2}" type="pres">
      <dgm:prSet presAssocID="{C3D6B9A2-1469-4E0E-B467-F06DDDEB895B}" presName="hierRoot2" presStyleCnt="0">
        <dgm:presLayoutVars>
          <dgm:hierBranch val="init"/>
        </dgm:presLayoutVars>
      </dgm:prSet>
      <dgm:spPr/>
    </dgm:pt>
    <dgm:pt modelId="{6E5E1EB3-F7BD-4596-9F5A-7E67915280D0}" type="pres">
      <dgm:prSet presAssocID="{C3D6B9A2-1469-4E0E-B467-F06DDDEB895B}" presName="rootComposite" presStyleCnt="0"/>
      <dgm:spPr/>
    </dgm:pt>
    <dgm:pt modelId="{D11ED32B-8FC0-4F0E-8CA9-9F672BCCA219}" type="pres">
      <dgm:prSet presAssocID="{C3D6B9A2-1469-4E0E-B467-F06DDDEB895B}" presName="rootText" presStyleLbl="node2" presStyleIdx="0" presStyleCnt="4">
        <dgm:presLayoutVars>
          <dgm:chPref val="3"/>
        </dgm:presLayoutVars>
      </dgm:prSet>
      <dgm:spPr/>
      <dgm:t>
        <a:bodyPr/>
        <a:lstStyle/>
        <a:p>
          <a:endParaRPr lang="en-US"/>
        </a:p>
      </dgm:t>
    </dgm:pt>
    <dgm:pt modelId="{3E6E671D-3858-41A3-BFF7-9EFB29A3B346}" type="pres">
      <dgm:prSet presAssocID="{C3D6B9A2-1469-4E0E-B467-F06DDDEB895B}" presName="rootConnector" presStyleLbl="node2" presStyleIdx="0" presStyleCnt="4"/>
      <dgm:spPr/>
      <dgm:t>
        <a:bodyPr/>
        <a:lstStyle/>
        <a:p>
          <a:endParaRPr lang="en-US"/>
        </a:p>
      </dgm:t>
    </dgm:pt>
    <dgm:pt modelId="{63E15E8B-DC0B-4261-BE34-45D5EE9268EC}" type="pres">
      <dgm:prSet presAssocID="{C3D6B9A2-1469-4E0E-B467-F06DDDEB895B}" presName="hierChild4" presStyleCnt="0"/>
      <dgm:spPr/>
    </dgm:pt>
    <dgm:pt modelId="{945FC0D4-BA9E-4522-B4D0-66D8C81FCE55}" type="pres">
      <dgm:prSet presAssocID="{54B9C4E9-30E7-4A13-9842-3C48F3238D78}" presName="Name37" presStyleLbl="parChTrans1D3" presStyleIdx="0" presStyleCnt="8"/>
      <dgm:spPr/>
      <dgm:t>
        <a:bodyPr/>
        <a:lstStyle/>
        <a:p>
          <a:endParaRPr lang="en-US"/>
        </a:p>
      </dgm:t>
    </dgm:pt>
    <dgm:pt modelId="{18FECD3B-4D97-44D6-B3BA-C62EB3C2CC31}" type="pres">
      <dgm:prSet presAssocID="{6414317E-2D99-4460-A367-CCA674A1FB82}" presName="hierRoot2" presStyleCnt="0">
        <dgm:presLayoutVars>
          <dgm:hierBranch val="init"/>
        </dgm:presLayoutVars>
      </dgm:prSet>
      <dgm:spPr/>
    </dgm:pt>
    <dgm:pt modelId="{A1DE174A-6C94-4004-B673-F9CC95086106}" type="pres">
      <dgm:prSet presAssocID="{6414317E-2D99-4460-A367-CCA674A1FB82}" presName="rootComposite" presStyleCnt="0"/>
      <dgm:spPr/>
    </dgm:pt>
    <dgm:pt modelId="{E2C45EDD-BF3B-4760-8816-061785A8D923}" type="pres">
      <dgm:prSet presAssocID="{6414317E-2D99-4460-A367-CCA674A1FB82}" presName="rootText" presStyleLbl="node3" presStyleIdx="0" presStyleCnt="8">
        <dgm:presLayoutVars>
          <dgm:chPref val="3"/>
        </dgm:presLayoutVars>
      </dgm:prSet>
      <dgm:spPr/>
      <dgm:t>
        <a:bodyPr/>
        <a:lstStyle/>
        <a:p>
          <a:endParaRPr lang="en-US"/>
        </a:p>
      </dgm:t>
    </dgm:pt>
    <dgm:pt modelId="{C2E983B7-5868-4E99-8FAC-952B3CA45F22}" type="pres">
      <dgm:prSet presAssocID="{6414317E-2D99-4460-A367-CCA674A1FB82}" presName="rootConnector" presStyleLbl="node3" presStyleIdx="0" presStyleCnt="8"/>
      <dgm:spPr/>
      <dgm:t>
        <a:bodyPr/>
        <a:lstStyle/>
        <a:p>
          <a:endParaRPr lang="en-US"/>
        </a:p>
      </dgm:t>
    </dgm:pt>
    <dgm:pt modelId="{1B7582EC-E442-475D-A1C1-06F705A0E64F}" type="pres">
      <dgm:prSet presAssocID="{6414317E-2D99-4460-A367-CCA674A1FB82}" presName="hierChild4" presStyleCnt="0"/>
      <dgm:spPr/>
    </dgm:pt>
    <dgm:pt modelId="{67B89845-A0A6-4C31-8817-047335CB9188}" type="pres">
      <dgm:prSet presAssocID="{6414317E-2D99-4460-A367-CCA674A1FB82}" presName="hierChild5" presStyleCnt="0"/>
      <dgm:spPr/>
    </dgm:pt>
    <dgm:pt modelId="{D50492A8-CC55-4FE1-8DA6-CC28322A3F7E}" type="pres">
      <dgm:prSet presAssocID="{44C37B02-C9B6-4AE1-A8F5-5A9DA03F25E1}" presName="Name37" presStyleLbl="parChTrans1D3" presStyleIdx="1" presStyleCnt="8"/>
      <dgm:spPr/>
      <dgm:t>
        <a:bodyPr/>
        <a:lstStyle/>
        <a:p>
          <a:endParaRPr lang="en-US"/>
        </a:p>
      </dgm:t>
    </dgm:pt>
    <dgm:pt modelId="{85B82291-D828-4288-9714-484B8B283B02}" type="pres">
      <dgm:prSet presAssocID="{143FF422-595A-43B8-9643-34646071DC0B}" presName="hierRoot2" presStyleCnt="0">
        <dgm:presLayoutVars>
          <dgm:hierBranch val="init"/>
        </dgm:presLayoutVars>
      </dgm:prSet>
      <dgm:spPr/>
    </dgm:pt>
    <dgm:pt modelId="{373B082A-F114-4A9A-A1C9-23E5599628D9}" type="pres">
      <dgm:prSet presAssocID="{143FF422-595A-43B8-9643-34646071DC0B}" presName="rootComposite" presStyleCnt="0"/>
      <dgm:spPr/>
    </dgm:pt>
    <dgm:pt modelId="{D43491D2-1527-4EC3-95EA-7965377B5FC8}" type="pres">
      <dgm:prSet presAssocID="{143FF422-595A-43B8-9643-34646071DC0B}" presName="rootText" presStyleLbl="node3" presStyleIdx="1" presStyleCnt="8">
        <dgm:presLayoutVars>
          <dgm:chPref val="3"/>
        </dgm:presLayoutVars>
      </dgm:prSet>
      <dgm:spPr/>
      <dgm:t>
        <a:bodyPr/>
        <a:lstStyle/>
        <a:p>
          <a:endParaRPr lang="en-US"/>
        </a:p>
      </dgm:t>
    </dgm:pt>
    <dgm:pt modelId="{A5873FCF-D086-4B49-A408-C8E69C5B5743}" type="pres">
      <dgm:prSet presAssocID="{143FF422-595A-43B8-9643-34646071DC0B}" presName="rootConnector" presStyleLbl="node3" presStyleIdx="1" presStyleCnt="8"/>
      <dgm:spPr/>
      <dgm:t>
        <a:bodyPr/>
        <a:lstStyle/>
        <a:p>
          <a:endParaRPr lang="en-US"/>
        </a:p>
      </dgm:t>
    </dgm:pt>
    <dgm:pt modelId="{B6D7D1E6-2151-457D-BC6E-CC109E0E1BA1}" type="pres">
      <dgm:prSet presAssocID="{143FF422-595A-43B8-9643-34646071DC0B}" presName="hierChild4" presStyleCnt="0"/>
      <dgm:spPr/>
    </dgm:pt>
    <dgm:pt modelId="{F1BC59B5-6B3E-454F-82E9-8DBDFBC34514}" type="pres">
      <dgm:prSet presAssocID="{143FF422-595A-43B8-9643-34646071DC0B}" presName="hierChild5" presStyleCnt="0"/>
      <dgm:spPr/>
    </dgm:pt>
    <dgm:pt modelId="{15618680-AEE2-4A93-B61C-BC7D8F003A0D}" type="pres">
      <dgm:prSet presAssocID="{C3D6B9A2-1469-4E0E-B467-F06DDDEB895B}" presName="hierChild5" presStyleCnt="0"/>
      <dgm:spPr/>
    </dgm:pt>
    <dgm:pt modelId="{1E8A41C8-F821-45FA-A609-A3C757CFC2CF}" type="pres">
      <dgm:prSet presAssocID="{7B8EF2E4-6F12-4883-93C9-03AD6B82865F}" presName="Name37" presStyleLbl="parChTrans1D2" presStyleIdx="1" presStyleCnt="4"/>
      <dgm:spPr/>
      <dgm:t>
        <a:bodyPr/>
        <a:lstStyle/>
        <a:p>
          <a:endParaRPr lang="en-US"/>
        </a:p>
      </dgm:t>
    </dgm:pt>
    <dgm:pt modelId="{BBF09602-3106-4DA7-839D-F5D2A887FAFA}" type="pres">
      <dgm:prSet presAssocID="{0DAFB042-AAAE-456C-AD1E-8449BCA8BB69}" presName="hierRoot2" presStyleCnt="0">
        <dgm:presLayoutVars>
          <dgm:hierBranch val="init"/>
        </dgm:presLayoutVars>
      </dgm:prSet>
      <dgm:spPr/>
    </dgm:pt>
    <dgm:pt modelId="{E049B1BD-E756-445F-9DE1-F11B13BDF5D2}" type="pres">
      <dgm:prSet presAssocID="{0DAFB042-AAAE-456C-AD1E-8449BCA8BB69}" presName="rootComposite" presStyleCnt="0"/>
      <dgm:spPr/>
    </dgm:pt>
    <dgm:pt modelId="{02353FE0-2112-4D89-8B23-CDA9E9761A69}" type="pres">
      <dgm:prSet presAssocID="{0DAFB042-AAAE-456C-AD1E-8449BCA8BB69}" presName="rootText" presStyleLbl="node2" presStyleIdx="1" presStyleCnt="4">
        <dgm:presLayoutVars>
          <dgm:chPref val="3"/>
        </dgm:presLayoutVars>
      </dgm:prSet>
      <dgm:spPr/>
      <dgm:t>
        <a:bodyPr/>
        <a:lstStyle/>
        <a:p>
          <a:endParaRPr lang="en-US"/>
        </a:p>
      </dgm:t>
    </dgm:pt>
    <dgm:pt modelId="{03E5C7CD-7322-4EA9-A8AF-3617B1DB44BF}" type="pres">
      <dgm:prSet presAssocID="{0DAFB042-AAAE-456C-AD1E-8449BCA8BB69}" presName="rootConnector" presStyleLbl="node2" presStyleIdx="1" presStyleCnt="4"/>
      <dgm:spPr/>
      <dgm:t>
        <a:bodyPr/>
        <a:lstStyle/>
        <a:p>
          <a:endParaRPr lang="en-US"/>
        </a:p>
      </dgm:t>
    </dgm:pt>
    <dgm:pt modelId="{14AC2992-A070-4986-AF8E-143A62F9DAD4}" type="pres">
      <dgm:prSet presAssocID="{0DAFB042-AAAE-456C-AD1E-8449BCA8BB69}" presName="hierChild4" presStyleCnt="0"/>
      <dgm:spPr/>
    </dgm:pt>
    <dgm:pt modelId="{50A97014-A884-4C52-87AB-43E11FF847DF}" type="pres">
      <dgm:prSet presAssocID="{2B1061C3-8DA0-485B-BE88-81C4F97E4253}" presName="Name37" presStyleLbl="parChTrans1D3" presStyleIdx="2" presStyleCnt="8"/>
      <dgm:spPr/>
    </dgm:pt>
    <dgm:pt modelId="{D8FB7F08-7AF8-47F3-AB60-BB4777D6654C}" type="pres">
      <dgm:prSet presAssocID="{B5D36F80-937E-424E-8F3A-186D647CA33D}" presName="hierRoot2" presStyleCnt="0">
        <dgm:presLayoutVars>
          <dgm:hierBranch val="init"/>
        </dgm:presLayoutVars>
      </dgm:prSet>
      <dgm:spPr/>
    </dgm:pt>
    <dgm:pt modelId="{1D698551-68E5-4512-B7BE-A536EF400F1D}" type="pres">
      <dgm:prSet presAssocID="{B5D36F80-937E-424E-8F3A-186D647CA33D}" presName="rootComposite" presStyleCnt="0"/>
      <dgm:spPr/>
    </dgm:pt>
    <dgm:pt modelId="{0CB0D82B-0B6E-401E-B0A5-3443E50E4274}" type="pres">
      <dgm:prSet presAssocID="{B5D36F80-937E-424E-8F3A-186D647CA33D}" presName="rootText" presStyleLbl="node3" presStyleIdx="2" presStyleCnt="8">
        <dgm:presLayoutVars>
          <dgm:chPref val="3"/>
        </dgm:presLayoutVars>
      </dgm:prSet>
      <dgm:spPr/>
      <dgm:t>
        <a:bodyPr/>
        <a:lstStyle/>
        <a:p>
          <a:endParaRPr lang="en-US"/>
        </a:p>
      </dgm:t>
    </dgm:pt>
    <dgm:pt modelId="{F343A36A-59F2-4E32-B2E4-BAF1E95B5286}" type="pres">
      <dgm:prSet presAssocID="{B5D36F80-937E-424E-8F3A-186D647CA33D}" presName="rootConnector" presStyleLbl="node3" presStyleIdx="2" presStyleCnt="8"/>
      <dgm:spPr/>
      <dgm:t>
        <a:bodyPr/>
        <a:lstStyle/>
        <a:p>
          <a:endParaRPr lang="en-US"/>
        </a:p>
      </dgm:t>
    </dgm:pt>
    <dgm:pt modelId="{FD532DA7-4439-44BD-A4A7-8E0607E27154}" type="pres">
      <dgm:prSet presAssocID="{B5D36F80-937E-424E-8F3A-186D647CA33D}" presName="hierChild4" presStyleCnt="0"/>
      <dgm:spPr/>
    </dgm:pt>
    <dgm:pt modelId="{AD4F1F40-3317-4C7F-B1EF-4FC09CC3627F}" type="pres">
      <dgm:prSet presAssocID="{B5D36F80-937E-424E-8F3A-186D647CA33D}" presName="hierChild5" presStyleCnt="0"/>
      <dgm:spPr/>
    </dgm:pt>
    <dgm:pt modelId="{1AAB95D1-8516-4126-87AA-987FC4A2483E}" type="pres">
      <dgm:prSet presAssocID="{2AB8CD0E-C6C2-4B03-94D8-7C2BBA691EE1}" presName="Name37" presStyleLbl="parChTrans1D3" presStyleIdx="3" presStyleCnt="8"/>
      <dgm:spPr/>
      <dgm:t>
        <a:bodyPr/>
        <a:lstStyle/>
        <a:p>
          <a:endParaRPr lang="en-US"/>
        </a:p>
      </dgm:t>
    </dgm:pt>
    <dgm:pt modelId="{D1C7135C-03D8-485C-A940-A7F1BE0D8CAF}" type="pres">
      <dgm:prSet presAssocID="{4CED8E60-A28C-4F95-AFF2-DBF49F2F1910}" presName="hierRoot2" presStyleCnt="0">
        <dgm:presLayoutVars>
          <dgm:hierBranch val="init"/>
        </dgm:presLayoutVars>
      </dgm:prSet>
      <dgm:spPr/>
    </dgm:pt>
    <dgm:pt modelId="{4F189765-5FCA-40B2-8F7E-3414B82C103C}" type="pres">
      <dgm:prSet presAssocID="{4CED8E60-A28C-4F95-AFF2-DBF49F2F1910}" presName="rootComposite" presStyleCnt="0"/>
      <dgm:spPr/>
    </dgm:pt>
    <dgm:pt modelId="{F92FDB78-C680-4C9B-88CB-6D1654FBCD35}" type="pres">
      <dgm:prSet presAssocID="{4CED8E60-A28C-4F95-AFF2-DBF49F2F1910}" presName="rootText" presStyleLbl="node3" presStyleIdx="3" presStyleCnt="8">
        <dgm:presLayoutVars>
          <dgm:chPref val="3"/>
        </dgm:presLayoutVars>
      </dgm:prSet>
      <dgm:spPr/>
      <dgm:t>
        <a:bodyPr/>
        <a:lstStyle/>
        <a:p>
          <a:endParaRPr lang="en-US"/>
        </a:p>
      </dgm:t>
    </dgm:pt>
    <dgm:pt modelId="{55ABE9D3-C352-4A16-85BA-07BA740C6C63}" type="pres">
      <dgm:prSet presAssocID="{4CED8E60-A28C-4F95-AFF2-DBF49F2F1910}" presName="rootConnector" presStyleLbl="node3" presStyleIdx="3" presStyleCnt="8"/>
      <dgm:spPr/>
      <dgm:t>
        <a:bodyPr/>
        <a:lstStyle/>
        <a:p>
          <a:endParaRPr lang="en-US"/>
        </a:p>
      </dgm:t>
    </dgm:pt>
    <dgm:pt modelId="{A688B7F2-4C26-48CB-B933-8485F22BA1E3}" type="pres">
      <dgm:prSet presAssocID="{4CED8E60-A28C-4F95-AFF2-DBF49F2F1910}" presName="hierChild4" presStyleCnt="0"/>
      <dgm:spPr/>
    </dgm:pt>
    <dgm:pt modelId="{801814CC-2E09-40E8-B875-1E77864E39FC}" type="pres">
      <dgm:prSet presAssocID="{4CED8E60-A28C-4F95-AFF2-DBF49F2F1910}" presName="hierChild5" presStyleCnt="0"/>
      <dgm:spPr/>
    </dgm:pt>
    <dgm:pt modelId="{E2043107-AF19-440C-9B43-B8A0A8CC4CF3}" type="pres">
      <dgm:prSet presAssocID="{0DAFB042-AAAE-456C-AD1E-8449BCA8BB69}" presName="hierChild5" presStyleCnt="0"/>
      <dgm:spPr/>
    </dgm:pt>
    <dgm:pt modelId="{0C999057-DF52-4EEB-91EE-C41BFEEFE4F0}" type="pres">
      <dgm:prSet presAssocID="{302A62D6-5E29-40E1-B8DB-F44E10CE3ACA}" presName="Name37" presStyleLbl="parChTrans1D2" presStyleIdx="2" presStyleCnt="4"/>
      <dgm:spPr/>
      <dgm:t>
        <a:bodyPr/>
        <a:lstStyle/>
        <a:p>
          <a:endParaRPr lang="en-US"/>
        </a:p>
      </dgm:t>
    </dgm:pt>
    <dgm:pt modelId="{02DAA78E-6A62-4B96-B1FB-227A04291899}" type="pres">
      <dgm:prSet presAssocID="{D5B5C054-F82A-48F9-8D42-6A43D75D3052}" presName="hierRoot2" presStyleCnt="0">
        <dgm:presLayoutVars>
          <dgm:hierBranch val="init"/>
        </dgm:presLayoutVars>
      </dgm:prSet>
      <dgm:spPr/>
    </dgm:pt>
    <dgm:pt modelId="{27045478-720D-4335-A86D-9A23A14EDE7B}" type="pres">
      <dgm:prSet presAssocID="{D5B5C054-F82A-48F9-8D42-6A43D75D3052}" presName="rootComposite" presStyleCnt="0"/>
      <dgm:spPr/>
    </dgm:pt>
    <dgm:pt modelId="{FD70D16C-6771-4799-A5DB-70F78C928639}" type="pres">
      <dgm:prSet presAssocID="{D5B5C054-F82A-48F9-8D42-6A43D75D3052}" presName="rootText" presStyleLbl="node2" presStyleIdx="2" presStyleCnt="4">
        <dgm:presLayoutVars>
          <dgm:chPref val="3"/>
        </dgm:presLayoutVars>
      </dgm:prSet>
      <dgm:spPr/>
      <dgm:t>
        <a:bodyPr/>
        <a:lstStyle/>
        <a:p>
          <a:endParaRPr lang="en-US"/>
        </a:p>
      </dgm:t>
    </dgm:pt>
    <dgm:pt modelId="{8E8965CA-50B4-4D79-9D45-1380BC913872}" type="pres">
      <dgm:prSet presAssocID="{D5B5C054-F82A-48F9-8D42-6A43D75D3052}" presName="rootConnector" presStyleLbl="node2" presStyleIdx="2" presStyleCnt="4"/>
      <dgm:spPr/>
      <dgm:t>
        <a:bodyPr/>
        <a:lstStyle/>
        <a:p>
          <a:endParaRPr lang="en-US"/>
        </a:p>
      </dgm:t>
    </dgm:pt>
    <dgm:pt modelId="{AE53E18D-EBE3-4A89-91E4-85C8C1B442A0}" type="pres">
      <dgm:prSet presAssocID="{D5B5C054-F82A-48F9-8D42-6A43D75D3052}" presName="hierChild4" presStyleCnt="0"/>
      <dgm:spPr/>
    </dgm:pt>
    <dgm:pt modelId="{20A13ADE-3F04-4E36-ADD3-4EAB45648B18}" type="pres">
      <dgm:prSet presAssocID="{9C214DBB-6254-400A-B1DA-9C7269AAD286}" presName="Name37" presStyleLbl="parChTrans1D3" presStyleIdx="4" presStyleCnt="8"/>
      <dgm:spPr/>
      <dgm:t>
        <a:bodyPr/>
        <a:lstStyle/>
        <a:p>
          <a:endParaRPr lang="en-US"/>
        </a:p>
      </dgm:t>
    </dgm:pt>
    <dgm:pt modelId="{562B5786-41C1-47CC-B73B-96B73A28459C}" type="pres">
      <dgm:prSet presAssocID="{90D0A21E-B465-4FA8-B73C-280122019CD4}" presName="hierRoot2" presStyleCnt="0">
        <dgm:presLayoutVars>
          <dgm:hierBranch val="init"/>
        </dgm:presLayoutVars>
      </dgm:prSet>
      <dgm:spPr/>
    </dgm:pt>
    <dgm:pt modelId="{21AEFBEC-A9A2-4942-A19F-1698FF443FD5}" type="pres">
      <dgm:prSet presAssocID="{90D0A21E-B465-4FA8-B73C-280122019CD4}" presName="rootComposite" presStyleCnt="0"/>
      <dgm:spPr/>
    </dgm:pt>
    <dgm:pt modelId="{86595F81-4382-424D-964F-1BF7B6C18567}" type="pres">
      <dgm:prSet presAssocID="{90D0A21E-B465-4FA8-B73C-280122019CD4}" presName="rootText" presStyleLbl="node3" presStyleIdx="4" presStyleCnt="8">
        <dgm:presLayoutVars>
          <dgm:chPref val="3"/>
        </dgm:presLayoutVars>
      </dgm:prSet>
      <dgm:spPr/>
      <dgm:t>
        <a:bodyPr/>
        <a:lstStyle/>
        <a:p>
          <a:endParaRPr lang="en-US"/>
        </a:p>
      </dgm:t>
    </dgm:pt>
    <dgm:pt modelId="{E6F0CD14-B26E-4AE2-8783-B2C1C5FEA0D5}" type="pres">
      <dgm:prSet presAssocID="{90D0A21E-B465-4FA8-B73C-280122019CD4}" presName="rootConnector" presStyleLbl="node3" presStyleIdx="4" presStyleCnt="8"/>
      <dgm:spPr/>
      <dgm:t>
        <a:bodyPr/>
        <a:lstStyle/>
        <a:p>
          <a:endParaRPr lang="en-US"/>
        </a:p>
      </dgm:t>
    </dgm:pt>
    <dgm:pt modelId="{687C4861-59F1-4852-A484-307F2A0190B6}" type="pres">
      <dgm:prSet presAssocID="{90D0A21E-B465-4FA8-B73C-280122019CD4}" presName="hierChild4" presStyleCnt="0"/>
      <dgm:spPr/>
    </dgm:pt>
    <dgm:pt modelId="{C6668FD8-27F3-41E9-BC3D-5A69CC675B7E}" type="pres">
      <dgm:prSet presAssocID="{90D0A21E-B465-4FA8-B73C-280122019CD4}" presName="hierChild5" presStyleCnt="0"/>
      <dgm:spPr/>
    </dgm:pt>
    <dgm:pt modelId="{24A1C22F-3731-40C0-8733-1680F6A1636F}" type="pres">
      <dgm:prSet presAssocID="{ABB3CAB2-671F-4D2E-9A34-E90CAAA40AD8}" presName="Name37" presStyleLbl="parChTrans1D3" presStyleIdx="5" presStyleCnt="8"/>
      <dgm:spPr/>
      <dgm:t>
        <a:bodyPr/>
        <a:lstStyle/>
        <a:p>
          <a:endParaRPr lang="en-US"/>
        </a:p>
      </dgm:t>
    </dgm:pt>
    <dgm:pt modelId="{F14A3CEA-56E0-4FEE-9735-210B434B9A45}" type="pres">
      <dgm:prSet presAssocID="{44F54471-C54B-475A-B5A4-71CEAA0D6724}" presName="hierRoot2" presStyleCnt="0">
        <dgm:presLayoutVars>
          <dgm:hierBranch val="init"/>
        </dgm:presLayoutVars>
      </dgm:prSet>
      <dgm:spPr/>
    </dgm:pt>
    <dgm:pt modelId="{B6CE8EA6-BE8F-4DB3-A561-67C6AE31AA4B}" type="pres">
      <dgm:prSet presAssocID="{44F54471-C54B-475A-B5A4-71CEAA0D6724}" presName="rootComposite" presStyleCnt="0"/>
      <dgm:spPr/>
    </dgm:pt>
    <dgm:pt modelId="{FCEBFE69-F0ED-401D-93A9-D54C61B0D169}" type="pres">
      <dgm:prSet presAssocID="{44F54471-C54B-475A-B5A4-71CEAA0D6724}" presName="rootText" presStyleLbl="node3" presStyleIdx="5" presStyleCnt="8">
        <dgm:presLayoutVars>
          <dgm:chPref val="3"/>
        </dgm:presLayoutVars>
      </dgm:prSet>
      <dgm:spPr/>
      <dgm:t>
        <a:bodyPr/>
        <a:lstStyle/>
        <a:p>
          <a:endParaRPr lang="en-US"/>
        </a:p>
      </dgm:t>
    </dgm:pt>
    <dgm:pt modelId="{1744F748-9719-4494-9B71-2101793297D7}" type="pres">
      <dgm:prSet presAssocID="{44F54471-C54B-475A-B5A4-71CEAA0D6724}" presName="rootConnector" presStyleLbl="node3" presStyleIdx="5" presStyleCnt="8"/>
      <dgm:spPr/>
      <dgm:t>
        <a:bodyPr/>
        <a:lstStyle/>
        <a:p>
          <a:endParaRPr lang="en-US"/>
        </a:p>
      </dgm:t>
    </dgm:pt>
    <dgm:pt modelId="{A812D4D2-3123-4B8A-9F89-A3E4D6263A99}" type="pres">
      <dgm:prSet presAssocID="{44F54471-C54B-475A-B5A4-71CEAA0D6724}" presName="hierChild4" presStyleCnt="0"/>
      <dgm:spPr/>
    </dgm:pt>
    <dgm:pt modelId="{1F838105-9A80-44DF-9FFF-9FD9AFC73633}" type="pres">
      <dgm:prSet presAssocID="{44F54471-C54B-475A-B5A4-71CEAA0D6724}" presName="hierChild5" presStyleCnt="0"/>
      <dgm:spPr/>
    </dgm:pt>
    <dgm:pt modelId="{FD55F0A2-3ED3-4001-9447-DC2F1B7E9DE3}" type="pres">
      <dgm:prSet presAssocID="{D5B5C054-F82A-48F9-8D42-6A43D75D3052}" presName="hierChild5" presStyleCnt="0"/>
      <dgm:spPr/>
    </dgm:pt>
    <dgm:pt modelId="{66317130-63F7-4ADA-AA64-A086F762D882}" type="pres">
      <dgm:prSet presAssocID="{83B1D1A8-C847-4E11-BEE1-91BBA91BEF31}" presName="Name37" presStyleLbl="parChTrans1D2" presStyleIdx="3" presStyleCnt="4"/>
      <dgm:spPr/>
      <dgm:t>
        <a:bodyPr/>
        <a:lstStyle/>
        <a:p>
          <a:endParaRPr lang="en-US"/>
        </a:p>
      </dgm:t>
    </dgm:pt>
    <dgm:pt modelId="{7C2A4B0E-2096-448F-8481-98320DDA8601}" type="pres">
      <dgm:prSet presAssocID="{A40BB5A7-06AE-4512-8233-7C3F0A4707BE}" presName="hierRoot2" presStyleCnt="0">
        <dgm:presLayoutVars>
          <dgm:hierBranch val="init"/>
        </dgm:presLayoutVars>
      </dgm:prSet>
      <dgm:spPr/>
    </dgm:pt>
    <dgm:pt modelId="{C47070F2-AB27-4277-8FD0-81CB5FE6F11A}" type="pres">
      <dgm:prSet presAssocID="{A40BB5A7-06AE-4512-8233-7C3F0A4707BE}" presName="rootComposite" presStyleCnt="0"/>
      <dgm:spPr/>
    </dgm:pt>
    <dgm:pt modelId="{0FD03FBA-5548-4BCC-A586-FFF7FE68F4C0}" type="pres">
      <dgm:prSet presAssocID="{A40BB5A7-06AE-4512-8233-7C3F0A4707BE}" presName="rootText" presStyleLbl="node2" presStyleIdx="3" presStyleCnt="4">
        <dgm:presLayoutVars>
          <dgm:chPref val="3"/>
        </dgm:presLayoutVars>
      </dgm:prSet>
      <dgm:spPr/>
      <dgm:t>
        <a:bodyPr/>
        <a:lstStyle/>
        <a:p>
          <a:endParaRPr lang="en-US"/>
        </a:p>
      </dgm:t>
    </dgm:pt>
    <dgm:pt modelId="{327615C3-E9A1-405D-A764-2697810AEA70}" type="pres">
      <dgm:prSet presAssocID="{A40BB5A7-06AE-4512-8233-7C3F0A4707BE}" presName="rootConnector" presStyleLbl="node2" presStyleIdx="3" presStyleCnt="4"/>
      <dgm:spPr/>
      <dgm:t>
        <a:bodyPr/>
        <a:lstStyle/>
        <a:p>
          <a:endParaRPr lang="en-US"/>
        </a:p>
      </dgm:t>
    </dgm:pt>
    <dgm:pt modelId="{BF013937-E8B3-4723-BD1B-7DBA91B7F111}" type="pres">
      <dgm:prSet presAssocID="{A40BB5A7-06AE-4512-8233-7C3F0A4707BE}" presName="hierChild4" presStyleCnt="0"/>
      <dgm:spPr/>
    </dgm:pt>
    <dgm:pt modelId="{9A84D7F4-E656-4A68-9469-8F307CA63EC6}" type="pres">
      <dgm:prSet presAssocID="{5FE36767-61F4-4757-94DC-E28EEE6A65F6}" presName="Name37" presStyleLbl="parChTrans1D3" presStyleIdx="6" presStyleCnt="8"/>
      <dgm:spPr/>
      <dgm:t>
        <a:bodyPr/>
        <a:lstStyle/>
        <a:p>
          <a:endParaRPr lang="en-US"/>
        </a:p>
      </dgm:t>
    </dgm:pt>
    <dgm:pt modelId="{7E3B9049-D206-4674-9449-559810C90933}" type="pres">
      <dgm:prSet presAssocID="{A95640D3-6232-4BBB-B04B-A7C2ABF09E36}" presName="hierRoot2" presStyleCnt="0">
        <dgm:presLayoutVars>
          <dgm:hierBranch val="init"/>
        </dgm:presLayoutVars>
      </dgm:prSet>
      <dgm:spPr/>
    </dgm:pt>
    <dgm:pt modelId="{F215ABA3-A9F6-4163-A6D5-088A42835B2A}" type="pres">
      <dgm:prSet presAssocID="{A95640D3-6232-4BBB-B04B-A7C2ABF09E36}" presName="rootComposite" presStyleCnt="0"/>
      <dgm:spPr/>
    </dgm:pt>
    <dgm:pt modelId="{7641A269-0D50-4F66-9BCA-B0A46630F2BE}" type="pres">
      <dgm:prSet presAssocID="{A95640D3-6232-4BBB-B04B-A7C2ABF09E36}" presName="rootText" presStyleLbl="node3" presStyleIdx="6" presStyleCnt="8">
        <dgm:presLayoutVars>
          <dgm:chPref val="3"/>
        </dgm:presLayoutVars>
      </dgm:prSet>
      <dgm:spPr/>
      <dgm:t>
        <a:bodyPr/>
        <a:lstStyle/>
        <a:p>
          <a:endParaRPr lang="en-US"/>
        </a:p>
      </dgm:t>
    </dgm:pt>
    <dgm:pt modelId="{0F48E35B-7C7B-4E64-8EC1-C347A2E59AB0}" type="pres">
      <dgm:prSet presAssocID="{A95640D3-6232-4BBB-B04B-A7C2ABF09E36}" presName="rootConnector" presStyleLbl="node3" presStyleIdx="6" presStyleCnt="8"/>
      <dgm:spPr/>
      <dgm:t>
        <a:bodyPr/>
        <a:lstStyle/>
        <a:p>
          <a:endParaRPr lang="en-US"/>
        </a:p>
      </dgm:t>
    </dgm:pt>
    <dgm:pt modelId="{7FE46173-8CD2-4213-BD48-A16B748A9A9A}" type="pres">
      <dgm:prSet presAssocID="{A95640D3-6232-4BBB-B04B-A7C2ABF09E36}" presName="hierChild4" presStyleCnt="0"/>
      <dgm:spPr/>
    </dgm:pt>
    <dgm:pt modelId="{11AAFCBC-443A-43AC-A7C7-0BD4DC6BF94A}" type="pres">
      <dgm:prSet presAssocID="{A95640D3-6232-4BBB-B04B-A7C2ABF09E36}" presName="hierChild5" presStyleCnt="0"/>
      <dgm:spPr/>
    </dgm:pt>
    <dgm:pt modelId="{041B2EB2-422B-437D-AACF-1257E246CA1C}" type="pres">
      <dgm:prSet presAssocID="{E09CB385-F3D6-4700-8BC8-9580E58406F8}" presName="Name37" presStyleLbl="parChTrans1D3" presStyleIdx="7" presStyleCnt="8"/>
      <dgm:spPr/>
      <dgm:t>
        <a:bodyPr/>
        <a:lstStyle/>
        <a:p>
          <a:endParaRPr lang="en-US"/>
        </a:p>
      </dgm:t>
    </dgm:pt>
    <dgm:pt modelId="{41A802E5-C19D-414C-8128-FA85A17F721B}" type="pres">
      <dgm:prSet presAssocID="{9EF8562C-32B7-4059-9C24-4965BEDDB6B6}" presName="hierRoot2" presStyleCnt="0">
        <dgm:presLayoutVars>
          <dgm:hierBranch val="init"/>
        </dgm:presLayoutVars>
      </dgm:prSet>
      <dgm:spPr/>
    </dgm:pt>
    <dgm:pt modelId="{30A96754-FDF7-476E-9800-1930651EA0EB}" type="pres">
      <dgm:prSet presAssocID="{9EF8562C-32B7-4059-9C24-4965BEDDB6B6}" presName="rootComposite" presStyleCnt="0"/>
      <dgm:spPr/>
    </dgm:pt>
    <dgm:pt modelId="{CCBDED39-5A00-49EB-A21B-09FFF7622660}" type="pres">
      <dgm:prSet presAssocID="{9EF8562C-32B7-4059-9C24-4965BEDDB6B6}" presName="rootText" presStyleLbl="node3" presStyleIdx="7" presStyleCnt="8">
        <dgm:presLayoutVars>
          <dgm:chPref val="3"/>
        </dgm:presLayoutVars>
      </dgm:prSet>
      <dgm:spPr/>
      <dgm:t>
        <a:bodyPr/>
        <a:lstStyle/>
        <a:p>
          <a:endParaRPr lang="en-US"/>
        </a:p>
      </dgm:t>
    </dgm:pt>
    <dgm:pt modelId="{75F826AA-F124-47A1-A40A-B7EF0551045A}" type="pres">
      <dgm:prSet presAssocID="{9EF8562C-32B7-4059-9C24-4965BEDDB6B6}" presName="rootConnector" presStyleLbl="node3" presStyleIdx="7" presStyleCnt="8"/>
      <dgm:spPr/>
      <dgm:t>
        <a:bodyPr/>
        <a:lstStyle/>
        <a:p>
          <a:endParaRPr lang="en-US"/>
        </a:p>
      </dgm:t>
    </dgm:pt>
    <dgm:pt modelId="{3FEE1068-938D-4827-AF90-03700795AFCF}" type="pres">
      <dgm:prSet presAssocID="{9EF8562C-32B7-4059-9C24-4965BEDDB6B6}" presName="hierChild4" presStyleCnt="0"/>
      <dgm:spPr/>
    </dgm:pt>
    <dgm:pt modelId="{C8705543-8173-4FDC-9348-80560DD98B8D}" type="pres">
      <dgm:prSet presAssocID="{9EF8562C-32B7-4059-9C24-4965BEDDB6B6}" presName="hierChild5" presStyleCnt="0"/>
      <dgm:spPr/>
    </dgm:pt>
    <dgm:pt modelId="{66FBE160-4EE8-424A-AA9A-F0903D7A0BC4}" type="pres">
      <dgm:prSet presAssocID="{A40BB5A7-06AE-4512-8233-7C3F0A4707BE}" presName="hierChild5" presStyleCnt="0"/>
      <dgm:spPr/>
    </dgm:pt>
    <dgm:pt modelId="{A79D60B8-CA58-4F67-B411-827315EED853}" type="pres">
      <dgm:prSet presAssocID="{6B087EC6-67AF-4AEA-977D-5F8294F0B48C}" presName="hierChild3" presStyleCnt="0"/>
      <dgm:spPr/>
    </dgm:pt>
  </dgm:ptLst>
  <dgm:cxnLst>
    <dgm:cxn modelId="{4AFD2D44-C595-4BB1-8405-A8341CD0E8BA}" srcId="{A40BB5A7-06AE-4512-8233-7C3F0A4707BE}" destId="{A95640D3-6232-4BBB-B04B-A7C2ABF09E36}" srcOrd="0" destOrd="0" parTransId="{5FE36767-61F4-4757-94DC-E28EEE6A65F6}" sibTransId="{86E52E23-4FA9-4541-8713-61D2666CE346}"/>
    <dgm:cxn modelId="{22E4B1F7-8791-4058-9141-E66B7BC60546}" type="presOf" srcId="{D5B5C054-F82A-48F9-8D42-6A43D75D3052}" destId="{8E8965CA-50B4-4D79-9D45-1380BC913872}" srcOrd="1" destOrd="0" presId="urn:microsoft.com/office/officeart/2005/8/layout/orgChart1"/>
    <dgm:cxn modelId="{C00559A1-2776-432C-A98A-FB2B316B0EEF}" srcId="{0DAFB042-AAAE-456C-AD1E-8449BCA8BB69}" destId="{B5D36F80-937E-424E-8F3A-186D647CA33D}" srcOrd="0" destOrd="0" parTransId="{2B1061C3-8DA0-485B-BE88-81C4F97E4253}" sibTransId="{02120C43-9233-4131-AB42-7CEF6AD33CF4}"/>
    <dgm:cxn modelId="{4DEE6725-2663-4A2C-9354-8022BC23DE6A}" type="presOf" srcId="{4CED8E60-A28C-4F95-AFF2-DBF49F2F1910}" destId="{F92FDB78-C680-4C9B-88CB-6D1654FBCD35}" srcOrd="0" destOrd="0" presId="urn:microsoft.com/office/officeart/2005/8/layout/orgChart1"/>
    <dgm:cxn modelId="{C50B74CC-F2C8-4FD6-A0AF-F009AE2B1F7E}" type="presOf" srcId="{90D0A21E-B465-4FA8-B73C-280122019CD4}" destId="{86595F81-4382-424D-964F-1BF7B6C18567}" srcOrd="0" destOrd="0" presId="urn:microsoft.com/office/officeart/2005/8/layout/orgChart1"/>
    <dgm:cxn modelId="{49623839-BB8B-4326-9920-7059CC0AD45E}" type="presOf" srcId="{A40BB5A7-06AE-4512-8233-7C3F0A4707BE}" destId="{327615C3-E9A1-405D-A764-2697810AEA70}" srcOrd="1" destOrd="0" presId="urn:microsoft.com/office/officeart/2005/8/layout/orgChart1"/>
    <dgm:cxn modelId="{B9C9801C-B0C2-467F-85CA-B0092F52557D}" type="presOf" srcId="{ABB3CAB2-671F-4D2E-9A34-E90CAAA40AD8}" destId="{24A1C22F-3731-40C0-8733-1680F6A1636F}" srcOrd="0" destOrd="0" presId="urn:microsoft.com/office/officeart/2005/8/layout/orgChart1"/>
    <dgm:cxn modelId="{0E7ED6B5-AAE5-42E7-972C-CE2A10448BA1}" type="presOf" srcId="{9C214DBB-6254-400A-B1DA-9C7269AAD286}" destId="{20A13ADE-3F04-4E36-ADD3-4EAB45648B18}" srcOrd="0" destOrd="0" presId="urn:microsoft.com/office/officeart/2005/8/layout/orgChart1"/>
    <dgm:cxn modelId="{A251BE65-365F-409D-AAB8-E3D32446C4ED}" srcId="{D5B5C054-F82A-48F9-8D42-6A43D75D3052}" destId="{44F54471-C54B-475A-B5A4-71CEAA0D6724}" srcOrd="1" destOrd="0" parTransId="{ABB3CAB2-671F-4D2E-9A34-E90CAAA40AD8}" sibTransId="{B7508706-3A24-4511-B661-91366C7D4DC1}"/>
    <dgm:cxn modelId="{8B748DC4-5307-45E4-B3FC-29EC701C6D4F}" type="presOf" srcId="{0DAFB042-AAAE-456C-AD1E-8449BCA8BB69}" destId="{02353FE0-2112-4D89-8B23-CDA9E9761A69}" srcOrd="0" destOrd="0" presId="urn:microsoft.com/office/officeart/2005/8/layout/orgChart1"/>
    <dgm:cxn modelId="{E1D014F9-E446-4A60-93D9-38F56AB0668C}" type="presOf" srcId="{E75275D6-5AA5-4480-8A60-682023C8B13A}" destId="{AEDA33CE-7C2E-4C2C-A6D0-78620E2AA0E6}" srcOrd="0" destOrd="0" presId="urn:microsoft.com/office/officeart/2005/8/layout/orgChart1"/>
    <dgm:cxn modelId="{B15820FA-F18E-4041-998E-B377DE55BB33}" srcId="{C3D6B9A2-1469-4E0E-B467-F06DDDEB895B}" destId="{6414317E-2D99-4460-A367-CCA674A1FB82}" srcOrd="0" destOrd="0" parTransId="{54B9C4E9-30E7-4A13-9842-3C48F3238D78}" sibTransId="{916CAE83-395E-43DE-849D-8AF36F71334F}"/>
    <dgm:cxn modelId="{4D44E923-4928-4E6D-B721-9F12E95313A4}" type="presOf" srcId="{4CED8E60-A28C-4F95-AFF2-DBF49F2F1910}" destId="{55ABE9D3-C352-4A16-85BA-07BA740C6C63}" srcOrd="1" destOrd="0" presId="urn:microsoft.com/office/officeart/2005/8/layout/orgChart1"/>
    <dgm:cxn modelId="{26566763-73A1-4DD0-A046-5E3077672BCE}" type="presOf" srcId="{143FF422-595A-43B8-9643-34646071DC0B}" destId="{D43491D2-1527-4EC3-95EA-7965377B5FC8}" srcOrd="0" destOrd="0" presId="urn:microsoft.com/office/officeart/2005/8/layout/orgChart1"/>
    <dgm:cxn modelId="{0F185F05-BE0E-4BE0-9993-6C11348CC46D}" type="presOf" srcId="{C3D6B9A2-1469-4E0E-B467-F06DDDEB895B}" destId="{3E6E671D-3858-41A3-BFF7-9EFB29A3B346}" srcOrd="1" destOrd="0" presId="urn:microsoft.com/office/officeart/2005/8/layout/orgChart1"/>
    <dgm:cxn modelId="{FD006100-A12C-4681-8261-18516A705FDB}" srcId="{A40BB5A7-06AE-4512-8233-7C3F0A4707BE}" destId="{9EF8562C-32B7-4059-9C24-4965BEDDB6B6}" srcOrd="1" destOrd="0" parTransId="{E09CB385-F3D6-4700-8BC8-9580E58406F8}" sibTransId="{36619FD1-A312-48A1-9343-FC065D22FA62}"/>
    <dgm:cxn modelId="{0612B7E3-60EE-474F-97EC-82BDE81706DA}" type="presOf" srcId="{2AB8CD0E-C6C2-4B03-94D8-7C2BBA691EE1}" destId="{1AAB95D1-8516-4126-87AA-987FC4A2483E}" srcOrd="0" destOrd="0" presId="urn:microsoft.com/office/officeart/2005/8/layout/orgChart1"/>
    <dgm:cxn modelId="{57B81B16-144C-4401-B90A-EEE0DB5CA674}" type="presOf" srcId="{D5B5C054-F82A-48F9-8D42-6A43D75D3052}" destId="{FD70D16C-6771-4799-A5DB-70F78C928639}" srcOrd="0" destOrd="0" presId="urn:microsoft.com/office/officeart/2005/8/layout/orgChart1"/>
    <dgm:cxn modelId="{C33F5A72-E0EE-4405-AB8F-A18335A14BDC}" type="presOf" srcId="{656B533F-454F-4CB2-9776-F78937D10B08}" destId="{6AE5DD16-B3EB-4EFB-A3A4-9202AD55349D}" srcOrd="0" destOrd="0" presId="urn:microsoft.com/office/officeart/2005/8/layout/orgChart1"/>
    <dgm:cxn modelId="{6037938E-FEEC-4741-A8F8-B145D1938D05}" type="presOf" srcId="{0DAFB042-AAAE-456C-AD1E-8449BCA8BB69}" destId="{03E5C7CD-7322-4EA9-A8AF-3617B1DB44BF}" srcOrd="1" destOrd="0" presId="urn:microsoft.com/office/officeart/2005/8/layout/orgChart1"/>
    <dgm:cxn modelId="{6367F9BB-5002-4D94-B0C2-263756F32944}" type="presOf" srcId="{83B1D1A8-C847-4E11-BEE1-91BBA91BEF31}" destId="{66317130-63F7-4ADA-AA64-A086F762D882}" srcOrd="0" destOrd="0" presId="urn:microsoft.com/office/officeart/2005/8/layout/orgChart1"/>
    <dgm:cxn modelId="{433F7B88-1574-452D-AB5F-CEF5D77F544B}" type="presOf" srcId="{A95640D3-6232-4BBB-B04B-A7C2ABF09E36}" destId="{0F48E35B-7C7B-4E64-8EC1-C347A2E59AB0}" srcOrd="1" destOrd="0" presId="urn:microsoft.com/office/officeart/2005/8/layout/orgChart1"/>
    <dgm:cxn modelId="{3963948F-BA9A-47C3-8D8D-BD6BF47305FF}" srcId="{6B087EC6-67AF-4AEA-977D-5F8294F0B48C}" destId="{D5B5C054-F82A-48F9-8D42-6A43D75D3052}" srcOrd="2" destOrd="0" parTransId="{302A62D6-5E29-40E1-B8DB-F44E10CE3ACA}" sibTransId="{BC011640-E618-4521-9ED4-8FA45094ABEA}"/>
    <dgm:cxn modelId="{CA71463A-A0A7-4EED-81A8-46D57391545B}" type="presOf" srcId="{44C37B02-C9B6-4AE1-A8F5-5A9DA03F25E1}" destId="{D50492A8-CC55-4FE1-8DA6-CC28322A3F7E}" srcOrd="0" destOrd="0" presId="urn:microsoft.com/office/officeart/2005/8/layout/orgChart1"/>
    <dgm:cxn modelId="{A22DD2EC-DBF5-4735-9F42-82789C78B011}" srcId="{6B087EC6-67AF-4AEA-977D-5F8294F0B48C}" destId="{C3D6B9A2-1469-4E0E-B467-F06DDDEB895B}" srcOrd="0" destOrd="0" parTransId="{656B533F-454F-4CB2-9776-F78937D10B08}" sibTransId="{231865D0-F27F-4FB9-806F-387D190B042D}"/>
    <dgm:cxn modelId="{416851DD-C6AD-47AE-ADE9-82F52F58C028}" srcId="{6B087EC6-67AF-4AEA-977D-5F8294F0B48C}" destId="{A40BB5A7-06AE-4512-8233-7C3F0A4707BE}" srcOrd="3" destOrd="0" parTransId="{83B1D1A8-C847-4E11-BEE1-91BBA91BEF31}" sibTransId="{7984AC78-4C48-4AA6-9B83-8FE1D5B1A9CF}"/>
    <dgm:cxn modelId="{C16F877A-830F-4A48-9EDF-627C5A0D06DC}" type="presOf" srcId="{44F54471-C54B-475A-B5A4-71CEAA0D6724}" destId="{1744F748-9719-4494-9B71-2101793297D7}" srcOrd="1" destOrd="0" presId="urn:microsoft.com/office/officeart/2005/8/layout/orgChart1"/>
    <dgm:cxn modelId="{7A076A0F-6143-4EAD-8EB6-92BA7B00FE6F}" type="presOf" srcId="{302A62D6-5E29-40E1-B8DB-F44E10CE3ACA}" destId="{0C999057-DF52-4EEB-91EE-C41BFEEFE4F0}" srcOrd="0" destOrd="0" presId="urn:microsoft.com/office/officeart/2005/8/layout/orgChart1"/>
    <dgm:cxn modelId="{38504D1B-CDF6-4D69-912E-739F4544CAB5}" type="presOf" srcId="{90D0A21E-B465-4FA8-B73C-280122019CD4}" destId="{E6F0CD14-B26E-4AE2-8783-B2C1C5FEA0D5}" srcOrd="1" destOrd="0" presId="urn:microsoft.com/office/officeart/2005/8/layout/orgChart1"/>
    <dgm:cxn modelId="{55DD7AFF-4043-48C9-8123-F34A554C4D48}" type="presOf" srcId="{2B1061C3-8DA0-485B-BE88-81C4F97E4253}" destId="{50A97014-A884-4C52-87AB-43E11FF847DF}" srcOrd="0" destOrd="0" presId="urn:microsoft.com/office/officeart/2005/8/layout/orgChart1"/>
    <dgm:cxn modelId="{B250278F-D416-4C41-BE8C-B812ED32A068}" type="presOf" srcId="{143FF422-595A-43B8-9643-34646071DC0B}" destId="{A5873FCF-D086-4B49-A408-C8E69C5B5743}" srcOrd="1" destOrd="0" presId="urn:microsoft.com/office/officeart/2005/8/layout/orgChart1"/>
    <dgm:cxn modelId="{16CFE34C-1C8C-4082-9EC6-FABDCE48A308}" srcId="{C3D6B9A2-1469-4E0E-B467-F06DDDEB895B}" destId="{143FF422-595A-43B8-9643-34646071DC0B}" srcOrd="1" destOrd="0" parTransId="{44C37B02-C9B6-4AE1-A8F5-5A9DA03F25E1}" sibTransId="{5881CFF1-9BF1-48F2-9DDD-2CF9047BB0CF}"/>
    <dgm:cxn modelId="{0533C6D0-3D17-450E-96A3-13C0342CF40F}" srcId="{D5B5C054-F82A-48F9-8D42-6A43D75D3052}" destId="{90D0A21E-B465-4FA8-B73C-280122019CD4}" srcOrd="0" destOrd="0" parTransId="{9C214DBB-6254-400A-B1DA-9C7269AAD286}" sibTransId="{1AF0BB33-85AD-4B9C-B2D7-A0083E351618}"/>
    <dgm:cxn modelId="{07494F0A-9394-4647-A10C-38916249071E}" type="presOf" srcId="{A95640D3-6232-4BBB-B04B-A7C2ABF09E36}" destId="{7641A269-0D50-4F66-9BCA-B0A46630F2BE}" srcOrd="0" destOrd="0" presId="urn:microsoft.com/office/officeart/2005/8/layout/orgChart1"/>
    <dgm:cxn modelId="{767C528E-E230-4A59-AE25-DFA82D8EC0BD}" type="presOf" srcId="{A40BB5A7-06AE-4512-8233-7C3F0A4707BE}" destId="{0FD03FBA-5548-4BCC-A586-FFF7FE68F4C0}" srcOrd="0" destOrd="0" presId="urn:microsoft.com/office/officeart/2005/8/layout/orgChart1"/>
    <dgm:cxn modelId="{AD807E7C-BF63-499B-9ED7-AE83B5B9778F}" type="presOf" srcId="{6414317E-2D99-4460-A367-CCA674A1FB82}" destId="{E2C45EDD-BF3B-4760-8816-061785A8D923}" srcOrd="0" destOrd="0" presId="urn:microsoft.com/office/officeart/2005/8/layout/orgChart1"/>
    <dgm:cxn modelId="{6FB1545D-EAB3-4043-B515-EA82E6918EDF}" type="presOf" srcId="{B5D36F80-937E-424E-8F3A-186D647CA33D}" destId="{0CB0D82B-0B6E-401E-B0A5-3443E50E4274}" srcOrd="0" destOrd="0" presId="urn:microsoft.com/office/officeart/2005/8/layout/orgChart1"/>
    <dgm:cxn modelId="{7558853D-0CDC-49F1-98E2-4113916D3E44}" type="presOf" srcId="{9EF8562C-32B7-4059-9C24-4965BEDDB6B6}" destId="{75F826AA-F124-47A1-A40A-B7EF0551045A}" srcOrd="1" destOrd="0" presId="urn:microsoft.com/office/officeart/2005/8/layout/orgChart1"/>
    <dgm:cxn modelId="{72BF2173-6FD2-4EAE-B485-D1FC8127C670}" srcId="{E75275D6-5AA5-4480-8A60-682023C8B13A}" destId="{6B087EC6-67AF-4AEA-977D-5F8294F0B48C}" srcOrd="0" destOrd="0" parTransId="{1B27961D-2FD5-48C3-9D7E-618CF34C7F85}" sibTransId="{5C7043AA-BB4C-4CE5-9503-D538CC414497}"/>
    <dgm:cxn modelId="{2ED3F30B-ED41-4A0A-83D3-65810344AB89}" type="presOf" srcId="{E09CB385-F3D6-4700-8BC8-9580E58406F8}" destId="{041B2EB2-422B-437D-AACF-1257E246CA1C}" srcOrd="0" destOrd="0" presId="urn:microsoft.com/office/officeart/2005/8/layout/orgChart1"/>
    <dgm:cxn modelId="{7EB5A4B1-A5DC-4570-BEB4-52701DD0E163}" type="presOf" srcId="{6414317E-2D99-4460-A367-CCA674A1FB82}" destId="{C2E983B7-5868-4E99-8FAC-952B3CA45F22}" srcOrd="1" destOrd="0" presId="urn:microsoft.com/office/officeart/2005/8/layout/orgChart1"/>
    <dgm:cxn modelId="{019013CB-37D1-4D87-8082-24FA39AEB1D0}" type="presOf" srcId="{54B9C4E9-30E7-4A13-9842-3C48F3238D78}" destId="{945FC0D4-BA9E-4522-B4D0-66D8C81FCE55}" srcOrd="0" destOrd="0" presId="urn:microsoft.com/office/officeart/2005/8/layout/orgChart1"/>
    <dgm:cxn modelId="{63492CF4-57A9-4304-8827-31F7B04ECF82}" type="presOf" srcId="{B5D36F80-937E-424E-8F3A-186D647CA33D}" destId="{F343A36A-59F2-4E32-B2E4-BAF1E95B5286}" srcOrd="1" destOrd="0" presId="urn:microsoft.com/office/officeart/2005/8/layout/orgChart1"/>
    <dgm:cxn modelId="{0DAD9DC8-1EDC-4332-B5FE-23DBB03B0F1C}" type="presOf" srcId="{7B8EF2E4-6F12-4883-93C9-03AD6B82865F}" destId="{1E8A41C8-F821-45FA-A609-A3C757CFC2CF}" srcOrd="0" destOrd="0" presId="urn:microsoft.com/office/officeart/2005/8/layout/orgChart1"/>
    <dgm:cxn modelId="{3000ED31-93B5-4063-8AE5-E71A3CF1B951}" type="presOf" srcId="{5FE36767-61F4-4757-94DC-E28EEE6A65F6}" destId="{9A84D7F4-E656-4A68-9469-8F307CA63EC6}" srcOrd="0" destOrd="0" presId="urn:microsoft.com/office/officeart/2005/8/layout/orgChart1"/>
    <dgm:cxn modelId="{359B0E3E-E107-40AA-B262-2AD28CF363D1}" type="presOf" srcId="{6B087EC6-67AF-4AEA-977D-5F8294F0B48C}" destId="{7BAEECC9-40B7-4A98-9664-10C3EC8EA146}" srcOrd="1" destOrd="0" presId="urn:microsoft.com/office/officeart/2005/8/layout/orgChart1"/>
    <dgm:cxn modelId="{B3DB7DAD-BE52-4840-8085-75859630661E}" type="presOf" srcId="{6B087EC6-67AF-4AEA-977D-5F8294F0B48C}" destId="{089B6290-4B61-447E-AAF6-90A28BA1642E}" srcOrd="0" destOrd="0" presId="urn:microsoft.com/office/officeart/2005/8/layout/orgChart1"/>
    <dgm:cxn modelId="{7CDAEB19-DC52-412B-8981-E7196B4153E8}" type="presOf" srcId="{C3D6B9A2-1469-4E0E-B467-F06DDDEB895B}" destId="{D11ED32B-8FC0-4F0E-8CA9-9F672BCCA219}" srcOrd="0" destOrd="0" presId="urn:microsoft.com/office/officeart/2005/8/layout/orgChart1"/>
    <dgm:cxn modelId="{2336286F-91BE-4395-817D-86D97B41FA4A}" srcId="{6B087EC6-67AF-4AEA-977D-5F8294F0B48C}" destId="{0DAFB042-AAAE-456C-AD1E-8449BCA8BB69}" srcOrd="1" destOrd="0" parTransId="{7B8EF2E4-6F12-4883-93C9-03AD6B82865F}" sibTransId="{85795E35-DC19-4158-AC9D-F3766D54DCAE}"/>
    <dgm:cxn modelId="{AD45A3A5-11EE-4D27-9CA5-CB219E2C7106}" srcId="{0DAFB042-AAAE-456C-AD1E-8449BCA8BB69}" destId="{4CED8E60-A28C-4F95-AFF2-DBF49F2F1910}" srcOrd="1" destOrd="0" parTransId="{2AB8CD0E-C6C2-4B03-94D8-7C2BBA691EE1}" sibTransId="{4B359D9A-F0B3-4335-B648-6ED68E542E5F}"/>
    <dgm:cxn modelId="{F8EE5B5F-57BD-477A-8AB7-F184735E82B5}" type="presOf" srcId="{9EF8562C-32B7-4059-9C24-4965BEDDB6B6}" destId="{CCBDED39-5A00-49EB-A21B-09FFF7622660}" srcOrd="0" destOrd="0" presId="urn:microsoft.com/office/officeart/2005/8/layout/orgChart1"/>
    <dgm:cxn modelId="{5E8B45DA-F0C5-469C-8AEA-7D816C52B70C}" type="presOf" srcId="{44F54471-C54B-475A-B5A4-71CEAA0D6724}" destId="{FCEBFE69-F0ED-401D-93A9-D54C61B0D169}" srcOrd="0" destOrd="0" presId="urn:microsoft.com/office/officeart/2005/8/layout/orgChart1"/>
    <dgm:cxn modelId="{33AD5D68-ED15-45AB-BDD3-247BE7DC79CD}" type="presParOf" srcId="{AEDA33CE-7C2E-4C2C-A6D0-78620E2AA0E6}" destId="{9B5BA73B-FFF5-4E03-B2B7-C378640D2C1F}" srcOrd="0" destOrd="0" presId="urn:microsoft.com/office/officeart/2005/8/layout/orgChart1"/>
    <dgm:cxn modelId="{CB78A483-90E4-4865-9AAF-53B34B4B9928}" type="presParOf" srcId="{9B5BA73B-FFF5-4E03-B2B7-C378640D2C1F}" destId="{1054FC03-2DB2-402E-BB15-FFE22C2347C4}" srcOrd="0" destOrd="0" presId="urn:microsoft.com/office/officeart/2005/8/layout/orgChart1"/>
    <dgm:cxn modelId="{27B697DB-57D1-4FD5-8B1F-BDF0BE7C9F8A}" type="presParOf" srcId="{1054FC03-2DB2-402E-BB15-FFE22C2347C4}" destId="{089B6290-4B61-447E-AAF6-90A28BA1642E}" srcOrd="0" destOrd="0" presId="urn:microsoft.com/office/officeart/2005/8/layout/orgChart1"/>
    <dgm:cxn modelId="{65344357-7BF7-4350-B345-91C699AC6082}" type="presParOf" srcId="{1054FC03-2DB2-402E-BB15-FFE22C2347C4}" destId="{7BAEECC9-40B7-4A98-9664-10C3EC8EA146}" srcOrd="1" destOrd="0" presId="urn:microsoft.com/office/officeart/2005/8/layout/orgChart1"/>
    <dgm:cxn modelId="{FCB5A42C-7BE3-426B-B5FD-CC1663C2E0C3}" type="presParOf" srcId="{9B5BA73B-FFF5-4E03-B2B7-C378640D2C1F}" destId="{63B5F113-E48D-4A1F-B474-FD308CACE2F9}" srcOrd="1" destOrd="0" presId="urn:microsoft.com/office/officeart/2005/8/layout/orgChart1"/>
    <dgm:cxn modelId="{8701D222-A3AD-4B6E-8167-EEA47FC79C97}" type="presParOf" srcId="{63B5F113-E48D-4A1F-B474-FD308CACE2F9}" destId="{6AE5DD16-B3EB-4EFB-A3A4-9202AD55349D}" srcOrd="0" destOrd="0" presId="urn:microsoft.com/office/officeart/2005/8/layout/orgChart1"/>
    <dgm:cxn modelId="{BD5372B8-06FC-4B0A-A0E0-DE19624CA4DF}" type="presParOf" srcId="{63B5F113-E48D-4A1F-B474-FD308CACE2F9}" destId="{E10E4D3F-D7DA-47BD-B5F4-2D6E984BB7C2}" srcOrd="1" destOrd="0" presId="urn:microsoft.com/office/officeart/2005/8/layout/orgChart1"/>
    <dgm:cxn modelId="{4358E441-9799-4432-9549-C63189A977CC}" type="presParOf" srcId="{E10E4D3F-D7DA-47BD-B5F4-2D6E984BB7C2}" destId="{6E5E1EB3-F7BD-4596-9F5A-7E67915280D0}" srcOrd="0" destOrd="0" presId="urn:microsoft.com/office/officeart/2005/8/layout/orgChart1"/>
    <dgm:cxn modelId="{08118665-5F19-4C8B-8DCD-C6BFE1A75FB2}" type="presParOf" srcId="{6E5E1EB3-F7BD-4596-9F5A-7E67915280D0}" destId="{D11ED32B-8FC0-4F0E-8CA9-9F672BCCA219}" srcOrd="0" destOrd="0" presId="urn:microsoft.com/office/officeart/2005/8/layout/orgChart1"/>
    <dgm:cxn modelId="{25128661-D10A-4A2B-B4BE-83AB05B7A2A6}" type="presParOf" srcId="{6E5E1EB3-F7BD-4596-9F5A-7E67915280D0}" destId="{3E6E671D-3858-41A3-BFF7-9EFB29A3B346}" srcOrd="1" destOrd="0" presId="urn:microsoft.com/office/officeart/2005/8/layout/orgChart1"/>
    <dgm:cxn modelId="{EFF7592A-BB2E-4C28-9F66-929603040A14}" type="presParOf" srcId="{E10E4D3F-D7DA-47BD-B5F4-2D6E984BB7C2}" destId="{63E15E8B-DC0B-4261-BE34-45D5EE9268EC}" srcOrd="1" destOrd="0" presId="urn:microsoft.com/office/officeart/2005/8/layout/orgChart1"/>
    <dgm:cxn modelId="{23759E53-882C-4342-875C-6E92C0DB210B}" type="presParOf" srcId="{63E15E8B-DC0B-4261-BE34-45D5EE9268EC}" destId="{945FC0D4-BA9E-4522-B4D0-66D8C81FCE55}" srcOrd="0" destOrd="0" presId="urn:microsoft.com/office/officeart/2005/8/layout/orgChart1"/>
    <dgm:cxn modelId="{B879AA98-CF0C-41C2-8E9D-0F2D0D109028}" type="presParOf" srcId="{63E15E8B-DC0B-4261-BE34-45D5EE9268EC}" destId="{18FECD3B-4D97-44D6-B3BA-C62EB3C2CC31}" srcOrd="1" destOrd="0" presId="urn:microsoft.com/office/officeart/2005/8/layout/orgChart1"/>
    <dgm:cxn modelId="{C29A4CE6-5EBA-40CD-BB1B-47E1ED378D65}" type="presParOf" srcId="{18FECD3B-4D97-44D6-B3BA-C62EB3C2CC31}" destId="{A1DE174A-6C94-4004-B673-F9CC95086106}" srcOrd="0" destOrd="0" presId="urn:microsoft.com/office/officeart/2005/8/layout/orgChart1"/>
    <dgm:cxn modelId="{C97C13DB-F3D8-4205-8708-39F22258ABB9}" type="presParOf" srcId="{A1DE174A-6C94-4004-B673-F9CC95086106}" destId="{E2C45EDD-BF3B-4760-8816-061785A8D923}" srcOrd="0" destOrd="0" presId="urn:microsoft.com/office/officeart/2005/8/layout/orgChart1"/>
    <dgm:cxn modelId="{AEE6F4A1-DBEF-4146-89D5-848AE38F8EF7}" type="presParOf" srcId="{A1DE174A-6C94-4004-B673-F9CC95086106}" destId="{C2E983B7-5868-4E99-8FAC-952B3CA45F22}" srcOrd="1" destOrd="0" presId="urn:microsoft.com/office/officeart/2005/8/layout/orgChart1"/>
    <dgm:cxn modelId="{A4673B40-EDAA-4F7A-9CE5-A4DB83E00DBF}" type="presParOf" srcId="{18FECD3B-4D97-44D6-B3BA-C62EB3C2CC31}" destId="{1B7582EC-E442-475D-A1C1-06F705A0E64F}" srcOrd="1" destOrd="0" presId="urn:microsoft.com/office/officeart/2005/8/layout/orgChart1"/>
    <dgm:cxn modelId="{00E23592-3B45-40DF-9C16-5E1ED4D3D9EF}" type="presParOf" srcId="{18FECD3B-4D97-44D6-B3BA-C62EB3C2CC31}" destId="{67B89845-A0A6-4C31-8817-047335CB9188}" srcOrd="2" destOrd="0" presId="urn:microsoft.com/office/officeart/2005/8/layout/orgChart1"/>
    <dgm:cxn modelId="{0EF8BEA4-D4BF-4192-852E-871C6618827B}" type="presParOf" srcId="{63E15E8B-DC0B-4261-BE34-45D5EE9268EC}" destId="{D50492A8-CC55-4FE1-8DA6-CC28322A3F7E}" srcOrd="2" destOrd="0" presId="urn:microsoft.com/office/officeart/2005/8/layout/orgChart1"/>
    <dgm:cxn modelId="{F7F70AE7-0DA4-484D-868D-81CDE77EF635}" type="presParOf" srcId="{63E15E8B-DC0B-4261-BE34-45D5EE9268EC}" destId="{85B82291-D828-4288-9714-484B8B283B02}" srcOrd="3" destOrd="0" presId="urn:microsoft.com/office/officeart/2005/8/layout/orgChart1"/>
    <dgm:cxn modelId="{B7B09CAA-A673-4FF9-BA71-73BF4CAC8A25}" type="presParOf" srcId="{85B82291-D828-4288-9714-484B8B283B02}" destId="{373B082A-F114-4A9A-A1C9-23E5599628D9}" srcOrd="0" destOrd="0" presId="urn:microsoft.com/office/officeart/2005/8/layout/orgChart1"/>
    <dgm:cxn modelId="{7798AFAA-4759-4600-A18D-56B74E696A11}" type="presParOf" srcId="{373B082A-F114-4A9A-A1C9-23E5599628D9}" destId="{D43491D2-1527-4EC3-95EA-7965377B5FC8}" srcOrd="0" destOrd="0" presId="urn:microsoft.com/office/officeart/2005/8/layout/orgChart1"/>
    <dgm:cxn modelId="{E88082FB-40D9-45BB-898A-F8395840A275}" type="presParOf" srcId="{373B082A-F114-4A9A-A1C9-23E5599628D9}" destId="{A5873FCF-D086-4B49-A408-C8E69C5B5743}" srcOrd="1" destOrd="0" presId="urn:microsoft.com/office/officeart/2005/8/layout/orgChart1"/>
    <dgm:cxn modelId="{C0B7FB1D-98BD-45D6-9E91-AA9A5C0164F7}" type="presParOf" srcId="{85B82291-D828-4288-9714-484B8B283B02}" destId="{B6D7D1E6-2151-457D-BC6E-CC109E0E1BA1}" srcOrd="1" destOrd="0" presId="urn:microsoft.com/office/officeart/2005/8/layout/orgChart1"/>
    <dgm:cxn modelId="{72BA8707-DE16-4EBA-BF41-E239CC3B6635}" type="presParOf" srcId="{85B82291-D828-4288-9714-484B8B283B02}" destId="{F1BC59B5-6B3E-454F-82E9-8DBDFBC34514}" srcOrd="2" destOrd="0" presId="urn:microsoft.com/office/officeart/2005/8/layout/orgChart1"/>
    <dgm:cxn modelId="{82A7A45B-A455-4339-9FEF-E22F43B0EDF5}" type="presParOf" srcId="{E10E4D3F-D7DA-47BD-B5F4-2D6E984BB7C2}" destId="{15618680-AEE2-4A93-B61C-BC7D8F003A0D}" srcOrd="2" destOrd="0" presId="urn:microsoft.com/office/officeart/2005/8/layout/orgChart1"/>
    <dgm:cxn modelId="{1D2ACDEB-F0D4-4D88-8753-6A9883D8E751}" type="presParOf" srcId="{63B5F113-E48D-4A1F-B474-FD308CACE2F9}" destId="{1E8A41C8-F821-45FA-A609-A3C757CFC2CF}" srcOrd="2" destOrd="0" presId="urn:microsoft.com/office/officeart/2005/8/layout/orgChart1"/>
    <dgm:cxn modelId="{6327AB70-10A0-46E6-8193-8492B7C0530D}" type="presParOf" srcId="{63B5F113-E48D-4A1F-B474-FD308CACE2F9}" destId="{BBF09602-3106-4DA7-839D-F5D2A887FAFA}" srcOrd="3" destOrd="0" presId="urn:microsoft.com/office/officeart/2005/8/layout/orgChart1"/>
    <dgm:cxn modelId="{0414FBE7-EE5E-4D8D-A79F-E39DD16D556F}" type="presParOf" srcId="{BBF09602-3106-4DA7-839D-F5D2A887FAFA}" destId="{E049B1BD-E756-445F-9DE1-F11B13BDF5D2}" srcOrd="0" destOrd="0" presId="urn:microsoft.com/office/officeart/2005/8/layout/orgChart1"/>
    <dgm:cxn modelId="{6B7037A4-6368-4E34-BD12-D9BE150B3707}" type="presParOf" srcId="{E049B1BD-E756-445F-9DE1-F11B13BDF5D2}" destId="{02353FE0-2112-4D89-8B23-CDA9E9761A69}" srcOrd="0" destOrd="0" presId="urn:microsoft.com/office/officeart/2005/8/layout/orgChart1"/>
    <dgm:cxn modelId="{522F5C02-303F-4CA2-8D5D-AC01F52B7679}" type="presParOf" srcId="{E049B1BD-E756-445F-9DE1-F11B13BDF5D2}" destId="{03E5C7CD-7322-4EA9-A8AF-3617B1DB44BF}" srcOrd="1" destOrd="0" presId="urn:microsoft.com/office/officeart/2005/8/layout/orgChart1"/>
    <dgm:cxn modelId="{8F028752-DD65-4B76-8963-940E8C004F3D}" type="presParOf" srcId="{BBF09602-3106-4DA7-839D-F5D2A887FAFA}" destId="{14AC2992-A070-4986-AF8E-143A62F9DAD4}" srcOrd="1" destOrd="0" presId="urn:microsoft.com/office/officeart/2005/8/layout/orgChart1"/>
    <dgm:cxn modelId="{D60CAC9E-09FA-4B80-811D-F7D83BC06D35}" type="presParOf" srcId="{14AC2992-A070-4986-AF8E-143A62F9DAD4}" destId="{50A97014-A884-4C52-87AB-43E11FF847DF}" srcOrd="0" destOrd="0" presId="urn:microsoft.com/office/officeart/2005/8/layout/orgChart1"/>
    <dgm:cxn modelId="{E8785FE4-573A-4C7B-8990-6411FF418C02}" type="presParOf" srcId="{14AC2992-A070-4986-AF8E-143A62F9DAD4}" destId="{D8FB7F08-7AF8-47F3-AB60-BB4777D6654C}" srcOrd="1" destOrd="0" presId="urn:microsoft.com/office/officeart/2005/8/layout/orgChart1"/>
    <dgm:cxn modelId="{A27DF30B-4A9D-4907-8E48-578A009ED6B4}" type="presParOf" srcId="{D8FB7F08-7AF8-47F3-AB60-BB4777D6654C}" destId="{1D698551-68E5-4512-B7BE-A536EF400F1D}" srcOrd="0" destOrd="0" presId="urn:microsoft.com/office/officeart/2005/8/layout/orgChart1"/>
    <dgm:cxn modelId="{17B0F493-1C2A-42D7-960E-04529C61BF6C}" type="presParOf" srcId="{1D698551-68E5-4512-B7BE-A536EF400F1D}" destId="{0CB0D82B-0B6E-401E-B0A5-3443E50E4274}" srcOrd="0" destOrd="0" presId="urn:microsoft.com/office/officeart/2005/8/layout/orgChart1"/>
    <dgm:cxn modelId="{3811482E-6DFA-4EC9-9499-A842903CAC55}" type="presParOf" srcId="{1D698551-68E5-4512-B7BE-A536EF400F1D}" destId="{F343A36A-59F2-4E32-B2E4-BAF1E95B5286}" srcOrd="1" destOrd="0" presId="urn:microsoft.com/office/officeart/2005/8/layout/orgChart1"/>
    <dgm:cxn modelId="{08A57D7C-981A-414F-BD52-26CF69055EF4}" type="presParOf" srcId="{D8FB7F08-7AF8-47F3-AB60-BB4777D6654C}" destId="{FD532DA7-4439-44BD-A4A7-8E0607E27154}" srcOrd="1" destOrd="0" presId="urn:microsoft.com/office/officeart/2005/8/layout/orgChart1"/>
    <dgm:cxn modelId="{105424E7-AF39-4F1F-94AA-98698B7A9C6F}" type="presParOf" srcId="{D8FB7F08-7AF8-47F3-AB60-BB4777D6654C}" destId="{AD4F1F40-3317-4C7F-B1EF-4FC09CC3627F}" srcOrd="2" destOrd="0" presId="urn:microsoft.com/office/officeart/2005/8/layout/orgChart1"/>
    <dgm:cxn modelId="{76C4AA73-E5E3-4AA4-B018-FB3582318B7C}" type="presParOf" srcId="{14AC2992-A070-4986-AF8E-143A62F9DAD4}" destId="{1AAB95D1-8516-4126-87AA-987FC4A2483E}" srcOrd="2" destOrd="0" presId="urn:microsoft.com/office/officeart/2005/8/layout/orgChart1"/>
    <dgm:cxn modelId="{67C26431-C62B-4442-A9AF-71B54CC150EA}" type="presParOf" srcId="{14AC2992-A070-4986-AF8E-143A62F9DAD4}" destId="{D1C7135C-03D8-485C-A940-A7F1BE0D8CAF}" srcOrd="3" destOrd="0" presId="urn:microsoft.com/office/officeart/2005/8/layout/orgChart1"/>
    <dgm:cxn modelId="{099E8267-070C-45D8-BCB6-E4114891C1FD}" type="presParOf" srcId="{D1C7135C-03D8-485C-A940-A7F1BE0D8CAF}" destId="{4F189765-5FCA-40B2-8F7E-3414B82C103C}" srcOrd="0" destOrd="0" presId="urn:microsoft.com/office/officeart/2005/8/layout/orgChart1"/>
    <dgm:cxn modelId="{E6F4B655-F0A9-4344-B657-5872F5F9B0AE}" type="presParOf" srcId="{4F189765-5FCA-40B2-8F7E-3414B82C103C}" destId="{F92FDB78-C680-4C9B-88CB-6D1654FBCD35}" srcOrd="0" destOrd="0" presId="urn:microsoft.com/office/officeart/2005/8/layout/orgChart1"/>
    <dgm:cxn modelId="{03A5D564-F149-4EDB-AA97-268E7D92F449}" type="presParOf" srcId="{4F189765-5FCA-40B2-8F7E-3414B82C103C}" destId="{55ABE9D3-C352-4A16-85BA-07BA740C6C63}" srcOrd="1" destOrd="0" presId="urn:microsoft.com/office/officeart/2005/8/layout/orgChart1"/>
    <dgm:cxn modelId="{73E14A60-B34D-4285-9C80-1A444C03381F}" type="presParOf" srcId="{D1C7135C-03D8-485C-A940-A7F1BE0D8CAF}" destId="{A688B7F2-4C26-48CB-B933-8485F22BA1E3}" srcOrd="1" destOrd="0" presId="urn:microsoft.com/office/officeart/2005/8/layout/orgChart1"/>
    <dgm:cxn modelId="{1F6A9498-7031-4E2E-8301-D7EFF1523EB6}" type="presParOf" srcId="{D1C7135C-03D8-485C-A940-A7F1BE0D8CAF}" destId="{801814CC-2E09-40E8-B875-1E77864E39FC}" srcOrd="2" destOrd="0" presId="urn:microsoft.com/office/officeart/2005/8/layout/orgChart1"/>
    <dgm:cxn modelId="{7275A670-FF64-4389-9820-E0BF76D1D10E}" type="presParOf" srcId="{BBF09602-3106-4DA7-839D-F5D2A887FAFA}" destId="{E2043107-AF19-440C-9B43-B8A0A8CC4CF3}" srcOrd="2" destOrd="0" presId="urn:microsoft.com/office/officeart/2005/8/layout/orgChart1"/>
    <dgm:cxn modelId="{D7CF27F4-987E-4DCB-87CB-A3262FE9DCEE}" type="presParOf" srcId="{63B5F113-E48D-4A1F-B474-FD308CACE2F9}" destId="{0C999057-DF52-4EEB-91EE-C41BFEEFE4F0}" srcOrd="4" destOrd="0" presId="urn:microsoft.com/office/officeart/2005/8/layout/orgChart1"/>
    <dgm:cxn modelId="{38F357F4-4D91-4E86-A8F5-B683CEC829BC}" type="presParOf" srcId="{63B5F113-E48D-4A1F-B474-FD308CACE2F9}" destId="{02DAA78E-6A62-4B96-B1FB-227A04291899}" srcOrd="5" destOrd="0" presId="urn:microsoft.com/office/officeart/2005/8/layout/orgChart1"/>
    <dgm:cxn modelId="{C6EF39C0-54A8-49E7-BD90-89C710F82D22}" type="presParOf" srcId="{02DAA78E-6A62-4B96-B1FB-227A04291899}" destId="{27045478-720D-4335-A86D-9A23A14EDE7B}" srcOrd="0" destOrd="0" presId="urn:microsoft.com/office/officeart/2005/8/layout/orgChart1"/>
    <dgm:cxn modelId="{7C7CF6AE-5E08-4138-B95F-A144864A7947}" type="presParOf" srcId="{27045478-720D-4335-A86D-9A23A14EDE7B}" destId="{FD70D16C-6771-4799-A5DB-70F78C928639}" srcOrd="0" destOrd="0" presId="urn:microsoft.com/office/officeart/2005/8/layout/orgChart1"/>
    <dgm:cxn modelId="{ECF110A8-63CD-4C4F-B49C-0171C55D7081}" type="presParOf" srcId="{27045478-720D-4335-A86D-9A23A14EDE7B}" destId="{8E8965CA-50B4-4D79-9D45-1380BC913872}" srcOrd="1" destOrd="0" presId="urn:microsoft.com/office/officeart/2005/8/layout/orgChart1"/>
    <dgm:cxn modelId="{E09459B6-7B01-468C-9066-480D541BAB62}" type="presParOf" srcId="{02DAA78E-6A62-4B96-B1FB-227A04291899}" destId="{AE53E18D-EBE3-4A89-91E4-85C8C1B442A0}" srcOrd="1" destOrd="0" presId="urn:microsoft.com/office/officeart/2005/8/layout/orgChart1"/>
    <dgm:cxn modelId="{7BA776EF-AE66-4DEB-BC26-13FF2D907699}" type="presParOf" srcId="{AE53E18D-EBE3-4A89-91E4-85C8C1B442A0}" destId="{20A13ADE-3F04-4E36-ADD3-4EAB45648B18}" srcOrd="0" destOrd="0" presId="urn:microsoft.com/office/officeart/2005/8/layout/orgChart1"/>
    <dgm:cxn modelId="{CAF7080B-480B-4CED-82F0-636837654C9A}" type="presParOf" srcId="{AE53E18D-EBE3-4A89-91E4-85C8C1B442A0}" destId="{562B5786-41C1-47CC-B73B-96B73A28459C}" srcOrd="1" destOrd="0" presId="urn:microsoft.com/office/officeart/2005/8/layout/orgChart1"/>
    <dgm:cxn modelId="{6E5A1AA5-084B-4562-B9B0-ED2B031DEE67}" type="presParOf" srcId="{562B5786-41C1-47CC-B73B-96B73A28459C}" destId="{21AEFBEC-A9A2-4942-A19F-1698FF443FD5}" srcOrd="0" destOrd="0" presId="urn:microsoft.com/office/officeart/2005/8/layout/orgChart1"/>
    <dgm:cxn modelId="{FA5F39D1-FCA4-4340-AF7A-1839A5BF27B2}" type="presParOf" srcId="{21AEFBEC-A9A2-4942-A19F-1698FF443FD5}" destId="{86595F81-4382-424D-964F-1BF7B6C18567}" srcOrd="0" destOrd="0" presId="urn:microsoft.com/office/officeart/2005/8/layout/orgChart1"/>
    <dgm:cxn modelId="{659BD84E-C41E-4BF3-B731-79C1E761453F}" type="presParOf" srcId="{21AEFBEC-A9A2-4942-A19F-1698FF443FD5}" destId="{E6F0CD14-B26E-4AE2-8783-B2C1C5FEA0D5}" srcOrd="1" destOrd="0" presId="urn:microsoft.com/office/officeart/2005/8/layout/orgChart1"/>
    <dgm:cxn modelId="{8588BABF-2D6B-42C2-9FE4-A0A078114891}" type="presParOf" srcId="{562B5786-41C1-47CC-B73B-96B73A28459C}" destId="{687C4861-59F1-4852-A484-307F2A0190B6}" srcOrd="1" destOrd="0" presId="urn:microsoft.com/office/officeart/2005/8/layout/orgChart1"/>
    <dgm:cxn modelId="{2DFE916D-2925-4ABA-A401-21F2836AA8B2}" type="presParOf" srcId="{562B5786-41C1-47CC-B73B-96B73A28459C}" destId="{C6668FD8-27F3-41E9-BC3D-5A69CC675B7E}" srcOrd="2" destOrd="0" presId="urn:microsoft.com/office/officeart/2005/8/layout/orgChart1"/>
    <dgm:cxn modelId="{721E6EFA-C98A-4E82-BB33-3E4C8F76B7A3}" type="presParOf" srcId="{AE53E18D-EBE3-4A89-91E4-85C8C1B442A0}" destId="{24A1C22F-3731-40C0-8733-1680F6A1636F}" srcOrd="2" destOrd="0" presId="urn:microsoft.com/office/officeart/2005/8/layout/orgChart1"/>
    <dgm:cxn modelId="{8B064451-5FB9-441A-9765-3268ABDA9786}" type="presParOf" srcId="{AE53E18D-EBE3-4A89-91E4-85C8C1B442A0}" destId="{F14A3CEA-56E0-4FEE-9735-210B434B9A45}" srcOrd="3" destOrd="0" presId="urn:microsoft.com/office/officeart/2005/8/layout/orgChart1"/>
    <dgm:cxn modelId="{117D52C8-49B5-497B-901C-4D9AFB974C75}" type="presParOf" srcId="{F14A3CEA-56E0-4FEE-9735-210B434B9A45}" destId="{B6CE8EA6-BE8F-4DB3-A561-67C6AE31AA4B}" srcOrd="0" destOrd="0" presId="urn:microsoft.com/office/officeart/2005/8/layout/orgChart1"/>
    <dgm:cxn modelId="{86F25D39-1BFF-44C2-B699-F87F33BFE401}" type="presParOf" srcId="{B6CE8EA6-BE8F-4DB3-A561-67C6AE31AA4B}" destId="{FCEBFE69-F0ED-401D-93A9-D54C61B0D169}" srcOrd="0" destOrd="0" presId="urn:microsoft.com/office/officeart/2005/8/layout/orgChart1"/>
    <dgm:cxn modelId="{55AD8B9E-3938-48FF-94E8-A27BDC97DA17}" type="presParOf" srcId="{B6CE8EA6-BE8F-4DB3-A561-67C6AE31AA4B}" destId="{1744F748-9719-4494-9B71-2101793297D7}" srcOrd="1" destOrd="0" presId="urn:microsoft.com/office/officeart/2005/8/layout/orgChart1"/>
    <dgm:cxn modelId="{AD2B566C-191A-4A8B-BDEA-707FFC440730}" type="presParOf" srcId="{F14A3CEA-56E0-4FEE-9735-210B434B9A45}" destId="{A812D4D2-3123-4B8A-9F89-A3E4D6263A99}" srcOrd="1" destOrd="0" presId="urn:microsoft.com/office/officeart/2005/8/layout/orgChart1"/>
    <dgm:cxn modelId="{B1ABF7B6-7BB5-4E4B-8BD3-C1BAE3F90CBB}" type="presParOf" srcId="{F14A3CEA-56E0-4FEE-9735-210B434B9A45}" destId="{1F838105-9A80-44DF-9FFF-9FD9AFC73633}" srcOrd="2" destOrd="0" presId="urn:microsoft.com/office/officeart/2005/8/layout/orgChart1"/>
    <dgm:cxn modelId="{855868EF-E26E-47F7-8C7A-99F6AFB2198D}" type="presParOf" srcId="{02DAA78E-6A62-4B96-B1FB-227A04291899}" destId="{FD55F0A2-3ED3-4001-9447-DC2F1B7E9DE3}" srcOrd="2" destOrd="0" presId="urn:microsoft.com/office/officeart/2005/8/layout/orgChart1"/>
    <dgm:cxn modelId="{8B6DD3DC-C7C8-4A9A-9681-3F0649BDCF6A}" type="presParOf" srcId="{63B5F113-E48D-4A1F-B474-FD308CACE2F9}" destId="{66317130-63F7-4ADA-AA64-A086F762D882}" srcOrd="6" destOrd="0" presId="urn:microsoft.com/office/officeart/2005/8/layout/orgChart1"/>
    <dgm:cxn modelId="{743B7F07-C9AA-4AB7-AC60-712B75D5298B}" type="presParOf" srcId="{63B5F113-E48D-4A1F-B474-FD308CACE2F9}" destId="{7C2A4B0E-2096-448F-8481-98320DDA8601}" srcOrd="7" destOrd="0" presId="urn:microsoft.com/office/officeart/2005/8/layout/orgChart1"/>
    <dgm:cxn modelId="{5FD43700-CD18-4C74-A6ED-4A7CA01E89E3}" type="presParOf" srcId="{7C2A4B0E-2096-448F-8481-98320DDA8601}" destId="{C47070F2-AB27-4277-8FD0-81CB5FE6F11A}" srcOrd="0" destOrd="0" presId="urn:microsoft.com/office/officeart/2005/8/layout/orgChart1"/>
    <dgm:cxn modelId="{B19AA9EF-29B2-4E5E-ACCA-F4F04575AEAD}" type="presParOf" srcId="{C47070F2-AB27-4277-8FD0-81CB5FE6F11A}" destId="{0FD03FBA-5548-4BCC-A586-FFF7FE68F4C0}" srcOrd="0" destOrd="0" presId="urn:microsoft.com/office/officeart/2005/8/layout/orgChart1"/>
    <dgm:cxn modelId="{A9B20C6D-4391-47E4-A4C6-E28426BD843B}" type="presParOf" srcId="{C47070F2-AB27-4277-8FD0-81CB5FE6F11A}" destId="{327615C3-E9A1-405D-A764-2697810AEA70}" srcOrd="1" destOrd="0" presId="urn:microsoft.com/office/officeart/2005/8/layout/orgChart1"/>
    <dgm:cxn modelId="{4E638D94-0285-4EE0-B0AA-229993B0813E}" type="presParOf" srcId="{7C2A4B0E-2096-448F-8481-98320DDA8601}" destId="{BF013937-E8B3-4723-BD1B-7DBA91B7F111}" srcOrd="1" destOrd="0" presId="urn:microsoft.com/office/officeart/2005/8/layout/orgChart1"/>
    <dgm:cxn modelId="{66177212-9409-43DA-9726-C83D34E626CD}" type="presParOf" srcId="{BF013937-E8B3-4723-BD1B-7DBA91B7F111}" destId="{9A84D7F4-E656-4A68-9469-8F307CA63EC6}" srcOrd="0" destOrd="0" presId="urn:microsoft.com/office/officeart/2005/8/layout/orgChart1"/>
    <dgm:cxn modelId="{A7B97BA9-4BB5-4C63-B3AB-D7A6D6F5AEF9}" type="presParOf" srcId="{BF013937-E8B3-4723-BD1B-7DBA91B7F111}" destId="{7E3B9049-D206-4674-9449-559810C90933}" srcOrd="1" destOrd="0" presId="urn:microsoft.com/office/officeart/2005/8/layout/orgChart1"/>
    <dgm:cxn modelId="{193F65D7-70FC-4B1A-B536-111DD9152289}" type="presParOf" srcId="{7E3B9049-D206-4674-9449-559810C90933}" destId="{F215ABA3-A9F6-4163-A6D5-088A42835B2A}" srcOrd="0" destOrd="0" presId="urn:microsoft.com/office/officeart/2005/8/layout/orgChart1"/>
    <dgm:cxn modelId="{A55109BC-A7E5-4F46-B33F-792286B2C030}" type="presParOf" srcId="{F215ABA3-A9F6-4163-A6D5-088A42835B2A}" destId="{7641A269-0D50-4F66-9BCA-B0A46630F2BE}" srcOrd="0" destOrd="0" presId="urn:microsoft.com/office/officeart/2005/8/layout/orgChart1"/>
    <dgm:cxn modelId="{88953596-EC52-4021-A464-01EE139B6C58}" type="presParOf" srcId="{F215ABA3-A9F6-4163-A6D5-088A42835B2A}" destId="{0F48E35B-7C7B-4E64-8EC1-C347A2E59AB0}" srcOrd="1" destOrd="0" presId="urn:microsoft.com/office/officeart/2005/8/layout/orgChart1"/>
    <dgm:cxn modelId="{113C0BEB-06A8-4D34-BAC7-924C4D8465C6}" type="presParOf" srcId="{7E3B9049-D206-4674-9449-559810C90933}" destId="{7FE46173-8CD2-4213-BD48-A16B748A9A9A}" srcOrd="1" destOrd="0" presId="urn:microsoft.com/office/officeart/2005/8/layout/orgChart1"/>
    <dgm:cxn modelId="{1F2878BD-2863-42D0-8D3F-696BD746D314}" type="presParOf" srcId="{7E3B9049-D206-4674-9449-559810C90933}" destId="{11AAFCBC-443A-43AC-A7C7-0BD4DC6BF94A}" srcOrd="2" destOrd="0" presId="urn:microsoft.com/office/officeart/2005/8/layout/orgChart1"/>
    <dgm:cxn modelId="{E87EE302-352B-4A0C-9970-3773068CFED8}" type="presParOf" srcId="{BF013937-E8B3-4723-BD1B-7DBA91B7F111}" destId="{041B2EB2-422B-437D-AACF-1257E246CA1C}" srcOrd="2" destOrd="0" presId="urn:microsoft.com/office/officeart/2005/8/layout/orgChart1"/>
    <dgm:cxn modelId="{EE8AB0DB-2F37-4E95-9E1C-0EE32B6611FF}" type="presParOf" srcId="{BF013937-E8B3-4723-BD1B-7DBA91B7F111}" destId="{41A802E5-C19D-414C-8128-FA85A17F721B}" srcOrd="3" destOrd="0" presId="urn:microsoft.com/office/officeart/2005/8/layout/orgChart1"/>
    <dgm:cxn modelId="{41F4BB23-DD3A-42FA-BD3F-8A5BB2BBAC4C}" type="presParOf" srcId="{41A802E5-C19D-414C-8128-FA85A17F721B}" destId="{30A96754-FDF7-476E-9800-1930651EA0EB}" srcOrd="0" destOrd="0" presId="urn:microsoft.com/office/officeart/2005/8/layout/orgChart1"/>
    <dgm:cxn modelId="{36D25F79-31C4-4321-8232-BE92BA3A96FA}" type="presParOf" srcId="{30A96754-FDF7-476E-9800-1930651EA0EB}" destId="{CCBDED39-5A00-49EB-A21B-09FFF7622660}" srcOrd="0" destOrd="0" presId="urn:microsoft.com/office/officeart/2005/8/layout/orgChart1"/>
    <dgm:cxn modelId="{E4FF1512-2E8E-4B4B-A5EF-E431259553DC}" type="presParOf" srcId="{30A96754-FDF7-476E-9800-1930651EA0EB}" destId="{75F826AA-F124-47A1-A40A-B7EF0551045A}" srcOrd="1" destOrd="0" presId="urn:microsoft.com/office/officeart/2005/8/layout/orgChart1"/>
    <dgm:cxn modelId="{54047881-7D6B-476C-A4B5-FD8F45F7F933}" type="presParOf" srcId="{41A802E5-C19D-414C-8128-FA85A17F721B}" destId="{3FEE1068-938D-4827-AF90-03700795AFCF}" srcOrd="1" destOrd="0" presId="urn:microsoft.com/office/officeart/2005/8/layout/orgChart1"/>
    <dgm:cxn modelId="{5C612BA1-E53A-4041-8847-FD448804A7FD}" type="presParOf" srcId="{41A802E5-C19D-414C-8128-FA85A17F721B}" destId="{C8705543-8173-4FDC-9348-80560DD98B8D}" srcOrd="2" destOrd="0" presId="urn:microsoft.com/office/officeart/2005/8/layout/orgChart1"/>
    <dgm:cxn modelId="{1718B29A-ADD9-4DD5-ABA6-9BB783F6E1EB}" type="presParOf" srcId="{7C2A4B0E-2096-448F-8481-98320DDA8601}" destId="{66FBE160-4EE8-424A-AA9A-F0903D7A0BC4}" srcOrd="2" destOrd="0" presId="urn:microsoft.com/office/officeart/2005/8/layout/orgChart1"/>
    <dgm:cxn modelId="{0CAD5123-E9DD-4D39-87B0-DEC85345A6A8}" type="presParOf" srcId="{9B5BA73B-FFF5-4E03-B2B7-C378640D2C1F}" destId="{A79D60B8-CA58-4F67-B411-827315EED853}"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2043B1CA-1373-4A01-A53F-7CDCE0997BCE}" type="doc">
      <dgm:prSet loTypeId="urn:microsoft.com/office/officeart/2005/8/layout/process2" loCatId="process" qsTypeId="urn:microsoft.com/office/officeart/2005/8/quickstyle/simple1" qsCatId="simple" csTypeId="urn:microsoft.com/office/officeart/2005/8/colors/accent1_2" csCatId="accent1"/>
      <dgm:spPr/>
      <dgm:t>
        <a:bodyPr/>
        <a:lstStyle/>
        <a:p>
          <a:endParaRPr lang="en-US"/>
        </a:p>
      </dgm:t>
    </dgm:pt>
    <dgm:pt modelId="{801E47F5-C287-46C1-A090-37DF2C80EDCC}">
      <dgm:prSet/>
      <dgm:spPr/>
      <dgm:t>
        <a:bodyPr/>
        <a:lstStyle/>
        <a:p>
          <a:pPr rtl="0"/>
          <a:r>
            <a:rPr lang="fi-FI" dirty="0" smtClean="0"/>
            <a:t>Valmistautumisvaihe</a:t>
          </a:r>
          <a:endParaRPr lang="en-US" dirty="0"/>
        </a:p>
      </dgm:t>
    </dgm:pt>
    <dgm:pt modelId="{B0F244EC-E937-4A81-9FDC-4189F56378DC}" type="parTrans" cxnId="{7718C9C2-4C4B-4C33-83A7-5881A25544EA}">
      <dgm:prSet/>
      <dgm:spPr/>
      <dgm:t>
        <a:bodyPr/>
        <a:lstStyle/>
        <a:p>
          <a:endParaRPr lang="en-US"/>
        </a:p>
      </dgm:t>
    </dgm:pt>
    <dgm:pt modelId="{395230E5-CE78-4C43-80BB-C66946AB23DB}" type="sibTrans" cxnId="{7718C9C2-4C4B-4C33-83A7-5881A25544EA}">
      <dgm:prSet/>
      <dgm:spPr/>
      <dgm:t>
        <a:bodyPr/>
        <a:lstStyle/>
        <a:p>
          <a:endParaRPr lang="en-US"/>
        </a:p>
      </dgm:t>
    </dgm:pt>
    <dgm:pt modelId="{EF350019-8548-4147-A42B-2BDB3242C2A8}">
      <dgm:prSet/>
      <dgm:spPr/>
      <dgm:t>
        <a:bodyPr/>
        <a:lstStyle/>
        <a:p>
          <a:pPr rtl="0"/>
          <a:r>
            <a:rPr lang="fi-FI" dirty="0" smtClean="0"/>
            <a:t>Hyväksymistestausvaihe</a:t>
          </a:r>
          <a:endParaRPr lang="en-US" dirty="0"/>
        </a:p>
      </dgm:t>
    </dgm:pt>
    <dgm:pt modelId="{CF506A07-7FEF-45AE-BF5C-6B19E20CD4C4}" type="parTrans" cxnId="{08C09A04-37E7-4EBE-8BAE-F5DE6037917B}">
      <dgm:prSet/>
      <dgm:spPr/>
      <dgm:t>
        <a:bodyPr/>
        <a:lstStyle/>
        <a:p>
          <a:endParaRPr lang="en-US"/>
        </a:p>
      </dgm:t>
    </dgm:pt>
    <dgm:pt modelId="{0FC9D497-5494-453E-B0FD-02D889E6FADD}" type="sibTrans" cxnId="{08C09A04-37E7-4EBE-8BAE-F5DE6037917B}">
      <dgm:prSet/>
      <dgm:spPr/>
      <dgm:t>
        <a:bodyPr/>
        <a:lstStyle/>
        <a:p>
          <a:endParaRPr lang="en-US"/>
        </a:p>
      </dgm:t>
    </dgm:pt>
    <dgm:pt modelId="{24B224AB-CFB6-4867-8B4E-D67E942B9807}">
      <dgm:prSet/>
      <dgm:spPr/>
      <dgm:t>
        <a:bodyPr/>
        <a:lstStyle/>
        <a:p>
          <a:pPr rtl="0"/>
          <a:r>
            <a:rPr lang="fi-FI" dirty="0" smtClean="0"/>
            <a:t>Hyväksyntävaihe</a:t>
          </a:r>
          <a:endParaRPr lang="en-US" dirty="0"/>
        </a:p>
      </dgm:t>
    </dgm:pt>
    <dgm:pt modelId="{44829E06-60FD-482C-8663-117A62C6A84B}" type="parTrans" cxnId="{587DB9D2-022F-4C09-8A67-DBE38EA7F6B4}">
      <dgm:prSet/>
      <dgm:spPr/>
      <dgm:t>
        <a:bodyPr/>
        <a:lstStyle/>
        <a:p>
          <a:endParaRPr lang="en-US"/>
        </a:p>
      </dgm:t>
    </dgm:pt>
    <dgm:pt modelId="{2AE80BF6-8C50-4A07-B7DE-B6348AB4A040}" type="sibTrans" cxnId="{587DB9D2-022F-4C09-8A67-DBE38EA7F6B4}">
      <dgm:prSet/>
      <dgm:spPr/>
      <dgm:t>
        <a:bodyPr/>
        <a:lstStyle/>
        <a:p>
          <a:endParaRPr lang="en-US"/>
        </a:p>
      </dgm:t>
    </dgm:pt>
    <dgm:pt modelId="{D76AB407-0DC2-4B95-928B-3A250777867B}" type="pres">
      <dgm:prSet presAssocID="{2043B1CA-1373-4A01-A53F-7CDCE0997BCE}" presName="linearFlow" presStyleCnt="0">
        <dgm:presLayoutVars>
          <dgm:resizeHandles val="exact"/>
        </dgm:presLayoutVars>
      </dgm:prSet>
      <dgm:spPr/>
      <dgm:t>
        <a:bodyPr/>
        <a:lstStyle/>
        <a:p>
          <a:endParaRPr lang="en-US"/>
        </a:p>
      </dgm:t>
    </dgm:pt>
    <dgm:pt modelId="{7213C626-6D16-4809-854B-0618BAB560D9}" type="pres">
      <dgm:prSet presAssocID="{801E47F5-C287-46C1-A090-37DF2C80EDCC}" presName="node" presStyleLbl="node1" presStyleIdx="0" presStyleCnt="3">
        <dgm:presLayoutVars>
          <dgm:bulletEnabled val="1"/>
        </dgm:presLayoutVars>
      </dgm:prSet>
      <dgm:spPr/>
      <dgm:t>
        <a:bodyPr/>
        <a:lstStyle/>
        <a:p>
          <a:endParaRPr lang="en-US"/>
        </a:p>
      </dgm:t>
    </dgm:pt>
    <dgm:pt modelId="{2049C1CA-78FE-48B5-9945-774EE7A04462}" type="pres">
      <dgm:prSet presAssocID="{395230E5-CE78-4C43-80BB-C66946AB23DB}" presName="sibTrans" presStyleLbl="sibTrans2D1" presStyleIdx="0" presStyleCnt="2"/>
      <dgm:spPr/>
      <dgm:t>
        <a:bodyPr/>
        <a:lstStyle/>
        <a:p>
          <a:endParaRPr lang="en-US"/>
        </a:p>
      </dgm:t>
    </dgm:pt>
    <dgm:pt modelId="{AB1BB627-903B-4ADD-A55D-56B9932CD0F9}" type="pres">
      <dgm:prSet presAssocID="{395230E5-CE78-4C43-80BB-C66946AB23DB}" presName="connectorText" presStyleLbl="sibTrans2D1" presStyleIdx="0" presStyleCnt="2"/>
      <dgm:spPr/>
      <dgm:t>
        <a:bodyPr/>
        <a:lstStyle/>
        <a:p>
          <a:endParaRPr lang="en-US"/>
        </a:p>
      </dgm:t>
    </dgm:pt>
    <dgm:pt modelId="{19EDB6F4-05F5-404C-98E1-B90F20CCE7C7}" type="pres">
      <dgm:prSet presAssocID="{EF350019-8548-4147-A42B-2BDB3242C2A8}" presName="node" presStyleLbl="node1" presStyleIdx="1" presStyleCnt="3">
        <dgm:presLayoutVars>
          <dgm:bulletEnabled val="1"/>
        </dgm:presLayoutVars>
      </dgm:prSet>
      <dgm:spPr/>
      <dgm:t>
        <a:bodyPr/>
        <a:lstStyle/>
        <a:p>
          <a:endParaRPr lang="en-US"/>
        </a:p>
      </dgm:t>
    </dgm:pt>
    <dgm:pt modelId="{C3435368-CCFA-46E8-A2D0-D16D3EBA90C3}" type="pres">
      <dgm:prSet presAssocID="{0FC9D497-5494-453E-B0FD-02D889E6FADD}" presName="sibTrans" presStyleLbl="sibTrans2D1" presStyleIdx="1" presStyleCnt="2"/>
      <dgm:spPr/>
      <dgm:t>
        <a:bodyPr/>
        <a:lstStyle/>
        <a:p>
          <a:endParaRPr lang="en-US"/>
        </a:p>
      </dgm:t>
    </dgm:pt>
    <dgm:pt modelId="{A025A66A-C4BC-4DF6-90D9-2B00F4F58F70}" type="pres">
      <dgm:prSet presAssocID="{0FC9D497-5494-453E-B0FD-02D889E6FADD}" presName="connectorText" presStyleLbl="sibTrans2D1" presStyleIdx="1" presStyleCnt="2"/>
      <dgm:spPr/>
      <dgm:t>
        <a:bodyPr/>
        <a:lstStyle/>
        <a:p>
          <a:endParaRPr lang="en-US"/>
        </a:p>
      </dgm:t>
    </dgm:pt>
    <dgm:pt modelId="{708405CE-2774-493D-B188-9B9725133FBD}" type="pres">
      <dgm:prSet presAssocID="{24B224AB-CFB6-4867-8B4E-D67E942B9807}" presName="node" presStyleLbl="node1" presStyleIdx="2" presStyleCnt="3">
        <dgm:presLayoutVars>
          <dgm:bulletEnabled val="1"/>
        </dgm:presLayoutVars>
      </dgm:prSet>
      <dgm:spPr/>
      <dgm:t>
        <a:bodyPr/>
        <a:lstStyle/>
        <a:p>
          <a:endParaRPr lang="en-US"/>
        </a:p>
      </dgm:t>
    </dgm:pt>
  </dgm:ptLst>
  <dgm:cxnLst>
    <dgm:cxn modelId="{52D68558-CA09-410D-90CE-CC4D68BC5806}" type="presOf" srcId="{0FC9D497-5494-453E-B0FD-02D889E6FADD}" destId="{C3435368-CCFA-46E8-A2D0-D16D3EBA90C3}" srcOrd="0" destOrd="0" presId="urn:microsoft.com/office/officeart/2005/8/layout/process2"/>
    <dgm:cxn modelId="{D1A426B5-93FC-4FD1-9598-A0A9D0E124CB}" type="presOf" srcId="{395230E5-CE78-4C43-80BB-C66946AB23DB}" destId="{AB1BB627-903B-4ADD-A55D-56B9932CD0F9}" srcOrd="1" destOrd="0" presId="urn:microsoft.com/office/officeart/2005/8/layout/process2"/>
    <dgm:cxn modelId="{31D50347-EC92-4160-88AD-57B0C98DD7E8}" type="presOf" srcId="{2043B1CA-1373-4A01-A53F-7CDCE0997BCE}" destId="{D76AB407-0DC2-4B95-928B-3A250777867B}" srcOrd="0" destOrd="0" presId="urn:microsoft.com/office/officeart/2005/8/layout/process2"/>
    <dgm:cxn modelId="{9B1ADF87-4FA4-4526-9D7C-E42F36C877E0}" type="presOf" srcId="{24B224AB-CFB6-4867-8B4E-D67E942B9807}" destId="{708405CE-2774-493D-B188-9B9725133FBD}" srcOrd="0" destOrd="0" presId="urn:microsoft.com/office/officeart/2005/8/layout/process2"/>
    <dgm:cxn modelId="{1EF2EE42-34F1-447F-AA25-A110A4DDD09C}" type="presOf" srcId="{395230E5-CE78-4C43-80BB-C66946AB23DB}" destId="{2049C1CA-78FE-48B5-9945-774EE7A04462}" srcOrd="0" destOrd="0" presId="urn:microsoft.com/office/officeart/2005/8/layout/process2"/>
    <dgm:cxn modelId="{99480AA7-EA83-4C65-8892-8C84039BC1AE}" type="presOf" srcId="{801E47F5-C287-46C1-A090-37DF2C80EDCC}" destId="{7213C626-6D16-4809-854B-0618BAB560D9}" srcOrd="0" destOrd="0" presId="urn:microsoft.com/office/officeart/2005/8/layout/process2"/>
    <dgm:cxn modelId="{08C09A04-37E7-4EBE-8BAE-F5DE6037917B}" srcId="{2043B1CA-1373-4A01-A53F-7CDCE0997BCE}" destId="{EF350019-8548-4147-A42B-2BDB3242C2A8}" srcOrd="1" destOrd="0" parTransId="{CF506A07-7FEF-45AE-BF5C-6B19E20CD4C4}" sibTransId="{0FC9D497-5494-453E-B0FD-02D889E6FADD}"/>
    <dgm:cxn modelId="{7B699EBE-B1D1-464F-AD2C-21E0047B7BA1}" type="presOf" srcId="{EF350019-8548-4147-A42B-2BDB3242C2A8}" destId="{19EDB6F4-05F5-404C-98E1-B90F20CCE7C7}" srcOrd="0" destOrd="0" presId="urn:microsoft.com/office/officeart/2005/8/layout/process2"/>
    <dgm:cxn modelId="{587DB9D2-022F-4C09-8A67-DBE38EA7F6B4}" srcId="{2043B1CA-1373-4A01-A53F-7CDCE0997BCE}" destId="{24B224AB-CFB6-4867-8B4E-D67E942B9807}" srcOrd="2" destOrd="0" parTransId="{44829E06-60FD-482C-8663-117A62C6A84B}" sibTransId="{2AE80BF6-8C50-4A07-B7DE-B6348AB4A040}"/>
    <dgm:cxn modelId="{7718C9C2-4C4B-4C33-83A7-5881A25544EA}" srcId="{2043B1CA-1373-4A01-A53F-7CDCE0997BCE}" destId="{801E47F5-C287-46C1-A090-37DF2C80EDCC}" srcOrd="0" destOrd="0" parTransId="{B0F244EC-E937-4A81-9FDC-4189F56378DC}" sibTransId="{395230E5-CE78-4C43-80BB-C66946AB23DB}"/>
    <dgm:cxn modelId="{A769E06D-A50B-4679-AB70-2F8E91748909}" type="presOf" srcId="{0FC9D497-5494-453E-B0FD-02D889E6FADD}" destId="{A025A66A-C4BC-4DF6-90D9-2B00F4F58F70}" srcOrd="1" destOrd="0" presId="urn:microsoft.com/office/officeart/2005/8/layout/process2"/>
    <dgm:cxn modelId="{38EF152A-9E96-40E5-8E5D-108E9C8A1933}" type="presParOf" srcId="{D76AB407-0DC2-4B95-928B-3A250777867B}" destId="{7213C626-6D16-4809-854B-0618BAB560D9}" srcOrd="0" destOrd="0" presId="urn:microsoft.com/office/officeart/2005/8/layout/process2"/>
    <dgm:cxn modelId="{7CFDBD1A-20E6-42E8-9521-9F9F24B425F8}" type="presParOf" srcId="{D76AB407-0DC2-4B95-928B-3A250777867B}" destId="{2049C1CA-78FE-48B5-9945-774EE7A04462}" srcOrd="1" destOrd="0" presId="urn:microsoft.com/office/officeart/2005/8/layout/process2"/>
    <dgm:cxn modelId="{CE05274B-4DA6-4083-9D91-F6FB77E54AEA}" type="presParOf" srcId="{2049C1CA-78FE-48B5-9945-774EE7A04462}" destId="{AB1BB627-903B-4ADD-A55D-56B9932CD0F9}" srcOrd="0" destOrd="0" presId="urn:microsoft.com/office/officeart/2005/8/layout/process2"/>
    <dgm:cxn modelId="{8CAFDAEC-E3DA-437B-A668-FE44795BA735}" type="presParOf" srcId="{D76AB407-0DC2-4B95-928B-3A250777867B}" destId="{19EDB6F4-05F5-404C-98E1-B90F20CCE7C7}" srcOrd="2" destOrd="0" presId="urn:microsoft.com/office/officeart/2005/8/layout/process2"/>
    <dgm:cxn modelId="{94384342-C858-47BC-B30B-ED55FD4E3A3B}" type="presParOf" srcId="{D76AB407-0DC2-4B95-928B-3A250777867B}" destId="{C3435368-CCFA-46E8-A2D0-D16D3EBA90C3}" srcOrd="3" destOrd="0" presId="urn:microsoft.com/office/officeart/2005/8/layout/process2"/>
    <dgm:cxn modelId="{4FF71DC7-2CF2-4C90-B497-05056A668875}" type="presParOf" srcId="{C3435368-CCFA-46E8-A2D0-D16D3EBA90C3}" destId="{A025A66A-C4BC-4DF6-90D9-2B00F4F58F70}" srcOrd="0" destOrd="0" presId="urn:microsoft.com/office/officeart/2005/8/layout/process2"/>
    <dgm:cxn modelId="{28BFEB43-55E7-427B-844F-71BEFBF3DF66}" type="presParOf" srcId="{D76AB407-0DC2-4B95-928B-3A250777867B}" destId="{708405CE-2774-493D-B188-9B9725133FBD}" srcOrd="4"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6C9DF272-71EB-4DD4-BE57-848DD46144B5}" type="doc">
      <dgm:prSet loTypeId="urn:microsoft.com/office/officeart/2005/8/layout/gear1" loCatId="cycle" qsTypeId="urn:microsoft.com/office/officeart/2005/8/quickstyle/simple2" qsCatId="simple" csTypeId="urn:microsoft.com/office/officeart/2005/8/colors/colorful2" csCatId="colorful" phldr="1"/>
      <dgm:spPr/>
    </dgm:pt>
    <dgm:pt modelId="{3456E23D-53C5-40A8-A092-E43A12D9BEFB}">
      <dgm:prSet phldrT="[Text]" custT="1"/>
      <dgm:spPr/>
      <dgm:t>
        <a:bodyPr/>
        <a:lstStyle/>
        <a:p>
          <a:r>
            <a:rPr lang="fi-FI" sz="1000" dirty="0" smtClean="0"/>
            <a:t>Projektipäällikkö</a:t>
          </a:r>
          <a:endParaRPr lang="fi-FI" sz="1000" dirty="0"/>
        </a:p>
      </dgm:t>
    </dgm:pt>
    <dgm:pt modelId="{0B3E20A3-E201-4B23-A485-028AC2548FEA}" type="parTrans" cxnId="{2B87CEDD-84C6-49C7-9AD9-AA1DEBC0FD85}">
      <dgm:prSet/>
      <dgm:spPr/>
      <dgm:t>
        <a:bodyPr/>
        <a:lstStyle/>
        <a:p>
          <a:endParaRPr lang="fi-FI"/>
        </a:p>
      </dgm:t>
    </dgm:pt>
    <dgm:pt modelId="{B1C18189-DDEB-46F2-A401-536BEF43B442}" type="sibTrans" cxnId="{2B87CEDD-84C6-49C7-9AD9-AA1DEBC0FD85}">
      <dgm:prSet/>
      <dgm:spPr/>
      <dgm:t>
        <a:bodyPr/>
        <a:lstStyle/>
        <a:p>
          <a:endParaRPr lang="fi-FI"/>
        </a:p>
      </dgm:t>
    </dgm:pt>
    <dgm:pt modelId="{C421D41D-388B-4A3B-BBDD-8F549B0CB788}">
      <dgm:prSet phldrT="[Text]" custT="1"/>
      <dgm:spPr/>
      <dgm:t>
        <a:bodyPr/>
        <a:lstStyle/>
        <a:p>
          <a:r>
            <a:rPr lang="fi-FI" sz="1000" dirty="0" smtClean="0"/>
            <a:t>Testaus-päällikkö</a:t>
          </a:r>
          <a:endParaRPr lang="fi-FI" sz="1000" dirty="0"/>
        </a:p>
      </dgm:t>
    </dgm:pt>
    <dgm:pt modelId="{F7EAD57F-B156-4F48-8784-56548496A892}" type="parTrans" cxnId="{7B1DAE28-3297-4FF4-9368-D5452A90677C}">
      <dgm:prSet/>
      <dgm:spPr/>
      <dgm:t>
        <a:bodyPr/>
        <a:lstStyle/>
        <a:p>
          <a:endParaRPr lang="fi-FI"/>
        </a:p>
      </dgm:t>
    </dgm:pt>
    <dgm:pt modelId="{6C72F9D6-266D-49C3-9EA6-1BA3B5FE8901}" type="sibTrans" cxnId="{7B1DAE28-3297-4FF4-9368-D5452A90677C}">
      <dgm:prSet/>
      <dgm:spPr/>
      <dgm:t>
        <a:bodyPr/>
        <a:lstStyle/>
        <a:p>
          <a:endParaRPr lang="fi-FI"/>
        </a:p>
      </dgm:t>
    </dgm:pt>
    <dgm:pt modelId="{556EB0AE-F809-4F2F-9C2E-FA664B560557}">
      <dgm:prSet phldrT="[Text]" custT="1"/>
      <dgm:spPr/>
      <dgm:t>
        <a:bodyPr/>
        <a:lstStyle/>
        <a:p>
          <a:r>
            <a:rPr lang="fi-FI" sz="1000" dirty="0" smtClean="0"/>
            <a:t>Liiketoiminnan testausvastaava</a:t>
          </a:r>
          <a:endParaRPr lang="fi-FI" sz="1000" dirty="0"/>
        </a:p>
      </dgm:t>
    </dgm:pt>
    <dgm:pt modelId="{A9942D3D-51C6-4F93-82D6-3BE63A53FF20}" type="parTrans" cxnId="{9329CD9F-51FF-486A-AAFA-9283977341F5}">
      <dgm:prSet/>
      <dgm:spPr/>
      <dgm:t>
        <a:bodyPr/>
        <a:lstStyle/>
        <a:p>
          <a:endParaRPr lang="fi-FI"/>
        </a:p>
      </dgm:t>
    </dgm:pt>
    <dgm:pt modelId="{E1831479-E0F7-459D-BD2B-5CAE87D324CB}" type="sibTrans" cxnId="{9329CD9F-51FF-486A-AAFA-9283977341F5}">
      <dgm:prSet/>
      <dgm:spPr/>
      <dgm:t>
        <a:bodyPr/>
        <a:lstStyle/>
        <a:p>
          <a:endParaRPr lang="fi-FI"/>
        </a:p>
      </dgm:t>
    </dgm:pt>
    <dgm:pt modelId="{7EFA49FE-03D5-4825-9FC7-0BCAA6A5983B}" type="pres">
      <dgm:prSet presAssocID="{6C9DF272-71EB-4DD4-BE57-848DD46144B5}" presName="composite" presStyleCnt="0">
        <dgm:presLayoutVars>
          <dgm:chMax val="3"/>
          <dgm:animLvl val="lvl"/>
          <dgm:resizeHandles val="exact"/>
        </dgm:presLayoutVars>
      </dgm:prSet>
      <dgm:spPr/>
    </dgm:pt>
    <dgm:pt modelId="{7BA758F6-FE12-489E-AC5B-8E9A1D1EAB53}" type="pres">
      <dgm:prSet presAssocID="{3456E23D-53C5-40A8-A092-E43A12D9BEFB}" presName="gear1" presStyleLbl="node1" presStyleIdx="0" presStyleCnt="3">
        <dgm:presLayoutVars>
          <dgm:chMax val="1"/>
          <dgm:bulletEnabled val="1"/>
        </dgm:presLayoutVars>
      </dgm:prSet>
      <dgm:spPr/>
      <dgm:t>
        <a:bodyPr/>
        <a:lstStyle/>
        <a:p>
          <a:endParaRPr lang="fi-FI"/>
        </a:p>
      </dgm:t>
    </dgm:pt>
    <dgm:pt modelId="{6823F971-CFEB-47B0-8BC5-4C6F0D32A2B7}" type="pres">
      <dgm:prSet presAssocID="{3456E23D-53C5-40A8-A092-E43A12D9BEFB}" presName="gear1srcNode" presStyleLbl="node1" presStyleIdx="0" presStyleCnt="3"/>
      <dgm:spPr/>
      <dgm:t>
        <a:bodyPr/>
        <a:lstStyle/>
        <a:p>
          <a:endParaRPr lang="en-US"/>
        </a:p>
      </dgm:t>
    </dgm:pt>
    <dgm:pt modelId="{241D3A09-8FEF-4781-AA43-A2DA96AB0789}" type="pres">
      <dgm:prSet presAssocID="{3456E23D-53C5-40A8-A092-E43A12D9BEFB}" presName="gear1dstNode" presStyleLbl="node1" presStyleIdx="0" presStyleCnt="3"/>
      <dgm:spPr/>
      <dgm:t>
        <a:bodyPr/>
        <a:lstStyle/>
        <a:p>
          <a:endParaRPr lang="en-US"/>
        </a:p>
      </dgm:t>
    </dgm:pt>
    <dgm:pt modelId="{2C39BA36-2692-41D1-8212-4202C39C30BE}" type="pres">
      <dgm:prSet presAssocID="{C421D41D-388B-4A3B-BBDD-8F549B0CB788}" presName="gear2" presStyleLbl="node1" presStyleIdx="1" presStyleCnt="3">
        <dgm:presLayoutVars>
          <dgm:chMax val="1"/>
          <dgm:bulletEnabled val="1"/>
        </dgm:presLayoutVars>
      </dgm:prSet>
      <dgm:spPr/>
      <dgm:t>
        <a:bodyPr/>
        <a:lstStyle/>
        <a:p>
          <a:endParaRPr lang="fi-FI"/>
        </a:p>
      </dgm:t>
    </dgm:pt>
    <dgm:pt modelId="{AC385AD4-FC6A-407E-B95A-7835CE7C8920}" type="pres">
      <dgm:prSet presAssocID="{C421D41D-388B-4A3B-BBDD-8F549B0CB788}" presName="gear2srcNode" presStyleLbl="node1" presStyleIdx="1" presStyleCnt="3"/>
      <dgm:spPr/>
      <dgm:t>
        <a:bodyPr/>
        <a:lstStyle/>
        <a:p>
          <a:endParaRPr lang="en-US"/>
        </a:p>
      </dgm:t>
    </dgm:pt>
    <dgm:pt modelId="{B72232C0-D0EF-47B1-B751-6BFC5DDB4D92}" type="pres">
      <dgm:prSet presAssocID="{C421D41D-388B-4A3B-BBDD-8F549B0CB788}" presName="gear2dstNode" presStyleLbl="node1" presStyleIdx="1" presStyleCnt="3"/>
      <dgm:spPr/>
      <dgm:t>
        <a:bodyPr/>
        <a:lstStyle/>
        <a:p>
          <a:endParaRPr lang="en-US"/>
        </a:p>
      </dgm:t>
    </dgm:pt>
    <dgm:pt modelId="{0E407C60-5C8E-4DB4-AD3C-A2545D44B669}" type="pres">
      <dgm:prSet presAssocID="{556EB0AE-F809-4F2F-9C2E-FA664B560557}" presName="gear3" presStyleLbl="node1" presStyleIdx="2" presStyleCnt="3"/>
      <dgm:spPr/>
      <dgm:t>
        <a:bodyPr/>
        <a:lstStyle/>
        <a:p>
          <a:endParaRPr lang="fi-FI"/>
        </a:p>
      </dgm:t>
    </dgm:pt>
    <dgm:pt modelId="{4A2BB05B-C9A2-4421-BAE9-59F06B7CAB30}" type="pres">
      <dgm:prSet presAssocID="{556EB0AE-F809-4F2F-9C2E-FA664B560557}" presName="gear3tx" presStyleLbl="node1" presStyleIdx="2" presStyleCnt="3">
        <dgm:presLayoutVars>
          <dgm:chMax val="1"/>
          <dgm:bulletEnabled val="1"/>
        </dgm:presLayoutVars>
      </dgm:prSet>
      <dgm:spPr/>
      <dgm:t>
        <a:bodyPr/>
        <a:lstStyle/>
        <a:p>
          <a:endParaRPr lang="fi-FI"/>
        </a:p>
      </dgm:t>
    </dgm:pt>
    <dgm:pt modelId="{47333AC1-C064-4AA2-9AB2-FDB395F1BFE5}" type="pres">
      <dgm:prSet presAssocID="{556EB0AE-F809-4F2F-9C2E-FA664B560557}" presName="gear3srcNode" presStyleLbl="node1" presStyleIdx="2" presStyleCnt="3"/>
      <dgm:spPr/>
      <dgm:t>
        <a:bodyPr/>
        <a:lstStyle/>
        <a:p>
          <a:endParaRPr lang="en-US"/>
        </a:p>
      </dgm:t>
    </dgm:pt>
    <dgm:pt modelId="{8FED999B-9785-45B7-BDCB-88CAA31CD4F9}" type="pres">
      <dgm:prSet presAssocID="{556EB0AE-F809-4F2F-9C2E-FA664B560557}" presName="gear3dstNode" presStyleLbl="node1" presStyleIdx="2" presStyleCnt="3"/>
      <dgm:spPr/>
      <dgm:t>
        <a:bodyPr/>
        <a:lstStyle/>
        <a:p>
          <a:endParaRPr lang="en-US"/>
        </a:p>
      </dgm:t>
    </dgm:pt>
    <dgm:pt modelId="{C99D8ED9-83CE-4DD3-A8F6-5B4ACC34C935}" type="pres">
      <dgm:prSet presAssocID="{B1C18189-DDEB-46F2-A401-536BEF43B442}" presName="connector1" presStyleLbl="sibTrans2D1" presStyleIdx="0" presStyleCnt="3"/>
      <dgm:spPr/>
      <dgm:t>
        <a:bodyPr/>
        <a:lstStyle/>
        <a:p>
          <a:endParaRPr lang="en-US"/>
        </a:p>
      </dgm:t>
    </dgm:pt>
    <dgm:pt modelId="{2F813BB1-45E0-4996-A88F-CFD1E7DF3FF0}" type="pres">
      <dgm:prSet presAssocID="{6C72F9D6-266D-49C3-9EA6-1BA3B5FE8901}" presName="connector2" presStyleLbl="sibTrans2D1" presStyleIdx="1" presStyleCnt="3"/>
      <dgm:spPr/>
      <dgm:t>
        <a:bodyPr/>
        <a:lstStyle/>
        <a:p>
          <a:endParaRPr lang="en-US"/>
        </a:p>
      </dgm:t>
    </dgm:pt>
    <dgm:pt modelId="{F5146293-EF9B-409D-86BE-008078BC3268}" type="pres">
      <dgm:prSet presAssocID="{E1831479-E0F7-459D-BD2B-5CAE87D324CB}" presName="connector3" presStyleLbl="sibTrans2D1" presStyleIdx="2" presStyleCnt="3"/>
      <dgm:spPr/>
      <dgm:t>
        <a:bodyPr/>
        <a:lstStyle/>
        <a:p>
          <a:endParaRPr lang="en-US"/>
        </a:p>
      </dgm:t>
    </dgm:pt>
  </dgm:ptLst>
  <dgm:cxnLst>
    <dgm:cxn modelId="{86A1F464-D01E-4B93-A20D-3E37BF438931}" type="presOf" srcId="{C421D41D-388B-4A3B-BBDD-8F549B0CB788}" destId="{2C39BA36-2692-41D1-8212-4202C39C30BE}" srcOrd="0" destOrd="0" presId="urn:microsoft.com/office/officeart/2005/8/layout/gear1"/>
    <dgm:cxn modelId="{2B87CEDD-84C6-49C7-9AD9-AA1DEBC0FD85}" srcId="{6C9DF272-71EB-4DD4-BE57-848DD46144B5}" destId="{3456E23D-53C5-40A8-A092-E43A12D9BEFB}" srcOrd="0" destOrd="0" parTransId="{0B3E20A3-E201-4B23-A485-028AC2548FEA}" sibTransId="{B1C18189-DDEB-46F2-A401-536BEF43B442}"/>
    <dgm:cxn modelId="{A1543F8A-4280-40DC-A67A-9BA33001ABE7}" type="presOf" srcId="{3456E23D-53C5-40A8-A092-E43A12D9BEFB}" destId="{241D3A09-8FEF-4781-AA43-A2DA96AB0789}" srcOrd="2" destOrd="0" presId="urn:microsoft.com/office/officeart/2005/8/layout/gear1"/>
    <dgm:cxn modelId="{13C5E250-2001-4CEC-B889-71C3C354E5DB}" type="presOf" srcId="{C421D41D-388B-4A3B-BBDD-8F549B0CB788}" destId="{B72232C0-D0EF-47B1-B751-6BFC5DDB4D92}" srcOrd="2" destOrd="0" presId="urn:microsoft.com/office/officeart/2005/8/layout/gear1"/>
    <dgm:cxn modelId="{0B451273-393F-40B9-8BF4-DE1430C9A02A}" type="presOf" srcId="{556EB0AE-F809-4F2F-9C2E-FA664B560557}" destId="{0E407C60-5C8E-4DB4-AD3C-A2545D44B669}" srcOrd="0" destOrd="0" presId="urn:microsoft.com/office/officeart/2005/8/layout/gear1"/>
    <dgm:cxn modelId="{B329872F-A8D1-48D6-B5A8-DE3D2D276CFC}" type="presOf" srcId="{B1C18189-DDEB-46F2-A401-536BEF43B442}" destId="{C99D8ED9-83CE-4DD3-A8F6-5B4ACC34C935}" srcOrd="0" destOrd="0" presId="urn:microsoft.com/office/officeart/2005/8/layout/gear1"/>
    <dgm:cxn modelId="{BB190A8C-470F-4EF3-B343-3A307E84BDEC}" type="presOf" srcId="{E1831479-E0F7-459D-BD2B-5CAE87D324CB}" destId="{F5146293-EF9B-409D-86BE-008078BC3268}" srcOrd="0" destOrd="0" presId="urn:microsoft.com/office/officeart/2005/8/layout/gear1"/>
    <dgm:cxn modelId="{0E124290-F0B5-4010-A508-DD4312C1945E}" type="presOf" srcId="{556EB0AE-F809-4F2F-9C2E-FA664B560557}" destId="{8FED999B-9785-45B7-BDCB-88CAA31CD4F9}" srcOrd="3" destOrd="0" presId="urn:microsoft.com/office/officeart/2005/8/layout/gear1"/>
    <dgm:cxn modelId="{2892AF15-C7EB-4DA9-839A-736BC8092996}" type="presOf" srcId="{6C72F9D6-266D-49C3-9EA6-1BA3B5FE8901}" destId="{2F813BB1-45E0-4996-A88F-CFD1E7DF3FF0}" srcOrd="0" destOrd="0" presId="urn:microsoft.com/office/officeart/2005/8/layout/gear1"/>
    <dgm:cxn modelId="{9329CD9F-51FF-486A-AAFA-9283977341F5}" srcId="{6C9DF272-71EB-4DD4-BE57-848DD46144B5}" destId="{556EB0AE-F809-4F2F-9C2E-FA664B560557}" srcOrd="2" destOrd="0" parTransId="{A9942D3D-51C6-4F93-82D6-3BE63A53FF20}" sibTransId="{E1831479-E0F7-459D-BD2B-5CAE87D324CB}"/>
    <dgm:cxn modelId="{7B1DAE28-3297-4FF4-9368-D5452A90677C}" srcId="{6C9DF272-71EB-4DD4-BE57-848DD46144B5}" destId="{C421D41D-388B-4A3B-BBDD-8F549B0CB788}" srcOrd="1" destOrd="0" parTransId="{F7EAD57F-B156-4F48-8784-56548496A892}" sibTransId="{6C72F9D6-266D-49C3-9EA6-1BA3B5FE8901}"/>
    <dgm:cxn modelId="{7AE8C023-6B5F-4E61-8FDC-C66D58253EED}" type="presOf" srcId="{556EB0AE-F809-4F2F-9C2E-FA664B560557}" destId="{47333AC1-C064-4AA2-9AB2-FDB395F1BFE5}" srcOrd="2" destOrd="0" presId="urn:microsoft.com/office/officeart/2005/8/layout/gear1"/>
    <dgm:cxn modelId="{629E48F5-F363-4E24-AE20-6DEB5AC07D87}" type="presOf" srcId="{6C9DF272-71EB-4DD4-BE57-848DD46144B5}" destId="{7EFA49FE-03D5-4825-9FC7-0BCAA6A5983B}" srcOrd="0" destOrd="0" presId="urn:microsoft.com/office/officeart/2005/8/layout/gear1"/>
    <dgm:cxn modelId="{6997C9F7-530B-46A5-BAB3-95C195BE3D2F}" type="presOf" srcId="{C421D41D-388B-4A3B-BBDD-8F549B0CB788}" destId="{AC385AD4-FC6A-407E-B95A-7835CE7C8920}" srcOrd="1" destOrd="0" presId="urn:microsoft.com/office/officeart/2005/8/layout/gear1"/>
    <dgm:cxn modelId="{485FF047-9F7F-4FF8-8077-714C8D8F3B2C}" type="presOf" srcId="{3456E23D-53C5-40A8-A092-E43A12D9BEFB}" destId="{6823F971-CFEB-47B0-8BC5-4C6F0D32A2B7}" srcOrd="1" destOrd="0" presId="urn:microsoft.com/office/officeart/2005/8/layout/gear1"/>
    <dgm:cxn modelId="{BA1A6EB7-A882-4291-9117-3DAF36CBF9AA}" type="presOf" srcId="{3456E23D-53C5-40A8-A092-E43A12D9BEFB}" destId="{7BA758F6-FE12-489E-AC5B-8E9A1D1EAB53}" srcOrd="0" destOrd="0" presId="urn:microsoft.com/office/officeart/2005/8/layout/gear1"/>
    <dgm:cxn modelId="{8FFF2BD1-95B5-4CDC-84F1-EA6E82A08B1A}" type="presOf" srcId="{556EB0AE-F809-4F2F-9C2E-FA664B560557}" destId="{4A2BB05B-C9A2-4421-BAE9-59F06B7CAB30}" srcOrd="1" destOrd="0" presId="urn:microsoft.com/office/officeart/2005/8/layout/gear1"/>
    <dgm:cxn modelId="{F3A4FA81-32C3-4E52-B8B5-4E1531527F8E}" type="presParOf" srcId="{7EFA49FE-03D5-4825-9FC7-0BCAA6A5983B}" destId="{7BA758F6-FE12-489E-AC5B-8E9A1D1EAB53}" srcOrd="0" destOrd="0" presId="urn:microsoft.com/office/officeart/2005/8/layout/gear1"/>
    <dgm:cxn modelId="{5F78E77F-BE86-4E39-93A1-8C4055080C78}" type="presParOf" srcId="{7EFA49FE-03D5-4825-9FC7-0BCAA6A5983B}" destId="{6823F971-CFEB-47B0-8BC5-4C6F0D32A2B7}" srcOrd="1" destOrd="0" presId="urn:microsoft.com/office/officeart/2005/8/layout/gear1"/>
    <dgm:cxn modelId="{C738266F-2872-435C-8E4C-B4D237E9D07E}" type="presParOf" srcId="{7EFA49FE-03D5-4825-9FC7-0BCAA6A5983B}" destId="{241D3A09-8FEF-4781-AA43-A2DA96AB0789}" srcOrd="2" destOrd="0" presId="urn:microsoft.com/office/officeart/2005/8/layout/gear1"/>
    <dgm:cxn modelId="{6E581018-F80C-4D8E-A829-3B7E9EB55679}" type="presParOf" srcId="{7EFA49FE-03D5-4825-9FC7-0BCAA6A5983B}" destId="{2C39BA36-2692-41D1-8212-4202C39C30BE}" srcOrd="3" destOrd="0" presId="urn:microsoft.com/office/officeart/2005/8/layout/gear1"/>
    <dgm:cxn modelId="{8724A6A0-1F24-4D68-BC0A-D535650475B7}" type="presParOf" srcId="{7EFA49FE-03D5-4825-9FC7-0BCAA6A5983B}" destId="{AC385AD4-FC6A-407E-B95A-7835CE7C8920}" srcOrd="4" destOrd="0" presId="urn:microsoft.com/office/officeart/2005/8/layout/gear1"/>
    <dgm:cxn modelId="{5CD4A004-0545-42A3-95FD-9B672FE7A6AC}" type="presParOf" srcId="{7EFA49FE-03D5-4825-9FC7-0BCAA6A5983B}" destId="{B72232C0-D0EF-47B1-B751-6BFC5DDB4D92}" srcOrd="5" destOrd="0" presId="urn:microsoft.com/office/officeart/2005/8/layout/gear1"/>
    <dgm:cxn modelId="{7F48D19D-9627-436E-A011-C5ECDA800ABC}" type="presParOf" srcId="{7EFA49FE-03D5-4825-9FC7-0BCAA6A5983B}" destId="{0E407C60-5C8E-4DB4-AD3C-A2545D44B669}" srcOrd="6" destOrd="0" presId="urn:microsoft.com/office/officeart/2005/8/layout/gear1"/>
    <dgm:cxn modelId="{BDF19318-0B9D-44F8-8D27-46D9BC479FEB}" type="presParOf" srcId="{7EFA49FE-03D5-4825-9FC7-0BCAA6A5983B}" destId="{4A2BB05B-C9A2-4421-BAE9-59F06B7CAB30}" srcOrd="7" destOrd="0" presId="urn:microsoft.com/office/officeart/2005/8/layout/gear1"/>
    <dgm:cxn modelId="{643D3A9C-49EA-4BD1-B15E-CD54752C191A}" type="presParOf" srcId="{7EFA49FE-03D5-4825-9FC7-0BCAA6A5983B}" destId="{47333AC1-C064-4AA2-9AB2-FDB395F1BFE5}" srcOrd="8" destOrd="0" presId="urn:microsoft.com/office/officeart/2005/8/layout/gear1"/>
    <dgm:cxn modelId="{864D0874-70DA-4785-B55A-16DB5F805CE8}" type="presParOf" srcId="{7EFA49FE-03D5-4825-9FC7-0BCAA6A5983B}" destId="{8FED999B-9785-45B7-BDCB-88CAA31CD4F9}" srcOrd="9" destOrd="0" presId="urn:microsoft.com/office/officeart/2005/8/layout/gear1"/>
    <dgm:cxn modelId="{2EF13C4A-AE63-4502-B976-A2A169562DE1}" type="presParOf" srcId="{7EFA49FE-03D5-4825-9FC7-0BCAA6A5983B}" destId="{C99D8ED9-83CE-4DD3-A8F6-5B4ACC34C935}" srcOrd="10" destOrd="0" presId="urn:microsoft.com/office/officeart/2005/8/layout/gear1"/>
    <dgm:cxn modelId="{5C10A2E2-66BD-4DDC-B176-B7543C54C00C}" type="presParOf" srcId="{7EFA49FE-03D5-4825-9FC7-0BCAA6A5983B}" destId="{2F813BB1-45E0-4996-A88F-CFD1E7DF3FF0}" srcOrd="11" destOrd="0" presId="urn:microsoft.com/office/officeart/2005/8/layout/gear1"/>
    <dgm:cxn modelId="{8738E584-9122-472E-875E-751403E3B188}" type="presParOf" srcId="{7EFA49FE-03D5-4825-9FC7-0BCAA6A5983B}" destId="{F5146293-EF9B-409D-86BE-008078BC3268}" srcOrd="12" destOrd="0" presId="urn:microsoft.com/office/officeart/2005/8/layout/gear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E3DBBE4C-E9B6-4BB4-9A96-DCB67BDC3109}" type="doc">
      <dgm:prSet loTypeId="urn:microsoft.com/office/officeart/2005/8/layout/hList1" loCatId="list" qsTypeId="urn:microsoft.com/office/officeart/2005/8/quickstyle/simple1" qsCatId="simple" csTypeId="urn:microsoft.com/office/officeart/2005/8/colors/colorful1#19" csCatId="colorful" phldr="1"/>
      <dgm:spPr/>
      <dgm:t>
        <a:bodyPr/>
        <a:lstStyle/>
        <a:p>
          <a:endParaRPr lang="fi-FI"/>
        </a:p>
      </dgm:t>
    </dgm:pt>
    <dgm:pt modelId="{2B78EEA2-3E9E-453D-A3E7-BA7697F65F35}">
      <dgm:prSet custT="1"/>
      <dgm:spPr/>
      <dgm:t>
        <a:bodyPr/>
        <a:lstStyle/>
        <a:p>
          <a:pPr rtl="0"/>
          <a:r>
            <a:rPr lang="fi-FI" sz="800" dirty="0" smtClean="0"/>
            <a:t>Testaussuunnitteluun valmistautuminen (pakolliset varhaiset teemat)</a:t>
          </a:r>
          <a:endParaRPr lang="fi-FI" sz="800" dirty="0"/>
        </a:p>
      </dgm:t>
    </dgm:pt>
    <dgm:pt modelId="{9F5A3DF3-EE8D-481F-B937-EA593A09C150}" type="parTrans" cxnId="{500056EF-771D-49E0-A2FA-8DAB064A462F}">
      <dgm:prSet/>
      <dgm:spPr/>
      <dgm:t>
        <a:bodyPr/>
        <a:lstStyle/>
        <a:p>
          <a:endParaRPr lang="fi-FI"/>
        </a:p>
      </dgm:t>
    </dgm:pt>
    <dgm:pt modelId="{228FC06C-3F7D-4B3E-B528-CE84F63C1489}" type="sibTrans" cxnId="{500056EF-771D-49E0-A2FA-8DAB064A462F}">
      <dgm:prSet/>
      <dgm:spPr/>
      <dgm:t>
        <a:bodyPr/>
        <a:lstStyle/>
        <a:p>
          <a:endParaRPr lang="fi-FI"/>
        </a:p>
      </dgm:t>
    </dgm:pt>
    <dgm:pt modelId="{77B2BA16-CE2E-4FE7-847C-4A96E977EAC7}">
      <dgm:prSet/>
      <dgm:spPr/>
      <dgm:t>
        <a:bodyPr/>
        <a:lstStyle/>
        <a:p>
          <a:pPr rtl="0"/>
          <a:r>
            <a:rPr lang="fi-FI" dirty="0" smtClean="0"/>
            <a:t>Toimituserät</a:t>
          </a:r>
          <a:endParaRPr lang="fi-FI" dirty="0"/>
        </a:p>
      </dgm:t>
    </dgm:pt>
    <dgm:pt modelId="{EFB2A0E3-5612-401B-96DC-1711BBAA295D}" type="parTrans" cxnId="{60E545B1-7B6A-46D6-8AF1-39F05DEFAF8F}">
      <dgm:prSet/>
      <dgm:spPr/>
      <dgm:t>
        <a:bodyPr/>
        <a:lstStyle/>
        <a:p>
          <a:endParaRPr lang="fi-FI"/>
        </a:p>
      </dgm:t>
    </dgm:pt>
    <dgm:pt modelId="{5AAD1A87-4712-446E-AE44-86C60D92A7AD}" type="sibTrans" cxnId="{60E545B1-7B6A-46D6-8AF1-39F05DEFAF8F}">
      <dgm:prSet/>
      <dgm:spPr/>
      <dgm:t>
        <a:bodyPr/>
        <a:lstStyle/>
        <a:p>
          <a:endParaRPr lang="fi-FI"/>
        </a:p>
      </dgm:t>
    </dgm:pt>
    <dgm:pt modelId="{990859F4-9C6E-450C-BA56-462CBFE80C2C}">
      <dgm:prSet/>
      <dgm:spPr/>
      <dgm:t>
        <a:bodyPr/>
        <a:lstStyle/>
        <a:p>
          <a:pPr rtl="0"/>
          <a:r>
            <a:rPr lang="fi-FI" dirty="0" smtClean="0"/>
            <a:t>Loppu HT:n kesto</a:t>
          </a:r>
          <a:endParaRPr lang="fi-FI" dirty="0"/>
        </a:p>
      </dgm:t>
    </dgm:pt>
    <dgm:pt modelId="{501A1E97-E2A3-4C82-86EC-C73C887C997C}" type="parTrans" cxnId="{0AB0A912-71E4-429A-A76C-DD365B2EE488}">
      <dgm:prSet/>
      <dgm:spPr/>
      <dgm:t>
        <a:bodyPr/>
        <a:lstStyle/>
        <a:p>
          <a:endParaRPr lang="fi-FI"/>
        </a:p>
      </dgm:t>
    </dgm:pt>
    <dgm:pt modelId="{BF720849-D017-481C-AC15-1F23C957102E}" type="sibTrans" cxnId="{0AB0A912-71E4-429A-A76C-DD365B2EE488}">
      <dgm:prSet/>
      <dgm:spPr/>
      <dgm:t>
        <a:bodyPr/>
        <a:lstStyle/>
        <a:p>
          <a:endParaRPr lang="fi-FI"/>
        </a:p>
      </dgm:t>
    </dgm:pt>
    <dgm:pt modelId="{4D37A45E-E9E4-4D77-88E7-42B9541EC6F6}">
      <dgm:prSet/>
      <dgm:spPr/>
      <dgm:t>
        <a:bodyPr/>
        <a:lstStyle/>
        <a:p>
          <a:pPr rtl="0"/>
          <a:r>
            <a:rPr lang="fi-FI" dirty="0" smtClean="0"/>
            <a:t>Osahyväksyntämahdollisuuksien luominen</a:t>
          </a:r>
          <a:endParaRPr lang="fi-FI" dirty="0"/>
        </a:p>
      </dgm:t>
    </dgm:pt>
    <dgm:pt modelId="{5421FA4F-6B61-4691-94E1-EEDD5C89ABA6}" type="parTrans" cxnId="{4B0C9862-1164-48EC-B931-8940B337756F}">
      <dgm:prSet/>
      <dgm:spPr/>
      <dgm:t>
        <a:bodyPr/>
        <a:lstStyle/>
        <a:p>
          <a:endParaRPr lang="fi-FI"/>
        </a:p>
      </dgm:t>
    </dgm:pt>
    <dgm:pt modelId="{650CFD70-A547-4769-B58C-9813E77E63F6}" type="sibTrans" cxnId="{4B0C9862-1164-48EC-B931-8940B337756F}">
      <dgm:prSet/>
      <dgm:spPr/>
      <dgm:t>
        <a:bodyPr/>
        <a:lstStyle/>
        <a:p>
          <a:endParaRPr lang="fi-FI"/>
        </a:p>
      </dgm:t>
    </dgm:pt>
    <dgm:pt modelId="{6487B693-DC1E-4551-B30F-02CBF9C7AA8E}">
      <dgm:prSet/>
      <dgm:spPr/>
      <dgm:t>
        <a:bodyPr/>
        <a:lstStyle/>
        <a:p>
          <a:pPr rtl="0"/>
          <a:r>
            <a:rPr lang="fi-FI" dirty="0" smtClean="0"/>
            <a:t>Toimittajalta vaadittava testaus &amp; muu palvelu</a:t>
          </a:r>
          <a:endParaRPr lang="fi-FI" dirty="0"/>
        </a:p>
      </dgm:t>
    </dgm:pt>
    <dgm:pt modelId="{2536085B-3568-4931-9A21-20A43BADE1F9}" type="parTrans" cxnId="{892183BE-E1AF-4A5C-9455-E37D4DD65757}">
      <dgm:prSet/>
      <dgm:spPr/>
      <dgm:t>
        <a:bodyPr/>
        <a:lstStyle/>
        <a:p>
          <a:endParaRPr lang="fi-FI"/>
        </a:p>
      </dgm:t>
    </dgm:pt>
    <dgm:pt modelId="{E2C45A00-4C35-41B4-A85A-26F9A030FFCB}" type="sibTrans" cxnId="{892183BE-E1AF-4A5C-9455-E37D4DD65757}">
      <dgm:prSet/>
      <dgm:spPr/>
      <dgm:t>
        <a:bodyPr/>
        <a:lstStyle/>
        <a:p>
          <a:endParaRPr lang="fi-FI"/>
        </a:p>
      </dgm:t>
    </dgm:pt>
    <dgm:pt modelId="{97370F8C-9D94-4BE8-A333-87D8BEA82F50}">
      <dgm:prSet/>
      <dgm:spPr/>
      <dgm:t>
        <a:bodyPr/>
        <a:lstStyle/>
        <a:p>
          <a:pPr rtl="0"/>
          <a:r>
            <a:rPr lang="fi-FI" dirty="0" smtClean="0"/>
            <a:t>Muualta tilattavat testaukset</a:t>
          </a:r>
          <a:endParaRPr lang="fi-FI" dirty="0"/>
        </a:p>
      </dgm:t>
    </dgm:pt>
    <dgm:pt modelId="{F9AA3644-0BC4-4506-BFAF-3B19BEC52F31}" type="parTrans" cxnId="{A34E58D9-E9D7-4AD7-9784-940C4D847FA5}">
      <dgm:prSet/>
      <dgm:spPr/>
      <dgm:t>
        <a:bodyPr/>
        <a:lstStyle/>
        <a:p>
          <a:endParaRPr lang="fi-FI"/>
        </a:p>
      </dgm:t>
    </dgm:pt>
    <dgm:pt modelId="{44C3C512-2ED9-421C-97FD-4CCC66B6D2FC}" type="sibTrans" cxnId="{A34E58D9-E9D7-4AD7-9784-940C4D847FA5}">
      <dgm:prSet/>
      <dgm:spPr/>
      <dgm:t>
        <a:bodyPr/>
        <a:lstStyle/>
        <a:p>
          <a:endParaRPr lang="fi-FI"/>
        </a:p>
      </dgm:t>
    </dgm:pt>
    <dgm:pt modelId="{80267F03-5C5B-44C0-B5FF-091F4DD638A9}">
      <dgm:prSet/>
      <dgm:spPr/>
      <dgm:t>
        <a:bodyPr/>
        <a:lstStyle/>
        <a:p>
          <a:pPr rtl="0"/>
          <a:r>
            <a:rPr lang="fi-FI" dirty="0" smtClean="0"/>
            <a:t>Ympäristön eheyttämiseen liittyvät toimet</a:t>
          </a:r>
          <a:endParaRPr lang="fi-FI" dirty="0"/>
        </a:p>
      </dgm:t>
    </dgm:pt>
    <dgm:pt modelId="{676ED32B-45D0-47E9-93E4-C341B4D3AD3F}" type="parTrans" cxnId="{5520806D-1BCC-4369-A65E-DD53927304C3}">
      <dgm:prSet/>
      <dgm:spPr/>
      <dgm:t>
        <a:bodyPr/>
        <a:lstStyle/>
        <a:p>
          <a:endParaRPr lang="fi-FI"/>
        </a:p>
      </dgm:t>
    </dgm:pt>
    <dgm:pt modelId="{A6D50A9D-5657-4712-ACD4-D32C717FE809}" type="sibTrans" cxnId="{5520806D-1BCC-4369-A65E-DD53927304C3}">
      <dgm:prSet/>
      <dgm:spPr/>
      <dgm:t>
        <a:bodyPr/>
        <a:lstStyle/>
        <a:p>
          <a:endParaRPr lang="fi-FI"/>
        </a:p>
      </dgm:t>
    </dgm:pt>
    <dgm:pt modelId="{3E6D530E-CAA1-4C14-95D4-266503000562}">
      <dgm:prSet custT="1"/>
      <dgm:spPr/>
      <dgm:t>
        <a:bodyPr/>
        <a:lstStyle/>
        <a:p>
          <a:pPr rtl="0"/>
          <a:r>
            <a:rPr lang="fi-FI" sz="800" dirty="0" smtClean="0"/>
            <a:t>Kokonaistestaussuunnittelu (toimittajan ohjaaminen, työpaja + katselmointi)</a:t>
          </a:r>
          <a:endParaRPr lang="fi-FI" sz="800" dirty="0"/>
        </a:p>
      </dgm:t>
    </dgm:pt>
    <dgm:pt modelId="{D65EB6FD-0808-45C4-A55D-C8534F9318C6}" type="parTrans" cxnId="{48C6ADE2-FEBA-4B29-ADE0-EBDD6EE727E9}">
      <dgm:prSet/>
      <dgm:spPr/>
      <dgm:t>
        <a:bodyPr/>
        <a:lstStyle/>
        <a:p>
          <a:endParaRPr lang="fi-FI"/>
        </a:p>
      </dgm:t>
    </dgm:pt>
    <dgm:pt modelId="{5CA5E636-A696-42AC-A5E1-DEDEBDFD5BB5}" type="sibTrans" cxnId="{48C6ADE2-FEBA-4B29-ADE0-EBDD6EE727E9}">
      <dgm:prSet/>
      <dgm:spPr/>
      <dgm:t>
        <a:bodyPr/>
        <a:lstStyle/>
        <a:p>
          <a:endParaRPr lang="fi-FI"/>
        </a:p>
      </dgm:t>
    </dgm:pt>
    <dgm:pt modelId="{512B5FA1-4B52-4354-AAE5-30020E4EB6C8}">
      <dgm:prSet/>
      <dgm:spPr/>
      <dgm:t>
        <a:bodyPr/>
        <a:lstStyle/>
        <a:p>
          <a:pPr rtl="0"/>
          <a:r>
            <a:rPr lang="fi-FI" dirty="0" smtClean="0"/>
            <a:t>Aikataulut ja riippuvuudet muihin osatoimituksiin</a:t>
          </a:r>
          <a:endParaRPr lang="fi-FI" dirty="0"/>
        </a:p>
      </dgm:t>
    </dgm:pt>
    <dgm:pt modelId="{FECB6464-D14D-48E9-BDD1-9368C998DBE9}" type="parTrans" cxnId="{FC4F5A31-2C3A-4200-8F86-66A61D400D1D}">
      <dgm:prSet/>
      <dgm:spPr/>
      <dgm:t>
        <a:bodyPr/>
        <a:lstStyle/>
        <a:p>
          <a:endParaRPr lang="fi-FI"/>
        </a:p>
      </dgm:t>
    </dgm:pt>
    <dgm:pt modelId="{48CCD3B9-A748-4D6D-A119-E3D08F1F252B}" type="sibTrans" cxnId="{FC4F5A31-2C3A-4200-8F86-66A61D400D1D}">
      <dgm:prSet/>
      <dgm:spPr/>
      <dgm:t>
        <a:bodyPr/>
        <a:lstStyle/>
        <a:p>
          <a:endParaRPr lang="fi-FI"/>
        </a:p>
      </dgm:t>
    </dgm:pt>
    <dgm:pt modelId="{4317E780-3231-4CF5-85DE-847C0C5CE0B2}">
      <dgm:prSet/>
      <dgm:spPr/>
      <dgm:t>
        <a:bodyPr/>
        <a:lstStyle/>
        <a:p>
          <a:pPr rtl="0"/>
          <a:r>
            <a:rPr lang="fi-FI" dirty="0" smtClean="0"/>
            <a:t>Testaustasojen käytännön merkitykset</a:t>
          </a:r>
          <a:endParaRPr lang="fi-FI" dirty="0"/>
        </a:p>
      </dgm:t>
    </dgm:pt>
    <dgm:pt modelId="{88BE2D35-8A00-4F9F-8B0D-6283854E20F1}" type="parTrans" cxnId="{0F2D7856-33ED-4DAC-829F-D3E993BE3555}">
      <dgm:prSet/>
      <dgm:spPr/>
      <dgm:t>
        <a:bodyPr/>
        <a:lstStyle/>
        <a:p>
          <a:endParaRPr lang="fi-FI"/>
        </a:p>
      </dgm:t>
    </dgm:pt>
    <dgm:pt modelId="{62977A43-67CC-4442-8418-700826FFDFEF}" type="sibTrans" cxnId="{0F2D7856-33ED-4DAC-829F-D3E993BE3555}">
      <dgm:prSet/>
      <dgm:spPr/>
      <dgm:t>
        <a:bodyPr/>
        <a:lstStyle/>
        <a:p>
          <a:endParaRPr lang="fi-FI"/>
        </a:p>
      </dgm:t>
    </dgm:pt>
    <dgm:pt modelId="{D062FAAB-6061-4034-8EEB-D8706E9A14C3}">
      <dgm:prSet/>
      <dgm:spPr/>
      <dgm:t>
        <a:bodyPr/>
        <a:lstStyle/>
        <a:p>
          <a:pPr rtl="0"/>
          <a:r>
            <a:rPr lang="fi-FI" dirty="0" smtClean="0"/>
            <a:t>Ei-toiminnalliset testaukset (suorituskyky, tietoturva, luotettavuus, käyttöoikeudet)</a:t>
          </a:r>
          <a:endParaRPr lang="fi-FI" dirty="0"/>
        </a:p>
      </dgm:t>
    </dgm:pt>
    <dgm:pt modelId="{E54F5CD4-ECB0-4E77-8035-1530185FB65F}" type="parTrans" cxnId="{3395C31C-2D46-4F70-8013-B48C79C5D085}">
      <dgm:prSet/>
      <dgm:spPr/>
      <dgm:t>
        <a:bodyPr/>
        <a:lstStyle/>
        <a:p>
          <a:endParaRPr lang="fi-FI"/>
        </a:p>
      </dgm:t>
    </dgm:pt>
    <dgm:pt modelId="{507CAF28-DA88-47C4-89A6-40FD7A1F2B38}" type="sibTrans" cxnId="{3395C31C-2D46-4F70-8013-B48C79C5D085}">
      <dgm:prSet/>
      <dgm:spPr/>
      <dgm:t>
        <a:bodyPr/>
        <a:lstStyle/>
        <a:p>
          <a:endParaRPr lang="fi-FI"/>
        </a:p>
      </dgm:t>
    </dgm:pt>
    <dgm:pt modelId="{A540D7FC-ABF4-45C7-B667-16F9758E82D3}">
      <dgm:prSet/>
      <dgm:spPr/>
      <dgm:t>
        <a:bodyPr/>
        <a:lstStyle/>
        <a:p>
          <a:pPr rtl="0"/>
          <a:r>
            <a:rPr lang="fi-FI" dirty="0" smtClean="0"/>
            <a:t>Testauksen ja havaintojen hallinnan välineet, muu dokumentaatio</a:t>
          </a:r>
          <a:endParaRPr lang="fi-FI" dirty="0"/>
        </a:p>
      </dgm:t>
    </dgm:pt>
    <dgm:pt modelId="{C3772F8A-E347-4EA8-ACD9-233E49437105}" type="parTrans" cxnId="{CC39DBD2-E973-4729-95BE-C339CEFE3B0F}">
      <dgm:prSet/>
      <dgm:spPr/>
      <dgm:t>
        <a:bodyPr/>
        <a:lstStyle/>
        <a:p>
          <a:endParaRPr lang="fi-FI"/>
        </a:p>
      </dgm:t>
    </dgm:pt>
    <dgm:pt modelId="{A56B0E2B-6049-4A73-9B8C-29C586F9E122}" type="sibTrans" cxnId="{CC39DBD2-E973-4729-95BE-C339CEFE3B0F}">
      <dgm:prSet/>
      <dgm:spPr/>
      <dgm:t>
        <a:bodyPr/>
        <a:lstStyle/>
        <a:p>
          <a:endParaRPr lang="fi-FI"/>
        </a:p>
      </dgm:t>
    </dgm:pt>
    <dgm:pt modelId="{1F57822C-2F0D-4CA1-97F6-6FE9AC610AB4}">
      <dgm:prSet/>
      <dgm:spPr/>
      <dgm:t>
        <a:bodyPr/>
        <a:lstStyle/>
        <a:p>
          <a:pPr rtl="0"/>
          <a:r>
            <a:rPr lang="fi-FI" dirty="0" smtClean="0"/>
            <a:t>Testiympäristöt, oikeudet ja aineistot</a:t>
          </a:r>
          <a:endParaRPr lang="fi-FI" dirty="0"/>
        </a:p>
      </dgm:t>
    </dgm:pt>
    <dgm:pt modelId="{A5832140-9F52-493C-BDA0-1E59E0F10132}" type="parTrans" cxnId="{50712E49-C66C-4D75-9BB9-8E5804AD555B}">
      <dgm:prSet/>
      <dgm:spPr/>
      <dgm:t>
        <a:bodyPr/>
        <a:lstStyle/>
        <a:p>
          <a:endParaRPr lang="fi-FI"/>
        </a:p>
      </dgm:t>
    </dgm:pt>
    <dgm:pt modelId="{C769D3C0-C34F-46DD-A26D-43BA2DEA06B6}" type="sibTrans" cxnId="{50712E49-C66C-4D75-9BB9-8E5804AD555B}">
      <dgm:prSet/>
      <dgm:spPr/>
      <dgm:t>
        <a:bodyPr/>
        <a:lstStyle/>
        <a:p>
          <a:endParaRPr lang="fi-FI"/>
        </a:p>
      </dgm:t>
    </dgm:pt>
    <dgm:pt modelId="{5B346295-C178-4725-842E-70252447D3B0}">
      <dgm:prSet/>
      <dgm:spPr/>
      <dgm:t>
        <a:bodyPr/>
        <a:lstStyle/>
        <a:p>
          <a:pPr rtl="0"/>
          <a:r>
            <a:rPr lang="fi-FI" dirty="0" smtClean="0"/>
            <a:t>Ohjausryhmäpäätöksenteko testaukseen liittyen</a:t>
          </a:r>
          <a:endParaRPr lang="fi-FI" dirty="0"/>
        </a:p>
      </dgm:t>
    </dgm:pt>
    <dgm:pt modelId="{8690D7C4-8DF2-427A-AC63-B498F801BC43}" type="parTrans" cxnId="{FC70CD3B-D784-4770-9B66-613980F1CCE9}">
      <dgm:prSet/>
      <dgm:spPr/>
      <dgm:t>
        <a:bodyPr/>
        <a:lstStyle/>
        <a:p>
          <a:endParaRPr lang="fi-FI"/>
        </a:p>
      </dgm:t>
    </dgm:pt>
    <dgm:pt modelId="{90F90DD4-FDCE-47FE-9A74-F97F9AD5FE88}" type="sibTrans" cxnId="{FC70CD3B-D784-4770-9B66-613980F1CCE9}">
      <dgm:prSet/>
      <dgm:spPr/>
      <dgm:t>
        <a:bodyPr/>
        <a:lstStyle/>
        <a:p>
          <a:endParaRPr lang="fi-FI"/>
        </a:p>
      </dgm:t>
    </dgm:pt>
    <dgm:pt modelId="{6A9FE0BC-4B53-48CC-980F-54B137416359}">
      <dgm:prSet/>
      <dgm:spPr/>
      <dgm:t>
        <a:bodyPr/>
        <a:lstStyle/>
        <a:p>
          <a:pPr rtl="0"/>
          <a:r>
            <a:rPr lang="fi-FI" dirty="0" smtClean="0"/>
            <a:t>Testauksen tehtäväsuunnittelu ja testaustyömäärien hallittavuus</a:t>
          </a:r>
          <a:endParaRPr lang="fi-FI" dirty="0"/>
        </a:p>
      </dgm:t>
    </dgm:pt>
    <dgm:pt modelId="{0EBDCF13-BEC0-46CF-8D27-68811F7B8E0E}" type="parTrans" cxnId="{66DE9C6A-99DD-424B-B09E-74715429827E}">
      <dgm:prSet/>
      <dgm:spPr/>
      <dgm:t>
        <a:bodyPr/>
        <a:lstStyle/>
        <a:p>
          <a:endParaRPr lang="fi-FI"/>
        </a:p>
      </dgm:t>
    </dgm:pt>
    <dgm:pt modelId="{43C987BF-41B9-498B-8EC5-9BCB395174B6}" type="sibTrans" cxnId="{66DE9C6A-99DD-424B-B09E-74715429827E}">
      <dgm:prSet/>
      <dgm:spPr/>
      <dgm:t>
        <a:bodyPr/>
        <a:lstStyle/>
        <a:p>
          <a:endParaRPr lang="fi-FI"/>
        </a:p>
      </dgm:t>
    </dgm:pt>
    <dgm:pt modelId="{CE5D7623-D01A-493D-AE5A-48E2643136F9}">
      <dgm:prSet/>
      <dgm:spPr/>
      <dgm:t>
        <a:bodyPr/>
        <a:lstStyle/>
        <a:p>
          <a:pPr rtl="0"/>
          <a:r>
            <a:rPr lang="fi-FI" dirty="0" smtClean="0"/>
            <a:t>Testauksen vastuut ja yhteistyömalli</a:t>
          </a:r>
          <a:endParaRPr lang="fi-FI" dirty="0"/>
        </a:p>
      </dgm:t>
    </dgm:pt>
    <dgm:pt modelId="{07D3EA7E-EC2B-4726-A238-23CD2FD96D3B}" type="parTrans" cxnId="{B99D7A6E-42F8-46A0-8AFF-2F24372EF7D3}">
      <dgm:prSet/>
      <dgm:spPr/>
      <dgm:t>
        <a:bodyPr/>
        <a:lstStyle/>
        <a:p>
          <a:endParaRPr lang="fi-FI"/>
        </a:p>
      </dgm:t>
    </dgm:pt>
    <dgm:pt modelId="{CB031AE2-FA0F-4124-8266-A451FAB276F3}" type="sibTrans" cxnId="{B99D7A6E-42F8-46A0-8AFF-2F24372EF7D3}">
      <dgm:prSet/>
      <dgm:spPr/>
      <dgm:t>
        <a:bodyPr/>
        <a:lstStyle/>
        <a:p>
          <a:endParaRPr lang="fi-FI"/>
        </a:p>
      </dgm:t>
    </dgm:pt>
    <dgm:pt modelId="{56149251-EBA5-4D14-96F3-C2B7CD2AAA73}">
      <dgm:prSet/>
      <dgm:spPr/>
      <dgm:t>
        <a:bodyPr/>
        <a:lstStyle/>
        <a:p>
          <a:pPr rtl="0"/>
          <a:r>
            <a:rPr lang="fi-FI" dirty="0" smtClean="0"/>
            <a:t>Uusien versioiden toimittaminen ja tiedottaminen</a:t>
          </a:r>
          <a:endParaRPr lang="fi-FI" dirty="0"/>
        </a:p>
      </dgm:t>
    </dgm:pt>
    <dgm:pt modelId="{3482DC9D-9D6C-4721-AC15-B7B6168B324C}" type="parTrans" cxnId="{5695C9E8-F942-490E-A51B-C0DBC3974DFD}">
      <dgm:prSet/>
      <dgm:spPr/>
      <dgm:t>
        <a:bodyPr/>
        <a:lstStyle/>
        <a:p>
          <a:endParaRPr lang="fi-FI"/>
        </a:p>
      </dgm:t>
    </dgm:pt>
    <dgm:pt modelId="{45B5C982-9565-4892-A6C9-935824CA634B}" type="sibTrans" cxnId="{5695C9E8-F942-490E-A51B-C0DBC3974DFD}">
      <dgm:prSet/>
      <dgm:spPr/>
      <dgm:t>
        <a:bodyPr/>
        <a:lstStyle/>
        <a:p>
          <a:endParaRPr lang="fi-FI"/>
        </a:p>
      </dgm:t>
    </dgm:pt>
    <dgm:pt modelId="{5C4B19C2-6A25-4302-AE17-0F6F116BA7CF}">
      <dgm:prSet/>
      <dgm:spPr/>
      <dgm:t>
        <a:bodyPr/>
        <a:lstStyle/>
        <a:p>
          <a:pPr rtl="0"/>
          <a:r>
            <a:rPr lang="fi-FI" dirty="0" smtClean="0"/>
            <a:t>Riskit ja toipumissuunnittelu</a:t>
          </a:r>
          <a:endParaRPr lang="fi-FI" dirty="0"/>
        </a:p>
      </dgm:t>
    </dgm:pt>
    <dgm:pt modelId="{66D749DA-8907-4B8C-BCCA-A2BEF0B63984}" type="parTrans" cxnId="{3820ED16-C880-4594-B54A-5AADE2D527AA}">
      <dgm:prSet/>
      <dgm:spPr/>
      <dgm:t>
        <a:bodyPr/>
        <a:lstStyle/>
        <a:p>
          <a:endParaRPr lang="fi-FI"/>
        </a:p>
      </dgm:t>
    </dgm:pt>
    <dgm:pt modelId="{B09418A7-05C5-4A27-A1C7-DE46F0C3EE40}" type="sibTrans" cxnId="{3820ED16-C880-4594-B54A-5AADE2D527AA}">
      <dgm:prSet/>
      <dgm:spPr/>
      <dgm:t>
        <a:bodyPr/>
        <a:lstStyle/>
        <a:p>
          <a:endParaRPr lang="fi-FI"/>
        </a:p>
      </dgm:t>
    </dgm:pt>
    <dgm:pt modelId="{3BEAB62A-CB59-44EE-9089-364A469475D9}">
      <dgm:prSet custT="1"/>
      <dgm:spPr/>
      <dgm:t>
        <a:bodyPr/>
        <a:lstStyle/>
        <a:p>
          <a:pPr rtl="0"/>
          <a:r>
            <a:rPr lang="fi-FI" sz="800" dirty="0" smtClean="0"/>
            <a:t>Hyväksymistestaussuunnittelu</a:t>
          </a:r>
          <a:endParaRPr lang="fi-FI" sz="800" dirty="0"/>
        </a:p>
      </dgm:t>
    </dgm:pt>
    <dgm:pt modelId="{762E8501-F088-4144-9906-DD06F8419E25}" type="parTrans" cxnId="{885223EC-E99C-4AA0-BF91-84BC030498A9}">
      <dgm:prSet/>
      <dgm:spPr/>
      <dgm:t>
        <a:bodyPr/>
        <a:lstStyle/>
        <a:p>
          <a:endParaRPr lang="fi-FI"/>
        </a:p>
      </dgm:t>
    </dgm:pt>
    <dgm:pt modelId="{61DED00C-FD35-425E-AAD0-C091BF1FB91C}" type="sibTrans" cxnId="{885223EC-E99C-4AA0-BF91-84BC030498A9}">
      <dgm:prSet/>
      <dgm:spPr/>
      <dgm:t>
        <a:bodyPr/>
        <a:lstStyle/>
        <a:p>
          <a:endParaRPr lang="fi-FI"/>
        </a:p>
      </dgm:t>
    </dgm:pt>
    <dgm:pt modelId="{DD0607D4-092B-40C5-A99C-EECAA79C1707}">
      <dgm:prSet/>
      <dgm:spPr/>
      <dgm:t>
        <a:bodyPr/>
        <a:lstStyle/>
        <a:p>
          <a:pPr rtl="0"/>
          <a:r>
            <a:rPr lang="fi-FI" dirty="0" smtClean="0"/>
            <a:t>Työmäärä, tehtäviin organisoituminen</a:t>
          </a:r>
          <a:endParaRPr lang="fi-FI" dirty="0"/>
        </a:p>
      </dgm:t>
    </dgm:pt>
    <dgm:pt modelId="{1676A9DD-0A6F-47A8-A123-9B36BD886DDB}" type="parTrans" cxnId="{C7CF3CFD-3AB1-4179-9BC7-7889D286F83C}">
      <dgm:prSet/>
      <dgm:spPr/>
      <dgm:t>
        <a:bodyPr/>
        <a:lstStyle/>
        <a:p>
          <a:endParaRPr lang="fi-FI"/>
        </a:p>
      </dgm:t>
    </dgm:pt>
    <dgm:pt modelId="{11426CE1-C002-45CF-B76C-162AE1020516}" type="sibTrans" cxnId="{C7CF3CFD-3AB1-4179-9BC7-7889D286F83C}">
      <dgm:prSet/>
      <dgm:spPr/>
      <dgm:t>
        <a:bodyPr/>
        <a:lstStyle/>
        <a:p>
          <a:endParaRPr lang="fi-FI"/>
        </a:p>
      </dgm:t>
    </dgm:pt>
    <dgm:pt modelId="{3E50B2E2-1C8D-4FE2-95A4-6AED1BFCFA6D}">
      <dgm:prSet/>
      <dgm:spPr/>
      <dgm:t>
        <a:bodyPr/>
        <a:lstStyle/>
        <a:p>
          <a:pPr rtl="0"/>
          <a:r>
            <a:rPr lang="fi-FI" dirty="0" smtClean="0"/>
            <a:t>Työnjako osapuolien kesken</a:t>
          </a:r>
          <a:endParaRPr lang="fi-FI" dirty="0"/>
        </a:p>
      </dgm:t>
    </dgm:pt>
    <dgm:pt modelId="{BCC45806-AE9B-4223-A92A-C6C8270FBBA4}" type="parTrans" cxnId="{8220C9B0-6E04-4413-8FDC-F946EF245710}">
      <dgm:prSet/>
      <dgm:spPr/>
      <dgm:t>
        <a:bodyPr/>
        <a:lstStyle/>
        <a:p>
          <a:endParaRPr lang="fi-FI"/>
        </a:p>
      </dgm:t>
    </dgm:pt>
    <dgm:pt modelId="{4CD3000F-71C4-4A57-8F3D-7363A8EF9289}" type="sibTrans" cxnId="{8220C9B0-6E04-4413-8FDC-F946EF245710}">
      <dgm:prSet/>
      <dgm:spPr/>
      <dgm:t>
        <a:bodyPr/>
        <a:lstStyle/>
        <a:p>
          <a:endParaRPr lang="fi-FI"/>
        </a:p>
      </dgm:t>
    </dgm:pt>
    <dgm:pt modelId="{CAED5199-2803-4C0B-ADD1-74A88DD44CEE}">
      <dgm:prSet/>
      <dgm:spPr/>
      <dgm:t>
        <a:bodyPr/>
        <a:lstStyle/>
        <a:p>
          <a:pPr rtl="0"/>
          <a:r>
            <a:rPr lang="fi-FI" dirty="0" smtClean="0"/>
            <a:t>Riskit</a:t>
          </a:r>
          <a:endParaRPr lang="fi-FI" dirty="0"/>
        </a:p>
      </dgm:t>
    </dgm:pt>
    <dgm:pt modelId="{DF4C6D67-B0C7-4866-8664-E15CB3C5A033}" type="parTrans" cxnId="{EEE19AC4-A8C2-421A-8D8B-87C136B1FAD3}">
      <dgm:prSet/>
      <dgm:spPr/>
      <dgm:t>
        <a:bodyPr/>
        <a:lstStyle/>
        <a:p>
          <a:endParaRPr lang="fi-FI"/>
        </a:p>
      </dgm:t>
    </dgm:pt>
    <dgm:pt modelId="{16E568F4-D261-46C2-B0EC-D18C733C571E}" type="sibTrans" cxnId="{EEE19AC4-A8C2-421A-8D8B-87C136B1FAD3}">
      <dgm:prSet/>
      <dgm:spPr/>
      <dgm:t>
        <a:bodyPr/>
        <a:lstStyle/>
        <a:p>
          <a:endParaRPr lang="fi-FI"/>
        </a:p>
      </dgm:t>
    </dgm:pt>
    <dgm:pt modelId="{A62A0596-7958-4D13-B1F0-277329218813}">
      <dgm:prSet custT="1"/>
      <dgm:spPr/>
      <dgm:t>
        <a:bodyPr/>
        <a:lstStyle/>
        <a:p>
          <a:pPr rtl="0"/>
          <a:r>
            <a:rPr lang="fi-FI" sz="800" dirty="0" smtClean="0"/>
            <a:t>Hyväksymistestien suunnittelu</a:t>
          </a:r>
          <a:endParaRPr lang="fi-FI" sz="800" dirty="0"/>
        </a:p>
      </dgm:t>
    </dgm:pt>
    <dgm:pt modelId="{EF49306A-5054-445F-B9EF-B45C9B56C87D}" type="parTrans" cxnId="{84971C5E-B1CF-4D27-97F5-AE1EF6CC04FD}">
      <dgm:prSet/>
      <dgm:spPr/>
      <dgm:t>
        <a:bodyPr/>
        <a:lstStyle/>
        <a:p>
          <a:endParaRPr lang="fi-FI"/>
        </a:p>
      </dgm:t>
    </dgm:pt>
    <dgm:pt modelId="{77CC37E5-8F70-4D94-88F9-1D3331C6DDF6}" type="sibTrans" cxnId="{84971C5E-B1CF-4D27-97F5-AE1EF6CC04FD}">
      <dgm:prSet/>
      <dgm:spPr/>
      <dgm:t>
        <a:bodyPr/>
        <a:lstStyle/>
        <a:p>
          <a:endParaRPr lang="fi-FI"/>
        </a:p>
      </dgm:t>
    </dgm:pt>
    <dgm:pt modelId="{499D6F68-705A-4F67-9060-8D9B268935CC}">
      <dgm:prSet/>
      <dgm:spPr/>
      <dgm:t>
        <a:bodyPr/>
        <a:lstStyle/>
        <a:p>
          <a:pPr rtl="0"/>
          <a:r>
            <a:rPr lang="fi-FI" dirty="0" err="1" smtClean="0"/>
            <a:t>Testitapaukset-</a:t>
          </a:r>
          <a:r>
            <a:rPr lang="fi-FI" dirty="0" smtClean="0"/>
            <a:t> ja aineistot, seurattavuus</a:t>
          </a:r>
          <a:endParaRPr lang="fi-FI" dirty="0"/>
        </a:p>
      </dgm:t>
    </dgm:pt>
    <dgm:pt modelId="{742CC0AD-7DE6-45B1-8DBA-E6B8E01FF87D}" type="parTrans" cxnId="{544DF48D-0D49-4ED0-A33B-6D628E381D04}">
      <dgm:prSet/>
      <dgm:spPr/>
      <dgm:t>
        <a:bodyPr/>
        <a:lstStyle/>
        <a:p>
          <a:endParaRPr lang="fi-FI"/>
        </a:p>
      </dgm:t>
    </dgm:pt>
    <dgm:pt modelId="{FF5FAA94-FF12-4C6E-B8CD-69A73412F8E6}" type="sibTrans" cxnId="{544DF48D-0D49-4ED0-A33B-6D628E381D04}">
      <dgm:prSet/>
      <dgm:spPr/>
      <dgm:t>
        <a:bodyPr/>
        <a:lstStyle/>
        <a:p>
          <a:endParaRPr lang="fi-FI"/>
        </a:p>
      </dgm:t>
    </dgm:pt>
    <dgm:pt modelId="{066BBAEA-4832-472A-BE7A-AA8B4FA97896}">
      <dgm:prSet/>
      <dgm:spPr/>
      <dgm:t>
        <a:bodyPr/>
        <a:lstStyle/>
        <a:p>
          <a:pPr rtl="0"/>
          <a:r>
            <a:rPr lang="fi-FI" dirty="0" smtClean="0"/>
            <a:t>Osaamisen kerryttäminen testaajille</a:t>
          </a:r>
          <a:endParaRPr lang="fi-FI" dirty="0"/>
        </a:p>
      </dgm:t>
    </dgm:pt>
    <dgm:pt modelId="{B61DE76C-F1DA-4DA6-AF8B-63685AF7C9B7}" type="parTrans" cxnId="{64A8FB1C-2A08-4CCC-94FF-D41517465E46}">
      <dgm:prSet/>
      <dgm:spPr/>
      <dgm:t>
        <a:bodyPr/>
        <a:lstStyle/>
        <a:p>
          <a:endParaRPr lang="fi-FI"/>
        </a:p>
      </dgm:t>
    </dgm:pt>
    <dgm:pt modelId="{33A6FFED-EB8D-4081-9F8B-B5C175C0E855}" type="sibTrans" cxnId="{64A8FB1C-2A08-4CCC-94FF-D41517465E46}">
      <dgm:prSet/>
      <dgm:spPr/>
      <dgm:t>
        <a:bodyPr/>
        <a:lstStyle/>
        <a:p>
          <a:endParaRPr lang="fi-FI"/>
        </a:p>
      </dgm:t>
    </dgm:pt>
    <dgm:pt modelId="{CB24AE27-F590-420D-8335-1FDF9E994FD9}">
      <dgm:prSet custT="1"/>
      <dgm:spPr/>
      <dgm:t>
        <a:bodyPr/>
        <a:lstStyle/>
        <a:p>
          <a:pPr rtl="0"/>
          <a:r>
            <a:rPr lang="fi-FI" sz="800" dirty="0" smtClean="0"/>
            <a:t>Testaaminen</a:t>
          </a:r>
          <a:endParaRPr lang="fi-FI" sz="800" dirty="0"/>
        </a:p>
      </dgm:t>
    </dgm:pt>
    <dgm:pt modelId="{C9704ECB-9442-435C-999D-80E5C991B5C3}" type="parTrans" cxnId="{21406B72-54A6-4822-B933-58FF929BD99F}">
      <dgm:prSet/>
      <dgm:spPr/>
      <dgm:t>
        <a:bodyPr/>
        <a:lstStyle/>
        <a:p>
          <a:endParaRPr lang="fi-FI"/>
        </a:p>
      </dgm:t>
    </dgm:pt>
    <dgm:pt modelId="{9E0CB4F0-C010-48E7-BBF3-E09EAE1163AA}" type="sibTrans" cxnId="{21406B72-54A6-4822-B933-58FF929BD99F}">
      <dgm:prSet/>
      <dgm:spPr/>
      <dgm:t>
        <a:bodyPr/>
        <a:lstStyle/>
        <a:p>
          <a:endParaRPr lang="fi-FI"/>
        </a:p>
      </dgm:t>
    </dgm:pt>
    <dgm:pt modelId="{54DAE923-FAD1-40AB-A3A5-10C8C590322B}">
      <dgm:prSet/>
      <dgm:spPr/>
      <dgm:t>
        <a:bodyPr/>
        <a:lstStyle/>
        <a:p>
          <a:pPr rtl="0"/>
          <a:r>
            <a:rPr lang="fi-FI" dirty="0" smtClean="0"/>
            <a:t>Testien suorittaminen</a:t>
          </a:r>
          <a:endParaRPr lang="fi-FI" dirty="0"/>
        </a:p>
      </dgm:t>
    </dgm:pt>
    <dgm:pt modelId="{0ABEBBEB-E679-4637-A3EE-410DF753496E}" type="parTrans" cxnId="{A9CE73C0-FC55-45D4-BEE9-F1554B9E09FD}">
      <dgm:prSet/>
      <dgm:spPr/>
      <dgm:t>
        <a:bodyPr/>
        <a:lstStyle/>
        <a:p>
          <a:endParaRPr lang="fi-FI"/>
        </a:p>
      </dgm:t>
    </dgm:pt>
    <dgm:pt modelId="{892ACACA-307F-4EB2-8D49-8E0C59FB8425}" type="sibTrans" cxnId="{A9CE73C0-FC55-45D4-BEE9-F1554B9E09FD}">
      <dgm:prSet/>
      <dgm:spPr/>
      <dgm:t>
        <a:bodyPr/>
        <a:lstStyle/>
        <a:p>
          <a:endParaRPr lang="fi-FI"/>
        </a:p>
      </dgm:t>
    </dgm:pt>
    <dgm:pt modelId="{BAB26BE3-60C7-44D7-9D79-E4E27CC3692A}">
      <dgm:prSet/>
      <dgm:spPr/>
      <dgm:t>
        <a:bodyPr/>
        <a:lstStyle/>
        <a:p>
          <a:pPr rtl="0"/>
          <a:r>
            <a:rPr lang="fi-FI" dirty="0" smtClean="0"/>
            <a:t>Testien täydentäminen</a:t>
          </a:r>
          <a:endParaRPr lang="fi-FI" dirty="0"/>
        </a:p>
      </dgm:t>
    </dgm:pt>
    <dgm:pt modelId="{90CF776B-F797-4929-82AF-25D4A64DF88E}" type="parTrans" cxnId="{EDF7B173-3E72-4F94-A44D-BBBF66C630E0}">
      <dgm:prSet/>
      <dgm:spPr/>
      <dgm:t>
        <a:bodyPr/>
        <a:lstStyle/>
        <a:p>
          <a:endParaRPr lang="fi-FI"/>
        </a:p>
      </dgm:t>
    </dgm:pt>
    <dgm:pt modelId="{905B7084-3592-4745-A1C3-1F3DC1A2BDDC}" type="sibTrans" cxnId="{EDF7B173-3E72-4F94-A44D-BBBF66C630E0}">
      <dgm:prSet/>
      <dgm:spPr/>
      <dgm:t>
        <a:bodyPr/>
        <a:lstStyle/>
        <a:p>
          <a:endParaRPr lang="fi-FI"/>
        </a:p>
      </dgm:t>
    </dgm:pt>
    <dgm:pt modelId="{640CE607-9A8F-4228-8038-4E457FF1DDB1}">
      <dgm:prSet/>
      <dgm:spPr/>
      <dgm:t>
        <a:bodyPr/>
        <a:lstStyle/>
        <a:p>
          <a:pPr rtl="0"/>
          <a:r>
            <a:rPr lang="fi-FI" dirty="0" smtClean="0"/>
            <a:t>Testauspäällikön tehtäväkenttä</a:t>
          </a:r>
          <a:endParaRPr lang="fi-FI" dirty="0"/>
        </a:p>
      </dgm:t>
    </dgm:pt>
    <dgm:pt modelId="{701C17DF-D662-4C3F-B113-81B3890369A4}" type="parTrans" cxnId="{C9E7CD4E-D5B7-47BC-BFAB-CF7C9F1A115A}">
      <dgm:prSet/>
      <dgm:spPr/>
      <dgm:t>
        <a:bodyPr/>
        <a:lstStyle/>
        <a:p>
          <a:endParaRPr lang="fi-FI"/>
        </a:p>
      </dgm:t>
    </dgm:pt>
    <dgm:pt modelId="{2E4E0EFB-F1C6-4855-A6DC-A7B63DB57135}" type="sibTrans" cxnId="{C9E7CD4E-D5B7-47BC-BFAB-CF7C9F1A115A}">
      <dgm:prSet/>
      <dgm:spPr/>
      <dgm:t>
        <a:bodyPr/>
        <a:lstStyle/>
        <a:p>
          <a:endParaRPr lang="fi-FI"/>
        </a:p>
      </dgm:t>
    </dgm:pt>
    <dgm:pt modelId="{AA3F5DC4-D6FD-4FAE-A49C-23C3720EA429}">
      <dgm:prSet/>
      <dgm:spPr/>
      <dgm:t>
        <a:bodyPr/>
        <a:lstStyle/>
        <a:p>
          <a:pPr rtl="0"/>
          <a:r>
            <a:rPr lang="fi-FI" dirty="0" smtClean="0"/>
            <a:t>ALUSTAVA PROJEKTISUUNNITELMA, LAATIJA PROJEKTIPÄÄLLIKKÖ</a:t>
          </a:r>
          <a:endParaRPr lang="fi-FI" dirty="0"/>
        </a:p>
      </dgm:t>
    </dgm:pt>
    <dgm:pt modelId="{F6D38961-4FE0-4486-91A9-8C44176857CE}" type="parTrans" cxnId="{6D205DBC-C212-4A50-A733-898F3A9BFEED}">
      <dgm:prSet/>
      <dgm:spPr/>
      <dgm:t>
        <a:bodyPr/>
        <a:lstStyle/>
        <a:p>
          <a:endParaRPr lang="fi-FI"/>
        </a:p>
      </dgm:t>
    </dgm:pt>
    <dgm:pt modelId="{607535D3-4DAD-4243-886A-FD1CBDA0ACA3}" type="sibTrans" cxnId="{6D205DBC-C212-4A50-A733-898F3A9BFEED}">
      <dgm:prSet/>
      <dgm:spPr/>
      <dgm:t>
        <a:bodyPr/>
        <a:lstStyle/>
        <a:p>
          <a:endParaRPr lang="fi-FI"/>
        </a:p>
      </dgm:t>
    </dgm:pt>
    <dgm:pt modelId="{B5E1737C-EBEF-4165-9EE1-5CD342147CA8}">
      <dgm:prSet/>
      <dgm:spPr/>
      <dgm:t>
        <a:bodyPr/>
        <a:lstStyle/>
        <a:p>
          <a:pPr rtl="0"/>
          <a:endParaRPr lang="fi-FI" dirty="0"/>
        </a:p>
      </dgm:t>
    </dgm:pt>
    <dgm:pt modelId="{C8D117B2-DA75-4537-AEBC-266B0CF90D79}" type="parTrans" cxnId="{6734BF39-A89A-478A-82A5-881382C18736}">
      <dgm:prSet/>
      <dgm:spPr/>
      <dgm:t>
        <a:bodyPr/>
        <a:lstStyle/>
        <a:p>
          <a:endParaRPr lang="fi-FI"/>
        </a:p>
      </dgm:t>
    </dgm:pt>
    <dgm:pt modelId="{295D0EAE-4968-4EA9-8BC1-B2102EC3D1A9}" type="sibTrans" cxnId="{6734BF39-A89A-478A-82A5-881382C18736}">
      <dgm:prSet/>
      <dgm:spPr/>
      <dgm:t>
        <a:bodyPr/>
        <a:lstStyle/>
        <a:p>
          <a:endParaRPr lang="fi-FI"/>
        </a:p>
      </dgm:t>
    </dgm:pt>
    <dgm:pt modelId="{3CFE4F80-BD69-4435-ADC8-C128689E8C88}">
      <dgm:prSet/>
      <dgm:spPr/>
      <dgm:t>
        <a:bodyPr/>
        <a:lstStyle/>
        <a:p>
          <a:pPr rtl="0"/>
          <a:endParaRPr lang="fi-FI" dirty="0"/>
        </a:p>
      </dgm:t>
    </dgm:pt>
    <dgm:pt modelId="{9CF0649E-4AE3-4751-B7C6-ED35F3BBAC1E}" type="parTrans" cxnId="{D31B9D05-375C-4391-8F13-A7E402C920B2}">
      <dgm:prSet/>
      <dgm:spPr/>
      <dgm:t>
        <a:bodyPr/>
        <a:lstStyle/>
        <a:p>
          <a:endParaRPr lang="fi-FI"/>
        </a:p>
      </dgm:t>
    </dgm:pt>
    <dgm:pt modelId="{31AE838C-C67E-48A5-9EEE-31DDEE93A629}" type="sibTrans" cxnId="{D31B9D05-375C-4391-8F13-A7E402C920B2}">
      <dgm:prSet/>
      <dgm:spPr/>
      <dgm:t>
        <a:bodyPr/>
        <a:lstStyle/>
        <a:p>
          <a:endParaRPr lang="fi-FI"/>
        </a:p>
      </dgm:t>
    </dgm:pt>
    <dgm:pt modelId="{FA46B958-9C12-49C7-893E-B79DAEDF213D}">
      <dgm:prSet/>
      <dgm:spPr/>
      <dgm:t>
        <a:bodyPr/>
        <a:lstStyle/>
        <a:p>
          <a:pPr rtl="0"/>
          <a:r>
            <a:rPr lang="fi-FI" dirty="0" smtClean="0"/>
            <a:t>KOKONAISTESTAUSSUUNNITELMA(T) PAINOTTAEN TOIMITTAJAN TESTAUSTA, LAATIJA TOIMITTAJA</a:t>
          </a:r>
          <a:endParaRPr lang="fi-FI" dirty="0"/>
        </a:p>
      </dgm:t>
    </dgm:pt>
    <dgm:pt modelId="{4D6F621F-E2F3-4BD4-A445-B406063EE7E3}" type="parTrans" cxnId="{F62EA432-C0BC-4D5E-9D51-AF1CF381DCBB}">
      <dgm:prSet/>
      <dgm:spPr/>
      <dgm:t>
        <a:bodyPr/>
        <a:lstStyle/>
        <a:p>
          <a:endParaRPr lang="fi-FI"/>
        </a:p>
      </dgm:t>
    </dgm:pt>
    <dgm:pt modelId="{42E82821-B060-4719-A39A-33BE8286C8F9}" type="sibTrans" cxnId="{F62EA432-C0BC-4D5E-9D51-AF1CF381DCBB}">
      <dgm:prSet/>
      <dgm:spPr/>
      <dgm:t>
        <a:bodyPr/>
        <a:lstStyle/>
        <a:p>
          <a:endParaRPr lang="fi-FI"/>
        </a:p>
      </dgm:t>
    </dgm:pt>
    <dgm:pt modelId="{6BDB87FF-7E96-4FFA-B480-E8B1A78A369D}">
      <dgm:prSet/>
      <dgm:spPr/>
      <dgm:t>
        <a:bodyPr/>
        <a:lstStyle/>
        <a:p>
          <a:pPr rtl="0"/>
          <a:endParaRPr lang="fi-FI" dirty="0"/>
        </a:p>
      </dgm:t>
    </dgm:pt>
    <dgm:pt modelId="{F3006072-9096-4944-90E0-06FCBE5E32B3}" type="parTrans" cxnId="{E175B5CD-ADAE-4294-B003-35C7E3A698C9}">
      <dgm:prSet/>
      <dgm:spPr/>
      <dgm:t>
        <a:bodyPr/>
        <a:lstStyle/>
        <a:p>
          <a:endParaRPr lang="fi-FI"/>
        </a:p>
      </dgm:t>
    </dgm:pt>
    <dgm:pt modelId="{C578C31D-D5E5-426E-B53E-89E8419FA5DC}" type="sibTrans" cxnId="{E175B5CD-ADAE-4294-B003-35C7E3A698C9}">
      <dgm:prSet/>
      <dgm:spPr/>
      <dgm:t>
        <a:bodyPr/>
        <a:lstStyle/>
        <a:p>
          <a:endParaRPr lang="fi-FI"/>
        </a:p>
      </dgm:t>
    </dgm:pt>
    <dgm:pt modelId="{02E8118E-07C2-440F-9DF4-534935E3CCEA}">
      <dgm:prSet/>
      <dgm:spPr/>
      <dgm:t>
        <a:bodyPr/>
        <a:lstStyle/>
        <a:p>
          <a:pPr rtl="0"/>
          <a:r>
            <a:rPr lang="fi-FI" dirty="0" smtClean="0"/>
            <a:t>HYVÄKSYMISTESTAUSSUUNNITELMA (sis. Ilmarisen testausvastuiden organisoinnit, </a:t>
          </a:r>
          <a:r>
            <a:rPr lang="fi-FI" dirty="0" err="1" smtClean="0"/>
            <a:t>jt-tuki</a:t>
          </a:r>
          <a:r>
            <a:rPr lang="fi-FI" dirty="0" smtClean="0"/>
            <a:t>, </a:t>
          </a:r>
          <a:r>
            <a:rPr lang="fi-FI" dirty="0" err="1" smtClean="0"/>
            <a:t>hyte</a:t>
          </a:r>
          <a:r>
            <a:rPr lang="fi-FI" dirty="0" smtClean="0"/>
            <a:t>, aste, tekniset </a:t>
          </a:r>
          <a:r>
            <a:rPr lang="fi-FI" dirty="0" err="1" smtClean="0"/>
            <a:t>hytet</a:t>
          </a:r>
          <a:r>
            <a:rPr lang="fi-FI" dirty="0" smtClean="0"/>
            <a:t>), LAATIJA TESTAUSPÄÄLLIKKÖ</a:t>
          </a:r>
          <a:endParaRPr lang="fi-FI" dirty="0"/>
        </a:p>
      </dgm:t>
    </dgm:pt>
    <dgm:pt modelId="{B01F1606-B600-47F2-81BE-FA4A25C6E88F}" type="parTrans" cxnId="{1EE87094-34E4-4565-B078-C04B3AEE1198}">
      <dgm:prSet/>
      <dgm:spPr/>
      <dgm:t>
        <a:bodyPr/>
        <a:lstStyle/>
        <a:p>
          <a:endParaRPr lang="fi-FI"/>
        </a:p>
      </dgm:t>
    </dgm:pt>
    <dgm:pt modelId="{45283A35-5331-4AEF-BA24-ED47FDCE13F3}" type="sibTrans" cxnId="{1EE87094-34E4-4565-B078-C04B3AEE1198}">
      <dgm:prSet/>
      <dgm:spPr/>
      <dgm:t>
        <a:bodyPr/>
        <a:lstStyle/>
        <a:p>
          <a:endParaRPr lang="fi-FI"/>
        </a:p>
      </dgm:t>
    </dgm:pt>
    <dgm:pt modelId="{751EA03E-A274-43A0-92F0-44F43FDC4791}">
      <dgm:prSet/>
      <dgm:spPr/>
      <dgm:t>
        <a:bodyPr/>
        <a:lstStyle/>
        <a:p>
          <a:pPr rtl="0"/>
          <a:endParaRPr lang="fi-FI" dirty="0"/>
        </a:p>
      </dgm:t>
    </dgm:pt>
    <dgm:pt modelId="{E6B69431-9D5F-4D72-8015-3540E0B3A42C}" type="parTrans" cxnId="{F0E7C6B8-86A5-4D51-BD70-1979CE90616F}">
      <dgm:prSet/>
      <dgm:spPr/>
      <dgm:t>
        <a:bodyPr/>
        <a:lstStyle/>
        <a:p>
          <a:endParaRPr lang="fi-FI"/>
        </a:p>
      </dgm:t>
    </dgm:pt>
    <dgm:pt modelId="{7DF79010-4D43-432B-BBD5-548769995B21}" type="sibTrans" cxnId="{F0E7C6B8-86A5-4D51-BD70-1979CE90616F}">
      <dgm:prSet/>
      <dgm:spPr/>
      <dgm:t>
        <a:bodyPr/>
        <a:lstStyle/>
        <a:p>
          <a:endParaRPr lang="fi-FI"/>
        </a:p>
      </dgm:t>
    </dgm:pt>
    <dgm:pt modelId="{CFB40678-8C31-4EC6-BC7D-9DAB9D7A7D51}">
      <dgm:prSet/>
      <dgm:spPr/>
      <dgm:t>
        <a:bodyPr/>
        <a:lstStyle/>
        <a:p>
          <a:pPr rtl="0"/>
          <a:r>
            <a:rPr lang="fi-FI" dirty="0" smtClean="0"/>
            <a:t>TESTITAPAUKSET JA –AINEISTOLISTAT, LAATIJA TESTAUSVASTAAVA</a:t>
          </a:r>
          <a:endParaRPr lang="fi-FI" dirty="0"/>
        </a:p>
      </dgm:t>
    </dgm:pt>
    <dgm:pt modelId="{631C4A3E-F396-48F8-8948-2780E95D5FC2}" type="parTrans" cxnId="{D975B545-11BB-4A02-B6F8-EEEABD087DE8}">
      <dgm:prSet/>
      <dgm:spPr/>
      <dgm:t>
        <a:bodyPr/>
        <a:lstStyle/>
        <a:p>
          <a:endParaRPr lang="fi-FI"/>
        </a:p>
      </dgm:t>
    </dgm:pt>
    <dgm:pt modelId="{A4152509-8972-46AE-9676-B66B86CE9DDF}" type="sibTrans" cxnId="{D975B545-11BB-4A02-B6F8-EEEABD087DE8}">
      <dgm:prSet/>
      <dgm:spPr/>
      <dgm:t>
        <a:bodyPr/>
        <a:lstStyle/>
        <a:p>
          <a:endParaRPr lang="fi-FI"/>
        </a:p>
      </dgm:t>
    </dgm:pt>
    <dgm:pt modelId="{F4C6A7A8-A234-4C50-8477-6CA6FFFA4E83}">
      <dgm:prSet/>
      <dgm:spPr/>
      <dgm:t>
        <a:bodyPr/>
        <a:lstStyle/>
        <a:p>
          <a:pPr rtl="0"/>
          <a:endParaRPr lang="fi-FI" dirty="0"/>
        </a:p>
      </dgm:t>
    </dgm:pt>
    <dgm:pt modelId="{60A6F7A8-4DA6-4298-84A6-6A51CA3EB0BC}" type="parTrans" cxnId="{077CF4E3-B636-496D-AE23-7B688EDFB1C9}">
      <dgm:prSet/>
      <dgm:spPr/>
      <dgm:t>
        <a:bodyPr/>
        <a:lstStyle/>
        <a:p>
          <a:endParaRPr lang="fi-FI"/>
        </a:p>
      </dgm:t>
    </dgm:pt>
    <dgm:pt modelId="{8D6DC025-55DA-4CE7-B1DB-490D29F3575F}" type="sibTrans" cxnId="{077CF4E3-B636-496D-AE23-7B688EDFB1C9}">
      <dgm:prSet/>
      <dgm:spPr/>
      <dgm:t>
        <a:bodyPr/>
        <a:lstStyle/>
        <a:p>
          <a:endParaRPr lang="fi-FI"/>
        </a:p>
      </dgm:t>
    </dgm:pt>
    <dgm:pt modelId="{46BA04B2-93EA-4C6A-AC17-95EC3232C314}">
      <dgm:prSet/>
      <dgm:spPr/>
      <dgm:t>
        <a:bodyPr/>
        <a:lstStyle/>
        <a:p>
          <a:pPr rtl="0"/>
          <a:r>
            <a:rPr lang="fi-FI" dirty="0" smtClean="0"/>
            <a:t>Ympäristö ja osatoimitukset</a:t>
          </a:r>
          <a:endParaRPr lang="fi-FI" dirty="0"/>
        </a:p>
      </dgm:t>
    </dgm:pt>
    <dgm:pt modelId="{2308C78E-1061-4B9F-B1FE-DB83E7716C2B}" type="parTrans" cxnId="{6CD42B29-09A0-46F3-8210-BB3148D7CFB2}">
      <dgm:prSet/>
      <dgm:spPr/>
      <dgm:t>
        <a:bodyPr/>
        <a:lstStyle/>
        <a:p>
          <a:endParaRPr lang="fi-FI"/>
        </a:p>
      </dgm:t>
    </dgm:pt>
    <dgm:pt modelId="{529E79E6-7F51-442C-BE8A-77C19DB3BCED}" type="sibTrans" cxnId="{6CD42B29-09A0-46F3-8210-BB3148D7CFB2}">
      <dgm:prSet/>
      <dgm:spPr/>
      <dgm:t>
        <a:bodyPr/>
        <a:lstStyle/>
        <a:p>
          <a:endParaRPr lang="fi-FI"/>
        </a:p>
      </dgm:t>
    </dgm:pt>
    <dgm:pt modelId="{70C868FE-6F65-4A89-A266-8D56D85EA10B}">
      <dgm:prSet/>
      <dgm:spPr/>
      <dgm:t>
        <a:bodyPr/>
        <a:lstStyle/>
        <a:p>
          <a:pPr rtl="0"/>
          <a:r>
            <a:rPr lang="fi-FI" dirty="0" smtClean="0"/>
            <a:t>HYVÄKSYMISTESTAUSRAPORTIT, LAATIJA TESTAUSPÄÄLLIKKÖ</a:t>
          </a:r>
          <a:endParaRPr lang="fi-FI" dirty="0"/>
        </a:p>
      </dgm:t>
    </dgm:pt>
    <dgm:pt modelId="{C1618E37-B460-4150-AA08-101CD14051D3}" type="parTrans" cxnId="{DB0AAC8B-AA2F-4FAA-BDC1-B61C2D07295E}">
      <dgm:prSet/>
      <dgm:spPr/>
      <dgm:t>
        <a:bodyPr/>
        <a:lstStyle/>
        <a:p>
          <a:endParaRPr lang="fi-FI"/>
        </a:p>
      </dgm:t>
    </dgm:pt>
    <dgm:pt modelId="{794CC9C8-5E51-4258-877B-8C0817EE102A}" type="sibTrans" cxnId="{DB0AAC8B-AA2F-4FAA-BDC1-B61C2D07295E}">
      <dgm:prSet/>
      <dgm:spPr/>
      <dgm:t>
        <a:bodyPr/>
        <a:lstStyle/>
        <a:p>
          <a:endParaRPr lang="fi-FI"/>
        </a:p>
      </dgm:t>
    </dgm:pt>
    <dgm:pt modelId="{543E33ED-CA28-4AE4-A784-CEC5354B3F18}">
      <dgm:prSet/>
      <dgm:spPr/>
      <dgm:t>
        <a:bodyPr/>
        <a:lstStyle/>
        <a:p>
          <a:pPr rtl="0"/>
          <a:endParaRPr lang="fi-FI" dirty="0"/>
        </a:p>
      </dgm:t>
    </dgm:pt>
    <dgm:pt modelId="{388769A7-C293-4B52-9D29-BAA4B0918AD3}" type="parTrans" cxnId="{3CEADC81-FDD5-4E4A-9E8F-48DCA7E2B62C}">
      <dgm:prSet/>
      <dgm:spPr/>
      <dgm:t>
        <a:bodyPr/>
        <a:lstStyle/>
        <a:p>
          <a:endParaRPr lang="fi-FI"/>
        </a:p>
      </dgm:t>
    </dgm:pt>
    <dgm:pt modelId="{4A595BD6-A628-45D1-93D9-83BDC78493CB}" type="sibTrans" cxnId="{3CEADC81-FDD5-4E4A-9E8F-48DCA7E2B62C}">
      <dgm:prSet/>
      <dgm:spPr/>
      <dgm:t>
        <a:bodyPr/>
        <a:lstStyle/>
        <a:p>
          <a:endParaRPr lang="fi-FI"/>
        </a:p>
      </dgm:t>
    </dgm:pt>
    <dgm:pt modelId="{1F4A12F7-65C6-4140-B557-B34B3C108822}">
      <dgm:prSet/>
      <dgm:spPr/>
      <dgm:t>
        <a:bodyPr/>
        <a:lstStyle/>
        <a:p>
          <a:pPr rtl="0"/>
          <a:r>
            <a:rPr lang="fi-FI" dirty="0" smtClean="0"/>
            <a:t>Sopimusuhkien torjunta, erityisesti toimittajan projektisuunnitelmaan kirjattavat asiat</a:t>
          </a:r>
          <a:endParaRPr lang="fi-FI" dirty="0"/>
        </a:p>
      </dgm:t>
    </dgm:pt>
    <dgm:pt modelId="{B59A59A9-C14E-4BD6-9B6C-9753CA1D9E5D}" type="parTrans" cxnId="{E40C501B-5167-40A0-9DFC-3E30A87C9E8D}">
      <dgm:prSet/>
      <dgm:spPr/>
      <dgm:t>
        <a:bodyPr/>
        <a:lstStyle/>
        <a:p>
          <a:endParaRPr lang="fi-FI"/>
        </a:p>
      </dgm:t>
    </dgm:pt>
    <dgm:pt modelId="{CA6C25E8-92F5-4B4D-91E0-F9CA492A1ACF}" type="sibTrans" cxnId="{E40C501B-5167-40A0-9DFC-3E30A87C9E8D}">
      <dgm:prSet/>
      <dgm:spPr/>
      <dgm:t>
        <a:bodyPr/>
        <a:lstStyle/>
        <a:p>
          <a:endParaRPr lang="fi-FI"/>
        </a:p>
      </dgm:t>
    </dgm:pt>
    <dgm:pt modelId="{4FDC6A11-0671-4279-899C-B764639F3E4D}">
      <dgm:prSet/>
      <dgm:spPr/>
      <dgm:t>
        <a:bodyPr/>
        <a:lstStyle/>
        <a:p>
          <a:pPr rtl="0"/>
          <a:r>
            <a:rPr lang="fi-FI" dirty="0" smtClean="0"/>
            <a:t>Työvälineet</a:t>
          </a:r>
          <a:endParaRPr lang="fi-FI" dirty="0"/>
        </a:p>
      </dgm:t>
    </dgm:pt>
    <dgm:pt modelId="{09A9FD3F-0D2E-4162-8B3E-1CD1A4F10EC5}" type="parTrans" cxnId="{293A5EFF-C899-4843-88DC-F32A65F31A19}">
      <dgm:prSet/>
      <dgm:spPr/>
      <dgm:t>
        <a:bodyPr/>
        <a:lstStyle/>
        <a:p>
          <a:endParaRPr lang="fi-FI"/>
        </a:p>
      </dgm:t>
    </dgm:pt>
    <dgm:pt modelId="{24A4725F-00A5-41D6-8088-0D7A658060DE}" type="sibTrans" cxnId="{293A5EFF-C899-4843-88DC-F32A65F31A19}">
      <dgm:prSet/>
      <dgm:spPr/>
      <dgm:t>
        <a:bodyPr/>
        <a:lstStyle/>
        <a:p>
          <a:endParaRPr lang="fi-FI"/>
        </a:p>
      </dgm:t>
    </dgm:pt>
    <dgm:pt modelId="{E1AE04C4-A4EF-496F-B44B-8F5EAFBB3AAB}" type="pres">
      <dgm:prSet presAssocID="{E3DBBE4C-E9B6-4BB4-9A96-DCB67BDC3109}" presName="Name0" presStyleCnt="0">
        <dgm:presLayoutVars>
          <dgm:dir/>
          <dgm:animLvl val="lvl"/>
          <dgm:resizeHandles val="exact"/>
        </dgm:presLayoutVars>
      </dgm:prSet>
      <dgm:spPr/>
      <dgm:t>
        <a:bodyPr/>
        <a:lstStyle/>
        <a:p>
          <a:endParaRPr lang="fi-FI"/>
        </a:p>
      </dgm:t>
    </dgm:pt>
    <dgm:pt modelId="{781AD6DB-FA27-4B5E-864F-B52D59CB5E15}" type="pres">
      <dgm:prSet presAssocID="{2B78EEA2-3E9E-453D-A3E7-BA7697F65F35}" presName="composite" presStyleCnt="0"/>
      <dgm:spPr/>
    </dgm:pt>
    <dgm:pt modelId="{2C5EE660-A48F-41AA-8921-D8F663103EE8}" type="pres">
      <dgm:prSet presAssocID="{2B78EEA2-3E9E-453D-A3E7-BA7697F65F35}" presName="parTx" presStyleLbl="alignNode1" presStyleIdx="0" presStyleCnt="5">
        <dgm:presLayoutVars>
          <dgm:chMax val="0"/>
          <dgm:chPref val="0"/>
          <dgm:bulletEnabled val="1"/>
        </dgm:presLayoutVars>
      </dgm:prSet>
      <dgm:spPr/>
      <dgm:t>
        <a:bodyPr/>
        <a:lstStyle/>
        <a:p>
          <a:endParaRPr lang="fi-FI"/>
        </a:p>
      </dgm:t>
    </dgm:pt>
    <dgm:pt modelId="{AADC72F3-0F30-4B15-A682-182ECAF8C204}" type="pres">
      <dgm:prSet presAssocID="{2B78EEA2-3E9E-453D-A3E7-BA7697F65F35}" presName="desTx" presStyleLbl="alignAccFollowNode1" presStyleIdx="0" presStyleCnt="5">
        <dgm:presLayoutVars>
          <dgm:bulletEnabled val="1"/>
        </dgm:presLayoutVars>
      </dgm:prSet>
      <dgm:spPr/>
      <dgm:t>
        <a:bodyPr/>
        <a:lstStyle/>
        <a:p>
          <a:endParaRPr lang="fi-FI"/>
        </a:p>
      </dgm:t>
    </dgm:pt>
    <dgm:pt modelId="{5A0A6F97-87B5-4927-9F42-0241DF86A13E}" type="pres">
      <dgm:prSet presAssocID="{228FC06C-3F7D-4B3E-B528-CE84F63C1489}" presName="space" presStyleCnt="0"/>
      <dgm:spPr/>
    </dgm:pt>
    <dgm:pt modelId="{324D4814-65B1-4E73-A157-36DA36FFD694}" type="pres">
      <dgm:prSet presAssocID="{3E6D530E-CAA1-4C14-95D4-266503000562}" presName="composite" presStyleCnt="0"/>
      <dgm:spPr/>
    </dgm:pt>
    <dgm:pt modelId="{39B4AA2E-F145-4F68-9AA4-2A35EA9A252F}" type="pres">
      <dgm:prSet presAssocID="{3E6D530E-CAA1-4C14-95D4-266503000562}" presName="parTx" presStyleLbl="alignNode1" presStyleIdx="1" presStyleCnt="5">
        <dgm:presLayoutVars>
          <dgm:chMax val="0"/>
          <dgm:chPref val="0"/>
          <dgm:bulletEnabled val="1"/>
        </dgm:presLayoutVars>
      </dgm:prSet>
      <dgm:spPr/>
      <dgm:t>
        <a:bodyPr/>
        <a:lstStyle/>
        <a:p>
          <a:endParaRPr lang="fi-FI"/>
        </a:p>
      </dgm:t>
    </dgm:pt>
    <dgm:pt modelId="{695F9F04-9087-48C9-81AE-69079825EC2A}" type="pres">
      <dgm:prSet presAssocID="{3E6D530E-CAA1-4C14-95D4-266503000562}" presName="desTx" presStyleLbl="alignAccFollowNode1" presStyleIdx="1" presStyleCnt="5">
        <dgm:presLayoutVars>
          <dgm:bulletEnabled val="1"/>
        </dgm:presLayoutVars>
      </dgm:prSet>
      <dgm:spPr/>
      <dgm:t>
        <a:bodyPr/>
        <a:lstStyle/>
        <a:p>
          <a:endParaRPr lang="fi-FI"/>
        </a:p>
      </dgm:t>
    </dgm:pt>
    <dgm:pt modelId="{6F6D417E-AE03-47C1-98BA-0C908499A1EF}" type="pres">
      <dgm:prSet presAssocID="{5CA5E636-A696-42AC-A5E1-DEDEBDFD5BB5}" presName="space" presStyleCnt="0"/>
      <dgm:spPr/>
    </dgm:pt>
    <dgm:pt modelId="{1406399E-BDB6-4544-9059-EA621353BECE}" type="pres">
      <dgm:prSet presAssocID="{3BEAB62A-CB59-44EE-9089-364A469475D9}" presName="composite" presStyleCnt="0"/>
      <dgm:spPr/>
    </dgm:pt>
    <dgm:pt modelId="{A154C246-8AED-40F6-A2C4-4C0DBEBADF1B}" type="pres">
      <dgm:prSet presAssocID="{3BEAB62A-CB59-44EE-9089-364A469475D9}" presName="parTx" presStyleLbl="alignNode1" presStyleIdx="2" presStyleCnt="5">
        <dgm:presLayoutVars>
          <dgm:chMax val="0"/>
          <dgm:chPref val="0"/>
          <dgm:bulletEnabled val="1"/>
        </dgm:presLayoutVars>
      </dgm:prSet>
      <dgm:spPr/>
      <dgm:t>
        <a:bodyPr/>
        <a:lstStyle/>
        <a:p>
          <a:endParaRPr lang="fi-FI"/>
        </a:p>
      </dgm:t>
    </dgm:pt>
    <dgm:pt modelId="{79C3F119-DC7D-4246-84EF-BEFD03BDD65D}" type="pres">
      <dgm:prSet presAssocID="{3BEAB62A-CB59-44EE-9089-364A469475D9}" presName="desTx" presStyleLbl="alignAccFollowNode1" presStyleIdx="2" presStyleCnt="5">
        <dgm:presLayoutVars>
          <dgm:bulletEnabled val="1"/>
        </dgm:presLayoutVars>
      </dgm:prSet>
      <dgm:spPr/>
      <dgm:t>
        <a:bodyPr/>
        <a:lstStyle/>
        <a:p>
          <a:endParaRPr lang="fi-FI"/>
        </a:p>
      </dgm:t>
    </dgm:pt>
    <dgm:pt modelId="{4FB2646A-F1BB-448B-AC6B-D95FF54EAAD6}" type="pres">
      <dgm:prSet presAssocID="{61DED00C-FD35-425E-AAD0-C091BF1FB91C}" presName="space" presStyleCnt="0"/>
      <dgm:spPr/>
    </dgm:pt>
    <dgm:pt modelId="{86F4FE88-2D40-44DD-B2CB-5393093F9C35}" type="pres">
      <dgm:prSet presAssocID="{A62A0596-7958-4D13-B1F0-277329218813}" presName="composite" presStyleCnt="0"/>
      <dgm:spPr/>
    </dgm:pt>
    <dgm:pt modelId="{C86250A0-42DA-4251-A0DA-3A71795DF46F}" type="pres">
      <dgm:prSet presAssocID="{A62A0596-7958-4D13-B1F0-277329218813}" presName="parTx" presStyleLbl="alignNode1" presStyleIdx="3" presStyleCnt="5">
        <dgm:presLayoutVars>
          <dgm:chMax val="0"/>
          <dgm:chPref val="0"/>
          <dgm:bulletEnabled val="1"/>
        </dgm:presLayoutVars>
      </dgm:prSet>
      <dgm:spPr/>
      <dgm:t>
        <a:bodyPr/>
        <a:lstStyle/>
        <a:p>
          <a:endParaRPr lang="fi-FI"/>
        </a:p>
      </dgm:t>
    </dgm:pt>
    <dgm:pt modelId="{3EA54C61-BACC-4E9C-BC27-A61FEAE762D4}" type="pres">
      <dgm:prSet presAssocID="{A62A0596-7958-4D13-B1F0-277329218813}" presName="desTx" presStyleLbl="alignAccFollowNode1" presStyleIdx="3" presStyleCnt="5">
        <dgm:presLayoutVars>
          <dgm:bulletEnabled val="1"/>
        </dgm:presLayoutVars>
      </dgm:prSet>
      <dgm:spPr/>
      <dgm:t>
        <a:bodyPr/>
        <a:lstStyle/>
        <a:p>
          <a:endParaRPr lang="fi-FI"/>
        </a:p>
      </dgm:t>
    </dgm:pt>
    <dgm:pt modelId="{57FD5A31-2B4F-419E-9AC0-4DB4F97690C3}" type="pres">
      <dgm:prSet presAssocID="{77CC37E5-8F70-4D94-88F9-1D3331C6DDF6}" presName="space" presStyleCnt="0"/>
      <dgm:spPr/>
    </dgm:pt>
    <dgm:pt modelId="{537FC409-6DFD-4EA2-879B-6BA15F6EEC6F}" type="pres">
      <dgm:prSet presAssocID="{CB24AE27-F590-420D-8335-1FDF9E994FD9}" presName="composite" presStyleCnt="0"/>
      <dgm:spPr/>
    </dgm:pt>
    <dgm:pt modelId="{274F625A-8B23-482F-B01E-40930FB6B9BA}" type="pres">
      <dgm:prSet presAssocID="{CB24AE27-F590-420D-8335-1FDF9E994FD9}" presName="parTx" presStyleLbl="alignNode1" presStyleIdx="4" presStyleCnt="5">
        <dgm:presLayoutVars>
          <dgm:chMax val="0"/>
          <dgm:chPref val="0"/>
          <dgm:bulletEnabled val="1"/>
        </dgm:presLayoutVars>
      </dgm:prSet>
      <dgm:spPr/>
      <dgm:t>
        <a:bodyPr/>
        <a:lstStyle/>
        <a:p>
          <a:endParaRPr lang="fi-FI"/>
        </a:p>
      </dgm:t>
    </dgm:pt>
    <dgm:pt modelId="{A98D0A91-9BD5-487C-90ED-13429E8857DE}" type="pres">
      <dgm:prSet presAssocID="{CB24AE27-F590-420D-8335-1FDF9E994FD9}" presName="desTx" presStyleLbl="alignAccFollowNode1" presStyleIdx="4" presStyleCnt="5">
        <dgm:presLayoutVars>
          <dgm:bulletEnabled val="1"/>
        </dgm:presLayoutVars>
      </dgm:prSet>
      <dgm:spPr/>
      <dgm:t>
        <a:bodyPr/>
        <a:lstStyle/>
        <a:p>
          <a:endParaRPr lang="fi-FI"/>
        </a:p>
      </dgm:t>
    </dgm:pt>
  </dgm:ptLst>
  <dgm:cxnLst>
    <dgm:cxn modelId="{A9CE73C0-FC55-45D4-BEE9-F1554B9E09FD}" srcId="{CB24AE27-F590-420D-8335-1FDF9E994FD9}" destId="{54DAE923-FAD1-40AB-A3A5-10C8C590322B}" srcOrd="0" destOrd="0" parTransId="{0ABEBBEB-E679-4637-A3EE-410DF753496E}" sibTransId="{892ACACA-307F-4EB2-8D49-8E0C59FB8425}"/>
    <dgm:cxn modelId="{D31B9D05-375C-4391-8F13-A7E402C920B2}" srcId="{2B78EEA2-3E9E-453D-A3E7-BA7697F65F35}" destId="{3CFE4F80-BD69-4435-ADC8-C128689E8C88}" srcOrd="9" destOrd="0" parTransId="{9CF0649E-4AE3-4751-B7C6-ED35F3BBAC1E}" sibTransId="{31AE838C-C67E-48A5-9EEE-31DDEE93A629}"/>
    <dgm:cxn modelId="{64A8FB1C-2A08-4CCC-94FF-D41517465E46}" srcId="{A62A0596-7958-4D13-B1F0-277329218813}" destId="{066BBAEA-4832-472A-BE7A-AA8B4FA97896}" srcOrd="1" destOrd="0" parTransId="{B61DE76C-F1DA-4DA6-AF8B-63685AF7C9B7}" sibTransId="{33A6FFED-EB8D-4081-9F8B-B5C175C0E855}"/>
    <dgm:cxn modelId="{494B8632-250E-41BE-B23F-20989A58C204}" type="presOf" srcId="{A62A0596-7958-4D13-B1F0-277329218813}" destId="{C86250A0-42DA-4251-A0DA-3A71795DF46F}" srcOrd="0" destOrd="0" presId="urn:microsoft.com/office/officeart/2005/8/layout/hList1"/>
    <dgm:cxn modelId="{3A122E18-529D-4C2A-88BD-A896EF6BCF97}" type="presOf" srcId="{CFB40678-8C31-4EC6-BC7D-9DAB9D7A7D51}" destId="{3EA54C61-BACC-4E9C-BC27-A61FEAE762D4}" srcOrd="0" destOrd="3" presId="urn:microsoft.com/office/officeart/2005/8/layout/hList1"/>
    <dgm:cxn modelId="{E40C501B-5167-40A0-9DFC-3E30A87C9E8D}" srcId="{2B78EEA2-3E9E-453D-A3E7-BA7697F65F35}" destId="{1F4A12F7-65C6-4140-B557-B34B3C108822}" srcOrd="7" destOrd="0" parTransId="{B59A59A9-C14E-4BD6-9B6C-9753CA1D9E5D}" sibTransId="{CA6C25E8-92F5-4B4D-91E0-F9CA492A1ACF}"/>
    <dgm:cxn modelId="{F62EA432-C0BC-4D5E-9D51-AF1CF381DCBB}" srcId="{3E6D530E-CAA1-4C14-95D4-266503000562}" destId="{FA46B958-9C12-49C7-893E-B79DAEDF213D}" srcOrd="11" destOrd="0" parTransId="{4D6F621F-E2F3-4BD4-A445-B406063EE7E3}" sibTransId="{42E82821-B060-4719-A39A-33BE8286C8F9}"/>
    <dgm:cxn modelId="{6734BF39-A89A-478A-82A5-881382C18736}" srcId="{2B78EEA2-3E9E-453D-A3E7-BA7697F65F35}" destId="{B5E1737C-EBEF-4165-9EE1-5CD342147CA8}" srcOrd="8" destOrd="0" parTransId="{C8D117B2-DA75-4537-AEBC-266B0CF90D79}" sibTransId="{295D0EAE-4968-4EA9-8BC1-B2102EC3D1A9}"/>
    <dgm:cxn modelId="{885223EC-E99C-4AA0-BF91-84BC030498A9}" srcId="{E3DBBE4C-E9B6-4BB4-9A96-DCB67BDC3109}" destId="{3BEAB62A-CB59-44EE-9089-364A469475D9}" srcOrd="2" destOrd="0" parTransId="{762E8501-F088-4144-9906-DD06F8419E25}" sibTransId="{61DED00C-FD35-425E-AAD0-C091BF1FB91C}"/>
    <dgm:cxn modelId="{8FCEBED4-A763-427E-BF06-D4244148D930}" type="presOf" srcId="{6A9FE0BC-4B53-48CC-980F-54B137416359}" destId="{695F9F04-9087-48C9-81AE-69079825EC2A}" srcOrd="0" destOrd="6" presId="urn:microsoft.com/office/officeart/2005/8/layout/hList1"/>
    <dgm:cxn modelId="{CC39DBD2-E973-4729-95BE-C339CEFE3B0F}" srcId="{3E6D530E-CAA1-4C14-95D4-266503000562}" destId="{A540D7FC-ABF4-45C7-B667-16F9758E82D3}" srcOrd="3" destOrd="0" parTransId="{C3772F8A-E347-4EA8-ACD9-233E49437105}" sibTransId="{A56B0E2B-6049-4A73-9B8C-29C586F9E122}"/>
    <dgm:cxn modelId="{8220C9B0-6E04-4413-8FDC-F946EF245710}" srcId="{3BEAB62A-CB59-44EE-9089-364A469475D9}" destId="{3E50B2E2-1C8D-4FE2-95A4-6AED1BFCFA6D}" srcOrd="1" destOrd="0" parTransId="{BCC45806-AE9B-4223-A92A-C6C8270FBBA4}" sibTransId="{4CD3000F-71C4-4A57-8F3D-7363A8EF9289}"/>
    <dgm:cxn modelId="{0ED3FCFA-DE8A-487C-AC9B-DA8DD92931DA}" type="presOf" srcId="{3E50B2E2-1C8D-4FE2-95A4-6AED1BFCFA6D}" destId="{79C3F119-DC7D-4246-84EF-BEFD03BDD65D}" srcOrd="0" destOrd="1" presId="urn:microsoft.com/office/officeart/2005/8/layout/hList1"/>
    <dgm:cxn modelId="{85B215BC-2B64-47C8-AF6C-067AEABB116B}" type="presOf" srcId="{E3DBBE4C-E9B6-4BB4-9A96-DCB67BDC3109}" destId="{E1AE04C4-A4EF-496F-B44B-8F5EAFBB3AAB}" srcOrd="0" destOrd="0" presId="urn:microsoft.com/office/officeart/2005/8/layout/hList1"/>
    <dgm:cxn modelId="{6CD42B29-09A0-46F3-8210-BB3148D7CFB2}" srcId="{3BEAB62A-CB59-44EE-9089-364A469475D9}" destId="{46BA04B2-93EA-4C6A-AC17-95EC3232C314}" srcOrd="2" destOrd="0" parTransId="{2308C78E-1061-4B9F-B1FE-DB83E7716C2B}" sibTransId="{529E79E6-7F51-442C-BE8A-77C19DB3BCED}"/>
    <dgm:cxn modelId="{706C096F-6A3B-446F-B949-FE54794189F6}" type="presOf" srcId="{6BDB87FF-7E96-4FFA-B480-E8B1A78A369D}" destId="{695F9F04-9087-48C9-81AE-69079825EC2A}" srcOrd="0" destOrd="10" presId="urn:microsoft.com/office/officeart/2005/8/layout/hList1"/>
    <dgm:cxn modelId="{0D7830AD-BD4D-4FE8-B204-E5D856A20D9B}" type="presOf" srcId="{02E8118E-07C2-440F-9DF4-534935E3CCEA}" destId="{79C3F119-DC7D-4246-84EF-BEFD03BDD65D}" srcOrd="0" destOrd="6" presId="urn:microsoft.com/office/officeart/2005/8/layout/hList1"/>
    <dgm:cxn modelId="{8E826B5B-04FB-47EA-AE2D-F138E3CF3039}" type="presOf" srcId="{70C868FE-6F65-4A89-A266-8D56D85EA10B}" destId="{A98D0A91-9BD5-487C-90ED-13429E8857DE}" srcOrd="0" destOrd="3" presId="urn:microsoft.com/office/officeart/2005/8/layout/hList1"/>
    <dgm:cxn modelId="{50712E49-C66C-4D75-9BB9-8E5804AD555B}" srcId="{3E6D530E-CAA1-4C14-95D4-266503000562}" destId="{1F57822C-2F0D-4CA1-97F6-6FE9AC610AB4}" srcOrd="4" destOrd="0" parTransId="{A5832140-9F52-493C-BDA0-1E59E0F10132}" sibTransId="{C769D3C0-C34F-46DD-A26D-43BA2DEA06B6}"/>
    <dgm:cxn modelId="{DB0AAC8B-AA2F-4FAA-BDC1-B61C2D07295E}" srcId="{CB24AE27-F590-420D-8335-1FDF9E994FD9}" destId="{70C868FE-6F65-4A89-A266-8D56D85EA10B}" srcOrd="3" destOrd="0" parTransId="{C1618E37-B460-4150-AA08-101CD14051D3}" sibTransId="{794CC9C8-5E51-4258-877B-8C0817EE102A}"/>
    <dgm:cxn modelId="{46E143C6-5116-44F6-A286-5A2211C09330}" type="presOf" srcId="{5C4B19C2-6A25-4302-AE17-0F6F116BA7CF}" destId="{695F9F04-9087-48C9-81AE-69079825EC2A}" srcOrd="0" destOrd="9" presId="urn:microsoft.com/office/officeart/2005/8/layout/hList1"/>
    <dgm:cxn modelId="{7F10045E-BF48-4FC9-ADD0-CDC330ED233A}" type="presOf" srcId="{4317E780-3231-4CF5-85DE-847C0C5CE0B2}" destId="{695F9F04-9087-48C9-81AE-69079825EC2A}" srcOrd="0" destOrd="1" presId="urn:microsoft.com/office/officeart/2005/8/layout/hList1"/>
    <dgm:cxn modelId="{1DCFE203-B835-41B1-8BE8-757940D811D7}" type="presOf" srcId="{066BBAEA-4832-472A-BE7A-AA8B4FA97896}" destId="{3EA54C61-BACC-4E9C-BC27-A61FEAE762D4}" srcOrd="0" destOrd="1" presId="urn:microsoft.com/office/officeart/2005/8/layout/hList1"/>
    <dgm:cxn modelId="{3820ED16-C880-4594-B54A-5AADE2D527AA}" srcId="{3E6D530E-CAA1-4C14-95D4-266503000562}" destId="{5C4B19C2-6A25-4302-AE17-0F6F116BA7CF}" srcOrd="9" destOrd="0" parTransId="{66D749DA-8907-4B8C-BCCA-A2BEF0B63984}" sibTransId="{B09418A7-05C5-4A27-A1C7-DE46F0C3EE40}"/>
    <dgm:cxn modelId="{F1F9CBFA-1CBE-46A5-8706-A765B2A07344}" type="presOf" srcId="{DD0607D4-092B-40C5-A99C-EECAA79C1707}" destId="{79C3F119-DC7D-4246-84EF-BEFD03BDD65D}" srcOrd="0" destOrd="0" presId="urn:microsoft.com/office/officeart/2005/8/layout/hList1"/>
    <dgm:cxn modelId="{829A0888-1454-42E8-988B-93CA01A56A3A}" type="presOf" srcId="{990859F4-9C6E-450C-BA56-462CBFE80C2C}" destId="{AADC72F3-0F30-4B15-A682-182ECAF8C204}" srcOrd="0" destOrd="1" presId="urn:microsoft.com/office/officeart/2005/8/layout/hList1"/>
    <dgm:cxn modelId="{6CEA966B-68C6-4855-B14A-66E5367DB492}" type="presOf" srcId="{46BA04B2-93EA-4C6A-AC17-95EC3232C314}" destId="{79C3F119-DC7D-4246-84EF-BEFD03BDD65D}" srcOrd="0" destOrd="2" presId="urn:microsoft.com/office/officeart/2005/8/layout/hList1"/>
    <dgm:cxn modelId="{892183BE-E1AF-4A5C-9455-E37D4DD65757}" srcId="{2B78EEA2-3E9E-453D-A3E7-BA7697F65F35}" destId="{6487B693-DC1E-4551-B30F-02CBF9C7AA8E}" srcOrd="3" destOrd="0" parTransId="{2536085B-3568-4931-9A21-20A43BADE1F9}" sibTransId="{E2C45A00-4C35-41B4-A85A-26F9A030FFCB}"/>
    <dgm:cxn modelId="{99CFE84A-591D-4CB6-830C-B6C1E82CD361}" type="presOf" srcId="{3BEAB62A-CB59-44EE-9089-364A469475D9}" destId="{A154C246-8AED-40F6-A2C4-4C0DBEBADF1B}" srcOrd="0" destOrd="0" presId="urn:microsoft.com/office/officeart/2005/8/layout/hList1"/>
    <dgm:cxn modelId="{C6D4ACED-A306-4C05-9192-FF8BB59B1D66}" type="presOf" srcId="{3E6D530E-CAA1-4C14-95D4-266503000562}" destId="{39B4AA2E-F145-4F68-9AA4-2A35EA9A252F}" srcOrd="0" destOrd="0" presId="urn:microsoft.com/office/officeart/2005/8/layout/hList1"/>
    <dgm:cxn modelId="{A34E58D9-E9D7-4AD7-9784-940C4D847FA5}" srcId="{2B78EEA2-3E9E-453D-A3E7-BA7697F65F35}" destId="{97370F8C-9D94-4BE8-A333-87D8BEA82F50}" srcOrd="4" destOrd="0" parTransId="{F9AA3644-0BC4-4506-BFAF-3B19BEC52F31}" sibTransId="{44C3C512-2ED9-421C-97FD-4CCC66B6D2FC}"/>
    <dgm:cxn modelId="{441802A2-0E54-455A-BABF-1B63E5C3A418}" type="presOf" srcId="{499D6F68-705A-4F67-9060-8D9B268935CC}" destId="{3EA54C61-BACC-4E9C-BC27-A61FEAE762D4}" srcOrd="0" destOrd="0" presId="urn:microsoft.com/office/officeart/2005/8/layout/hList1"/>
    <dgm:cxn modelId="{EEE19AC4-A8C2-421A-8D8B-87C136B1FAD3}" srcId="{3BEAB62A-CB59-44EE-9089-364A469475D9}" destId="{CAED5199-2803-4C0B-ADD1-74A88DD44CEE}" srcOrd="4" destOrd="0" parTransId="{DF4C6D67-B0C7-4866-8664-E15CB3C5A033}" sibTransId="{16E568F4-D261-46C2-B0EC-D18C733C571E}"/>
    <dgm:cxn modelId="{7FDD6685-D77E-4EAB-940B-EA12DFCB83E7}" type="presOf" srcId="{CB24AE27-F590-420D-8335-1FDF9E994FD9}" destId="{274F625A-8B23-482F-B01E-40930FB6B9BA}" srcOrd="0" destOrd="0" presId="urn:microsoft.com/office/officeart/2005/8/layout/hList1"/>
    <dgm:cxn modelId="{5520806D-1BCC-4369-A65E-DD53927304C3}" srcId="{2B78EEA2-3E9E-453D-A3E7-BA7697F65F35}" destId="{80267F03-5C5B-44C0-B5FF-091F4DD638A9}" srcOrd="5" destOrd="0" parTransId="{676ED32B-45D0-47E9-93E4-C341B4D3AD3F}" sibTransId="{A6D50A9D-5657-4712-ACD4-D32C717FE809}"/>
    <dgm:cxn modelId="{3CEADC81-FDD5-4E4A-9E8F-48DCA7E2B62C}" srcId="{CB24AE27-F590-420D-8335-1FDF9E994FD9}" destId="{543E33ED-CA28-4AE4-A784-CEC5354B3F18}" srcOrd="2" destOrd="0" parTransId="{388769A7-C293-4B52-9D29-BAA4B0918AD3}" sibTransId="{4A595BD6-A628-45D1-93D9-83BDC78493CB}"/>
    <dgm:cxn modelId="{7EB2B629-8041-4F38-867A-72DBD90B9FD1}" type="presOf" srcId="{3CFE4F80-BD69-4435-ADC8-C128689E8C88}" destId="{AADC72F3-0F30-4B15-A682-182ECAF8C204}" srcOrd="0" destOrd="9" presId="urn:microsoft.com/office/officeart/2005/8/layout/hList1"/>
    <dgm:cxn modelId="{FC4F5A31-2C3A-4200-8F86-66A61D400D1D}" srcId="{3E6D530E-CAA1-4C14-95D4-266503000562}" destId="{512B5FA1-4B52-4354-AAE5-30020E4EB6C8}" srcOrd="0" destOrd="0" parTransId="{FECB6464-D14D-48E9-BDD1-9368C998DBE9}" sibTransId="{48CCD3B9-A748-4D6D-A119-E3D08F1F252B}"/>
    <dgm:cxn modelId="{2EDC6CDA-7BDF-45ED-84D5-20D531F18988}" type="presOf" srcId="{54DAE923-FAD1-40AB-A3A5-10C8C590322B}" destId="{A98D0A91-9BD5-487C-90ED-13429E8857DE}" srcOrd="0" destOrd="0" presId="urn:microsoft.com/office/officeart/2005/8/layout/hList1"/>
    <dgm:cxn modelId="{544DF48D-0D49-4ED0-A33B-6D628E381D04}" srcId="{A62A0596-7958-4D13-B1F0-277329218813}" destId="{499D6F68-705A-4F67-9060-8D9B268935CC}" srcOrd="0" destOrd="0" parTransId="{742CC0AD-7DE6-45B1-8DBA-E6B8E01FF87D}" sibTransId="{FF5FAA94-FF12-4C6E-B8CD-69A73412F8E6}"/>
    <dgm:cxn modelId="{0F2D7856-33ED-4DAC-829F-D3E993BE3555}" srcId="{3E6D530E-CAA1-4C14-95D4-266503000562}" destId="{4317E780-3231-4CF5-85DE-847C0C5CE0B2}" srcOrd="1" destOrd="0" parTransId="{88BE2D35-8A00-4F9F-8B0D-6283854E20F1}" sibTransId="{62977A43-67CC-4442-8418-700826FFDFEF}"/>
    <dgm:cxn modelId="{4E459A97-1397-4A44-B6A0-68F12B45DD86}" type="presOf" srcId="{CE5D7623-D01A-493D-AE5A-48E2643136F9}" destId="{695F9F04-9087-48C9-81AE-69079825EC2A}" srcOrd="0" destOrd="7" presId="urn:microsoft.com/office/officeart/2005/8/layout/hList1"/>
    <dgm:cxn modelId="{8020D16D-0D73-4726-B493-FC9B61828C01}" type="presOf" srcId="{97370F8C-9D94-4BE8-A333-87D8BEA82F50}" destId="{AADC72F3-0F30-4B15-A682-182ECAF8C204}" srcOrd="0" destOrd="4" presId="urn:microsoft.com/office/officeart/2005/8/layout/hList1"/>
    <dgm:cxn modelId="{48854144-1180-46A5-BBD2-6250EBD26AC9}" type="presOf" srcId="{F4C6A7A8-A234-4C50-8477-6CA6FFFA4E83}" destId="{3EA54C61-BACC-4E9C-BC27-A61FEAE762D4}" srcOrd="0" destOrd="2" presId="urn:microsoft.com/office/officeart/2005/8/layout/hList1"/>
    <dgm:cxn modelId="{077CF4E3-B636-496D-AE23-7B688EDFB1C9}" srcId="{A62A0596-7958-4D13-B1F0-277329218813}" destId="{F4C6A7A8-A234-4C50-8477-6CA6FFFA4E83}" srcOrd="2" destOrd="0" parTransId="{60A6F7A8-4DA6-4298-84A6-6A51CA3EB0BC}" sibTransId="{8D6DC025-55DA-4CE7-B1DB-490D29F3575F}"/>
    <dgm:cxn modelId="{48C6ADE2-FEBA-4B29-ADE0-EBDD6EE727E9}" srcId="{E3DBBE4C-E9B6-4BB4-9A96-DCB67BDC3109}" destId="{3E6D530E-CAA1-4C14-95D4-266503000562}" srcOrd="1" destOrd="0" parTransId="{D65EB6FD-0808-45C4-A55D-C8534F9318C6}" sibTransId="{5CA5E636-A696-42AC-A5E1-DEDEBDFD5BB5}"/>
    <dgm:cxn modelId="{AD5FBACD-B790-4050-8F87-83707989CBC9}" type="presOf" srcId="{1F57822C-2F0D-4CA1-97F6-6FE9AC610AB4}" destId="{695F9F04-9087-48C9-81AE-69079825EC2A}" srcOrd="0" destOrd="4" presId="urn:microsoft.com/office/officeart/2005/8/layout/hList1"/>
    <dgm:cxn modelId="{500056EF-771D-49E0-A2FA-8DAB064A462F}" srcId="{E3DBBE4C-E9B6-4BB4-9A96-DCB67BDC3109}" destId="{2B78EEA2-3E9E-453D-A3E7-BA7697F65F35}" srcOrd="0" destOrd="0" parTransId="{9F5A3DF3-EE8D-481F-B937-EA593A09C150}" sibTransId="{228FC06C-3F7D-4B3E-B528-CE84F63C1489}"/>
    <dgm:cxn modelId="{1EE87094-34E4-4565-B078-C04B3AEE1198}" srcId="{3BEAB62A-CB59-44EE-9089-364A469475D9}" destId="{02E8118E-07C2-440F-9DF4-534935E3CCEA}" srcOrd="6" destOrd="0" parTransId="{B01F1606-B600-47F2-81BE-FA4A25C6E88F}" sibTransId="{45283A35-5331-4AEF-BA24-ED47FDCE13F3}"/>
    <dgm:cxn modelId="{D975B545-11BB-4A02-B6F8-EEEABD087DE8}" srcId="{A62A0596-7958-4D13-B1F0-277329218813}" destId="{CFB40678-8C31-4EC6-BC7D-9DAB9D7A7D51}" srcOrd="3" destOrd="0" parTransId="{631C4A3E-F396-48F8-8948-2780E95D5FC2}" sibTransId="{A4152509-8972-46AE-9676-B66B86CE9DDF}"/>
    <dgm:cxn modelId="{C9E7CD4E-D5B7-47BC-BFAB-CF7C9F1A115A}" srcId="{2B78EEA2-3E9E-453D-A3E7-BA7697F65F35}" destId="{640CE607-9A8F-4228-8038-4E457FF1DDB1}" srcOrd="6" destOrd="0" parTransId="{701C17DF-D662-4C3F-B113-81B3890369A4}" sibTransId="{2E4E0EFB-F1C6-4855-A6DC-A7B63DB57135}"/>
    <dgm:cxn modelId="{84971C5E-B1CF-4D27-97F5-AE1EF6CC04FD}" srcId="{E3DBBE4C-E9B6-4BB4-9A96-DCB67BDC3109}" destId="{A62A0596-7958-4D13-B1F0-277329218813}" srcOrd="3" destOrd="0" parTransId="{EF49306A-5054-445F-B9EF-B45C9B56C87D}" sibTransId="{77CC37E5-8F70-4D94-88F9-1D3331C6DDF6}"/>
    <dgm:cxn modelId="{3395C31C-2D46-4F70-8013-B48C79C5D085}" srcId="{3E6D530E-CAA1-4C14-95D4-266503000562}" destId="{D062FAAB-6061-4034-8EEB-D8706E9A14C3}" srcOrd="2" destOrd="0" parTransId="{E54F5CD4-ECB0-4E77-8035-1530185FB65F}" sibTransId="{507CAF28-DA88-47C4-89A6-40FD7A1F2B38}"/>
    <dgm:cxn modelId="{E175B5CD-ADAE-4294-B003-35C7E3A698C9}" srcId="{3E6D530E-CAA1-4C14-95D4-266503000562}" destId="{6BDB87FF-7E96-4FFA-B480-E8B1A78A369D}" srcOrd="10" destOrd="0" parTransId="{F3006072-9096-4944-90E0-06FCBE5E32B3}" sibTransId="{C578C31D-D5E5-426E-B53E-89E8419FA5DC}"/>
    <dgm:cxn modelId="{33438249-B569-4D83-9B27-8864A0835C4C}" type="presOf" srcId="{543E33ED-CA28-4AE4-A784-CEC5354B3F18}" destId="{A98D0A91-9BD5-487C-90ED-13429E8857DE}" srcOrd="0" destOrd="2" presId="urn:microsoft.com/office/officeart/2005/8/layout/hList1"/>
    <dgm:cxn modelId="{60E545B1-7B6A-46D6-8AF1-39F05DEFAF8F}" srcId="{2B78EEA2-3E9E-453D-A3E7-BA7697F65F35}" destId="{77B2BA16-CE2E-4FE7-847C-4A96E977EAC7}" srcOrd="0" destOrd="0" parTransId="{EFB2A0E3-5612-401B-96DC-1711BBAA295D}" sibTransId="{5AAD1A87-4712-446E-AE44-86C60D92A7AD}"/>
    <dgm:cxn modelId="{243F4E56-D2C9-454C-96D7-7141CC26C33B}" type="presOf" srcId="{BAB26BE3-60C7-44D7-9D79-E4E27CC3692A}" destId="{A98D0A91-9BD5-487C-90ED-13429E8857DE}" srcOrd="0" destOrd="1" presId="urn:microsoft.com/office/officeart/2005/8/layout/hList1"/>
    <dgm:cxn modelId="{EDF7B173-3E72-4F94-A44D-BBBF66C630E0}" srcId="{CB24AE27-F590-420D-8335-1FDF9E994FD9}" destId="{BAB26BE3-60C7-44D7-9D79-E4E27CC3692A}" srcOrd="1" destOrd="0" parTransId="{90CF776B-F797-4929-82AF-25D4A64DF88E}" sibTransId="{905B7084-3592-4745-A1C3-1F3DC1A2BDDC}"/>
    <dgm:cxn modelId="{F0E7C6B8-86A5-4D51-BD70-1979CE90616F}" srcId="{3BEAB62A-CB59-44EE-9089-364A469475D9}" destId="{751EA03E-A274-43A0-92F0-44F43FDC4791}" srcOrd="5" destOrd="0" parTransId="{E6B69431-9D5F-4D72-8015-3540E0B3A42C}" sibTransId="{7DF79010-4D43-432B-BBD5-548769995B21}"/>
    <dgm:cxn modelId="{FB3F1945-4C66-46AF-82FB-459F2B5F94D1}" type="presOf" srcId="{CAED5199-2803-4C0B-ADD1-74A88DD44CEE}" destId="{79C3F119-DC7D-4246-84EF-BEFD03BDD65D}" srcOrd="0" destOrd="4" presId="urn:microsoft.com/office/officeart/2005/8/layout/hList1"/>
    <dgm:cxn modelId="{88D99226-B74F-42E7-BD62-005FE5904F08}" type="presOf" srcId="{80267F03-5C5B-44C0-B5FF-091F4DD638A9}" destId="{AADC72F3-0F30-4B15-A682-182ECAF8C204}" srcOrd="0" destOrd="5" presId="urn:microsoft.com/office/officeart/2005/8/layout/hList1"/>
    <dgm:cxn modelId="{2E630D46-6CDD-4AA1-91F0-4571FE628298}" type="presOf" srcId="{FA46B958-9C12-49C7-893E-B79DAEDF213D}" destId="{695F9F04-9087-48C9-81AE-69079825EC2A}" srcOrd="0" destOrd="11" presId="urn:microsoft.com/office/officeart/2005/8/layout/hList1"/>
    <dgm:cxn modelId="{4AB268B5-0DE1-4A83-B238-8E37AF3D8D05}" type="presOf" srcId="{4FDC6A11-0671-4279-899C-B764639F3E4D}" destId="{79C3F119-DC7D-4246-84EF-BEFD03BDD65D}" srcOrd="0" destOrd="3" presId="urn:microsoft.com/office/officeart/2005/8/layout/hList1"/>
    <dgm:cxn modelId="{8F11E966-E64A-4F28-A5BC-82C11AAD6A84}" type="presOf" srcId="{4D37A45E-E9E4-4D77-88E7-42B9541EC6F6}" destId="{AADC72F3-0F30-4B15-A682-182ECAF8C204}" srcOrd="0" destOrd="2" presId="urn:microsoft.com/office/officeart/2005/8/layout/hList1"/>
    <dgm:cxn modelId="{4B0C9862-1164-48EC-B931-8940B337756F}" srcId="{2B78EEA2-3E9E-453D-A3E7-BA7697F65F35}" destId="{4D37A45E-E9E4-4D77-88E7-42B9541EC6F6}" srcOrd="2" destOrd="0" parTransId="{5421FA4F-6B61-4691-94E1-EEDD5C89ABA6}" sibTransId="{650CFD70-A547-4769-B58C-9813E77E63F6}"/>
    <dgm:cxn modelId="{AE8C5EF2-E05C-4D7B-A8D1-F7580B117103}" type="presOf" srcId="{D062FAAB-6061-4034-8EEB-D8706E9A14C3}" destId="{695F9F04-9087-48C9-81AE-69079825EC2A}" srcOrd="0" destOrd="2" presId="urn:microsoft.com/office/officeart/2005/8/layout/hList1"/>
    <dgm:cxn modelId="{7B691B59-AB0E-4DA5-A0A8-97DB0AAF3388}" type="presOf" srcId="{56149251-EBA5-4D14-96F3-C2B7CD2AAA73}" destId="{695F9F04-9087-48C9-81AE-69079825EC2A}" srcOrd="0" destOrd="8" presId="urn:microsoft.com/office/officeart/2005/8/layout/hList1"/>
    <dgm:cxn modelId="{293A5EFF-C899-4843-88DC-F32A65F31A19}" srcId="{3BEAB62A-CB59-44EE-9089-364A469475D9}" destId="{4FDC6A11-0671-4279-899C-B764639F3E4D}" srcOrd="3" destOrd="0" parTransId="{09A9FD3F-0D2E-4162-8B3E-1CD1A4F10EC5}" sibTransId="{24A4725F-00A5-41D6-8088-0D7A658060DE}"/>
    <dgm:cxn modelId="{C4721225-CDFE-4FF6-BB4A-C00AC6DE56CB}" type="presOf" srcId="{AA3F5DC4-D6FD-4FAE-A49C-23C3720EA429}" destId="{AADC72F3-0F30-4B15-A682-182ECAF8C204}" srcOrd="0" destOrd="10" presId="urn:microsoft.com/office/officeart/2005/8/layout/hList1"/>
    <dgm:cxn modelId="{B1DC7088-D587-46D4-80CE-94BDF497FE98}" type="presOf" srcId="{5B346295-C178-4725-842E-70252447D3B0}" destId="{695F9F04-9087-48C9-81AE-69079825EC2A}" srcOrd="0" destOrd="5" presId="urn:microsoft.com/office/officeart/2005/8/layout/hList1"/>
    <dgm:cxn modelId="{AC170036-18AD-49AB-BE44-0BED2B9EA771}" type="presOf" srcId="{77B2BA16-CE2E-4FE7-847C-4A96E977EAC7}" destId="{AADC72F3-0F30-4B15-A682-182ECAF8C204}" srcOrd="0" destOrd="0" presId="urn:microsoft.com/office/officeart/2005/8/layout/hList1"/>
    <dgm:cxn modelId="{0AB0A912-71E4-429A-A76C-DD365B2EE488}" srcId="{2B78EEA2-3E9E-453D-A3E7-BA7697F65F35}" destId="{990859F4-9C6E-450C-BA56-462CBFE80C2C}" srcOrd="1" destOrd="0" parTransId="{501A1E97-E2A3-4C82-86EC-C73C887C997C}" sibTransId="{BF720849-D017-481C-AC15-1F23C957102E}"/>
    <dgm:cxn modelId="{5695C9E8-F942-490E-A51B-C0DBC3974DFD}" srcId="{3E6D530E-CAA1-4C14-95D4-266503000562}" destId="{56149251-EBA5-4D14-96F3-C2B7CD2AAA73}" srcOrd="8" destOrd="0" parTransId="{3482DC9D-9D6C-4721-AC15-B7B6168B324C}" sibTransId="{45B5C982-9565-4892-A6C9-935824CA634B}"/>
    <dgm:cxn modelId="{FC70CD3B-D784-4770-9B66-613980F1CCE9}" srcId="{3E6D530E-CAA1-4C14-95D4-266503000562}" destId="{5B346295-C178-4725-842E-70252447D3B0}" srcOrd="5" destOrd="0" parTransId="{8690D7C4-8DF2-427A-AC63-B498F801BC43}" sibTransId="{90F90DD4-FDCE-47FE-9A74-F97F9AD5FE88}"/>
    <dgm:cxn modelId="{353B68A3-63E9-4E30-9FC1-005CA75CC3A6}" type="presOf" srcId="{A540D7FC-ABF4-45C7-B667-16F9758E82D3}" destId="{695F9F04-9087-48C9-81AE-69079825EC2A}" srcOrd="0" destOrd="3" presId="urn:microsoft.com/office/officeart/2005/8/layout/hList1"/>
    <dgm:cxn modelId="{0202D3CD-3997-4C88-B553-CCC7DE52F2C2}" type="presOf" srcId="{6487B693-DC1E-4551-B30F-02CBF9C7AA8E}" destId="{AADC72F3-0F30-4B15-A682-182ECAF8C204}" srcOrd="0" destOrd="3" presId="urn:microsoft.com/office/officeart/2005/8/layout/hList1"/>
    <dgm:cxn modelId="{047AC69C-D8B0-45FD-9061-612F12FDB0D3}" type="presOf" srcId="{B5E1737C-EBEF-4165-9EE1-5CD342147CA8}" destId="{AADC72F3-0F30-4B15-A682-182ECAF8C204}" srcOrd="0" destOrd="8" presId="urn:microsoft.com/office/officeart/2005/8/layout/hList1"/>
    <dgm:cxn modelId="{00C37206-1D89-415E-B986-D893179FD9A3}" type="presOf" srcId="{512B5FA1-4B52-4354-AAE5-30020E4EB6C8}" destId="{695F9F04-9087-48C9-81AE-69079825EC2A}" srcOrd="0" destOrd="0" presId="urn:microsoft.com/office/officeart/2005/8/layout/hList1"/>
    <dgm:cxn modelId="{C7CF3CFD-3AB1-4179-9BC7-7889D286F83C}" srcId="{3BEAB62A-CB59-44EE-9089-364A469475D9}" destId="{DD0607D4-092B-40C5-A99C-EECAA79C1707}" srcOrd="0" destOrd="0" parTransId="{1676A9DD-0A6F-47A8-A123-9B36BD886DDB}" sibTransId="{11426CE1-C002-45CF-B76C-162AE1020516}"/>
    <dgm:cxn modelId="{21406B72-54A6-4822-B933-58FF929BD99F}" srcId="{E3DBBE4C-E9B6-4BB4-9A96-DCB67BDC3109}" destId="{CB24AE27-F590-420D-8335-1FDF9E994FD9}" srcOrd="4" destOrd="0" parTransId="{C9704ECB-9442-435C-999D-80E5C991B5C3}" sibTransId="{9E0CB4F0-C010-48E7-BBF3-E09EAE1163AA}"/>
    <dgm:cxn modelId="{72FE9379-0A77-475C-BE2A-0CA15FD80941}" type="presOf" srcId="{1F4A12F7-65C6-4140-B557-B34B3C108822}" destId="{AADC72F3-0F30-4B15-A682-182ECAF8C204}" srcOrd="0" destOrd="7" presId="urn:microsoft.com/office/officeart/2005/8/layout/hList1"/>
    <dgm:cxn modelId="{6D205DBC-C212-4A50-A733-898F3A9BFEED}" srcId="{2B78EEA2-3E9E-453D-A3E7-BA7697F65F35}" destId="{AA3F5DC4-D6FD-4FAE-A49C-23C3720EA429}" srcOrd="10" destOrd="0" parTransId="{F6D38961-4FE0-4486-91A9-8C44176857CE}" sibTransId="{607535D3-4DAD-4243-886A-FD1CBDA0ACA3}"/>
    <dgm:cxn modelId="{B99D7A6E-42F8-46A0-8AFF-2F24372EF7D3}" srcId="{3E6D530E-CAA1-4C14-95D4-266503000562}" destId="{CE5D7623-D01A-493D-AE5A-48E2643136F9}" srcOrd="7" destOrd="0" parTransId="{07D3EA7E-EC2B-4726-A238-23CD2FD96D3B}" sibTransId="{CB031AE2-FA0F-4124-8266-A451FAB276F3}"/>
    <dgm:cxn modelId="{3DBE4720-5019-43DE-A612-13A72181541C}" type="presOf" srcId="{640CE607-9A8F-4228-8038-4E457FF1DDB1}" destId="{AADC72F3-0F30-4B15-A682-182ECAF8C204}" srcOrd="0" destOrd="6" presId="urn:microsoft.com/office/officeart/2005/8/layout/hList1"/>
    <dgm:cxn modelId="{3AE28D25-512D-462F-A079-D0C3515F0FCE}" type="presOf" srcId="{2B78EEA2-3E9E-453D-A3E7-BA7697F65F35}" destId="{2C5EE660-A48F-41AA-8921-D8F663103EE8}" srcOrd="0" destOrd="0" presId="urn:microsoft.com/office/officeart/2005/8/layout/hList1"/>
    <dgm:cxn modelId="{66DE9C6A-99DD-424B-B09E-74715429827E}" srcId="{3E6D530E-CAA1-4C14-95D4-266503000562}" destId="{6A9FE0BC-4B53-48CC-980F-54B137416359}" srcOrd="6" destOrd="0" parTransId="{0EBDCF13-BEC0-46CF-8D27-68811F7B8E0E}" sibTransId="{43C987BF-41B9-498B-8EC5-9BCB395174B6}"/>
    <dgm:cxn modelId="{DB7A33C8-938A-4E2D-A0F5-E55CDB4FD6F7}" type="presOf" srcId="{751EA03E-A274-43A0-92F0-44F43FDC4791}" destId="{79C3F119-DC7D-4246-84EF-BEFD03BDD65D}" srcOrd="0" destOrd="5" presId="urn:microsoft.com/office/officeart/2005/8/layout/hList1"/>
    <dgm:cxn modelId="{93767256-34E5-4F9B-90A8-B44340943024}" type="presParOf" srcId="{E1AE04C4-A4EF-496F-B44B-8F5EAFBB3AAB}" destId="{781AD6DB-FA27-4B5E-864F-B52D59CB5E15}" srcOrd="0" destOrd="0" presId="urn:microsoft.com/office/officeart/2005/8/layout/hList1"/>
    <dgm:cxn modelId="{34755224-5B3D-42F3-9FC6-EBA78448B0E0}" type="presParOf" srcId="{781AD6DB-FA27-4B5E-864F-B52D59CB5E15}" destId="{2C5EE660-A48F-41AA-8921-D8F663103EE8}" srcOrd="0" destOrd="0" presId="urn:microsoft.com/office/officeart/2005/8/layout/hList1"/>
    <dgm:cxn modelId="{AACAB24C-D1E4-4FA8-8170-2CE77EC3113D}" type="presParOf" srcId="{781AD6DB-FA27-4B5E-864F-B52D59CB5E15}" destId="{AADC72F3-0F30-4B15-A682-182ECAF8C204}" srcOrd="1" destOrd="0" presId="urn:microsoft.com/office/officeart/2005/8/layout/hList1"/>
    <dgm:cxn modelId="{15008B3C-9D00-47B3-8FDE-8CF9A64B3E6A}" type="presParOf" srcId="{E1AE04C4-A4EF-496F-B44B-8F5EAFBB3AAB}" destId="{5A0A6F97-87B5-4927-9F42-0241DF86A13E}" srcOrd="1" destOrd="0" presId="urn:microsoft.com/office/officeart/2005/8/layout/hList1"/>
    <dgm:cxn modelId="{C452016E-55BC-4F4A-A727-D5B8DA9A0D33}" type="presParOf" srcId="{E1AE04C4-A4EF-496F-B44B-8F5EAFBB3AAB}" destId="{324D4814-65B1-4E73-A157-36DA36FFD694}" srcOrd="2" destOrd="0" presId="urn:microsoft.com/office/officeart/2005/8/layout/hList1"/>
    <dgm:cxn modelId="{9576739F-E689-4D84-AAD0-768054238DBC}" type="presParOf" srcId="{324D4814-65B1-4E73-A157-36DA36FFD694}" destId="{39B4AA2E-F145-4F68-9AA4-2A35EA9A252F}" srcOrd="0" destOrd="0" presId="urn:microsoft.com/office/officeart/2005/8/layout/hList1"/>
    <dgm:cxn modelId="{1EF0D6B2-DF9F-4E9A-8FD3-93B0BA9DA0C2}" type="presParOf" srcId="{324D4814-65B1-4E73-A157-36DA36FFD694}" destId="{695F9F04-9087-48C9-81AE-69079825EC2A}" srcOrd="1" destOrd="0" presId="urn:microsoft.com/office/officeart/2005/8/layout/hList1"/>
    <dgm:cxn modelId="{17C01ACD-8F4A-4FCA-80AE-0A43B5858A89}" type="presParOf" srcId="{E1AE04C4-A4EF-496F-B44B-8F5EAFBB3AAB}" destId="{6F6D417E-AE03-47C1-98BA-0C908499A1EF}" srcOrd="3" destOrd="0" presId="urn:microsoft.com/office/officeart/2005/8/layout/hList1"/>
    <dgm:cxn modelId="{4DA63572-51E6-4813-801C-F46D3835E3EC}" type="presParOf" srcId="{E1AE04C4-A4EF-496F-B44B-8F5EAFBB3AAB}" destId="{1406399E-BDB6-4544-9059-EA621353BECE}" srcOrd="4" destOrd="0" presId="urn:microsoft.com/office/officeart/2005/8/layout/hList1"/>
    <dgm:cxn modelId="{775183C0-C32E-4C94-971C-B7F1E3F16F9D}" type="presParOf" srcId="{1406399E-BDB6-4544-9059-EA621353BECE}" destId="{A154C246-8AED-40F6-A2C4-4C0DBEBADF1B}" srcOrd="0" destOrd="0" presId="urn:microsoft.com/office/officeart/2005/8/layout/hList1"/>
    <dgm:cxn modelId="{30E02D2F-8280-4930-9BC7-49F40A0D3B93}" type="presParOf" srcId="{1406399E-BDB6-4544-9059-EA621353BECE}" destId="{79C3F119-DC7D-4246-84EF-BEFD03BDD65D}" srcOrd="1" destOrd="0" presId="urn:microsoft.com/office/officeart/2005/8/layout/hList1"/>
    <dgm:cxn modelId="{65613F34-8A04-4E23-A647-28366B41BD6C}" type="presParOf" srcId="{E1AE04C4-A4EF-496F-B44B-8F5EAFBB3AAB}" destId="{4FB2646A-F1BB-448B-AC6B-D95FF54EAAD6}" srcOrd="5" destOrd="0" presId="urn:microsoft.com/office/officeart/2005/8/layout/hList1"/>
    <dgm:cxn modelId="{8724C356-B767-4688-AF22-8E3A13B55ABB}" type="presParOf" srcId="{E1AE04C4-A4EF-496F-B44B-8F5EAFBB3AAB}" destId="{86F4FE88-2D40-44DD-B2CB-5393093F9C35}" srcOrd="6" destOrd="0" presId="urn:microsoft.com/office/officeart/2005/8/layout/hList1"/>
    <dgm:cxn modelId="{E8C3D344-C64C-4A04-862C-8AF34BC385C6}" type="presParOf" srcId="{86F4FE88-2D40-44DD-B2CB-5393093F9C35}" destId="{C86250A0-42DA-4251-A0DA-3A71795DF46F}" srcOrd="0" destOrd="0" presId="urn:microsoft.com/office/officeart/2005/8/layout/hList1"/>
    <dgm:cxn modelId="{358EC2BD-98A4-43EB-A016-AC596536DC3B}" type="presParOf" srcId="{86F4FE88-2D40-44DD-B2CB-5393093F9C35}" destId="{3EA54C61-BACC-4E9C-BC27-A61FEAE762D4}" srcOrd="1" destOrd="0" presId="urn:microsoft.com/office/officeart/2005/8/layout/hList1"/>
    <dgm:cxn modelId="{E3E52D49-454C-434A-82C6-0A91EFA5951D}" type="presParOf" srcId="{E1AE04C4-A4EF-496F-B44B-8F5EAFBB3AAB}" destId="{57FD5A31-2B4F-419E-9AC0-4DB4F97690C3}" srcOrd="7" destOrd="0" presId="urn:microsoft.com/office/officeart/2005/8/layout/hList1"/>
    <dgm:cxn modelId="{71F6EA5A-6733-40DC-A97F-1AFE1EE9AE9B}" type="presParOf" srcId="{E1AE04C4-A4EF-496F-B44B-8F5EAFBB3AAB}" destId="{537FC409-6DFD-4EA2-879B-6BA15F6EEC6F}" srcOrd="8" destOrd="0" presId="urn:microsoft.com/office/officeart/2005/8/layout/hList1"/>
    <dgm:cxn modelId="{61E4920D-87CE-4849-A8FE-11062B616EA3}" type="presParOf" srcId="{537FC409-6DFD-4EA2-879B-6BA15F6EEC6F}" destId="{274F625A-8B23-482F-B01E-40930FB6B9BA}" srcOrd="0" destOrd="0" presId="urn:microsoft.com/office/officeart/2005/8/layout/hList1"/>
    <dgm:cxn modelId="{DEE2AEC5-F1B7-4705-ACD1-8252DDA281E5}" type="presParOf" srcId="{537FC409-6DFD-4EA2-879B-6BA15F6EEC6F}" destId="{A98D0A91-9BD5-487C-90ED-13429E8857DE}"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6554147D-D886-4876-AE47-05B19DBA3D40}" type="doc">
      <dgm:prSet loTypeId="urn:microsoft.com/office/officeart/2005/8/layout/matrix3" loCatId="matrix" qsTypeId="urn:microsoft.com/office/officeart/2005/8/quickstyle/simple1" qsCatId="simple" csTypeId="urn:microsoft.com/office/officeart/2005/8/colors/colorful1#20" csCatId="colorful" phldr="1"/>
      <dgm:spPr/>
      <dgm:t>
        <a:bodyPr/>
        <a:lstStyle/>
        <a:p>
          <a:endParaRPr lang="fi-FI"/>
        </a:p>
      </dgm:t>
    </dgm:pt>
    <dgm:pt modelId="{3F986CD5-32D2-40F9-8FE1-5F7D4B828171}">
      <dgm:prSet/>
      <dgm:spPr/>
      <dgm:t>
        <a:bodyPr/>
        <a:lstStyle/>
        <a:p>
          <a:pPr rtl="0"/>
          <a:r>
            <a:rPr lang="fi-FI" dirty="0" smtClean="0"/>
            <a:t>Kehittyvä testaus-dokumentaatio</a:t>
          </a:r>
          <a:endParaRPr lang="en-US" dirty="0"/>
        </a:p>
      </dgm:t>
    </dgm:pt>
    <dgm:pt modelId="{F8011F23-2E94-411F-8696-8C9616075A6A}" type="parTrans" cxnId="{1479695B-F356-4758-A7A5-EAEE36EEF0B7}">
      <dgm:prSet/>
      <dgm:spPr/>
      <dgm:t>
        <a:bodyPr/>
        <a:lstStyle/>
        <a:p>
          <a:endParaRPr lang="fi-FI"/>
        </a:p>
      </dgm:t>
    </dgm:pt>
    <dgm:pt modelId="{9A6E985A-2A54-4409-A380-ECB1FEE08C93}" type="sibTrans" cxnId="{1479695B-F356-4758-A7A5-EAEE36EEF0B7}">
      <dgm:prSet/>
      <dgm:spPr/>
      <dgm:t>
        <a:bodyPr/>
        <a:lstStyle/>
        <a:p>
          <a:endParaRPr lang="fi-FI"/>
        </a:p>
      </dgm:t>
    </dgm:pt>
    <dgm:pt modelId="{4081022E-D463-44F8-9169-452FE7A0A7D5}">
      <dgm:prSet/>
      <dgm:spPr/>
      <dgm:t>
        <a:bodyPr/>
        <a:lstStyle/>
        <a:p>
          <a:pPr rtl="0"/>
          <a:r>
            <a:rPr lang="fi-FI" dirty="0" smtClean="0"/>
            <a:t>Taidot ja taktiikat</a:t>
          </a:r>
          <a:endParaRPr lang="en-US" dirty="0"/>
        </a:p>
      </dgm:t>
    </dgm:pt>
    <dgm:pt modelId="{7E026B62-94DB-4102-AB4C-7766EFA188AC}" type="parTrans" cxnId="{C90D52CF-A8C6-41F9-95A7-58A11D6D9332}">
      <dgm:prSet/>
      <dgm:spPr/>
      <dgm:t>
        <a:bodyPr/>
        <a:lstStyle/>
        <a:p>
          <a:endParaRPr lang="fi-FI"/>
        </a:p>
      </dgm:t>
    </dgm:pt>
    <dgm:pt modelId="{C9DBFACC-C6E8-4F56-993E-69DD5F059A0C}" type="sibTrans" cxnId="{C90D52CF-A8C6-41F9-95A7-58A11D6D9332}">
      <dgm:prSet/>
      <dgm:spPr/>
      <dgm:t>
        <a:bodyPr/>
        <a:lstStyle/>
        <a:p>
          <a:endParaRPr lang="fi-FI"/>
        </a:p>
      </dgm:t>
    </dgm:pt>
    <dgm:pt modelId="{4747557A-B876-4573-811E-945CC3DFCA7B}">
      <dgm:prSet/>
      <dgm:spPr/>
      <dgm:t>
        <a:bodyPr/>
        <a:lstStyle/>
        <a:p>
          <a:pPr rtl="0"/>
          <a:r>
            <a:rPr lang="fi-FI" dirty="0" smtClean="0"/>
            <a:t>Testauksen ääripäät</a:t>
          </a:r>
          <a:endParaRPr lang="en-US" dirty="0"/>
        </a:p>
      </dgm:t>
    </dgm:pt>
    <dgm:pt modelId="{017BBB5C-744F-416F-9EAE-C4AEAD80CEC7}" type="parTrans" cxnId="{F47A41D0-2DF9-4095-9544-530173552892}">
      <dgm:prSet/>
      <dgm:spPr/>
      <dgm:t>
        <a:bodyPr/>
        <a:lstStyle/>
        <a:p>
          <a:endParaRPr lang="fi-FI"/>
        </a:p>
      </dgm:t>
    </dgm:pt>
    <dgm:pt modelId="{9352335F-1F6B-427C-ACA9-412A2D2D9AA6}" type="sibTrans" cxnId="{F47A41D0-2DF9-4095-9544-530173552892}">
      <dgm:prSet/>
      <dgm:spPr/>
      <dgm:t>
        <a:bodyPr/>
        <a:lstStyle/>
        <a:p>
          <a:endParaRPr lang="fi-FI"/>
        </a:p>
      </dgm:t>
    </dgm:pt>
    <dgm:pt modelId="{FE912E28-430B-4BA2-965A-FEB7244805A3}">
      <dgm:prSet/>
      <dgm:spPr/>
      <dgm:t>
        <a:bodyPr/>
        <a:lstStyle/>
        <a:p>
          <a:pPr rtl="0"/>
          <a:r>
            <a:rPr lang="fi-FI" dirty="0" smtClean="0"/>
            <a:t>Testi-strategia</a:t>
          </a:r>
          <a:endParaRPr lang="fi-FI" dirty="0"/>
        </a:p>
      </dgm:t>
    </dgm:pt>
    <dgm:pt modelId="{D780291F-56E0-4A34-BD0C-50EC5C5BCBFC}" type="parTrans" cxnId="{5BB664C9-19E1-46A5-91CC-B9128612D9DB}">
      <dgm:prSet/>
      <dgm:spPr/>
      <dgm:t>
        <a:bodyPr/>
        <a:lstStyle/>
        <a:p>
          <a:endParaRPr lang="fi-FI"/>
        </a:p>
      </dgm:t>
    </dgm:pt>
    <dgm:pt modelId="{29263C4A-88C3-40DA-8002-7502CA13AFE1}" type="sibTrans" cxnId="{5BB664C9-19E1-46A5-91CC-B9128612D9DB}">
      <dgm:prSet/>
      <dgm:spPr/>
      <dgm:t>
        <a:bodyPr/>
        <a:lstStyle/>
        <a:p>
          <a:endParaRPr lang="fi-FI"/>
        </a:p>
      </dgm:t>
    </dgm:pt>
    <dgm:pt modelId="{E022BAF4-DEB7-4BE7-A366-0D36385FC969}" type="pres">
      <dgm:prSet presAssocID="{6554147D-D886-4876-AE47-05B19DBA3D40}" presName="matrix" presStyleCnt="0">
        <dgm:presLayoutVars>
          <dgm:chMax val="1"/>
          <dgm:dir/>
          <dgm:resizeHandles val="exact"/>
        </dgm:presLayoutVars>
      </dgm:prSet>
      <dgm:spPr/>
      <dgm:t>
        <a:bodyPr/>
        <a:lstStyle/>
        <a:p>
          <a:endParaRPr lang="fi-FI"/>
        </a:p>
      </dgm:t>
    </dgm:pt>
    <dgm:pt modelId="{927AE840-057F-4D9C-9F6E-E7AC2314F923}" type="pres">
      <dgm:prSet presAssocID="{6554147D-D886-4876-AE47-05B19DBA3D40}" presName="diamond" presStyleLbl="bgShp" presStyleIdx="0" presStyleCnt="1"/>
      <dgm:spPr/>
    </dgm:pt>
    <dgm:pt modelId="{A062F7CA-504E-4517-9DB2-B75D34EF8DF1}" type="pres">
      <dgm:prSet presAssocID="{6554147D-D886-4876-AE47-05B19DBA3D40}" presName="quad1" presStyleLbl="node1" presStyleIdx="0" presStyleCnt="4">
        <dgm:presLayoutVars>
          <dgm:chMax val="0"/>
          <dgm:chPref val="0"/>
          <dgm:bulletEnabled val="1"/>
        </dgm:presLayoutVars>
      </dgm:prSet>
      <dgm:spPr/>
      <dgm:t>
        <a:bodyPr/>
        <a:lstStyle/>
        <a:p>
          <a:endParaRPr lang="fi-FI"/>
        </a:p>
      </dgm:t>
    </dgm:pt>
    <dgm:pt modelId="{78018732-3258-4900-B5B7-509DB4050E17}" type="pres">
      <dgm:prSet presAssocID="{6554147D-D886-4876-AE47-05B19DBA3D40}" presName="quad2" presStyleLbl="node1" presStyleIdx="1" presStyleCnt="4">
        <dgm:presLayoutVars>
          <dgm:chMax val="0"/>
          <dgm:chPref val="0"/>
          <dgm:bulletEnabled val="1"/>
        </dgm:presLayoutVars>
      </dgm:prSet>
      <dgm:spPr/>
      <dgm:t>
        <a:bodyPr/>
        <a:lstStyle/>
        <a:p>
          <a:endParaRPr lang="fi-FI"/>
        </a:p>
      </dgm:t>
    </dgm:pt>
    <dgm:pt modelId="{6BC21E4E-5A5B-45BE-A69E-74C36DCF3722}" type="pres">
      <dgm:prSet presAssocID="{6554147D-D886-4876-AE47-05B19DBA3D40}" presName="quad3" presStyleLbl="node1" presStyleIdx="2" presStyleCnt="4">
        <dgm:presLayoutVars>
          <dgm:chMax val="0"/>
          <dgm:chPref val="0"/>
          <dgm:bulletEnabled val="1"/>
        </dgm:presLayoutVars>
      </dgm:prSet>
      <dgm:spPr/>
      <dgm:t>
        <a:bodyPr/>
        <a:lstStyle/>
        <a:p>
          <a:endParaRPr lang="fi-FI"/>
        </a:p>
      </dgm:t>
    </dgm:pt>
    <dgm:pt modelId="{DB0183A8-C86A-4F00-98A1-213CE757159F}" type="pres">
      <dgm:prSet presAssocID="{6554147D-D886-4876-AE47-05B19DBA3D40}" presName="quad4" presStyleLbl="node1" presStyleIdx="3" presStyleCnt="4">
        <dgm:presLayoutVars>
          <dgm:chMax val="0"/>
          <dgm:chPref val="0"/>
          <dgm:bulletEnabled val="1"/>
        </dgm:presLayoutVars>
      </dgm:prSet>
      <dgm:spPr/>
      <dgm:t>
        <a:bodyPr/>
        <a:lstStyle/>
        <a:p>
          <a:endParaRPr lang="fi-FI"/>
        </a:p>
      </dgm:t>
    </dgm:pt>
  </dgm:ptLst>
  <dgm:cxnLst>
    <dgm:cxn modelId="{1479695B-F356-4758-A7A5-EAEE36EEF0B7}" srcId="{6554147D-D886-4876-AE47-05B19DBA3D40}" destId="{3F986CD5-32D2-40F9-8FE1-5F7D4B828171}" srcOrd="0" destOrd="0" parTransId="{F8011F23-2E94-411F-8696-8C9616075A6A}" sibTransId="{9A6E985A-2A54-4409-A380-ECB1FEE08C93}"/>
    <dgm:cxn modelId="{5BB664C9-19E1-46A5-91CC-B9128612D9DB}" srcId="{6554147D-D886-4876-AE47-05B19DBA3D40}" destId="{FE912E28-430B-4BA2-965A-FEB7244805A3}" srcOrd="3" destOrd="0" parTransId="{D780291F-56E0-4A34-BD0C-50EC5C5BCBFC}" sibTransId="{29263C4A-88C3-40DA-8002-7502CA13AFE1}"/>
    <dgm:cxn modelId="{F47A41D0-2DF9-4095-9544-530173552892}" srcId="{6554147D-D886-4876-AE47-05B19DBA3D40}" destId="{4747557A-B876-4573-811E-945CC3DFCA7B}" srcOrd="2" destOrd="0" parTransId="{017BBB5C-744F-416F-9EAE-C4AEAD80CEC7}" sibTransId="{9352335F-1F6B-427C-ACA9-412A2D2D9AA6}"/>
    <dgm:cxn modelId="{1282F475-CB82-4279-99F8-FF21FE34F3C9}" type="presOf" srcId="{FE912E28-430B-4BA2-965A-FEB7244805A3}" destId="{DB0183A8-C86A-4F00-98A1-213CE757159F}" srcOrd="0" destOrd="0" presId="urn:microsoft.com/office/officeart/2005/8/layout/matrix3"/>
    <dgm:cxn modelId="{4F30301A-6611-4FCD-87C1-AC2AF6C0F33E}" type="presOf" srcId="{4747557A-B876-4573-811E-945CC3DFCA7B}" destId="{6BC21E4E-5A5B-45BE-A69E-74C36DCF3722}" srcOrd="0" destOrd="0" presId="urn:microsoft.com/office/officeart/2005/8/layout/matrix3"/>
    <dgm:cxn modelId="{388712DC-E83C-4CE4-86DB-9A6AB32FFCDC}" type="presOf" srcId="{6554147D-D886-4876-AE47-05B19DBA3D40}" destId="{E022BAF4-DEB7-4BE7-A366-0D36385FC969}" srcOrd="0" destOrd="0" presId="urn:microsoft.com/office/officeart/2005/8/layout/matrix3"/>
    <dgm:cxn modelId="{D6D993F1-8E44-4B44-B2B2-0EF820B0B6D6}" type="presOf" srcId="{4081022E-D463-44F8-9169-452FE7A0A7D5}" destId="{78018732-3258-4900-B5B7-509DB4050E17}" srcOrd="0" destOrd="0" presId="urn:microsoft.com/office/officeart/2005/8/layout/matrix3"/>
    <dgm:cxn modelId="{6B03936A-90C9-4084-82F9-0BE323F58ACA}" type="presOf" srcId="{3F986CD5-32D2-40F9-8FE1-5F7D4B828171}" destId="{A062F7CA-504E-4517-9DB2-B75D34EF8DF1}" srcOrd="0" destOrd="0" presId="urn:microsoft.com/office/officeart/2005/8/layout/matrix3"/>
    <dgm:cxn modelId="{C90D52CF-A8C6-41F9-95A7-58A11D6D9332}" srcId="{6554147D-D886-4876-AE47-05B19DBA3D40}" destId="{4081022E-D463-44F8-9169-452FE7A0A7D5}" srcOrd="1" destOrd="0" parTransId="{7E026B62-94DB-4102-AB4C-7766EFA188AC}" sibTransId="{C9DBFACC-C6E8-4F56-993E-69DD5F059A0C}"/>
    <dgm:cxn modelId="{D73438D0-DD74-460C-9CA5-D447CDCEE805}" type="presParOf" srcId="{E022BAF4-DEB7-4BE7-A366-0D36385FC969}" destId="{927AE840-057F-4D9C-9F6E-E7AC2314F923}" srcOrd="0" destOrd="0" presId="urn:microsoft.com/office/officeart/2005/8/layout/matrix3"/>
    <dgm:cxn modelId="{F6064C01-8507-4381-B75A-F407E208E4BF}" type="presParOf" srcId="{E022BAF4-DEB7-4BE7-A366-0D36385FC969}" destId="{A062F7CA-504E-4517-9DB2-B75D34EF8DF1}" srcOrd="1" destOrd="0" presId="urn:microsoft.com/office/officeart/2005/8/layout/matrix3"/>
    <dgm:cxn modelId="{FE136157-0E00-4FE2-ABB5-C53014232720}" type="presParOf" srcId="{E022BAF4-DEB7-4BE7-A366-0D36385FC969}" destId="{78018732-3258-4900-B5B7-509DB4050E17}" srcOrd="2" destOrd="0" presId="urn:microsoft.com/office/officeart/2005/8/layout/matrix3"/>
    <dgm:cxn modelId="{141EE04E-DD61-4C9C-820A-C5D6C19DA16C}" type="presParOf" srcId="{E022BAF4-DEB7-4BE7-A366-0D36385FC969}" destId="{6BC21E4E-5A5B-45BE-A69E-74C36DCF3722}" srcOrd="3" destOrd="0" presId="urn:microsoft.com/office/officeart/2005/8/layout/matrix3"/>
    <dgm:cxn modelId="{CEEDEC79-9803-40FE-A794-830EDCEC1EBA}" type="presParOf" srcId="{E022BAF4-DEB7-4BE7-A366-0D36385FC969}" destId="{DB0183A8-C86A-4F00-98A1-213CE757159F}"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1098A164-7150-4827-97D4-E7BBF2CEAE97}" type="doc">
      <dgm:prSet loTypeId="urn:microsoft.com/office/officeart/2005/8/layout/radial2" loCatId="relationship" qsTypeId="urn:microsoft.com/office/officeart/2005/8/quickstyle/simple1" qsCatId="simple" csTypeId="urn:microsoft.com/office/officeart/2005/8/colors/colorful1#21" csCatId="colorful" phldr="1"/>
      <dgm:spPr/>
      <dgm:t>
        <a:bodyPr/>
        <a:lstStyle/>
        <a:p>
          <a:endParaRPr lang="fi-FI"/>
        </a:p>
      </dgm:t>
    </dgm:pt>
    <dgm:pt modelId="{4BBC8500-B64B-4150-9709-3CB04C292EA6}">
      <dgm:prSet custT="1"/>
      <dgm:spPr/>
      <dgm:t>
        <a:bodyPr/>
        <a:lstStyle/>
        <a:p>
          <a:pPr rtl="0"/>
          <a:r>
            <a:rPr lang="fi-FI" sz="2000" dirty="0" smtClean="0"/>
            <a:t>Itsensä hallinnointi</a:t>
          </a:r>
          <a:endParaRPr lang="en-US" sz="2000" dirty="0"/>
        </a:p>
      </dgm:t>
    </dgm:pt>
    <dgm:pt modelId="{0EDE736D-95BA-4900-99D1-AEA5D20666B7}" type="parTrans" cxnId="{3FF48D3A-0685-42E1-85D3-D93C30AA6CAB}">
      <dgm:prSet/>
      <dgm:spPr/>
      <dgm:t>
        <a:bodyPr/>
        <a:lstStyle/>
        <a:p>
          <a:endParaRPr lang="fi-FI"/>
        </a:p>
      </dgm:t>
    </dgm:pt>
    <dgm:pt modelId="{2660B158-41C0-474D-8B15-BCE6664D486B}" type="sibTrans" cxnId="{3FF48D3A-0685-42E1-85D3-D93C30AA6CAB}">
      <dgm:prSet/>
      <dgm:spPr/>
      <dgm:t>
        <a:bodyPr/>
        <a:lstStyle/>
        <a:p>
          <a:endParaRPr lang="fi-FI"/>
        </a:p>
      </dgm:t>
    </dgm:pt>
    <dgm:pt modelId="{8F3193AD-BC31-4A17-99A2-BFAAE490E139}">
      <dgm:prSet custT="1"/>
      <dgm:spPr/>
      <dgm:t>
        <a:bodyPr/>
        <a:lstStyle/>
        <a:p>
          <a:pPr rtl="0"/>
          <a:r>
            <a:rPr lang="fi-FI" sz="2000" dirty="0" smtClean="0"/>
            <a:t>Ideoiden luominen</a:t>
          </a:r>
          <a:endParaRPr lang="en-US" sz="2000" dirty="0"/>
        </a:p>
      </dgm:t>
    </dgm:pt>
    <dgm:pt modelId="{66CAA914-44E1-4230-B552-4D92211F2AE0}" type="parTrans" cxnId="{D9BCC1C9-7DE7-4EC9-936B-18C619389DE6}">
      <dgm:prSet/>
      <dgm:spPr/>
      <dgm:t>
        <a:bodyPr/>
        <a:lstStyle/>
        <a:p>
          <a:endParaRPr lang="fi-FI"/>
        </a:p>
      </dgm:t>
    </dgm:pt>
    <dgm:pt modelId="{72CA129F-7F9B-48E1-A719-3D6B786867AA}" type="sibTrans" cxnId="{D9BCC1C9-7DE7-4EC9-936B-18C619389DE6}">
      <dgm:prSet/>
      <dgm:spPr/>
      <dgm:t>
        <a:bodyPr/>
        <a:lstStyle/>
        <a:p>
          <a:endParaRPr lang="fi-FI"/>
        </a:p>
      </dgm:t>
    </dgm:pt>
    <dgm:pt modelId="{5AA964A3-EAA4-44A6-844B-F1BC3688E5B4}">
      <dgm:prSet custT="1"/>
      <dgm:spPr/>
      <dgm:t>
        <a:bodyPr/>
        <a:lstStyle/>
        <a:p>
          <a:pPr rtl="0"/>
          <a:r>
            <a:rPr lang="fi-FI" sz="2000" dirty="0" smtClean="0"/>
            <a:t>Sovelluksen / järjestelmän tarkastelu</a:t>
          </a:r>
          <a:endParaRPr lang="fi-FI" sz="2000" dirty="0"/>
        </a:p>
      </dgm:t>
    </dgm:pt>
    <dgm:pt modelId="{BEDE0DDD-C5EF-40BD-BC4D-62C4B24B0790}" type="parTrans" cxnId="{7CA3D64A-5288-4AF6-9008-785BBBB94933}">
      <dgm:prSet/>
      <dgm:spPr/>
      <dgm:t>
        <a:bodyPr/>
        <a:lstStyle/>
        <a:p>
          <a:endParaRPr lang="fi-FI"/>
        </a:p>
      </dgm:t>
    </dgm:pt>
    <dgm:pt modelId="{C5A8EB0B-0FF1-4DBB-A49F-04899546CD73}" type="sibTrans" cxnId="{7CA3D64A-5288-4AF6-9008-785BBBB94933}">
      <dgm:prSet/>
      <dgm:spPr/>
      <dgm:t>
        <a:bodyPr/>
        <a:lstStyle/>
        <a:p>
          <a:endParaRPr lang="fi-FI"/>
        </a:p>
      </dgm:t>
    </dgm:pt>
    <dgm:pt modelId="{3B71BE5C-2F7C-47F6-8AA9-9A8F013A8F79}" type="pres">
      <dgm:prSet presAssocID="{1098A164-7150-4827-97D4-E7BBF2CEAE97}" presName="composite" presStyleCnt="0">
        <dgm:presLayoutVars>
          <dgm:chMax val="5"/>
          <dgm:dir/>
          <dgm:animLvl val="ctr"/>
          <dgm:resizeHandles val="exact"/>
        </dgm:presLayoutVars>
      </dgm:prSet>
      <dgm:spPr/>
      <dgm:t>
        <a:bodyPr/>
        <a:lstStyle/>
        <a:p>
          <a:endParaRPr lang="fi-FI"/>
        </a:p>
      </dgm:t>
    </dgm:pt>
    <dgm:pt modelId="{27D7CF71-18AB-48CE-9038-E6FAC9A3E0F3}" type="pres">
      <dgm:prSet presAssocID="{1098A164-7150-4827-97D4-E7BBF2CEAE97}" presName="cycle" presStyleCnt="0"/>
      <dgm:spPr/>
    </dgm:pt>
    <dgm:pt modelId="{5257A393-E687-48CC-994C-0726A014F66F}" type="pres">
      <dgm:prSet presAssocID="{1098A164-7150-4827-97D4-E7BBF2CEAE97}" presName="centerShape" presStyleCnt="0"/>
      <dgm:spPr/>
    </dgm:pt>
    <dgm:pt modelId="{9950585F-BDF1-488A-A868-CF968895ABC5}" type="pres">
      <dgm:prSet presAssocID="{1098A164-7150-4827-97D4-E7BBF2CEAE97}" presName="connSite" presStyleLbl="node1" presStyleIdx="0" presStyleCnt="4"/>
      <dgm:spPr/>
    </dgm:pt>
    <dgm:pt modelId="{B26B54AF-BE8F-4B15-B927-370782C7F2C5}" type="pres">
      <dgm:prSet presAssocID="{1098A164-7150-4827-97D4-E7BBF2CEAE97}" presName="visible" presStyleLbl="node1" presStyleIdx="0" presStyleCnt="4" custScaleX="55756"/>
      <dgm:spPr>
        <a:blipFill rotWithShape="0">
          <a:blip xmlns:r="http://schemas.openxmlformats.org/officeDocument/2006/relationships" r:embed="rId1"/>
          <a:stretch>
            <a:fillRect/>
          </a:stretch>
        </a:blipFill>
      </dgm:spPr>
    </dgm:pt>
    <dgm:pt modelId="{E0EBC4C5-8E1D-4E4A-93BD-93523D4CF2E2}" type="pres">
      <dgm:prSet presAssocID="{0EDE736D-95BA-4900-99D1-AEA5D20666B7}" presName="Name25" presStyleLbl="parChTrans1D1" presStyleIdx="0" presStyleCnt="3"/>
      <dgm:spPr/>
      <dgm:t>
        <a:bodyPr/>
        <a:lstStyle/>
        <a:p>
          <a:endParaRPr lang="fi-FI"/>
        </a:p>
      </dgm:t>
    </dgm:pt>
    <dgm:pt modelId="{35B804A0-84B4-40BD-8F0E-92082275DC89}" type="pres">
      <dgm:prSet presAssocID="{4BBC8500-B64B-4150-9709-3CB04C292EA6}" presName="node" presStyleCnt="0"/>
      <dgm:spPr/>
    </dgm:pt>
    <dgm:pt modelId="{AB37A585-A63C-4DEC-B243-C8A72E761A96}" type="pres">
      <dgm:prSet presAssocID="{4BBC8500-B64B-4150-9709-3CB04C292EA6}" presName="parentNode" presStyleLbl="node1" presStyleIdx="1" presStyleCnt="4" custScaleX="193284" custScaleY="116145" custLinFactNeighborX="13270" custLinFactNeighborY="-5679">
        <dgm:presLayoutVars>
          <dgm:chMax val="1"/>
          <dgm:bulletEnabled val="1"/>
        </dgm:presLayoutVars>
      </dgm:prSet>
      <dgm:spPr/>
      <dgm:t>
        <a:bodyPr/>
        <a:lstStyle/>
        <a:p>
          <a:endParaRPr lang="fi-FI"/>
        </a:p>
      </dgm:t>
    </dgm:pt>
    <dgm:pt modelId="{273173C6-85E3-40FF-8F90-2C16B626ED99}" type="pres">
      <dgm:prSet presAssocID="{4BBC8500-B64B-4150-9709-3CB04C292EA6}" presName="childNode" presStyleLbl="revTx" presStyleIdx="0" presStyleCnt="0">
        <dgm:presLayoutVars>
          <dgm:bulletEnabled val="1"/>
        </dgm:presLayoutVars>
      </dgm:prSet>
      <dgm:spPr/>
    </dgm:pt>
    <dgm:pt modelId="{17C40437-8746-4D54-B8DB-72086947971E}" type="pres">
      <dgm:prSet presAssocID="{66CAA914-44E1-4230-B552-4D92211F2AE0}" presName="Name25" presStyleLbl="parChTrans1D1" presStyleIdx="1" presStyleCnt="3"/>
      <dgm:spPr/>
      <dgm:t>
        <a:bodyPr/>
        <a:lstStyle/>
        <a:p>
          <a:endParaRPr lang="fi-FI"/>
        </a:p>
      </dgm:t>
    </dgm:pt>
    <dgm:pt modelId="{CBC55E23-8413-47C9-8DE5-305C73044E57}" type="pres">
      <dgm:prSet presAssocID="{8F3193AD-BC31-4A17-99A2-BFAAE490E139}" presName="node" presStyleCnt="0"/>
      <dgm:spPr/>
    </dgm:pt>
    <dgm:pt modelId="{0A461D13-2860-4E5E-B1BB-76811662F012}" type="pres">
      <dgm:prSet presAssocID="{8F3193AD-BC31-4A17-99A2-BFAAE490E139}" presName="parentNode" presStyleLbl="node1" presStyleIdx="2" presStyleCnt="4" custScaleX="193284" custScaleY="116145" custLinFactNeighborX="35495" custLinFactNeighborY="2278">
        <dgm:presLayoutVars>
          <dgm:chMax val="1"/>
          <dgm:bulletEnabled val="1"/>
        </dgm:presLayoutVars>
      </dgm:prSet>
      <dgm:spPr/>
      <dgm:t>
        <a:bodyPr/>
        <a:lstStyle/>
        <a:p>
          <a:endParaRPr lang="fi-FI"/>
        </a:p>
      </dgm:t>
    </dgm:pt>
    <dgm:pt modelId="{013336F4-E390-4089-AFBE-7455662BA559}" type="pres">
      <dgm:prSet presAssocID="{8F3193AD-BC31-4A17-99A2-BFAAE490E139}" presName="childNode" presStyleLbl="revTx" presStyleIdx="0" presStyleCnt="0">
        <dgm:presLayoutVars>
          <dgm:bulletEnabled val="1"/>
        </dgm:presLayoutVars>
      </dgm:prSet>
      <dgm:spPr/>
    </dgm:pt>
    <dgm:pt modelId="{E2360EF9-3FA0-4182-9335-518FE70FF5CB}" type="pres">
      <dgm:prSet presAssocID="{BEDE0DDD-C5EF-40BD-BC4D-62C4B24B0790}" presName="Name25" presStyleLbl="parChTrans1D1" presStyleIdx="2" presStyleCnt="3"/>
      <dgm:spPr/>
      <dgm:t>
        <a:bodyPr/>
        <a:lstStyle/>
        <a:p>
          <a:endParaRPr lang="fi-FI"/>
        </a:p>
      </dgm:t>
    </dgm:pt>
    <dgm:pt modelId="{C6D3F735-09E4-4946-B420-1AE9979D918E}" type="pres">
      <dgm:prSet presAssocID="{5AA964A3-EAA4-44A6-844B-F1BC3688E5B4}" presName="node" presStyleCnt="0"/>
      <dgm:spPr/>
    </dgm:pt>
    <dgm:pt modelId="{7C842F48-EDDA-431E-BB5B-8423BE94A5A2}" type="pres">
      <dgm:prSet presAssocID="{5AA964A3-EAA4-44A6-844B-F1BC3688E5B4}" presName="parentNode" presStyleLbl="node1" presStyleIdx="3" presStyleCnt="4" custScaleX="193284" custScaleY="116145" custLinFactNeighborX="13270" custLinFactNeighborY="11512">
        <dgm:presLayoutVars>
          <dgm:chMax val="1"/>
          <dgm:bulletEnabled val="1"/>
        </dgm:presLayoutVars>
      </dgm:prSet>
      <dgm:spPr/>
      <dgm:t>
        <a:bodyPr/>
        <a:lstStyle/>
        <a:p>
          <a:endParaRPr lang="fi-FI"/>
        </a:p>
      </dgm:t>
    </dgm:pt>
    <dgm:pt modelId="{86460431-6F5B-4630-8282-BF3584CED536}" type="pres">
      <dgm:prSet presAssocID="{5AA964A3-EAA4-44A6-844B-F1BC3688E5B4}" presName="childNode" presStyleLbl="revTx" presStyleIdx="0" presStyleCnt="0">
        <dgm:presLayoutVars>
          <dgm:bulletEnabled val="1"/>
        </dgm:presLayoutVars>
      </dgm:prSet>
      <dgm:spPr/>
    </dgm:pt>
  </dgm:ptLst>
  <dgm:cxnLst>
    <dgm:cxn modelId="{C82DBEA9-D0C9-4E3E-AFE5-B443F957BA6B}" type="presOf" srcId="{66CAA914-44E1-4230-B552-4D92211F2AE0}" destId="{17C40437-8746-4D54-B8DB-72086947971E}" srcOrd="0" destOrd="0" presId="urn:microsoft.com/office/officeart/2005/8/layout/radial2"/>
    <dgm:cxn modelId="{22C24B63-F633-45F8-A3C0-AB1548E87DBE}" type="presOf" srcId="{1098A164-7150-4827-97D4-E7BBF2CEAE97}" destId="{3B71BE5C-2F7C-47F6-8AA9-9A8F013A8F79}" srcOrd="0" destOrd="0" presId="urn:microsoft.com/office/officeart/2005/8/layout/radial2"/>
    <dgm:cxn modelId="{1CDC5309-7BEC-416F-8AAD-0EDBC5965FD9}" type="presOf" srcId="{8F3193AD-BC31-4A17-99A2-BFAAE490E139}" destId="{0A461D13-2860-4E5E-B1BB-76811662F012}" srcOrd="0" destOrd="0" presId="urn:microsoft.com/office/officeart/2005/8/layout/radial2"/>
    <dgm:cxn modelId="{B275F6E6-76F6-4C94-93BC-F9E31E4FEF81}" type="presOf" srcId="{0EDE736D-95BA-4900-99D1-AEA5D20666B7}" destId="{E0EBC4C5-8E1D-4E4A-93BD-93523D4CF2E2}" srcOrd="0" destOrd="0" presId="urn:microsoft.com/office/officeart/2005/8/layout/radial2"/>
    <dgm:cxn modelId="{3FF48D3A-0685-42E1-85D3-D93C30AA6CAB}" srcId="{1098A164-7150-4827-97D4-E7BBF2CEAE97}" destId="{4BBC8500-B64B-4150-9709-3CB04C292EA6}" srcOrd="0" destOrd="0" parTransId="{0EDE736D-95BA-4900-99D1-AEA5D20666B7}" sibTransId="{2660B158-41C0-474D-8B15-BCE6664D486B}"/>
    <dgm:cxn modelId="{BA397D7D-E089-4F7A-855C-1034DD91B14E}" type="presOf" srcId="{BEDE0DDD-C5EF-40BD-BC4D-62C4B24B0790}" destId="{E2360EF9-3FA0-4182-9335-518FE70FF5CB}" srcOrd="0" destOrd="0" presId="urn:microsoft.com/office/officeart/2005/8/layout/radial2"/>
    <dgm:cxn modelId="{D9BCC1C9-7DE7-4EC9-936B-18C619389DE6}" srcId="{1098A164-7150-4827-97D4-E7BBF2CEAE97}" destId="{8F3193AD-BC31-4A17-99A2-BFAAE490E139}" srcOrd="1" destOrd="0" parTransId="{66CAA914-44E1-4230-B552-4D92211F2AE0}" sibTransId="{72CA129F-7F9B-48E1-A719-3D6B786867AA}"/>
    <dgm:cxn modelId="{7CA3D64A-5288-4AF6-9008-785BBBB94933}" srcId="{1098A164-7150-4827-97D4-E7BBF2CEAE97}" destId="{5AA964A3-EAA4-44A6-844B-F1BC3688E5B4}" srcOrd="2" destOrd="0" parTransId="{BEDE0DDD-C5EF-40BD-BC4D-62C4B24B0790}" sibTransId="{C5A8EB0B-0FF1-4DBB-A49F-04899546CD73}"/>
    <dgm:cxn modelId="{6521F85C-2ED6-4635-9E88-2DEDB4E2830C}" type="presOf" srcId="{4BBC8500-B64B-4150-9709-3CB04C292EA6}" destId="{AB37A585-A63C-4DEC-B243-C8A72E761A96}" srcOrd="0" destOrd="0" presId="urn:microsoft.com/office/officeart/2005/8/layout/radial2"/>
    <dgm:cxn modelId="{0F533799-A22B-4892-86C9-DCC6EED2673B}" type="presOf" srcId="{5AA964A3-EAA4-44A6-844B-F1BC3688E5B4}" destId="{7C842F48-EDDA-431E-BB5B-8423BE94A5A2}" srcOrd="0" destOrd="0" presId="urn:microsoft.com/office/officeart/2005/8/layout/radial2"/>
    <dgm:cxn modelId="{F13840E7-89C1-4ECE-86BD-E33051AE23AD}" type="presParOf" srcId="{3B71BE5C-2F7C-47F6-8AA9-9A8F013A8F79}" destId="{27D7CF71-18AB-48CE-9038-E6FAC9A3E0F3}" srcOrd="0" destOrd="0" presId="urn:microsoft.com/office/officeart/2005/8/layout/radial2"/>
    <dgm:cxn modelId="{976C7891-AE65-4C2B-BD8F-9A67AFF3D664}" type="presParOf" srcId="{27D7CF71-18AB-48CE-9038-E6FAC9A3E0F3}" destId="{5257A393-E687-48CC-994C-0726A014F66F}" srcOrd="0" destOrd="0" presId="urn:microsoft.com/office/officeart/2005/8/layout/radial2"/>
    <dgm:cxn modelId="{D7C5A31A-0D2E-4174-B925-1E798446D08C}" type="presParOf" srcId="{5257A393-E687-48CC-994C-0726A014F66F}" destId="{9950585F-BDF1-488A-A868-CF968895ABC5}" srcOrd="0" destOrd="0" presId="urn:microsoft.com/office/officeart/2005/8/layout/radial2"/>
    <dgm:cxn modelId="{571BAB4C-EEF1-4D63-81C5-87758974CA6F}" type="presParOf" srcId="{5257A393-E687-48CC-994C-0726A014F66F}" destId="{B26B54AF-BE8F-4B15-B927-370782C7F2C5}" srcOrd="1" destOrd="0" presId="urn:microsoft.com/office/officeart/2005/8/layout/radial2"/>
    <dgm:cxn modelId="{BD57020F-E687-4EBC-BEE4-D09DD6CC5745}" type="presParOf" srcId="{27D7CF71-18AB-48CE-9038-E6FAC9A3E0F3}" destId="{E0EBC4C5-8E1D-4E4A-93BD-93523D4CF2E2}" srcOrd="1" destOrd="0" presId="urn:microsoft.com/office/officeart/2005/8/layout/radial2"/>
    <dgm:cxn modelId="{39371FD1-AD19-49C5-AA12-430C41070A53}" type="presParOf" srcId="{27D7CF71-18AB-48CE-9038-E6FAC9A3E0F3}" destId="{35B804A0-84B4-40BD-8F0E-92082275DC89}" srcOrd="2" destOrd="0" presId="urn:microsoft.com/office/officeart/2005/8/layout/radial2"/>
    <dgm:cxn modelId="{E731E4ED-0405-4D31-85A2-C2F672534F6F}" type="presParOf" srcId="{35B804A0-84B4-40BD-8F0E-92082275DC89}" destId="{AB37A585-A63C-4DEC-B243-C8A72E761A96}" srcOrd="0" destOrd="0" presId="urn:microsoft.com/office/officeart/2005/8/layout/radial2"/>
    <dgm:cxn modelId="{77DA1ADC-452F-47B0-8C9F-31B5A7329D4A}" type="presParOf" srcId="{35B804A0-84B4-40BD-8F0E-92082275DC89}" destId="{273173C6-85E3-40FF-8F90-2C16B626ED99}" srcOrd="1" destOrd="0" presId="urn:microsoft.com/office/officeart/2005/8/layout/radial2"/>
    <dgm:cxn modelId="{A0D689B1-E8BB-4926-94C6-6AB8683DDF1B}" type="presParOf" srcId="{27D7CF71-18AB-48CE-9038-E6FAC9A3E0F3}" destId="{17C40437-8746-4D54-B8DB-72086947971E}" srcOrd="3" destOrd="0" presId="urn:microsoft.com/office/officeart/2005/8/layout/radial2"/>
    <dgm:cxn modelId="{C4740B55-CD45-4A61-8C68-548102755976}" type="presParOf" srcId="{27D7CF71-18AB-48CE-9038-E6FAC9A3E0F3}" destId="{CBC55E23-8413-47C9-8DE5-305C73044E57}" srcOrd="4" destOrd="0" presId="urn:microsoft.com/office/officeart/2005/8/layout/radial2"/>
    <dgm:cxn modelId="{90A8014B-6962-4601-A096-B236DA2ECA13}" type="presParOf" srcId="{CBC55E23-8413-47C9-8DE5-305C73044E57}" destId="{0A461D13-2860-4E5E-B1BB-76811662F012}" srcOrd="0" destOrd="0" presId="urn:microsoft.com/office/officeart/2005/8/layout/radial2"/>
    <dgm:cxn modelId="{F0FD00C7-C52B-449B-BFE6-33FF5C445080}" type="presParOf" srcId="{CBC55E23-8413-47C9-8DE5-305C73044E57}" destId="{013336F4-E390-4089-AFBE-7455662BA559}" srcOrd="1" destOrd="0" presId="urn:microsoft.com/office/officeart/2005/8/layout/radial2"/>
    <dgm:cxn modelId="{F05E9267-798F-431E-900E-C1441788B7DE}" type="presParOf" srcId="{27D7CF71-18AB-48CE-9038-E6FAC9A3E0F3}" destId="{E2360EF9-3FA0-4182-9335-518FE70FF5CB}" srcOrd="5" destOrd="0" presId="urn:microsoft.com/office/officeart/2005/8/layout/radial2"/>
    <dgm:cxn modelId="{837A9010-8572-4002-B9A8-E8346F96F225}" type="presParOf" srcId="{27D7CF71-18AB-48CE-9038-E6FAC9A3E0F3}" destId="{C6D3F735-09E4-4946-B420-1AE9979D918E}" srcOrd="6" destOrd="0" presId="urn:microsoft.com/office/officeart/2005/8/layout/radial2"/>
    <dgm:cxn modelId="{69B07BBA-184D-46CB-B151-FAC7A9786E21}" type="presParOf" srcId="{C6D3F735-09E4-4946-B420-1AE9979D918E}" destId="{7C842F48-EDDA-431E-BB5B-8423BE94A5A2}" srcOrd="0" destOrd="0" presId="urn:microsoft.com/office/officeart/2005/8/layout/radial2"/>
    <dgm:cxn modelId="{72D098CC-8514-470C-89F6-4B2BD080D6B2}" type="presParOf" srcId="{C6D3F735-09E4-4946-B420-1AE9979D918E}" destId="{86460431-6F5B-4630-8282-BF3584CED536}" srcOrd="1" destOrd="0" presId="urn:microsoft.com/office/officeart/2005/8/layout/radial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D5C8C534-B55B-41EF-88DB-ED9C24EBB7FC}" type="doc">
      <dgm:prSet loTypeId="urn:microsoft.com/office/officeart/2005/8/layout/hList1" loCatId="list" qsTypeId="urn:microsoft.com/office/officeart/2005/8/quickstyle/simple1" qsCatId="simple" csTypeId="urn:microsoft.com/office/officeart/2005/8/colors/colorful1#22" csCatId="colorful" phldr="1"/>
      <dgm:spPr/>
      <dgm:t>
        <a:bodyPr/>
        <a:lstStyle/>
        <a:p>
          <a:endParaRPr lang="fi-FI"/>
        </a:p>
      </dgm:t>
    </dgm:pt>
    <dgm:pt modelId="{876F12A8-3CBF-4C23-9511-B3BE912EE8A9}">
      <dgm:prSet custT="1"/>
      <dgm:spPr/>
      <dgm:t>
        <a:bodyPr/>
        <a:lstStyle/>
        <a:p>
          <a:pPr rtl="0"/>
          <a:r>
            <a:rPr lang="fi-FI" sz="1100" b="1" dirty="0" smtClean="0"/>
            <a:t>Hyväksymistestauksen rooli ja merkitys</a:t>
          </a:r>
          <a:endParaRPr lang="fi-FI" sz="1100" b="1" dirty="0"/>
        </a:p>
      </dgm:t>
    </dgm:pt>
    <dgm:pt modelId="{1BEBABA3-2449-4976-9CA0-CD33A6A3B3B9}" type="parTrans" cxnId="{D1E18ACA-E2AC-419B-B0C8-489177C231F1}">
      <dgm:prSet/>
      <dgm:spPr/>
      <dgm:t>
        <a:bodyPr/>
        <a:lstStyle/>
        <a:p>
          <a:endParaRPr lang="fi-FI" sz="2000"/>
        </a:p>
      </dgm:t>
    </dgm:pt>
    <dgm:pt modelId="{9D64F3A3-F0ED-495F-BD66-97CC72F1F1F0}" type="sibTrans" cxnId="{D1E18ACA-E2AC-419B-B0C8-489177C231F1}">
      <dgm:prSet/>
      <dgm:spPr/>
      <dgm:t>
        <a:bodyPr/>
        <a:lstStyle/>
        <a:p>
          <a:endParaRPr lang="fi-FI" sz="2000"/>
        </a:p>
      </dgm:t>
    </dgm:pt>
    <dgm:pt modelId="{77261A98-EA16-48DE-BDEC-862B033DFA44}">
      <dgm:prSet custT="1"/>
      <dgm:spPr/>
      <dgm:t>
        <a:bodyPr/>
        <a:lstStyle/>
        <a:p>
          <a:pPr rtl="0"/>
          <a:r>
            <a:rPr lang="fi-FI" sz="1050" dirty="0" smtClean="0"/>
            <a:t>Testaus järjestelmän tilaajalle ja omistajalle</a:t>
          </a:r>
          <a:endParaRPr lang="fi-FI" sz="1050" dirty="0"/>
        </a:p>
      </dgm:t>
    </dgm:pt>
    <dgm:pt modelId="{4AE48503-4481-4041-AD0D-FB09D10A177D}" type="parTrans" cxnId="{6477DD6F-8191-4390-B4DF-FA9A84E61F4F}">
      <dgm:prSet/>
      <dgm:spPr/>
      <dgm:t>
        <a:bodyPr/>
        <a:lstStyle/>
        <a:p>
          <a:endParaRPr lang="fi-FI" sz="2000"/>
        </a:p>
      </dgm:t>
    </dgm:pt>
    <dgm:pt modelId="{F5E35242-EFA8-4231-BC41-3E8B48AEE665}" type="sibTrans" cxnId="{6477DD6F-8191-4390-B4DF-FA9A84E61F4F}">
      <dgm:prSet/>
      <dgm:spPr/>
      <dgm:t>
        <a:bodyPr/>
        <a:lstStyle/>
        <a:p>
          <a:endParaRPr lang="fi-FI" sz="2000"/>
        </a:p>
      </dgm:t>
    </dgm:pt>
    <dgm:pt modelId="{C47477C1-EBA0-4A69-9865-EEB1CC3C0A49}">
      <dgm:prSet custT="1"/>
      <dgm:spPr/>
      <dgm:t>
        <a:bodyPr/>
        <a:lstStyle/>
        <a:p>
          <a:pPr rtl="0"/>
          <a:r>
            <a:rPr lang="fi-FI" sz="1050" dirty="0" smtClean="0"/>
            <a:t>Monitoimittajaympäristön erityispiirteet hyväksymistestaukselle</a:t>
          </a:r>
          <a:endParaRPr lang="fi-FI" sz="1050" dirty="0"/>
        </a:p>
      </dgm:t>
    </dgm:pt>
    <dgm:pt modelId="{2DAF60AF-9674-4AD9-9AC9-067991921028}" type="parTrans" cxnId="{59B3EA95-794A-41E4-AD77-16978C50CA9E}">
      <dgm:prSet/>
      <dgm:spPr/>
      <dgm:t>
        <a:bodyPr/>
        <a:lstStyle/>
        <a:p>
          <a:endParaRPr lang="fi-FI" sz="2000"/>
        </a:p>
      </dgm:t>
    </dgm:pt>
    <dgm:pt modelId="{3208B049-162D-4726-BC74-C2FDF40ED359}" type="sibTrans" cxnId="{59B3EA95-794A-41E4-AD77-16978C50CA9E}">
      <dgm:prSet/>
      <dgm:spPr/>
      <dgm:t>
        <a:bodyPr/>
        <a:lstStyle/>
        <a:p>
          <a:endParaRPr lang="fi-FI" sz="2000"/>
        </a:p>
      </dgm:t>
    </dgm:pt>
    <dgm:pt modelId="{C896329D-659F-41D8-8428-23F35A3F2A7F}">
      <dgm:prSet custT="1"/>
      <dgm:spPr/>
      <dgm:t>
        <a:bodyPr/>
        <a:lstStyle/>
        <a:p>
          <a:pPr rtl="0"/>
          <a:r>
            <a:rPr lang="fi-FI" sz="1050" dirty="0" smtClean="0"/>
            <a:t>Laatutiedon rakentaminen palasille ja kokonaisuudelle</a:t>
          </a:r>
          <a:endParaRPr lang="fi-FI" sz="1050" dirty="0"/>
        </a:p>
      </dgm:t>
    </dgm:pt>
    <dgm:pt modelId="{1095EFC7-C63D-462E-9409-7653C01AAA33}" type="parTrans" cxnId="{A960D218-BB75-455A-95BF-012050E1AFB9}">
      <dgm:prSet/>
      <dgm:spPr/>
      <dgm:t>
        <a:bodyPr/>
        <a:lstStyle/>
        <a:p>
          <a:endParaRPr lang="fi-FI" sz="2000"/>
        </a:p>
      </dgm:t>
    </dgm:pt>
    <dgm:pt modelId="{B35503A3-5959-4612-89F8-373578912E93}" type="sibTrans" cxnId="{A960D218-BB75-455A-95BF-012050E1AFB9}">
      <dgm:prSet/>
      <dgm:spPr/>
      <dgm:t>
        <a:bodyPr/>
        <a:lstStyle/>
        <a:p>
          <a:endParaRPr lang="fi-FI" sz="2000"/>
        </a:p>
      </dgm:t>
    </dgm:pt>
    <dgm:pt modelId="{1D93A904-DA31-4610-8126-8F418CD7E1E6}">
      <dgm:prSet custT="1"/>
      <dgm:spPr/>
      <dgm:t>
        <a:bodyPr/>
        <a:lstStyle/>
        <a:p>
          <a:pPr rtl="0"/>
          <a:r>
            <a:rPr lang="fi-FI" sz="1050" dirty="0" smtClean="0"/>
            <a:t>Laadun monet näkökulmat: toiminnallinen ja ei-toiminnallinen testaus; näkyvä toimituslaatu sekä jatkokehityksen helppous</a:t>
          </a:r>
          <a:endParaRPr lang="fi-FI" sz="1050" dirty="0"/>
        </a:p>
      </dgm:t>
    </dgm:pt>
    <dgm:pt modelId="{637248D1-417D-468F-8F5A-263F0EEE4E25}" type="parTrans" cxnId="{5D40A653-A696-4FD0-A24A-7CCAC7193D58}">
      <dgm:prSet/>
      <dgm:spPr/>
      <dgm:t>
        <a:bodyPr/>
        <a:lstStyle/>
        <a:p>
          <a:endParaRPr lang="fi-FI" sz="2000"/>
        </a:p>
      </dgm:t>
    </dgm:pt>
    <dgm:pt modelId="{4CE4025D-124A-4864-812A-CAFE879FDB0F}" type="sibTrans" cxnId="{5D40A653-A696-4FD0-A24A-7CCAC7193D58}">
      <dgm:prSet/>
      <dgm:spPr/>
      <dgm:t>
        <a:bodyPr/>
        <a:lstStyle/>
        <a:p>
          <a:endParaRPr lang="fi-FI" sz="2000"/>
        </a:p>
      </dgm:t>
    </dgm:pt>
    <dgm:pt modelId="{ED3D8A5C-A004-4F25-9E95-105C5CBAC5B8}">
      <dgm:prSet custT="1"/>
      <dgm:spPr/>
      <dgm:t>
        <a:bodyPr/>
        <a:lstStyle/>
        <a:p>
          <a:pPr rtl="0"/>
          <a:r>
            <a:rPr lang="fi-FI" sz="1050" dirty="0" smtClean="0"/>
            <a:t>Dokumentaation katselmointien rooli hyväksymistestauksessa</a:t>
          </a:r>
          <a:endParaRPr lang="fi-FI" sz="1050" dirty="0"/>
        </a:p>
      </dgm:t>
    </dgm:pt>
    <dgm:pt modelId="{2602785F-5020-4C37-9349-25B3C6EB8027}" type="parTrans" cxnId="{D71B0854-94D7-4E70-9906-79916BDF1C2E}">
      <dgm:prSet/>
      <dgm:spPr/>
      <dgm:t>
        <a:bodyPr/>
        <a:lstStyle/>
        <a:p>
          <a:endParaRPr lang="fi-FI" sz="2000"/>
        </a:p>
      </dgm:t>
    </dgm:pt>
    <dgm:pt modelId="{B91310B6-65D7-4C98-8D22-83CC38A1C4FE}" type="sibTrans" cxnId="{D71B0854-94D7-4E70-9906-79916BDF1C2E}">
      <dgm:prSet/>
      <dgm:spPr/>
      <dgm:t>
        <a:bodyPr/>
        <a:lstStyle/>
        <a:p>
          <a:endParaRPr lang="fi-FI" sz="2000"/>
        </a:p>
      </dgm:t>
    </dgm:pt>
    <dgm:pt modelId="{0C5135B2-B7D9-4A56-B321-EACBE96AD852}">
      <dgm:prSet custT="1"/>
      <dgm:spPr/>
      <dgm:t>
        <a:bodyPr/>
        <a:lstStyle/>
        <a:p>
          <a:pPr rtl="0"/>
          <a:r>
            <a:rPr lang="fi-FI" sz="1050" dirty="0" smtClean="0"/>
            <a:t>Hyväksymistestauksen suhde muuhun testaukseen: tilaajan ja toimittajan työnjako</a:t>
          </a:r>
          <a:endParaRPr lang="fi-FI" sz="1050" dirty="0"/>
        </a:p>
      </dgm:t>
    </dgm:pt>
    <dgm:pt modelId="{AFF35C9C-E88B-481D-A218-745179C42A89}" type="parTrans" cxnId="{EC0C1EBC-1BB6-4B64-9783-15A05DC6D254}">
      <dgm:prSet/>
      <dgm:spPr/>
      <dgm:t>
        <a:bodyPr/>
        <a:lstStyle/>
        <a:p>
          <a:endParaRPr lang="fi-FI" sz="2000"/>
        </a:p>
      </dgm:t>
    </dgm:pt>
    <dgm:pt modelId="{2AF380E5-541E-476E-A57D-2AF52F0FD3CF}" type="sibTrans" cxnId="{EC0C1EBC-1BB6-4B64-9783-15A05DC6D254}">
      <dgm:prSet/>
      <dgm:spPr/>
      <dgm:t>
        <a:bodyPr/>
        <a:lstStyle/>
        <a:p>
          <a:endParaRPr lang="fi-FI" sz="2000"/>
        </a:p>
      </dgm:t>
    </dgm:pt>
    <dgm:pt modelId="{17A262F1-9003-4C77-8F50-D8E5C174B968}">
      <dgm:prSet custT="1"/>
      <dgm:spPr/>
      <dgm:t>
        <a:bodyPr/>
        <a:lstStyle/>
        <a:p>
          <a:pPr rtl="0"/>
          <a:r>
            <a:rPr lang="fi-FI" sz="1050" dirty="0" smtClean="0"/>
            <a:t>Hyväksymistestauksen erot laskunmaksuun ja tuotantoonsiirtoon liittyen</a:t>
          </a:r>
          <a:endParaRPr lang="fi-FI" sz="1050" dirty="0"/>
        </a:p>
      </dgm:t>
    </dgm:pt>
    <dgm:pt modelId="{6CB28059-AA75-4527-99CA-A3EDDA9850C4}" type="parTrans" cxnId="{30566708-7369-440D-8220-D3C7D17B04FC}">
      <dgm:prSet/>
      <dgm:spPr/>
      <dgm:t>
        <a:bodyPr/>
        <a:lstStyle/>
        <a:p>
          <a:endParaRPr lang="fi-FI" sz="2000"/>
        </a:p>
      </dgm:t>
    </dgm:pt>
    <dgm:pt modelId="{2C6A6872-2DBF-427F-9E6B-05310B7310D1}" type="sibTrans" cxnId="{30566708-7369-440D-8220-D3C7D17B04FC}">
      <dgm:prSet/>
      <dgm:spPr/>
      <dgm:t>
        <a:bodyPr/>
        <a:lstStyle/>
        <a:p>
          <a:endParaRPr lang="fi-FI" sz="2000"/>
        </a:p>
      </dgm:t>
    </dgm:pt>
    <dgm:pt modelId="{B388BF5D-1F28-4429-9317-BEF154AD918C}">
      <dgm:prSet custT="1"/>
      <dgm:spPr/>
      <dgm:t>
        <a:bodyPr/>
        <a:lstStyle/>
        <a:p>
          <a:pPr rtl="0"/>
          <a:r>
            <a:rPr lang="fi-FI" sz="1050" dirty="0" smtClean="0"/>
            <a:t>Hyväksymistestauksen erilainen merkitys ketterissä menetelmissä</a:t>
          </a:r>
          <a:endParaRPr lang="fi-FI" sz="1050" dirty="0"/>
        </a:p>
      </dgm:t>
    </dgm:pt>
    <dgm:pt modelId="{00DC2BDA-9FCE-4789-8612-CBAB489E1008}" type="parTrans" cxnId="{931434B6-00F4-4699-887F-56BCBF48E59B}">
      <dgm:prSet/>
      <dgm:spPr/>
      <dgm:t>
        <a:bodyPr/>
        <a:lstStyle/>
        <a:p>
          <a:endParaRPr lang="fi-FI" sz="2000"/>
        </a:p>
      </dgm:t>
    </dgm:pt>
    <dgm:pt modelId="{04381C85-A969-462F-89C0-62961ACABCF6}" type="sibTrans" cxnId="{931434B6-00F4-4699-887F-56BCBF48E59B}">
      <dgm:prSet/>
      <dgm:spPr/>
      <dgm:t>
        <a:bodyPr/>
        <a:lstStyle/>
        <a:p>
          <a:endParaRPr lang="fi-FI" sz="2000"/>
        </a:p>
      </dgm:t>
    </dgm:pt>
    <dgm:pt modelId="{52B1E9F8-FF5A-4290-A2EE-04416696410E}">
      <dgm:prSet custT="1"/>
      <dgm:spPr/>
      <dgm:t>
        <a:bodyPr/>
        <a:lstStyle/>
        <a:p>
          <a:pPr rtl="0"/>
          <a:r>
            <a:rPr lang="fi-FI" sz="1100" b="1" dirty="0" smtClean="0"/>
            <a:t>Onnistuneen hyväksymistestauksen edellytykset</a:t>
          </a:r>
          <a:endParaRPr lang="fi-FI" sz="1100" b="1" dirty="0"/>
        </a:p>
      </dgm:t>
    </dgm:pt>
    <dgm:pt modelId="{EE94DFC9-8FE1-4D92-A39A-2B2FA864EDE3}" type="parTrans" cxnId="{9E20866B-39E1-421E-BBF0-2C4CC4E668E7}">
      <dgm:prSet/>
      <dgm:spPr/>
      <dgm:t>
        <a:bodyPr/>
        <a:lstStyle/>
        <a:p>
          <a:endParaRPr lang="fi-FI" sz="2000"/>
        </a:p>
      </dgm:t>
    </dgm:pt>
    <dgm:pt modelId="{B47D46F4-2A52-46AE-8568-3E60E48D3D30}" type="sibTrans" cxnId="{9E20866B-39E1-421E-BBF0-2C4CC4E668E7}">
      <dgm:prSet/>
      <dgm:spPr/>
      <dgm:t>
        <a:bodyPr/>
        <a:lstStyle/>
        <a:p>
          <a:endParaRPr lang="fi-FI" sz="2000"/>
        </a:p>
      </dgm:t>
    </dgm:pt>
    <dgm:pt modelId="{DFACE991-8E53-485A-907C-1EFB2848046C}">
      <dgm:prSet custT="1"/>
      <dgm:spPr/>
      <dgm:t>
        <a:bodyPr/>
        <a:lstStyle/>
        <a:p>
          <a:pPr rtl="0"/>
          <a:r>
            <a:rPr lang="fi-FI" sz="1100" b="0" dirty="0" smtClean="0"/>
            <a:t>Toimituskokonaisuuksien määrittely ja projektointi</a:t>
          </a:r>
          <a:endParaRPr lang="fi-FI" sz="1100" b="0" dirty="0"/>
        </a:p>
      </dgm:t>
    </dgm:pt>
    <dgm:pt modelId="{522FA040-2423-4F5F-A378-E20632813270}" type="parTrans" cxnId="{555B5F87-EAA2-4BF5-A85A-067F5B333468}">
      <dgm:prSet/>
      <dgm:spPr/>
      <dgm:t>
        <a:bodyPr/>
        <a:lstStyle/>
        <a:p>
          <a:endParaRPr lang="fi-FI" sz="2000"/>
        </a:p>
      </dgm:t>
    </dgm:pt>
    <dgm:pt modelId="{79202294-FE13-49A9-BC9A-1A8E948266D7}" type="sibTrans" cxnId="{555B5F87-EAA2-4BF5-A85A-067F5B333468}">
      <dgm:prSet/>
      <dgm:spPr/>
      <dgm:t>
        <a:bodyPr/>
        <a:lstStyle/>
        <a:p>
          <a:endParaRPr lang="fi-FI" sz="2000"/>
        </a:p>
      </dgm:t>
    </dgm:pt>
    <dgm:pt modelId="{1916EEB6-8012-4C32-BB16-D45FE8388CAB}">
      <dgm:prSet custT="1"/>
      <dgm:spPr/>
      <dgm:t>
        <a:bodyPr/>
        <a:lstStyle/>
        <a:p>
          <a:pPr rtl="0"/>
          <a:r>
            <a:rPr lang="fi-FI" sz="1100" b="0" dirty="0" smtClean="0"/>
            <a:t>Toimittajan valinta ja sopimukset</a:t>
          </a:r>
          <a:endParaRPr lang="fi-FI" sz="1100" b="0" dirty="0"/>
        </a:p>
      </dgm:t>
    </dgm:pt>
    <dgm:pt modelId="{AAE70BB2-FF9F-4070-A5FC-ED235CA4153C}" type="parTrans" cxnId="{A5AB44A5-0A54-4255-863D-C63ECB47ADB4}">
      <dgm:prSet/>
      <dgm:spPr/>
      <dgm:t>
        <a:bodyPr/>
        <a:lstStyle/>
        <a:p>
          <a:endParaRPr lang="fi-FI" sz="2000"/>
        </a:p>
      </dgm:t>
    </dgm:pt>
    <dgm:pt modelId="{2FBCF5CD-18EA-4379-8DDB-078E7BE8F140}" type="sibTrans" cxnId="{A5AB44A5-0A54-4255-863D-C63ECB47ADB4}">
      <dgm:prSet/>
      <dgm:spPr/>
      <dgm:t>
        <a:bodyPr/>
        <a:lstStyle/>
        <a:p>
          <a:endParaRPr lang="fi-FI" sz="2000"/>
        </a:p>
      </dgm:t>
    </dgm:pt>
    <dgm:pt modelId="{5DCF5F03-40E3-4DF7-8D0C-5B2AC04E9710}">
      <dgm:prSet custT="1"/>
      <dgm:spPr/>
      <dgm:t>
        <a:bodyPr/>
        <a:lstStyle/>
        <a:p>
          <a:pPr rtl="0"/>
          <a:r>
            <a:rPr lang="fi-FI" sz="1100" b="0" dirty="0" smtClean="0"/>
            <a:t>Vaatimusten ja odotusten hallinta</a:t>
          </a:r>
          <a:endParaRPr lang="fi-FI" sz="1100" b="0" dirty="0"/>
        </a:p>
      </dgm:t>
    </dgm:pt>
    <dgm:pt modelId="{F587DB87-8C05-45E8-821D-48A0E1934C89}" type="parTrans" cxnId="{38793140-22FB-4290-95F5-D68F82D5906E}">
      <dgm:prSet/>
      <dgm:spPr/>
      <dgm:t>
        <a:bodyPr/>
        <a:lstStyle/>
        <a:p>
          <a:endParaRPr lang="fi-FI" sz="2000"/>
        </a:p>
      </dgm:t>
    </dgm:pt>
    <dgm:pt modelId="{D015357F-31D5-4BDE-9234-A074B01E35F1}" type="sibTrans" cxnId="{38793140-22FB-4290-95F5-D68F82D5906E}">
      <dgm:prSet/>
      <dgm:spPr/>
      <dgm:t>
        <a:bodyPr/>
        <a:lstStyle/>
        <a:p>
          <a:endParaRPr lang="fi-FI" sz="2000"/>
        </a:p>
      </dgm:t>
    </dgm:pt>
    <dgm:pt modelId="{2BB21CFB-3C14-4EE0-BF97-9DE197EDB4FB}">
      <dgm:prSet custT="1"/>
      <dgm:spPr/>
      <dgm:t>
        <a:bodyPr/>
        <a:lstStyle/>
        <a:p>
          <a:pPr rtl="0"/>
          <a:r>
            <a:rPr lang="fi-FI" sz="1100" b="0" dirty="0" smtClean="0"/>
            <a:t>Toimittajayhteistyö</a:t>
          </a:r>
          <a:endParaRPr lang="fi-FI" sz="1100" b="0" dirty="0"/>
        </a:p>
      </dgm:t>
    </dgm:pt>
    <dgm:pt modelId="{55DB9CF7-0918-46A0-A077-9B525FE754A0}" type="parTrans" cxnId="{FC853B53-7D65-41F8-842A-1527B7BD1F11}">
      <dgm:prSet/>
      <dgm:spPr/>
      <dgm:t>
        <a:bodyPr/>
        <a:lstStyle/>
        <a:p>
          <a:endParaRPr lang="fi-FI" sz="2000"/>
        </a:p>
      </dgm:t>
    </dgm:pt>
    <dgm:pt modelId="{B87C9EBE-1F3B-4B6F-8B1B-6ED6999EA57C}" type="sibTrans" cxnId="{FC853B53-7D65-41F8-842A-1527B7BD1F11}">
      <dgm:prSet/>
      <dgm:spPr/>
      <dgm:t>
        <a:bodyPr/>
        <a:lstStyle/>
        <a:p>
          <a:endParaRPr lang="fi-FI" sz="2000"/>
        </a:p>
      </dgm:t>
    </dgm:pt>
    <dgm:pt modelId="{D72C800D-6A31-4F3A-928F-3FAA9F4B2458}">
      <dgm:prSet custT="1"/>
      <dgm:spPr/>
      <dgm:t>
        <a:bodyPr/>
        <a:lstStyle/>
        <a:p>
          <a:pPr rtl="0"/>
          <a:r>
            <a:rPr lang="fi-FI" sz="1100" b="0" dirty="0" smtClean="0"/>
            <a:t>Kokonaisjärjestelmän ja osajärjestelmien tunnistaminen</a:t>
          </a:r>
          <a:endParaRPr lang="fi-FI" sz="1100" b="0" dirty="0"/>
        </a:p>
      </dgm:t>
    </dgm:pt>
    <dgm:pt modelId="{09F4EBD8-72E6-409A-BB6C-4843FEBEAA2B}" type="parTrans" cxnId="{DF223F19-81A7-4EA6-98DF-0E2387D499A4}">
      <dgm:prSet/>
      <dgm:spPr/>
      <dgm:t>
        <a:bodyPr/>
        <a:lstStyle/>
        <a:p>
          <a:endParaRPr lang="fi-FI" sz="2000"/>
        </a:p>
      </dgm:t>
    </dgm:pt>
    <dgm:pt modelId="{3A004302-3BD4-436A-BFCE-E278615647A1}" type="sibTrans" cxnId="{DF223F19-81A7-4EA6-98DF-0E2387D499A4}">
      <dgm:prSet/>
      <dgm:spPr/>
      <dgm:t>
        <a:bodyPr/>
        <a:lstStyle/>
        <a:p>
          <a:endParaRPr lang="fi-FI" sz="2000"/>
        </a:p>
      </dgm:t>
    </dgm:pt>
    <dgm:pt modelId="{EC2ECAB8-A85D-40C7-9117-2AA078A20F63}">
      <dgm:prSet custT="1"/>
      <dgm:spPr/>
      <dgm:t>
        <a:bodyPr/>
        <a:lstStyle/>
        <a:p>
          <a:pPr rtl="0"/>
          <a:r>
            <a:rPr lang="fi-FI" sz="1100" b="1" dirty="0" smtClean="0"/>
            <a:t>Hyväksymistestauksen organisointi ja puitteet</a:t>
          </a:r>
          <a:endParaRPr lang="fi-FI" sz="1100" b="1" dirty="0"/>
        </a:p>
      </dgm:t>
    </dgm:pt>
    <dgm:pt modelId="{5EE77FF3-6958-4AA2-A361-996476EE469F}" type="parTrans" cxnId="{F163E7A1-F61D-40FA-8D51-09DFBDF63920}">
      <dgm:prSet/>
      <dgm:spPr/>
      <dgm:t>
        <a:bodyPr/>
        <a:lstStyle/>
        <a:p>
          <a:endParaRPr lang="fi-FI" sz="2000"/>
        </a:p>
      </dgm:t>
    </dgm:pt>
    <dgm:pt modelId="{1857EB93-3123-4042-9586-557C94FF38FB}" type="sibTrans" cxnId="{F163E7A1-F61D-40FA-8D51-09DFBDF63920}">
      <dgm:prSet/>
      <dgm:spPr/>
      <dgm:t>
        <a:bodyPr/>
        <a:lstStyle/>
        <a:p>
          <a:endParaRPr lang="fi-FI" sz="2000"/>
        </a:p>
      </dgm:t>
    </dgm:pt>
    <dgm:pt modelId="{F3C8CAEE-C3C5-4F4E-B8D6-95CD478198FC}">
      <dgm:prSet custT="1"/>
      <dgm:spPr/>
      <dgm:t>
        <a:bodyPr/>
        <a:lstStyle/>
        <a:p>
          <a:r>
            <a:rPr lang="fi-FI" sz="1050" dirty="0" smtClean="0"/>
            <a:t>Testausprosessi suunnittelusta läpivientiin</a:t>
          </a:r>
          <a:endParaRPr lang="fi-FI" sz="1050" dirty="0"/>
        </a:p>
      </dgm:t>
    </dgm:pt>
    <dgm:pt modelId="{5285F996-D863-41D2-BCDC-C49BA518BF7E}" type="parTrans" cxnId="{36860DE1-6F5F-4025-A828-41782B80E483}">
      <dgm:prSet/>
      <dgm:spPr/>
      <dgm:t>
        <a:bodyPr/>
        <a:lstStyle/>
        <a:p>
          <a:endParaRPr lang="fi-FI" sz="2000"/>
        </a:p>
      </dgm:t>
    </dgm:pt>
    <dgm:pt modelId="{E224FB83-0D9D-4738-BEF7-DDCB4BC4B3E5}" type="sibTrans" cxnId="{36860DE1-6F5F-4025-A828-41782B80E483}">
      <dgm:prSet/>
      <dgm:spPr/>
      <dgm:t>
        <a:bodyPr/>
        <a:lstStyle/>
        <a:p>
          <a:endParaRPr lang="fi-FI" sz="2000"/>
        </a:p>
      </dgm:t>
    </dgm:pt>
    <dgm:pt modelId="{8FD7E9F2-2311-44BE-9382-0FD689EB7EE2}">
      <dgm:prSet custT="1"/>
      <dgm:spPr/>
      <dgm:t>
        <a:bodyPr/>
        <a:lstStyle/>
        <a:p>
          <a:r>
            <a:rPr lang="fi-FI" sz="1050" dirty="0" smtClean="0"/>
            <a:t>Toimittajan testauksien tarkastelu osana hyväksymistestausta</a:t>
          </a:r>
          <a:endParaRPr lang="fi-FI" sz="1050" dirty="0"/>
        </a:p>
      </dgm:t>
    </dgm:pt>
    <dgm:pt modelId="{5995E318-DFCD-47CE-9AC3-7D5D5C2C1D86}" type="parTrans" cxnId="{E1A005BE-128C-4479-A4FA-3DF86533F66C}">
      <dgm:prSet/>
      <dgm:spPr/>
      <dgm:t>
        <a:bodyPr/>
        <a:lstStyle/>
        <a:p>
          <a:endParaRPr lang="fi-FI" sz="2000"/>
        </a:p>
      </dgm:t>
    </dgm:pt>
    <dgm:pt modelId="{F367CA91-5390-4142-B6C6-B0F4A0631B49}" type="sibTrans" cxnId="{E1A005BE-128C-4479-A4FA-3DF86533F66C}">
      <dgm:prSet/>
      <dgm:spPr/>
      <dgm:t>
        <a:bodyPr/>
        <a:lstStyle/>
        <a:p>
          <a:endParaRPr lang="fi-FI" sz="2000"/>
        </a:p>
      </dgm:t>
    </dgm:pt>
    <dgm:pt modelId="{884C6235-9D16-4D95-BC42-131FB482992D}">
      <dgm:prSet custT="1"/>
      <dgm:spPr/>
      <dgm:t>
        <a:bodyPr/>
        <a:lstStyle/>
        <a:p>
          <a:r>
            <a:rPr lang="fi-FI" sz="1050" dirty="0" smtClean="0"/>
            <a:t>Ohjelmistokehityksen luonne, jatkuva muutos ja testauksen toistotarve</a:t>
          </a:r>
          <a:endParaRPr lang="fi-FI" sz="1050" dirty="0"/>
        </a:p>
      </dgm:t>
    </dgm:pt>
    <dgm:pt modelId="{0481730D-A61F-4DA9-9627-6BC82C4B148D}" type="parTrans" cxnId="{D0A56A45-20F2-4BCA-BD5A-BA373B2638CC}">
      <dgm:prSet/>
      <dgm:spPr/>
      <dgm:t>
        <a:bodyPr/>
        <a:lstStyle/>
        <a:p>
          <a:endParaRPr lang="fi-FI" sz="2000"/>
        </a:p>
      </dgm:t>
    </dgm:pt>
    <dgm:pt modelId="{555AD147-BAC6-43BB-90DD-1130ABA39199}" type="sibTrans" cxnId="{D0A56A45-20F2-4BCA-BD5A-BA373B2638CC}">
      <dgm:prSet/>
      <dgm:spPr/>
      <dgm:t>
        <a:bodyPr/>
        <a:lstStyle/>
        <a:p>
          <a:endParaRPr lang="fi-FI" sz="2000"/>
        </a:p>
      </dgm:t>
    </dgm:pt>
    <dgm:pt modelId="{5EA30DCB-652C-49B8-9D97-8AF54B4F7E80}">
      <dgm:prSet custT="1"/>
      <dgm:spPr/>
      <dgm:t>
        <a:bodyPr/>
        <a:lstStyle/>
        <a:p>
          <a:r>
            <a:rPr lang="fi-FI" sz="1050" dirty="0" smtClean="0"/>
            <a:t>Testauksen työmäärät ja tehokkuus tuloksina ja kustannuksina</a:t>
          </a:r>
          <a:endParaRPr lang="fi-FI" sz="1050" dirty="0"/>
        </a:p>
      </dgm:t>
    </dgm:pt>
    <dgm:pt modelId="{FAB1DA54-8633-4DA2-80C9-DA6F0989C0DB}" type="parTrans" cxnId="{EF253D2C-88A1-4A17-A421-A437AB497084}">
      <dgm:prSet/>
      <dgm:spPr/>
      <dgm:t>
        <a:bodyPr/>
        <a:lstStyle/>
        <a:p>
          <a:endParaRPr lang="fi-FI" sz="2000"/>
        </a:p>
      </dgm:t>
    </dgm:pt>
    <dgm:pt modelId="{B8684FF1-2E11-4AA1-8744-0C5546446438}" type="sibTrans" cxnId="{EF253D2C-88A1-4A17-A421-A437AB497084}">
      <dgm:prSet/>
      <dgm:spPr/>
      <dgm:t>
        <a:bodyPr/>
        <a:lstStyle/>
        <a:p>
          <a:endParaRPr lang="fi-FI" sz="2000"/>
        </a:p>
      </dgm:t>
    </dgm:pt>
    <dgm:pt modelId="{63777967-36A7-42A3-AAA6-F67A82A84365}">
      <dgm:prSet custT="1"/>
      <dgm:spPr/>
      <dgm:t>
        <a:bodyPr/>
        <a:lstStyle/>
        <a:p>
          <a:r>
            <a:rPr lang="fi-FI" sz="1050" dirty="0" smtClean="0"/>
            <a:t>Riskiohjattu testaus: rajallisen työmäärän kohdistaminen</a:t>
          </a:r>
          <a:endParaRPr lang="fi-FI" sz="1050" dirty="0"/>
        </a:p>
      </dgm:t>
    </dgm:pt>
    <dgm:pt modelId="{F3267288-52D4-4232-8EDE-0C06A198065D}" type="parTrans" cxnId="{558D6982-3136-43B9-B184-56E7146CE86D}">
      <dgm:prSet/>
      <dgm:spPr/>
      <dgm:t>
        <a:bodyPr/>
        <a:lstStyle/>
        <a:p>
          <a:endParaRPr lang="fi-FI" sz="2000"/>
        </a:p>
      </dgm:t>
    </dgm:pt>
    <dgm:pt modelId="{F21EB987-DD12-4AE4-A891-7E0A1B3B9F7C}" type="sibTrans" cxnId="{558D6982-3136-43B9-B184-56E7146CE86D}">
      <dgm:prSet/>
      <dgm:spPr/>
      <dgm:t>
        <a:bodyPr/>
        <a:lstStyle/>
        <a:p>
          <a:endParaRPr lang="fi-FI" sz="2000"/>
        </a:p>
      </dgm:t>
    </dgm:pt>
    <dgm:pt modelId="{8FA580CD-2825-4C51-B1DE-E59D1B218141}">
      <dgm:prSet custT="1"/>
      <dgm:spPr/>
      <dgm:t>
        <a:bodyPr/>
        <a:lstStyle/>
        <a:p>
          <a:r>
            <a:rPr lang="fi-FI" sz="1050" dirty="0" smtClean="0"/>
            <a:t>Havaintokirjausten käsittely ja muutoksista sopiminen</a:t>
          </a:r>
          <a:endParaRPr lang="fi-FI" sz="1050" dirty="0"/>
        </a:p>
      </dgm:t>
    </dgm:pt>
    <dgm:pt modelId="{3834143C-29CF-48A3-A93F-2F105F6D6050}" type="parTrans" cxnId="{C94072C2-A343-4034-AE65-F026F0256435}">
      <dgm:prSet/>
      <dgm:spPr/>
      <dgm:t>
        <a:bodyPr/>
        <a:lstStyle/>
        <a:p>
          <a:endParaRPr lang="fi-FI" sz="2000"/>
        </a:p>
      </dgm:t>
    </dgm:pt>
    <dgm:pt modelId="{72A3146F-3698-4795-BFC6-740EADE57467}" type="sibTrans" cxnId="{C94072C2-A343-4034-AE65-F026F0256435}">
      <dgm:prSet/>
      <dgm:spPr/>
      <dgm:t>
        <a:bodyPr/>
        <a:lstStyle/>
        <a:p>
          <a:endParaRPr lang="fi-FI" sz="2000"/>
        </a:p>
      </dgm:t>
    </dgm:pt>
    <dgm:pt modelId="{E0B0216D-FB34-4FF8-9D6F-878140CAD8C7}">
      <dgm:prSet custT="1"/>
      <dgm:spPr/>
      <dgm:t>
        <a:bodyPr/>
        <a:lstStyle/>
        <a:p>
          <a:r>
            <a:rPr lang="fi-FI" sz="1050" dirty="0" smtClean="0"/>
            <a:t>Testausympäristöt, testitapaukset ja testiaineisto</a:t>
          </a:r>
          <a:endParaRPr lang="fi-FI" sz="1050" dirty="0"/>
        </a:p>
      </dgm:t>
    </dgm:pt>
    <dgm:pt modelId="{742C2641-2368-450E-9041-6212968BDF28}" type="parTrans" cxnId="{165D3642-C139-40E0-AF02-1BF4FD25CF1B}">
      <dgm:prSet/>
      <dgm:spPr/>
      <dgm:t>
        <a:bodyPr/>
        <a:lstStyle/>
        <a:p>
          <a:endParaRPr lang="fi-FI" sz="2000"/>
        </a:p>
      </dgm:t>
    </dgm:pt>
    <dgm:pt modelId="{A52F8DC6-3D0E-458B-B9D3-8E5A5EB293DB}" type="sibTrans" cxnId="{165D3642-C139-40E0-AF02-1BF4FD25CF1B}">
      <dgm:prSet/>
      <dgm:spPr/>
      <dgm:t>
        <a:bodyPr/>
        <a:lstStyle/>
        <a:p>
          <a:endParaRPr lang="fi-FI" sz="2000"/>
        </a:p>
      </dgm:t>
    </dgm:pt>
    <dgm:pt modelId="{59007718-4FEB-43D9-B9E5-8114FFCD746C}">
      <dgm:prSet custT="1"/>
      <dgm:spPr/>
      <dgm:t>
        <a:bodyPr/>
        <a:lstStyle/>
        <a:p>
          <a:r>
            <a:rPr lang="fi-FI" sz="1050" dirty="0" smtClean="0"/>
            <a:t>Testauksen hallinta, seuranta ja mittarit</a:t>
          </a:r>
          <a:endParaRPr lang="fi-FI" sz="1050" dirty="0"/>
        </a:p>
      </dgm:t>
    </dgm:pt>
    <dgm:pt modelId="{90B8E4C9-9201-45CE-B9BA-F827E96CFDB4}" type="parTrans" cxnId="{8C048B0A-FDAC-44D2-B3BE-137FDDEC9FF6}">
      <dgm:prSet/>
      <dgm:spPr/>
      <dgm:t>
        <a:bodyPr/>
        <a:lstStyle/>
        <a:p>
          <a:endParaRPr lang="fi-FI" sz="2000"/>
        </a:p>
      </dgm:t>
    </dgm:pt>
    <dgm:pt modelId="{1BA139E2-2347-43A0-99EC-8A886F47E572}" type="sibTrans" cxnId="{8C048B0A-FDAC-44D2-B3BE-137FDDEC9FF6}">
      <dgm:prSet/>
      <dgm:spPr/>
      <dgm:t>
        <a:bodyPr/>
        <a:lstStyle/>
        <a:p>
          <a:endParaRPr lang="fi-FI" sz="2000"/>
        </a:p>
      </dgm:t>
    </dgm:pt>
    <dgm:pt modelId="{284F0E1D-70AC-40E5-B58D-8B75F4E28080}">
      <dgm:prSet custT="1"/>
      <dgm:spPr/>
      <dgm:t>
        <a:bodyPr/>
        <a:lstStyle/>
        <a:p>
          <a:r>
            <a:rPr lang="fi-FI" sz="1050" dirty="0" smtClean="0"/>
            <a:t>Toistuva hyväksymistestaus ylläpitoluonteiselle kehitystyölle</a:t>
          </a:r>
        </a:p>
      </dgm:t>
    </dgm:pt>
    <dgm:pt modelId="{31BA2C00-143D-4E09-82A4-A572C9C79C5A}" type="parTrans" cxnId="{CF06342C-923C-4B1A-A4EC-4D6001BB9FFD}">
      <dgm:prSet/>
      <dgm:spPr/>
      <dgm:t>
        <a:bodyPr/>
        <a:lstStyle/>
        <a:p>
          <a:endParaRPr lang="fi-FI" sz="2000"/>
        </a:p>
      </dgm:t>
    </dgm:pt>
    <dgm:pt modelId="{4F7A961E-8DB8-4F44-8B4F-2E1AA56DD794}" type="sibTrans" cxnId="{CF06342C-923C-4B1A-A4EC-4D6001BB9FFD}">
      <dgm:prSet/>
      <dgm:spPr/>
      <dgm:t>
        <a:bodyPr/>
        <a:lstStyle/>
        <a:p>
          <a:endParaRPr lang="fi-FI" sz="2000"/>
        </a:p>
      </dgm:t>
    </dgm:pt>
    <dgm:pt modelId="{5A047D2B-AE09-4A6A-B06B-F9BE7B733FC6}">
      <dgm:prSet custT="1"/>
      <dgm:spPr/>
      <dgm:t>
        <a:bodyPr/>
        <a:lstStyle/>
        <a:p>
          <a:r>
            <a:rPr lang="fi-FI" sz="1100" b="1" dirty="0" smtClean="0"/>
            <a:t>Testaus vaatimuksia ja odotuksia vastaan</a:t>
          </a:r>
          <a:endParaRPr lang="fi-FI" sz="1100" b="1" dirty="0"/>
        </a:p>
      </dgm:t>
    </dgm:pt>
    <dgm:pt modelId="{8B477AFB-3BB3-4E4F-A613-7C77A347B362}" type="parTrans" cxnId="{DDA29D37-E8F9-42C3-B045-6EF36EA64061}">
      <dgm:prSet/>
      <dgm:spPr/>
      <dgm:t>
        <a:bodyPr/>
        <a:lstStyle/>
        <a:p>
          <a:endParaRPr lang="fi-FI" sz="2000"/>
        </a:p>
      </dgm:t>
    </dgm:pt>
    <dgm:pt modelId="{2A70620D-A631-4E94-958B-CBD6322152E7}" type="sibTrans" cxnId="{DDA29D37-E8F9-42C3-B045-6EF36EA64061}">
      <dgm:prSet/>
      <dgm:spPr/>
      <dgm:t>
        <a:bodyPr/>
        <a:lstStyle/>
        <a:p>
          <a:endParaRPr lang="fi-FI" sz="2000"/>
        </a:p>
      </dgm:t>
    </dgm:pt>
    <dgm:pt modelId="{3D5166C9-5BA2-4001-892D-F49F4600D5B7}">
      <dgm:prSet custT="1"/>
      <dgm:spPr/>
      <dgm:t>
        <a:bodyPr/>
        <a:lstStyle/>
        <a:p>
          <a:r>
            <a:rPr lang="fi-FI" sz="1050" dirty="0" smtClean="0"/>
            <a:t>Sovellusalueosaamisen ja liiketoimintaprosessin osaamisen käyttö hyväksymistestauksessa</a:t>
          </a:r>
          <a:endParaRPr lang="fi-FI" sz="1050" dirty="0"/>
        </a:p>
      </dgm:t>
    </dgm:pt>
    <dgm:pt modelId="{65196C88-0272-4B87-95C5-9ECF31C690C5}" type="parTrans" cxnId="{CBD1C9AE-9CB6-4DAC-9A13-CF429A4CF2CE}">
      <dgm:prSet/>
      <dgm:spPr/>
      <dgm:t>
        <a:bodyPr/>
        <a:lstStyle/>
        <a:p>
          <a:endParaRPr lang="fi-FI" sz="2000"/>
        </a:p>
      </dgm:t>
    </dgm:pt>
    <dgm:pt modelId="{7A884809-F420-4DBC-B4D1-42CD63AA7E48}" type="sibTrans" cxnId="{CBD1C9AE-9CB6-4DAC-9A13-CF429A4CF2CE}">
      <dgm:prSet/>
      <dgm:spPr/>
      <dgm:t>
        <a:bodyPr/>
        <a:lstStyle/>
        <a:p>
          <a:endParaRPr lang="fi-FI" sz="2000"/>
        </a:p>
      </dgm:t>
    </dgm:pt>
    <dgm:pt modelId="{B51F8DC3-7A9F-4CF9-90CC-BC0B820F7B91}">
      <dgm:prSet custT="1"/>
      <dgm:spPr/>
      <dgm:t>
        <a:bodyPr/>
        <a:lstStyle/>
        <a:p>
          <a:r>
            <a:rPr lang="fi-FI" sz="1050" dirty="0" smtClean="0"/>
            <a:t>Vaatimusten järjestelmällinen läpikäynti</a:t>
          </a:r>
          <a:endParaRPr lang="fi-FI" sz="1050" dirty="0"/>
        </a:p>
      </dgm:t>
    </dgm:pt>
    <dgm:pt modelId="{B548D59C-C2A0-4CDC-8BEB-4BECB5846444}" type="parTrans" cxnId="{58B7B001-F24A-48C0-A169-02A75BBAF8BA}">
      <dgm:prSet/>
      <dgm:spPr/>
      <dgm:t>
        <a:bodyPr/>
        <a:lstStyle/>
        <a:p>
          <a:endParaRPr lang="fi-FI" sz="2000"/>
        </a:p>
      </dgm:t>
    </dgm:pt>
    <dgm:pt modelId="{03D855FF-F756-46AB-8876-3918B1753DDF}" type="sibTrans" cxnId="{58B7B001-F24A-48C0-A169-02A75BBAF8BA}">
      <dgm:prSet/>
      <dgm:spPr/>
      <dgm:t>
        <a:bodyPr/>
        <a:lstStyle/>
        <a:p>
          <a:endParaRPr lang="fi-FI" sz="2000"/>
        </a:p>
      </dgm:t>
    </dgm:pt>
    <dgm:pt modelId="{6DCF312A-D696-446F-8AEF-7CC30783908B}">
      <dgm:prSet custT="1"/>
      <dgm:spPr/>
      <dgm:t>
        <a:bodyPr/>
        <a:lstStyle/>
        <a:p>
          <a:r>
            <a:rPr lang="fi-FI" sz="1050" dirty="0" smtClean="0"/>
            <a:t>Testitapausten merkitys hyväksymistestaukselle</a:t>
          </a:r>
          <a:endParaRPr lang="fi-FI" sz="1050" dirty="0"/>
        </a:p>
      </dgm:t>
    </dgm:pt>
    <dgm:pt modelId="{3447F3BB-C176-403F-A440-AAA7B2132DFD}" type="parTrans" cxnId="{CF519EFD-A2DD-4B69-9F56-3F9C8F4E2CC2}">
      <dgm:prSet/>
      <dgm:spPr/>
      <dgm:t>
        <a:bodyPr/>
        <a:lstStyle/>
        <a:p>
          <a:endParaRPr lang="fi-FI" sz="2000"/>
        </a:p>
      </dgm:t>
    </dgm:pt>
    <dgm:pt modelId="{800753E0-C5D5-4C74-BD57-FDEE2C16A254}" type="sibTrans" cxnId="{CF519EFD-A2DD-4B69-9F56-3F9C8F4E2CC2}">
      <dgm:prSet/>
      <dgm:spPr/>
      <dgm:t>
        <a:bodyPr/>
        <a:lstStyle/>
        <a:p>
          <a:endParaRPr lang="fi-FI" sz="2000"/>
        </a:p>
      </dgm:t>
    </dgm:pt>
    <dgm:pt modelId="{13C8241D-30EB-4DA5-91CE-6455887CB532}">
      <dgm:prSet custT="1"/>
      <dgm:spPr/>
      <dgm:t>
        <a:bodyPr/>
        <a:lstStyle/>
        <a:p>
          <a:r>
            <a:rPr lang="fi-FI" sz="1050" dirty="0" smtClean="0"/>
            <a:t>Hyväksymistestausta tukevat testitapaukset</a:t>
          </a:r>
          <a:endParaRPr lang="fi-FI" sz="1050" dirty="0"/>
        </a:p>
      </dgm:t>
    </dgm:pt>
    <dgm:pt modelId="{1D178F00-0239-4F3A-B7E9-B16BC7D40770}" type="parTrans" cxnId="{25D78AD7-111E-45EA-B17E-5767226B1533}">
      <dgm:prSet/>
      <dgm:spPr/>
      <dgm:t>
        <a:bodyPr/>
        <a:lstStyle/>
        <a:p>
          <a:endParaRPr lang="fi-FI" sz="2000"/>
        </a:p>
      </dgm:t>
    </dgm:pt>
    <dgm:pt modelId="{FF284607-31F0-407C-BDD3-060E3A6EF9D4}" type="sibTrans" cxnId="{25D78AD7-111E-45EA-B17E-5767226B1533}">
      <dgm:prSet/>
      <dgm:spPr/>
      <dgm:t>
        <a:bodyPr/>
        <a:lstStyle/>
        <a:p>
          <a:endParaRPr lang="fi-FI" sz="2000"/>
        </a:p>
      </dgm:t>
    </dgm:pt>
    <dgm:pt modelId="{F0649716-B277-4246-B4C1-BC542F322F8A}">
      <dgm:prSet custT="1"/>
      <dgm:spPr/>
      <dgm:t>
        <a:bodyPr/>
        <a:lstStyle/>
        <a:p>
          <a:r>
            <a:rPr lang="fi-FI" sz="1050" dirty="0" smtClean="0"/>
            <a:t>Testitapausten priorisointi hyväksymistestaukselle: mistä tiedetään mikä on tärkeää liiketoiminnalle</a:t>
          </a:r>
          <a:endParaRPr lang="fi-FI" sz="1050" dirty="0"/>
        </a:p>
      </dgm:t>
    </dgm:pt>
    <dgm:pt modelId="{27839B55-E584-422D-B72E-32A347E21FD6}" type="parTrans" cxnId="{B584686C-FF56-43FC-A6E9-BFDC110D0F3A}">
      <dgm:prSet/>
      <dgm:spPr/>
      <dgm:t>
        <a:bodyPr/>
        <a:lstStyle/>
        <a:p>
          <a:endParaRPr lang="fi-FI" sz="2000"/>
        </a:p>
      </dgm:t>
    </dgm:pt>
    <dgm:pt modelId="{3CA4F354-DF59-45C6-AF13-28268C39518D}" type="sibTrans" cxnId="{B584686C-FF56-43FC-A6E9-BFDC110D0F3A}">
      <dgm:prSet/>
      <dgm:spPr/>
      <dgm:t>
        <a:bodyPr/>
        <a:lstStyle/>
        <a:p>
          <a:endParaRPr lang="fi-FI" sz="2000"/>
        </a:p>
      </dgm:t>
    </dgm:pt>
    <dgm:pt modelId="{582737C7-A23B-4BCF-8152-3B1924EDA793}">
      <dgm:prSet custT="1"/>
      <dgm:spPr/>
      <dgm:t>
        <a:bodyPr/>
        <a:lstStyle/>
        <a:p>
          <a:r>
            <a:rPr lang="fi-FI" sz="1050" dirty="0" smtClean="0"/>
            <a:t>Kelpuuttaminen käyttöön vs. todentaminen suhteessa vaatimuksiin</a:t>
          </a:r>
        </a:p>
      </dgm:t>
    </dgm:pt>
    <dgm:pt modelId="{37F03128-A80E-4CE0-BC23-6DF7CB8A11D8}" type="parTrans" cxnId="{E7C37E4C-54D2-4BC9-B239-CAD8181BEBE4}">
      <dgm:prSet/>
      <dgm:spPr/>
      <dgm:t>
        <a:bodyPr/>
        <a:lstStyle/>
        <a:p>
          <a:endParaRPr lang="fi-FI" sz="2000"/>
        </a:p>
      </dgm:t>
    </dgm:pt>
    <dgm:pt modelId="{FD69B635-10E7-462F-9558-02A0E5739F4C}" type="sibTrans" cxnId="{E7C37E4C-54D2-4BC9-B239-CAD8181BEBE4}">
      <dgm:prSet/>
      <dgm:spPr/>
      <dgm:t>
        <a:bodyPr/>
        <a:lstStyle/>
        <a:p>
          <a:endParaRPr lang="fi-FI" sz="2000"/>
        </a:p>
      </dgm:t>
    </dgm:pt>
    <dgm:pt modelId="{3B2B6EC3-FAFC-4F27-AF22-3209ABD0D639}" type="pres">
      <dgm:prSet presAssocID="{D5C8C534-B55B-41EF-88DB-ED9C24EBB7FC}" presName="Name0" presStyleCnt="0">
        <dgm:presLayoutVars>
          <dgm:dir/>
          <dgm:animLvl val="lvl"/>
          <dgm:resizeHandles val="exact"/>
        </dgm:presLayoutVars>
      </dgm:prSet>
      <dgm:spPr/>
      <dgm:t>
        <a:bodyPr/>
        <a:lstStyle/>
        <a:p>
          <a:endParaRPr lang="fi-FI"/>
        </a:p>
      </dgm:t>
    </dgm:pt>
    <dgm:pt modelId="{D92851F3-0C0F-489F-A254-A6812400DD0A}" type="pres">
      <dgm:prSet presAssocID="{876F12A8-3CBF-4C23-9511-B3BE912EE8A9}" presName="composite" presStyleCnt="0"/>
      <dgm:spPr/>
    </dgm:pt>
    <dgm:pt modelId="{8B58748B-2575-4D58-9FA0-9F6CA0DF6B78}" type="pres">
      <dgm:prSet presAssocID="{876F12A8-3CBF-4C23-9511-B3BE912EE8A9}" presName="parTx" presStyleLbl="alignNode1" presStyleIdx="0" presStyleCnt="4">
        <dgm:presLayoutVars>
          <dgm:chMax val="0"/>
          <dgm:chPref val="0"/>
          <dgm:bulletEnabled val="1"/>
        </dgm:presLayoutVars>
      </dgm:prSet>
      <dgm:spPr/>
      <dgm:t>
        <a:bodyPr/>
        <a:lstStyle/>
        <a:p>
          <a:endParaRPr lang="fi-FI"/>
        </a:p>
      </dgm:t>
    </dgm:pt>
    <dgm:pt modelId="{AAB1147D-BCEB-4287-850D-0C28E16B7E63}" type="pres">
      <dgm:prSet presAssocID="{876F12A8-3CBF-4C23-9511-B3BE912EE8A9}" presName="desTx" presStyleLbl="alignAccFollowNode1" presStyleIdx="0" presStyleCnt="4">
        <dgm:presLayoutVars>
          <dgm:bulletEnabled val="1"/>
        </dgm:presLayoutVars>
      </dgm:prSet>
      <dgm:spPr/>
      <dgm:t>
        <a:bodyPr/>
        <a:lstStyle/>
        <a:p>
          <a:endParaRPr lang="fi-FI"/>
        </a:p>
      </dgm:t>
    </dgm:pt>
    <dgm:pt modelId="{4F0A595E-783C-4E50-8B40-09F25FB93E7C}" type="pres">
      <dgm:prSet presAssocID="{9D64F3A3-F0ED-495F-BD66-97CC72F1F1F0}" presName="space" presStyleCnt="0"/>
      <dgm:spPr/>
    </dgm:pt>
    <dgm:pt modelId="{D92EDD19-9446-4D94-8EDB-D131762C721A}" type="pres">
      <dgm:prSet presAssocID="{52B1E9F8-FF5A-4290-A2EE-04416696410E}" presName="composite" presStyleCnt="0"/>
      <dgm:spPr/>
    </dgm:pt>
    <dgm:pt modelId="{20330B3A-115A-4449-BBD2-F1DF7DA08C27}" type="pres">
      <dgm:prSet presAssocID="{52B1E9F8-FF5A-4290-A2EE-04416696410E}" presName="parTx" presStyleLbl="alignNode1" presStyleIdx="1" presStyleCnt="4">
        <dgm:presLayoutVars>
          <dgm:chMax val="0"/>
          <dgm:chPref val="0"/>
          <dgm:bulletEnabled val="1"/>
        </dgm:presLayoutVars>
      </dgm:prSet>
      <dgm:spPr/>
      <dgm:t>
        <a:bodyPr/>
        <a:lstStyle/>
        <a:p>
          <a:endParaRPr lang="fi-FI"/>
        </a:p>
      </dgm:t>
    </dgm:pt>
    <dgm:pt modelId="{8901B344-4CDE-44D5-B022-7E0CE2C33BF0}" type="pres">
      <dgm:prSet presAssocID="{52B1E9F8-FF5A-4290-A2EE-04416696410E}" presName="desTx" presStyleLbl="alignAccFollowNode1" presStyleIdx="1" presStyleCnt="4" custLinFactNeighborX="-512" custLinFactNeighborY="-94">
        <dgm:presLayoutVars>
          <dgm:bulletEnabled val="1"/>
        </dgm:presLayoutVars>
      </dgm:prSet>
      <dgm:spPr/>
      <dgm:t>
        <a:bodyPr/>
        <a:lstStyle/>
        <a:p>
          <a:endParaRPr lang="fi-FI"/>
        </a:p>
      </dgm:t>
    </dgm:pt>
    <dgm:pt modelId="{1849843C-4BCF-4CA2-9DF2-6782D020EB95}" type="pres">
      <dgm:prSet presAssocID="{B47D46F4-2A52-46AE-8568-3E60E48D3D30}" presName="space" presStyleCnt="0"/>
      <dgm:spPr/>
    </dgm:pt>
    <dgm:pt modelId="{339E4B24-AAC5-4F06-B52E-2DF3F454F8CD}" type="pres">
      <dgm:prSet presAssocID="{EC2ECAB8-A85D-40C7-9117-2AA078A20F63}" presName="composite" presStyleCnt="0"/>
      <dgm:spPr/>
    </dgm:pt>
    <dgm:pt modelId="{E3E6BEB8-B08E-43CD-A3AF-F2B85C4580AD}" type="pres">
      <dgm:prSet presAssocID="{EC2ECAB8-A85D-40C7-9117-2AA078A20F63}" presName="parTx" presStyleLbl="alignNode1" presStyleIdx="2" presStyleCnt="4">
        <dgm:presLayoutVars>
          <dgm:chMax val="0"/>
          <dgm:chPref val="0"/>
          <dgm:bulletEnabled val="1"/>
        </dgm:presLayoutVars>
      </dgm:prSet>
      <dgm:spPr/>
      <dgm:t>
        <a:bodyPr/>
        <a:lstStyle/>
        <a:p>
          <a:endParaRPr lang="fi-FI"/>
        </a:p>
      </dgm:t>
    </dgm:pt>
    <dgm:pt modelId="{2CE42794-9563-4A96-B9CC-520A06D6EE9D}" type="pres">
      <dgm:prSet presAssocID="{EC2ECAB8-A85D-40C7-9117-2AA078A20F63}" presName="desTx" presStyleLbl="alignAccFollowNode1" presStyleIdx="2" presStyleCnt="4">
        <dgm:presLayoutVars>
          <dgm:bulletEnabled val="1"/>
        </dgm:presLayoutVars>
      </dgm:prSet>
      <dgm:spPr/>
      <dgm:t>
        <a:bodyPr/>
        <a:lstStyle/>
        <a:p>
          <a:endParaRPr lang="fi-FI"/>
        </a:p>
      </dgm:t>
    </dgm:pt>
    <dgm:pt modelId="{B11BD261-271F-4274-A770-76A44AED9CB3}" type="pres">
      <dgm:prSet presAssocID="{1857EB93-3123-4042-9586-557C94FF38FB}" presName="space" presStyleCnt="0"/>
      <dgm:spPr/>
    </dgm:pt>
    <dgm:pt modelId="{9FBE3C72-DB3A-46C6-B2EE-4B94FAA24B04}" type="pres">
      <dgm:prSet presAssocID="{5A047D2B-AE09-4A6A-B06B-F9BE7B733FC6}" presName="composite" presStyleCnt="0"/>
      <dgm:spPr/>
    </dgm:pt>
    <dgm:pt modelId="{016C0C30-52FC-4CA5-B7B1-35861449347E}" type="pres">
      <dgm:prSet presAssocID="{5A047D2B-AE09-4A6A-B06B-F9BE7B733FC6}" presName="parTx" presStyleLbl="alignNode1" presStyleIdx="3" presStyleCnt="4">
        <dgm:presLayoutVars>
          <dgm:chMax val="0"/>
          <dgm:chPref val="0"/>
          <dgm:bulletEnabled val="1"/>
        </dgm:presLayoutVars>
      </dgm:prSet>
      <dgm:spPr/>
      <dgm:t>
        <a:bodyPr/>
        <a:lstStyle/>
        <a:p>
          <a:endParaRPr lang="fi-FI"/>
        </a:p>
      </dgm:t>
    </dgm:pt>
    <dgm:pt modelId="{882F28AC-AD1B-4E0E-AEA6-8989F5CE6A35}" type="pres">
      <dgm:prSet presAssocID="{5A047D2B-AE09-4A6A-B06B-F9BE7B733FC6}" presName="desTx" presStyleLbl="alignAccFollowNode1" presStyleIdx="3" presStyleCnt="4">
        <dgm:presLayoutVars>
          <dgm:bulletEnabled val="1"/>
        </dgm:presLayoutVars>
      </dgm:prSet>
      <dgm:spPr/>
      <dgm:t>
        <a:bodyPr/>
        <a:lstStyle/>
        <a:p>
          <a:endParaRPr lang="fi-FI"/>
        </a:p>
      </dgm:t>
    </dgm:pt>
  </dgm:ptLst>
  <dgm:cxnLst>
    <dgm:cxn modelId="{1802BB69-2459-471D-818E-7ADD6ECF7597}" type="presOf" srcId="{59007718-4FEB-43D9-B9E5-8114FFCD746C}" destId="{2CE42794-9563-4A96-B9CC-520A06D6EE9D}" srcOrd="0" destOrd="7" presId="urn:microsoft.com/office/officeart/2005/8/layout/hList1"/>
    <dgm:cxn modelId="{D0A56A45-20F2-4BCA-BD5A-BA373B2638CC}" srcId="{EC2ECAB8-A85D-40C7-9117-2AA078A20F63}" destId="{884C6235-9D16-4D95-BC42-131FB482992D}" srcOrd="2" destOrd="0" parTransId="{0481730D-A61F-4DA9-9627-6BC82C4B148D}" sibTransId="{555AD147-BAC6-43BB-90DD-1130ABA39199}"/>
    <dgm:cxn modelId="{FC853B53-7D65-41F8-842A-1527B7BD1F11}" srcId="{52B1E9F8-FF5A-4290-A2EE-04416696410E}" destId="{2BB21CFB-3C14-4EE0-BF97-9DE197EDB4FB}" srcOrd="3" destOrd="0" parTransId="{55DB9CF7-0918-46A0-A077-9B525FE754A0}" sibTransId="{B87C9EBE-1F3B-4B6F-8B1B-6ED6999EA57C}"/>
    <dgm:cxn modelId="{B3E1BEBF-A33C-4630-819E-21DBA666CE35}" type="presOf" srcId="{0C5135B2-B7D9-4A56-B321-EACBE96AD852}" destId="{AAB1147D-BCEB-4287-850D-0C28E16B7E63}" srcOrd="0" destOrd="5" presId="urn:microsoft.com/office/officeart/2005/8/layout/hList1"/>
    <dgm:cxn modelId="{B81C00A6-B0A2-4B75-822D-E8CACEAEA7BC}" type="presOf" srcId="{17A262F1-9003-4C77-8F50-D8E5C174B968}" destId="{AAB1147D-BCEB-4287-850D-0C28E16B7E63}" srcOrd="0" destOrd="6" presId="urn:microsoft.com/office/officeart/2005/8/layout/hList1"/>
    <dgm:cxn modelId="{A960D218-BB75-455A-95BF-012050E1AFB9}" srcId="{876F12A8-3CBF-4C23-9511-B3BE912EE8A9}" destId="{C896329D-659F-41D8-8428-23F35A3F2A7F}" srcOrd="2" destOrd="0" parTransId="{1095EFC7-C63D-462E-9409-7653C01AAA33}" sibTransId="{B35503A3-5959-4612-89F8-373578912E93}"/>
    <dgm:cxn modelId="{CF06342C-923C-4B1A-A4EC-4D6001BB9FFD}" srcId="{EC2ECAB8-A85D-40C7-9117-2AA078A20F63}" destId="{284F0E1D-70AC-40E5-B58D-8B75F4E28080}" srcOrd="8" destOrd="0" parTransId="{31BA2C00-143D-4E09-82A4-A572C9C79C5A}" sibTransId="{4F7A961E-8DB8-4F44-8B4F-2E1AA56DD794}"/>
    <dgm:cxn modelId="{8C048B0A-FDAC-44D2-B3BE-137FDDEC9FF6}" srcId="{EC2ECAB8-A85D-40C7-9117-2AA078A20F63}" destId="{59007718-4FEB-43D9-B9E5-8114FFCD746C}" srcOrd="7" destOrd="0" parTransId="{90B8E4C9-9201-45CE-B9BA-F827E96CFDB4}" sibTransId="{1BA139E2-2347-43A0-99EC-8A886F47E572}"/>
    <dgm:cxn modelId="{E62A7E35-9396-4165-AE0D-F6F212E3775B}" type="presOf" srcId="{DFACE991-8E53-485A-907C-1EFB2848046C}" destId="{8901B344-4CDE-44D5-B022-7E0CE2C33BF0}" srcOrd="0" destOrd="0" presId="urn:microsoft.com/office/officeart/2005/8/layout/hList1"/>
    <dgm:cxn modelId="{1C29BF4E-016A-4DA8-BB30-C56779698784}" type="presOf" srcId="{876F12A8-3CBF-4C23-9511-B3BE912EE8A9}" destId="{8B58748B-2575-4D58-9FA0-9F6CA0DF6B78}" srcOrd="0" destOrd="0" presId="urn:microsoft.com/office/officeart/2005/8/layout/hList1"/>
    <dgm:cxn modelId="{2D4541F8-13B9-43A0-BAF0-1A46FB50E023}" type="presOf" srcId="{E0B0216D-FB34-4FF8-9D6F-878140CAD8C7}" destId="{2CE42794-9563-4A96-B9CC-520A06D6EE9D}" srcOrd="0" destOrd="6" presId="urn:microsoft.com/office/officeart/2005/8/layout/hList1"/>
    <dgm:cxn modelId="{43244CA7-F44C-4943-BF80-48B9C1DB48C6}" type="presOf" srcId="{1D93A904-DA31-4610-8126-8F418CD7E1E6}" destId="{AAB1147D-BCEB-4287-850D-0C28E16B7E63}" srcOrd="0" destOrd="3" presId="urn:microsoft.com/office/officeart/2005/8/layout/hList1"/>
    <dgm:cxn modelId="{A5AB44A5-0A54-4255-863D-C63ECB47ADB4}" srcId="{52B1E9F8-FF5A-4290-A2EE-04416696410E}" destId="{1916EEB6-8012-4C32-BB16-D45FE8388CAB}" srcOrd="1" destOrd="0" parTransId="{AAE70BB2-FF9F-4070-A5FC-ED235CA4153C}" sibTransId="{2FBCF5CD-18EA-4379-8DDB-078E7BE8F140}"/>
    <dgm:cxn modelId="{6477DD6F-8191-4390-B4DF-FA9A84E61F4F}" srcId="{876F12A8-3CBF-4C23-9511-B3BE912EE8A9}" destId="{77261A98-EA16-48DE-BDEC-862B033DFA44}" srcOrd="0" destOrd="0" parTransId="{4AE48503-4481-4041-AD0D-FB09D10A177D}" sibTransId="{F5E35242-EFA8-4231-BC41-3E8B48AEE665}"/>
    <dgm:cxn modelId="{0FDB0BE5-9B29-404E-8FE7-931D3DFBC73C}" type="presOf" srcId="{D5C8C534-B55B-41EF-88DB-ED9C24EBB7FC}" destId="{3B2B6EC3-FAFC-4F27-AF22-3209ABD0D639}" srcOrd="0" destOrd="0" presId="urn:microsoft.com/office/officeart/2005/8/layout/hList1"/>
    <dgm:cxn modelId="{165D3642-C139-40E0-AF02-1BF4FD25CF1B}" srcId="{EC2ECAB8-A85D-40C7-9117-2AA078A20F63}" destId="{E0B0216D-FB34-4FF8-9D6F-878140CAD8C7}" srcOrd="6" destOrd="0" parTransId="{742C2641-2368-450E-9041-6212968BDF28}" sibTransId="{A52F8DC6-3D0E-458B-B9D3-8E5A5EB293DB}"/>
    <dgm:cxn modelId="{C94072C2-A343-4034-AE65-F026F0256435}" srcId="{EC2ECAB8-A85D-40C7-9117-2AA078A20F63}" destId="{8FA580CD-2825-4C51-B1DE-E59D1B218141}" srcOrd="5" destOrd="0" parTransId="{3834143C-29CF-48A3-A93F-2F105F6D6050}" sibTransId="{72A3146F-3698-4795-BFC6-740EADE57467}"/>
    <dgm:cxn modelId="{F163E7A1-F61D-40FA-8D51-09DFBDF63920}" srcId="{D5C8C534-B55B-41EF-88DB-ED9C24EBB7FC}" destId="{EC2ECAB8-A85D-40C7-9117-2AA078A20F63}" srcOrd="2" destOrd="0" parTransId="{5EE77FF3-6958-4AA2-A361-996476EE469F}" sibTransId="{1857EB93-3123-4042-9586-557C94FF38FB}"/>
    <dgm:cxn modelId="{57360521-2DAD-4C3D-9369-64DD4F04A910}" type="presOf" srcId="{B51F8DC3-7A9F-4CF9-90CC-BC0B820F7B91}" destId="{882F28AC-AD1B-4E0E-AEA6-8989F5CE6A35}" srcOrd="0" destOrd="1" presId="urn:microsoft.com/office/officeart/2005/8/layout/hList1"/>
    <dgm:cxn modelId="{65BC8EAD-2C0E-47D1-8AE9-A83D10B30E8D}" type="presOf" srcId="{5DCF5F03-40E3-4DF7-8D0C-5B2AC04E9710}" destId="{8901B344-4CDE-44D5-B022-7E0CE2C33BF0}" srcOrd="0" destOrd="2" presId="urn:microsoft.com/office/officeart/2005/8/layout/hList1"/>
    <dgm:cxn modelId="{36860DE1-6F5F-4025-A828-41782B80E483}" srcId="{EC2ECAB8-A85D-40C7-9117-2AA078A20F63}" destId="{F3C8CAEE-C3C5-4F4E-B8D6-95CD478198FC}" srcOrd="0" destOrd="0" parTransId="{5285F996-D863-41D2-BCDC-C49BA518BF7E}" sibTransId="{E224FB83-0D9D-4738-BEF7-DDCB4BC4B3E5}"/>
    <dgm:cxn modelId="{E128D4A3-4F9F-40FB-A456-0732CA0D4B7B}" type="presOf" srcId="{884C6235-9D16-4D95-BC42-131FB482992D}" destId="{2CE42794-9563-4A96-B9CC-520A06D6EE9D}" srcOrd="0" destOrd="2" presId="urn:microsoft.com/office/officeart/2005/8/layout/hList1"/>
    <dgm:cxn modelId="{9F8405B3-5B44-493E-B784-51F6679F534B}" type="presOf" srcId="{C47477C1-EBA0-4A69-9865-EEB1CC3C0A49}" destId="{AAB1147D-BCEB-4287-850D-0C28E16B7E63}" srcOrd="0" destOrd="1" presId="urn:microsoft.com/office/officeart/2005/8/layout/hList1"/>
    <dgm:cxn modelId="{30566708-7369-440D-8220-D3C7D17B04FC}" srcId="{876F12A8-3CBF-4C23-9511-B3BE912EE8A9}" destId="{17A262F1-9003-4C77-8F50-D8E5C174B968}" srcOrd="6" destOrd="0" parTransId="{6CB28059-AA75-4527-99CA-A3EDDA9850C4}" sibTransId="{2C6A6872-2DBF-427F-9E6B-05310B7310D1}"/>
    <dgm:cxn modelId="{8BE46D10-F2DF-4370-8A1C-363E81760990}" type="presOf" srcId="{5EA30DCB-652C-49B8-9D97-8AF54B4F7E80}" destId="{2CE42794-9563-4A96-B9CC-520A06D6EE9D}" srcOrd="0" destOrd="3" presId="urn:microsoft.com/office/officeart/2005/8/layout/hList1"/>
    <dgm:cxn modelId="{E1A005BE-128C-4479-A4FA-3DF86533F66C}" srcId="{EC2ECAB8-A85D-40C7-9117-2AA078A20F63}" destId="{8FD7E9F2-2311-44BE-9382-0FD689EB7EE2}" srcOrd="1" destOrd="0" parTransId="{5995E318-DFCD-47CE-9AC3-7D5D5C2C1D86}" sibTransId="{F367CA91-5390-4142-B6C6-B0F4A0631B49}"/>
    <dgm:cxn modelId="{4FC71F80-096B-4880-AD64-CF91F194BFC3}" type="presOf" srcId="{F0649716-B277-4246-B4C1-BC542F322F8A}" destId="{882F28AC-AD1B-4E0E-AEA6-8989F5CE6A35}" srcOrd="0" destOrd="4" presId="urn:microsoft.com/office/officeart/2005/8/layout/hList1"/>
    <dgm:cxn modelId="{D0507822-F967-42C4-9350-A69E771C29A6}" type="presOf" srcId="{1916EEB6-8012-4C32-BB16-D45FE8388CAB}" destId="{8901B344-4CDE-44D5-B022-7E0CE2C33BF0}" srcOrd="0" destOrd="1" presId="urn:microsoft.com/office/officeart/2005/8/layout/hList1"/>
    <dgm:cxn modelId="{EF253D2C-88A1-4A17-A421-A437AB497084}" srcId="{EC2ECAB8-A85D-40C7-9117-2AA078A20F63}" destId="{5EA30DCB-652C-49B8-9D97-8AF54B4F7E80}" srcOrd="3" destOrd="0" parTransId="{FAB1DA54-8633-4DA2-80C9-DA6F0989C0DB}" sibTransId="{B8684FF1-2E11-4AA1-8744-0C5546446438}"/>
    <dgm:cxn modelId="{CF519EFD-A2DD-4B69-9F56-3F9C8F4E2CC2}" srcId="{5A047D2B-AE09-4A6A-B06B-F9BE7B733FC6}" destId="{6DCF312A-D696-446F-8AEF-7CC30783908B}" srcOrd="2" destOrd="0" parTransId="{3447F3BB-C176-403F-A440-AAA7B2132DFD}" sibTransId="{800753E0-C5D5-4C74-BD57-FDEE2C16A254}"/>
    <dgm:cxn modelId="{0ABA5FA9-0767-42D5-B382-B2C0D9FFAFEE}" type="presOf" srcId="{63777967-36A7-42A3-AAA6-F67A82A84365}" destId="{2CE42794-9563-4A96-B9CC-520A06D6EE9D}" srcOrd="0" destOrd="4" presId="urn:microsoft.com/office/officeart/2005/8/layout/hList1"/>
    <dgm:cxn modelId="{D1E18ACA-E2AC-419B-B0C8-489177C231F1}" srcId="{D5C8C534-B55B-41EF-88DB-ED9C24EBB7FC}" destId="{876F12A8-3CBF-4C23-9511-B3BE912EE8A9}" srcOrd="0" destOrd="0" parTransId="{1BEBABA3-2449-4976-9CA0-CD33A6A3B3B9}" sibTransId="{9D64F3A3-F0ED-495F-BD66-97CC72F1F1F0}"/>
    <dgm:cxn modelId="{4F4C7429-72FB-45D0-899E-7877F77D7321}" type="presOf" srcId="{EC2ECAB8-A85D-40C7-9117-2AA078A20F63}" destId="{E3E6BEB8-B08E-43CD-A3AF-F2B85C4580AD}" srcOrd="0" destOrd="0" presId="urn:microsoft.com/office/officeart/2005/8/layout/hList1"/>
    <dgm:cxn modelId="{EC0C1EBC-1BB6-4B64-9783-15A05DC6D254}" srcId="{876F12A8-3CBF-4C23-9511-B3BE912EE8A9}" destId="{0C5135B2-B7D9-4A56-B321-EACBE96AD852}" srcOrd="5" destOrd="0" parTransId="{AFF35C9C-E88B-481D-A218-745179C42A89}" sibTransId="{2AF380E5-541E-476E-A57D-2AF52F0FD3CF}"/>
    <dgm:cxn modelId="{D71B0854-94D7-4E70-9906-79916BDF1C2E}" srcId="{876F12A8-3CBF-4C23-9511-B3BE912EE8A9}" destId="{ED3D8A5C-A004-4F25-9E95-105C5CBAC5B8}" srcOrd="4" destOrd="0" parTransId="{2602785F-5020-4C37-9349-25B3C6EB8027}" sibTransId="{B91310B6-65D7-4C98-8D22-83CC38A1C4FE}"/>
    <dgm:cxn modelId="{59B3EA95-794A-41E4-AD77-16978C50CA9E}" srcId="{876F12A8-3CBF-4C23-9511-B3BE912EE8A9}" destId="{C47477C1-EBA0-4A69-9865-EEB1CC3C0A49}" srcOrd="1" destOrd="0" parTransId="{2DAF60AF-9674-4AD9-9AC9-067991921028}" sibTransId="{3208B049-162D-4726-BC74-C2FDF40ED359}"/>
    <dgm:cxn modelId="{931434B6-00F4-4699-887F-56BCBF48E59B}" srcId="{876F12A8-3CBF-4C23-9511-B3BE912EE8A9}" destId="{B388BF5D-1F28-4429-9317-BEF154AD918C}" srcOrd="7" destOrd="0" parTransId="{00DC2BDA-9FCE-4789-8612-CBAB489E1008}" sibTransId="{04381C85-A969-462F-89C0-62961ACABCF6}"/>
    <dgm:cxn modelId="{9E20866B-39E1-421E-BBF0-2C4CC4E668E7}" srcId="{D5C8C534-B55B-41EF-88DB-ED9C24EBB7FC}" destId="{52B1E9F8-FF5A-4290-A2EE-04416696410E}" srcOrd="1" destOrd="0" parTransId="{EE94DFC9-8FE1-4D92-A39A-2B2FA864EDE3}" sibTransId="{B47D46F4-2A52-46AE-8568-3E60E48D3D30}"/>
    <dgm:cxn modelId="{52AA11FB-AF7F-4CD2-822D-C42DC31FB5A8}" type="presOf" srcId="{3D5166C9-5BA2-4001-892D-F49F4600D5B7}" destId="{882F28AC-AD1B-4E0E-AEA6-8989F5CE6A35}" srcOrd="0" destOrd="0" presId="urn:microsoft.com/office/officeart/2005/8/layout/hList1"/>
    <dgm:cxn modelId="{25D78AD7-111E-45EA-B17E-5767226B1533}" srcId="{5A047D2B-AE09-4A6A-B06B-F9BE7B733FC6}" destId="{13C8241D-30EB-4DA5-91CE-6455887CB532}" srcOrd="3" destOrd="0" parTransId="{1D178F00-0239-4F3A-B7E9-B16BC7D40770}" sibTransId="{FF284607-31F0-407C-BDD3-060E3A6EF9D4}"/>
    <dgm:cxn modelId="{9813ACEB-E0A7-4579-82E8-6E4294DBCF59}" type="presOf" srcId="{13C8241D-30EB-4DA5-91CE-6455887CB532}" destId="{882F28AC-AD1B-4E0E-AEA6-8989F5CE6A35}" srcOrd="0" destOrd="3" presId="urn:microsoft.com/office/officeart/2005/8/layout/hList1"/>
    <dgm:cxn modelId="{36DE04CE-ED08-4CCE-989F-EE410B2C0958}" type="presOf" srcId="{B388BF5D-1F28-4429-9317-BEF154AD918C}" destId="{AAB1147D-BCEB-4287-850D-0C28E16B7E63}" srcOrd="0" destOrd="7" presId="urn:microsoft.com/office/officeart/2005/8/layout/hList1"/>
    <dgm:cxn modelId="{B584686C-FF56-43FC-A6E9-BFDC110D0F3A}" srcId="{5A047D2B-AE09-4A6A-B06B-F9BE7B733FC6}" destId="{F0649716-B277-4246-B4C1-BC542F322F8A}" srcOrd="4" destOrd="0" parTransId="{27839B55-E584-422D-B72E-32A347E21FD6}" sibTransId="{3CA4F354-DF59-45C6-AF13-28268C39518D}"/>
    <dgm:cxn modelId="{77C5FF99-7117-4A9F-AB9B-1BFD944E0F8A}" type="presOf" srcId="{582737C7-A23B-4BCF-8152-3B1924EDA793}" destId="{882F28AC-AD1B-4E0E-AEA6-8989F5CE6A35}" srcOrd="0" destOrd="5" presId="urn:microsoft.com/office/officeart/2005/8/layout/hList1"/>
    <dgm:cxn modelId="{2F1D8CA7-1A71-4376-AFA3-452102241844}" type="presOf" srcId="{2BB21CFB-3C14-4EE0-BF97-9DE197EDB4FB}" destId="{8901B344-4CDE-44D5-B022-7E0CE2C33BF0}" srcOrd="0" destOrd="3" presId="urn:microsoft.com/office/officeart/2005/8/layout/hList1"/>
    <dgm:cxn modelId="{44D0A68B-BA54-4D12-B7AA-B93B87BC5C87}" type="presOf" srcId="{8FA580CD-2825-4C51-B1DE-E59D1B218141}" destId="{2CE42794-9563-4A96-B9CC-520A06D6EE9D}" srcOrd="0" destOrd="5" presId="urn:microsoft.com/office/officeart/2005/8/layout/hList1"/>
    <dgm:cxn modelId="{DDA29D37-E8F9-42C3-B045-6EF36EA64061}" srcId="{D5C8C534-B55B-41EF-88DB-ED9C24EBB7FC}" destId="{5A047D2B-AE09-4A6A-B06B-F9BE7B733FC6}" srcOrd="3" destOrd="0" parTransId="{8B477AFB-3BB3-4E4F-A613-7C77A347B362}" sibTransId="{2A70620D-A631-4E94-958B-CBD6322152E7}"/>
    <dgm:cxn modelId="{448375AE-A108-459D-A95A-D028B948B211}" type="presOf" srcId="{8FD7E9F2-2311-44BE-9382-0FD689EB7EE2}" destId="{2CE42794-9563-4A96-B9CC-520A06D6EE9D}" srcOrd="0" destOrd="1" presId="urn:microsoft.com/office/officeart/2005/8/layout/hList1"/>
    <dgm:cxn modelId="{558D6982-3136-43B9-B184-56E7146CE86D}" srcId="{EC2ECAB8-A85D-40C7-9117-2AA078A20F63}" destId="{63777967-36A7-42A3-AAA6-F67A82A84365}" srcOrd="4" destOrd="0" parTransId="{F3267288-52D4-4232-8EDE-0C06A198065D}" sibTransId="{F21EB987-DD12-4AE4-A891-7E0A1B3B9F7C}"/>
    <dgm:cxn modelId="{5D40A653-A696-4FD0-A24A-7CCAC7193D58}" srcId="{876F12A8-3CBF-4C23-9511-B3BE912EE8A9}" destId="{1D93A904-DA31-4610-8126-8F418CD7E1E6}" srcOrd="3" destOrd="0" parTransId="{637248D1-417D-468F-8F5A-263F0EEE4E25}" sibTransId="{4CE4025D-124A-4864-812A-CAFE879FDB0F}"/>
    <dgm:cxn modelId="{C48E559D-BA90-4B27-B4A1-B386541914C2}" type="presOf" srcId="{284F0E1D-70AC-40E5-B58D-8B75F4E28080}" destId="{2CE42794-9563-4A96-B9CC-520A06D6EE9D}" srcOrd="0" destOrd="8" presId="urn:microsoft.com/office/officeart/2005/8/layout/hList1"/>
    <dgm:cxn modelId="{58B7B001-F24A-48C0-A169-02A75BBAF8BA}" srcId="{5A047D2B-AE09-4A6A-B06B-F9BE7B733FC6}" destId="{B51F8DC3-7A9F-4CF9-90CC-BC0B820F7B91}" srcOrd="1" destOrd="0" parTransId="{B548D59C-C2A0-4CDC-8BEB-4BECB5846444}" sibTransId="{03D855FF-F756-46AB-8876-3918B1753DDF}"/>
    <dgm:cxn modelId="{49DAE359-B330-41DF-B600-13C39A61C237}" type="presOf" srcId="{ED3D8A5C-A004-4F25-9E95-105C5CBAC5B8}" destId="{AAB1147D-BCEB-4287-850D-0C28E16B7E63}" srcOrd="0" destOrd="4" presId="urn:microsoft.com/office/officeart/2005/8/layout/hList1"/>
    <dgm:cxn modelId="{38793140-22FB-4290-95F5-D68F82D5906E}" srcId="{52B1E9F8-FF5A-4290-A2EE-04416696410E}" destId="{5DCF5F03-40E3-4DF7-8D0C-5B2AC04E9710}" srcOrd="2" destOrd="0" parTransId="{F587DB87-8C05-45E8-821D-48A0E1934C89}" sibTransId="{D015357F-31D5-4BDE-9234-A074B01E35F1}"/>
    <dgm:cxn modelId="{2CB404D4-647F-4951-9DAA-56ED2C88DBE8}" type="presOf" srcId="{F3C8CAEE-C3C5-4F4E-B8D6-95CD478198FC}" destId="{2CE42794-9563-4A96-B9CC-520A06D6EE9D}" srcOrd="0" destOrd="0" presId="urn:microsoft.com/office/officeart/2005/8/layout/hList1"/>
    <dgm:cxn modelId="{15B0CC18-E605-4F08-91FF-B49A81BCB3FB}" type="presOf" srcId="{6DCF312A-D696-446F-8AEF-7CC30783908B}" destId="{882F28AC-AD1B-4E0E-AEA6-8989F5CE6A35}" srcOrd="0" destOrd="2" presId="urn:microsoft.com/office/officeart/2005/8/layout/hList1"/>
    <dgm:cxn modelId="{79D1CB65-7E88-448C-899A-314CFB897AE8}" type="presOf" srcId="{C896329D-659F-41D8-8428-23F35A3F2A7F}" destId="{AAB1147D-BCEB-4287-850D-0C28E16B7E63}" srcOrd="0" destOrd="2" presId="urn:microsoft.com/office/officeart/2005/8/layout/hList1"/>
    <dgm:cxn modelId="{63D66B87-AF3E-4672-943C-57A45AABD7BC}" type="presOf" srcId="{77261A98-EA16-48DE-BDEC-862B033DFA44}" destId="{AAB1147D-BCEB-4287-850D-0C28E16B7E63}" srcOrd="0" destOrd="0" presId="urn:microsoft.com/office/officeart/2005/8/layout/hList1"/>
    <dgm:cxn modelId="{86FA3B9D-99F1-4621-9CAE-EBA072339874}" type="presOf" srcId="{5A047D2B-AE09-4A6A-B06B-F9BE7B733FC6}" destId="{016C0C30-52FC-4CA5-B7B1-35861449347E}" srcOrd="0" destOrd="0" presId="urn:microsoft.com/office/officeart/2005/8/layout/hList1"/>
    <dgm:cxn modelId="{E7C37E4C-54D2-4BC9-B239-CAD8181BEBE4}" srcId="{5A047D2B-AE09-4A6A-B06B-F9BE7B733FC6}" destId="{582737C7-A23B-4BCF-8152-3B1924EDA793}" srcOrd="5" destOrd="0" parTransId="{37F03128-A80E-4CE0-BC23-6DF7CB8A11D8}" sibTransId="{FD69B635-10E7-462F-9558-02A0E5739F4C}"/>
    <dgm:cxn modelId="{DF223F19-81A7-4EA6-98DF-0E2387D499A4}" srcId="{52B1E9F8-FF5A-4290-A2EE-04416696410E}" destId="{D72C800D-6A31-4F3A-928F-3FAA9F4B2458}" srcOrd="4" destOrd="0" parTransId="{09F4EBD8-72E6-409A-BB6C-4843FEBEAA2B}" sibTransId="{3A004302-3BD4-436A-BFCE-E278615647A1}"/>
    <dgm:cxn modelId="{CBD1C9AE-9CB6-4DAC-9A13-CF429A4CF2CE}" srcId="{5A047D2B-AE09-4A6A-B06B-F9BE7B733FC6}" destId="{3D5166C9-5BA2-4001-892D-F49F4600D5B7}" srcOrd="0" destOrd="0" parTransId="{65196C88-0272-4B87-95C5-9ECF31C690C5}" sibTransId="{7A884809-F420-4DBC-B4D1-42CD63AA7E48}"/>
    <dgm:cxn modelId="{555B5F87-EAA2-4BF5-A85A-067F5B333468}" srcId="{52B1E9F8-FF5A-4290-A2EE-04416696410E}" destId="{DFACE991-8E53-485A-907C-1EFB2848046C}" srcOrd="0" destOrd="0" parTransId="{522FA040-2423-4F5F-A378-E20632813270}" sibTransId="{79202294-FE13-49A9-BC9A-1A8E948266D7}"/>
    <dgm:cxn modelId="{2DBA3750-EC88-402F-A11A-9BECC51B8C5F}" type="presOf" srcId="{D72C800D-6A31-4F3A-928F-3FAA9F4B2458}" destId="{8901B344-4CDE-44D5-B022-7E0CE2C33BF0}" srcOrd="0" destOrd="4" presId="urn:microsoft.com/office/officeart/2005/8/layout/hList1"/>
    <dgm:cxn modelId="{62FCEBB0-0CC8-445E-88F3-EF94B889A421}" type="presOf" srcId="{52B1E9F8-FF5A-4290-A2EE-04416696410E}" destId="{20330B3A-115A-4449-BBD2-F1DF7DA08C27}" srcOrd="0" destOrd="0" presId="urn:microsoft.com/office/officeart/2005/8/layout/hList1"/>
    <dgm:cxn modelId="{85C59EFD-9F29-407F-80E6-A2A4B635A4D4}" type="presParOf" srcId="{3B2B6EC3-FAFC-4F27-AF22-3209ABD0D639}" destId="{D92851F3-0C0F-489F-A254-A6812400DD0A}" srcOrd="0" destOrd="0" presId="urn:microsoft.com/office/officeart/2005/8/layout/hList1"/>
    <dgm:cxn modelId="{3129CE35-46A7-4E4B-A2E1-07B070F0A754}" type="presParOf" srcId="{D92851F3-0C0F-489F-A254-A6812400DD0A}" destId="{8B58748B-2575-4D58-9FA0-9F6CA0DF6B78}" srcOrd="0" destOrd="0" presId="urn:microsoft.com/office/officeart/2005/8/layout/hList1"/>
    <dgm:cxn modelId="{4B871943-5629-41D1-A1AA-B5F323160462}" type="presParOf" srcId="{D92851F3-0C0F-489F-A254-A6812400DD0A}" destId="{AAB1147D-BCEB-4287-850D-0C28E16B7E63}" srcOrd="1" destOrd="0" presId="urn:microsoft.com/office/officeart/2005/8/layout/hList1"/>
    <dgm:cxn modelId="{169C00DC-D07A-4828-96C1-1B866CE4379A}" type="presParOf" srcId="{3B2B6EC3-FAFC-4F27-AF22-3209ABD0D639}" destId="{4F0A595E-783C-4E50-8B40-09F25FB93E7C}" srcOrd="1" destOrd="0" presId="urn:microsoft.com/office/officeart/2005/8/layout/hList1"/>
    <dgm:cxn modelId="{874FA856-C106-4CD9-877F-7EAFDC6BE46A}" type="presParOf" srcId="{3B2B6EC3-FAFC-4F27-AF22-3209ABD0D639}" destId="{D92EDD19-9446-4D94-8EDB-D131762C721A}" srcOrd="2" destOrd="0" presId="urn:microsoft.com/office/officeart/2005/8/layout/hList1"/>
    <dgm:cxn modelId="{A29129BA-D688-40E7-B005-674FDFD803A5}" type="presParOf" srcId="{D92EDD19-9446-4D94-8EDB-D131762C721A}" destId="{20330B3A-115A-4449-BBD2-F1DF7DA08C27}" srcOrd="0" destOrd="0" presId="urn:microsoft.com/office/officeart/2005/8/layout/hList1"/>
    <dgm:cxn modelId="{07B3689E-D4C7-4416-A84F-D435132462AA}" type="presParOf" srcId="{D92EDD19-9446-4D94-8EDB-D131762C721A}" destId="{8901B344-4CDE-44D5-B022-7E0CE2C33BF0}" srcOrd="1" destOrd="0" presId="urn:microsoft.com/office/officeart/2005/8/layout/hList1"/>
    <dgm:cxn modelId="{ED0B21E5-5271-4D73-876E-0DA4C938CFBD}" type="presParOf" srcId="{3B2B6EC3-FAFC-4F27-AF22-3209ABD0D639}" destId="{1849843C-4BCF-4CA2-9DF2-6782D020EB95}" srcOrd="3" destOrd="0" presId="urn:microsoft.com/office/officeart/2005/8/layout/hList1"/>
    <dgm:cxn modelId="{B422A1F9-6492-44FF-BCEF-BFB3E223F9A1}" type="presParOf" srcId="{3B2B6EC3-FAFC-4F27-AF22-3209ABD0D639}" destId="{339E4B24-AAC5-4F06-B52E-2DF3F454F8CD}" srcOrd="4" destOrd="0" presId="urn:microsoft.com/office/officeart/2005/8/layout/hList1"/>
    <dgm:cxn modelId="{3EAA1E76-384B-4F79-98A2-6401FA6246A4}" type="presParOf" srcId="{339E4B24-AAC5-4F06-B52E-2DF3F454F8CD}" destId="{E3E6BEB8-B08E-43CD-A3AF-F2B85C4580AD}" srcOrd="0" destOrd="0" presId="urn:microsoft.com/office/officeart/2005/8/layout/hList1"/>
    <dgm:cxn modelId="{6259D83B-4DAD-4244-963E-6ED51866B611}" type="presParOf" srcId="{339E4B24-AAC5-4F06-B52E-2DF3F454F8CD}" destId="{2CE42794-9563-4A96-B9CC-520A06D6EE9D}" srcOrd="1" destOrd="0" presId="urn:microsoft.com/office/officeart/2005/8/layout/hList1"/>
    <dgm:cxn modelId="{FDDBE751-1D89-4828-8D47-025BE6F2D37D}" type="presParOf" srcId="{3B2B6EC3-FAFC-4F27-AF22-3209ABD0D639}" destId="{B11BD261-271F-4274-A770-76A44AED9CB3}" srcOrd="5" destOrd="0" presId="urn:microsoft.com/office/officeart/2005/8/layout/hList1"/>
    <dgm:cxn modelId="{55731D5F-21A2-42AD-9CA2-7D4CDFFE4BFE}" type="presParOf" srcId="{3B2B6EC3-FAFC-4F27-AF22-3209ABD0D639}" destId="{9FBE3C72-DB3A-46C6-B2EE-4B94FAA24B04}" srcOrd="6" destOrd="0" presId="urn:microsoft.com/office/officeart/2005/8/layout/hList1"/>
    <dgm:cxn modelId="{C3DEB4D9-422F-438E-AAA7-2D8501AED431}" type="presParOf" srcId="{9FBE3C72-DB3A-46C6-B2EE-4B94FAA24B04}" destId="{016C0C30-52FC-4CA5-B7B1-35861449347E}" srcOrd="0" destOrd="0" presId="urn:microsoft.com/office/officeart/2005/8/layout/hList1"/>
    <dgm:cxn modelId="{1C87F39F-9584-459B-92EB-75A1836FE2E1}" type="presParOf" srcId="{9FBE3C72-DB3A-46C6-B2EE-4B94FAA24B04}" destId="{882F28AC-AD1B-4E0E-AEA6-8989F5CE6A35}"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27FF2948-F2AF-4A85-8DBB-C91719AD40BF}" type="doc">
      <dgm:prSet loTypeId="urn:microsoft.com/office/officeart/2005/8/layout/default#2" loCatId="list" qsTypeId="urn:microsoft.com/office/officeart/2005/8/quickstyle/simple1" qsCatId="simple" csTypeId="urn:microsoft.com/office/officeart/2005/8/colors/colorful4" csCatId="colorful" phldr="1"/>
      <dgm:spPr/>
      <dgm:t>
        <a:bodyPr/>
        <a:lstStyle/>
        <a:p>
          <a:endParaRPr lang="fi-FI"/>
        </a:p>
      </dgm:t>
    </dgm:pt>
    <dgm:pt modelId="{E08CD60C-390A-40E8-9D0C-F255320B17D5}">
      <dgm:prSet/>
      <dgm:spPr/>
      <dgm:t>
        <a:bodyPr/>
        <a:lstStyle/>
        <a:p>
          <a:pPr rtl="0"/>
          <a:r>
            <a:rPr lang="fi-FI" dirty="0" smtClean="0"/>
            <a:t>Vahvuudet</a:t>
          </a:r>
          <a:endParaRPr lang="fi-FI" dirty="0"/>
        </a:p>
      </dgm:t>
    </dgm:pt>
    <dgm:pt modelId="{886AE80A-3320-443C-9FAF-6214AB59BF0C}" type="parTrans" cxnId="{6789916E-A73F-4A54-A5DB-03515E85B366}">
      <dgm:prSet/>
      <dgm:spPr/>
      <dgm:t>
        <a:bodyPr/>
        <a:lstStyle/>
        <a:p>
          <a:endParaRPr lang="fi-FI"/>
        </a:p>
      </dgm:t>
    </dgm:pt>
    <dgm:pt modelId="{6F555BAB-8527-4132-8460-E71909268D84}" type="sibTrans" cxnId="{6789916E-A73F-4A54-A5DB-03515E85B366}">
      <dgm:prSet/>
      <dgm:spPr/>
      <dgm:t>
        <a:bodyPr/>
        <a:lstStyle/>
        <a:p>
          <a:endParaRPr lang="fi-FI"/>
        </a:p>
      </dgm:t>
    </dgm:pt>
    <dgm:pt modelId="{442B2EE2-DEF2-44FE-8F51-1EF1883BA929}">
      <dgm:prSet/>
      <dgm:spPr/>
      <dgm:t>
        <a:bodyPr/>
        <a:lstStyle/>
        <a:p>
          <a:pPr rtl="0"/>
          <a:r>
            <a:rPr lang="fi-FI" dirty="0" smtClean="0"/>
            <a:t>Mahdollisuudet</a:t>
          </a:r>
          <a:endParaRPr lang="fi-FI" dirty="0"/>
        </a:p>
      </dgm:t>
    </dgm:pt>
    <dgm:pt modelId="{2969AA3C-84FA-4A5C-9FC2-50C994D007F8}" type="parTrans" cxnId="{B37B4E22-C721-4DE5-81AD-CE5DB3392534}">
      <dgm:prSet/>
      <dgm:spPr/>
      <dgm:t>
        <a:bodyPr/>
        <a:lstStyle/>
        <a:p>
          <a:endParaRPr lang="fi-FI"/>
        </a:p>
      </dgm:t>
    </dgm:pt>
    <dgm:pt modelId="{541CC04D-54C2-4A98-AAA5-12DF14DA6A6A}" type="sibTrans" cxnId="{B37B4E22-C721-4DE5-81AD-CE5DB3392534}">
      <dgm:prSet/>
      <dgm:spPr/>
      <dgm:t>
        <a:bodyPr/>
        <a:lstStyle/>
        <a:p>
          <a:endParaRPr lang="fi-FI"/>
        </a:p>
      </dgm:t>
    </dgm:pt>
    <dgm:pt modelId="{D7DB4D69-4C7E-4A40-BC04-38089200387D}">
      <dgm:prSet/>
      <dgm:spPr/>
      <dgm:t>
        <a:bodyPr/>
        <a:lstStyle/>
        <a:p>
          <a:pPr rtl="0"/>
          <a:r>
            <a:rPr lang="fi-FI" dirty="0" smtClean="0"/>
            <a:t>Heikkoudet</a:t>
          </a:r>
          <a:endParaRPr lang="fi-FI" dirty="0"/>
        </a:p>
      </dgm:t>
    </dgm:pt>
    <dgm:pt modelId="{9A553664-FF5F-4FE7-8C4E-3FFE8F555C08}" type="parTrans" cxnId="{F213787B-75A0-4428-9BC1-C979ECB32CAE}">
      <dgm:prSet/>
      <dgm:spPr/>
      <dgm:t>
        <a:bodyPr/>
        <a:lstStyle/>
        <a:p>
          <a:endParaRPr lang="fi-FI"/>
        </a:p>
      </dgm:t>
    </dgm:pt>
    <dgm:pt modelId="{352749A3-C183-4D7B-8BA3-4FD73F29EFFA}" type="sibTrans" cxnId="{F213787B-75A0-4428-9BC1-C979ECB32CAE}">
      <dgm:prSet/>
      <dgm:spPr/>
      <dgm:t>
        <a:bodyPr/>
        <a:lstStyle/>
        <a:p>
          <a:endParaRPr lang="fi-FI"/>
        </a:p>
      </dgm:t>
    </dgm:pt>
    <dgm:pt modelId="{AFEBCD76-B323-4768-B266-214D4E72C13F}">
      <dgm:prSet/>
      <dgm:spPr/>
      <dgm:t>
        <a:bodyPr/>
        <a:lstStyle/>
        <a:p>
          <a:pPr rtl="0"/>
          <a:r>
            <a:rPr lang="fi-FI" dirty="0" smtClean="0"/>
            <a:t>Uhat</a:t>
          </a:r>
          <a:endParaRPr lang="fi-FI" dirty="0"/>
        </a:p>
      </dgm:t>
    </dgm:pt>
    <dgm:pt modelId="{B46B1721-53F4-4FD3-B8D2-1D09269DAAE9}" type="parTrans" cxnId="{39525891-98CD-4531-BE05-833921850B5C}">
      <dgm:prSet/>
      <dgm:spPr/>
      <dgm:t>
        <a:bodyPr/>
        <a:lstStyle/>
        <a:p>
          <a:endParaRPr lang="fi-FI"/>
        </a:p>
      </dgm:t>
    </dgm:pt>
    <dgm:pt modelId="{60429BE8-EAAF-4B52-A69D-954AC77F0ACF}" type="sibTrans" cxnId="{39525891-98CD-4531-BE05-833921850B5C}">
      <dgm:prSet/>
      <dgm:spPr/>
      <dgm:t>
        <a:bodyPr/>
        <a:lstStyle/>
        <a:p>
          <a:endParaRPr lang="fi-FI"/>
        </a:p>
      </dgm:t>
    </dgm:pt>
    <dgm:pt modelId="{F82E6787-B264-4806-A38E-6947A4A2112A}" type="pres">
      <dgm:prSet presAssocID="{27FF2948-F2AF-4A85-8DBB-C91719AD40BF}" presName="diagram" presStyleCnt="0">
        <dgm:presLayoutVars>
          <dgm:dir/>
          <dgm:resizeHandles val="exact"/>
        </dgm:presLayoutVars>
      </dgm:prSet>
      <dgm:spPr/>
      <dgm:t>
        <a:bodyPr/>
        <a:lstStyle/>
        <a:p>
          <a:endParaRPr lang="fi-FI"/>
        </a:p>
      </dgm:t>
    </dgm:pt>
    <dgm:pt modelId="{6B094063-098D-4C8B-8414-7D0DE7708E58}" type="pres">
      <dgm:prSet presAssocID="{E08CD60C-390A-40E8-9D0C-F255320B17D5}" presName="node" presStyleLbl="node1" presStyleIdx="0" presStyleCnt="4">
        <dgm:presLayoutVars>
          <dgm:bulletEnabled val="1"/>
        </dgm:presLayoutVars>
      </dgm:prSet>
      <dgm:spPr/>
      <dgm:t>
        <a:bodyPr/>
        <a:lstStyle/>
        <a:p>
          <a:endParaRPr lang="fi-FI"/>
        </a:p>
      </dgm:t>
    </dgm:pt>
    <dgm:pt modelId="{4F1D96A1-E851-490D-89EF-9281B133DAF4}" type="pres">
      <dgm:prSet presAssocID="{6F555BAB-8527-4132-8460-E71909268D84}" presName="sibTrans" presStyleCnt="0"/>
      <dgm:spPr/>
    </dgm:pt>
    <dgm:pt modelId="{B2E81F0A-04FE-455F-BA32-AE831DBC3007}" type="pres">
      <dgm:prSet presAssocID="{442B2EE2-DEF2-44FE-8F51-1EF1883BA929}" presName="node" presStyleLbl="node1" presStyleIdx="1" presStyleCnt="4">
        <dgm:presLayoutVars>
          <dgm:bulletEnabled val="1"/>
        </dgm:presLayoutVars>
      </dgm:prSet>
      <dgm:spPr/>
      <dgm:t>
        <a:bodyPr/>
        <a:lstStyle/>
        <a:p>
          <a:endParaRPr lang="fi-FI"/>
        </a:p>
      </dgm:t>
    </dgm:pt>
    <dgm:pt modelId="{2BC39B09-7C49-4EF7-9405-43BCAE791DB7}" type="pres">
      <dgm:prSet presAssocID="{541CC04D-54C2-4A98-AAA5-12DF14DA6A6A}" presName="sibTrans" presStyleCnt="0"/>
      <dgm:spPr/>
    </dgm:pt>
    <dgm:pt modelId="{66C3AA43-F841-4B9B-AFB0-F556145A3590}" type="pres">
      <dgm:prSet presAssocID="{D7DB4D69-4C7E-4A40-BC04-38089200387D}" presName="node" presStyleLbl="node1" presStyleIdx="2" presStyleCnt="4">
        <dgm:presLayoutVars>
          <dgm:bulletEnabled val="1"/>
        </dgm:presLayoutVars>
      </dgm:prSet>
      <dgm:spPr/>
      <dgm:t>
        <a:bodyPr/>
        <a:lstStyle/>
        <a:p>
          <a:endParaRPr lang="fi-FI"/>
        </a:p>
      </dgm:t>
    </dgm:pt>
    <dgm:pt modelId="{68C22ABA-EF42-4E2C-96D0-C25889112518}" type="pres">
      <dgm:prSet presAssocID="{352749A3-C183-4D7B-8BA3-4FD73F29EFFA}" presName="sibTrans" presStyleCnt="0"/>
      <dgm:spPr/>
    </dgm:pt>
    <dgm:pt modelId="{4B2881A7-2ABA-49E5-9068-1111EB1CB39D}" type="pres">
      <dgm:prSet presAssocID="{AFEBCD76-B323-4768-B266-214D4E72C13F}" presName="node" presStyleLbl="node1" presStyleIdx="3" presStyleCnt="4">
        <dgm:presLayoutVars>
          <dgm:bulletEnabled val="1"/>
        </dgm:presLayoutVars>
      </dgm:prSet>
      <dgm:spPr/>
      <dgm:t>
        <a:bodyPr/>
        <a:lstStyle/>
        <a:p>
          <a:endParaRPr lang="fi-FI"/>
        </a:p>
      </dgm:t>
    </dgm:pt>
  </dgm:ptLst>
  <dgm:cxnLst>
    <dgm:cxn modelId="{B5929B63-587C-4D8F-AC7E-909D8C76040D}" type="presOf" srcId="{AFEBCD76-B323-4768-B266-214D4E72C13F}" destId="{4B2881A7-2ABA-49E5-9068-1111EB1CB39D}" srcOrd="0" destOrd="0" presId="urn:microsoft.com/office/officeart/2005/8/layout/default#2"/>
    <dgm:cxn modelId="{F213787B-75A0-4428-9BC1-C979ECB32CAE}" srcId="{27FF2948-F2AF-4A85-8DBB-C91719AD40BF}" destId="{D7DB4D69-4C7E-4A40-BC04-38089200387D}" srcOrd="2" destOrd="0" parTransId="{9A553664-FF5F-4FE7-8C4E-3FFE8F555C08}" sibTransId="{352749A3-C183-4D7B-8BA3-4FD73F29EFFA}"/>
    <dgm:cxn modelId="{E42F6EB7-8E1D-48DE-970F-890D4603D1D9}" type="presOf" srcId="{442B2EE2-DEF2-44FE-8F51-1EF1883BA929}" destId="{B2E81F0A-04FE-455F-BA32-AE831DBC3007}" srcOrd="0" destOrd="0" presId="urn:microsoft.com/office/officeart/2005/8/layout/default#2"/>
    <dgm:cxn modelId="{EEFF8BE1-0744-4EE9-9512-5ADDCA2EAC38}" type="presOf" srcId="{E08CD60C-390A-40E8-9D0C-F255320B17D5}" destId="{6B094063-098D-4C8B-8414-7D0DE7708E58}" srcOrd="0" destOrd="0" presId="urn:microsoft.com/office/officeart/2005/8/layout/default#2"/>
    <dgm:cxn modelId="{FC3B3504-838C-4910-B984-3C15A57A1294}" type="presOf" srcId="{D7DB4D69-4C7E-4A40-BC04-38089200387D}" destId="{66C3AA43-F841-4B9B-AFB0-F556145A3590}" srcOrd="0" destOrd="0" presId="urn:microsoft.com/office/officeart/2005/8/layout/default#2"/>
    <dgm:cxn modelId="{B37B4E22-C721-4DE5-81AD-CE5DB3392534}" srcId="{27FF2948-F2AF-4A85-8DBB-C91719AD40BF}" destId="{442B2EE2-DEF2-44FE-8F51-1EF1883BA929}" srcOrd="1" destOrd="0" parTransId="{2969AA3C-84FA-4A5C-9FC2-50C994D007F8}" sibTransId="{541CC04D-54C2-4A98-AAA5-12DF14DA6A6A}"/>
    <dgm:cxn modelId="{39525891-98CD-4531-BE05-833921850B5C}" srcId="{27FF2948-F2AF-4A85-8DBB-C91719AD40BF}" destId="{AFEBCD76-B323-4768-B266-214D4E72C13F}" srcOrd="3" destOrd="0" parTransId="{B46B1721-53F4-4FD3-B8D2-1D09269DAAE9}" sibTransId="{60429BE8-EAAF-4B52-A69D-954AC77F0ACF}"/>
    <dgm:cxn modelId="{6789916E-A73F-4A54-A5DB-03515E85B366}" srcId="{27FF2948-F2AF-4A85-8DBB-C91719AD40BF}" destId="{E08CD60C-390A-40E8-9D0C-F255320B17D5}" srcOrd="0" destOrd="0" parTransId="{886AE80A-3320-443C-9FAF-6214AB59BF0C}" sibTransId="{6F555BAB-8527-4132-8460-E71909268D84}"/>
    <dgm:cxn modelId="{267740A1-249A-4C4D-84C1-CAB9834FEE79}" type="presOf" srcId="{27FF2948-F2AF-4A85-8DBB-C91719AD40BF}" destId="{F82E6787-B264-4806-A38E-6947A4A2112A}" srcOrd="0" destOrd="0" presId="urn:microsoft.com/office/officeart/2005/8/layout/default#2"/>
    <dgm:cxn modelId="{B5CC184A-9865-49F6-8C9D-7D4693C3E357}" type="presParOf" srcId="{F82E6787-B264-4806-A38E-6947A4A2112A}" destId="{6B094063-098D-4C8B-8414-7D0DE7708E58}" srcOrd="0" destOrd="0" presId="urn:microsoft.com/office/officeart/2005/8/layout/default#2"/>
    <dgm:cxn modelId="{1B65B90B-8D0A-4B32-B6C3-892C2DA19E5D}" type="presParOf" srcId="{F82E6787-B264-4806-A38E-6947A4A2112A}" destId="{4F1D96A1-E851-490D-89EF-9281B133DAF4}" srcOrd="1" destOrd="0" presId="urn:microsoft.com/office/officeart/2005/8/layout/default#2"/>
    <dgm:cxn modelId="{A4EB33BC-7025-4E4D-8DD6-3CE9B68A0ED3}" type="presParOf" srcId="{F82E6787-B264-4806-A38E-6947A4A2112A}" destId="{B2E81F0A-04FE-455F-BA32-AE831DBC3007}" srcOrd="2" destOrd="0" presId="urn:microsoft.com/office/officeart/2005/8/layout/default#2"/>
    <dgm:cxn modelId="{53401570-F0C8-4C05-AB9B-C8CCCC4D423D}" type="presParOf" srcId="{F82E6787-B264-4806-A38E-6947A4A2112A}" destId="{2BC39B09-7C49-4EF7-9405-43BCAE791DB7}" srcOrd="3" destOrd="0" presId="urn:microsoft.com/office/officeart/2005/8/layout/default#2"/>
    <dgm:cxn modelId="{9EBBC4A2-F053-4815-87EA-EF4477554E96}" type="presParOf" srcId="{F82E6787-B264-4806-A38E-6947A4A2112A}" destId="{66C3AA43-F841-4B9B-AFB0-F556145A3590}" srcOrd="4" destOrd="0" presId="urn:microsoft.com/office/officeart/2005/8/layout/default#2"/>
    <dgm:cxn modelId="{6C0DBB4D-81E1-4610-878C-E4EE2AC4448F}" type="presParOf" srcId="{F82E6787-B264-4806-A38E-6947A4A2112A}" destId="{68C22ABA-EF42-4E2C-96D0-C25889112518}" srcOrd="5" destOrd="0" presId="urn:microsoft.com/office/officeart/2005/8/layout/default#2"/>
    <dgm:cxn modelId="{5A6E0358-7887-4FC1-85FB-24552E9184C2}" type="presParOf" srcId="{F82E6787-B264-4806-A38E-6947A4A2112A}" destId="{4B2881A7-2ABA-49E5-9068-1111EB1CB39D}" srcOrd="6" destOrd="0" presId="urn:microsoft.com/office/officeart/2005/8/layout/defaul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D5C8C534-B55B-41EF-88DB-ED9C24EBB7FC}" type="doc">
      <dgm:prSet loTypeId="urn:microsoft.com/office/officeart/2005/8/layout/hList1" loCatId="list" qsTypeId="urn:microsoft.com/office/officeart/2005/8/quickstyle/simple1" qsCatId="simple" csTypeId="urn:microsoft.com/office/officeart/2005/8/colors/colorful1#23" csCatId="colorful" phldr="1"/>
      <dgm:spPr/>
      <dgm:t>
        <a:bodyPr/>
        <a:lstStyle/>
        <a:p>
          <a:endParaRPr lang="fi-FI"/>
        </a:p>
      </dgm:t>
    </dgm:pt>
    <dgm:pt modelId="{876F12A8-3CBF-4C23-9511-B3BE912EE8A9}">
      <dgm:prSet custT="1"/>
      <dgm:spPr/>
      <dgm:t>
        <a:bodyPr/>
        <a:lstStyle/>
        <a:p>
          <a:pPr rtl="0"/>
          <a:r>
            <a:rPr lang="fi-FI" sz="1100" b="1" dirty="0" smtClean="0"/>
            <a:t>Hyväksymistestauksen rooli ja merkitys</a:t>
          </a:r>
          <a:endParaRPr lang="fi-FI" sz="1100" b="1" dirty="0"/>
        </a:p>
      </dgm:t>
    </dgm:pt>
    <dgm:pt modelId="{1BEBABA3-2449-4976-9CA0-CD33A6A3B3B9}" type="parTrans" cxnId="{D1E18ACA-E2AC-419B-B0C8-489177C231F1}">
      <dgm:prSet/>
      <dgm:spPr/>
      <dgm:t>
        <a:bodyPr/>
        <a:lstStyle/>
        <a:p>
          <a:endParaRPr lang="fi-FI" sz="2000"/>
        </a:p>
      </dgm:t>
    </dgm:pt>
    <dgm:pt modelId="{9D64F3A3-F0ED-495F-BD66-97CC72F1F1F0}" type="sibTrans" cxnId="{D1E18ACA-E2AC-419B-B0C8-489177C231F1}">
      <dgm:prSet/>
      <dgm:spPr/>
      <dgm:t>
        <a:bodyPr/>
        <a:lstStyle/>
        <a:p>
          <a:endParaRPr lang="fi-FI" sz="2000"/>
        </a:p>
      </dgm:t>
    </dgm:pt>
    <dgm:pt modelId="{77261A98-EA16-48DE-BDEC-862B033DFA44}">
      <dgm:prSet custT="1"/>
      <dgm:spPr/>
      <dgm:t>
        <a:bodyPr/>
        <a:lstStyle/>
        <a:p>
          <a:pPr rtl="0"/>
          <a:r>
            <a:rPr lang="fi-FI" sz="1050" dirty="0" smtClean="0"/>
            <a:t>Testaus järjestelmän tilaajalle ja omistajalle</a:t>
          </a:r>
          <a:endParaRPr lang="fi-FI" sz="1050" dirty="0"/>
        </a:p>
      </dgm:t>
    </dgm:pt>
    <dgm:pt modelId="{4AE48503-4481-4041-AD0D-FB09D10A177D}" type="parTrans" cxnId="{6477DD6F-8191-4390-B4DF-FA9A84E61F4F}">
      <dgm:prSet/>
      <dgm:spPr/>
      <dgm:t>
        <a:bodyPr/>
        <a:lstStyle/>
        <a:p>
          <a:endParaRPr lang="fi-FI" sz="2000"/>
        </a:p>
      </dgm:t>
    </dgm:pt>
    <dgm:pt modelId="{F5E35242-EFA8-4231-BC41-3E8B48AEE665}" type="sibTrans" cxnId="{6477DD6F-8191-4390-B4DF-FA9A84E61F4F}">
      <dgm:prSet/>
      <dgm:spPr/>
      <dgm:t>
        <a:bodyPr/>
        <a:lstStyle/>
        <a:p>
          <a:endParaRPr lang="fi-FI" sz="2000"/>
        </a:p>
      </dgm:t>
    </dgm:pt>
    <dgm:pt modelId="{C47477C1-EBA0-4A69-9865-EEB1CC3C0A49}">
      <dgm:prSet custT="1"/>
      <dgm:spPr/>
      <dgm:t>
        <a:bodyPr/>
        <a:lstStyle/>
        <a:p>
          <a:pPr rtl="0"/>
          <a:r>
            <a:rPr lang="fi-FI" sz="1050" dirty="0" smtClean="0"/>
            <a:t>Monitoimittajaympäristön erityispiirteet hyväksymistestaukselle</a:t>
          </a:r>
          <a:endParaRPr lang="fi-FI" sz="1050" dirty="0"/>
        </a:p>
      </dgm:t>
    </dgm:pt>
    <dgm:pt modelId="{2DAF60AF-9674-4AD9-9AC9-067991921028}" type="parTrans" cxnId="{59B3EA95-794A-41E4-AD77-16978C50CA9E}">
      <dgm:prSet/>
      <dgm:spPr/>
      <dgm:t>
        <a:bodyPr/>
        <a:lstStyle/>
        <a:p>
          <a:endParaRPr lang="fi-FI" sz="2000"/>
        </a:p>
      </dgm:t>
    </dgm:pt>
    <dgm:pt modelId="{3208B049-162D-4726-BC74-C2FDF40ED359}" type="sibTrans" cxnId="{59B3EA95-794A-41E4-AD77-16978C50CA9E}">
      <dgm:prSet/>
      <dgm:spPr/>
      <dgm:t>
        <a:bodyPr/>
        <a:lstStyle/>
        <a:p>
          <a:endParaRPr lang="fi-FI" sz="2000"/>
        </a:p>
      </dgm:t>
    </dgm:pt>
    <dgm:pt modelId="{C896329D-659F-41D8-8428-23F35A3F2A7F}">
      <dgm:prSet custT="1"/>
      <dgm:spPr/>
      <dgm:t>
        <a:bodyPr/>
        <a:lstStyle/>
        <a:p>
          <a:pPr rtl="0"/>
          <a:r>
            <a:rPr lang="fi-FI" sz="1050" dirty="0" smtClean="0"/>
            <a:t>Laatutiedon rakentaminen palasille ja kokonaisuudelle</a:t>
          </a:r>
          <a:endParaRPr lang="fi-FI" sz="1050" dirty="0"/>
        </a:p>
      </dgm:t>
    </dgm:pt>
    <dgm:pt modelId="{1095EFC7-C63D-462E-9409-7653C01AAA33}" type="parTrans" cxnId="{A960D218-BB75-455A-95BF-012050E1AFB9}">
      <dgm:prSet/>
      <dgm:spPr/>
      <dgm:t>
        <a:bodyPr/>
        <a:lstStyle/>
        <a:p>
          <a:endParaRPr lang="fi-FI" sz="2000"/>
        </a:p>
      </dgm:t>
    </dgm:pt>
    <dgm:pt modelId="{B35503A3-5959-4612-89F8-373578912E93}" type="sibTrans" cxnId="{A960D218-BB75-455A-95BF-012050E1AFB9}">
      <dgm:prSet/>
      <dgm:spPr/>
      <dgm:t>
        <a:bodyPr/>
        <a:lstStyle/>
        <a:p>
          <a:endParaRPr lang="fi-FI" sz="2000"/>
        </a:p>
      </dgm:t>
    </dgm:pt>
    <dgm:pt modelId="{1D93A904-DA31-4610-8126-8F418CD7E1E6}">
      <dgm:prSet custT="1"/>
      <dgm:spPr/>
      <dgm:t>
        <a:bodyPr/>
        <a:lstStyle/>
        <a:p>
          <a:pPr rtl="0"/>
          <a:r>
            <a:rPr lang="fi-FI" sz="1050" dirty="0" smtClean="0"/>
            <a:t>Laadun monet näkökulmat: toiminnallinen ja ei-toiminnallinen testaus; näkyvä toimituslaatu sekä jatkokehityksen helppous</a:t>
          </a:r>
          <a:endParaRPr lang="fi-FI" sz="1050" dirty="0"/>
        </a:p>
      </dgm:t>
    </dgm:pt>
    <dgm:pt modelId="{637248D1-417D-468F-8F5A-263F0EEE4E25}" type="parTrans" cxnId="{5D40A653-A696-4FD0-A24A-7CCAC7193D58}">
      <dgm:prSet/>
      <dgm:spPr/>
      <dgm:t>
        <a:bodyPr/>
        <a:lstStyle/>
        <a:p>
          <a:endParaRPr lang="fi-FI" sz="2000"/>
        </a:p>
      </dgm:t>
    </dgm:pt>
    <dgm:pt modelId="{4CE4025D-124A-4864-812A-CAFE879FDB0F}" type="sibTrans" cxnId="{5D40A653-A696-4FD0-A24A-7CCAC7193D58}">
      <dgm:prSet/>
      <dgm:spPr/>
      <dgm:t>
        <a:bodyPr/>
        <a:lstStyle/>
        <a:p>
          <a:endParaRPr lang="fi-FI" sz="2000"/>
        </a:p>
      </dgm:t>
    </dgm:pt>
    <dgm:pt modelId="{ED3D8A5C-A004-4F25-9E95-105C5CBAC5B8}">
      <dgm:prSet custT="1"/>
      <dgm:spPr/>
      <dgm:t>
        <a:bodyPr/>
        <a:lstStyle/>
        <a:p>
          <a:pPr rtl="0"/>
          <a:r>
            <a:rPr lang="fi-FI" sz="1050" dirty="0" smtClean="0"/>
            <a:t>Dokumentaation katselmointien rooli hyväksymistestauksessa</a:t>
          </a:r>
          <a:endParaRPr lang="fi-FI" sz="1050" dirty="0"/>
        </a:p>
      </dgm:t>
    </dgm:pt>
    <dgm:pt modelId="{2602785F-5020-4C37-9349-25B3C6EB8027}" type="parTrans" cxnId="{D71B0854-94D7-4E70-9906-79916BDF1C2E}">
      <dgm:prSet/>
      <dgm:spPr/>
      <dgm:t>
        <a:bodyPr/>
        <a:lstStyle/>
        <a:p>
          <a:endParaRPr lang="fi-FI" sz="2000"/>
        </a:p>
      </dgm:t>
    </dgm:pt>
    <dgm:pt modelId="{B91310B6-65D7-4C98-8D22-83CC38A1C4FE}" type="sibTrans" cxnId="{D71B0854-94D7-4E70-9906-79916BDF1C2E}">
      <dgm:prSet/>
      <dgm:spPr/>
      <dgm:t>
        <a:bodyPr/>
        <a:lstStyle/>
        <a:p>
          <a:endParaRPr lang="fi-FI" sz="2000"/>
        </a:p>
      </dgm:t>
    </dgm:pt>
    <dgm:pt modelId="{0C5135B2-B7D9-4A56-B321-EACBE96AD852}">
      <dgm:prSet custT="1"/>
      <dgm:spPr/>
      <dgm:t>
        <a:bodyPr/>
        <a:lstStyle/>
        <a:p>
          <a:pPr rtl="0"/>
          <a:r>
            <a:rPr lang="fi-FI" sz="1050" dirty="0" smtClean="0"/>
            <a:t>Hyväksymistestauksen suhde muuhun testaukseen: tilaajan ja toimittajan työnjako</a:t>
          </a:r>
          <a:endParaRPr lang="fi-FI" sz="1050" dirty="0"/>
        </a:p>
      </dgm:t>
    </dgm:pt>
    <dgm:pt modelId="{AFF35C9C-E88B-481D-A218-745179C42A89}" type="parTrans" cxnId="{EC0C1EBC-1BB6-4B64-9783-15A05DC6D254}">
      <dgm:prSet/>
      <dgm:spPr/>
      <dgm:t>
        <a:bodyPr/>
        <a:lstStyle/>
        <a:p>
          <a:endParaRPr lang="fi-FI" sz="2000"/>
        </a:p>
      </dgm:t>
    </dgm:pt>
    <dgm:pt modelId="{2AF380E5-541E-476E-A57D-2AF52F0FD3CF}" type="sibTrans" cxnId="{EC0C1EBC-1BB6-4B64-9783-15A05DC6D254}">
      <dgm:prSet/>
      <dgm:spPr/>
      <dgm:t>
        <a:bodyPr/>
        <a:lstStyle/>
        <a:p>
          <a:endParaRPr lang="fi-FI" sz="2000"/>
        </a:p>
      </dgm:t>
    </dgm:pt>
    <dgm:pt modelId="{17A262F1-9003-4C77-8F50-D8E5C174B968}">
      <dgm:prSet custT="1"/>
      <dgm:spPr/>
      <dgm:t>
        <a:bodyPr/>
        <a:lstStyle/>
        <a:p>
          <a:pPr rtl="0"/>
          <a:r>
            <a:rPr lang="fi-FI" sz="1050" dirty="0" smtClean="0"/>
            <a:t>Hyväksymistestauksen erot laskunmaksuun ja tuotantoonsiirtoon liittyen</a:t>
          </a:r>
          <a:endParaRPr lang="fi-FI" sz="1050" dirty="0"/>
        </a:p>
      </dgm:t>
    </dgm:pt>
    <dgm:pt modelId="{6CB28059-AA75-4527-99CA-A3EDDA9850C4}" type="parTrans" cxnId="{30566708-7369-440D-8220-D3C7D17B04FC}">
      <dgm:prSet/>
      <dgm:spPr/>
      <dgm:t>
        <a:bodyPr/>
        <a:lstStyle/>
        <a:p>
          <a:endParaRPr lang="fi-FI" sz="2000"/>
        </a:p>
      </dgm:t>
    </dgm:pt>
    <dgm:pt modelId="{2C6A6872-2DBF-427F-9E6B-05310B7310D1}" type="sibTrans" cxnId="{30566708-7369-440D-8220-D3C7D17B04FC}">
      <dgm:prSet/>
      <dgm:spPr/>
      <dgm:t>
        <a:bodyPr/>
        <a:lstStyle/>
        <a:p>
          <a:endParaRPr lang="fi-FI" sz="2000"/>
        </a:p>
      </dgm:t>
    </dgm:pt>
    <dgm:pt modelId="{B388BF5D-1F28-4429-9317-BEF154AD918C}">
      <dgm:prSet custT="1"/>
      <dgm:spPr/>
      <dgm:t>
        <a:bodyPr/>
        <a:lstStyle/>
        <a:p>
          <a:pPr rtl="0"/>
          <a:r>
            <a:rPr lang="fi-FI" sz="1050" dirty="0" smtClean="0"/>
            <a:t>Hyväksymistestauksen erilainen merkitys ketterissä menetelmissä</a:t>
          </a:r>
          <a:endParaRPr lang="fi-FI" sz="1050" dirty="0"/>
        </a:p>
      </dgm:t>
    </dgm:pt>
    <dgm:pt modelId="{00DC2BDA-9FCE-4789-8612-CBAB489E1008}" type="parTrans" cxnId="{931434B6-00F4-4699-887F-56BCBF48E59B}">
      <dgm:prSet/>
      <dgm:spPr/>
      <dgm:t>
        <a:bodyPr/>
        <a:lstStyle/>
        <a:p>
          <a:endParaRPr lang="fi-FI" sz="2000"/>
        </a:p>
      </dgm:t>
    </dgm:pt>
    <dgm:pt modelId="{04381C85-A969-462F-89C0-62961ACABCF6}" type="sibTrans" cxnId="{931434B6-00F4-4699-887F-56BCBF48E59B}">
      <dgm:prSet/>
      <dgm:spPr/>
      <dgm:t>
        <a:bodyPr/>
        <a:lstStyle/>
        <a:p>
          <a:endParaRPr lang="fi-FI" sz="2000"/>
        </a:p>
      </dgm:t>
    </dgm:pt>
    <dgm:pt modelId="{52B1E9F8-FF5A-4290-A2EE-04416696410E}">
      <dgm:prSet custT="1"/>
      <dgm:spPr/>
      <dgm:t>
        <a:bodyPr/>
        <a:lstStyle/>
        <a:p>
          <a:pPr rtl="0"/>
          <a:r>
            <a:rPr lang="fi-FI" sz="1100" b="1" dirty="0" smtClean="0"/>
            <a:t>Onnistuneen hyväksymistestauksen edellytykset</a:t>
          </a:r>
          <a:endParaRPr lang="fi-FI" sz="1100" b="1" dirty="0"/>
        </a:p>
      </dgm:t>
    </dgm:pt>
    <dgm:pt modelId="{EE94DFC9-8FE1-4D92-A39A-2B2FA864EDE3}" type="parTrans" cxnId="{9E20866B-39E1-421E-BBF0-2C4CC4E668E7}">
      <dgm:prSet/>
      <dgm:spPr/>
      <dgm:t>
        <a:bodyPr/>
        <a:lstStyle/>
        <a:p>
          <a:endParaRPr lang="fi-FI" sz="2000"/>
        </a:p>
      </dgm:t>
    </dgm:pt>
    <dgm:pt modelId="{B47D46F4-2A52-46AE-8568-3E60E48D3D30}" type="sibTrans" cxnId="{9E20866B-39E1-421E-BBF0-2C4CC4E668E7}">
      <dgm:prSet/>
      <dgm:spPr/>
      <dgm:t>
        <a:bodyPr/>
        <a:lstStyle/>
        <a:p>
          <a:endParaRPr lang="fi-FI" sz="2000"/>
        </a:p>
      </dgm:t>
    </dgm:pt>
    <dgm:pt modelId="{DFACE991-8E53-485A-907C-1EFB2848046C}">
      <dgm:prSet custT="1"/>
      <dgm:spPr/>
      <dgm:t>
        <a:bodyPr/>
        <a:lstStyle/>
        <a:p>
          <a:pPr rtl="0"/>
          <a:r>
            <a:rPr lang="fi-FI" sz="1100" b="0" dirty="0" smtClean="0"/>
            <a:t>Toimituskokonaisuuksien määrittely ja projektointi</a:t>
          </a:r>
          <a:endParaRPr lang="fi-FI" sz="1100" b="0" dirty="0"/>
        </a:p>
      </dgm:t>
    </dgm:pt>
    <dgm:pt modelId="{522FA040-2423-4F5F-A378-E20632813270}" type="parTrans" cxnId="{555B5F87-EAA2-4BF5-A85A-067F5B333468}">
      <dgm:prSet/>
      <dgm:spPr/>
      <dgm:t>
        <a:bodyPr/>
        <a:lstStyle/>
        <a:p>
          <a:endParaRPr lang="fi-FI" sz="2000"/>
        </a:p>
      </dgm:t>
    </dgm:pt>
    <dgm:pt modelId="{79202294-FE13-49A9-BC9A-1A8E948266D7}" type="sibTrans" cxnId="{555B5F87-EAA2-4BF5-A85A-067F5B333468}">
      <dgm:prSet/>
      <dgm:spPr/>
      <dgm:t>
        <a:bodyPr/>
        <a:lstStyle/>
        <a:p>
          <a:endParaRPr lang="fi-FI" sz="2000"/>
        </a:p>
      </dgm:t>
    </dgm:pt>
    <dgm:pt modelId="{1916EEB6-8012-4C32-BB16-D45FE8388CAB}">
      <dgm:prSet custT="1"/>
      <dgm:spPr/>
      <dgm:t>
        <a:bodyPr/>
        <a:lstStyle/>
        <a:p>
          <a:pPr rtl="0"/>
          <a:r>
            <a:rPr lang="fi-FI" sz="1100" b="0" dirty="0" smtClean="0"/>
            <a:t>Toimittajan valinta ja sopimukset</a:t>
          </a:r>
          <a:endParaRPr lang="fi-FI" sz="1100" b="0" dirty="0"/>
        </a:p>
      </dgm:t>
    </dgm:pt>
    <dgm:pt modelId="{AAE70BB2-FF9F-4070-A5FC-ED235CA4153C}" type="parTrans" cxnId="{A5AB44A5-0A54-4255-863D-C63ECB47ADB4}">
      <dgm:prSet/>
      <dgm:spPr/>
      <dgm:t>
        <a:bodyPr/>
        <a:lstStyle/>
        <a:p>
          <a:endParaRPr lang="fi-FI" sz="2000"/>
        </a:p>
      </dgm:t>
    </dgm:pt>
    <dgm:pt modelId="{2FBCF5CD-18EA-4379-8DDB-078E7BE8F140}" type="sibTrans" cxnId="{A5AB44A5-0A54-4255-863D-C63ECB47ADB4}">
      <dgm:prSet/>
      <dgm:spPr/>
      <dgm:t>
        <a:bodyPr/>
        <a:lstStyle/>
        <a:p>
          <a:endParaRPr lang="fi-FI" sz="2000"/>
        </a:p>
      </dgm:t>
    </dgm:pt>
    <dgm:pt modelId="{5DCF5F03-40E3-4DF7-8D0C-5B2AC04E9710}">
      <dgm:prSet custT="1"/>
      <dgm:spPr/>
      <dgm:t>
        <a:bodyPr/>
        <a:lstStyle/>
        <a:p>
          <a:pPr rtl="0"/>
          <a:r>
            <a:rPr lang="fi-FI" sz="1100" b="0" dirty="0" smtClean="0"/>
            <a:t>Vaatimusten ja odotusten hallinta</a:t>
          </a:r>
          <a:endParaRPr lang="fi-FI" sz="1100" b="0" dirty="0"/>
        </a:p>
      </dgm:t>
    </dgm:pt>
    <dgm:pt modelId="{F587DB87-8C05-45E8-821D-48A0E1934C89}" type="parTrans" cxnId="{38793140-22FB-4290-95F5-D68F82D5906E}">
      <dgm:prSet/>
      <dgm:spPr/>
      <dgm:t>
        <a:bodyPr/>
        <a:lstStyle/>
        <a:p>
          <a:endParaRPr lang="fi-FI" sz="2000"/>
        </a:p>
      </dgm:t>
    </dgm:pt>
    <dgm:pt modelId="{D015357F-31D5-4BDE-9234-A074B01E35F1}" type="sibTrans" cxnId="{38793140-22FB-4290-95F5-D68F82D5906E}">
      <dgm:prSet/>
      <dgm:spPr/>
      <dgm:t>
        <a:bodyPr/>
        <a:lstStyle/>
        <a:p>
          <a:endParaRPr lang="fi-FI" sz="2000"/>
        </a:p>
      </dgm:t>
    </dgm:pt>
    <dgm:pt modelId="{2BB21CFB-3C14-4EE0-BF97-9DE197EDB4FB}">
      <dgm:prSet custT="1"/>
      <dgm:spPr/>
      <dgm:t>
        <a:bodyPr/>
        <a:lstStyle/>
        <a:p>
          <a:pPr rtl="0"/>
          <a:r>
            <a:rPr lang="fi-FI" sz="1100" b="0" dirty="0" smtClean="0"/>
            <a:t>Toimittajayhteistyö</a:t>
          </a:r>
          <a:endParaRPr lang="fi-FI" sz="1100" b="0" dirty="0"/>
        </a:p>
      </dgm:t>
    </dgm:pt>
    <dgm:pt modelId="{55DB9CF7-0918-46A0-A077-9B525FE754A0}" type="parTrans" cxnId="{FC853B53-7D65-41F8-842A-1527B7BD1F11}">
      <dgm:prSet/>
      <dgm:spPr/>
      <dgm:t>
        <a:bodyPr/>
        <a:lstStyle/>
        <a:p>
          <a:endParaRPr lang="fi-FI" sz="2000"/>
        </a:p>
      </dgm:t>
    </dgm:pt>
    <dgm:pt modelId="{B87C9EBE-1F3B-4B6F-8B1B-6ED6999EA57C}" type="sibTrans" cxnId="{FC853B53-7D65-41F8-842A-1527B7BD1F11}">
      <dgm:prSet/>
      <dgm:spPr/>
      <dgm:t>
        <a:bodyPr/>
        <a:lstStyle/>
        <a:p>
          <a:endParaRPr lang="fi-FI" sz="2000"/>
        </a:p>
      </dgm:t>
    </dgm:pt>
    <dgm:pt modelId="{D72C800D-6A31-4F3A-928F-3FAA9F4B2458}">
      <dgm:prSet custT="1"/>
      <dgm:spPr/>
      <dgm:t>
        <a:bodyPr/>
        <a:lstStyle/>
        <a:p>
          <a:pPr rtl="0"/>
          <a:r>
            <a:rPr lang="fi-FI" sz="1100" b="0" dirty="0" smtClean="0"/>
            <a:t>Kokonaisjärjestelmän ja osajärjestelmien tunnistaminen</a:t>
          </a:r>
          <a:endParaRPr lang="fi-FI" sz="1100" b="0" dirty="0"/>
        </a:p>
      </dgm:t>
    </dgm:pt>
    <dgm:pt modelId="{09F4EBD8-72E6-409A-BB6C-4843FEBEAA2B}" type="parTrans" cxnId="{DF223F19-81A7-4EA6-98DF-0E2387D499A4}">
      <dgm:prSet/>
      <dgm:spPr/>
      <dgm:t>
        <a:bodyPr/>
        <a:lstStyle/>
        <a:p>
          <a:endParaRPr lang="fi-FI" sz="2000"/>
        </a:p>
      </dgm:t>
    </dgm:pt>
    <dgm:pt modelId="{3A004302-3BD4-436A-BFCE-E278615647A1}" type="sibTrans" cxnId="{DF223F19-81A7-4EA6-98DF-0E2387D499A4}">
      <dgm:prSet/>
      <dgm:spPr/>
      <dgm:t>
        <a:bodyPr/>
        <a:lstStyle/>
        <a:p>
          <a:endParaRPr lang="fi-FI" sz="2000"/>
        </a:p>
      </dgm:t>
    </dgm:pt>
    <dgm:pt modelId="{EC2ECAB8-A85D-40C7-9117-2AA078A20F63}">
      <dgm:prSet custT="1"/>
      <dgm:spPr/>
      <dgm:t>
        <a:bodyPr/>
        <a:lstStyle/>
        <a:p>
          <a:pPr rtl="0"/>
          <a:r>
            <a:rPr lang="fi-FI" sz="1100" b="1" dirty="0" smtClean="0"/>
            <a:t>Hyväksymistestauksen organisointi ja puitteet</a:t>
          </a:r>
          <a:endParaRPr lang="fi-FI" sz="1100" b="1" dirty="0"/>
        </a:p>
      </dgm:t>
    </dgm:pt>
    <dgm:pt modelId="{5EE77FF3-6958-4AA2-A361-996476EE469F}" type="parTrans" cxnId="{F163E7A1-F61D-40FA-8D51-09DFBDF63920}">
      <dgm:prSet/>
      <dgm:spPr/>
      <dgm:t>
        <a:bodyPr/>
        <a:lstStyle/>
        <a:p>
          <a:endParaRPr lang="fi-FI" sz="2000"/>
        </a:p>
      </dgm:t>
    </dgm:pt>
    <dgm:pt modelId="{1857EB93-3123-4042-9586-557C94FF38FB}" type="sibTrans" cxnId="{F163E7A1-F61D-40FA-8D51-09DFBDF63920}">
      <dgm:prSet/>
      <dgm:spPr/>
      <dgm:t>
        <a:bodyPr/>
        <a:lstStyle/>
        <a:p>
          <a:endParaRPr lang="fi-FI" sz="2000"/>
        </a:p>
      </dgm:t>
    </dgm:pt>
    <dgm:pt modelId="{F3C8CAEE-C3C5-4F4E-B8D6-95CD478198FC}">
      <dgm:prSet custT="1"/>
      <dgm:spPr/>
      <dgm:t>
        <a:bodyPr/>
        <a:lstStyle/>
        <a:p>
          <a:r>
            <a:rPr lang="fi-FI" sz="1050" dirty="0" smtClean="0"/>
            <a:t>Testausprosessi suunnittelusta läpivientiin</a:t>
          </a:r>
          <a:endParaRPr lang="fi-FI" sz="1050" dirty="0"/>
        </a:p>
      </dgm:t>
    </dgm:pt>
    <dgm:pt modelId="{5285F996-D863-41D2-BCDC-C49BA518BF7E}" type="parTrans" cxnId="{36860DE1-6F5F-4025-A828-41782B80E483}">
      <dgm:prSet/>
      <dgm:spPr/>
      <dgm:t>
        <a:bodyPr/>
        <a:lstStyle/>
        <a:p>
          <a:endParaRPr lang="fi-FI" sz="2000"/>
        </a:p>
      </dgm:t>
    </dgm:pt>
    <dgm:pt modelId="{E224FB83-0D9D-4738-BEF7-DDCB4BC4B3E5}" type="sibTrans" cxnId="{36860DE1-6F5F-4025-A828-41782B80E483}">
      <dgm:prSet/>
      <dgm:spPr/>
      <dgm:t>
        <a:bodyPr/>
        <a:lstStyle/>
        <a:p>
          <a:endParaRPr lang="fi-FI" sz="2000"/>
        </a:p>
      </dgm:t>
    </dgm:pt>
    <dgm:pt modelId="{8FD7E9F2-2311-44BE-9382-0FD689EB7EE2}">
      <dgm:prSet custT="1"/>
      <dgm:spPr/>
      <dgm:t>
        <a:bodyPr/>
        <a:lstStyle/>
        <a:p>
          <a:r>
            <a:rPr lang="fi-FI" sz="1050" dirty="0" smtClean="0"/>
            <a:t>Toimittajan testauksien tarkastelu osana hyväksymistestausta</a:t>
          </a:r>
          <a:endParaRPr lang="fi-FI" sz="1050" dirty="0"/>
        </a:p>
      </dgm:t>
    </dgm:pt>
    <dgm:pt modelId="{5995E318-DFCD-47CE-9AC3-7D5D5C2C1D86}" type="parTrans" cxnId="{E1A005BE-128C-4479-A4FA-3DF86533F66C}">
      <dgm:prSet/>
      <dgm:spPr/>
      <dgm:t>
        <a:bodyPr/>
        <a:lstStyle/>
        <a:p>
          <a:endParaRPr lang="fi-FI" sz="2000"/>
        </a:p>
      </dgm:t>
    </dgm:pt>
    <dgm:pt modelId="{F367CA91-5390-4142-B6C6-B0F4A0631B49}" type="sibTrans" cxnId="{E1A005BE-128C-4479-A4FA-3DF86533F66C}">
      <dgm:prSet/>
      <dgm:spPr/>
      <dgm:t>
        <a:bodyPr/>
        <a:lstStyle/>
        <a:p>
          <a:endParaRPr lang="fi-FI" sz="2000"/>
        </a:p>
      </dgm:t>
    </dgm:pt>
    <dgm:pt modelId="{884C6235-9D16-4D95-BC42-131FB482992D}">
      <dgm:prSet custT="1"/>
      <dgm:spPr/>
      <dgm:t>
        <a:bodyPr/>
        <a:lstStyle/>
        <a:p>
          <a:r>
            <a:rPr lang="fi-FI" sz="1050" dirty="0" smtClean="0"/>
            <a:t>Ohjelmistokehityksen luonne, jatkuva muutos ja testauksen toistotarve</a:t>
          </a:r>
          <a:endParaRPr lang="fi-FI" sz="1050" dirty="0"/>
        </a:p>
      </dgm:t>
    </dgm:pt>
    <dgm:pt modelId="{0481730D-A61F-4DA9-9627-6BC82C4B148D}" type="parTrans" cxnId="{D0A56A45-20F2-4BCA-BD5A-BA373B2638CC}">
      <dgm:prSet/>
      <dgm:spPr/>
      <dgm:t>
        <a:bodyPr/>
        <a:lstStyle/>
        <a:p>
          <a:endParaRPr lang="fi-FI" sz="2000"/>
        </a:p>
      </dgm:t>
    </dgm:pt>
    <dgm:pt modelId="{555AD147-BAC6-43BB-90DD-1130ABA39199}" type="sibTrans" cxnId="{D0A56A45-20F2-4BCA-BD5A-BA373B2638CC}">
      <dgm:prSet/>
      <dgm:spPr/>
      <dgm:t>
        <a:bodyPr/>
        <a:lstStyle/>
        <a:p>
          <a:endParaRPr lang="fi-FI" sz="2000"/>
        </a:p>
      </dgm:t>
    </dgm:pt>
    <dgm:pt modelId="{5EA30DCB-652C-49B8-9D97-8AF54B4F7E80}">
      <dgm:prSet custT="1"/>
      <dgm:spPr/>
      <dgm:t>
        <a:bodyPr/>
        <a:lstStyle/>
        <a:p>
          <a:r>
            <a:rPr lang="fi-FI" sz="1050" dirty="0" smtClean="0"/>
            <a:t>Testauksen työmäärät ja tehokkuus tuloksina ja kustannuksina</a:t>
          </a:r>
          <a:endParaRPr lang="fi-FI" sz="1050" dirty="0"/>
        </a:p>
      </dgm:t>
    </dgm:pt>
    <dgm:pt modelId="{FAB1DA54-8633-4DA2-80C9-DA6F0989C0DB}" type="parTrans" cxnId="{EF253D2C-88A1-4A17-A421-A437AB497084}">
      <dgm:prSet/>
      <dgm:spPr/>
      <dgm:t>
        <a:bodyPr/>
        <a:lstStyle/>
        <a:p>
          <a:endParaRPr lang="fi-FI" sz="2000"/>
        </a:p>
      </dgm:t>
    </dgm:pt>
    <dgm:pt modelId="{B8684FF1-2E11-4AA1-8744-0C5546446438}" type="sibTrans" cxnId="{EF253D2C-88A1-4A17-A421-A437AB497084}">
      <dgm:prSet/>
      <dgm:spPr/>
      <dgm:t>
        <a:bodyPr/>
        <a:lstStyle/>
        <a:p>
          <a:endParaRPr lang="fi-FI" sz="2000"/>
        </a:p>
      </dgm:t>
    </dgm:pt>
    <dgm:pt modelId="{63777967-36A7-42A3-AAA6-F67A82A84365}">
      <dgm:prSet custT="1"/>
      <dgm:spPr/>
      <dgm:t>
        <a:bodyPr/>
        <a:lstStyle/>
        <a:p>
          <a:r>
            <a:rPr lang="fi-FI" sz="1050" dirty="0" smtClean="0"/>
            <a:t>Riskiohjattu testaus: rajallisen työmäärän kohdistaminen</a:t>
          </a:r>
          <a:endParaRPr lang="fi-FI" sz="1050" dirty="0"/>
        </a:p>
      </dgm:t>
    </dgm:pt>
    <dgm:pt modelId="{F3267288-52D4-4232-8EDE-0C06A198065D}" type="parTrans" cxnId="{558D6982-3136-43B9-B184-56E7146CE86D}">
      <dgm:prSet/>
      <dgm:spPr/>
      <dgm:t>
        <a:bodyPr/>
        <a:lstStyle/>
        <a:p>
          <a:endParaRPr lang="fi-FI" sz="2000"/>
        </a:p>
      </dgm:t>
    </dgm:pt>
    <dgm:pt modelId="{F21EB987-DD12-4AE4-A891-7E0A1B3B9F7C}" type="sibTrans" cxnId="{558D6982-3136-43B9-B184-56E7146CE86D}">
      <dgm:prSet/>
      <dgm:spPr/>
      <dgm:t>
        <a:bodyPr/>
        <a:lstStyle/>
        <a:p>
          <a:endParaRPr lang="fi-FI" sz="2000"/>
        </a:p>
      </dgm:t>
    </dgm:pt>
    <dgm:pt modelId="{8FA580CD-2825-4C51-B1DE-E59D1B218141}">
      <dgm:prSet custT="1"/>
      <dgm:spPr/>
      <dgm:t>
        <a:bodyPr/>
        <a:lstStyle/>
        <a:p>
          <a:r>
            <a:rPr lang="fi-FI" sz="1050" dirty="0" smtClean="0"/>
            <a:t>Havaintokirjausten käsittely ja muutoksista sopiminen</a:t>
          </a:r>
          <a:endParaRPr lang="fi-FI" sz="1050" dirty="0"/>
        </a:p>
      </dgm:t>
    </dgm:pt>
    <dgm:pt modelId="{3834143C-29CF-48A3-A93F-2F105F6D6050}" type="parTrans" cxnId="{C94072C2-A343-4034-AE65-F026F0256435}">
      <dgm:prSet/>
      <dgm:spPr/>
      <dgm:t>
        <a:bodyPr/>
        <a:lstStyle/>
        <a:p>
          <a:endParaRPr lang="fi-FI" sz="2000"/>
        </a:p>
      </dgm:t>
    </dgm:pt>
    <dgm:pt modelId="{72A3146F-3698-4795-BFC6-740EADE57467}" type="sibTrans" cxnId="{C94072C2-A343-4034-AE65-F026F0256435}">
      <dgm:prSet/>
      <dgm:spPr/>
      <dgm:t>
        <a:bodyPr/>
        <a:lstStyle/>
        <a:p>
          <a:endParaRPr lang="fi-FI" sz="2000"/>
        </a:p>
      </dgm:t>
    </dgm:pt>
    <dgm:pt modelId="{E0B0216D-FB34-4FF8-9D6F-878140CAD8C7}">
      <dgm:prSet custT="1"/>
      <dgm:spPr/>
      <dgm:t>
        <a:bodyPr/>
        <a:lstStyle/>
        <a:p>
          <a:r>
            <a:rPr lang="fi-FI" sz="1050" dirty="0" smtClean="0"/>
            <a:t>Testausympäristöt, testitapaukset ja testiaineisto</a:t>
          </a:r>
          <a:endParaRPr lang="fi-FI" sz="1050" dirty="0"/>
        </a:p>
      </dgm:t>
    </dgm:pt>
    <dgm:pt modelId="{742C2641-2368-450E-9041-6212968BDF28}" type="parTrans" cxnId="{165D3642-C139-40E0-AF02-1BF4FD25CF1B}">
      <dgm:prSet/>
      <dgm:spPr/>
      <dgm:t>
        <a:bodyPr/>
        <a:lstStyle/>
        <a:p>
          <a:endParaRPr lang="fi-FI" sz="2000"/>
        </a:p>
      </dgm:t>
    </dgm:pt>
    <dgm:pt modelId="{A52F8DC6-3D0E-458B-B9D3-8E5A5EB293DB}" type="sibTrans" cxnId="{165D3642-C139-40E0-AF02-1BF4FD25CF1B}">
      <dgm:prSet/>
      <dgm:spPr/>
      <dgm:t>
        <a:bodyPr/>
        <a:lstStyle/>
        <a:p>
          <a:endParaRPr lang="fi-FI" sz="2000"/>
        </a:p>
      </dgm:t>
    </dgm:pt>
    <dgm:pt modelId="{59007718-4FEB-43D9-B9E5-8114FFCD746C}">
      <dgm:prSet custT="1"/>
      <dgm:spPr/>
      <dgm:t>
        <a:bodyPr/>
        <a:lstStyle/>
        <a:p>
          <a:r>
            <a:rPr lang="fi-FI" sz="1050" dirty="0" smtClean="0"/>
            <a:t>Testauksen hallinta, seuranta ja mittarit</a:t>
          </a:r>
          <a:endParaRPr lang="fi-FI" sz="1050" dirty="0"/>
        </a:p>
      </dgm:t>
    </dgm:pt>
    <dgm:pt modelId="{90B8E4C9-9201-45CE-B9BA-F827E96CFDB4}" type="parTrans" cxnId="{8C048B0A-FDAC-44D2-B3BE-137FDDEC9FF6}">
      <dgm:prSet/>
      <dgm:spPr/>
      <dgm:t>
        <a:bodyPr/>
        <a:lstStyle/>
        <a:p>
          <a:endParaRPr lang="fi-FI" sz="2000"/>
        </a:p>
      </dgm:t>
    </dgm:pt>
    <dgm:pt modelId="{1BA139E2-2347-43A0-99EC-8A886F47E572}" type="sibTrans" cxnId="{8C048B0A-FDAC-44D2-B3BE-137FDDEC9FF6}">
      <dgm:prSet/>
      <dgm:spPr/>
      <dgm:t>
        <a:bodyPr/>
        <a:lstStyle/>
        <a:p>
          <a:endParaRPr lang="fi-FI" sz="2000"/>
        </a:p>
      </dgm:t>
    </dgm:pt>
    <dgm:pt modelId="{284F0E1D-70AC-40E5-B58D-8B75F4E28080}">
      <dgm:prSet custT="1"/>
      <dgm:spPr/>
      <dgm:t>
        <a:bodyPr/>
        <a:lstStyle/>
        <a:p>
          <a:r>
            <a:rPr lang="fi-FI" sz="1050" dirty="0" smtClean="0"/>
            <a:t>Toistuva hyväksymistestaus ylläpitoluonteiselle kehitystyölle</a:t>
          </a:r>
        </a:p>
      </dgm:t>
    </dgm:pt>
    <dgm:pt modelId="{31BA2C00-143D-4E09-82A4-A572C9C79C5A}" type="parTrans" cxnId="{CF06342C-923C-4B1A-A4EC-4D6001BB9FFD}">
      <dgm:prSet/>
      <dgm:spPr/>
      <dgm:t>
        <a:bodyPr/>
        <a:lstStyle/>
        <a:p>
          <a:endParaRPr lang="fi-FI" sz="2000"/>
        </a:p>
      </dgm:t>
    </dgm:pt>
    <dgm:pt modelId="{4F7A961E-8DB8-4F44-8B4F-2E1AA56DD794}" type="sibTrans" cxnId="{CF06342C-923C-4B1A-A4EC-4D6001BB9FFD}">
      <dgm:prSet/>
      <dgm:spPr/>
      <dgm:t>
        <a:bodyPr/>
        <a:lstStyle/>
        <a:p>
          <a:endParaRPr lang="fi-FI" sz="2000"/>
        </a:p>
      </dgm:t>
    </dgm:pt>
    <dgm:pt modelId="{5A047D2B-AE09-4A6A-B06B-F9BE7B733FC6}">
      <dgm:prSet custT="1"/>
      <dgm:spPr/>
      <dgm:t>
        <a:bodyPr/>
        <a:lstStyle/>
        <a:p>
          <a:r>
            <a:rPr lang="fi-FI" sz="1100" b="1" dirty="0" smtClean="0"/>
            <a:t>Testaus vaatimuksia ja odotuksia vastaan</a:t>
          </a:r>
          <a:endParaRPr lang="fi-FI" sz="1100" b="1" dirty="0"/>
        </a:p>
      </dgm:t>
    </dgm:pt>
    <dgm:pt modelId="{8B477AFB-3BB3-4E4F-A613-7C77A347B362}" type="parTrans" cxnId="{DDA29D37-E8F9-42C3-B045-6EF36EA64061}">
      <dgm:prSet/>
      <dgm:spPr/>
      <dgm:t>
        <a:bodyPr/>
        <a:lstStyle/>
        <a:p>
          <a:endParaRPr lang="fi-FI" sz="2000"/>
        </a:p>
      </dgm:t>
    </dgm:pt>
    <dgm:pt modelId="{2A70620D-A631-4E94-958B-CBD6322152E7}" type="sibTrans" cxnId="{DDA29D37-E8F9-42C3-B045-6EF36EA64061}">
      <dgm:prSet/>
      <dgm:spPr/>
      <dgm:t>
        <a:bodyPr/>
        <a:lstStyle/>
        <a:p>
          <a:endParaRPr lang="fi-FI" sz="2000"/>
        </a:p>
      </dgm:t>
    </dgm:pt>
    <dgm:pt modelId="{3D5166C9-5BA2-4001-892D-F49F4600D5B7}">
      <dgm:prSet custT="1"/>
      <dgm:spPr/>
      <dgm:t>
        <a:bodyPr/>
        <a:lstStyle/>
        <a:p>
          <a:r>
            <a:rPr lang="fi-FI" sz="1050" dirty="0" smtClean="0"/>
            <a:t>Sovellusalueosaamisen ja liiketoimintaprosessin osaamisen käyttö hyväksymistestauksessa</a:t>
          </a:r>
          <a:endParaRPr lang="fi-FI" sz="1050" dirty="0"/>
        </a:p>
      </dgm:t>
    </dgm:pt>
    <dgm:pt modelId="{65196C88-0272-4B87-95C5-9ECF31C690C5}" type="parTrans" cxnId="{CBD1C9AE-9CB6-4DAC-9A13-CF429A4CF2CE}">
      <dgm:prSet/>
      <dgm:spPr/>
      <dgm:t>
        <a:bodyPr/>
        <a:lstStyle/>
        <a:p>
          <a:endParaRPr lang="fi-FI" sz="2000"/>
        </a:p>
      </dgm:t>
    </dgm:pt>
    <dgm:pt modelId="{7A884809-F420-4DBC-B4D1-42CD63AA7E48}" type="sibTrans" cxnId="{CBD1C9AE-9CB6-4DAC-9A13-CF429A4CF2CE}">
      <dgm:prSet/>
      <dgm:spPr/>
      <dgm:t>
        <a:bodyPr/>
        <a:lstStyle/>
        <a:p>
          <a:endParaRPr lang="fi-FI" sz="2000"/>
        </a:p>
      </dgm:t>
    </dgm:pt>
    <dgm:pt modelId="{B51F8DC3-7A9F-4CF9-90CC-BC0B820F7B91}">
      <dgm:prSet custT="1"/>
      <dgm:spPr/>
      <dgm:t>
        <a:bodyPr/>
        <a:lstStyle/>
        <a:p>
          <a:r>
            <a:rPr lang="fi-FI" sz="1050" dirty="0" smtClean="0"/>
            <a:t>Vaatimusten järjestelmällinen läpikäynti</a:t>
          </a:r>
          <a:endParaRPr lang="fi-FI" sz="1050" dirty="0"/>
        </a:p>
      </dgm:t>
    </dgm:pt>
    <dgm:pt modelId="{B548D59C-C2A0-4CDC-8BEB-4BECB5846444}" type="parTrans" cxnId="{58B7B001-F24A-48C0-A169-02A75BBAF8BA}">
      <dgm:prSet/>
      <dgm:spPr/>
      <dgm:t>
        <a:bodyPr/>
        <a:lstStyle/>
        <a:p>
          <a:endParaRPr lang="fi-FI" sz="2000"/>
        </a:p>
      </dgm:t>
    </dgm:pt>
    <dgm:pt modelId="{03D855FF-F756-46AB-8876-3918B1753DDF}" type="sibTrans" cxnId="{58B7B001-F24A-48C0-A169-02A75BBAF8BA}">
      <dgm:prSet/>
      <dgm:spPr/>
      <dgm:t>
        <a:bodyPr/>
        <a:lstStyle/>
        <a:p>
          <a:endParaRPr lang="fi-FI" sz="2000"/>
        </a:p>
      </dgm:t>
    </dgm:pt>
    <dgm:pt modelId="{6DCF312A-D696-446F-8AEF-7CC30783908B}">
      <dgm:prSet custT="1"/>
      <dgm:spPr/>
      <dgm:t>
        <a:bodyPr/>
        <a:lstStyle/>
        <a:p>
          <a:r>
            <a:rPr lang="fi-FI" sz="1050" dirty="0" smtClean="0"/>
            <a:t>Testitapausten merkitys hyväksymistestaukselle</a:t>
          </a:r>
          <a:endParaRPr lang="fi-FI" sz="1050" dirty="0"/>
        </a:p>
      </dgm:t>
    </dgm:pt>
    <dgm:pt modelId="{3447F3BB-C176-403F-A440-AAA7B2132DFD}" type="parTrans" cxnId="{CF519EFD-A2DD-4B69-9F56-3F9C8F4E2CC2}">
      <dgm:prSet/>
      <dgm:spPr/>
      <dgm:t>
        <a:bodyPr/>
        <a:lstStyle/>
        <a:p>
          <a:endParaRPr lang="fi-FI" sz="2000"/>
        </a:p>
      </dgm:t>
    </dgm:pt>
    <dgm:pt modelId="{800753E0-C5D5-4C74-BD57-FDEE2C16A254}" type="sibTrans" cxnId="{CF519EFD-A2DD-4B69-9F56-3F9C8F4E2CC2}">
      <dgm:prSet/>
      <dgm:spPr/>
      <dgm:t>
        <a:bodyPr/>
        <a:lstStyle/>
        <a:p>
          <a:endParaRPr lang="fi-FI" sz="2000"/>
        </a:p>
      </dgm:t>
    </dgm:pt>
    <dgm:pt modelId="{13C8241D-30EB-4DA5-91CE-6455887CB532}">
      <dgm:prSet custT="1"/>
      <dgm:spPr/>
      <dgm:t>
        <a:bodyPr/>
        <a:lstStyle/>
        <a:p>
          <a:r>
            <a:rPr lang="fi-FI" sz="1050" dirty="0" smtClean="0"/>
            <a:t>Hyväksymistestausta tukevat testitapaukset</a:t>
          </a:r>
          <a:endParaRPr lang="fi-FI" sz="1050" dirty="0"/>
        </a:p>
      </dgm:t>
    </dgm:pt>
    <dgm:pt modelId="{1D178F00-0239-4F3A-B7E9-B16BC7D40770}" type="parTrans" cxnId="{25D78AD7-111E-45EA-B17E-5767226B1533}">
      <dgm:prSet/>
      <dgm:spPr/>
      <dgm:t>
        <a:bodyPr/>
        <a:lstStyle/>
        <a:p>
          <a:endParaRPr lang="fi-FI" sz="2000"/>
        </a:p>
      </dgm:t>
    </dgm:pt>
    <dgm:pt modelId="{FF284607-31F0-407C-BDD3-060E3A6EF9D4}" type="sibTrans" cxnId="{25D78AD7-111E-45EA-B17E-5767226B1533}">
      <dgm:prSet/>
      <dgm:spPr/>
      <dgm:t>
        <a:bodyPr/>
        <a:lstStyle/>
        <a:p>
          <a:endParaRPr lang="fi-FI" sz="2000"/>
        </a:p>
      </dgm:t>
    </dgm:pt>
    <dgm:pt modelId="{F0649716-B277-4246-B4C1-BC542F322F8A}">
      <dgm:prSet custT="1"/>
      <dgm:spPr/>
      <dgm:t>
        <a:bodyPr/>
        <a:lstStyle/>
        <a:p>
          <a:r>
            <a:rPr lang="fi-FI" sz="1050" dirty="0" smtClean="0"/>
            <a:t>Testitapausten priorisointi hyväksymistestaukselle: mistä tiedetään mikä on tärkeää liiketoiminnalle</a:t>
          </a:r>
          <a:endParaRPr lang="fi-FI" sz="1050" dirty="0"/>
        </a:p>
      </dgm:t>
    </dgm:pt>
    <dgm:pt modelId="{27839B55-E584-422D-B72E-32A347E21FD6}" type="parTrans" cxnId="{B584686C-FF56-43FC-A6E9-BFDC110D0F3A}">
      <dgm:prSet/>
      <dgm:spPr/>
      <dgm:t>
        <a:bodyPr/>
        <a:lstStyle/>
        <a:p>
          <a:endParaRPr lang="fi-FI" sz="2000"/>
        </a:p>
      </dgm:t>
    </dgm:pt>
    <dgm:pt modelId="{3CA4F354-DF59-45C6-AF13-28268C39518D}" type="sibTrans" cxnId="{B584686C-FF56-43FC-A6E9-BFDC110D0F3A}">
      <dgm:prSet/>
      <dgm:spPr/>
      <dgm:t>
        <a:bodyPr/>
        <a:lstStyle/>
        <a:p>
          <a:endParaRPr lang="fi-FI" sz="2000"/>
        </a:p>
      </dgm:t>
    </dgm:pt>
    <dgm:pt modelId="{582737C7-A23B-4BCF-8152-3B1924EDA793}">
      <dgm:prSet custT="1"/>
      <dgm:spPr/>
      <dgm:t>
        <a:bodyPr/>
        <a:lstStyle/>
        <a:p>
          <a:r>
            <a:rPr lang="fi-FI" sz="1050" dirty="0" smtClean="0"/>
            <a:t>Kelpuuttaminen käyttöön vs. todentaminen suhteessa vaatimuksiin</a:t>
          </a:r>
        </a:p>
      </dgm:t>
    </dgm:pt>
    <dgm:pt modelId="{37F03128-A80E-4CE0-BC23-6DF7CB8A11D8}" type="parTrans" cxnId="{E7C37E4C-54D2-4BC9-B239-CAD8181BEBE4}">
      <dgm:prSet/>
      <dgm:spPr/>
      <dgm:t>
        <a:bodyPr/>
        <a:lstStyle/>
        <a:p>
          <a:endParaRPr lang="fi-FI" sz="2000"/>
        </a:p>
      </dgm:t>
    </dgm:pt>
    <dgm:pt modelId="{FD69B635-10E7-462F-9558-02A0E5739F4C}" type="sibTrans" cxnId="{E7C37E4C-54D2-4BC9-B239-CAD8181BEBE4}">
      <dgm:prSet/>
      <dgm:spPr/>
      <dgm:t>
        <a:bodyPr/>
        <a:lstStyle/>
        <a:p>
          <a:endParaRPr lang="fi-FI" sz="2000"/>
        </a:p>
      </dgm:t>
    </dgm:pt>
    <dgm:pt modelId="{3B2B6EC3-FAFC-4F27-AF22-3209ABD0D639}" type="pres">
      <dgm:prSet presAssocID="{D5C8C534-B55B-41EF-88DB-ED9C24EBB7FC}" presName="Name0" presStyleCnt="0">
        <dgm:presLayoutVars>
          <dgm:dir/>
          <dgm:animLvl val="lvl"/>
          <dgm:resizeHandles val="exact"/>
        </dgm:presLayoutVars>
      </dgm:prSet>
      <dgm:spPr/>
      <dgm:t>
        <a:bodyPr/>
        <a:lstStyle/>
        <a:p>
          <a:endParaRPr lang="fi-FI"/>
        </a:p>
      </dgm:t>
    </dgm:pt>
    <dgm:pt modelId="{D92851F3-0C0F-489F-A254-A6812400DD0A}" type="pres">
      <dgm:prSet presAssocID="{876F12A8-3CBF-4C23-9511-B3BE912EE8A9}" presName="composite" presStyleCnt="0"/>
      <dgm:spPr/>
    </dgm:pt>
    <dgm:pt modelId="{8B58748B-2575-4D58-9FA0-9F6CA0DF6B78}" type="pres">
      <dgm:prSet presAssocID="{876F12A8-3CBF-4C23-9511-B3BE912EE8A9}" presName="parTx" presStyleLbl="alignNode1" presStyleIdx="0" presStyleCnt="4">
        <dgm:presLayoutVars>
          <dgm:chMax val="0"/>
          <dgm:chPref val="0"/>
          <dgm:bulletEnabled val="1"/>
        </dgm:presLayoutVars>
      </dgm:prSet>
      <dgm:spPr/>
      <dgm:t>
        <a:bodyPr/>
        <a:lstStyle/>
        <a:p>
          <a:endParaRPr lang="fi-FI"/>
        </a:p>
      </dgm:t>
    </dgm:pt>
    <dgm:pt modelId="{AAB1147D-BCEB-4287-850D-0C28E16B7E63}" type="pres">
      <dgm:prSet presAssocID="{876F12A8-3CBF-4C23-9511-B3BE912EE8A9}" presName="desTx" presStyleLbl="alignAccFollowNode1" presStyleIdx="0" presStyleCnt="4">
        <dgm:presLayoutVars>
          <dgm:bulletEnabled val="1"/>
        </dgm:presLayoutVars>
      </dgm:prSet>
      <dgm:spPr/>
      <dgm:t>
        <a:bodyPr/>
        <a:lstStyle/>
        <a:p>
          <a:endParaRPr lang="fi-FI"/>
        </a:p>
      </dgm:t>
    </dgm:pt>
    <dgm:pt modelId="{4F0A595E-783C-4E50-8B40-09F25FB93E7C}" type="pres">
      <dgm:prSet presAssocID="{9D64F3A3-F0ED-495F-BD66-97CC72F1F1F0}" presName="space" presStyleCnt="0"/>
      <dgm:spPr/>
    </dgm:pt>
    <dgm:pt modelId="{D92EDD19-9446-4D94-8EDB-D131762C721A}" type="pres">
      <dgm:prSet presAssocID="{52B1E9F8-FF5A-4290-A2EE-04416696410E}" presName="composite" presStyleCnt="0"/>
      <dgm:spPr/>
    </dgm:pt>
    <dgm:pt modelId="{20330B3A-115A-4449-BBD2-F1DF7DA08C27}" type="pres">
      <dgm:prSet presAssocID="{52B1E9F8-FF5A-4290-A2EE-04416696410E}" presName="parTx" presStyleLbl="alignNode1" presStyleIdx="1" presStyleCnt="4">
        <dgm:presLayoutVars>
          <dgm:chMax val="0"/>
          <dgm:chPref val="0"/>
          <dgm:bulletEnabled val="1"/>
        </dgm:presLayoutVars>
      </dgm:prSet>
      <dgm:spPr/>
      <dgm:t>
        <a:bodyPr/>
        <a:lstStyle/>
        <a:p>
          <a:endParaRPr lang="fi-FI"/>
        </a:p>
      </dgm:t>
    </dgm:pt>
    <dgm:pt modelId="{8901B344-4CDE-44D5-B022-7E0CE2C33BF0}" type="pres">
      <dgm:prSet presAssocID="{52B1E9F8-FF5A-4290-A2EE-04416696410E}" presName="desTx" presStyleLbl="alignAccFollowNode1" presStyleIdx="1" presStyleCnt="4" custLinFactNeighborX="-512" custLinFactNeighborY="-94">
        <dgm:presLayoutVars>
          <dgm:bulletEnabled val="1"/>
        </dgm:presLayoutVars>
      </dgm:prSet>
      <dgm:spPr/>
      <dgm:t>
        <a:bodyPr/>
        <a:lstStyle/>
        <a:p>
          <a:endParaRPr lang="fi-FI"/>
        </a:p>
      </dgm:t>
    </dgm:pt>
    <dgm:pt modelId="{1849843C-4BCF-4CA2-9DF2-6782D020EB95}" type="pres">
      <dgm:prSet presAssocID="{B47D46F4-2A52-46AE-8568-3E60E48D3D30}" presName="space" presStyleCnt="0"/>
      <dgm:spPr/>
    </dgm:pt>
    <dgm:pt modelId="{339E4B24-AAC5-4F06-B52E-2DF3F454F8CD}" type="pres">
      <dgm:prSet presAssocID="{EC2ECAB8-A85D-40C7-9117-2AA078A20F63}" presName="composite" presStyleCnt="0"/>
      <dgm:spPr/>
    </dgm:pt>
    <dgm:pt modelId="{E3E6BEB8-B08E-43CD-A3AF-F2B85C4580AD}" type="pres">
      <dgm:prSet presAssocID="{EC2ECAB8-A85D-40C7-9117-2AA078A20F63}" presName="parTx" presStyleLbl="alignNode1" presStyleIdx="2" presStyleCnt="4">
        <dgm:presLayoutVars>
          <dgm:chMax val="0"/>
          <dgm:chPref val="0"/>
          <dgm:bulletEnabled val="1"/>
        </dgm:presLayoutVars>
      </dgm:prSet>
      <dgm:spPr/>
      <dgm:t>
        <a:bodyPr/>
        <a:lstStyle/>
        <a:p>
          <a:endParaRPr lang="fi-FI"/>
        </a:p>
      </dgm:t>
    </dgm:pt>
    <dgm:pt modelId="{2CE42794-9563-4A96-B9CC-520A06D6EE9D}" type="pres">
      <dgm:prSet presAssocID="{EC2ECAB8-A85D-40C7-9117-2AA078A20F63}" presName="desTx" presStyleLbl="alignAccFollowNode1" presStyleIdx="2" presStyleCnt="4">
        <dgm:presLayoutVars>
          <dgm:bulletEnabled val="1"/>
        </dgm:presLayoutVars>
      </dgm:prSet>
      <dgm:spPr/>
      <dgm:t>
        <a:bodyPr/>
        <a:lstStyle/>
        <a:p>
          <a:endParaRPr lang="fi-FI"/>
        </a:p>
      </dgm:t>
    </dgm:pt>
    <dgm:pt modelId="{B11BD261-271F-4274-A770-76A44AED9CB3}" type="pres">
      <dgm:prSet presAssocID="{1857EB93-3123-4042-9586-557C94FF38FB}" presName="space" presStyleCnt="0"/>
      <dgm:spPr/>
    </dgm:pt>
    <dgm:pt modelId="{9FBE3C72-DB3A-46C6-B2EE-4B94FAA24B04}" type="pres">
      <dgm:prSet presAssocID="{5A047D2B-AE09-4A6A-B06B-F9BE7B733FC6}" presName="composite" presStyleCnt="0"/>
      <dgm:spPr/>
    </dgm:pt>
    <dgm:pt modelId="{016C0C30-52FC-4CA5-B7B1-35861449347E}" type="pres">
      <dgm:prSet presAssocID="{5A047D2B-AE09-4A6A-B06B-F9BE7B733FC6}" presName="parTx" presStyleLbl="alignNode1" presStyleIdx="3" presStyleCnt="4">
        <dgm:presLayoutVars>
          <dgm:chMax val="0"/>
          <dgm:chPref val="0"/>
          <dgm:bulletEnabled val="1"/>
        </dgm:presLayoutVars>
      </dgm:prSet>
      <dgm:spPr/>
      <dgm:t>
        <a:bodyPr/>
        <a:lstStyle/>
        <a:p>
          <a:endParaRPr lang="fi-FI"/>
        </a:p>
      </dgm:t>
    </dgm:pt>
    <dgm:pt modelId="{882F28AC-AD1B-4E0E-AEA6-8989F5CE6A35}" type="pres">
      <dgm:prSet presAssocID="{5A047D2B-AE09-4A6A-B06B-F9BE7B733FC6}" presName="desTx" presStyleLbl="alignAccFollowNode1" presStyleIdx="3" presStyleCnt="4">
        <dgm:presLayoutVars>
          <dgm:bulletEnabled val="1"/>
        </dgm:presLayoutVars>
      </dgm:prSet>
      <dgm:spPr/>
      <dgm:t>
        <a:bodyPr/>
        <a:lstStyle/>
        <a:p>
          <a:endParaRPr lang="fi-FI"/>
        </a:p>
      </dgm:t>
    </dgm:pt>
  </dgm:ptLst>
  <dgm:cxnLst>
    <dgm:cxn modelId="{E1A005BE-128C-4479-A4FA-3DF86533F66C}" srcId="{EC2ECAB8-A85D-40C7-9117-2AA078A20F63}" destId="{8FD7E9F2-2311-44BE-9382-0FD689EB7EE2}" srcOrd="1" destOrd="0" parTransId="{5995E318-DFCD-47CE-9AC3-7D5D5C2C1D86}" sibTransId="{F367CA91-5390-4142-B6C6-B0F4A0631B49}"/>
    <dgm:cxn modelId="{30566708-7369-440D-8220-D3C7D17B04FC}" srcId="{876F12A8-3CBF-4C23-9511-B3BE912EE8A9}" destId="{17A262F1-9003-4C77-8F50-D8E5C174B968}" srcOrd="6" destOrd="0" parTransId="{6CB28059-AA75-4527-99CA-A3EDDA9850C4}" sibTransId="{2C6A6872-2DBF-427F-9E6B-05310B7310D1}"/>
    <dgm:cxn modelId="{165D3642-C139-40E0-AF02-1BF4FD25CF1B}" srcId="{EC2ECAB8-A85D-40C7-9117-2AA078A20F63}" destId="{E0B0216D-FB34-4FF8-9D6F-878140CAD8C7}" srcOrd="6" destOrd="0" parTransId="{742C2641-2368-450E-9041-6212968BDF28}" sibTransId="{A52F8DC6-3D0E-458B-B9D3-8E5A5EB293DB}"/>
    <dgm:cxn modelId="{47C719FD-B0F4-4932-836B-562762A301B4}" type="presOf" srcId="{D72C800D-6A31-4F3A-928F-3FAA9F4B2458}" destId="{8901B344-4CDE-44D5-B022-7E0CE2C33BF0}" srcOrd="0" destOrd="4" presId="urn:microsoft.com/office/officeart/2005/8/layout/hList1"/>
    <dgm:cxn modelId="{ACA80B95-36BD-492E-8565-EC98844334CE}" type="presOf" srcId="{582737C7-A23B-4BCF-8152-3B1924EDA793}" destId="{882F28AC-AD1B-4E0E-AEA6-8989F5CE6A35}" srcOrd="0" destOrd="5" presId="urn:microsoft.com/office/officeart/2005/8/layout/hList1"/>
    <dgm:cxn modelId="{9E20866B-39E1-421E-BBF0-2C4CC4E668E7}" srcId="{D5C8C534-B55B-41EF-88DB-ED9C24EBB7FC}" destId="{52B1E9F8-FF5A-4290-A2EE-04416696410E}" srcOrd="1" destOrd="0" parTransId="{EE94DFC9-8FE1-4D92-A39A-2B2FA864EDE3}" sibTransId="{B47D46F4-2A52-46AE-8568-3E60E48D3D30}"/>
    <dgm:cxn modelId="{8D68D3BF-C057-460C-86DA-2BE6261EEE8E}" type="presOf" srcId="{C896329D-659F-41D8-8428-23F35A3F2A7F}" destId="{AAB1147D-BCEB-4287-850D-0C28E16B7E63}" srcOrd="0" destOrd="2" presId="urn:microsoft.com/office/officeart/2005/8/layout/hList1"/>
    <dgm:cxn modelId="{EAB3A3CF-3A6D-4D51-9F27-FC64D49F6A14}" type="presOf" srcId="{59007718-4FEB-43D9-B9E5-8114FFCD746C}" destId="{2CE42794-9563-4A96-B9CC-520A06D6EE9D}" srcOrd="0" destOrd="7" presId="urn:microsoft.com/office/officeart/2005/8/layout/hList1"/>
    <dgm:cxn modelId="{D14B922F-B690-4015-B37F-68B682363CC4}" type="presOf" srcId="{3D5166C9-5BA2-4001-892D-F49F4600D5B7}" destId="{882F28AC-AD1B-4E0E-AEA6-8989F5CE6A35}" srcOrd="0" destOrd="0" presId="urn:microsoft.com/office/officeart/2005/8/layout/hList1"/>
    <dgm:cxn modelId="{8C048B0A-FDAC-44D2-B3BE-137FDDEC9FF6}" srcId="{EC2ECAB8-A85D-40C7-9117-2AA078A20F63}" destId="{59007718-4FEB-43D9-B9E5-8114FFCD746C}" srcOrd="7" destOrd="0" parTransId="{90B8E4C9-9201-45CE-B9BA-F827E96CFDB4}" sibTransId="{1BA139E2-2347-43A0-99EC-8A886F47E572}"/>
    <dgm:cxn modelId="{DF223F19-81A7-4EA6-98DF-0E2387D499A4}" srcId="{52B1E9F8-FF5A-4290-A2EE-04416696410E}" destId="{D72C800D-6A31-4F3A-928F-3FAA9F4B2458}" srcOrd="4" destOrd="0" parTransId="{09F4EBD8-72E6-409A-BB6C-4843FEBEAA2B}" sibTransId="{3A004302-3BD4-436A-BFCE-E278615647A1}"/>
    <dgm:cxn modelId="{1675A109-EE24-4D17-B813-A4FE5D6F44E9}" type="presOf" srcId="{77261A98-EA16-48DE-BDEC-862B033DFA44}" destId="{AAB1147D-BCEB-4287-850D-0C28E16B7E63}" srcOrd="0" destOrd="0" presId="urn:microsoft.com/office/officeart/2005/8/layout/hList1"/>
    <dgm:cxn modelId="{A5AB44A5-0A54-4255-863D-C63ECB47ADB4}" srcId="{52B1E9F8-FF5A-4290-A2EE-04416696410E}" destId="{1916EEB6-8012-4C32-BB16-D45FE8388CAB}" srcOrd="1" destOrd="0" parTransId="{AAE70BB2-FF9F-4070-A5FC-ED235CA4153C}" sibTransId="{2FBCF5CD-18EA-4379-8DDB-078E7BE8F140}"/>
    <dgm:cxn modelId="{17F04215-6A51-4DBE-B65D-02C21982C099}" type="presOf" srcId="{F3C8CAEE-C3C5-4F4E-B8D6-95CD478198FC}" destId="{2CE42794-9563-4A96-B9CC-520A06D6EE9D}" srcOrd="0" destOrd="0" presId="urn:microsoft.com/office/officeart/2005/8/layout/hList1"/>
    <dgm:cxn modelId="{FC853B53-7D65-41F8-842A-1527B7BD1F11}" srcId="{52B1E9F8-FF5A-4290-A2EE-04416696410E}" destId="{2BB21CFB-3C14-4EE0-BF97-9DE197EDB4FB}" srcOrd="3" destOrd="0" parTransId="{55DB9CF7-0918-46A0-A077-9B525FE754A0}" sibTransId="{B87C9EBE-1F3B-4B6F-8B1B-6ED6999EA57C}"/>
    <dgm:cxn modelId="{8624046F-755A-4E15-A1FE-B337E136C885}" type="presOf" srcId="{E0B0216D-FB34-4FF8-9D6F-878140CAD8C7}" destId="{2CE42794-9563-4A96-B9CC-520A06D6EE9D}" srcOrd="0" destOrd="6" presId="urn:microsoft.com/office/officeart/2005/8/layout/hList1"/>
    <dgm:cxn modelId="{58B7B001-F24A-48C0-A169-02A75BBAF8BA}" srcId="{5A047D2B-AE09-4A6A-B06B-F9BE7B733FC6}" destId="{B51F8DC3-7A9F-4CF9-90CC-BC0B820F7B91}" srcOrd="1" destOrd="0" parTransId="{B548D59C-C2A0-4CDC-8BEB-4BECB5846444}" sibTransId="{03D855FF-F756-46AB-8876-3918B1753DDF}"/>
    <dgm:cxn modelId="{9F4C596A-C48E-49D1-A380-D271882F1EBA}" type="presOf" srcId="{8FA580CD-2825-4C51-B1DE-E59D1B218141}" destId="{2CE42794-9563-4A96-B9CC-520A06D6EE9D}" srcOrd="0" destOrd="5" presId="urn:microsoft.com/office/officeart/2005/8/layout/hList1"/>
    <dgm:cxn modelId="{931434B6-00F4-4699-887F-56BCBF48E59B}" srcId="{876F12A8-3CBF-4C23-9511-B3BE912EE8A9}" destId="{B388BF5D-1F28-4429-9317-BEF154AD918C}" srcOrd="7" destOrd="0" parTransId="{00DC2BDA-9FCE-4789-8612-CBAB489E1008}" sibTransId="{04381C85-A969-462F-89C0-62961ACABCF6}"/>
    <dgm:cxn modelId="{5D40A653-A696-4FD0-A24A-7CCAC7193D58}" srcId="{876F12A8-3CBF-4C23-9511-B3BE912EE8A9}" destId="{1D93A904-DA31-4610-8126-8F418CD7E1E6}" srcOrd="3" destOrd="0" parTransId="{637248D1-417D-468F-8F5A-263F0EEE4E25}" sibTransId="{4CE4025D-124A-4864-812A-CAFE879FDB0F}"/>
    <dgm:cxn modelId="{D395E3DA-9BBC-434B-A73B-6E79B814FC5A}" type="presOf" srcId="{284F0E1D-70AC-40E5-B58D-8B75F4E28080}" destId="{2CE42794-9563-4A96-B9CC-520A06D6EE9D}" srcOrd="0" destOrd="8" presId="urn:microsoft.com/office/officeart/2005/8/layout/hList1"/>
    <dgm:cxn modelId="{C94072C2-A343-4034-AE65-F026F0256435}" srcId="{EC2ECAB8-A85D-40C7-9117-2AA078A20F63}" destId="{8FA580CD-2825-4C51-B1DE-E59D1B218141}" srcOrd="5" destOrd="0" parTransId="{3834143C-29CF-48A3-A93F-2F105F6D6050}" sibTransId="{72A3146F-3698-4795-BFC6-740EADE57467}"/>
    <dgm:cxn modelId="{6E818C31-A01D-4771-94E1-93277F0BA2D4}" type="presOf" srcId="{6DCF312A-D696-446F-8AEF-7CC30783908B}" destId="{882F28AC-AD1B-4E0E-AEA6-8989F5CE6A35}" srcOrd="0" destOrd="2" presId="urn:microsoft.com/office/officeart/2005/8/layout/hList1"/>
    <dgm:cxn modelId="{D1E18ACA-E2AC-419B-B0C8-489177C231F1}" srcId="{D5C8C534-B55B-41EF-88DB-ED9C24EBB7FC}" destId="{876F12A8-3CBF-4C23-9511-B3BE912EE8A9}" srcOrd="0" destOrd="0" parTransId="{1BEBABA3-2449-4976-9CA0-CD33A6A3B3B9}" sibTransId="{9D64F3A3-F0ED-495F-BD66-97CC72F1F1F0}"/>
    <dgm:cxn modelId="{9391C4A2-803E-449A-9217-2033AD4FD956}" type="presOf" srcId="{2BB21CFB-3C14-4EE0-BF97-9DE197EDB4FB}" destId="{8901B344-4CDE-44D5-B022-7E0CE2C33BF0}" srcOrd="0" destOrd="3" presId="urn:microsoft.com/office/officeart/2005/8/layout/hList1"/>
    <dgm:cxn modelId="{F163E7A1-F61D-40FA-8D51-09DFBDF63920}" srcId="{D5C8C534-B55B-41EF-88DB-ED9C24EBB7FC}" destId="{EC2ECAB8-A85D-40C7-9117-2AA078A20F63}" srcOrd="2" destOrd="0" parTransId="{5EE77FF3-6958-4AA2-A361-996476EE469F}" sibTransId="{1857EB93-3123-4042-9586-557C94FF38FB}"/>
    <dgm:cxn modelId="{EC0C1EBC-1BB6-4B64-9783-15A05DC6D254}" srcId="{876F12A8-3CBF-4C23-9511-B3BE912EE8A9}" destId="{0C5135B2-B7D9-4A56-B321-EACBE96AD852}" srcOrd="5" destOrd="0" parTransId="{AFF35C9C-E88B-481D-A218-745179C42A89}" sibTransId="{2AF380E5-541E-476E-A57D-2AF52F0FD3CF}"/>
    <dgm:cxn modelId="{B584686C-FF56-43FC-A6E9-BFDC110D0F3A}" srcId="{5A047D2B-AE09-4A6A-B06B-F9BE7B733FC6}" destId="{F0649716-B277-4246-B4C1-BC542F322F8A}" srcOrd="4" destOrd="0" parTransId="{27839B55-E584-422D-B72E-32A347E21FD6}" sibTransId="{3CA4F354-DF59-45C6-AF13-28268C39518D}"/>
    <dgm:cxn modelId="{64F0FAA3-747F-4EDA-BA97-BCC6569462E3}" type="presOf" srcId="{8FD7E9F2-2311-44BE-9382-0FD689EB7EE2}" destId="{2CE42794-9563-4A96-B9CC-520A06D6EE9D}" srcOrd="0" destOrd="1" presId="urn:microsoft.com/office/officeart/2005/8/layout/hList1"/>
    <dgm:cxn modelId="{49F106CF-FF0B-43BF-A3E7-EBDF9400FB69}" type="presOf" srcId="{5A047D2B-AE09-4A6A-B06B-F9BE7B733FC6}" destId="{016C0C30-52FC-4CA5-B7B1-35861449347E}" srcOrd="0" destOrd="0" presId="urn:microsoft.com/office/officeart/2005/8/layout/hList1"/>
    <dgm:cxn modelId="{D71B0854-94D7-4E70-9906-79916BDF1C2E}" srcId="{876F12A8-3CBF-4C23-9511-B3BE912EE8A9}" destId="{ED3D8A5C-A004-4F25-9E95-105C5CBAC5B8}" srcOrd="4" destOrd="0" parTransId="{2602785F-5020-4C37-9349-25B3C6EB8027}" sibTransId="{B91310B6-65D7-4C98-8D22-83CC38A1C4FE}"/>
    <dgm:cxn modelId="{0FE32244-BCA1-43B7-90D0-F18EC3F9E898}" type="presOf" srcId="{D5C8C534-B55B-41EF-88DB-ED9C24EBB7FC}" destId="{3B2B6EC3-FAFC-4F27-AF22-3209ABD0D639}" srcOrd="0" destOrd="0" presId="urn:microsoft.com/office/officeart/2005/8/layout/hList1"/>
    <dgm:cxn modelId="{4DA300AB-23D4-4246-84AD-284682709F72}" type="presOf" srcId="{1916EEB6-8012-4C32-BB16-D45FE8388CAB}" destId="{8901B344-4CDE-44D5-B022-7E0CE2C33BF0}" srcOrd="0" destOrd="1" presId="urn:microsoft.com/office/officeart/2005/8/layout/hList1"/>
    <dgm:cxn modelId="{736AAA66-F5F2-4B0F-9C37-721BCBDA3C7D}" type="presOf" srcId="{52B1E9F8-FF5A-4290-A2EE-04416696410E}" destId="{20330B3A-115A-4449-BBD2-F1DF7DA08C27}" srcOrd="0" destOrd="0" presId="urn:microsoft.com/office/officeart/2005/8/layout/hList1"/>
    <dgm:cxn modelId="{36860DE1-6F5F-4025-A828-41782B80E483}" srcId="{EC2ECAB8-A85D-40C7-9117-2AA078A20F63}" destId="{F3C8CAEE-C3C5-4F4E-B8D6-95CD478198FC}" srcOrd="0" destOrd="0" parTransId="{5285F996-D863-41D2-BCDC-C49BA518BF7E}" sibTransId="{E224FB83-0D9D-4738-BEF7-DDCB4BC4B3E5}"/>
    <dgm:cxn modelId="{CBD1C9AE-9CB6-4DAC-9A13-CF429A4CF2CE}" srcId="{5A047D2B-AE09-4A6A-B06B-F9BE7B733FC6}" destId="{3D5166C9-5BA2-4001-892D-F49F4600D5B7}" srcOrd="0" destOrd="0" parTransId="{65196C88-0272-4B87-95C5-9ECF31C690C5}" sibTransId="{7A884809-F420-4DBC-B4D1-42CD63AA7E48}"/>
    <dgm:cxn modelId="{85316A9F-2D19-4D98-8417-C21D2525DA8F}" type="presOf" srcId="{1D93A904-DA31-4610-8126-8F418CD7E1E6}" destId="{AAB1147D-BCEB-4287-850D-0C28E16B7E63}" srcOrd="0" destOrd="3" presId="urn:microsoft.com/office/officeart/2005/8/layout/hList1"/>
    <dgm:cxn modelId="{EF253D2C-88A1-4A17-A421-A437AB497084}" srcId="{EC2ECAB8-A85D-40C7-9117-2AA078A20F63}" destId="{5EA30DCB-652C-49B8-9D97-8AF54B4F7E80}" srcOrd="3" destOrd="0" parTransId="{FAB1DA54-8633-4DA2-80C9-DA6F0989C0DB}" sibTransId="{B8684FF1-2E11-4AA1-8744-0C5546446438}"/>
    <dgm:cxn modelId="{38793140-22FB-4290-95F5-D68F82D5906E}" srcId="{52B1E9F8-FF5A-4290-A2EE-04416696410E}" destId="{5DCF5F03-40E3-4DF7-8D0C-5B2AC04E9710}" srcOrd="2" destOrd="0" parTransId="{F587DB87-8C05-45E8-821D-48A0E1934C89}" sibTransId="{D015357F-31D5-4BDE-9234-A074B01E35F1}"/>
    <dgm:cxn modelId="{C13F5A27-9604-47B6-A75B-E848C3F4794A}" type="presOf" srcId="{17A262F1-9003-4C77-8F50-D8E5C174B968}" destId="{AAB1147D-BCEB-4287-850D-0C28E16B7E63}" srcOrd="0" destOrd="6" presId="urn:microsoft.com/office/officeart/2005/8/layout/hList1"/>
    <dgm:cxn modelId="{6CC02AA1-1C4C-4325-B9D6-F78F7378D0B0}" type="presOf" srcId="{13C8241D-30EB-4DA5-91CE-6455887CB532}" destId="{882F28AC-AD1B-4E0E-AEA6-8989F5CE6A35}" srcOrd="0" destOrd="3" presId="urn:microsoft.com/office/officeart/2005/8/layout/hList1"/>
    <dgm:cxn modelId="{555B5F87-EAA2-4BF5-A85A-067F5B333468}" srcId="{52B1E9F8-FF5A-4290-A2EE-04416696410E}" destId="{DFACE991-8E53-485A-907C-1EFB2848046C}" srcOrd="0" destOrd="0" parTransId="{522FA040-2423-4F5F-A378-E20632813270}" sibTransId="{79202294-FE13-49A9-BC9A-1A8E948266D7}"/>
    <dgm:cxn modelId="{62893001-B08C-4020-852B-4292EA5327DD}" type="presOf" srcId="{F0649716-B277-4246-B4C1-BC542F322F8A}" destId="{882F28AC-AD1B-4E0E-AEA6-8989F5CE6A35}" srcOrd="0" destOrd="4" presId="urn:microsoft.com/office/officeart/2005/8/layout/hList1"/>
    <dgm:cxn modelId="{6477DD6F-8191-4390-B4DF-FA9A84E61F4F}" srcId="{876F12A8-3CBF-4C23-9511-B3BE912EE8A9}" destId="{77261A98-EA16-48DE-BDEC-862B033DFA44}" srcOrd="0" destOrd="0" parTransId="{4AE48503-4481-4041-AD0D-FB09D10A177D}" sibTransId="{F5E35242-EFA8-4231-BC41-3E8B48AEE665}"/>
    <dgm:cxn modelId="{A19CF324-B0C0-4246-A9FE-AB4F379D9EEB}" type="presOf" srcId="{EC2ECAB8-A85D-40C7-9117-2AA078A20F63}" destId="{E3E6BEB8-B08E-43CD-A3AF-F2B85C4580AD}" srcOrd="0" destOrd="0" presId="urn:microsoft.com/office/officeart/2005/8/layout/hList1"/>
    <dgm:cxn modelId="{DDA29D37-E8F9-42C3-B045-6EF36EA64061}" srcId="{D5C8C534-B55B-41EF-88DB-ED9C24EBB7FC}" destId="{5A047D2B-AE09-4A6A-B06B-F9BE7B733FC6}" srcOrd="3" destOrd="0" parTransId="{8B477AFB-3BB3-4E4F-A613-7C77A347B362}" sibTransId="{2A70620D-A631-4E94-958B-CBD6322152E7}"/>
    <dgm:cxn modelId="{E321A1EA-7C1D-4978-A407-EFCDAEE7A833}" type="presOf" srcId="{884C6235-9D16-4D95-BC42-131FB482992D}" destId="{2CE42794-9563-4A96-B9CC-520A06D6EE9D}" srcOrd="0" destOrd="2" presId="urn:microsoft.com/office/officeart/2005/8/layout/hList1"/>
    <dgm:cxn modelId="{4D274508-604A-499D-8411-F3C9D13C7910}" type="presOf" srcId="{5EA30DCB-652C-49B8-9D97-8AF54B4F7E80}" destId="{2CE42794-9563-4A96-B9CC-520A06D6EE9D}" srcOrd="0" destOrd="3" presId="urn:microsoft.com/office/officeart/2005/8/layout/hList1"/>
    <dgm:cxn modelId="{805D7B49-8B58-4BA2-842C-CD546ACFB6A2}" type="presOf" srcId="{63777967-36A7-42A3-AAA6-F67A82A84365}" destId="{2CE42794-9563-4A96-B9CC-520A06D6EE9D}" srcOrd="0" destOrd="4" presId="urn:microsoft.com/office/officeart/2005/8/layout/hList1"/>
    <dgm:cxn modelId="{CCFC8A1D-4904-4578-9990-AD5C59F9426C}" type="presOf" srcId="{ED3D8A5C-A004-4F25-9E95-105C5CBAC5B8}" destId="{AAB1147D-BCEB-4287-850D-0C28E16B7E63}" srcOrd="0" destOrd="4" presId="urn:microsoft.com/office/officeart/2005/8/layout/hList1"/>
    <dgm:cxn modelId="{A960D218-BB75-455A-95BF-012050E1AFB9}" srcId="{876F12A8-3CBF-4C23-9511-B3BE912EE8A9}" destId="{C896329D-659F-41D8-8428-23F35A3F2A7F}" srcOrd="2" destOrd="0" parTransId="{1095EFC7-C63D-462E-9409-7653C01AAA33}" sibTransId="{B35503A3-5959-4612-89F8-373578912E93}"/>
    <dgm:cxn modelId="{602EDA2D-BEF3-488E-ACA8-96578D965370}" type="presOf" srcId="{B51F8DC3-7A9F-4CF9-90CC-BC0B820F7B91}" destId="{882F28AC-AD1B-4E0E-AEA6-8989F5CE6A35}" srcOrd="0" destOrd="1" presId="urn:microsoft.com/office/officeart/2005/8/layout/hList1"/>
    <dgm:cxn modelId="{626AE93B-FB0B-4026-828C-7735E191EE04}" type="presOf" srcId="{876F12A8-3CBF-4C23-9511-B3BE912EE8A9}" destId="{8B58748B-2575-4D58-9FA0-9F6CA0DF6B78}" srcOrd="0" destOrd="0" presId="urn:microsoft.com/office/officeart/2005/8/layout/hList1"/>
    <dgm:cxn modelId="{59B3EA95-794A-41E4-AD77-16978C50CA9E}" srcId="{876F12A8-3CBF-4C23-9511-B3BE912EE8A9}" destId="{C47477C1-EBA0-4A69-9865-EEB1CC3C0A49}" srcOrd="1" destOrd="0" parTransId="{2DAF60AF-9674-4AD9-9AC9-067991921028}" sibTransId="{3208B049-162D-4726-BC74-C2FDF40ED359}"/>
    <dgm:cxn modelId="{E9D5655D-DCCA-44C8-8719-05C75BDD07BD}" type="presOf" srcId="{C47477C1-EBA0-4A69-9865-EEB1CC3C0A49}" destId="{AAB1147D-BCEB-4287-850D-0C28E16B7E63}" srcOrd="0" destOrd="1" presId="urn:microsoft.com/office/officeart/2005/8/layout/hList1"/>
    <dgm:cxn modelId="{CF06342C-923C-4B1A-A4EC-4D6001BB9FFD}" srcId="{EC2ECAB8-A85D-40C7-9117-2AA078A20F63}" destId="{284F0E1D-70AC-40E5-B58D-8B75F4E28080}" srcOrd="8" destOrd="0" parTransId="{31BA2C00-143D-4E09-82A4-A572C9C79C5A}" sibTransId="{4F7A961E-8DB8-4F44-8B4F-2E1AA56DD794}"/>
    <dgm:cxn modelId="{CF519EFD-A2DD-4B69-9F56-3F9C8F4E2CC2}" srcId="{5A047D2B-AE09-4A6A-B06B-F9BE7B733FC6}" destId="{6DCF312A-D696-446F-8AEF-7CC30783908B}" srcOrd="2" destOrd="0" parTransId="{3447F3BB-C176-403F-A440-AAA7B2132DFD}" sibTransId="{800753E0-C5D5-4C74-BD57-FDEE2C16A254}"/>
    <dgm:cxn modelId="{25D78AD7-111E-45EA-B17E-5767226B1533}" srcId="{5A047D2B-AE09-4A6A-B06B-F9BE7B733FC6}" destId="{13C8241D-30EB-4DA5-91CE-6455887CB532}" srcOrd="3" destOrd="0" parTransId="{1D178F00-0239-4F3A-B7E9-B16BC7D40770}" sibTransId="{FF284607-31F0-407C-BDD3-060E3A6EF9D4}"/>
    <dgm:cxn modelId="{BED7BF21-ACA6-4293-AADD-80EA1F36979B}" type="presOf" srcId="{B388BF5D-1F28-4429-9317-BEF154AD918C}" destId="{AAB1147D-BCEB-4287-850D-0C28E16B7E63}" srcOrd="0" destOrd="7" presId="urn:microsoft.com/office/officeart/2005/8/layout/hList1"/>
    <dgm:cxn modelId="{558D6982-3136-43B9-B184-56E7146CE86D}" srcId="{EC2ECAB8-A85D-40C7-9117-2AA078A20F63}" destId="{63777967-36A7-42A3-AAA6-F67A82A84365}" srcOrd="4" destOrd="0" parTransId="{F3267288-52D4-4232-8EDE-0C06A198065D}" sibTransId="{F21EB987-DD12-4AE4-A891-7E0A1B3B9F7C}"/>
    <dgm:cxn modelId="{E7C37E4C-54D2-4BC9-B239-CAD8181BEBE4}" srcId="{5A047D2B-AE09-4A6A-B06B-F9BE7B733FC6}" destId="{582737C7-A23B-4BCF-8152-3B1924EDA793}" srcOrd="5" destOrd="0" parTransId="{37F03128-A80E-4CE0-BC23-6DF7CB8A11D8}" sibTransId="{FD69B635-10E7-462F-9558-02A0E5739F4C}"/>
    <dgm:cxn modelId="{FF78965E-BDB8-46BC-B09C-64C5ACDCFEB9}" type="presOf" srcId="{DFACE991-8E53-485A-907C-1EFB2848046C}" destId="{8901B344-4CDE-44D5-B022-7E0CE2C33BF0}" srcOrd="0" destOrd="0" presId="urn:microsoft.com/office/officeart/2005/8/layout/hList1"/>
    <dgm:cxn modelId="{D0A56A45-20F2-4BCA-BD5A-BA373B2638CC}" srcId="{EC2ECAB8-A85D-40C7-9117-2AA078A20F63}" destId="{884C6235-9D16-4D95-BC42-131FB482992D}" srcOrd="2" destOrd="0" parTransId="{0481730D-A61F-4DA9-9627-6BC82C4B148D}" sibTransId="{555AD147-BAC6-43BB-90DD-1130ABA39199}"/>
    <dgm:cxn modelId="{4F6435E0-5C81-46E3-9563-3DE58FF598C2}" type="presOf" srcId="{0C5135B2-B7D9-4A56-B321-EACBE96AD852}" destId="{AAB1147D-BCEB-4287-850D-0C28E16B7E63}" srcOrd="0" destOrd="5" presId="urn:microsoft.com/office/officeart/2005/8/layout/hList1"/>
    <dgm:cxn modelId="{0F5A5CD2-082A-4B15-BB42-145F9D85BB6B}" type="presOf" srcId="{5DCF5F03-40E3-4DF7-8D0C-5B2AC04E9710}" destId="{8901B344-4CDE-44D5-B022-7E0CE2C33BF0}" srcOrd="0" destOrd="2" presId="urn:microsoft.com/office/officeart/2005/8/layout/hList1"/>
    <dgm:cxn modelId="{B427F323-EEE2-4C55-A93E-630BEF4D4493}" type="presParOf" srcId="{3B2B6EC3-FAFC-4F27-AF22-3209ABD0D639}" destId="{D92851F3-0C0F-489F-A254-A6812400DD0A}" srcOrd="0" destOrd="0" presId="urn:microsoft.com/office/officeart/2005/8/layout/hList1"/>
    <dgm:cxn modelId="{F9ACB2AA-9D6D-4014-9A42-E4181B14038D}" type="presParOf" srcId="{D92851F3-0C0F-489F-A254-A6812400DD0A}" destId="{8B58748B-2575-4D58-9FA0-9F6CA0DF6B78}" srcOrd="0" destOrd="0" presId="urn:microsoft.com/office/officeart/2005/8/layout/hList1"/>
    <dgm:cxn modelId="{462728DB-DF08-4267-9FDB-CFF50903FF02}" type="presParOf" srcId="{D92851F3-0C0F-489F-A254-A6812400DD0A}" destId="{AAB1147D-BCEB-4287-850D-0C28E16B7E63}" srcOrd="1" destOrd="0" presId="urn:microsoft.com/office/officeart/2005/8/layout/hList1"/>
    <dgm:cxn modelId="{AC68BC8A-8211-4C45-B57C-F59074753BA9}" type="presParOf" srcId="{3B2B6EC3-FAFC-4F27-AF22-3209ABD0D639}" destId="{4F0A595E-783C-4E50-8B40-09F25FB93E7C}" srcOrd="1" destOrd="0" presId="urn:microsoft.com/office/officeart/2005/8/layout/hList1"/>
    <dgm:cxn modelId="{254A4D5E-908F-4896-B9FB-8813D5FCF5AF}" type="presParOf" srcId="{3B2B6EC3-FAFC-4F27-AF22-3209ABD0D639}" destId="{D92EDD19-9446-4D94-8EDB-D131762C721A}" srcOrd="2" destOrd="0" presId="urn:microsoft.com/office/officeart/2005/8/layout/hList1"/>
    <dgm:cxn modelId="{9B5B1E56-22D2-4258-B683-60B410506F7D}" type="presParOf" srcId="{D92EDD19-9446-4D94-8EDB-D131762C721A}" destId="{20330B3A-115A-4449-BBD2-F1DF7DA08C27}" srcOrd="0" destOrd="0" presId="urn:microsoft.com/office/officeart/2005/8/layout/hList1"/>
    <dgm:cxn modelId="{003E2275-6D1F-494D-982E-DB80CC260117}" type="presParOf" srcId="{D92EDD19-9446-4D94-8EDB-D131762C721A}" destId="{8901B344-4CDE-44D5-B022-7E0CE2C33BF0}" srcOrd="1" destOrd="0" presId="urn:microsoft.com/office/officeart/2005/8/layout/hList1"/>
    <dgm:cxn modelId="{777783F6-EF71-4689-82B4-A269D48B676C}" type="presParOf" srcId="{3B2B6EC3-FAFC-4F27-AF22-3209ABD0D639}" destId="{1849843C-4BCF-4CA2-9DF2-6782D020EB95}" srcOrd="3" destOrd="0" presId="urn:microsoft.com/office/officeart/2005/8/layout/hList1"/>
    <dgm:cxn modelId="{E844BF13-348D-4C8A-B8CF-27B144657689}" type="presParOf" srcId="{3B2B6EC3-FAFC-4F27-AF22-3209ABD0D639}" destId="{339E4B24-AAC5-4F06-B52E-2DF3F454F8CD}" srcOrd="4" destOrd="0" presId="urn:microsoft.com/office/officeart/2005/8/layout/hList1"/>
    <dgm:cxn modelId="{939EA371-BC4F-4B28-938E-981DC0A78FB6}" type="presParOf" srcId="{339E4B24-AAC5-4F06-B52E-2DF3F454F8CD}" destId="{E3E6BEB8-B08E-43CD-A3AF-F2B85C4580AD}" srcOrd="0" destOrd="0" presId="urn:microsoft.com/office/officeart/2005/8/layout/hList1"/>
    <dgm:cxn modelId="{5EAAF3AA-407F-4662-A8A5-11240553D1B2}" type="presParOf" srcId="{339E4B24-AAC5-4F06-B52E-2DF3F454F8CD}" destId="{2CE42794-9563-4A96-B9CC-520A06D6EE9D}" srcOrd="1" destOrd="0" presId="urn:microsoft.com/office/officeart/2005/8/layout/hList1"/>
    <dgm:cxn modelId="{F8C09432-241E-4E84-9E22-364D1D101C40}" type="presParOf" srcId="{3B2B6EC3-FAFC-4F27-AF22-3209ABD0D639}" destId="{B11BD261-271F-4274-A770-76A44AED9CB3}" srcOrd="5" destOrd="0" presId="urn:microsoft.com/office/officeart/2005/8/layout/hList1"/>
    <dgm:cxn modelId="{3ED4205B-8240-4D9B-ABBC-570AAE3273E8}" type="presParOf" srcId="{3B2B6EC3-FAFC-4F27-AF22-3209ABD0D639}" destId="{9FBE3C72-DB3A-46C6-B2EE-4B94FAA24B04}" srcOrd="6" destOrd="0" presId="urn:microsoft.com/office/officeart/2005/8/layout/hList1"/>
    <dgm:cxn modelId="{A53B2284-85A1-4CA5-ACF9-A24118A33D14}" type="presParOf" srcId="{9FBE3C72-DB3A-46C6-B2EE-4B94FAA24B04}" destId="{016C0C30-52FC-4CA5-B7B1-35861449347E}" srcOrd="0" destOrd="0" presId="urn:microsoft.com/office/officeart/2005/8/layout/hList1"/>
    <dgm:cxn modelId="{D9A46B5E-75E1-44CA-9479-6FFB694F7E5B}" type="presParOf" srcId="{9FBE3C72-DB3A-46C6-B2EE-4B94FAA24B04}" destId="{882F28AC-AD1B-4E0E-AEA6-8989F5CE6A35}"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58748B-2575-4D58-9FA0-9F6CA0DF6B78}">
      <dsp:nvSpPr>
        <dsp:cNvPr id="0" name=""/>
        <dsp:cNvSpPr/>
      </dsp:nvSpPr>
      <dsp:spPr>
        <a:xfrm>
          <a:off x="3094" y="15794"/>
          <a:ext cx="1860500" cy="720000"/>
        </a:xfrm>
        <a:prstGeom prst="rect">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lvl="0" algn="ctr" defTabSz="488950" rtl="0">
            <a:lnSpc>
              <a:spcPct val="90000"/>
            </a:lnSpc>
            <a:spcBef>
              <a:spcPct val="0"/>
            </a:spcBef>
            <a:spcAft>
              <a:spcPct val="35000"/>
            </a:spcAft>
          </a:pPr>
          <a:r>
            <a:rPr lang="fi-FI" sz="1100" b="1" kern="1200" dirty="0" smtClean="0"/>
            <a:t>Hyväksymistestauksen rooli ja merkitys</a:t>
          </a:r>
          <a:endParaRPr lang="fi-FI" sz="1100" b="1" kern="1200" dirty="0"/>
        </a:p>
      </dsp:txBody>
      <dsp:txXfrm>
        <a:off x="3094" y="15794"/>
        <a:ext cx="1860500" cy="720000"/>
      </dsp:txXfrm>
    </dsp:sp>
    <dsp:sp modelId="{AAB1147D-BCEB-4287-850D-0C28E16B7E63}">
      <dsp:nvSpPr>
        <dsp:cNvPr id="0" name=""/>
        <dsp:cNvSpPr/>
      </dsp:nvSpPr>
      <dsp:spPr>
        <a:xfrm>
          <a:off x="3094" y="735794"/>
          <a:ext cx="1860500" cy="3774375"/>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66725" rtl="0">
            <a:lnSpc>
              <a:spcPct val="90000"/>
            </a:lnSpc>
            <a:spcBef>
              <a:spcPct val="0"/>
            </a:spcBef>
            <a:spcAft>
              <a:spcPct val="15000"/>
            </a:spcAft>
            <a:buChar char="••"/>
          </a:pPr>
          <a:r>
            <a:rPr lang="fi-FI" sz="1050" kern="1200" dirty="0" smtClean="0"/>
            <a:t>Testaus järjestelmän tilaajalle ja omistajalle</a:t>
          </a:r>
          <a:endParaRPr lang="fi-FI" sz="1050" kern="1200" dirty="0"/>
        </a:p>
        <a:p>
          <a:pPr marL="57150" lvl="1" indent="-57150" algn="l" defTabSz="466725" rtl="0">
            <a:lnSpc>
              <a:spcPct val="90000"/>
            </a:lnSpc>
            <a:spcBef>
              <a:spcPct val="0"/>
            </a:spcBef>
            <a:spcAft>
              <a:spcPct val="15000"/>
            </a:spcAft>
            <a:buChar char="••"/>
          </a:pPr>
          <a:r>
            <a:rPr lang="fi-FI" sz="1050" kern="1200" dirty="0" smtClean="0"/>
            <a:t>Monitoimittajaympäristön erityispiirteet hyväksymistestaukselle</a:t>
          </a:r>
          <a:endParaRPr lang="fi-FI" sz="1050" kern="1200" dirty="0"/>
        </a:p>
        <a:p>
          <a:pPr marL="57150" lvl="1" indent="-57150" algn="l" defTabSz="466725" rtl="0">
            <a:lnSpc>
              <a:spcPct val="90000"/>
            </a:lnSpc>
            <a:spcBef>
              <a:spcPct val="0"/>
            </a:spcBef>
            <a:spcAft>
              <a:spcPct val="15000"/>
            </a:spcAft>
            <a:buChar char="••"/>
          </a:pPr>
          <a:r>
            <a:rPr lang="fi-FI" sz="1050" kern="1200" dirty="0" smtClean="0"/>
            <a:t>Laatutiedon rakentaminen palasille ja kokonaisuudelle</a:t>
          </a:r>
          <a:endParaRPr lang="fi-FI" sz="1050" kern="1200" dirty="0"/>
        </a:p>
        <a:p>
          <a:pPr marL="57150" lvl="1" indent="-57150" algn="l" defTabSz="466725" rtl="0">
            <a:lnSpc>
              <a:spcPct val="90000"/>
            </a:lnSpc>
            <a:spcBef>
              <a:spcPct val="0"/>
            </a:spcBef>
            <a:spcAft>
              <a:spcPct val="15000"/>
            </a:spcAft>
            <a:buChar char="••"/>
          </a:pPr>
          <a:r>
            <a:rPr lang="fi-FI" sz="1050" kern="1200" dirty="0" smtClean="0"/>
            <a:t>Laadun monet näkökulmat: toiminnallinen ja ei-toiminnallinen testaus; näkyvä toimituslaatu sekä jatkokehityksen helppous</a:t>
          </a:r>
          <a:endParaRPr lang="fi-FI" sz="1050" kern="1200" dirty="0"/>
        </a:p>
        <a:p>
          <a:pPr marL="57150" lvl="1" indent="-57150" algn="l" defTabSz="466725" rtl="0">
            <a:lnSpc>
              <a:spcPct val="90000"/>
            </a:lnSpc>
            <a:spcBef>
              <a:spcPct val="0"/>
            </a:spcBef>
            <a:spcAft>
              <a:spcPct val="15000"/>
            </a:spcAft>
            <a:buChar char="••"/>
          </a:pPr>
          <a:r>
            <a:rPr lang="fi-FI" sz="1050" kern="1200" dirty="0" smtClean="0"/>
            <a:t>Dokumentaation katselmointien rooli hyväksymistestauksessa</a:t>
          </a:r>
          <a:endParaRPr lang="fi-FI" sz="1050" kern="1200" dirty="0"/>
        </a:p>
        <a:p>
          <a:pPr marL="57150" lvl="1" indent="-57150" algn="l" defTabSz="466725" rtl="0">
            <a:lnSpc>
              <a:spcPct val="90000"/>
            </a:lnSpc>
            <a:spcBef>
              <a:spcPct val="0"/>
            </a:spcBef>
            <a:spcAft>
              <a:spcPct val="15000"/>
            </a:spcAft>
            <a:buChar char="••"/>
          </a:pPr>
          <a:r>
            <a:rPr lang="fi-FI" sz="1050" kern="1200" dirty="0" smtClean="0"/>
            <a:t>Hyväksymistestauksen suhde muuhun testaukseen: tilaajan ja toimittajan työnjako</a:t>
          </a:r>
          <a:endParaRPr lang="fi-FI" sz="1050" kern="1200" dirty="0"/>
        </a:p>
        <a:p>
          <a:pPr marL="57150" lvl="1" indent="-57150" algn="l" defTabSz="466725" rtl="0">
            <a:lnSpc>
              <a:spcPct val="90000"/>
            </a:lnSpc>
            <a:spcBef>
              <a:spcPct val="0"/>
            </a:spcBef>
            <a:spcAft>
              <a:spcPct val="15000"/>
            </a:spcAft>
            <a:buChar char="••"/>
          </a:pPr>
          <a:r>
            <a:rPr lang="fi-FI" sz="1050" kern="1200" dirty="0" smtClean="0"/>
            <a:t>Hyväksymistestauksen erot laskunmaksuun ja tuotantoonsiirtoon liittyen</a:t>
          </a:r>
          <a:endParaRPr lang="fi-FI" sz="1050" kern="1200" dirty="0"/>
        </a:p>
        <a:p>
          <a:pPr marL="57150" lvl="1" indent="-57150" algn="l" defTabSz="466725" rtl="0">
            <a:lnSpc>
              <a:spcPct val="90000"/>
            </a:lnSpc>
            <a:spcBef>
              <a:spcPct val="0"/>
            </a:spcBef>
            <a:spcAft>
              <a:spcPct val="15000"/>
            </a:spcAft>
            <a:buChar char="••"/>
          </a:pPr>
          <a:r>
            <a:rPr lang="fi-FI" sz="1050" kern="1200" dirty="0" smtClean="0"/>
            <a:t>Hyväksymistestauksen erilainen merkitys ketterissä menetelmissä</a:t>
          </a:r>
          <a:endParaRPr lang="fi-FI" sz="1050" kern="1200" dirty="0"/>
        </a:p>
      </dsp:txBody>
      <dsp:txXfrm>
        <a:off x="3094" y="735794"/>
        <a:ext cx="1860500" cy="3774375"/>
      </dsp:txXfrm>
    </dsp:sp>
    <dsp:sp modelId="{20330B3A-115A-4449-BBD2-F1DF7DA08C27}">
      <dsp:nvSpPr>
        <dsp:cNvPr id="0" name=""/>
        <dsp:cNvSpPr/>
      </dsp:nvSpPr>
      <dsp:spPr>
        <a:xfrm>
          <a:off x="2124064" y="15794"/>
          <a:ext cx="1860500" cy="720000"/>
        </a:xfrm>
        <a:prstGeom prst="rect">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lvl="0" algn="ctr" defTabSz="488950" rtl="0">
            <a:lnSpc>
              <a:spcPct val="90000"/>
            </a:lnSpc>
            <a:spcBef>
              <a:spcPct val="0"/>
            </a:spcBef>
            <a:spcAft>
              <a:spcPct val="35000"/>
            </a:spcAft>
          </a:pPr>
          <a:r>
            <a:rPr lang="fi-FI" sz="1100" b="1" kern="1200" dirty="0" smtClean="0"/>
            <a:t>Onnistuneen hyväksymistestauksen edellytykset</a:t>
          </a:r>
          <a:endParaRPr lang="fi-FI" sz="1100" b="1" kern="1200" dirty="0"/>
        </a:p>
      </dsp:txBody>
      <dsp:txXfrm>
        <a:off x="2124064" y="15794"/>
        <a:ext cx="1860500" cy="720000"/>
      </dsp:txXfrm>
    </dsp:sp>
    <dsp:sp modelId="{8901B344-4CDE-44D5-B022-7E0CE2C33BF0}">
      <dsp:nvSpPr>
        <dsp:cNvPr id="0" name=""/>
        <dsp:cNvSpPr/>
      </dsp:nvSpPr>
      <dsp:spPr>
        <a:xfrm>
          <a:off x="2114538" y="732246"/>
          <a:ext cx="1860500" cy="3774375"/>
        </a:xfrm>
        <a:prstGeom prst="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88950" rtl="0">
            <a:lnSpc>
              <a:spcPct val="90000"/>
            </a:lnSpc>
            <a:spcBef>
              <a:spcPct val="0"/>
            </a:spcBef>
            <a:spcAft>
              <a:spcPct val="15000"/>
            </a:spcAft>
            <a:buChar char="••"/>
          </a:pPr>
          <a:r>
            <a:rPr lang="fi-FI" sz="1100" b="0" kern="1200" dirty="0" smtClean="0"/>
            <a:t>Toimituskokonaisuuksien määrittely ja projektointi</a:t>
          </a:r>
          <a:endParaRPr lang="fi-FI" sz="1100" b="0" kern="1200" dirty="0"/>
        </a:p>
        <a:p>
          <a:pPr marL="57150" lvl="1" indent="-57150" algn="l" defTabSz="488950" rtl="0">
            <a:lnSpc>
              <a:spcPct val="90000"/>
            </a:lnSpc>
            <a:spcBef>
              <a:spcPct val="0"/>
            </a:spcBef>
            <a:spcAft>
              <a:spcPct val="15000"/>
            </a:spcAft>
            <a:buChar char="••"/>
          </a:pPr>
          <a:r>
            <a:rPr lang="fi-FI" sz="1100" b="0" kern="1200" dirty="0" smtClean="0"/>
            <a:t>Toimittajan valinta ja sopimukset</a:t>
          </a:r>
          <a:endParaRPr lang="fi-FI" sz="1100" b="0" kern="1200" dirty="0"/>
        </a:p>
        <a:p>
          <a:pPr marL="57150" lvl="1" indent="-57150" algn="l" defTabSz="488950" rtl="0">
            <a:lnSpc>
              <a:spcPct val="90000"/>
            </a:lnSpc>
            <a:spcBef>
              <a:spcPct val="0"/>
            </a:spcBef>
            <a:spcAft>
              <a:spcPct val="15000"/>
            </a:spcAft>
            <a:buChar char="••"/>
          </a:pPr>
          <a:r>
            <a:rPr lang="fi-FI" sz="1100" b="0" kern="1200" dirty="0" smtClean="0"/>
            <a:t>Vaatimusten ja odotusten hallinta</a:t>
          </a:r>
          <a:endParaRPr lang="fi-FI" sz="1100" b="0" kern="1200" dirty="0"/>
        </a:p>
        <a:p>
          <a:pPr marL="57150" lvl="1" indent="-57150" algn="l" defTabSz="488950" rtl="0">
            <a:lnSpc>
              <a:spcPct val="90000"/>
            </a:lnSpc>
            <a:spcBef>
              <a:spcPct val="0"/>
            </a:spcBef>
            <a:spcAft>
              <a:spcPct val="15000"/>
            </a:spcAft>
            <a:buChar char="••"/>
          </a:pPr>
          <a:r>
            <a:rPr lang="fi-FI" sz="1100" b="0" kern="1200" dirty="0" smtClean="0"/>
            <a:t>Toimittajayhteistyö</a:t>
          </a:r>
          <a:endParaRPr lang="fi-FI" sz="1100" b="0" kern="1200" dirty="0"/>
        </a:p>
        <a:p>
          <a:pPr marL="57150" lvl="1" indent="-57150" algn="l" defTabSz="488950" rtl="0">
            <a:lnSpc>
              <a:spcPct val="90000"/>
            </a:lnSpc>
            <a:spcBef>
              <a:spcPct val="0"/>
            </a:spcBef>
            <a:spcAft>
              <a:spcPct val="15000"/>
            </a:spcAft>
            <a:buChar char="••"/>
          </a:pPr>
          <a:r>
            <a:rPr lang="fi-FI" sz="1100" b="0" kern="1200" dirty="0" smtClean="0"/>
            <a:t>Kokonaisjärjestelmän ja osajärjestelmien tunnistaminen</a:t>
          </a:r>
          <a:endParaRPr lang="fi-FI" sz="1100" b="0" kern="1200" dirty="0"/>
        </a:p>
      </dsp:txBody>
      <dsp:txXfrm>
        <a:off x="2114538" y="732246"/>
        <a:ext cx="1860500" cy="3774375"/>
      </dsp:txXfrm>
    </dsp:sp>
    <dsp:sp modelId="{E3E6BEB8-B08E-43CD-A3AF-F2B85C4580AD}">
      <dsp:nvSpPr>
        <dsp:cNvPr id="0" name=""/>
        <dsp:cNvSpPr/>
      </dsp:nvSpPr>
      <dsp:spPr>
        <a:xfrm>
          <a:off x="4245035" y="15794"/>
          <a:ext cx="1860500" cy="720000"/>
        </a:xfrm>
        <a:prstGeom prst="rect">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lvl="0" algn="ctr" defTabSz="488950" rtl="0">
            <a:lnSpc>
              <a:spcPct val="90000"/>
            </a:lnSpc>
            <a:spcBef>
              <a:spcPct val="0"/>
            </a:spcBef>
            <a:spcAft>
              <a:spcPct val="35000"/>
            </a:spcAft>
          </a:pPr>
          <a:r>
            <a:rPr lang="fi-FI" sz="1100" b="1" kern="1200" dirty="0" smtClean="0"/>
            <a:t>Hyväksymistestauksen organisointi ja puitteet</a:t>
          </a:r>
          <a:endParaRPr lang="fi-FI" sz="1100" b="1" kern="1200" dirty="0"/>
        </a:p>
      </dsp:txBody>
      <dsp:txXfrm>
        <a:off x="4245035" y="15794"/>
        <a:ext cx="1860500" cy="720000"/>
      </dsp:txXfrm>
    </dsp:sp>
    <dsp:sp modelId="{2CE42794-9563-4A96-B9CC-520A06D6EE9D}">
      <dsp:nvSpPr>
        <dsp:cNvPr id="0" name=""/>
        <dsp:cNvSpPr/>
      </dsp:nvSpPr>
      <dsp:spPr>
        <a:xfrm>
          <a:off x="4245035" y="735794"/>
          <a:ext cx="1860500" cy="3774375"/>
        </a:xfrm>
        <a:prstGeom prst="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66725">
            <a:lnSpc>
              <a:spcPct val="90000"/>
            </a:lnSpc>
            <a:spcBef>
              <a:spcPct val="0"/>
            </a:spcBef>
            <a:spcAft>
              <a:spcPct val="15000"/>
            </a:spcAft>
            <a:buChar char="••"/>
          </a:pPr>
          <a:r>
            <a:rPr lang="fi-FI" sz="1050" kern="1200" dirty="0" smtClean="0"/>
            <a:t>Testausprosessi suunnittelusta läpivientiin</a:t>
          </a:r>
          <a:endParaRPr lang="fi-FI" sz="1050" kern="1200" dirty="0"/>
        </a:p>
        <a:p>
          <a:pPr marL="57150" lvl="1" indent="-57150" algn="l" defTabSz="466725">
            <a:lnSpc>
              <a:spcPct val="90000"/>
            </a:lnSpc>
            <a:spcBef>
              <a:spcPct val="0"/>
            </a:spcBef>
            <a:spcAft>
              <a:spcPct val="15000"/>
            </a:spcAft>
            <a:buChar char="••"/>
          </a:pPr>
          <a:r>
            <a:rPr lang="fi-FI" sz="1050" kern="1200" dirty="0" smtClean="0"/>
            <a:t>Toimittajan testauksien tarkastelu osana hyväksymistestausta</a:t>
          </a:r>
          <a:endParaRPr lang="fi-FI" sz="1050" kern="1200" dirty="0"/>
        </a:p>
        <a:p>
          <a:pPr marL="57150" lvl="1" indent="-57150" algn="l" defTabSz="466725">
            <a:lnSpc>
              <a:spcPct val="90000"/>
            </a:lnSpc>
            <a:spcBef>
              <a:spcPct val="0"/>
            </a:spcBef>
            <a:spcAft>
              <a:spcPct val="15000"/>
            </a:spcAft>
            <a:buChar char="••"/>
          </a:pPr>
          <a:r>
            <a:rPr lang="fi-FI" sz="1050" kern="1200" dirty="0" smtClean="0"/>
            <a:t>Ohjelmistokehityksen luonne, jatkuva muutos ja testauksen toistotarve</a:t>
          </a:r>
          <a:endParaRPr lang="fi-FI" sz="1050" kern="1200" dirty="0"/>
        </a:p>
        <a:p>
          <a:pPr marL="57150" lvl="1" indent="-57150" algn="l" defTabSz="466725">
            <a:lnSpc>
              <a:spcPct val="90000"/>
            </a:lnSpc>
            <a:spcBef>
              <a:spcPct val="0"/>
            </a:spcBef>
            <a:spcAft>
              <a:spcPct val="15000"/>
            </a:spcAft>
            <a:buChar char="••"/>
          </a:pPr>
          <a:r>
            <a:rPr lang="fi-FI" sz="1050" kern="1200" dirty="0" smtClean="0"/>
            <a:t>Testauksen työmäärät ja tehokkuus tuloksina ja kustannuksina</a:t>
          </a:r>
          <a:endParaRPr lang="fi-FI" sz="1050" kern="1200" dirty="0"/>
        </a:p>
        <a:p>
          <a:pPr marL="57150" lvl="1" indent="-57150" algn="l" defTabSz="466725">
            <a:lnSpc>
              <a:spcPct val="90000"/>
            </a:lnSpc>
            <a:spcBef>
              <a:spcPct val="0"/>
            </a:spcBef>
            <a:spcAft>
              <a:spcPct val="15000"/>
            </a:spcAft>
            <a:buChar char="••"/>
          </a:pPr>
          <a:r>
            <a:rPr lang="fi-FI" sz="1050" kern="1200" dirty="0" smtClean="0"/>
            <a:t>Riskiohjattu testaus: rajallisen työmäärän kohdistaminen</a:t>
          </a:r>
          <a:endParaRPr lang="fi-FI" sz="1050" kern="1200" dirty="0"/>
        </a:p>
        <a:p>
          <a:pPr marL="57150" lvl="1" indent="-57150" algn="l" defTabSz="466725">
            <a:lnSpc>
              <a:spcPct val="90000"/>
            </a:lnSpc>
            <a:spcBef>
              <a:spcPct val="0"/>
            </a:spcBef>
            <a:spcAft>
              <a:spcPct val="15000"/>
            </a:spcAft>
            <a:buChar char="••"/>
          </a:pPr>
          <a:r>
            <a:rPr lang="fi-FI" sz="1050" kern="1200" dirty="0" smtClean="0"/>
            <a:t>Havaintokirjausten käsittely ja muutoksista sopiminen</a:t>
          </a:r>
          <a:endParaRPr lang="fi-FI" sz="1050" kern="1200" dirty="0"/>
        </a:p>
        <a:p>
          <a:pPr marL="57150" lvl="1" indent="-57150" algn="l" defTabSz="466725">
            <a:lnSpc>
              <a:spcPct val="90000"/>
            </a:lnSpc>
            <a:spcBef>
              <a:spcPct val="0"/>
            </a:spcBef>
            <a:spcAft>
              <a:spcPct val="15000"/>
            </a:spcAft>
            <a:buChar char="••"/>
          </a:pPr>
          <a:r>
            <a:rPr lang="fi-FI" sz="1050" kern="1200" dirty="0" smtClean="0"/>
            <a:t>Testausympäristöt, testitapaukset ja testiaineisto</a:t>
          </a:r>
          <a:endParaRPr lang="fi-FI" sz="1050" kern="1200" dirty="0"/>
        </a:p>
        <a:p>
          <a:pPr marL="57150" lvl="1" indent="-57150" algn="l" defTabSz="466725">
            <a:lnSpc>
              <a:spcPct val="90000"/>
            </a:lnSpc>
            <a:spcBef>
              <a:spcPct val="0"/>
            </a:spcBef>
            <a:spcAft>
              <a:spcPct val="15000"/>
            </a:spcAft>
            <a:buChar char="••"/>
          </a:pPr>
          <a:r>
            <a:rPr lang="fi-FI" sz="1050" kern="1200" dirty="0" smtClean="0"/>
            <a:t>Testauksen hallinta, seuranta ja mittarit</a:t>
          </a:r>
          <a:endParaRPr lang="fi-FI" sz="1050" kern="1200" dirty="0"/>
        </a:p>
        <a:p>
          <a:pPr marL="57150" lvl="1" indent="-57150" algn="l" defTabSz="466725">
            <a:lnSpc>
              <a:spcPct val="90000"/>
            </a:lnSpc>
            <a:spcBef>
              <a:spcPct val="0"/>
            </a:spcBef>
            <a:spcAft>
              <a:spcPct val="15000"/>
            </a:spcAft>
            <a:buChar char="••"/>
          </a:pPr>
          <a:r>
            <a:rPr lang="fi-FI" sz="1050" kern="1200" dirty="0" smtClean="0"/>
            <a:t>Toistuva hyväksymistestaus ylläpitoluonteiselle kehitystyölle</a:t>
          </a:r>
        </a:p>
      </dsp:txBody>
      <dsp:txXfrm>
        <a:off x="4245035" y="735794"/>
        <a:ext cx="1860500" cy="3774375"/>
      </dsp:txXfrm>
    </dsp:sp>
    <dsp:sp modelId="{016C0C30-52FC-4CA5-B7B1-35861449347E}">
      <dsp:nvSpPr>
        <dsp:cNvPr id="0" name=""/>
        <dsp:cNvSpPr/>
      </dsp:nvSpPr>
      <dsp:spPr>
        <a:xfrm>
          <a:off x="6366005" y="15794"/>
          <a:ext cx="1860500" cy="720000"/>
        </a:xfrm>
        <a:prstGeom prst="rect">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lvl="0" algn="ctr" defTabSz="488950">
            <a:lnSpc>
              <a:spcPct val="90000"/>
            </a:lnSpc>
            <a:spcBef>
              <a:spcPct val="0"/>
            </a:spcBef>
            <a:spcAft>
              <a:spcPct val="35000"/>
            </a:spcAft>
          </a:pPr>
          <a:r>
            <a:rPr lang="fi-FI" sz="1100" b="1" kern="1200" dirty="0" smtClean="0"/>
            <a:t>Testaus vaatimuksia ja odotuksia vastaan</a:t>
          </a:r>
          <a:endParaRPr lang="fi-FI" sz="1100" b="1" kern="1200" dirty="0"/>
        </a:p>
      </dsp:txBody>
      <dsp:txXfrm>
        <a:off x="6366005" y="15794"/>
        <a:ext cx="1860500" cy="720000"/>
      </dsp:txXfrm>
    </dsp:sp>
    <dsp:sp modelId="{882F28AC-AD1B-4E0E-AEA6-8989F5CE6A35}">
      <dsp:nvSpPr>
        <dsp:cNvPr id="0" name=""/>
        <dsp:cNvSpPr/>
      </dsp:nvSpPr>
      <dsp:spPr>
        <a:xfrm>
          <a:off x="6366005" y="735794"/>
          <a:ext cx="1860500" cy="3774375"/>
        </a:xfrm>
        <a:prstGeom prst="rect">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66725">
            <a:lnSpc>
              <a:spcPct val="90000"/>
            </a:lnSpc>
            <a:spcBef>
              <a:spcPct val="0"/>
            </a:spcBef>
            <a:spcAft>
              <a:spcPct val="15000"/>
            </a:spcAft>
            <a:buChar char="••"/>
          </a:pPr>
          <a:r>
            <a:rPr lang="fi-FI" sz="1050" kern="1200" dirty="0" smtClean="0"/>
            <a:t>Sovellusalueosaamisen ja liiketoimintaprosessin osaamisen käyttö hyväksymistestauksessa</a:t>
          </a:r>
          <a:endParaRPr lang="fi-FI" sz="1050" kern="1200" dirty="0"/>
        </a:p>
        <a:p>
          <a:pPr marL="57150" lvl="1" indent="-57150" algn="l" defTabSz="466725">
            <a:lnSpc>
              <a:spcPct val="90000"/>
            </a:lnSpc>
            <a:spcBef>
              <a:spcPct val="0"/>
            </a:spcBef>
            <a:spcAft>
              <a:spcPct val="15000"/>
            </a:spcAft>
            <a:buChar char="••"/>
          </a:pPr>
          <a:r>
            <a:rPr lang="fi-FI" sz="1050" kern="1200" dirty="0" smtClean="0"/>
            <a:t>Vaatimusten järjestelmällinen läpikäynti</a:t>
          </a:r>
          <a:endParaRPr lang="fi-FI" sz="1050" kern="1200" dirty="0"/>
        </a:p>
        <a:p>
          <a:pPr marL="57150" lvl="1" indent="-57150" algn="l" defTabSz="466725">
            <a:lnSpc>
              <a:spcPct val="90000"/>
            </a:lnSpc>
            <a:spcBef>
              <a:spcPct val="0"/>
            </a:spcBef>
            <a:spcAft>
              <a:spcPct val="15000"/>
            </a:spcAft>
            <a:buChar char="••"/>
          </a:pPr>
          <a:r>
            <a:rPr lang="fi-FI" sz="1050" kern="1200" dirty="0" smtClean="0"/>
            <a:t>Testitapausten merkitys hyväksymistestaukselle</a:t>
          </a:r>
          <a:endParaRPr lang="fi-FI" sz="1050" kern="1200" dirty="0"/>
        </a:p>
        <a:p>
          <a:pPr marL="57150" lvl="1" indent="-57150" algn="l" defTabSz="466725">
            <a:lnSpc>
              <a:spcPct val="90000"/>
            </a:lnSpc>
            <a:spcBef>
              <a:spcPct val="0"/>
            </a:spcBef>
            <a:spcAft>
              <a:spcPct val="15000"/>
            </a:spcAft>
            <a:buChar char="••"/>
          </a:pPr>
          <a:r>
            <a:rPr lang="fi-FI" sz="1050" kern="1200" dirty="0" smtClean="0"/>
            <a:t>Hyväksymistestausta tukevat testitapaukset</a:t>
          </a:r>
          <a:endParaRPr lang="fi-FI" sz="1050" kern="1200" dirty="0"/>
        </a:p>
        <a:p>
          <a:pPr marL="57150" lvl="1" indent="-57150" algn="l" defTabSz="466725">
            <a:lnSpc>
              <a:spcPct val="90000"/>
            </a:lnSpc>
            <a:spcBef>
              <a:spcPct val="0"/>
            </a:spcBef>
            <a:spcAft>
              <a:spcPct val="15000"/>
            </a:spcAft>
            <a:buChar char="••"/>
          </a:pPr>
          <a:r>
            <a:rPr lang="fi-FI" sz="1050" kern="1200" dirty="0" smtClean="0"/>
            <a:t>Testitapausten priorisointi hyväksymistestaukselle: mistä tiedetään mikä on tärkeää liiketoiminnalle</a:t>
          </a:r>
          <a:endParaRPr lang="fi-FI" sz="1050" kern="1200" dirty="0"/>
        </a:p>
        <a:p>
          <a:pPr marL="57150" lvl="1" indent="-57150" algn="l" defTabSz="466725">
            <a:lnSpc>
              <a:spcPct val="90000"/>
            </a:lnSpc>
            <a:spcBef>
              <a:spcPct val="0"/>
            </a:spcBef>
            <a:spcAft>
              <a:spcPct val="15000"/>
            </a:spcAft>
            <a:buChar char="••"/>
          </a:pPr>
          <a:r>
            <a:rPr lang="fi-FI" sz="1050" kern="1200" dirty="0" smtClean="0"/>
            <a:t>Kelpuuttaminen käyttöön vs. todentaminen suhteessa vaatimuksiin</a:t>
          </a:r>
        </a:p>
      </dsp:txBody>
      <dsp:txXfrm>
        <a:off x="6366005" y="735794"/>
        <a:ext cx="1860500" cy="377437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094063-098D-4C8B-8414-7D0DE7708E58}">
      <dsp:nvSpPr>
        <dsp:cNvPr id="0" name=""/>
        <dsp:cNvSpPr/>
      </dsp:nvSpPr>
      <dsp:spPr>
        <a:xfrm>
          <a:off x="492" y="1013243"/>
          <a:ext cx="1922673" cy="1153604"/>
        </a:xfrm>
        <a:prstGeom prst="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i-FI" sz="2100" b="1" kern="1200" dirty="0" smtClean="0"/>
            <a:t>Vahvuudet</a:t>
          </a:r>
          <a:endParaRPr lang="fi-FI" sz="2100" b="1" kern="1200" dirty="0"/>
        </a:p>
      </dsp:txBody>
      <dsp:txXfrm>
        <a:off x="492" y="1013243"/>
        <a:ext cx="1922673" cy="1153604"/>
      </dsp:txXfrm>
    </dsp:sp>
    <dsp:sp modelId="{B2E81F0A-04FE-455F-BA32-AE831DBC3007}">
      <dsp:nvSpPr>
        <dsp:cNvPr id="0" name=""/>
        <dsp:cNvSpPr/>
      </dsp:nvSpPr>
      <dsp:spPr>
        <a:xfrm>
          <a:off x="2115433" y="1013243"/>
          <a:ext cx="1922673" cy="1153604"/>
        </a:xfrm>
        <a:prstGeom prst="rect">
          <a:avLst/>
        </a:prstGeom>
        <a:solidFill>
          <a:schemeClr val="accent4">
            <a:hueOff val="3470782"/>
            <a:satOff val="-19734"/>
            <a:lumOff val="634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i-FI" sz="2100" b="1" kern="1200" dirty="0" smtClean="0"/>
            <a:t>Mahdollisuudet</a:t>
          </a:r>
          <a:endParaRPr lang="fi-FI" sz="2100" b="1" kern="1200" dirty="0"/>
        </a:p>
      </dsp:txBody>
      <dsp:txXfrm>
        <a:off x="2115433" y="1013243"/>
        <a:ext cx="1922673" cy="1153604"/>
      </dsp:txXfrm>
    </dsp:sp>
    <dsp:sp modelId="{66C3AA43-F841-4B9B-AFB0-F556145A3590}">
      <dsp:nvSpPr>
        <dsp:cNvPr id="0" name=""/>
        <dsp:cNvSpPr/>
      </dsp:nvSpPr>
      <dsp:spPr>
        <a:xfrm>
          <a:off x="492" y="2359115"/>
          <a:ext cx="1922673" cy="1153604"/>
        </a:xfrm>
        <a:prstGeom prst="rect">
          <a:avLst/>
        </a:prstGeom>
        <a:solidFill>
          <a:schemeClr val="accent4">
            <a:hueOff val="6941563"/>
            <a:satOff val="-39468"/>
            <a:lumOff val="1268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i-FI" sz="2100" b="1" kern="1200" dirty="0" smtClean="0"/>
            <a:t>Heikkoudet</a:t>
          </a:r>
          <a:endParaRPr lang="fi-FI" sz="2100" b="1" kern="1200" dirty="0"/>
        </a:p>
      </dsp:txBody>
      <dsp:txXfrm>
        <a:off x="492" y="2359115"/>
        <a:ext cx="1922673" cy="1153604"/>
      </dsp:txXfrm>
    </dsp:sp>
    <dsp:sp modelId="{4B2881A7-2ABA-49E5-9068-1111EB1CB39D}">
      <dsp:nvSpPr>
        <dsp:cNvPr id="0" name=""/>
        <dsp:cNvSpPr/>
      </dsp:nvSpPr>
      <dsp:spPr>
        <a:xfrm>
          <a:off x="2115433" y="2359115"/>
          <a:ext cx="1922673" cy="1153604"/>
        </a:xfrm>
        <a:prstGeom prst="rect">
          <a:avLst/>
        </a:prstGeom>
        <a:solidFill>
          <a:schemeClr val="accent4">
            <a:hueOff val="10412345"/>
            <a:satOff val="-59202"/>
            <a:lumOff val="1902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i-FI" sz="2100" b="1" kern="1200" dirty="0" smtClean="0"/>
            <a:t>Uhat</a:t>
          </a:r>
          <a:endParaRPr lang="fi-FI" sz="2100" b="1" kern="1200" dirty="0"/>
        </a:p>
      </dsp:txBody>
      <dsp:txXfrm>
        <a:off x="2115433" y="2359115"/>
        <a:ext cx="1922673" cy="115360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58748B-2575-4D58-9FA0-9F6CA0DF6B78}">
      <dsp:nvSpPr>
        <dsp:cNvPr id="0" name=""/>
        <dsp:cNvSpPr/>
      </dsp:nvSpPr>
      <dsp:spPr>
        <a:xfrm>
          <a:off x="3094" y="15794"/>
          <a:ext cx="1860500" cy="720000"/>
        </a:xfrm>
        <a:prstGeom prst="rect">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lvl="0" algn="ctr" defTabSz="488950" rtl="0">
            <a:lnSpc>
              <a:spcPct val="90000"/>
            </a:lnSpc>
            <a:spcBef>
              <a:spcPct val="0"/>
            </a:spcBef>
            <a:spcAft>
              <a:spcPct val="35000"/>
            </a:spcAft>
          </a:pPr>
          <a:r>
            <a:rPr lang="fi-FI" sz="1100" b="1" kern="1200" dirty="0" smtClean="0"/>
            <a:t>Hyväksymistestauksen rooli ja merkitys</a:t>
          </a:r>
          <a:endParaRPr lang="fi-FI" sz="1100" b="1" kern="1200" dirty="0"/>
        </a:p>
      </dsp:txBody>
      <dsp:txXfrm>
        <a:off x="3094" y="15794"/>
        <a:ext cx="1860500" cy="720000"/>
      </dsp:txXfrm>
    </dsp:sp>
    <dsp:sp modelId="{AAB1147D-BCEB-4287-850D-0C28E16B7E63}">
      <dsp:nvSpPr>
        <dsp:cNvPr id="0" name=""/>
        <dsp:cNvSpPr/>
      </dsp:nvSpPr>
      <dsp:spPr>
        <a:xfrm>
          <a:off x="3094" y="735794"/>
          <a:ext cx="1860500" cy="3774375"/>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66725" rtl="0">
            <a:lnSpc>
              <a:spcPct val="90000"/>
            </a:lnSpc>
            <a:spcBef>
              <a:spcPct val="0"/>
            </a:spcBef>
            <a:spcAft>
              <a:spcPct val="15000"/>
            </a:spcAft>
            <a:buChar char="••"/>
          </a:pPr>
          <a:r>
            <a:rPr lang="fi-FI" sz="1050" kern="1200" dirty="0" smtClean="0"/>
            <a:t>Testaus järjestelmän tilaajalle ja omistajalle</a:t>
          </a:r>
          <a:endParaRPr lang="fi-FI" sz="1050" kern="1200" dirty="0"/>
        </a:p>
        <a:p>
          <a:pPr marL="57150" lvl="1" indent="-57150" algn="l" defTabSz="466725" rtl="0">
            <a:lnSpc>
              <a:spcPct val="90000"/>
            </a:lnSpc>
            <a:spcBef>
              <a:spcPct val="0"/>
            </a:spcBef>
            <a:spcAft>
              <a:spcPct val="15000"/>
            </a:spcAft>
            <a:buChar char="••"/>
          </a:pPr>
          <a:r>
            <a:rPr lang="fi-FI" sz="1050" kern="1200" dirty="0" smtClean="0"/>
            <a:t>Monitoimittajaympäristön erityispiirteet hyväksymistestaukselle</a:t>
          </a:r>
          <a:endParaRPr lang="fi-FI" sz="1050" kern="1200" dirty="0"/>
        </a:p>
        <a:p>
          <a:pPr marL="57150" lvl="1" indent="-57150" algn="l" defTabSz="466725" rtl="0">
            <a:lnSpc>
              <a:spcPct val="90000"/>
            </a:lnSpc>
            <a:spcBef>
              <a:spcPct val="0"/>
            </a:spcBef>
            <a:spcAft>
              <a:spcPct val="15000"/>
            </a:spcAft>
            <a:buChar char="••"/>
          </a:pPr>
          <a:r>
            <a:rPr lang="fi-FI" sz="1050" kern="1200" dirty="0" smtClean="0"/>
            <a:t>Laatutiedon rakentaminen palasille ja kokonaisuudelle</a:t>
          </a:r>
          <a:endParaRPr lang="fi-FI" sz="1050" kern="1200" dirty="0"/>
        </a:p>
        <a:p>
          <a:pPr marL="57150" lvl="1" indent="-57150" algn="l" defTabSz="466725" rtl="0">
            <a:lnSpc>
              <a:spcPct val="90000"/>
            </a:lnSpc>
            <a:spcBef>
              <a:spcPct val="0"/>
            </a:spcBef>
            <a:spcAft>
              <a:spcPct val="15000"/>
            </a:spcAft>
            <a:buChar char="••"/>
          </a:pPr>
          <a:r>
            <a:rPr lang="fi-FI" sz="1050" kern="1200" dirty="0" smtClean="0"/>
            <a:t>Laadun monet näkökulmat: toiminnallinen ja ei-toiminnallinen testaus; näkyvä toimituslaatu sekä jatkokehityksen helppous</a:t>
          </a:r>
          <a:endParaRPr lang="fi-FI" sz="1050" kern="1200" dirty="0"/>
        </a:p>
        <a:p>
          <a:pPr marL="57150" lvl="1" indent="-57150" algn="l" defTabSz="466725" rtl="0">
            <a:lnSpc>
              <a:spcPct val="90000"/>
            </a:lnSpc>
            <a:spcBef>
              <a:spcPct val="0"/>
            </a:spcBef>
            <a:spcAft>
              <a:spcPct val="15000"/>
            </a:spcAft>
            <a:buChar char="••"/>
          </a:pPr>
          <a:r>
            <a:rPr lang="fi-FI" sz="1050" kern="1200" dirty="0" smtClean="0"/>
            <a:t>Dokumentaation katselmointien rooli hyväksymistestauksessa</a:t>
          </a:r>
          <a:endParaRPr lang="fi-FI" sz="1050" kern="1200" dirty="0"/>
        </a:p>
        <a:p>
          <a:pPr marL="57150" lvl="1" indent="-57150" algn="l" defTabSz="466725" rtl="0">
            <a:lnSpc>
              <a:spcPct val="90000"/>
            </a:lnSpc>
            <a:spcBef>
              <a:spcPct val="0"/>
            </a:spcBef>
            <a:spcAft>
              <a:spcPct val="15000"/>
            </a:spcAft>
            <a:buChar char="••"/>
          </a:pPr>
          <a:r>
            <a:rPr lang="fi-FI" sz="1050" kern="1200" dirty="0" smtClean="0"/>
            <a:t>Hyväksymistestauksen suhde muuhun testaukseen: tilaajan ja toimittajan työnjako</a:t>
          </a:r>
          <a:endParaRPr lang="fi-FI" sz="1050" kern="1200" dirty="0"/>
        </a:p>
        <a:p>
          <a:pPr marL="57150" lvl="1" indent="-57150" algn="l" defTabSz="466725" rtl="0">
            <a:lnSpc>
              <a:spcPct val="90000"/>
            </a:lnSpc>
            <a:spcBef>
              <a:spcPct val="0"/>
            </a:spcBef>
            <a:spcAft>
              <a:spcPct val="15000"/>
            </a:spcAft>
            <a:buChar char="••"/>
          </a:pPr>
          <a:r>
            <a:rPr lang="fi-FI" sz="1050" kern="1200" dirty="0" smtClean="0"/>
            <a:t>Hyväksymistestauksen erot laskunmaksuun ja tuotantoonsiirtoon liittyen</a:t>
          </a:r>
          <a:endParaRPr lang="fi-FI" sz="1050" kern="1200" dirty="0"/>
        </a:p>
        <a:p>
          <a:pPr marL="57150" lvl="1" indent="-57150" algn="l" defTabSz="466725" rtl="0">
            <a:lnSpc>
              <a:spcPct val="90000"/>
            </a:lnSpc>
            <a:spcBef>
              <a:spcPct val="0"/>
            </a:spcBef>
            <a:spcAft>
              <a:spcPct val="15000"/>
            </a:spcAft>
            <a:buChar char="••"/>
          </a:pPr>
          <a:r>
            <a:rPr lang="fi-FI" sz="1050" kern="1200" dirty="0" smtClean="0"/>
            <a:t>Hyväksymistestauksen erilainen merkitys ketterissä menetelmissä</a:t>
          </a:r>
          <a:endParaRPr lang="fi-FI" sz="1050" kern="1200" dirty="0"/>
        </a:p>
      </dsp:txBody>
      <dsp:txXfrm>
        <a:off x="3094" y="735794"/>
        <a:ext cx="1860500" cy="3774375"/>
      </dsp:txXfrm>
    </dsp:sp>
    <dsp:sp modelId="{20330B3A-115A-4449-BBD2-F1DF7DA08C27}">
      <dsp:nvSpPr>
        <dsp:cNvPr id="0" name=""/>
        <dsp:cNvSpPr/>
      </dsp:nvSpPr>
      <dsp:spPr>
        <a:xfrm>
          <a:off x="2124064" y="15794"/>
          <a:ext cx="1860500" cy="720000"/>
        </a:xfrm>
        <a:prstGeom prst="rect">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lvl="0" algn="ctr" defTabSz="488950" rtl="0">
            <a:lnSpc>
              <a:spcPct val="90000"/>
            </a:lnSpc>
            <a:spcBef>
              <a:spcPct val="0"/>
            </a:spcBef>
            <a:spcAft>
              <a:spcPct val="35000"/>
            </a:spcAft>
          </a:pPr>
          <a:r>
            <a:rPr lang="fi-FI" sz="1100" b="1" kern="1200" dirty="0" smtClean="0"/>
            <a:t>Onnistuneen hyväksymistestauksen edellytykset</a:t>
          </a:r>
          <a:endParaRPr lang="fi-FI" sz="1100" b="1" kern="1200" dirty="0"/>
        </a:p>
      </dsp:txBody>
      <dsp:txXfrm>
        <a:off x="2124064" y="15794"/>
        <a:ext cx="1860500" cy="720000"/>
      </dsp:txXfrm>
    </dsp:sp>
    <dsp:sp modelId="{8901B344-4CDE-44D5-B022-7E0CE2C33BF0}">
      <dsp:nvSpPr>
        <dsp:cNvPr id="0" name=""/>
        <dsp:cNvSpPr/>
      </dsp:nvSpPr>
      <dsp:spPr>
        <a:xfrm>
          <a:off x="2114538" y="732246"/>
          <a:ext cx="1860500" cy="3774375"/>
        </a:xfrm>
        <a:prstGeom prst="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88950" rtl="0">
            <a:lnSpc>
              <a:spcPct val="90000"/>
            </a:lnSpc>
            <a:spcBef>
              <a:spcPct val="0"/>
            </a:spcBef>
            <a:spcAft>
              <a:spcPct val="15000"/>
            </a:spcAft>
            <a:buChar char="••"/>
          </a:pPr>
          <a:r>
            <a:rPr lang="fi-FI" sz="1100" b="0" kern="1200" dirty="0" smtClean="0"/>
            <a:t>Toimituskokonaisuuksien määrittely ja projektointi</a:t>
          </a:r>
          <a:endParaRPr lang="fi-FI" sz="1100" b="0" kern="1200" dirty="0"/>
        </a:p>
        <a:p>
          <a:pPr marL="57150" lvl="1" indent="-57150" algn="l" defTabSz="488950" rtl="0">
            <a:lnSpc>
              <a:spcPct val="90000"/>
            </a:lnSpc>
            <a:spcBef>
              <a:spcPct val="0"/>
            </a:spcBef>
            <a:spcAft>
              <a:spcPct val="15000"/>
            </a:spcAft>
            <a:buChar char="••"/>
          </a:pPr>
          <a:r>
            <a:rPr lang="fi-FI" sz="1100" b="0" kern="1200" dirty="0" smtClean="0"/>
            <a:t>Toimittajan valinta ja sopimukset</a:t>
          </a:r>
          <a:endParaRPr lang="fi-FI" sz="1100" b="0" kern="1200" dirty="0"/>
        </a:p>
        <a:p>
          <a:pPr marL="57150" lvl="1" indent="-57150" algn="l" defTabSz="488950" rtl="0">
            <a:lnSpc>
              <a:spcPct val="90000"/>
            </a:lnSpc>
            <a:spcBef>
              <a:spcPct val="0"/>
            </a:spcBef>
            <a:spcAft>
              <a:spcPct val="15000"/>
            </a:spcAft>
            <a:buChar char="••"/>
          </a:pPr>
          <a:r>
            <a:rPr lang="fi-FI" sz="1100" b="0" kern="1200" dirty="0" smtClean="0"/>
            <a:t>Vaatimusten ja odotusten hallinta</a:t>
          </a:r>
          <a:endParaRPr lang="fi-FI" sz="1100" b="0" kern="1200" dirty="0"/>
        </a:p>
        <a:p>
          <a:pPr marL="57150" lvl="1" indent="-57150" algn="l" defTabSz="488950" rtl="0">
            <a:lnSpc>
              <a:spcPct val="90000"/>
            </a:lnSpc>
            <a:spcBef>
              <a:spcPct val="0"/>
            </a:spcBef>
            <a:spcAft>
              <a:spcPct val="15000"/>
            </a:spcAft>
            <a:buChar char="••"/>
          </a:pPr>
          <a:r>
            <a:rPr lang="fi-FI" sz="1100" b="0" kern="1200" dirty="0" smtClean="0"/>
            <a:t>Toimittajayhteistyö</a:t>
          </a:r>
          <a:endParaRPr lang="fi-FI" sz="1100" b="0" kern="1200" dirty="0"/>
        </a:p>
        <a:p>
          <a:pPr marL="57150" lvl="1" indent="-57150" algn="l" defTabSz="488950" rtl="0">
            <a:lnSpc>
              <a:spcPct val="90000"/>
            </a:lnSpc>
            <a:spcBef>
              <a:spcPct val="0"/>
            </a:spcBef>
            <a:spcAft>
              <a:spcPct val="15000"/>
            </a:spcAft>
            <a:buChar char="••"/>
          </a:pPr>
          <a:r>
            <a:rPr lang="fi-FI" sz="1100" b="0" kern="1200" dirty="0" smtClean="0"/>
            <a:t>Kokonaisjärjestelmän ja osajärjestelmien tunnistaminen</a:t>
          </a:r>
          <a:endParaRPr lang="fi-FI" sz="1100" b="0" kern="1200" dirty="0"/>
        </a:p>
      </dsp:txBody>
      <dsp:txXfrm>
        <a:off x="2114538" y="732246"/>
        <a:ext cx="1860500" cy="3774375"/>
      </dsp:txXfrm>
    </dsp:sp>
    <dsp:sp modelId="{E3E6BEB8-B08E-43CD-A3AF-F2B85C4580AD}">
      <dsp:nvSpPr>
        <dsp:cNvPr id="0" name=""/>
        <dsp:cNvSpPr/>
      </dsp:nvSpPr>
      <dsp:spPr>
        <a:xfrm>
          <a:off x="4245035" y="15794"/>
          <a:ext cx="1860500" cy="720000"/>
        </a:xfrm>
        <a:prstGeom prst="rect">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lvl="0" algn="ctr" defTabSz="488950" rtl="0">
            <a:lnSpc>
              <a:spcPct val="90000"/>
            </a:lnSpc>
            <a:spcBef>
              <a:spcPct val="0"/>
            </a:spcBef>
            <a:spcAft>
              <a:spcPct val="35000"/>
            </a:spcAft>
          </a:pPr>
          <a:r>
            <a:rPr lang="fi-FI" sz="1100" b="1" kern="1200" dirty="0" smtClean="0"/>
            <a:t>Hyväksymistestauksen organisointi ja puitteet</a:t>
          </a:r>
          <a:endParaRPr lang="fi-FI" sz="1100" b="1" kern="1200" dirty="0"/>
        </a:p>
      </dsp:txBody>
      <dsp:txXfrm>
        <a:off x="4245035" y="15794"/>
        <a:ext cx="1860500" cy="720000"/>
      </dsp:txXfrm>
    </dsp:sp>
    <dsp:sp modelId="{2CE42794-9563-4A96-B9CC-520A06D6EE9D}">
      <dsp:nvSpPr>
        <dsp:cNvPr id="0" name=""/>
        <dsp:cNvSpPr/>
      </dsp:nvSpPr>
      <dsp:spPr>
        <a:xfrm>
          <a:off x="4245035" y="735794"/>
          <a:ext cx="1860500" cy="3774375"/>
        </a:xfrm>
        <a:prstGeom prst="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66725">
            <a:lnSpc>
              <a:spcPct val="90000"/>
            </a:lnSpc>
            <a:spcBef>
              <a:spcPct val="0"/>
            </a:spcBef>
            <a:spcAft>
              <a:spcPct val="15000"/>
            </a:spcAft>
            <a:buChar char="••"/>
          </a:pPr>
          <a:r>
            <a:rPr lang="fi-FI" sz="1050" kern="1200" dirty="0" smtClean="0"/>
            <a:t>Testausprosessi suunnittelusta läpivientiin</a:t>
          </a:r>
          <a:endParaRPr lang="fi-FI" sz="1050" kern="1200" dirty="0"/>
        </a:p>
        <a:p>
          <a:pPr marL="57150" lvl="1" indent="-57150" algn="l" defTabSz="466725">
            <a:lnSpc>
              <a:spcPct val="90000"/>
            </a:lnSpc>
            <a:spcBef>
              <a:spcPct val="0"/>
            </a:spcBef>
            <a:spcAft>
              <a:spcPct val="15000"/>
            </a:spcAft>
            <a:buChar char="••"/>
          </a:pPr>
          <a:r>
            <a:rPr lang="fi-FI" sz="1050" kern="1200" dirty="0" smtClean="0"/>
            <a:t>Toimittajan testauksien tarkastelu osana hyväksymistestausta</a:t>
          </a:r>
          <a:endParaRPr lang="fi-FI" sz="1050" kern="1200" dirty="0"/>
        </a:p>
        <a:p>
          <a:pPr marL="57150" lvl="1" indent="-57150" algn="l" defTabSz="466725">
            <a:lnSpc>
              <a:spcPct val="90000"/>
            </a:lnSpc>
            <a:spcBef>
              <a:spcPct val="0"/>
            </a:spcBef>
            <a:spcAft>
              <a:spcPct val="15000"/>
            </a:spcAft>
            <a:buChar char="••"/>
          </a:pPr>
          <a:r>
            <a:rPr lang="fi-FI" sz="1050" kern="1200" dirty="0" smtClean="0"/>
            <a:t>Ohjelmistokehityksen luonne, jatkuva muutos ja testauksen toistotarve</a:t>
          </a:r>
          <a:endParaRPr lang="fi-FI" sz="1050" kern="1200" dirty="0"/>
        </a:p>
        <a:p>
          <a:pPr marL="57150" lvl="1" indent="-57150" algn="l" defTabSz="466725">
            <a:lnSpc>
              <a:spcPct val="90000"/>
            </a:lnSpc>
            <a:spcBef>
              <a:spcPct val="0"/>
            </a:spcBef>
            <a:spcAft>
              <a:spcPct val="15000"/>
            </a:spcAft>
            <a:buChar char="••"/>
          </a:pPr>
          <a:r>
            <a:rPr lang="fi-FI" sz="1050" kern="1200" dirty="0" smtClean="0"/>
            <a:t>Testauksen työmäärät ja tehokkuus tuloksina ja kustannuksina</a:t>
          </a:r>
          <a:endParaRPr lang="fi-FI" sz="1050" kern="1200" dirty="0"/>
        </a:p>
        <a:p>
          <a:pPr marL="57150" lvl="1" indent="-57150" algn="l" defTabSz="466725">
            <a:lnSpc>
              <a:spcPct val="90000"/>
            </a:lnSpc>
            <a:spcBef>
              <a:spcPct val="0"/>
            </a:spcBef>
            <a:spcAft>
              <a:spcPct val="15000"/>
            </a:spcAft>
            <a:buChar char="••"/>
          </a:pPr>
          <a:r>
            <a:rPr lang="fi-FI" sz="1050" kern="1200" dirty="0" smtClean="0"/>
            <a:t>Riskiohjattu testaus: rajallisen työmäärän kohdistaminen</a:t>
          </a:r>
          <a:endParaRPr lang="fi-FI" sz="1050" kern="1200" dirty="0"/>
        </a:p>
        <a:p>
          <a:pPr marL="57150" lvl="1" indent="-57150" algn="l" defTabSz="466725">
            <a:lnSpc>
              <a:spcPct val="90000"/>
            </a:lnSpc>
            <a:spcBef>
              <a:spcPct val="0"/>
            </a:spcBef>
            <a:spcAft>
              <a:spcPct val="15000"/>
            </a:spcAft>
            <a:buChar char="••"/>
          </a:pPr>
          <a:r>
            <a:rPr lang="fi-FI" sz="1050" kern="1200" dirty="0" smtClean="0"/>
            <a:t>Havaintokirjausten käsittely ja muutoksista sopiminen</a:t>
          </a:r>
          <a:endParaRPr lang="fi-FI" sz="1050" kern="1200" dirty="0"/>
        </a:p>
        <a:p>
          <a:pPr marL="57150" lvl="1" indent="-57150" algn="l" defTabSz="466725">
            <a:lnSpc>
              <a:spcPct val="90000"/>
            </a:lnSpc>
            <a:spcBef>
              <a:spcPct val="0"/>
            </a:spcBef>
            <a:spcAft>
              <a:spcPct val="15000"/>
            </a:spcAft>
            <a:buChar char="••"/>
          </a:pPr>
          <a:r>
            <a:rPr lang="fi-FI" sz="1050" kern="1200" dirty="0" smtClean="0"/>
            <a:t>Testausympäristöt, testitapaukset ja testiaineisto</a:t>
          </a:r>
          <a:endParaRPr lang="fi-FI" sz="1050" kern="1200" dirty="0"/>
        </a:p>
        <a:p>
          <a:pPr marL="57150" lvl="1" indent="-57150" algn="l" defTabSz="466725">
            <a:lnSpc>
              <a:spcPct val="90000"/>
            </a:lnSpc>
            <a:spcBef>
              <a:spcPct val="0"/>
            </a:spcBef>
            <a:spcAft>
              <a:spcPct val="15000"/>
            </a:spcAft>
            <a:buChar char="••"/>
          </a:pPr>
          <a:r>
            <a:rPr lang="fi-FI" sz="1050" kern="1200" dirty="0" smtClean="0"/>
            <a:t>Testauksen hallinta, seuranta ja mittarit</a:t>
          </a:r>
          <a:endParaRPr lang="fi-FI" sz="1050" kern="1200" dirty="0"/>
        </a:p>
        <a:p>
          <a:pPr marL="57150" lvl="1" indent="-57150" algn="l" defTabSz="466725">
            <a:lnSpc>
              <a:spcPct val="90000"/>
            </a:lnSpc>
            <a:spcBef>
              <a:spcPct val="0"/>
            </a:spcBef>
            <a:spcAft>
              <a:spcPct val="15000"/>
            </a:spcAft>
            <a:buChar char="••"/>
          </a:pPr>
          <a:r>
            <a:rPr lang="fi-FI" sz="1050" kern="1200" dirty="0" smtClean="0"/>
            <a:t>Toistuva hyväksymistestaus ylläpitoluonteiselle kehitystyölle</a:t>
          </a:r>
        </a:p>
      </dsp:txBody>
      <dsp:txXfrm>
        <a:off x="4245035" y="735794"/>
        <a:ext cx="1860500" cy="3774375"/>
      </dsp:txXfrm>
    </dsp:sp>
    <dsp:sp modelId="{016C0C30-52FC-4CA5-B7B1-35861449347E}">
      <dsp:nvSpPr>
        <dsp:cNvPr id="0" name=""/>
        <dsp:cNvSpPr/>
      </dsp:nvSpPr>
      <dsp:spPr>
        <a:xfrm>
          <a:off x="6366005" y="15794"/>
          <a:ext cx="1860500" cy="720000"/>
        </a:xfrm>
        <a:prstGeom prst="rect">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lvl="0" algn="ctr" defTabSz="488950">
            <a:lnSpc>
              <a:spcPct val="90000"/>
            </a:lnSpc>
            <a:spcBef>
              <a:spcPct val="0"/>
            </a:spcBef>
            <a:spcAft>
              <a:spcPct val="35000"/>
            </a:spcAft>
          </a:pPr>
          <a:r>
            <a:rPr lang="fi-FI" sz="1100" b="1" kern="1200" dirty="0" smtClean="0"/>
            <a:t>Testaus vaatimuksia ja odotuksia vastaan</a:t>
          </a:r>
          <a:endParaRPr lang="fi-FI" sz="1100" b="1" kern="1200" dirty="0"/>
        </a:p>
      </dsp:txBody>
      <dsp:txXfrm>
        <a:off x="6366005" y="15794"/>
        <a:ext cx="1860500" cy="720000"/>
      </dsp:txXfrm>
    </dsp:sp>
    <dsp:sp modelId="{882F28AC-AD1B-4E0E-AEA6-8989F5CE6A35}">
      <dsp:nvSpPr>
        <dsp:cNvPr id="0" name=""/>
        <dsp:cNvSpPr/>
      </dsp:nvSpPr>
      <dsp:spPr>
        <a:xfrm>
          <a:off x="6366005" y="735794"/>
          <a:ext cx="1860500" cy="3774375"/>
        </a:xfrm>
        <a:prstGeom prst="rect">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66725">
            <a:lnSpc>
              <a:spcPct val="90000"/>
            </a:lnSpc>
            <a:spcBef>
              <a:spcPct val="0"/>
            </a:spcBef>
            <a:spcAft>
              <a:spcPct val="15000"/>
            </a:spcAft>
            <a:buChar char="••"/>
          </a:pPr>
          <a:r>
            <a:rPr lang="fi-FI" sz="1050" kern="1200" dirty="0" smtClean="0"/>
            <a:t>Sovellusalueosaamisen ja liiketoimintaprosessin osaamisen käyttö hyväksymistestauksessa</a:t>
          </a:r>
          <a:endParaRPr lang="fi-FI" sz="1050" kern="1200" dirty="0"/>
        </a:p>
        <a:p>
          <a:pPr marL="57150" lvl="1" indent="-57150" algn="l" defTabSz="466725">
            <a:lnSpc>
              <a:spcPct val="90000"/>
            </a:lnSpc>
            <a:spcBef>
              <a:spcPct val="0"/>
            </a:spcBef>
            <a:spcAft>
              <a:spcPct val="15000"/>
            </a:spcAft>
            <a:buChar char="••"/>
          </a:pPr>
          <a:r>
            <a:rPr lang="fi-FI" sz="1050" kern="1200" dirty="0" smtClean="0"/>
            <a:t>Vaatimusten järjestelmällinen läpikäynti</a:t>
          </a:r>
          <a:endParaRPr lang="fi-FI" sz="1050" kern="1200" dirty="0"/>
        </a:p>
        <a:p>
          <a:pPr marL="57150" lvl="1" indent="-57150" algn="l" defTabSz="466725">
            <a:lnSpc>
              <a:spcPct val="90000"/>
            </a:lnSpc>
            <a:spcBef>
              <a:spcPct val="0"/>
            </a:spcBef>
            <a:spcAft>
              <a:spcPct val="15000"/>
            </a:spcAft>
            <a:buChar char="••"/>
          </a:pPr>
          <a:r>
            <a:rPr lang="fi-FI" sz="1050" kern="1200" dirty="0" smtClean="0"/>
            <a:t>Testitapausten merkitys hyväksymistestaukselle</a:t>
          </a:r>
          <a:endParaRPr lang="fi-FI" sz="1050" kern="1200" dirty="0"/>
        </a:p>
        <a:p>
          <a:pPr marL="57150" lvl="1" indent="-57150" algn="l" defTabSz="466725">
            <a:lnSpc>
              <a:spcPct val="90000"/>
            </a:lnSpc>
            <a:spcBef>
              <a:spcPct val="0"/>
            </a:spcBef>
            <a:spcAft>
              <a:spcPct val="15000"/>
            </a:spcAft>
            <a:buChar char="••"/>
          </a:pPr>
          <a:r>
            <a:rPr lang="fi-FI" sz="1050" kern="1200" dirty="0" smtClean="0"/>
            <a:t>Hyväksymistestausta tukevat testitapaukset</a:t>
          </a:r>
          <a:endParaRPr lang="fi-FI" sz="1050" kern="1200" dirty="0"/>
        </a:p>
        <a:p>
          <a:pPr marL="57150" lvl="1" indent="-57150" algn="l" defTabSz="466725">
            <a:lnSpc>
              <a:spcPct val="90000"/>
            </a:lnSpc>
            <a:spcBef>
              <a:spcPct val="0"/>
            </a:spcBef>
            <a:spcAft>
              <a:spcPct val="15000"/>
            </a:spcAft>
            <a:buChar char="••"/>
          </a:pPr>
          <a:r>
            <a:rPr lang="fi-FI" sz="1050" kern="1200" dirty="0" smtClean="0"/>
            <a:t>Testitapausten priorisointi hyväksymistestaukselle: mistä tiedetään mikä on tärkeää liiketoiminnalle</a:t>
          </a:r>
          <a:endParaRPr lang="fi-FI" sz="1050" kern="1200" dirty="0"/>
        </a:p>
        <a:p>
          <a:pPr marL="57150" lvl="1" indent="-57150" algn="l" defTabSz="466725">
            <a:lnSpc>
              <a:spcPct val="90000"/>
            </a:lnSpc>
            <a:spcBef>
              <a:spcPct val="0"/>
            </a:spcBef>
            <a:spcAft>
              <a:spcPct val="15000"/>
            </a:spcAft>
            <a:buChar char="••"/>
          </a:pPr>
          <a:r>
            <a:rPr lang="fi-FI" sz="1050" kern="1200" dirty="0" smtClean="0"/>
            <a:t>Kelpuuttaminen käyttöön vs. todentaminen suhteessa vaatimuksiin</a:t>
          </a:r>
        </a:p>
      </dsp:txBody>
      <dsp:txXfrm>
        <a:off x="6366005" y="735794"/>
        <a:ext cx="1860500" cy="377437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43157F-351C-4900-BA19-7CF857D57FAC}">
      <dsp:nvSpPr>
        <dsp:cNvPr id="0" name=""/>
        <dsp:cNvSpPr/>
      </dsp:nvSpPr>
      <dsp:spPr>
        <a:xfrm>
          <a:off x="0" y="3712270"/>
          <a:ext cx="8229600" cy="812154"/>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rtl="0">
            <a:lnSpc>
              <a:spcPct val="90000"/>
            </a:lnSpc>
            <a:spcBef>
              <a:spcPct val="0"/>
            </a:spcBef>
            <a:spcAft>
              <a:spcPct val="35000"/>
            </a:spcAft>
          </a:pPr>
          <a:r>
            <a:rPr lang="fi-FI" sz="1600" b="1" kern="1200" dirty="0" smtClean="0"/>
            <a:t>Hyväksymispäätöksen tekeminen</a:t>
          </a:r>
          <a:endParaRPr lang="en-US" sz="1600" b="1" kern="1200" dirty="0"/>
        </a:p>
      </dsp:txBody>
      <dsp:txXfrm>
        <a:off x="0" y="3712270"/>
        <a:ext cx="8229600" cy="438563"/>
      </dsp:txXfrm>
    </dsp:sp>
    <dsp:sp modelId="{BC5829FE-AE62-4C72-87F8-50A99B4046C8}">
      <dsp:nvSpPr>
        <dsp:cNvPr id="0" name=""/>
        <dsp:cNvSpPr/>
      </dsp:nvSpPr>
      <dsp:spPr>
        <a:xfrm>
          <a:off x="0" y="4134590"/>
          <a:ext cx="4114799" cy="373590"/>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fi-FI" sz="1200" b="1" kern="1200" dirty="0" smtClean="0"/>
            <a:t>Testauksen riittävyyden arviointi</a:t>
          </a:r>
          <a:endParaRPr lang="en-US" sz="1200" b="1" kern="1200" dirty="0"/>
        </a:p>
      </dsp:txBody>
      <dsp:txXfrm>
        <a:off x="0" y="4134590"/>
        <a:ext cx="4114799" cy="373590"/>
      </dsp:txXfrm>
    </dsp:sp>
    <dsp:sp modelId="{F670390C-ABEF-4A62-BA35-08167288C47D}">
      <dsp:nvSpPr>
        <dsp:cNvPr id="0" name=""/>
        <dsp:cNvSpPr/>
      </dsp:nvSpPr>
      <dsp:spPr>
        <a:xfrm>
          <a:off x="4114800" y="4134590"/>
          <a:ext cx="4114799" cy="373590"/>
        </a:xfrm>
        <a:prstGeom prst="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fi-FI" sz="1200" b="1" kern="1200" dirty="0" smtClean="0"/>
            <a:t>Testauksen tulosten tarkastelu</a:t>
          </a:r>
          <a:endParaRPr lang="fi-FI" sz="1200" b="1" kern="1200" dirty="0"/>
        </a:p>
      </dsp:txBody>
      <dsp:txXfrm>
        <a:off x="4114800" y="4134590"/>
        <a:ext cx="4114799" cy="373590"/>
      </dsp:txXfrm>
    </dsp:sp>
    <dsp:sp modelId="{CD6073F2-E99A-4092-99F1-8C5A9366EC04}">
      <dsp:nvSpPr>
        <dsp:cNvPr id="0" name=""/>
        <dsp:cNvSpPr/>
      </dsp:nvSpPr>
      <dsp:spPr>
        <a:xfrm rot="10800000">
          <a:off x="0" y="2475359"/>
          <a:ext cx="8229600" cy="1249092"/>
        </a:xfrm>
        <a:prstGeom prst="upArrowCallou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rtl="0">
            <a:lnSpc>
              <a:spcPct val="90000"/>
            </a:lnSpc>
            <a:spcBef>
              <a:spcPct val="0"/>
            </a:spcBef>
            <a:spcAft>
              <a:spcPct val="35000"/>
            </a:spcAft>
          </a:pPr>
          <a:r>
            <a:rPr lang="fi-FI" sz="1600" b="1" kern="1200" dirty="0" smtClean="0"/>
            <a:t>Testaaminen</a:t>
          </a:r>
          <a:endParaRPr lang="en-US" sz="1600" b="1" kern="1200" dirty="0"/>
        </a:p>
      </dsp:txBody>
      <dsp:txXfrm rot="-10800000">
        <a:off x="0" y="2475359"/>
        <a:ext cx="8229600" cy="438431"/>
      </dsp:txXfrm>
    </dsp:sp>
    <dsp:sp modelId="{0088C5A1-A7B7-47CD-A509-2C9524D241F6}">
      <dsp:nvSpPr>
        <dsp:cNvPr id="0" name=""/>
        <dsp:cNvSpPr/>
      </dsp:nvSpPr>
      <dsp:spPr>
        <a:xfrm>
          <a:off x="4018" y="2913791"/>
          <a:ext cx="2740521" cy="373478"/>
        </a:xfrm>
        <a:prstGeom prst="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fi-FI" sz="1200" b="1" kern="1200" dirty="0" smtClean="0"/>
            <a:t>Havaintojen tekeminen, kirjaaminen, luokittelu</a:t>
          </a:r>
          <a:endParaRPr lang="en-US" sz="1200" b="1" kern="1200" dirty="0"/>
        </a:p>
      </dsp:txBody>
      <dsp:txXfrm>
        <a:off x="4018" y="2913791"/>
        <a:ext cx="2740521" cy="373478"/>
      </dsp:txXfrm>
    </dsp:sp>
    <dsp:sp modelId="{659195B5-86D5-4BF9-B2C7-2DC5CFDC5BDB}">
      <dsp:nvSpPr>
        <dsp:cNvPr id="0" name=""/>
        <dsp:cNvSpPr/>
      </dsp:nvSpPr>
      <dsp:spPr>
        <a:xfrm>
          <a:off x="2744539" y="2913791"/>
          <a:ext cx="2740521" cy="373478"/>
        </a:xfrm>
        <a:prstGeom prst="rect">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fi-FI" sz="1200" b="1" kern="1200" dirty="0" smtClean="0"/>
            <a:t>Testauksen etenemisen arviointi</a:t>
          </a:r>
          <a:endParaRPr lang="en-US" sz="1200" b="1" kern="1200" dirty="0"/>
        </a:p>
      </dsp:txBody>
      <dsp:txXfrm>
        <a:off x="2744539" y="2913791"/>
        <a:ext cx="2740521" cy="373478"/>
      </dsp:txXfrm>
    </dsp:sp>
    <dsp:sp modelId="{8C9AC0C0-3DB3-4DCD-811E-9CCA3508B7B1}">
      <dsp:nvSpPr>
        <dsp:cNvPr id="0" name=""/>
        <dsp:cNvSpPr/>
      </dsp:nvSpPr>
      <dsp:spPr>
        <a:xfrm>
          <a:off x="5485060" y="2913791"/>
          <a:ext cx="2740521" cy="373478"/>
        </a:xfrm>
        <a:prstGeom prst="rect">
          <a:avLst/>
        </a:prstGeom>
        <a:solidFill>
          <a:schemeClr val="accent6">
            <a:tint val="40000"/>
            <a:alpha val="90000"/>
            <a:hueOff val="0"/>
            <a:satOff val="0"/>
            <a:lumOff val="0"/>
            <a:alphaOff val="0"/>
          </a:schemeClr>
        </a:solidFill>
        <a:ln w="25400" cap="flat" cmpd="sng" algn="ctr">
          <a:solidFill>
            <a:schemeClr val="accent6">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fi-FI" sz="1200" b="1" kern="1200" dirty="0" smtClean="0"/>
            <a:t>Korjauksien varmistaminen, regressiotestaus</a:t>
          </a:r>
          <a:endParaRPr lang="en-US" sz="1200" b="1" kern="1200" dirty="0"/>
        </a:p>
      </dsp:txBody>
      <dsp:txXfrm>
        <a:off x="5485060" y="2913791"/>
        <a:ext cx="2740521" cy="373478"/>
      </dsp:txXfrm>
    </dsp:sp>
    <dsp:sp modelId="{2169BE9E-E813-4240-BE92-BB460A01A0BB}">
      <dsp:nvSpPr>
        <dsp:cNvPr id="0" name=""/>
        <dsp:cNvSpPr/>
      </dsp:nvSpPr>
      <dsp:spPr>
        <a:xfrm rot="10800000">
          <a:off x="0" y="1238449"/>
          <a:ext cx="8229600" cy="1249092"/>
        </a:xfrm>
        <a:prstGeom prst="upArrowCallou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rtl="0">
            <a:lnSpc>
              <a:spcPct val="90000"/>
            </a:lnSpc>
            <a:spcBef>
              <a:spcPct val="0"/>
            </a:spcBef>
            <a:spcAft>
              <a:spcPct val="35000"/>
            </a:spcAft>
          </a:pPr>
          <a:r>
            <a:rPr lang="fi-FI" sz="1600" b="1" kern="1200" dirty="0" smtClean="0"/>
            <a:t>Valmistelu</a:t>
          </a:r>
          <a:endParaRPr lang="en-US" sz="1600" b="1" kern="1200" dirty="0"/>
        </a:p>
      </dsp:txBody>
      <dsp:txXfrm rot="-10800000">
        <a:off x="0" y="1238449"/>
        <a:ext cx="8229600" cy="438431"/>
      </dsp:txXfrm>
    </dsp:sp>
    <dsp:sp modelId="{1D863E9C-272F-4035-ADD3-E4A566F9BD24}">
      <dsp:nvSpPr>
        <dsp:cNvPr id="0" name=""/>
        <dsp:cNvSpPr/>
      </dsp:nvSpPr>
      <dsp:spPr>
        <a:xfrm>
          <a:off x="4018" y="1676880"/>
          <a:ext cx="2740521" cy="373478"/>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fi-FI" sz="1200" b="1" kern="1200" dirty="0" smtClean="0"/>
            <a:t>Vaatimusten lajittelu ja laajentaminen</a:t>
          </a:r>
          <a:endParaRPr lang="en-US" sz="1200" b="1" kern="1200" dirty="0"/>
        </a:p>
      </dsp:txBody>
      <dsp:txXfrm>
        <a:off x="4018" y="1676880"/>
        <a:ext cx="2740521" cy="373478"/>
      </dsp:txXfrm>
    </dsp:sp>
    <dsp:sp modelId="{6C120B5F-968D-492C-818D-5E486E0387D0}">
      <dsp:nvSpPr>
        <dsp:cNvPr id="0" name=""/>
        <dsp:cNvSpPr/>
      </dsp:nvSpPr>
      <dsp:spPr>
        <a:xfrm>
          <a:off x="2744539" y="1676880"/>
          <a:ext cx="2740521" cy="373478"/>
        </a:xfrm>
        <a:prstGeom prst="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fi-FI" sz="1200" b="1" kern="1200" dirty="0" smtClean="0"/>
            <a:t>Testiaineiston luominen, kerääminen, lajittelu ja sopiminen</a:t>
          </a:r>
          <a:endParaRPr lang="en-US" sz="1200" b="1" kern="1200" dirty="0"/>
        </a:p>
      </dsp:txBody>
      <dsp:txXfrm>
        <a:off x="2744539" y="1676880"/>
        <a:ext cx="2740521" cy="373478"/>
      </dsp:txXfrm>
    </dsp:sp>
    <dsp:sp modelId="{B09D8E9E-0919-4ECF-BD63-5DC71DA4AF13}">
      <dsp:nvSpPr>
        <dsp:cNvPr id="0" name=""/>
        <dsp:cNvSpPr/>
      </dsp:nvSpPr>
      <dsp:spPr>
        <a:xfrm>
          <a:off x="5485060" y="1676880"/>
          <a:ext cx="2740521" cy="373478"/>
        </a:xfrm>
        <a:prstGeom prst="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en-US" sz="1200" b="1" kern="1200" dirty="0" err="1" smtClean="0"/>
            <a:t>Toimittajan</a:t>
          </a:r>
          <a:r>
            <a:rPr lang="en-US" sz="1200" b="1" kern="1200" dirty="0" smtClean="0"/>
            <a:t> </a:t>
          </a:r>
          <a:r>
            <a:rPr lang="en-US" sz="1200" b="1" kern="1200" dirty="0" err="1" smtClean="0"/>
            <a:t>testauksen</a:t>
          </a:r>
          <a:r>
            <a:rPr lang="en-US" sz="1200" b="1" kern="1200" dirty="0" smtClean="0"/>
            <a:t> </a:t>
          </a:r>
          <a:r>
            <a:rPr lang="en-US" sz="1200" b="1" kern="1200" dirty="0" err="1" smtClean="0"/>
            <a:t>arviointi</a:t>
          </a:r>
          <a:endParaRPr lang="en-US" sz="1200" b="1" kern="1200" dirty="0"/>
        </a:p>
      </dsp:txBody>
      <dsp:txXfrm>
        <a:off x="5485060" y="1676880"/>
        <a:ext cx="2740521" cy="373478"/>
      </dsp:txXfrm>
    </dsp:sp>
    <dsp:sp modelId="{7AC4B2C5-7A18-4385-AD1C-207D66702FC1}">
      <dsp:nvSpPr>
        <dsp:cNvPr id="0" name=""/>
        <dsp:cNvSpPr/>
      </dsp:nvSpPr>
      <dsp:spPr>
        <a:xfrm rot="10800000">
          <a:off x="0" y="1538"/>
          <a:ext cx="8229600" cy="1249092"/>
        </a:xfrm>
        <a:prstGeom prst="upArrowCallou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rtl="0">
            <a:lnSpc>
              <a:spcPct val="90000"/>
            </a:lnSpc>
            <a:spcBef>
              <a:spcPct val="0"/>
            </a:spcBef>
            <a:spcAft>
              <a:spcPct val="35000"/>
            </a:spcAft>
          </a:pPr>
          <a:r>
            <a:rPr lang="fi-FI" sz="1600" b="1" kern="1200" dirty="0" smtClean="0"/>
            <a:t>Suunnittelu</a:t>
          </a:r>
          <a:endParaRPr lang="en-US" sz="1600" b="1" kern="1200" dirty="0"/>
        </a:p>
      </dsp:txBody>
      <dsp:txXfrm rot="-10800000">
        <a:off x="0" y="1538"/>
        <a:ext cx="8229600" cy="438431"/>
      </dsp:txXfrm>
    </dsp:sp>
    <dsp:sp modelId="{5D608F82-99F0-4C9B-BBD3-A97ED2E65B39}">
      <dsp:nvSpPr>
        <dsp:cNvPr id="0" name=""/>
        <dsp:cNvSpPr/>
      </dsp:nvSpPr>
      <dsp:spPr>
        <a:xfrm>
          <a:off x="1004" y="439970"/>
          <a:ext cx="1645518" cy="373478"/>
        </a:xfrm>
        <a:prstGeom prst="rect">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en-US" sz="1200" b="1" kern="1200" dirty="0" err="1" smtClean="0"/>
            <a:t>Tavoitteet</a:t>
          </a:r>
          <a:r>
            <a:rPr lang="en-US" sz="1200" b="1" kern="1200" dirty="0" smtClean="0"/>
            <a:t> </a:t>
          </a:r>
          <a:r>
            <a:rPr lang="en-US" sz="1200" b="1" kern="1200" dirty="0" err="1" smtClean="0"/>
            <a:t>ja</a:t>
          </a:r>
          <a:r>
            <a:rPr lang="en-US" sz="1200" b="1" kern="1200" dirty="0" smtClean="0"/>
            <a:t> </a:t>
          </a:r>
          <a:r>
            <a:rPr lang="en-US" sz="1200" b="1" kern="1200" dirty="0" err="1" smtClean="0"/>
            <a:t>kohdistus</a:t>
          </a:r>
          <a:endParaRPr lang="en-US" sz="1200" b="1" kern="1200" dirty="0"/>
        </a:p>
      </dsp:txBody>
      <dsp:txXfrm>
        <a:off x="1004" y="439970"/>
        <a:ext cx="1645518" cy="373478"/>
      </dsp:txXfrm>
    </dsp:sp>
    <dsp:sp modelId="{3896DD9B-66DE-4B16-B0FA-E659A0C1F565}">
      <dsp:nvSpPr>
        <dsp:cNvPr id="0" name=""/>
        <dsp:cNvSpPr/>
      </dsp:nvSpPr>
      <dsp:spPr>
        <a:xfrm>
          <a:off x="1646522" y="439970"/>
          <a:ext cx="1645518" cy="373478"/>
        </a:xfrm>
        <a:prstGeom prst="rect">
          <a:avLst/>
        </a:prstGeom>
        <a:solidFill>
          <a:schemeClr val="accent6">
            <a:tint val="40000"/>
            <a:alpha val="90000"/>
            <a:hueOff val="0"/>
            <a:satOff val="0"/>
            <a:lumOff val="0"/>
            <a:alphaOff val="0"/>
          </a:schemeClr>
        </a:solidFill>
        <a:ln w="25400" cap="flat" cmpd="sng" algn="ctr">
          <a:solidFill>
            <a:schemeClr val="accent6">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fi-FI" sz="1200" b="1" kern="1200" dirty="0" smtClean="0"/>
            <a:t>Puitteiden sopiminen</a:t>
          </a:r>
          <a:endParaRPr lang="en-US" sz="1200" b="1" kern="1200" dirty="0"/>
        </a:p>
      </dsp:txBody>
      <dsp:txXfrm>
        <a:off x="1646522" y="439970"/>
        <a:ext cx="1645518" cy="373478"/>
      </dsp:txXfrm>
    </dsp:sp>
    <dsp:sp modelId="{64042271-5038-4C0C-832F-DADB9C4C8795}">
      <dsp:nvSpPr>
        <dsp:cNvPr id="0" name=""/>
        <dsp:cNvSpPr/>
      </dsp:nvSpPr>
      <dsp:spPr>
        <a:xfrm>
          <a:off x="3292040" y="439970"/>
          <a:ext cx="1645518" cy="373478"/>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fi-FI" sz="1200" b="1" kern="1200" dirty="0" smtClean="0"/>
            <a:t>Budjetti</a:t>
          </a:r>
          <a:endParaRPr lang="en-US" sz="1200" b="1" kern="1200" dirty="0"/>
        </a:p>
      </dsp:txBody>
      <dsp:txXfrm>
        <a:off x="3292040" y="439970"/>
        <a:ext cx="1645518" cy="373478"/>
      </dsp:txXfrm>
    </dsp:sp>
    <dsp:sp modelId="{B7C74EA3-F818-4415-892D-3423E4AA0A9C}">
      <dsp:nvSpPr>
        <dsp:cNvPr id="0" name=""/>
        <dsp:cNvSpPr/>
      </dsp:nvSpPr>
      <dsp:spPr>
        <a:xfrm>
          <a:off x="4937559" y="439970"/>
          <a:ext cx="1645518" cy="373478"/>
        </a:xfrm>
        <a:prstGeom prst="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fi-FI" sz="1200" b="1" kern="1200" dirty="0" smtClean="0"/>
            <a:t>Hankinnat ja rekrytoinnit</a:t>
          </a:r>
          <a:endParaRPr lang="en-US" sz="1200" b="1" kern="1200" dirty="0"/>
        </a:p>
      </dsp:txBody>
      <dsp:txXfrm>
        <a:off x="4937559" y="439970"/>
        <a:ext cx="1645518" cy="373478"/>
      </dsp:txXfrm>
    </dsp:sp>
    <dsp:sp modelId="{E134A9A1-440B-4E79-9492-DD73C2676446}">
      <dsp:nvSpPr>
        <dsp:cNvPr id="0" name=""/>
        <dsp:cNvSpPr/>
      </dsp:nvSpPr>
      <dsp:spPr>
        <a:xfrm>
          <a:off x="6583077" y="439970"/>
          <a:ext cx="1645518" cy="373478"/>
        </a:xfrm>
        <a:prstGeom prst="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fi-FI" sz="1200" b="1" kern="1200" dirty="0" smtClean="0"/>
            <a:t>Versioiden toimituslogistiikka</a:t>
          </a:r>
          <a:endParaRPr lang="en-US" sz="1200" b="1" kern="1200" dirty="0"/>
        </a:p>
      </dsp:txBody>
      <dsp:txXfrm>
        <a:off x="6583077" y="439970"/>
        <a:ext cx="1645518" cy="37347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58748B-2575-4D58-9FA0-9F6CA0DF6B78}">
      <dsp:nvSpPr>
        <dsp:cNvPr id="0" name=""/>
        <dsp:cNvSpPr/>
      </dsp:nvSpPr>
      <dsp:spPr>
        <a:xfrm>
          <a:off x="3094" y="15794"/>
          <a:ext cx="1860500" cy="720000"/>
        </a:xfrm>
        <a:prstGeom prst="rect">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lvl="0" algn="ctr" defTabSz="488950" rtl="0">
            <a:lnSpc>
              <a:spcPct val="90000"/>
            </a:lnSpc>
            <a:spcBef>
              <a:spcPct val="0"/>
            </a:spcBef>
            <a:spcAft>
              <a:spcPct val="35000"/>
            </a:spcAft>
          </a:pPr>
          <a:r>
            <a:rPr lang="fi-FI" sz="1100" b="1" kern="1200" dirty="0" smtClean="0"/>
            <a:t>Hyväksymistestauksen rooli ja merkitys</a:t>
          </a:r>
          <a:endParaRPr lang="fi-FI" sz="1100" b="1" kern="1200" dirty="0"/>
        </a:p>
      </dsp:txBody>
      <dsp:txXfrm>
        <a:off x="3094" y="15794"/>
        <a:ext cx="1860500" cy="720000"/>
      </dsp:txXfrm>
    </dsp:sp>
    <dsp:sp modelId="{AAB1147D-BCEB-4287-850D-0C28E16B7E63}">
      <dsp:nvSpPr>
        <dsp:cNvPr id="0" name=""/>
        <dsp:cNvSpPr/>
      </dsp:nvSpPr>
      <dsp:spPr>
        <a:xfrm>
          <a:off x="3094" y="735794"/>
          <a:ext cx="1860500" cy="3774375"/>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66725" rtl="0">
            <a:lnSpc>
              <a:spcPct val="90000"/>
            </a:lnSpc>
            <a:spcBef>
              <a:spcPct val="0"/>
            </a:spcBef>
            <a:spcAft>
              <a:spcPct val="15000"/>
            </a:spcAft>
            <a:buChar char="••"/>
          </a:pPr>
          <a:r>
            <a:rPr lang="fi-FI" sz="1050" kern="1200" dirty="0" smtClean="0"/>
            <a:t>Testaus järjestelmän tilaajalle ja omistajalle</a:t>
          </a:r>
          <a:endParaRPr lang="fi-FI" sz="1050" kern="1200" dirty="0"/>
        </a:p>
        <a:p>
          <a:pPr marL="57150" lvl="1" indent="-57150" algn="l" defTabSz="466725" rtl="0">
            <a:lnSpc>
              <a:spcPct val="90000"/>
            </a:lnSpc>
            <a:spcBef>
              <a:spcPct val="0"/>
            </a:spcBef>
            <a:spcAft>
              <a:spcPct val="15000"/>
            </a:spcAft>
            <a:buChar char="••"/>
          </a:pPr>
          <a:r>
            <a:rPr lang="fi-FI" sz="1050" kern="1200" dirty="0" smtClean="0"/>
            <a:t>Monitoimittajaympäristön erityispiirteet hyväksymistestaukselle</a:t>
          </a:r>
          <a:endParaRPr lang="fi-FI" sz="1050" kern="1200" dirty="0"/>
        </a:p>
        <a:p>
          <a:pPr marL="57150" lvl="1" indent="-57150" algn="l" defTabSz="466725" rtl="0">
            <a:lnSpc>
              <a:spcPct val="90000"/>
            </a:lnSpc>
            <a:spcBef>
              <a:spcPct val="0"/>
            </a:spcBef>
            <a:spcAft>
              <a:spcPct val="15000"/>
            </a:spcAft>
            <a:buChar char="••"/>
          </a:pPr>
          <a:r>
            <a:rPr lang="fi-FI" sz="1050" kern="1200" dirty="0" smtClean="0"/>
            <a:t>Laatutiedon rakentaminen palasille ja kokonaisuudelle</a:t>
          </a:r>
          <a:endParaRPr lang="fi-FI" sz="1050" kern="1200" dirty="0"/>
        </a:p>
        <a:p>
          <a:pPr marL="57150" lvl="1" indent="-57150" algn="l" defTabSz="466725" rtl="0">
            <a:lnSpc>
              <a:spcPct val="90000"/>
            </a:lnSpc>
            <a:spcBef>
              <a:spcPct val="0"/>
            </a:spcBef>
            <a:spcAft>
              <a:spcPct val="15000"/>
            </a:spcAft>
            <a:buChar char="••"/>
          </a:pPr>
          <a:r>
            <a:rPr lang="fi-FI" sz="1050" kern="1200" dirty="0" smtClean="0"/>
            <a:t>Laadun monet näkökulmat: toiminnallinen ja ei-toiminnallinen testaus; näkyvä toimituslaatu sekä jatkokehityksen helppous</a:t>
          </a:r>
          <a:endParaRPr lang="fi-FI" sz="1050" kern="1200" dirty="0"/>
        </a:p>
        <a:p>
          <a:pPr marL="57150" lvl="1" indent="-57150" algn="l" defTabSz="466725" rtl="0">
            <a:lnSpc>
              <a:spcPct val="90000"/>
            </a:lnSpc>
            <a:spcBef>
              <a:spcPct val="0"/>
            </a:spcBef>
            <a:spcAft>
              <a:spcPct val="15000"/>
            </a:spcAft>
            <a:buChar char="••"/>
          </a:pPr>
          <a:r>
            <a:rPr lang="fi-FI" sz="1050" kern="1200" dirty="0" smtClean="0"/>
            <a:t>Dokumentaation katselmointien rooli hyväksymistestauksessa</a:t>
          </a:r>
          <a:endParaRPr lang="fi-FI" sz="1050" kern="1200" dirty="0"/>
        </a:p>
        <a:p>
          <a:pPr marL="57150" lvl="1" indent="-57150" algn="l" defTabSz="466725" rtl="0">
            <a:lnSpc>
              <a:spcPct val="90000"/>
            </a:lnSpc>
            <a:spcBef>
              <a:spcPct val="0"/>
            </a:spcBef>
            <a:spcAft>
              <a:spcPct val="15000"/>
            </a:spcAft>
            <a:buChar char="••"/>
          </a:pPr>
          <a:r>
            <a:rPr lang="fi-FI" sz="1050" kern="1200" dirty="0" smtClean="0"/>
            <a:t>Hyväksymistestauksen suhde muuhun testaukseen: tilaajan ja toimittajan työnjako</a:t>
          </a:r>
          <a:endParaRPr lang="fi-FI" sz="1050" kern="1200" dirty="0"/>
        </a:p>
        <a:p>
          <a:pPr marL="57150" lvl="1" indent="-57150" algn="l" defTabSz="466725" rtl="0">
            <a:lnSpc>
              <a:spcPct val="90000"/>
            </a:lnSpc>
            <a:spcBef>
              <a:spcPct val="0"/>
            </a:spcBef>
            <a:spcAft>
              <a:spcPct val="15000"/>
            </a:spcAft>
            <a:buChar char="••"/>
          </a:pPr>
          <a:r>
            <a:rPr lang="fi-FI" sz="1050" kern="1200" dirty="0" smtClean="0"/>
            <a:t>Hyväksymistestauksen erot laskunmaksuun ja tuotantoonsiirtoon liittyen</a:t>
          </a:r>
          <a:endParaRPr lang="fi-FI" sz="1050" kern="1200" dirty="0"/>
        </a:p>
        <a:p>
          <a:pPr marL="57150" lvl="1" indent="-57150" algn="l" defTabSz="466725" rtl="0">
            <a:lnSpc>
              <a:spcPct val="90000"/>
            </a:lnSpc>
            <a:spcBef>
              <a:spcPct val="0"/>
            </a:spcBef>
            <a:spcAft>
              <a:spcPct val="15000"/>
            </a:spcAft>
            <a:buChar char="••"/>
          </a:pPr>
          <a:r>
            <a:rPr lang="fi-FI" sz="1050" kern="1200" dirty="0" smtClean="0"/>
            <a:t>Hyväksymistestauksen erilainen merkitys ketterissä menetelmissä</a:t>
          </a:r>
          <a:endParaRPr lang="fi-FI" sz="1050" kern="1200" dirty="0"/>
        </a:p>
      </dsp:txBody>
      <dsp:txXfrm>
        <a:off x="3094" y="735794"/>
        <a:ext cx="1860500" cy="3774375"/>
      </dsp:txXfrm>
    </dsp:sp>
    <dsp:sp modelId="{20330B3A-115A-4449-BBD2-F1DF7DA08C27}">
      <dsp:nvSpPr>
        <dsp:cNvPr id="0" name=""/>
        <dsp:cNvSpPr/>
      </dsp:nvSpPr>
      <dsp:spPr>
        <a:xfrm>
          <a:off x="2124064" y="15794"/>
          <a:ext cx="1860500" cy="720000"/>
        </a:xfrm>
        <a:prstGeom prst="rect">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lvl="0" algn="ctr" defTabSz="488950" rtl="0">
            <a:lnSpc>
              <a:spcPct val="90000"/>
            </a:lnSpc>
            <a:spcBef>
              <a:spcPct val="0"/>
            </a:spcBef>
            <a:spcAft>
              <a:spcPct val="35000"/>
            </a:spcAft>
          </a:pPr>
          <a:r>
            <a:rPr lang="fi-FI" sz="1100" b="1" kern="1200" dirty="0" smtClean="0"/>
            <a:t>Onnistuneen hyväksymistestauksen edellytykset</a:t>
          </a:r>
          <a:endParaRPr lang="fi-FI" sz="1100" b="1" kern="1200" dirty="0"/>
        </a:p>
      </dsp:txBody>
      <dsp:txXfrm>
        <a:off x="2124064" y="15794"/>
        <a:ext cx="1860500" cy="720000"/>
      </dsp:txXfrm>
    </dsp:sp>
    <dsp:sp modelId="{8901B344-4CDE-44D5-B022-7E0CE2C33BF0}">
      <dsp:nvSpPr>
        <dsp:cNvPr id="0" name=""/>
        <dsp:cNvSpPr/>
      </dsp:nvSpPr>
      <dsp:spPr>
        <a:xfrm>
          <a:off x="2114538" y="732246"/>
          <a:ext cx="1860500" cy="3774375"/>
        </a:xfrm>
        <a:prstGeom prst="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88950" rtl="0">
            <a:lnSpc>
              <a:spcPct val="90000"/>
            </a:lnSpc>
            <a:spcBef>
              <a:spcPct val="0"/>
            </a:spcBef>
            <a:spcAft>
              <a:spcPct val="15000"/>
            </a:spcAft>
            <a:buChar char="••"/>
          </a:pPr>
          <a:r>
            <a:rPr lang="fi-FI" sz="1100" b="0" kern="1200" dirty="0" smtClean="0"/>
            <a:t>Toimituskokonaisuuksien määrittely ja projektointi</a:t>
          </a:r>
          <a:endParaRPr lang="fi-FI" sz="1100" b="0" kern="1200" dirty="0"/>
        </a:p>
        <a:p>
          <a:pPr marL="57150" lvl="1" indent="-57150" algn="l" defTabSz="488950" rtl="0">
            <a:lnSpc>
              <a:spcPct val="90000"/>
            </a:lnSpc>
            <a:spcBef>
              <a:spcPct val="0"/>
            </a:spcBef>
            <a:spcAft>
              <a:spcPct val="15000"/>
            </a:spcAft>
            <a:buChar char="••"/>
          </a:pPr>
          <a:r>
            <a:rPr lang="fi-FI" sz="1100" b="0" kern="1200" dirty="0" smtClean="0"/>
            <a:t>Toimittajan valinta ja sopimukset</a:t>
          </a:r>
          <a:endParaRPr lang="fi-FI" sz="1100" b="0" kern="1200" dirty="0"/>
        </a:p>
        <a:p>
          <a:pPr marL="57150" lvl="1" indent="-57150" algn="l" defTabSz="488950" rtl="0">
            <a:lnSpc>
              <a:spcPct val="90000"/>
            </a:lnSpc>
            <a:spcBef>
              <a:spcPct val="0"/>
            </a:spcBef>
            <a:spcAft>
              <a:spcPct val="15000"/>
            </a:spcAft>
            <a:buChar char="••"/>
          </a:pPr>
          <a:r>
            <a:rPr lang="fi-FI" sz="1100" b="0" kern="1200" dirty="0" smtClean="0"/>
            <a:t>Vaatimusten ja odotusten hallinta</a:t>
          </a:r>
          <a:endParaRPr lang="fi-FI" sz="1100" b="0" kern="1200" dirty="0"/>
        </a:p>
        <a:p>
          <a:pPr marL="57150" lvl="1" indent="-57150" algn="l" defTabSz="488950" rtl="0">
            <a:lnSpc>
              <a:spcPct val="90000"/>
            </a:lnSpc>
            <a:spcBef>
              <a:spcPct val="0"/>
            </a:spcBef>
            <a:spcAft>
              <a:spcPct val="15000"/>
            </a:spcAft>
            <a:buChar char="••"/>
          </a:pPr>
          <a:r>
            <a:rPr lang="fi-FI" sz="1100" b="0" kern="1200" dirty="0" smtClean="0"/>
            <a:t>Toimittajayhteistyö</a:t>
          </a:r>
          <a:endParaRPr lang="fi-FI" sz="1100" b="0" kern="1200" dirty="0"/>
        </a:p>
        <a:p>
          <a:pPr marL="57150" lvl="1" indent="-57150" algn="l" defTabSz="488950" rtl="0">
            <a:lnSpc>
              <a:spcPct val="90000"/>
            </a:lnSpc>
            <a:spcBef>
              <a:spcPct val="0"/>
            </a:spcBef>
            <a:spcAft>
              <a:spcPct val="15000"/>
            </a:spcAft>
            <a:buChar char="••"/>
          </a:pPr>
          <a:r>
            <a:rPr lang="fi-FI" sz="1100" b="0" kern="1200" dirty="0" smtClean="0"/>
            <a:t>Kokonaisjärjestelmän ja osajärjestelmien tunnistaminen</a:t>
          </a:r>
          <a:endParaRPr lang="fi-FI" sz="1100" b="0" kern="1200" dirty="0"/>
        </a:p>
      </dsp:txBody>
      <dsp:txXfrm>
        <a:off x="2114538" y="732246"/>
        <a:ext cx="1860500" cy="3774375"/>
      </dsp:txXfrm>
    </dsp:sp>
    <dsp:sp modelId="{E3E6BEB8-B08E-43CD-A3AF-F2B85C4580AD}">
      <dsp:nvSpPr>
        <dsp:cNvPr id="0" name=""/>
        <dsp:cNvSpPr/>
      </dsp:nvSpPr>
      <dsp:spPr>
        <a:xfrm>
          <a:off x="4245035" y="15794"/>
          <a:ext cx="1860500" cy="720000"/>
        </a:xfrm>
        <a:prstGeom prst="rect">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lvl="0" algn="ctr" defTabSz="488950" rtl="0">
            <a:lnSpc>
              <a:spcPct val="90000"/>
            </a:lnSpc>
            <a:spcBef>
              <a:spcPct val="0"/>
            </a:spcBef>
            <a:spcAft>
              <a:spcPct val="35000"/>
            </a:spcAft>
          </a:pPr>
          <a:r>
            <a:rPr lang="fi-FI" sz="1100" b="1" kern="1200" dirty="0" smtClean="0"/>
            <a:t>Hyväksymistestauksen organisointi ja puitteet</a:t>
          </a:r>
          <a:endParaRPr lang="fi-FI" sz="1100" b="1" kern="1200" dirty="0"/>
        </a:p>
      </dsp:txBody>
      <dsp:txXfrm>
        <a:off x="4245035" y="15794"/>
        <a:ext cx="1860500" cy="720000"/>
      </dsp:txXfrm>
    </dsp:sp>
    <dsp:sp modelId="{2CE42794-9563-4A96-B9CC-520A06D6EE9D}">
      <dsp:nvSpPr>
        <dsp:cNvPr id="0" name=""/>
        <dsp:cNvSpPr/>
      </dsp:nvSpPr>
      <dsp:spPr>
        <a:xfrm>
          <a:off x="4245035" y="735794"/>
          <a:ext cx="1860500" cy="3774375"/>
        </a:xfrm>
        <a:prstGeom prst="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66725">
            <a:lnSpc>
              <a:spcPct val="90000"/>
            </a:lnSpc>
            <a:spcBef>
              <a:spcPct val="0"/>
            </a:spcBef>
            <a:spcAft>
              <a:spcPct val="15000"/>
            </a:spcAft>
            <a:buChar char="••"/>
          </a:pPr>
          <a:r>
            <a:rPr lang="fi-FI" sz="1050" kern="1200" dirty="0" smtClean="0"/>
            <a:t>Testausprosessi suunnittelusta läpivientiin</a:t>
          </a:r>
          <a:endParaRPr lang="fi-FI" sz="1050" kern="1200" dirty="0"/>
        </a:p>
        <a:p>
          <a:pPr marL="57150" lvl="1" indent="-57150" algn="l" defTabSz="466725">
            <a:lnSpc>
              <a:spcPct val="90000"/>
            </a:lnSpc>
            <a:spcBef>
              <a:spcPct val="0"/>
            </a:spcBef>
            <a:spcAft>
              <a:spcPct val="15000"/>
            </a:spcAft>
            <a:buChar char="••"/>
          </a:pPr>
          <a:r>
            <a:rPr lang="fi-FI" sz="1050" kern="1200" dirty="0" smtClean="0"/>
            <a:t>Toimittajan testauksien tarkastelu osana hyväksymistestausta</a:t>
          </a:r>
          <a:endParaRPr lang="fi-FI" sz="1050" kern="1200" dirty="0"/>
        </a:p>
        <a:p>
          <a:pPr marL="57150" lvl="1" indent="-57150" algn="l" defTabSz="466725">
            <a:lnSpc>
              <a:spcPct val="90000"/>
            </a:lnSpc>
            <a:spcBef>
              <a:spcPct val="0"/>
            </a:spcBef>
            <a:spcAft>
              <a:spcPct val="15000"/>
            </a:spcAft>
            <a:buChar char="••"/>
          </a:pPr>
          <a:r>
            <a:rPr lang="fi-FI" sz="1050" kern="1200" dirty="0" smtClean="0"/>
            <a:t>Ohjelmistokehityksen luonne, jatkuva muutos ja testauksen toistotarve</a:t>
          </a:r>
          <a:endParaRPr lang="fi-FI" sz="1050" kern="1200" dirty="0"/>
        </a:p>
        <a:p>
          <a:pPr marL="57150" lvl="1" indent="-57150" algn="l" defTabSz="466725">
            <a:lnSpc>
              <a:spcPct val="90000"/>
            </a:lnSpc>
            <a:spcBef>
              <a:spcPct val="0"/>
            </a:spcBef>
            <a:spcAft>
              <a:spcPct val="15000"/>
            </a:spcAft>
            <a:buChar char="••"/>
          </a:pPr>
          <a:r>
            <a:rPr lang="fi-FI" sz="1050" kern="1200" dirty="0" smtClean="0"/>
            <a:t>Testauksen työmäärät ja tehokkuus tuloksina ja kustannuksina</a:t>
          </a:r>
          <a:endParaRPr lang="fi-FI" sz="1050" kern="1200" dirty="0"/>
        </a:p>
        <a:p>
          <a:pPr marL="57150" lvl="1" indent="-57150" algn="l" defTabSz="466725">
            <a:lnSpc>
              <a:spcPct val="90000"/>
            </a:lnSpc>
            <a:spcBef>
              <a:spcPct val="0"/>
            </a:spcBef>
            <a:spcAft>
              <a:spcPct val="15000"/>
            </a:spcAft>
            <a:buChar char="••"/>
          </a:pPr>
          <a:r>
            <a:rPr lang="fi-FI" sz="1050" kern="1200" dirty="0" smtClean="0"/>
            <a:t>Riskiohjattu testaus: rajallisen työmäärän kohdistaminen</a:t>
          </a:r>
          <a:endParaRPr lang="fi-FI" sz="1050" kern="1200" dirty="0"/>
        </a:p>
        <a:p>
          <a:pPr marL="57150" lvl="1" indent="-57150" algn="l" defTabSz="466725">
            <a:lnSpc>
              <a:spcPct val="90000"/>
            </a:lnSpc>
            <a:spcBef>
              <a:spcPct val="0"/>
            </a:spcBef>
            <a:spcAft>
              <a:spcPct val="15000"/>
            </a:spcAft>
            <a:buChar char="••"/>
          </a:pPr>
          <a:r>
            <a:rPr lang="fi-FI" sz="1050" kern="1200" dirty="0" smtClean="0"/>
            <a:t>Havaintokirjausten käsittely ja muutoksista sopiminen</a:t>
          </a:r>
          <a:endParaRPr lang="fi-FI" sz="1050" kern="1200" dirty="0"/>
        </a:p>
        <a:p>
          <a:pPr marL="57150" lvl="1" indent="-57150" algn="l" defTabSz="466725">
            <a:lnSpc>
              <a:spcPct val="90000"/>
            </a:lnSpc>
            <a:spcBef>
              <a:spcPct val="0"/>
            </a:spcBef>
            <a:spcAft>
              <a:spcPct val="15000"/>
            </a:spcAft>
            <a:buChar char="••"/>
          </a:pPr>
          <a:r>
            <a:rPr lang="fi-FI" sz="1050" kern="1200" dirty="0" smtClean="0"/>
            <a:t>Testausympäristöt, testitapaukset ja testiaineisto</a:t>
          </a:r>
          <a:endParaRPr lang="fi-FI" sz="1050" kern="1200" dirty="0"/>
        </a:p>
        <a:p>
          <a:pPr marL="57150" lvl="1" indent="-57150" algn="l" defTabSz="466725">
            <a:lnSpc>
              <a:spcPct val="90000"/>
            </a:lnSpc>
            <a:spcBef>
              <a:spcPct val="0"/>
            </a:spcBef>
            <a:spcAft>
              <a:spcPct val="15000"/>
            </a:spcAft>
            <a:buChar char="••"/>
          </a:pPr>
          <a:r>
            <a:rPr lang="fi-FI" sz="1050" kern="1200" dirty="0" smtClean="0"/>
            <a:t>Testauksen hallinta, seuranta ja mittarit</a:t>
          </a:r>
          <a:endParaRPr lang="fi-FI" sz="1050" kern="1200" dirty="0"/>
        </a:p>
        <a:p>
          <a:pPr marL="57150" lvl="1" indent="-57150" algn="l" defTabSz="466725">
            <a:lnSpc>
              <a:spcPct val="90000"/>
            </a:lnSpc>
            <a:spcBef>
              <a:spcPct val="0"/>
            </a:spcBef>
            <a:spcAft>
              <a:spcPct val="15000"/>
            </a:spcAft>
            <a:buChar char="••"/>
          </a:pPr>
          <a:r>
            <a:rPr lang="fi-FI" sz="1050" kern="1200" dirty="0" smtClean="0"/>
            <a:t>Toistuva hyväksymistestaus ylläpitoluonteiselle kehitystyölle</a:t>
          </a:r>
        </a:p>
      </dsp:txBody>
      <dsp:txXfrm>
        <a:off x="4245035" y="735794"/>
        <a:ext cx="1860500" cy="3774375"/>
      </dsp:txXfrm>
    </dsp:sp>
    <dsp:sp modelId="{016C0C30-52FC-4CA5-B7B1-35861449347E}">
      <dsp:nvSpPr>
        <dsp:cNvPr id="0" name=""/>
        <dsp:cNvSpPr/>
      </dsp:nvSpPr>
      <dsp:spPr>
        <a:xfrm>
          <a:off x="6366005" y="15794"/>
          <a:ext cx="1860500" cy="720000"/>
        </a:xfrm>
        <a:prstGeom prst="rect">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lvl="0" algn="ctr" defTabSz="488950">
            <a:lnSpc>
              <a:spcPct val="90000"/>
            </a:lnSpc>
            <a:spcBef>
              <a:spcPct val="0"/>
            </a:spcBef>
            <a:spcAft>
              <a:spcPct val="35000"/>
            </a:spcAft>
          </a:pPr>
          <a:r>
            <a:rPr lang="fi-FI" sz="1100" b="1" kern="1200" dirty="0" smtClean="0"/>
            <a:t>Testaus vaatimuksia ja odotuksia vastaan</a:t>
          </a:r>
          <a:endParaRPr lang="fi-FI" sz="1100" b="1" kern="1200" dirty="0"/>
        </a:p>
      </dsp:txBody>
      <dsp:txXfrm>
        <a:off x="6366005" y="15794"/>
        <a:ext cx="1860500" cy="720000"/>
      </dsp:txXfrm>
    </dsp:sp>
    <dsp:sp modelId="{882F28AC-AD1B-4E0E-AEA6-8989F5CE6A35}">
      <dsp:nvSpPr>
        <dsp:cNvPr id="0" name=""/>
        <dsp:cNvSpPr/>
      </dsp:nvSpPr>
      <dsp:spPr>
        <a:xfrm>
          <a:off x="6366005" y="735794"/>
          <a:ext cx="1860500" cy="3774375"/>
        </a:xfrm>
        <a:prstGeom prst="rect">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66725">
            <a:lnSpc>
              <a:spcPct val="90000"/>
            </a:lnSpc>
            <a:spcBef>
              <a:spcPct val="0"/>
            </a:spcBef>
            <a:spcAft>
              <a:spcPct val="15000"/>
            </a:spcAft>
            <a:buChar char="••"/>
          </a:pPr>
          <a:r>
            <a:rPr lang="fi-FI" sz="1050" kern="1200" dirty="0" smtClean="0"/>
            <a:t>Sovellusalueosaamisen ja liiketoimintaprosessin osaamisen käyttö hyväksymistestauksessa</a:t>
          </a:r>
          <a:endParaRPr lang="fi-FI" sz="1050" kern="1200" dirty="0"/>
        </a:p>
        <a:p>
          <a:pPr marL="57150" lvl="1" indent="-57150" algn="l" defTabSz="466725">
            <a:lnSpc>
              <a:spcPct val="90000"/>
            </a:lnSpc>
            <a:spcBef>
              <a:spcPct val="0"/>
            </a:spcBef>
            <a:spcAft>
              <a:spcPct val="15000"/>
            </a:spcAft>
            <a:buChar char="••"/>
          </a:pPr>
          <a:r>
            <a:rPr lang="fi-FI" sz="1050" kern="1200" dirty="0" smtClean="0"/>
            <a:t>Vaatimusten järjestelmällinen läpikäynti</a:t>
          </a:r>
          <a:endParaRPr lang="fi-FI" sz="1050" kern="1200" dirty="0"/>
        </a:p>
        <a:p>
          <a:pPr marL="57150" lvl="1" indent="-57150" algn="l" defTabSz="466725">
            <a:lnSpc>
              <a:spcPct val="90000"/>
            </a:lnSpc>
            <a:spcBef>
              <a:spcPct val="0"/>
            </a:spcBef>
            <a:spcAft>
              <a:spcPct val="15000"/>
            </a:spcAft>
            <a:buChar char="••"/>
          </a:pPr>
          <a:r>
            <a:rPr lang="fi-FI" sz="1050" kern="1200" dirty="0" smtClean="0"/>
            <a:t>Testitapausten merkitys hyväksymistestaukselle</a:t>
          </a:r>
          <a:endParaRPr lang="fi-FI" sz="1050" kern="1200" dirty="0"/>
        </a:p>
        <a:p>
          <a:pPr marL="57150" lvl="1" indent="-57150" algn="l" defTabSz="466725">
            <a:lnSpc>
              <a:spcPct val="90000"/>
            </a:lnSpc>
            <a:spcBef>
              <a:spcPct val="0"/>
            </a:spcBef>
            <a:spcAft>
              <a:spcPct val="15000"/>
            </a:spcAft>
            <a:buChar char="••"/>
          </a:pPr>
          <a:r>
            <a:rPr lang="fi-FI" sz="1050" kern="1200" dirty="0" smtClean="0"/>
            <a:t>Hyväksymistestausta tukevat testitapaukset</a:t>
          </a:r>
          <a:endParaRPr lang="fi-FI" sz="1050" kern="1200" dirty="0"/>
        </a:p>
        <a:p>
          <a:pPr marL="57150" lvl="1" indent="-57150" algn="l" defTabSz="466725">
            <a:lnSpc>
              <a:spcPct val="90000"/>
            </a:lnSpc>
            <a:spcBef>
              <a:spcPct val="0"/>
            </a:spcBef>
            <a:spcAft>
              <a:spcPct val="15000"/>
            </a:spcAft>
            <a:buChar char="••"/>
          </a:pPr>
          <a:r>
            <a:rPr lang="fi-FI" sz="1050" kern="1200" dirty="0" smtClean="0"/>
            <a:t>Testitapausten priorisointi hyväksymistestaukselle: mistä tiedetään mikä on tärkeää liiketoiminnalle</a:t>
          </a:r>
          <a:endParaRPr lang="fi-FI" sz="1050" kern="1200" dirty="0"/>
        </a:p>
        <a:p>
          <a:pPr marL="57150" lvl="1" indent="-57150" algn="l" defTabSz="466725">
            <a:lnSpc>
              <a:spcPct val="90000"/>
            </a:lnSpc>
            <a:spcBef>
              <a:spcPct val="0"/>
            </a:spcBef>
            <a:spcAft>
              <a:spcPct val="15000"/>
            </a:spcAft>
            <a:buChar char="••"/>
          </a:pPr>
          <a:r>
            <a:rPr lang="fi-FI" sz="1050" kern="1200" dirty="0" smtClean="0"/>
            <a:t>Kelpuuttaminen käyttöön vs. todentaminen suhteessa vaatimuksiin</a:t>
          </a:r>
        </a:p>
      </dsp:txBody>
      <dsp:txXfrm>
        <a:off x="6366005" y="735794"/>
        <a:ext cx="1860500" cy="377437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216438-0285-49FA-A267-42725CEF5B9D}">
      <dsp:nvSpPr>
        <dsp:cNvPr id="0" name=""/>
        <dsp:cNvSpPr/>
      </dsp:nvSpPr>
      <dsp:spPr>
        <a:xfrm>
          <a:off x="6335" y="956580"/>
          <a:ext cx="1037849" cy="856009"/>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13335" rIns="13335" bIns="13335" numCol="1" spcCol="1270" anchor="t" anchorCtr="0">
          <a:noAutofit/>
        </a:bodyPr>
        <a:lstStyle/>
        <a:p>
          <a:pPr marL="57150" lvl="1" indent="-57150" algn="l" defTabSz="311150" rtl="0">
            <a:lnSpc>
              <a:spcPct val="90000"/>
            </a:lnSpc>
            <a:spcBef>
              <a:spcPct val="0"/>
            </a:spcBef>
            <a:spcAft>
              <a:spcPct val="15000"/>
            </a:spcAft>
            <a:buChar char="••"/>
          </a:pPr>
          <a:r>
            <a:rPr lang="fi-FI" sz="700" kern="1200" dirty="0" smtClean="0"/>
            <a:t>Hyväksymistestauksen edellytykset kunnossa?</a:t>
          </a:r>
          <a:endParaRPr lang="en-US" sz="700" kern="1200" dirty="0"/>
        </a:p>
        <a:p>
          <a:pPr marL="57150" lvl="1" indent="-57150" algn="l" defTabSz="311150" rtl="0">
            <a:lnSpc>
              <a:spcPct val="90000"/>
            </a:lnSpc>
            <a:spcBef>
              <a:spcPct val="0"/>
            </a:spcBef>
            <a:spcAft>
              <a:spcPct val="15000"/>
            </a:spcAft>
            <a:buChar char="••"/>
          </a:pPr>
          <a:r>
            <a:rPr lang="fi-FI" sz="700" kern="1200" dirty="0" smtClean="0"/>
            <a:t>Arvio vaihtoehdoista testauksen ja laadunvarmistuksen näkökulmasta</a:t>
          </a:r>
          <a:endParaRPr lang="en-US" sz="700" kern="1200" dirty="0"/>
        </a:p>
      </dsp:txBody>
      <dsp:txXfrm>
        <a:off x="26034" y="976279"/>
        <a:ext cx="998451" cy="633180"/>
      </dsp:txXfrm>
    </dsp:sp>
    <dsp:sp modelId="{00C059B6-A293-4F06-8BBE-A96631B4D6E4}">
      <dsp:nvSpPr>
        <dsp:cNvPr id="0" name=""/>
        <dsp:cNvSpPr/>
      </dsp:nvSpPr>
      <dsp:spPr>
        <a:xfrm>
          <a:off x="563060" y="1065212"/>
          <a:ext cx="1285258" cy="1285258"/>
        </a:xfrm>
        <a:prstGeom prst="leftCircularArrow">
          <a:avLst>
            <a:gd name="adj1" fmla="val 4241"/>
            <a:gd name="adj2" fmla="val 535756"/>
            <a:gd name="adj3" fmla="val 2311267"/>
            <a:gd name="adj4" fmla="val 9024489"/>
            <a:gd name="adj5" fmla="val 4948"/>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3139389-E258-4AFE-9863-D755AB7A2AD4}">
      <dsp:nvSpPr>
        <dsp:cNvPr id="0" name=""/>
        <dsp:cNvSpPr/>
      </dsp:nvSpPr>
      <dsp:spPr>
        <a:xfrm>
          <a:off x="236968" y="1629159"/>
          <a:ext cx="922533" cy="366861"/>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lvl="0" algn="ctr" defTabSz="533400" rtl="0">
            <a:lnSpc>
              <a:spcPct val="90000"/>
            </a:lnSpc>
            <a:spcBef>
              <a:spcPct val="0"/>
            </a:spcBef>
            <a:spcAft>
              <a:spcPct val="35000"/>
            </a:spcAft>
          </a:pPr>
          <a:r>
            <a:rPr lang="fi-FI" sz="1200" kern="1200" dirty="0" smtClean="0"/>
            <a:t>Tarjous-prosessi</a:t>
          </a:r>
          <a:endParaRPr lang="en-US" sz="1200" kern="1200" dirty="0"/>
        </a:p>
      </dsp:txBody>
      <dsp:txXfrm>
        <a:off x="247713" y="1639904"/>
        <a:ext cx="901043" cy="345371"/>
      </dsp:txXfrm>
    </dsp:sp>
    <dsp:sp modelId="{C582EA06-BC04-4487-8E70-BE0C787D1385}">
      <dsp:nvSpPr>
        <dsp:cNvPr id="0" name=""/>
        <dsp:cNvSpPr/>
      </dsp:nvSpPr>
      <dsp:spPr>
        <a:xfrm>
          <a:off x="1419087" y="956580"/>
          <a:ext cx="1037849" cy="85600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13335" rIns="13335" bIns="13335" numCol="1" spcCol="1270" anchor="t" anchorCtr="0">
          <a:noAutofit/>
        </a:bodyPr>
        <a:lstStyle/>
        <a:p>
          <a:pPr marL="57150" lvl="1" indent="-57150" algn="l" defTabSz="311150" rtl="0">
            <a:lnSpc>
              <a:spcPct val="90000"/>
            </a:lnSpc>
            <a:spcBef>
              <a:spcPct val="0"/>
            </a:spcBef>
            <a:spcAft>
              <a:spcPct val="15000"/>
            </a:spcAft>
            <a:buChar char="••"/>
          </a:pPr>
          <a:r>
            <a:rPr lang="fi-FI" sz="700" kern="1200" dirty="0" smtClean="0"/>
            <a:t>Edellytysten sopimuksellinen varmistaminen</a:t>
          </a:r>
          <a:endParaRPr lang="en-US" sz="700" kern="1200" dirty="0"/>
        </a:p>
      </dsp:txBody>
      <dsp:txXfrm>
        <a:off x="1438786" y="1159710"/>
        <a:ext cx="998451" cy="633180"/>
      </dsp:txXfrm>
    </dsp:sp>
    <dsp:sp modelId="{D18818D4-AD7C-462C-B2CF-65DA383EEB21}">
      <dsp:nvSpPr>
        <dsp:cNvPr id="0" name=""/>
        <dsp:cNvSpPr/>
      </dsp:nvSpPr>
      <dsp:spPr>
        <a:xfrm>
          <a:off x="1967164" y="385136"/>
          <a:ext cx="1417872" cy="1417872"/>
        </a:xfrm>
        <a:prstGeom prst="circularArrow">
          <a:avLst>
            <a:gd name="adj1" fmla="val 3845"/>
            <a:gd name="adj2" fmla="val 480999"/>
            <a:gd name="adj3" fmla="val 19343490"/>
            <a:gd name="adj4" fmla="val 12575511"/>
            <a:gd name="adj5" fmla="val 4485"/>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E2DAF18-08B1-4930-802A-E1EB525128F8}">
      <dsp:nvSpPr>
        <dsp:cNvPr id="0" name=""/>
        <dsp:cNvSpPr/>
      </dsp:nvSpPr>
      <dsp:spPr>
        <a:xfrm>
          <a:off x="1649721" y="773150"/>
          <a:ext cx="922533" cy="366861"/>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lvl="0" algn="ctr" defTabSz="533400" rtl="0">
            <a:lnSpc>
              <a:spcPct val="90000"/>
            </a:lnSpc>
            <a:spcBef>
              <a:spcPct val="0"/>
            </a:spcBef>
            <a:spcAft>
              <a:spcPct val="35000"/>
            </a:spcAft>
          </a:pPr>
          <a:r>
            <a:rPr lang="fi-FI" sz="1200" kern="1200" dirty="0" smtClean="0"/>
            <a:t>Sopimuksien syntyminen</a:t>
          </a:r>
          <a:endParaRPr lang="en-US" sz="1200" kern="1200" dirty="0"/>
        </a:p>
      </dsp:txBody>
      <dsp:txXfrm>
        <a:off x="1660466" y="783895"/>
        <a:ext cx="901043" cy="345371"/>
      </dsp:txXfrm>
    </dsp:sp>
    <dsp:sp modelId="{DCF8FD84-3A48-4189-B4F1-F8BE494FA74F}">
      <dsp:nvSpPr>
        <dsp:cNvPr id="0" name=""/>
        <dsp:cNvSpPr/>
      </dsp:nvSpPr>
      <dsp:spPr>
        <a:xfrm>
          <a:off x="2831840" y="956580"/>
          <a:ext cx="1037849" cy="856009"/>
        </a:xfrm>
        <a:prstGeom prst="roundRect">
          <a:avLst>
            <a:gd name="adj" fmla="val 10000"/>
          </a:avLst>
        </a:prstGeom>
        <a:solidFill>
          <a:schemeClr val="lt1">
            <a:alpha val="90000"/>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13335" rIns="13335" bIns="13335" numCol="1" spcCol="1270" anchor="t" anchorCtr="0">
          <a:noAutofit/>
        </a:bodyPr>
        <a:lstStyle/>
        <a:p>
          <a:pPr marL="57150" lvl="1" indent="-57150" algn="l" defTabSz="311150" rtl="0">
            <a:lnSpc>
              <a:spcPct val="90000"/>
            </a:lnSpc>
            <a:spcBef>
              <a:spcPct val="0"/>
            </a:spcBef>
            <a:spcAft>
              <a:spcPct val="15000"/>
            </a:spcAft>
            <a:buChar char="••"/>
          </a:pPr>
          <a:r>
            <a:rPr lang="fi-FI" sz="700" kern="1200" dirty="0" smtClean="0"/>
            <a:t>Hyväksymistestaus osana tietotekniikkahankkeen organisoitumista</a:t>
          </a:r>
          <a:endParaRPr lang="en-US" sz="700" kern="1200" dirty="0"/>
        </a:p>
      </dsp:txBody>
      <dsp:txXfrm>
        <a:off x="2851539" y="976279"/>
        <a:ext cx="998451" cy="633180"/>
      </dsp:txXfrm>
    </dsp:sp>
    <dsp:sp modelId="{BA09C402-73F0-4A22-9C1E-B07F04A38AD1}">
      <dsp:nvSpPr>
        <dsp:cNvPr id="0" name=""/>
        <dsp:cNvSpPr/>
      </dsp:nvSpPr>
      <dsp:spPr>
        <a:xfrm>
          <a:off x="3388566" y="1065212"/>
          <a:ext cx="1285258" cy="1285258"/>
        </a:xfrm>
        <a:prstGeom prst="leftCircularArrow">
          <a:avLst>
            <a:gd name="adj1" fmla="val 4241"/>
            <a:gd name="adj2" fmla="val 535756"/>
            <a:gd name="adj3" fmla="val 2311267"/>
            <a:gd name="adj4" fmla="val 9024489"/>
            <a:gd name="adj5" fmla="val 4948"/>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498D3CA-E29A-4B4F-9660-ADCC27F55A64}">
      <dsp:nvSpPr>
        <dsp:cNvPr id="0" name=""/>
        <dsp:cNvSpPr/>
      </dsp:nvSpPr>
      <dsp:spPr>
        <a:xfrm>
          <a:off x="3062473" y="1629159"/>
          <a:ext cx="922533" cy="366861"/>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lvl="0" algn="ctr" defTabSz="533400" rtl="0">
            <a:lnSpc>
              <a:spcPct val="90000"/>
            </a:lnSpc>
            <a:spcBef>
              <a:spcPct val="0"/>
            </a:spcBef>
            <a:spcAft>
              <a:spcPct val="35000"/>
            </a:spcAft>
          </a:pPr>
          <a:r>
            <a:rPr lang="fi-FI" sz="1200" kern="1200" dirty="0" smtClean="0"/>
            <a:t>Omat suunnitelmat</a:t>
          </a:r>
          <a:endParaRPr lang="en-US" sz="1200" kern="1200" dirty="0"/>
        </a:p>
      </dsp:txBody>
      <dsp:txXfrm>
        <a:off x="3073218" y="1639904"/>
        <a:ext cx="901043" cy="345371"/>
      </dsp:txXfrm>
    </dsp:sp>
    <dsp:sp modelId="{BBF989B2-8599-4B84-AA30-5FFCC9C08385}">
      <dsp:nvSpPr>
        <dsp:cNvPr id="0" name=""/>
        <dsp:cNvSpPr/>
      </dsp:nvSpPr>
      <dsp:spPr>
        <a:xfrm>
          <a:off x="4244593" y="956580"/>
          <a:ext cx="1037849" cy="856009"/>
        </a:xfrm>
        <a:prstGeom prst="roundRect">
          <a:avLst>
            <a:gd name="adj" fmla="val 10000"/>
          </a:avLst>
        </a:prstGeom>
        <a:solidFill>
          <a:schemeClr val="lt1">
            <a:alpha val="90000"/>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13335" rIns="13335" bIns="13335" numCol="1" spcCol="1270" anchor="t" anchorCtr="0">
          <a:noAutofit/>
        </a:bodyPr>
        <a:lstStyle/>
        <a:p>
          <a:pPr marL="57150" lvl="1" indent="-57150" algn="l" defTabSz="311150" rtl="0">
            <a:lnSpc>
              <a:spcPct val="90000"/>
            </a:lnSpc>
            <a:spcBef>
              <a:spcPct val="0"/>
            </a:spcBef>
            <a:spcAft>
              <a:spcPct val="15000"/>
            </a:spcAft>
            <a:buChar char="••"/>
          </a:pPr>
          <a:r>
            <a:rPr lang="fi-FI" sz="700" kern="1200" dirty="0" smtClean="0"/>
            <a:t>Hyväksymistestaus-valmiuksien luominen</a:t>
          </a:r>
          <a:endParaRPr lang="en-US" sz="700" kern="1200" dirty="0"/>
        </a:p>
      </dsp:txBody>
      <dsp:txXfrm>
        <a:off x="4264292" y="1159710"/>
        <a:ext cx="998451" cy="633180"/>
      </dsp:txXfrm>
    </dsp:sp>
    <dsp:sp modelId="{E320EA12-B612-4A35-9B27-6B83FC8571C9}">
      <dsp:nvSpPr>
        <dsp:cNvPr id="0" name=""/>
        <dsp:cNvSpPr/>
      </dsp:nvSpPr>
      <dsp:spPr>
        <a:xfrm>
          <a:off x="4792670" y="385136"/>
          <a:ext cx="1417872" cy="1417872"/>
        </a:xfrm>
        <a:prstGeom prst="circularArrow">
          <a:avLst>
            <a:gd name="adj1" fmla="val 3845"/>
            <a:gd name="adj2" fmla="val 480999"/>
            <a:gd name="adj3" fmla="val 19343490"/>
            <a:gd name="adj4" fmla="val 12575511"/>
            <a:gd name="adj5" fmla="val 4485"/>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3B4A6BA-A847-4C60-B6C1-0C9A816F6026}">
      <dsp:nvSpPr>
        <dsp:cNvPr id="0" name=""/>
        <dsp:cNvSpPr/>
      </dsp:nvSpPr>
      <dsp:spPr>
        <a:xfrm>
          <a:off x="4475226" y="773150"/>
          <a:ext cx="922533" cy="366861"/>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lvl="0" algn="ctr" defTabSz="533400" rtl="0">
            <a:lnSpc>
              <a:spcPct val="90000"/>
            </a:lnSpc>
            <a:spcBef>
              <a:spcPct val="0"/>
            </a:spcBef>
            <a:spcAft>
              <a:spcPct val="35000"/>
            </a:spcAft>
          </a:pPr>
          <a:r>
            <a:rPr lang="fi-FI" sz="1200" kern="1200" dirty="0" err="1" smtClean="0"/>
            <a:t>Valmistau-tuminen</a:t>
          </a:r>
          <a:endParaRPr lang="en-US" sz="1200" kern="1200" dirty="0"/>
        </a:p>
      </dsp:txBody>
      <dsp:txXfrm>
        <a:off x="4485971" y="783895"/>
        <a:ext cx="901043" cy="345371"/>
      </dsp:txXfrm>
    </dsp:sp>
    <dsp:sp modelId="{C257F2E2-1086-44A5-95DC-5DA4C7B8BBFE}">
      <dsp:nvSpPr>
        <dsp:cNvPr id="0" name=""/>
        <dsp:cNvSpPr/>
      </dsp:nvSpPr>
      <dsp:spPr>
        <a:xfrm>
          <a:off x="5657345" y="956580"/>
          <a:ext cx="1037849" cy="856009"/>
        </a:xfrm>
        <a:prstGeom prst="roundRect">
          <a:avLst>
            <a:gd name="adj" fmla="val 10000"/>
          </a:avLst>
        </a:prstGeom>
        <a:solidFill>
          <a:schemeClr val="lt1">
            <a:alpha val="90000"/>
            <a:hueOff val="0"/>
            <a:satOff val="0"/>
            <a:lumOff val="0"/>
            <a:alphaOff val="0"/>
          </a:schemeClr>
        </a:solidFill>
        <a:ln w="254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13335" rIns="13335" bIns="13335" numCol="1" spcCol="1270" anchor="t" anchorCtr="0">
          <a:noAutofit/>
        </a:bodyPr>
        <a:lstStyle/>
        <a:p>
          <a:pPr marL="57150" lvl="1" indent="-57150" algn="l" defTabSz="311150" rtl="0">
            <a:lnSpc>
              <a:spcPct val="90000"/>
            </a:lnSpc>
            <a:spcBef>
              <a:spcPct val="0"/>
            </a:spcBef>
            <a:spcAft>
              <a:spcPct val="15000"/>
            </a:spcAft>
            <a:buChar char="••"/>
          </a:pPr>
          <a:r>
            <a:rPr lang="fi-FI" sz="700" kern="1200" dirty="0" smtClean="0"/>
            <a:t>Tilanneanalyysi muutostarpeista</a:t>
          </a:r>
          <a:endParaRPr lang="en-US" sz="700" kern="1200" dirty="0"/>
        </a:p>
        <a:p>
          <a:pPr marL="57150" lvl="1" indent="-57150" algn="l" defTabSz="311150" rtl="0">
            <a:lnSpc>
              <a:spcPct val="90000"/>
            </a:lnSpc>
            <a:spcBef>
              <a:spcPct val="0"/>
            </a:spcBef>
            <a:spcAft>
              <a:spcPct val="15000"/>
            </a:spcAft>
            <a:buChar char="••"/>
          </a:pPr>
          <a:r>
            <a:rPr lang="fi-FI" sz="700" kern="1200" dirty="0" smtClean="0"/>
            <a:t>Toimittajan testaukseen reagointi</a:t>
          </a:r>
          <a:endParaRPr lang="en-US" sz="700" kern="1200" dirty="0"/>
        </a:p>
      </dsp:txBody>
      <dsp:txXfrm>
        <a:off x="5677044" y="976279"/>
        <a:ext cx="998451" cy="633180"/>
      </dsp:txXfrm>
    </dsp:sp>
    <dsp:sp modelId="{E43BDBF3-DD8D-4B4F-B133-B38F772A4877}">
      <dsp:nvSpPr>
        <dsp:cNvPr id="0" name=""/>
        <dsp:cNvSpPr/>
      </dsp:nvSpPr>
      <dsp:spPr>
        <a:xfrm>
          <a:off x="6214071" y="1065212"/>
          <a:ext cx="1285258" cy="1285258"/>
        </a:xfrm>
        <a:prstGeom prst="leftCircularArrow">
          <a:avLst>
            <a:gd name="adj1" fmla="val 4241"/>
            <a:gd name="adj2" fmla="val 535756"/>
            <a:gd name="adj3" fmla="val 2311267"/>
            <a:gd name="adj4" fmla="val 9024489"/>
            <a:gd name="adj5" fmla="val 4948"/>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0D37166-FEB6-47C4-87C4-3413F614521B}">
      <dsp:nvSpPr>
        <dsp:cNvPr id="0" name=""/>
        <dsp:cNvSpPr/>
      </dsp:nvSpPr>
      <dsp:spPr>
        <a:xfrm>
          <a:off x="5887978" y="1629159"/>
          <a:ext cx="922533" cy="366861"/>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lvl="0" algn="ctr" defTabSz="533400" rtl="0">
            <a:lnSpc>
              <a:spcPct val="90000"/>
            </a:lnSpc>
            <a:spcBef>
              <a:spcPct val="0"/>
            </a:spcBef>
            <a:spcAft>
              <a:spcPct val="35000"/>
            </a:spcAft>
          </a:pPr>
          <a:r>
            <a:rPr lang="fi-FI" sz="1200" kern="1200" dirty="0" err="1" smtClean="0"/>
            <a:t>Täydentä-minen</a:t>
          </a:r>
          <a:endParaRPr lang="en-US" sz="1200" kern="1200" dirty="0"/>
        </a:p>
      </dsp:txBody>
      <dsp:txXfrm>
        <a:off x="5898723" y="1639904"/>
        <a:ext cx="901043" cy="345371"/>
      </dsp:txXfrm>
    </dsp:sp>
    <dsp:sp modelId="{B527B6A8-429F-4ABA-AD86-B9731A890756}">
      <dsp:nvSpPr>
        <dsp:cNvPr id="0" name=""/>
        <dsp:cNvSpPr/>
      </dsp:nvSpPr>
      <dsp:spPr>
        <a:xfrm>
          <a:off x="7070098" y="956580"/>
          <a:ext cx="1037849" cy="856009"/>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13335" rIns="13335" bIns="13335" numCol="1" spcCol="1270" anchor="t" anchorCtr="0">
          <a:noAutofit/>
        </a:bodyPr>
        <a:lstStyle/>
        <a:p>
          <a:pPr marL="57150" lvl="1" indent="-57150" algn="l" defTabSz="311150" rtl="0">
            <a:lnSpc>
              <a:spcPct val="90000"/>
            </a:lnSpc>
            <a:spcBef>
              <a:spcPct val="0"/>
            </a:spcBef>
            <a:spcAft>
              <a:spcPct val="15000"/>
            </a:spcAft>
            <a:buChar char="••"/>
          </a:pPr>
          <a:r>
            <a:rPr lang="fi-FI" sz="700" kern="1200" dirty="0" smtClean="0"/>
            <a:t>Tarpeelliset tiedot hyväksymispäätökselle</a:t>
          </a:r>
          <a:endParaRPr lang="en-US" sz="700" kern="1200" dirty="0"/>
        </a:p>
        <a:p>
          <a:pPr marL="57150" lvl="1" indent="-57150" algn="l" defTabSz="311150" rtl="0">
            <a:lnSpc>
              <a:spcPct val="90000"/>
            </a:lnSpc>
            <a:spcBef>
              <a:spcPct val="0"/>
            </a:spcBef>
            <a:spcAft>
              <a:spcPct val="15000"/>
            </a:spcAft>
            <a:buChar char="••"/>
          </a:pPr>
          <a:r>
            <a:rPr lang="fi-FI" sz="700" kern="1200" dirty="0" smtClean="0"/>
            <a:t>Sopimushyväksyntä ja </a:t>
          </a:r>
          <a:r>
            <a:rPr lang="fi-FI" sz="700" kern="1200" dirty="0" err="1" smtClean="0"/>
            <a:t>tuotantoonhyväksyntä</a:t>
          </a:r>
          <a:endParaRPr lang="en-US" sz="700" kern="1200" dirty="0"/>
        </a:p>
      </dsp:txBody>
      <dsp:txXfrm>
        <a:off x="7089797" y="1159710"/>
        <a:ext cx="998451" cy="633180"/>
      </dsp:txXfrm>
    </dsp:sp>
    <dsp:sp modelId="{4FFD6AE6-16F1-44F7-9B73-B5DAA17D7A40}">
      <dsp:nvSpPr>
        <dsp:cNvPr id="0" name=""/>
        <dsp:cNvSpPr/>
      </dsp:nvSpPr>
      <dsp:spPr>
        <a:xfrm>
          <a:off x="7300731" y="773150"/>
          <a:ext cx="922533" cy="366861"/>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lvl="0" algn="ctr" defTabSz="533400" rtl="0">
            <a:lnSpc>
              <a:spcPct val="90000"/>
            </a:lnSpc>
            <a:spcBef>
              <a:spcPct val="0"/>
            </a:spcBef>
            <a:spcAft>
              <a:spcPct val="35000"/>
            </a:spcAft>
          </a:pPr>
          <a:r>
            <a:rPr lang="fi-FI" sz="1200" kern="1200" dirty="0" smtClean="0"/>
            <a:t>Testaus ja viimeistely</a:t>
          </a:r>
          <a:endParaRPr lang="en-US" sz="1200" kern="1200" dirty="0"/>
        </a:p>
      </dsp:txBody>
      <dsp:txXfrm>
        <a:off x="7311476" y="783895"/>
        <a:ext cx="901043" cy="34537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C5D979-4E46-4FFC-B302-ED62E9BD527E}">
      <dsp:nvSpPr>
        <dsp:cNvPr id="0" name=""/>
        <dsp:cNvSpPr/>
      </dsp:nvSpPr>
      <dsp:spPr>
        <a:xfrm rot="5400000">
          <a:off x="5248282" y="-2196676"/>
          <a:ext cx="695690" cy="5266944"/>
        </a:xfrm>
        <a:prstGeom prst="round2SameRect">
          <a:avLst/>
        </a:prstGeom>
        <a:solidFill>
          <a:schemeClr val="dk2">
            <a:alpha val="90000"/>
            <a:tint val="40000"/>
            <a:hueOff val="0"/>
            <a:satOff val="0"/>
            <a:lumOff val="0"/>
            <a:alphaOff val="0"/>
          </a:schemeClr>
        </a:solidFill>
        <a:ln w="25400"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36195" rIns="72390" bIns="36195" numCol="1" spcCol="1270" anchor="ctr" anchorCtr="0">
          <a:noAutofit/>
        </a:bodyPr>
        <a:lstStyle/>
        <a:p>
          <a:pPr marL="171450" lvl="1" indent="-171450" algn="l" defTabSz="844550" rtl="0">
            <a:lnSpc>
              <a:spcPct val="90000"/>
            </a:lnSpc>
            <a:spcBef>
              <a:spcPct val="0"/>
            </a:spcBef>
            <a:spcAft>
              <a:spcPct val="15000"/>
            </a:spcAft>
            <a:buChar char="••"/>
          </a:pPr>
          <a:r>
            <a:rPr lang="fi-FI" sz="1900" kern="1200" dirty="0" smtClean="0"/>
            <a:t>Ei virheitä, ei määrittelymuutoksia</a:t>
          </a:r>
          <a:endParaRPr lang="en-US" sz="1900" kern="1200" dirty="0"/>
        </a:p>
      </dsp:txBody>
      <dsp:txXfrm rot="-5400000">
        <a:off x="2962656" y="122911"/>
        <a:ext cx="5232983" cy="627768"/>
      </dsp:txXfrm>
    </dsp:sp>
    <dsp:sp modelId="{13F85B0C-CDB4-4C79-B7E8-7D2957B05424}">
      <dsp:nvSpPr>
        <dsp:cNvPr id="0" name=""/>
        <dsp:cNvSpPr/>
      </dsp:nvSpPr>
      <dsp:spPr>
        <a:xfrm>
          <a:off x="0" y="1988"/>
          <a:ext cx="2962656" cy="869612"/>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Optimistinen hyväksymistestauksen tekeminen</a:t>
          </a:r>
          <a:endParaRPr lang="en-US" sz="1600" kern="1200" dirty="0"/>
        </a:p>
      </dsp:txBody>
      <dsp:txXfrm>
        <a:off x="42451" y="44439"/>
        <a:ext cx="2877754" cy="784710"/>
      </dsp:txXfrm>
    </dsp:sp>
    <dsp:sp modelId="{FD4EDC9D-A9FF-45C6-8A7B-7D20DED1371A}">
      <dsp:nvSpPr>
        <dsp:cNvPr id="0" name=""/>
        <dsp:cNvSpPr/>
      </dsp:nvSpPr>
      <dsp:spPr>
        <a:xfrm rot="5400000">
          <a:off x="5248282" y="-1283583"/>
          <a:ext cx="695690" cy="5266944"/>
        </a:xfrm>
        <a:prstGeom prst="round2SameRect">
          <a:avLst/>
        </a:prstGeom>
        <a:solidFill>
          <a:schemeClr val="dk2">
            <a:alpha val="90000"/>
            <a:tint val="40000"/>
            <a:hueOff val="0"/>
            <a:satOff val="0"/>
            <a:lumOff val="0"/>
            <a:alphaOff val="0"/>
          </a:schemeClr>
        </a:solidFill>
        <a:ln w="25400"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36195" rIns="72390" bIns="36195" numCol="1" spcCol="1270" anchor="ctr" anchorCtr="0">
          <a:noAutofit/>
        </a:bodyPr>
        <a:lstStyle/>
        <a:p>
          <a:pPr marL="171450" lvl="1" indent="-171450" algn="l" defTabSz="844550" rtl="0">
            <a:lnSpc>
              <a:spcPct val="90000"/>
            </a:lnSpc>
            <a:spcBef>
              <a:spcPct val="0"/>
            </a:spcBef>
            <a:spcAft>
              <a:spcPct val="15000"/>
            </a:spcAft>
            <a:buChar char="••"/>
          </a:pPr>
          <a:r>
            <a:rPr lang="fi-FI" sz="1900" kern="1200" dirty="0" smtClean="0"/>
            <a:t>Virheistä uuteen luovutukseen ja hyväksymistestauksen uusintaan</a:t>
          </a:r>
          <a:endParaRPr lang="en-US" sz="1900" kern="1200" dirty="0"/>
        </a:p>
      </dsp:txBody>
      <dsp:txXfrm rot="-5400000">
        <a:off x="2962656" y="1036004"/>
        <a:ext cx="5232983" cy="627768"/>
      </dsp:txXfrm>
    </dsp:sp>
    <dsp:sp modelId="{2B0C999A-4871-4C7C-99F6-3FBA9C1DDFF2}">
      <dsp:nvSpPr>
        <dsp:cNvPr id="0" name=""/>
        <dsp:cNvSpPr/>
      </dsp:nvSpPr>
      <dsp:spPr>
        <a:xfrm>
          <a:off x="0" y="915082"/>
          <a:ext cx="2962656" cy="869612"/>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Virheitä löytävän hyväksymistestauksen tekeminen</a:t>
          </a:r>
          <a:endParaRPr lang="en-US" sz="1600" kern="1200" dirty="0"/>
        </a:p>
      </dsp:txBody>
      <dsp:txXfrm>
        <a:off x="42451" y="957533"/>
        <a:ext cx="2877754" cy="784710"/>
      </dsp:txXfrm>
    </dsp:sp>
    <dsp:sp modelId="{B9D7383C-D603-4F34-BEA0-D3B37F354650}">
      <dsp:nvSpPr>
        <dsp:cNvPr id="0" name=""/>
        <dsp:cNvSpPr/>
      </dsp:nvSpPr>
      <dsp:spPr>
        <a:xfrm rot="5400000">
          <a:off x="5248282" y="-370490"/>
          <a:ext cx="695690" cy="5266944"/>
        </a:xfrm>
        <a:prstGeom prst="round2SameRect">
          <a:avLst/>
        </a:prstGeom>
        <a:solidFill>
          <a:schemeClr val="dk2">
            <a:alpha val="90000"/>
            <a:tint val="40000"/>
            <a:hueOff val="0"/>
            <a:satOff val="0"/>
            <a:lumOff val="0"/>
            <a:alphaOff val="0"/>
          </a:schemeClr>
        </a:solidFill>
        <a:ln w="25400"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36195" rIns="72390" bIns="36195" numCol="1" spcCol="1270" anchor="ctr" anchorCtr="0">
          <a:noAutofit/>
        </a:bodyPr>
        <a:lstStyle/>
        <a:p>
          <a:pPr marL="171450" lvl="1" indent="-171450" algn="l" defTabSz="844550" rtl="0">
            <a:lnSpc>
              <a:spcPct val="90000"/>
            </a:lnSpc>
            <a:spcBef>
              <a:spcPct val="0"/>
            </a:spcBef>
            <a:spcAft>
              <a:spcPct val="15000"/>
            </a:spcAft>
            <a:buChar char="••"/>
          </a:pPr>
          <a:r>
            <a:rPr lang="fi-FI" sz="1900" kern="1200" dirty="0" smtClean="0"/>
            <a:t>Budjetin ja aikataulun uudelleenneuvottelu</a:t>
          </a:r>
          <a:endParaRPr lang="en-US" sz="1900" kern="1200" dirty="0"/>
        </a:p>
      </dsp:txBody>
      <dsp:txXfrm rot="-5400000">
        <a:off x="2962656" y="1949097"/>
        <a:ext cx="5232983" cy="627768"/>
      </dsp:txXfrm>
    </dsp:sp>
    <dsp:sp modelId="{53A121A5-3A7D-45BA-8828-016126F0B3EA}">
      <dsp:nvSpPr>
        <dsp:cNvPr id="0" name=""/>
        <dsp:cNvSpPr/>
      </dsp:nvSpPr>
      <dsp:spPr>
        <a:xfrm>
          <a:off x="0" y="1828175"/>
          <a:ext cx="2962656" cy="869612"/>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Määrittelymuutostarpeita löytävän hyväksymistestauksen tekeminen</a:t>
          </a:r>
          <a:endParaRPr lang="en-US" sz="1600" kern="1200" dirty="0"/>
        </a:p>
      </dsp:txBody>
      <dsp:txXfrm>
        <a:off x="42451" y="1870626"/>
        <a:ext cx="2877754" cy="784710"/>
      </dsp:txXfrm>
    </dsp:sp>
    <dsp:sp modelId="{49D1F22E-2D13-488A-9DF5-EF184BBD31D7}">
      <dsp:nvSpPr>
        <dsp:cNvPr id="0" name=""/>
        <dsp:cNvSpPr/>
      </dsp:nvSpPr>
      <dsp:spPr>
        <a:xfrm rot="5400000">
          <a:off x="5248282" y="542602"/>
          <a:ext cx="695690" cy="5266944"/>
        </a:xfrm>
        <a:prstGeom prst="round2SameRect">
          <a:avLst/>
        </a:prstGeom>
        <a:solidFill>
          <a:schemeClr val="dk2">
            <a:alpha val="90000"/>
            <a:tint val="40000"/>
            <a:hueOff val="0"/>
            <a:satOff val="0"/>
            <a:lumOff val="0"/>
            <a:alphaOff val="0"/>
          </a:schemeClr>
        </a:solidFill>
        <a:ln w="25400"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36195" rIns="72390" bIns="36195" numCol="1" spcCol="1270" anchor="ctr" anchorCtr="0">
          <a:noAutofit/>
        </a:bodyPr>
        <a:lstStyle/>
        <a:p>
          <a:pPr marL="171450" lvl="1" indent="-171450" algn="l" defTabSz="844550" rtl="0">
            <a:lnSpc>
              <a:spcPct val="90000"/>
            </a:lnSpc>
            <a:spcBef>
              <a:spcPct val="0"/>
            </a:spcBef>
            <a:spcAft>
              <a:spcPct val="15000"/>
            </a:spcAft>
            <a:buChar char="••"/>
          </a:pPr>
          <a:r>
            <a:rPr lang="fi-FI" sz="1900" kern="1200" dirty="0" smtClean="0"/>
            <a:t>Virheitä ja määrittelymuutoksia</a:t>
          </a:r>
          <a:endParaRPr lang="en-US" sz="1900" kern="1200" dirty="0"/>
        </a:p>
      </dsp:txBody>
      <dsp:txXfrm rot="-5400000">
        <a:off x="2962656" y="2862190"/>
        <a:ext cx="5232983" cy="627768"/>
      </dsp:txXfrm>
    </dsp:sp>
    <dsp:sp modelId="{10F9AE67-5F8B-4FDB-BDB3-7E2E805F44A7}">
      <dsp:nvSpPr>
        <dsp:cNvPr id="0" name=""/>
        <dsp:cNvSpPr/>
      </dsp:nvSpPr>
      <dsp:spPr>
        <a:xfrm>
          <a:off x="0" y="2741268"/>
          <a:ext cx="2962656" cy="869612"/>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Realistinen hyväksymistestauksen tekeminen</a:t>
          </a:r>
          <a:endParaRPr lang="en-US" sz="1600" kern="1200" dirty="0"/>
        </a:p>
      </dsp:txBody>
      <dsp:txXfrm>
        <a:off x="42451" y="2783719"/>
        <a:ext cx="2877754" cy="784710"/>
      </dsp:txXfrm>
    </dsp:sp>
    <dsp:sp modelId="{F1B0F6CC-6C0D-4063-9E07-E47E4F24BB8E}">
      <dsp:nvSpPr>
        <dsp:cNvPr id="0" name=""/>
        <dsp:cNvSpPr/>
      </dsp:nvSpPr>
      <dsp:spPr>
        <a:xfrm rot="5400000">
          <a:off x="5248282" y="1455695"/>
          <a:ext cx="695690" cy="5266944"/>
        </a:xfrm>
        <a:prstGeom prst="round2SameRect">
          <a:avLst/>
        </a:prstGeom>
        <a:solidFill>
          <a:schemeClr val="dk2">
            <a:alpha val="90000"/>
            <a:tint val="40000"/>
            <a:hueOff val="0"/>
            <a:satOff val="0"/>
            <a:lumOff val="0"/>
            <a:alphaOff val="0"/>
          </a:schemeClr>
        </a:solidFill>
        <a:ln w="25400"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36195" rIns="72390" bIns="36195" numCol="1" spcCol="1270" anchor="ctr" anchorCtr="0">
          <a:noAutofit/>
        </a:bodyPr>
        <a:lstStyle/>
        <a:p>
          <a:pPr marL="171450" lvl="1" indent="-171450" algn="l" defTabSz="844550" rtl="0">
            <a:lnSpc>
              <a:spcPct val="90000"/>
            </a:lnSpc>
            <a:spcBef>
              <a:spcPct val="0"/>
            </a:spcBef>
            <a:spcAft>
              <a:spcPct val="15000"/>
            </a:spcAft>
            <a:buChar char="••"/>
          </a:pPr>
          <a:r>
            <a:rPr lang="fi-FI" sz="1900" kern="1200" dirty="0" smtClean="0"/>
            <a:t>Aikataulun viivästäminen</a:t>
          </a:r>
          <a:endParaRPr lang="en-US" sz="1900" kern="1200" dirty="0"/>
        </a:p>
      </dsp:txBody>
      <dsp:txXfrm rot="-5400000">
        <a:off x="2962656" y="3775283"/>
        <a:ext cx="5232983" cy="627768"/>
      </dsp:txXfrm>
    </dsp:sp>
    <dsp:sp modelId="{17BBD68E-5EB6-40BB-B40D-5562A3D6A95F}">
      <dsp:nvSpPr>
        <dsp:cNvPr id="0" name=""/>
        <dsp:cNvSpPr/>
      </dsp:nvSpPr>
      <dsp:spPr>
        <a:xfrm>
          <a:off x="0" y="3654361"/>
          <a:ext cx="2962656" cy="869612"/>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Yllättävästi estynyt hyväksymistestaus</a:t>
          </a:r>
          <a:endParaRPr lang="en-US" sz="1600" kern="1200" dirty="0"/>
        </a:p>
      </dsp:txBody>
      <dsp:txXfrm>
        <a:off x="42451" y="3696812"/>
        <a:ext cx="2877754" cy="78471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8B8FDA-AD72-401B-BD35-7599BF773FB5}">
      <dsp:nvSpPr>
        <dsp:cNvPr id="0" name=""/>
        <dsp:cNvSpPr/>
      </dsp:nvSpPr>
      <dsp:spPr>
        <a:xfrm>
          <a:off x="3094" y="12154"/>
          <a:ext cx="1860500" cy="316800"/>
        </a:xfrm>
        <a:prstGeom prst="rect">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lvl="0" algn="ctr" defTabSz="488950">
            <a:lnSpc>
              <a:spcPct val="90000"/>
            </a:lnSpc>
            <a:spcBef>
              <a:spcPct val="0"/>
            </a:spcBef>
            <a:spcAft>
              <a:spcPct val="35000"/>
            </a:spcAft>
          </a:pPr>
          <a:r>
            <a:rPr lang="fi-FI" sz="1100" b="1" kern="1200" dirty="0" smtClean="0"/>
            <a:t>Tarjouspyynnön valmistelu</a:t>
          </a:r>
          <a:endParaRPr lang="en-US" sz="1100" b="1" kern="1200" dirty="0"/>
        </a:p>
      </dsp:txBody>
      <dsp:txXfrm>
        <a:off x="3094" y="12154"/>
        <a:ext cx="1860500" cy="316800"/>
      </dsp:txXfrm>
    </dsp:sp>
    <dsp:sp modelId="{1329C1D8-2ED7-42AD-AE84-217B8DECB76E}">
      <dsp:nvSpPr>
        <dsp:cNvPr id="0" name=""/>
        <dsp:cNvSpPr/>
      </dsp:nvSpPr>
      <dsp:spPr>
        <a:xfrm>
          <a:off x="3094" y="328954"/>
          <a:ext cx="1860500" cy="2539210"/>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88950">
            <a:lnSpc>
              <a:spcPct val="90000"/>
            </a:lnSpc>
            <a:spcBef>
              <a:spcPct val="0"/>
            </a:spcBef>
            <a:spcAft>
              <a:spcPct val="15000"/>
            </a:spcAft>
            <a:buChar char="••"/>
          </a:pPr>
          <a:r>
            <a:rPr lang="fi-FI" sz="1100" kern="1200" dirty="0" smtClean="0"/>
            <a:t>Järjestelmävaatimukset</a:t>
          </a:r>
          <a:endParaRPr lang="en-US" sz="1100" kern="1200" dirty="0"/>
        </a:p>
        <a:p>
          <a:pPr marL="57150" lvl="1" indent="-57150" algn="l" defTabSz="488950">
            <a:lnSpc>
              <a:spcPct val="90000"/>
            </a:lnSpc>
            <a:spcBef>
              <a:spcPct val="0"/>
            </a:spcBef>
            <a:spcAft>
              <a:spcPct val="15000"/>
            </a:spcAft>
            <a:buChar char="••"/>
          </a:pPr>
          <a:r>
            <a:rPr lang="fi-FI" sz="1100" kern="1200" dirty="0" smtClean="0"/>
            <a:t>Palveluvaatimukset</a:t>
          </a:r>
          <a:br>
            <a:rPr lang="fi-FI" sz="1100" kern="1200" dirty="0" smtClean="0"/>
          </a:br>
          <a:r>
            <a:rPr lang="fi-FI" sz="1100" kern="1200" dirty="0" smtClean="0"/>
            <a:t/>
          </a:r>
          <a:br>
            <a:rPr lang="fi-FI" sz="1100" kern="1200" dirty="0" smtClean="0"/>
          </a:br>
          <a:r>
            <a:rPr lang="fi-FI" sz="1100" kern="1200" dirty="0" smtClean="0">
              <a:sym typeface="Wingdings" pitchFamily="2" charset="2"/>
            </a:rPr>
            <a:t> vertailukelpoiset tarjoukset, jotka vastaavat odotuksia ja tarpeita, erot hinnoissa ja toimintamalleissa</a:t>
          </a:r>
          <a:endParaRPr lang="en-US" sz="1100" kern="1200" dirty="0"/>
        </a:p>
      </dsp:txBody>
      <dsp:txXfrm>
        <a:off x="3094" y="328954"/>
        <a:ext cx="1860500" cy="2539210"/>
      </dsp:txXfrm>
    </dsp:sp>
    <dsp:sp modelId="{B42C56CA-3BB9-46A9-A079-46E48B3F7730}">
      <dsp:nvSpPr>
        <dsp:cNvPr id="0" name=""/>
        <dsp:cNvSpPr/>
      </dsp:nvSpPr>
      <dsp:spPr>
        <a:xfrm>
          <a:off x="2124064" y="12154"/>
          <a:ext cx="1860500" cy="316800"/>
        </a:xfrm>
        <a:prstGeom prst="rect">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lvl="0" algn="ctr" defTabSz="488950">
            <a:lnSpc>
              <a:spcPct val="90000"/>
            </a:lnSpc>
            <a:spcBef>
              <a:spcPct val="0"/>
            </a:spcBef>
            <a:spcAft>
              <a:spcPct val="35000"/>
            </a:spcAft>
          </a:pPr>
          <a:r>
            <a:rPr lang="fi-FI" sz="1100" b="1" kern="1200" dirty="0" smtClean="0"/>
            <a:t>Tarjousten arviointi</a:t>
          </a:r>
          <a:endParaRPr lang="en-US" sz="1100" b="1" kern="1200" dirty="0"/>
        </a:p>
      </dsp:txBody>
      <dsp:txXfrm>
        <a:off x="2124064" y="12154"/>
        <a:ext cx="1860500" cy="316800"/>
      </dsp:txXfrm>
    </dsp:sp>
    <dsp:sp modelId="{393BE20D-8C44-4190-B16D-7D773AFE6BD9}">
      <dsp:nvSpPr>
        <dsp:cNvPr id="0" name=""/>
        <dsp:cNvSpPr/>
      </dsp:nvSpPr>
      <dsp:spPr>
        <a:xfrm>
          <a:off x="2124064" y="328954"/>
          <a:ext cx="1860500" cy="2539210"/>
        </a:xfrm>
        <a:prstGeom prst="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88950">
            <a:lnSpc>
              <a:spcPct val="90000"/>
            </a:lnSpc>
            <a:spcBef>
              <a:spcPct val="0"/>
            </a:spcBef>
            <a:spcAft>
              <a:spcPct val="15000"/>
            </a:spcAft>
            <a:buChar char="••"/>
          </a:pPr>
          <a:r>
            <a:rPr lang="fi-FI" sz="1100" kern="1200" dirty="0" smtClean="0"/>
            <a:t> Erilaisten tarjousten tekeminen vertailukelpoiseksi (kustannusriskien vaikutus hintaan)</a:t>
          </a:r>
          <a:br>
            <a:rPr lang="fi-FI" sz="1100" kern="1200" dirty="0" smtClean="0"/>
          </a:br>
          <a:r>
            <a:rPr lang="fi-FI" sz="1100" kern="1200" dirty="0" smtClean="0"/>
            <a:t/>
          </a:r>
          <a:br>
            <a:rPr lang="fi-FI" sz="1100" kern="1200" dirty="0" smtClean="0"/>
          </a:br>
          <a:r>
            <a:rPr lang="fi-FI" sz="1100" kern="1200" dirty="0" smtClean="0">
              <a:sym typeface="Wingdings" pitchFamily="2" charset="2"/>
            </a:rPr>
            <a:t> puuttuvien asioiden hinnoittelu, kohdistaminen toimijoille, hintojen selvittäminen</a:t>
          </a:r>
          <a:endParaRPr lang="en-US" sz="1100" kern="1200" dirty="0"/>
        </a:p>
      </dsp:txBody>
      <dsp:txXfrm>
        <a:off x="2124064" y="328954"/>
        <a:ext cx="1860500" cy="2539210"/>
      </dsp:txXfrm>
    </dsp:sp>
    <dsp:sp modelId="{FE7A7604-9CC5-4B06-8359-A58384DF1D0D}">
      <dsp:nvSpPr>
        <dsp:cNvPr id="0" name=""/>
        <dsp:cNvSpPr/>
      </dsp:nvSpPr>
      <dsp:spPr>
        <a:xfrm>
          <a:off x="4245035" y="12154"/>
          <a:ext cx="1860500" cy="316800"/>
        </a:xfrm>
        <a:prstGeom prst="rect">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lvl="0" algn="ctr" defTabSz="488950">
            <a:lnSpc>
              <a:spcPct val="90000"/>
            </a:lnSpc>
            <a:spcBef>
              <a:spcPct val="0"/>
            </a:spcBef>
            <a:spcAft>
              <a:spcPct val="35000"/>
            </a:spcAft>
          </a:pPr>
          <a:r>
            <a:rPr lang="fi-FI" sz="1100" b="1" kern="1200" dirty="0" smtClean="0"/>
            <a:t>Sopimusneuvottelu</a:t>
          </a:r>
          <a:endParaRPr lang="en-US" sz="1100" b="1" kern="1200" dirty="0"/>
        </a:p>
      </dsp:txBody>
      <dsp:txXfrm>
        <a:off x="4245035" y="12154"/>
        <a:ext cx="1860500" cy="316800"/>
      </dsp:txXfrm>
    </dsp:sp>
    <dsp:sp modelId="{58A989F6-DD1F-46CD-96D0-AC71EC7A807A}">
      <dsp:nvSpPr>
        <dsp:cNvPr id="0" name=""/>
        <dsp:cNvSpPr/>
      </dsp:nvSpPr>
      <dsp:spPr>
        <a:xfrm>
          <a:off x="4245035" y="328954"/>
          <a:ext cx="1860500" cy="2539210"/>
        </a:xfrm>
        <a:prstGeom prst="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88950">
            <a:lnSpc>
              <a:spcPct val="90000"/>
            </a:lnSpc>
            <a:spcBef>
              <a:spcPct val="0"/>
            </a:spcBef>
            <a:spcAft>
              <a:spcPct val="15000"/>
            </a:spcAft>
            <a:buChar char="••"/>
          </a:pPr>
          <a:r>
            <a:rPr lang="fi-FI" sz="1100" kern="1200" dirty="0" smtClean="0"/>
            <a:t> Tinkaaminen lisävaatimuksista</a:t>
          </a:r>
          <a:endParaRPr lang="en-US" sz="1100" kern="1200" dirty="0"/>
        </a:p>
        <a:p>
          <a:pPr marL="57150" lvl="1" indent="-57150" algn="l" defTabSz="488950">
            <a:lnSpc>
              <a:spcPct val="90000"/>
            </a:lnSpc>
            <a:spcBef>
              <a:spcPct val="0"/>
            </a:spcBef>
            <a:spcAft>
              <a:spcPct val="15000"/>
            </a:spcAft>
            <a:buChar char="••"/>
          </a:pPr>
          <a:r>
            <a:rPr lang="fi-FI" sz="1100" kern="1200" dirty="0" smtClean="0"/>
            <a:t> Uusi tarjouskierros, tämä kierros oppimisena</a:t>
          </a:r>
          <a:br>
            <a:rPr lang="fi-FI" sz="1100" kern="1200" dirty="0" smtClean="0"/>
          </a:br>
          <a:r>
            <a:rPr lang="fi-FI" sz="1100" kern="1200" dirty="0" smtClean="0"/>
            <a:t/>
          </a:r>
          <a:br>
            <a:rPr lang="fi-FI" sz="1100" kern="1200" dirty="0" smtClean="0"/>
          </a:br>
          <a:r>
            <a:rPr lang="fi-FI" sz="1100" kern="1200" dirty="0" smtClean="0">
              <a:sym typeface="Wingdings" pitchFamily="2" charset="2"/>
            </a:rPr>
            <a:t> Tiukka aikataulu, toimittaja tehnyt oletukset tarjoukseensa sisältyville työmäärille, joista haluton joustamaan</a:t>
          </a:r>
          <a:endParaRPr lang="en-US" sz="1100" kern="1200" dirty="0"/>
        </a:p>
      </dsp:txBody>
      <dsp:txXfrm>
        <a:off x="4245035" y="328954"/>
        <a:ext cx="1860500" cy="2539210"/>
      </dsp:txXfrm>
    </dsp:sp>
    <dsp:sp modelId="{0247512D-B4C9-4784-BA17-ABDF745F68BB}">
      <dsp:nvSpPr>
        <dsp:cNvPr id="0" name=""/>
        <dsp:cNvSpPr/>
      </dsp:nvSpPr>
      <dsp:spPr>
        <a:xfrm>
          <a:off x="6366005" y="12154"/>
          <a:ext cx="1860500" cy="316800"/>
        </a:xfrm>
        <a:prstGeom prst="rect">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lvl="0" algn="ctr" defTabSz="488950">
            <a:lnSpc>
              <a:spcPct val="90000"/>
            </a:lnSpc>
            <a:spcBef>
              <a:spcPct val="0"/>
            </a:spcBef>
            <a:spcAft>
              <a:spcPct val="35000"/>
            </a:spcAft>
          </a:pPr>
          <a:r>
            <a:rPr lang="fi-FI" sz="1100" b="1" kern="1200" dirty="0" smtClean="0"/>
            <a:t>Vaatimusten</a:t>
          </a:r>
          <a:r>
            <a:rPr lang="fi-FI" sz="1100" kern="1200" dirty="0" smtClean="0"/>
            <a:t> </a:t>
          </a:r>
          <a:r>
            <a:rPr lang="fi-FI" sz="1100" b="1" kern="1200" dirty="0" smtClean="0"/>
            <a:t>tarkennus</a:t>
          </a:r>
          <a:endParaRPr lang="en-US" sz="1100" b="1" kern="1200" dirty="0"/>
        </a:p>
      </dsp:txBody>
      <dsp:txXfrm>
        <a:off x="6366005" y="12154"/>
        <a:ext cx="1860500" cy="316800"/>
      </dsp:txXfrm>
    </dsp:sp>
    <dsp:sp modelId="{A7C152AF-BCC1-448E-AE82-819C3061294C}">
      <dsp:nvSpPr>
        <dsp:cNvPr id="0" name=""/>
        <dsp:cNvSpPr/>
      </dsp:nvSpPr>
      <dsp:spPr>
        <a:xfrm>
          <a:off x="6366005" y="328954"/>
          <a:ext cx="1860500" cy="2539210"/>
        </a:xfrm>
        <a:prstGeom prst="rect">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88950">
            <a:lnSpc>
              <a:spcPct val="90000"/>
            </a:lnSpc>
            <a:spcBef>
              <a:spcPct val="0"/>
            </a:spcBef>
            <a:spcAft>
              <a:spcPct val="15000"/>
            </a:spcAft>
            <a:buChar char="••"/>
          </a:pPr>
          <a:r>
            <a:rPr lang="fi-FI" sz="1100" kern="1200" dirty="0" smtClean="0"/>
            <a:t>Toimitettujen vaatimusluokkien puitteissa tarkentaminen (20 % kustannuskasvu)</a:t>
          </a:r>
          <a:endParaRPr lang="en-US" sz="1100" kern="1200" dirty="0"/>
        </a:p>
        <a:p>
          <a:pPr marL="57150" lvl="1" indent="-57150" algn="l" defTabSz="488950">
            <a:lnSpc>
              <a:spcPct val="90000"/>
            </a:lnSpc>
            <a:spcBef>
              <a:spcPct val="0"/>
            </a:spcBef>
            <a:spcAft>
              <a:spcPct val="15000"/>
            </a:spcAft>
            <a:buChar char="••"/>
          </a:pPr>
          <a:r>
            <a:rPr lang="fi-FI" sz="1100" kern="1200" dirty="0" smtClean="0"/>
            <a:t>Muutospyynnöillä ei rajausta kustannusten kasvuun</a:t>
          </a:r>
          <a:br>
            <a:rPr lang="fi-FI" sz="1100" kern="1200" dirty="0" smtClean="0"/>
          </a:br>
          <a:r>
            <a:rPr lang="fi-FI" sz="1100" kern="1200" dirty="0" smtClean="0"/>
            <a:t/>
          </a:r>
          <a:br>
            <a:rPr lang="fi-FI" sz="1100" kern="1200" dirty="0" smtClean="0"/>
          </a:br>
          <a:r>
            <a:rPr lang="fi-FI" sz="1100" kern="1200" dirty="0" smtClean="0">
              <a:sym typeface="Wingdings" pitchFamily="2" charset="2"/>
            </a:rPr>
            <a:t> Asioita sisään pääasiassa kustannuksia nostavin muutospyynnöin, etenkin kun ei ”palveluvaatimus-luokkia” kuvattuna tarjouspyynnössä.</a:t>
          </a:r>
          <a:endParaRPr lang="en-US" sz="1100" kern="1200" dirty="0"/>
        </a:p>
        <a:p>
          <a:pPr marL="57150" lvl="1" indent="-57150" algn="l" defTabSz="488950">
            <a:lnSpc>
              <a:spcPct val="90000"/>
            </a:lnSpc>
            <a:spcBef>
              <a:spcPct val="0"/>
            </a:spcBef>
            <a:spcAft>
              <a:spcPct val="15000"/>
            </a:spcAft>
            <a:buChar char="••"/>
          </a:pPr>
          <a:endParaRPr lang="en-US" sz="1100" kern="1200" dirty="0"/>
        </a:p>
        <a:p>
          <a:pPr marL="57150" lvl="1" indent="-57150" algn="l" defTabSz="488950">
            <a:lnSpc>
              <a:spcPct val="90000"/>
            </a:lnSpc>
            <a:spcBef>
              <a:spcPct val="0"/>
            </a:spcBef>
            <a:spcAft>
              <a:spcPct val="15000"/>
            </a:spcAft>
            <a:buChar char="••"/>
          </a:pPr>
          <a:endParaRPr lang="en-US" sz="1100" kern="1200" dirty="0"/>
        </a:p>
      </dsp:txBody>
      <dsp:txXfrm>
        <a:off x="6366005" y="328954"/>
        <a:ext cx="1860500" cy="253921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0E23AD-73F2-42F8-8788-5EC5038D34A4}">
      <dsp:nvSpPr>
        <dsp:cNvPr id="0" name=""/>
        <dsp:cNvSpPr/>
      </dsp:nvSpPr>
      <dsp:spPr>
        <a:xfrm rot="5400000">
          <a:off x="278981" y="2247752"/>
          <a:ext cx="832940" cy="1385994"/>
        </a:xfrm>
        <a:prstGeom prst="corner">
          <a:avLst>
            <a:gd name="adj1" fmla="val 16120"/>
            <a:gd name="adj2" fmla="val 16110"/>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BA9BD57-BB71-48E4-B038-7B17EEDD65AD}">
      <dsp:nvSpPr>
        <dsp:cNvPr id="0" name=""/>
        <dsp:cNvSpPr/>
      </dsp:nvSpPr>
      <dsp:spPr>
        <a:xfrm>
          <a:off x="139942" y="2661866"/>
          <a:ext cx="1251283" cy="1096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lvl="0" algn="l" defTabSz="444500" rtl="0">
            <a:lnSpc>
              <a:spcPct val="90000"/>
            </a:lnSpc>
            <a:spcBef>
              <a:spcPct val="0"/>
            </a:spcBef>
            <a:spcAft>
              <a:spcPct val="35000"/>
            </a:spcAft>
          </a:pPr>
          <a:r>
            <a:rPr lang="fi-FI" sz="1000" b="1" kern="1200" dirty="0" smtClean="0"/>
            <a:t>Toimittaja testaa (integrointitestaus, järjestelmätestaus, kokoava järjestelmätestaus)</a:t>
          </a:r>
          <a:endParaRPr lang="en-US" sz="1000" kern="1200" dirty="0"/>
        </a:p>
      </dsp:txBody>
      <dsp:txXfrm>
        <a:off x="139942" y="2661866"/>
        <a:ext cx="1251283" cy="1096823"/>
      </dsp:txXfrm>
    </dsp:sp>
    <dsp:sp modelId="{013D13E6-706A-45CD-A764-D2BE8136D671}">
      <dsp:nvSpPr>
        <dsp:cNvPr id="0" name=""/>
        <dsp:cNvSpPr/>
      </dsp:nvSpPr>
      <dsp:spPr>
        <a:xfrm>
          <a:off x="1155134" y="2145714"/>
          <a:ext cx="236091" cy="236091"/>
        </a:xfrm>
        <a:prstGeom prst="triangle">
          <a:avLst>
            <a:gd name="adj" fmla="val 100000"/>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33F2236-DDA7-4B20-8911-B35C01F83599}">
      <dsp:nvSpPr>
        <dsp:cNvPr id="0" name=""/>
        <dsp:cNvSpPr/>
      </dsp:nvSpPr>
      <dsp:spPr>
        <a:xfrm rot="5400000">
          <a:off x="1810796" y="1868703"/>
          <a:ext cx="832940" cy="1385994"/>
        </a:xfrm>
        <a:prstGeom prst="corner">
          <a:avLst>
            <a:gd name="adj1" fmla="val 16120"/>
            <a:gd name="adj2" fmla="val 16110"/>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330EF91-36B9-4DFB-8346-F38B9E8976E2}">
      <dsp:nvSpPr>
        <dsp:cNvPr id="0" name=""/>
        <dsp:cNvSpPr/>
      </dsp:nvSpPr>
      <dsp:spPr>
        <a:xfrm>
          <a:off x="1671757" y="2282817"/>
          <a:ext cx="1251283" cy="1096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lvl="0" algn="l" defTabSz="444500" rtl="0">
            <a:lnSpc>
              <a:spcPct val="90000"/>
            </a:lnSpc>
            <a:spcBef>
              <a:spcPct val="0"/>
            </a:spcBef>
            <a:spcAft>
              <a:spcPct val="35000"/>
            </a:spcAft>
          </a:pPr>
          <a:r>
            <a:rPr lang="fi-FI" sz="1000" b="1" kern="1200" dirty="0" smtClean="0"/>
            <a:t>Aloituskoe (järjestelmätestaus </a:t>
          </a:r>
          <a:r>
            <a:rPr lang="fi-FI" sz="1000" b="1" kern="1200" dirty="0" smtClean="0">
              <a:sym typeface="Wingdings"/>
            </a:rPr>
            <a:t></a:t>
          </a:r>
          <a:r>
            <a:rPr lang="fi-FI" sz="1000" b="1" kern="1200" dirty="0" smtClean="0"/>
            <a:t> yhteinen järjestelmätestaus)</a:t>
          </a:r>
          <a:endParaRPr lang="en-US" sz="1000" kern="1200" dirty="0"/>
        </a:p>
      </dsp:txBody>
      <dsp:txXfrm>
        <a:off x="1671757" y="2282817"/>
        <a:ext cx="1251283" cy="1096823"/>
      </dsp:txXfrm>
    </dsp:sp>
    <dsp:sp modelId="{73CA509F-F2AD-45C6-A7C9-98CB3D779DD7}">
      <dsp:nvSpPr>
        <dsp:cNvPr id="0" name=""/>
        <dsp:cNvSpPr/>
      </dsp:nvSpPr>
      <dsp:spPr>
        <a:xfrm>
          <a:off x="2686949" y="1766664"/>
          <a:ext cx="236091" cy="236091"/>
        </a:xfrm>
        <a:prstGeom prst="triangle">
          <a:avLst>
            <a:gd name="adj" fmla="val 100000"/>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74F1902-64DE-43CD-878E-A181D17C9366}">
      <dsp:nvSpPr>
        <dsp:cNvPr id="0" name=""/>
        <dsp:cNvSpPr/>
      </dsp:nvSpPr>
      <dsp:spPr>
        <a:xfrm rot="5400000">
          <a:off x="3342611" y="1489654"/>
          <a:ext cx="832940" cy="1385994"/>
        </a:xfrm>
        <a:prstGeom prst="corner">
          <a:avLst>
            <a:gd name="adj1" fmla="val 16120"/>
            <a:gd name="adj2" fmla="val 16110"/>
          </a:avLst>
        </a:prstGeom>
        <a:solidFill>
          <a:schemeClr val="accent6">
            <a:hueOff val="0"/>
            <a:satOff val="0"/>
            <a:lumOff val="0"/>
            <a:alphaOff val="0"/>
          </a:schemeClr>
        </a:solidFill>
        <a:ln w="254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E16397D-904B-4B0B-8A02-921B837F1EE4}">
      <dsp:nvSpPr>
        <dsp:cNvPr id="0" name=""/>
        <dsp:cNvSpPr/>
      </dsp:nvSpPr>
      <dsp:spPr>
        <a:xfrm>
          <a:off x="3203572" y="1903767"/>
          <a:ext cx="1251283" cy="1096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lvl="0" algn="l" defTabSz="444500" rtl="0">
            <a:lnSpc>
              <a:spcPct val="90000"/>
            </a:lnSpc>
            <a:spcBef>
              <a:spcPct val="0"/>
            </a:spcBef>
            <a:spcAft>
              <a:spcPct val="35000"/>
            </a:spcAft>
          </a:pPr>
          <a:r>
            <a:rPr lang="fi-FI" sz="1000" b="1" kern="1200" dirty="0" smtClean="0"/>
            <a:t>Yhteinen järjestelmätestaus</a:t>
          </a:r>
          <a:endParaRPr lang="en-US" sz="1000" kern="1200" dirty="0"/>
        </a:p>
      </dsp:txBody>
      <dsp:txXfrm>
        <a:off x="3203572" y="1903767"/>
        <a:ext cx="1251283" cy="1096823"/>
      </dsp:txXfrm>
    </dsp:sp>
    <dsp:sp modelId="{56B47AAB-4D12-496C-9177-39C6A0D2A743}">
      <dsp:nvSpPr>
        <dsp:cNvPr id="0" name=""/>
        <dsp:cNvSpPr/>
      </dsp:nvSpPr>
      <dsp:spPr>
        <a:xfrm>
          <a:off x="4218764" y="1387615"/>
          <a:ext cx="236091" cy="236091"/>
        </a:xfrm>
        <a:prstGeom prst="triangle">
          <a:avLst>
            <a:gd name="adj" fmla="val 100000"/>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F20AE6A-929F-4428-A1E9-044C242E3423}">
      <dsp:nvSpPr>
        <dsp:cNvPr id="0" name=""/>
        <dsp:cNvSpPr/>
      </dsp:nvSpPr>
      <dsp:spPr>
        <a:xfrm rot="5400000">
          <a:off x="4874426" y="1110605"/>
          <a:ext cx="832940" cy="1385994"/>
        </a:xfrm>
        <a:prstGeom prst="corner">
          <a:avLst>
            <a:gd name="adj1" fmla="val 16120"/>
            <a:gd name="adj2" fmla="val 16110"/>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DDCF7FC-2CF3-45C6-AEF8-C90EAE0A4F62}">
      <dsp:nvSpPr>
        <dsp:cNvPr id="0" name=""/>
        <dsp:cNvSpPr/>
      </dsp:nvSpPr>
      <dsp:spPr>
        <a:xfrm>
          <a:off x="4735387" y="1524718"/>
          <a:ext cx="1251283" cy="1096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lvl="0" algn="l" defTabSz="444500" rtl="0">
            <a:lnSpc>
              <a:spcPct val="90000"/>
            </a:lnSpc>
            <a:spcBef>
              <a:spcPct val="0"/>
            </a:spcBef>
            <a:spcAft>
              <a:spcPct val="35000"/>
            </a:spcAft>
          </a:pPr>
          <a:r>
            <a:rPr lang="fi-FI" sz="1000" b="1" kern="1200" dirty="0" smtClean="0"/>
            <a:t>Luovutuskoe</a:t>
          </a:r>
          <a:endParaRPr lang="en-US" sz="1000" kern="1200" dirty="0"/>
        </a:p>
      </dsp:txBody>
      <dsp:txXfrm>
        <a:off x="4735387" y="1524718"/>
        <a:ext cx="1251283" cy="1096823"/>
      </dsp:txXfrm>
    </dsp:sp>
    <dsp:sp modelId="{5D0462A8-FC13-4C79-96B5-019547105254}">
      <dsp:nvSpPr>
        <dsp:cNvPr id="0" name=""/>
        <dsp:cNvSpPr/>
      </dsp:nvSpPr>
      <dsp:spPr>
        <a:xfrm>
          <a:off x="5750579" y="1008566"/>
          <a:ext cx="236091" cy="236091"/>
        </a:xfrm>
        <a:prstGeom prst="triangle">
          <a:avLst>
            <a:gd name="adj" fmla="val 100000"/>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2200CB1-2DB7-4464-869E-E258D328C5A9}">
      <dsp:nvSpPr>
        <dsp:cNvPr id="0" name=""/>
        <dsp:cNvSpPr/>
      </dsp:nvSpPr>
      <dsp:spPr>
        <a:xfrm rot="5400000">
          <a:off x="6406241" y="731555"/>
          <a:ext cx="832940" cy="1385994"/>
        </a:xfrm>
        <a:prstGeom prst="corner">
          <a:avLst>
            <a:gd name="adj1" fmla="val 16120"/>
            <a:gd name="adj2" fmla="val 16110"/>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18A8383-AF36-47B6-ABAF-D9DCE2B1838E}">
      <dsp:nvSpPr>
        <dsp:cNvPr id="0" name=""/>
        <dsp:cNvSpPr/>
      </dsp:nvSpPr>
      <dsp:spPr>
        <a:xfrm>
          <a:off x="6267202" y="1145669"/>
          <a:ext cx="1251283" cy="1096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lvl="0" algn="l" defTabSz="444500" rtl="0">
            <a:lnSpc>
              <a:spcPct val="90000"/>
            </a:lnSpc>
            <a:spcBef>
              <a:spcPct val="0"/>
            </a:spcBef>
            <a:spcAft>
              <a:spcPct val="35000"/>
            </a:spcAft>
          </a:pPr>
          <a:r>
            <a:rPr lang="fi-FI" sz="1000" b="1" kern="1200" dirty="0" smtClean="0"/>
            <a:t>Hyväksymistestaus</a:t>
          </a:r>
          <a:endParaRPr lang="en-US" sz="1000" kern="1200" dirty="0"/>
        </a:p>
      </dsp:txBody>
      <dsp:txXfrm>
        <a:off x="6267202" y="1145669"/>
        <a:ext cx="1251283" cy="109682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0E23AD-73F2-42F8-8788-5EC5038D34A4}">
      <dsp:nvSpPr>
        <dsp:cNvPr id="0" name=""/>
        <dsp:cNvSpPr/>
      </dsp:nvSpPr>
      <dsp:spPr>
        <a:xfrm rot="5400000">
          <a:off x="278981" y="2247752"/>
          <a:ext cx="832940" cy="1385994"/>
        </a:xfrm>
        <a:prstGeom prst="corner">
          <a:avLst>
            <a:gd name="adj1" fmla="val 16120"/>
            <a:gd name="adj2" fmla="val 16110"/>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BA9BD57-BB71-48E4-B038-7B17EEDD65AD}">
      <dsp:nvSpPr>
        <dsp:cNvPr id="0" name=""/>
        <dsp:cNvSpPr/>
      </dsp:nvSpPr>
      <dsp:spPr>
        <a:xfrm>
          <a:off x="139942" y="2661866"/>
          <a:ext cx="1251283" cy="1096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lvl="0" algn="l" defTabSz="444500" rtl="0">
            <a:lnSpc>
              <a:spcPct val="90000"/>
            </a:lnSpc>
            <a:spcBef>
              <a:spcPct val="0"/>
            </a:spcBef>
            <a:spcAft>
              <a:spcPct val="35000"/>
            </a:spcAft>
          </a:pPr>
          <a:r>
            <a:rPr lang="fi-FI" sz="1000" b="1" kern="1200" dirty="0" smtClean="0"/>
            <a:t>Toimittaja testaa (integrointitestaus, järjestelmätestaus, kokoava järjestelmätestaus)</a:t>
          </a:r>
          <a:endParaRPr lang="en-US" sz="1000" kern="1200" dirty="0"/>
        </a:p>
      </dsp:txBody>
      <dsp:txXfrm>
        <a:off x="139942" y="2661866"/>
        <a:ext cx="1251283" cy="1096823"/>
      </dsp:txXfrm>
    </dsp:sp>
    <dsp:sp modelId="{013D13E6-706A-45CD-A764-D2BE8136D671}">
      <dsp:nvSpPr>
        <dsp:cNvPr id="0" name=""/>
        <dsp:cNvSpPr/>
      </dsp:nvSpPr>
      <dsp:spPr>
        <a:xfrm>
          <a:off x="1155134" y="2145714"/>
          <a:ext cx="236091" cy="236091"/>
        </a:xfrm>
        <a:prstGeom prst="triangle">
          <a:avLst>
            <a:gd name="adj" fmla="val 100000"/>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33F2236-DDA7-4B20-8911-B35C01F83599}">
      <dsp:nvSpPr>
        <dsp:cNvPr id="0" name=""/>
        <dsp:cNvSpPr/>
      </dsp:nvSpPr>
      <dsp:spPr>
        <a:xfrm rot="5400000">
          <a:off x="1810796" y="1868703"/>
          <a:ext cx="832940" cy="1385994"/>
        </a:xfrm>
        <a:prstGeom prst="corner">
          <a:avLst>
            <a:gd name="adj1" fmla="val 16120"/>
            <a:gd name="adj2" fmla="val 16110"/>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330EF91-36B9-4DFB-8346-F38B9E8976E2}">
      <dsp:nvSpPr>
        <dsp:cNvPr id="0" name=""/>
        <dsp:cNvSpPr/>
      </dsp:nvSpPr>
      <dsp:spPr>
        <a:xfrm>
          <a:off x="1671757" y="2282817"/>
          <a:ext cx="1251283" cy="1096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lvl="0" algn="l" defTabSz="444500" rtl="0">
            <a:lnSpc>
              <a:spcPct val="90000"/>
            </a:lnSpc>
            <a:spcBef>
              <a:spcPct val="0"/>
            </a:spcBef>
            <a:spcAft>
              <a:spcPct val="35000"/>
            </a:spcAft>
          </a:pPr>
          <a:r>
            <a:rPr lang="fi-FI" sz="1000" b="1" kern="1200" dirty="0" smtClean="0"/>
            <a:t>Aloituskoe (järjestelmätestaus </a:t>
          </a:r>
          <a:r>
            <a:rPr lang="fi-FI" sz="1000" b="1" kern="1200" dirty="0" smtClean="0">
              <a:sym typeface="Wingdings"/>
            </a:rPr>
            <a:t></a:t>
          </a:r>
          <a:r>
            <a:rPr lang="fi-FI" sz="1000" b="1" kern="1200" dirty="0" smtClean="0"/>
            <a:t> yhteinen järjestelmätestaus)</a:t>
          </a:r>
          <a:endParaRPr lang="en-US" sz="1000" kern="1200" dirty="0"/>
        </a:p>
      </dsp:txBody>
      <dsp:txXfrm>
        <a:off x="1671757" y="2282817"/>
        <a:ext cx="1251283" cy="1096823"/>
      </dsp:txXfrm>
    </dsp:sp>
    <dsp:sp modelId="{73CA509F-F2AD-45C6-A7C9-98CB3D779DD7}">
      <dsp:nvSpPr>
        <dsp:cNvPr id="0" name=""/>
        <dsp:cNvSpPr/>
      </dsp:nvSpPr>
      <dsp:spPr>
        <a:xfrm>
          <a:off x="2686949" y="1766664"/>
          <a:ext cx="236091" cy="236091"/>
        </a:xfrm>
        <a:prstGeom prst="triangle">
          <a:avLst>
            <a:gd name="adj" fmla="val 100000"/>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74F1902-64DE-43CD-878E-A181D17C9366}">
      <dsp:nvSpPr>
        <dsp:cNvPr id="0" name=""/>
        <dsp:cNvSpPr/>
      </dsp:nvSpPr>
      <dsp:spPr>
        <a:xfrm rot="5400000">
          <a:off x="3342611" y="1489654"/>
          <a:ext cx="832940" cy="1385994"/>
        </a:xfrm>
        <a:prstGeom prst="corner">
          <a:avLst>
            <a:gd name="adj1" fmla="val 16120"/>
            <a:gd name="adj2" fmla="val 16110"/>
          </a:avLst>
        </a:prstGeom>
        <a:solidFill>
          <a:schemeClr val="accent6">
            <a:hueOff val="0"/>
            <a:satOff val="0"/>
            <a:lumOff val="0"/>
            <a:alphaOff val="0"/>
          </a:schemeClr>
        </a:solidFill>
        <a:ln w="254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E16397D-904B-4B0B-8A02-921B837F1EE4}">
      <dsp:nvSpPr>
        <dsp:cNvPr id="0" name=""/>
        <dsp:cNvSpPr/>
      </dsp:nvSpPr>
      <dsp:spPr>
        <a:xfrm>
          <a:off x="3203572" y="1903767"/>
          <a:ext cx="1251283" cy="1096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lvl="0" algn="l" defTabSz="444500" rtl="0">
            <a:lnSpc>
              <a:spcPct val="90000"/>
            </a:lnSpc>
            <a:spcBef>
              <a:spcPct val="0"/>
            </a:spcBef>
            <a:spcAft>
              <a:spcPct val="35000"/>
            </a:spcAft>
          </a:pPr>
          <a:r>
            <a:rPr lang="fi-FI" sz="1000" b="1" kern="1200" dirty="0" smtClean="0"/>
            <a:t>Yhteinen järjestelmätestaus</a:t>
          </a:r>
          <a:endParaRPr lang="en-US" sz="1000" kern="1200" dirty="0"/>
        </a:p>
      </dsp:txBody>
      <dsp:txXfrm>
        <a:off x="3203572" y="1903767"/>
        <a:ext cx="1251283" cy="1096823"/>
      </dsp:txXfrm>
    </dsp:sp>
    <dsp:sp modelId="{56B47AAB-4D12-496C-9177-39C6A0D2A743}">
      <dsp:nvSpPr>
        <dsp:cNvPr id="0" name=""/>
        <dsp:cNvSpPr/>
      </dsp:nvSpPr>
      <dsp:spPr>
        <a:xfrm>
          <a:off x="4218764" y="1387615"/>
          <a:ext cx="236091" cy="236091"/>
        </a:xfrm>
        <a:prstGeom prst="triangle">
          <a:avLst>
            <a:gd name="adj" fmla="val 100000"/>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F20AE6A-929F-4428-A1E9-044C242E3423}">
      <dsp:nvSpPr>
        <dsp:cNvPr id="0" name=""/>
        <dsp:cNvSpPr/>
      </dsp:nvSpPr>
      <dsp:spPr>
        <a:xfrm rot="5400000">
          <a:off x="4874426" y="1110605"/>
          <a:ext cx="832940" cy="1385994"/>
        </a:xfrm>
        <a:prstGeom prst="corner">
          <a:avLst>
            <a:gd name="adj1" fmla="val 16120"/>
            <a:gd name="adj2" fmla="val 16110"/>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DDCF7FC-2CF3-45C6-AEF8-C90EAE0A4F62}">
      <dsp:nvSpPr>
        <dsp:cNvPr id="0" name=""/>
        <dsp:cNvSpPr/>
      </dsp:nvSpPr>
      <dsp:spPr>
        <a:xfrm>
          <a:off x="4735387" y="1524718"/>
          <a:ext cx="1251283" cy="1096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lvl="0" algn="l" defTabSz="444500" rtl="0">
            <a:lnSpc>
              <a:spcPct val="90000"/>
            </a:lnSpc>
            <a:spcBef>
              <a:spcPct val="0"/>
            </a:spcBef>
            <a:spcAft>
              <a:spcPct val="35000"/>
            </a:spcAft>
          </a:pPr>
          <a:r>
            <a:rPr lang="fi-FI" sz="1000" b="1" kern="1200" dirty="0" smtClean="0"/>
            <a:t>Luovutuskoe</a:t>
          </a:r>
          <a:endParaRPr lang="en-US" sz="1000" kern="1200" dirty="0"/>
        </a:p>
      </dsp:txBody>
      <dsp:txXfrm>
        <a:off x="4735387" y="1524718"/>
        <a:ext cx="1251283" cy="1096823"/>
      </dsp:txXfrm>
    </dsp:sp>
    <dsp:sp modelId="{5D0462A8-FC13-4C79-96B5-019547105254}">
      <dsp:nvSpPr>
        <dsp:cNvPr id="0" name=""/>
        <dsp:cNvSpPr/>
      </dsp:nvSpPr>
      <dsp:spPr>
        <a:xfrm>
          <a:off x="5750579" y="1008566"/>
          <a:ext cx="236091" cy="236091"/>
        </a:xfrm>
        <a:prstGeom prst="triangle">
          <a:avLst>
            <a:gd name="adj" fmla="val 100000"/>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2200CB1-2DB7-4464-869E-E258D328C5A9}">
      <dsp:nvSpPr>
        <dsp:cNvPr id="0" name=""/>
        <dsp:cNvSpPr/>
      </dsp:nvSpPr>
      <dsp:spPr>
        <a:xfrm rot="5400000">
          <a:off x="6406241" y="731555"/>
          <a:ext cx="832940" cy="1385994"/>
        </a:xfrm>
        <a:prstGeom prst="corner">
          <a:avLst>
            <a:gd name="adj1" fmla="val 16120"/>
            <a:gd name="adj2" fmla="val 16110"/>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18A8383-AF36-47B6-ABAF-D9DCE2B1838E}">
      <dsp:nvSpPr>
        <dsp:cNvPr id="0" name=""/>
        <dsp:cNvSpPr/>
      </dsp:nvSpPr>
      <dsp:spPr>
        <a:xfrm>
          <a:off x="6267202" y="1145669"/>
          <a:ext cx="1251283" cy="1096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lvl="0" algn="l" defTabSz="444500" rtl="0">
            <a:lnSpc>
              <a:spcPct val="90000"/>
            </a:lnSpc>
            <a:spcBef>
              <a:spcPct val="0"/>
            </a:spcBef>
            <a:spcAft>
              <a:spcPct val="35000"/>
            </a:spcAft>
          </a:pPr>
          <a:r>
            <a:rPr lang="fi-FI" sz="1000" b="1" kern="1200" dirty="0" smtClean="0"/>
            <a:t>Hyväksymistestaus</a:t>
          </a:r>
          <a:endParaRPr lang="en-US" sz="1000" kern="1200" dirty="0"/>
        </a:p>
      </dsp:txBody>
      <dsp:txXfrm>
        <a:off x="6267202" y="1145669"/>
        <a:ext cx="1251283" cy="1096823"/>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CE89EC-84FA-4891-B998-52BC3D37F95A}">
      <dsp:nvSpPr>
        <dsp:cNvPr id="0" name=""/>
        <dsp:cNvSpPr/>
      </dsp:nvSpPr>
      <dsp:spPr>
        <a:xfrm>
          <a:off x="622" y="654834"/>
          <a:ext cx="2680245" cy="3216294"/>
        </a:xfrm>
        <a:prstGeom prst="roundRect">
          <a:avLst>
            <a:gd name="adj" fmla="val 5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75438" rIns="97790" bIns="0" numCol="1" spcCol="1270" anchor="t" anchorCtr="0">
          <a:noAutofit/>
        </a:bodyPr>
        <a:lstStyle/>
        <a:p>
          <a:pPr lvl="0" algn="r" defTabSz="977900" rtl="0">
            <a:lnSpc>
              <a:spcPct val="90000"/>
            </a:lnSpc>
            <a:spcBef>
              <a:spcPct val="0"/>
            </a:spcBef>
            <a:spcAft>
              <a:spcPct val="35000"/>
            </a:spcAft>
          </a:pPr>
          <a:r>
            <a:rPr lang="fi-FI" sz="2200" kern="1200" dirty="0" smtClean="0"/>
            <a:t>Toimittajan testaukset</a:t>
          </a:r>
          <a:endParaRPr lang="en-US" sz="2200" kern="1200" dirty="0"/>
        </a:p>
      </dsp:txBody>
      <dsp:txXfrm rot="16200000">
        <a:off x="-1050033" y="1705490"/>
        <a:ext cx="2637361" cy="536049"/>
      </dsp:txXfrm>
    </dsp:sp>
    <dsp:sp modelId="{CB46B105-2818-441B-84E5-80AFE4EDBFE5}">
      <dsp:nvSpPr>
        <dsp:cNvPr id="0" name=""/>
        <dsp:cNvSpPr/>
      </dsp:nvSpPr>
      <dsp:spPr>
        <a:xfrm>
          <a:off x="536671" y="654834"/>
          <a:ext cx="1996783" cy="3216294"/>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58293" rIns="0" bIns="0" numCol="1" spcCol="1270" anchor="t" anchorCtr="0">
          <a:noAutofit/>
        </a:bodyPr>
        <a:lstStyle/>
        <a:p>
          <a:pPr lvl="0" algn="l" defTabSz="755650" rtl="0">
            <a:lnSpc>
              <a:spcPct val="90000"/>
            </a:lnSpc>
            <a:spcBef>
              <a:spcPct val="0"/>
            </a:spcBef>
            <a:spcAft>
              <a:spcPct val="35000"/>
            </a:spcAft>
          </a:pPr>
          <a:r>
            <a:rPr lang="fi-FI" sz="1700" kern="1200" dirty="0" smtClean="0"/>
            <a:t>Toimittaja organisoi haluamallaan tavalla asiakkaan vaatimusten puitteissa</a:t>
          </a:r>
          <a:endParaRPr lang="en-US" sz="1700" kern="1200" dirty="0"/>
        </a:p>
        <a:p>
          <a:pPr lvl="0" algn="l" defTabSz="755650" rtl="0">
            <a:lnSpc>
              <a:spcPct val="90000"/>
            </a:lnSpc>
            <a:spcBef>
              <a:spcPct val="0"/>
            </a:spcBef>
            <a:spcAft>
              <a:spcPct val="35000"/>
            </a:spcAft>
          </a:pPr>
          <a:r>
            <a:rPr lang="fi-FI" sz="1700" kern="1200" dirty="0" smtClean="0"/>
            <a:t>Toimittaja vastaa, pyrkimyksenä virheettömyys</a:t>
          </a:r>
          <a:endParaRPr lang="en-US" sz="1700" kern="1200" dirty="0"/>
        </a:p>
        <a:p>
          <a:pPr lvl="0" algn="l" defTabSz="755650" rtl="0">
            <a:lnSpc>
              <a:spcPct val="90000"/>
            </a:lnSpc>
            <a:spcBef>
              <a:spcPct val="0"/>
            </a:spcBef>
            <a:spcAft>
              <a:spcPct val="35000"/>
            </a:spcAft>
          </a:pPr>
          <a:r>
            <a:rPr lang="fi-FI" sz="1700" kern="1200" dirty="0" smtClean="0"/>
            <a:t>Virheettömyys ei ole sama kuin testattu – testaamaton voi olla virheetön! </a:t>
          </a:r>
          <a:endParaRPr lang="en-US" sz="1700" kern="1200" dirty="0"/>
        </a:p>
      </dsp:txBody>
      <dsp:txXfrm>
        <a:off x="536671" y="654834"/>
        <a:ext cx="1996783" cy="3216294"/>
      </dsp:txXfrm>
    </dsp:sp>
    <dsp:sp modelId="{B98D4052-D875-4C91-AECF-876A5F2E64BB}">
      <dsp:nvSpPr>
        <dsp:cNvPr id="0" name=""/>
        <dsp:cNvSpPr/>
      </dsp:nvSpPr>
      <dsp:spPr>
        <a:xfrm>
          <a:off x="2774677" y="654834"/>
          <a:ext cx="2680245" cy="3216294"/>
        </a:xfrm>
        <a:prstGeom prst="roundRect">
          <a:avLst>
            <a:gd name="adj" fmla="val 5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75438" rIns="97790" bIns="0" numCol="1" spcCol="1270" anchor="t" anchorCtr="0">
          <a:noAutofit/>
        </a:bodyPr>
        <a:lstStyle/>
        <a:p>
          <a:pPr lvl="0" algn="r" defTabSz="977900" rtl="0">
            <a:lnSpc>
              <a:spcPct val="90000"/>
            </a:lnSpc>
            <a:spcBef>
              <a:spcPct val="0"/>
            </a:spcBef>
            <a:spcAft>
              <a:spcPct val="35000"/>
            </a:spcAft>
          </a:pPr>
          <a:r>
            <a:rPr lang="fi-FI" sz="2200" kern="1200" dirty="0" smtClean="0"/>
            <a:t>Luovutuskoe</a:t>
          </a:r>
          <a:endParaRPr lang="en-US" sz="2200" kern="1200" dirty="0"/>
        </a:p>
      </dsp:txBody>
      <dsp:txXfrm rot="16200000">
        <a:off x="1724020" y="1705490"/>
        <a:ext cx="2637361" cy="536049"/>
      </dsp:txXfrm>
    </dsp:sp>
    <dsp:sp modelId="{D5037477-BEB2-4ECC-B9C1-B06EDFB4C17E}">
      <dsp:nvSpPr>
        <dsp:cNvPr id="0" name=""/>
        <dsp:cNvSpPr/>
      </dsp:nvSpPr>
      <dsp:spPr>
        <a:xfrm rot="5400000">
          <a:off x="2551860" y="3209695"/>
          <a:ext cx="472436" cy="402036"/>
        </a:xfrm>
        <a:prstGeom prst="flowChartExtract">
          <a:avLst/>
        </a:prstGeom>
        <a:solidFill>
          <a:schemeClr val="lt1">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51B8A78-1562-4534-AB4B-864F9D73E248}">
      <dsp:nvSpPr>
        <dsp:cNvPr id="0" name=""/>
        <dsp:cNvSpPr/>
      </dsp:nvSpPr>
      <dsp:spPr>
        <a:xfrm>
          <a:off x="3310726" y="654834"/>
          <a:ext cx="1996783" cy="3216294"/>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58293" rIns="0" bIns="0" numCol="1" spcCol="1270" anchor="t" anchorCtr="0">
          <a:noAutofit/>
        </a:bodyPr>
        <a:lstStyle/>
        <a:p>
          <a:pPr lvl="0" algn="l" defTabSz="755650" rtl="0">
            <a:lnSpc>
              <a:spcPct val="90000"/>
            </a:lnSpc>
            <a:spcBef>
              <a:spcPct val="0"/>
            </a:spcBef>
            <a:spcAft>
              <a:spcPct val="35000"/>
            </a:spcAft>
          </a:pPr>
          <a:r>
            <a:rPr lang="fi-FI" sz="1700" kern="1200" dirty="0" smtClean="0"/>
            <a:t>Toimittaja </a:t>
          </a:r>
          <a:r>
            <a:rPr lang="fi-FI" sz="1700" i="1" kern="1200" dirty="0" smtClean="0"/>
            <a:t>osoittaa </a:t>
          </a:r>
          <a:r>
            <a:rPr lang="fi-FI" sz="1700" kern="1200" dirty="0" smtClean="0"/>
            <a:t>virheettömyyden</a:t>
          </a:r>
          <a:endParaRPr lang="en-US" sz="1700" kern="1200" dirty="0"/>
        </a:p>
        <a:p>
          <a:pPr marL="114300" lvl="1" indent="-114300" algn="l" defTabSz="577850" rtl="0">
            <a:lnSpc>
              <a:spcPct val="90000"/>
            </a:lnSpc>
            <a:spcBef>
              <a:spcPct val="0"/>
            </a:spcBef>
            <a:spcAft>
              <a:spcPct val="15000"/>
            </a:spcAft>
            <a:buChar char="••"/>
          </a:pPr>
          <a:r>
            <a:rPr lang="fi-FI" sz="1300" kern="1200" dirty="0" smtClean="0"/>
            <a:t>Virheetön järjestelmä + virheetön palvelu</a:t>
          </a:r>
          <a:endParaRPr lang="en-US" sz="1300" kern="1200" dirty="0"/>
        </a:p>
        <a:p>
          <a:pPr lvl="0" algn="l" defTabSz="755650" rtl="0">
            <a:lnSpc>
              <a:spcPct val="90000"/>
            </a:lnSpc>
            <a:spcBef>
              <a:spcPct val="0"/>
            </a:spcBef>
            <a:spcAft>
              <a:spcPct val="35000"/>
            </a:spcAft>
          </a:pPr>
          <a:r>
            <a:rPr lang="fi-FI" sz="1700" kern="1200" dirty="0" smtClean="0"/>
            <a:t>Toimitettu sovittu järjestelmä + sovittu dokumentaatio hyväksyntää varten sovituin palveluin (esim. testaustoimenpiteet)</a:t>
          </a:r>
        </a:p>
      </dsp:txBody>
      <dsp:txXfrm>
        <a:off x="3310726" y="654834"/>
        <a:ext cx="1996783" cy="3216294"/>
      </dsp:txXfrm>
    </dsp:sp>
    <dsp:sp modelId="{1E82EA6E-EEB0-4F92-937B-08550FC2CA29}">
      <dsp:nvSpPr>
        <dsp:cNvPr id="0" name=""/>
        <dsp:cNvSpPr/>
      </dsp:nvSpPr>
      <dsp:spPr>
        <a:xfrm>
          <a:off x="5548731" y="654834"/>
          <a:ext cx="2680245" cy="3216294"/>
        </a:xfrm>
        <a:prstGeom prst="roundRect">
          <a:avLst>
            <a:gd name="adj" fmla="val 5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75438" rIns="97790" bIns="0" numCol="1" spcCol="1270" anchor="t" anchorCtr="0">
          <a:noAutofit/>
        </a:bodyPr>
        <a:lstStyle/>
        <a:p>
          <a:pPr lvl="0" algn="r" defTabSz="977900" rtl="0">
            <a:lnSpc>
              <a:spcPct val="90000"/>
            </a:lnSpc>
            <a:spcBef>
              <a:spcPct val="0"/>
            </a:spcBef>
            <a:spcAft>
              <a:spcPct val="35000"/>
            </a:spcAft>
          </a:pPr>
          <a:r>
            <a:rPr lang="fi-FI" sz="2200" kern="1200" dirty="0" smtClean="0"/>
            <a:t>Hyväksymistestaus</a:t>
          </a:r>
          <a:endParaRPr lang="en-US" sz="2200" kern="1200" dirty="0"/>
        </a:p>
      </dsp:txBody>
      <dsp:txXfrm rot="16200000">
        <a:off x="4498075" y="1705490"/>
        <a:ext cx="2637361" cy="536049"/>
      </dsp:txXfrm>
    </dsp:sp>
    <dsp:sp modelId="{F4CBB3C7-98CA-420D-B419-8ACD7132BB53}">
      <dsp:nvSpPr>
        <dsp:cNvPr id="0" name=""/>
        <dsp:cNvSpPr/>
      </dsp:nvSpPr>
      <dsp:spPr>
        <a:xfrm rot="5400000">
          <a:off x="5325914" y="3209695"/>
          <a:ext cx="472436" cy="402036"/>
        </a:xfrm>
        <a:prstGeom prst="flowChartExtract">
          <a:avLst/>
        </a:prstGeom>
        <a:solidFill>
          <a:schemeClr val="lt1">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4B2232F-B079-46FF-BB4D-E845F0E9E58B}">
      <dsp:nvSpPr>
        <dsp:cNvPr id="0" name=""/>
        <dsp:cNvSpPr/>
      </dsp:nvSpPr>
      <dsp:spPr>
        <a:xfrm>
          <a:off x="6084780" y="654834"/>
          <a:ext cx="1996783" cy="3216294"/>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58293" rIns="0" bIns="0" numCol="1" spcCol="1270" anchor="t" anchorCtr="0">
          <a:noAutofit/>
        </a:bodyPr>
        <a:lstStyle/>
        <a:p>
          <a:pPr lvl="0" algn="l" defTabSz="755650" rtl="0">
            <a:lnSpc>
              <a:spcPct val="90000"/>
            </a:lnSpc>
            <a:spcBef>
              <a:spcPct val="0"/>
            </a:spcBef>
            <a:spcAft>
              <a:spcPct val="35000"/>
            </a:spcAft>
          </a:pPr>
          <a:r>
            <a:rPr lang="fi-FI" sz="1700" kern="1200" dirty="0" smtClean="0"/>
            <a:t>Asiakas arvioi toimittajan kykyä toimittaa virheetön kokonaisuus testaamalla omassa ohjauksessaan omilla menetelmillään</a:t>
          </a:r>
        </a:p>
      </dsp:txBody>
      <dsp:txXfrm>
        <a:off x="6084780" y="654834"/>
        <a:ext cx="1996783" cy="3216294"/>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C4D010-9498-4C2D-84FB-E2C61DCF1B31}">
      <dsp:nvSpPr>
        <dsp:cNvPr id="0" name=""/>
        <dsp:cNvSpPr/>
      </dsp:nvSpPr>
      <dsp:spPr>
        <a:xfrm>
          <a:off x="3094" y="1154329"/>
          <a:ext cx="1860500" cy="359281"/>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40640" rIns="71120" bIns="40640" numCol="1" spcCol="1270" anchor="ctr" anchorCtr="0">
          <a:noAutofit/>
        </a:bodyPr>
        <a:lstStyle/>
        <a:p>
          <a:pPr lvl="0" algn="ctr" defTabSz="444500" rtl="0">
            <a:lnSpc>
              <a:spcPct val="90000"/>
            </a:lnSpc>
            <a:spcBef>
              <a:spcPct val="0"/>
            </a:spcBef>
            <a:spcAft>
              <a:spcPct val="35000"/>
            </a:spcAft>
          </a:pPr>
          <a:r>
            <a:rPr lang="fi-FI" sz="1000" kern="1200" dirty="0" smtClean="0"/>
            <a:t>Vaihtoehto 1 – ”smoke test”</a:t>
          </a:r>
          <a:endParaRPr lang="en-US" sz="1000" kern="1200" dirty="0"/>
        </a:p>
      </dsp:txBody>
      <dsp:txXfrm>
        <a:off x="3094" y="1154329"/>
        <a:ext cx="1860500" cy="359281"/>
      </dsp:txXfrm>
    </dsp:sp>
    <dsp:sp modelId="{F148BAB8-0323-4184-A381-2A9E6118E688}">
      <dsp:nvSpPr>
        <dsp:cNvPr id="0" name=""/>
        <dsp:cNvSpPr/>
      </dsp:nvSpPr>
      <dsp:spPr>
        <a:xfrm>
          <a:off x="3094" y="1513611"/>
          <a:ext cx="1860500" cy="1858021"/>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71120" bIns="80010" numCol="1" spcCol="1270" anchor="t" anchorCtr="0">
          <a:noAutofit/>
        </a:bodyPr>
        <a:lstStyle/>
        <a:p>
          <a:pPr marL="57150" lvl="1" indent="-57150" algn="l" defTabSz="444500" rtl="0">
            <a:lnSpc>
              <a:spcPct val="90000"/>
            </a:lnSpc>
            <a:spcBef>
              <a:spcPct val="0"/>
            </a:spcBef>
            <a:spcAft>
              <a:spcPct val="15000"/>
            </a:spcAft>
            <a:buChar char="••"/>
          </a:pPr>
          <a:r>
            <a:rPr lang="fi-FI" sz="1000" kern="1200" dirty="0" smtClean="0"/>
            <a:t>Erillinen luovutuskoe + raportti. Valikoidut testit hyväksymistestiympäristössä.</a:t>
          </a:r>
          <a:endParaRPr lang="en-US" sz="1000" kern="1200" dirty="0"/>
        </a:p>
        <a:p>
          <a:pPr marL="57150" lvl="1" indent="-57150" algn="l" defTabSz="444500" rtl="0">
            <a:lnSpc>
              <a:spcPct val="90000"/>
            </a:lnSpc>
            <a:spcBef>
              <a:spcPct val="0"/>
            </a:spcBef>
            <a:spcAft>
              <a:spcPct val="15000"/>
            </a:spcAft>
            <a:buChar char="••"/>
          </a:pPr>
          <a:r>
            <a:rPr lang="fi-FI" sz="1000" kern="1200" dirty="0" smtClean="0"/>
            <a:t>Edellytykset: toimittajan testauksen materiaalit osa luovutettavaa kokonaisuutta ja hyväksytään osana hyväksymistestausta. </a:t>
          </a:r>
          <a:endParaRPr lang="en-US" sz="1000" kern="1200" dirty="0"/>
        </a:p>
        <a:p>
          <a:pPr marL="57150" lvl="1" indent="-57150" algn="l" defTabSz="444500" rtl="0">
            <a:lnSpc>
              <a:spcPct val="90000"/>
            </a:lnSpc>
            <a:spcBef>
              <a:spcPct val="0"/>
            </a:spcBef>
            <a:spcAft>
              <a:spcPct val="15000"/>
            </a:spcAft>
            <a:buChar char="••"/>
          </a:pPr>
          <a:r>
            <a:rPr lang="fi-FI" sz="1000" kern="1200" dirty="0" smtClean="0"/>
            <a:t>Hallittava riski: YMPÄRISTÖSIIRTO</a:t>
          </a:r>
          <a:endParaRPr lang="en-US" sz="1000" kern="1200" dirty="0"/>
        </a:p>
      </dsp:txBody>
      <dsp:txXfrm>
        <a:off x="3094" y="1513611"/>
        <a:ext cx="1860500" cy="1858021"/>
      </dsp:txXfrm>
    </dsp:sp>
    <dsp:sp modelId="{23F11A3C-3552-4D21-8EA9-24D1A8EA9717}">
      <dsp:nvSpPr>
        <dsp:cNvPr id="0" name=""/>
        <dsp:cNvSpPr/>
      </dsp:nvSpPr>
      <dsp:spPr>
        <a:xfrm>
          <a:off x="2124064" y="1154329"/>
          <a:ext cx="1860500" cy="359281"/>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40640" rIns="71120" bIns="40640" numCol="1" spcCol="1270" anchor="ctr" anchorCtr="0">
          <a:noAutofit/>
        </a:bodyPr>
        <a:lstStyle/>
        <a:p>
          <a:pPr lvl="0" algn="ctr" defTabSz="444500" rtl="0">
            <a:lnSpc>
              <a:spcPct val="90000"/>
            </a:lnSpc>
            <a:spcBef>
              <a:spcPct val="0"/>
            </a:spcBef>
            <a:spcAft>
              <a:spcPct val="35000"/>
            </a:spcAft>
          </a:pPr>
          <a:r>
            <a:rPr lang="fi-FI" sz="1000" kern="1200" dirty="0" smtClean="0"/>
            <a:t>Vaihtoehto 2 – ”selonteko”</a:t>
          </a:r>
          <a:endParaRPr lang="en-US" sz="1000" kern="1200" dirty="0"/>
        </a:p>
      </dsp:txBody>
      <dsp:txXfrm>
        <a:off x="2124064" y="1154329"/>
        <a:ext cx="1860500" cy="359281"/>
      </dsp:txXfrm>
    </dsp:sp>
    <dsp:sp modelId="{0BDDF048-AE9D-41DA-BB99-38A65E93F2AA}">
      <dsp:nvSpPr>
        <dsp:cNvPr id="0" name=""/>
        <dsp:cNvSpPr/>
      </dsp:nvSpPr>
      <dsp:spPr>
        <a:xfrm>
          <a:off x="2124064" y="1513611"/>
          <a:ext cx="1860500" cy="1858021"/>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71120" bIns="80010" numCol="1" spcCol="1270" anchor="t" anchorCtr="0">
          <a:noAutofit/>
        </a:bodyPr>
        <a:lstStyle/>
        <a:p>
          <a:pPr marL="57150" lvl="1" indent="-57150" algn="l" defTabSz="444500" rtl="0">
            <a:lnSpc>
              <a:spcPct val="90000"/>
            </a:lnSpc>
            <a:spcBef>
              <a:spcPct val="0"/>
            </a:spcBef>
            <a:spcAft>
              <a:spcPct val="15000"/>
            </a:spcAft>
            <a:buChar char="••"/>
          </a:pPr>
          <a:r>
            <a:rPr lang="fi-FI" sz="1000" kern="1200" dirty="0" smtClean="0"/>
            <a:t>Toimittajan testauksen kokonaisuuden esittely</a:t>
          </a:r>
          <a:endParaRPr lang="en-US" sz="1000" kern="1200" dirty="0"/>
        </a:p>
        <a:p>
          <a:pPr marL="57150" lvl="1" indent="-57150" algn="l" defTabSz="444500" rtl="0">
            <a:lnSpc>
              <a:spcPct val="90000"/>
            </a:lnSpc>
            <a:spcBef>
              <a:spcPct val="0"/>
            </a:spcBef>
            <a:spcAft>
              <a:spcPct val="15000"/>
            </a:spcAft>
            <a:buChar char="••"/>
          </a:pPr>
          <a:r>
            <a:rPr lang="fi-FI" sz="1000" kern="1200" dirty="0" smtClean="0"/>
            <a:t>Edellytykset: testauksen kokonaisuus sisältää hyväksymistestin ympäristön varmistamisen.  Mahdollisuus tutustua esiteltävään materiaaliin ennakkoon. </a:t>
          </a:r>
          <a:endParaRPr lang="en-US" sz="1000" kern="1200" dirty="0"/>
        </a:p>
        <a:p>
          <a:pPr marL="57150" lvl="1" indent="-57150" algn="l" defTabSz="444500" rtl="0">
            <a:lnSpc>
              <a:spcPct val="90000"/>
            </a:lnSpc>
            <a:spcBef>
              <a:spcPct val="0"/>
            </a:spcBef>
            <a:spcAft>
              <a:spcPct val="15000"/>
            </a:spcAft>
            <a:buChar char="••"/>
          </a:pPr>
          <a:r>
            <a:rPr lang="fi-FI" sz="1000" kern="1200" dirty="0" smtClean="0"/>
            <a:t>Hallittava riski: SOVITTU TOIMITUSSISÄLTÖ, TOIMITTAJAN KOKONAISRAPORTOINTI</a:t>
          </a:r>
          <a:endParaRPr lang="en-US" sz="1000" kern="1200" dirty="0"/>
        </a:p>
      </dsp:txBody>
      <dsp:txXfrm>
        <a:off x="2124064" y="1513611"/>
        <a:ext cx="1860500" cy="1858021"/>
      </dsp:txXfrm>
    </dsp:sp>
    <dsp:sp modelId="{31F4902E-A00B-4A2D-8254-4426B4A3927C}">
      <dsp:nvSpPr>
        <dsp:cNvPr id="0" name=""/>
        <dsp:cNvSpPr/>
      </dsp:nvSpPr>
      <dsp:spPr>
        <a:xfrm>
          <a:off x="4245035" y="1154329"/>
          <a:ext cx="1860500" cy="359281"/>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40640" rIns="71120" bIns="40640" numCol="1" spcCol="1270" anchor="ctr" anchorCtr="0">
          <a:noAutofit/>
        </a:bodyPr>
        <a:lstStyle/>
        <a:p>
          <a:pPr lvl="0" algn="ctr" defTabSz="444500" rtl="0">
            <a:lnSpc>
              <a:spcPct val="90000"/>
            </a:lnSpc>
            <a:spcBef>
              <a:spcPct val="0"/>
            </a:spcBef>
            <a:spcAft>
              <a:spcPct val="35000"/>
            </a:spcAft>
          </a:pPr>
          <a:r>
            <a:rPr lang="fi-FI" sz="1000" kern="1200" dirty="0" smtClean="0"/>
            <a:t>Vaihtoehto 3 – ”järjestelmäesittely”</a:t>
          </a:r>
          <a:endParaRPr lang="en-US" sz="1000" kern="1200" dirty="0"/>
        </a:p>
      </dsp:txBody>
      <dsp:txXfrm>
        <a:off x="4245035" y="1154329"/>
        <a:ext cx="1860500" cy="359281"/>
      </dsp:txXfrm>
    </dsp:sp>
    <dsp:sp modelId="{89416B4A-3A22-4F5E-B2FA-ACF13B1F5CA5}">
      <dsp:nvSpPr>
        <dsp:cNvPr id="0" name=""/>
        <dsp:cNvSpPr/>
      </dsp:nvSpPr>
      <dsp:spPr>
        <a:xfrm>
          <a:off x="4245035" y="1513611"/>
          <a:ext cx="1860500" cy="1858021"/>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71120" bIns="80010" numCol="1" spcCol="1270" anchor="t" anchorCtr="0">
          <a:noAutofit/>
        </a:bodyPr>
        <a:lstStyle/>
        <a:p>
          <a:pPr marL="57150" lvl="1" indent="-57150" algn="l" defTabSz="444500">
            <a:lnSpc>
              <a:spcPct val="90000"/>
            </a:lnSpc>
            <a:spcBef>
              <a:spcPct val="0"/>
            </a:spcBef>
            <a:spcAft>
              <a:spcPct val="15000"/>
            </a:spcAft>
            <a:buChar char="••"/>
          </a:pPr>
          <a:r>
            <a:rPr lang="fi-FI" sz="1000" kern="1200" dirty="0" smtClean="0"/>
            <a:t>Toimittajan järjestelmän ja testauksen esittely demolla, muutoksien näkyvyys järjestelmässä</a:t>
          </a:r>
          <a:endParaRPr lang="en-US" sz="1000" kern="1200" dirty="0"/>
        </a:p>
        <a:p>
          <a:pPr marL="57150" lvl="1" indent="-57150" algn="l" defTabSz="444500">
            <a:lnSpc>
              <a:spcPct val="90000"/>
            </a:lnSpc>
            <a:spcBef>
              <a:spcPct val="0"/>
            </a:spcBef>
            <a:spcAft>
              <a:spcPct val="15000"/>
            </a:spcAft>
            <a:buChar char="••"/>
          </a:pPr>
          <a:r>
            <a:rPr lang="fi-FI" sz="1000" kern="1200" dirty="0" smtClean="0"/>
            <a:t>Hallittava riski: JÄRJESTELMÄ-MUUTOSOSAAMINEN</a:t>
          </a:r>
          <a:endParaRPr lang="en-US" sz="1000" kern="1200" dirty="0"/>
        </a:p>
      </dsp:txBody>
      <dsp:txXfrm>
        <a:off x="4245035" y="1513611"/>
        <a:ext cx="1860500" cy="1858021"/>
      </dsp:txXfrm>
    </dsp:sp>
    <dsp:sp modelId="{31ADBB05-4559-48CB-8901-78B127010DCE}">
      <dsp:nvSpPr>
        <dsp:cNvPr id="0" name=""/>
        <dsp:cNvSpPr/>
      </dsp:nvSpPr>
      <dsp:spPr>
        <a:xfrm>
          <a:off x="6366005" y="1154329"/>
          <a:ext cx="1860500" cy="359281"/>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40640" rIns="71120" bIns="40640" numCol="1" spcCol="1270" anchor="ctr" anchorCtr="0">
          <a:noAutofit/>
        </a:bodyPr>
        <a:lstStyle/>
        <a:p>
          <a:pPr lvl="0" algn="ctr" defTabSz="444500" rtl="0">
            <a:lnSpc>
              <a:spcPct val="90000"/>
            </a:lnSpc>
            <a:spcBef>
              <a:spcPct val="0"/>
            </a:spcBef>
            <a:spcAft>
              <a:spcPct val="35000"/>
            </a:spcAft>
          </a:pPr>
          <a:r>
            <a:rPr lang="fi-FI" sz="1000" kern="1200" dirty="0" smtClean="0"/>
            <a:t>Vaihtoehto 4 – ”toimittajan testauksen laadunvarmistus”</a:t>
          </a:r>
          <a:endParaRPr lang="en-US" sz="1000" kern="1200" dirty="0"/>
        </a:p>
      </dsp:txBody>
      <dsp:txXfrm>
        <a:off x="6366005" y="1154329"/>
        <a:ext cx="1860500" cy="359281"/>
      </dsp:txXfrm>
    </dsp:sp>
    <dsp:sp modelId="{EC85C425-CD4D-474B-AC41-F8ADA2529519}">
      <dsp:nvSpPr>
        <dsp:cNvPr id="0" name=""/>
        <dsp:cNvSpPr/>
      </dsp:nvSpPr>
      <dsp:spPr>
        <a:xfrm>
          <a:off x="6366005" y="1513611"/>
          <a:ext cx="1860500" cy="1858021"/>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71120" bIns="80010" numCol="1" spcCol="1270" anchor="t" anchorCtr="0">
          <a:noAutofit/>
        </a:bodyPr>
        <a:lstStyle/>
        <a:p>
          <a:pPr marL="57150" lvl="1" indent="-57150" algn="l" defTabSz="444500" rtl="0">
            <a:lnSpc>
              <a:spcPct val="90000"/>
            </a:lnSpc>
            <a:spcBef>
              <a:spcPct val="0"/>
            </a:spcBef>
            <a:spcAft>
              <a:spcPct val="15000"/>
            </a:spcAft>
            <a:buChar char="••"/>
          </a:pPr>
          <a:r>
            <a:rPr lang="fi-FI" sz="1000" kern="1200" dirty="0" smtClean="0"/>
            <a:t>Asiakkaan laadunvarmistustoimet </a:t>
          </a:r>
          <a:endParaRPr lang="en-US" sz="1000" kern="1200" dirty="0"/>
        </a:p>
        <a:p>
          <a:pPr marL="57150" lvl="1" indent="-57150" algn="l" defTabSz="444500" rtl="0">
            <a:lnSpc>
              <a:spcPct val="90000"/>
            </a:lnSpc>
            <a:spcBef>
              <a:spcPct val="0"/>
            </a:spcBef>
            <a:spcAft>
              <a:spcPct val="15000"/>
            </a:spcAft>
            <a:buChar char="••"/>
          </a:pPr>
          <a:r>
            <a:rPr lang="fi-FI" sz="1000" kern="1200" dirty="0" smtClean="0"/>
            <a:t>Laadunvarmistustoimet = ”näytä minulle…” tai ”anna minä kokeilen” – onko toimittajan osaaminen ja tapa tehdä testausta voinut varmistaa virheettömyyden</a:t>
          </a:r>
          <a:endParaRPr lang="en-US" sz="1000" kern="1200" dirty="0"/>
        </a:p>
        <a:p>
          <a:pPr marL="57150" lvl="1" indent="-57150" algn="l" defTabSz="444500" rtl="0">
            <a:lnSpc>
              <a:spcPct val="90000"/>
            </a:lnSpc>
            <a:spcBef>
              <a:spcPct val="0"/>
            </a:spcBef>
            <a:spcAft>
              <a:spcPct val="15000"/>
            </a:spcAft>
            <a:buChar char="••"/>
          </a:pPr>
          <a:r>
            <a:rPr lang="fi-FI" sz="1000" kern="1200" dirty="0" smtClean="0"/>
            <a:t>Hallittava riski: OMAT RESURSSIT, AIKATAULUN REALISMI</a:t>
          </a:r>
          <a:endParaRPr lang="en-US" sz="1000" kern="1200" dirty="0"/>
        </a:p>
      </dsp:txBody>
      <dsp:txXfrm>
        <a:off x="6366005" y="1513611"/>
        <a:ext cx="1860500" cy="1858021"/>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58748B-2575-4D58-9FA0-9F6CA0DF6B78}">
      <dsp:nvSpPr>
        <dsp:cNvPr id="0" name=""/>
        <dsp:cNvSpPr/>
      </dsp:nvSpPr>
      <dsp:spPr>
        <a:xfrm>
          <a:off x="3094" y="15794"/>
          <a:ext cx="1860500" cy="720000"/>
        </a:xfrm>
        <a:prstGeom prst="rect">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lvl="0" algn="ctr" defTabSz="488950" rtl="0">
            <a:lnSpc>
              <a:spcPct val="90000"/>
            </a:lnSpc>
            <a:spcBef>
              <a:spcPct val="0"/>
            </a:spcBef>
            <a:spcAft>
              <a:spcPct val="35000"/>
            </a:spcAft>
          </a:pPr>
          <a:r>
            <a:rPr lang="fi-FI" sz="1100" b="1" kern="1200" dirty="0" smtClean="0"/>
            <a:t>Hyväksymistestauksen rooli ja merkitys</a:t>
          </a:r>
          <a:endParaRPr lang="fi-FI" sz="1100" b="1" kern="1200" dirty="0"/>
        </a:p>
      </dsp:txBody>
      <dsp:txXfrm>
        <a:off x="3094" y="15794"/>
        <a:ext cx="1860500" cy="720000"/>
      </dsp:txXfrm>
    </dsp:sp>
    <dsp:sp modelId="{AAB1147D-BCEB-4287-850D-0C28E16B7E63}">
      <dsp:nvSpPr>
        <dsp:cNvPr id="0" name=""/>
        <dsp:cNvSpPr/>
      </dsp:nvSpPr>
      <dsp:spPr>
        <a:xfrm>
          <a:off x="3094" y="735794"/>
          <a:ext cx="1860500" cy="3774375"/>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66725" rtl="0">
            <a:lnSpc>
              <a:spcPct val="90000"/>
            </a:lnSpc>
            <a:spcBef>
              <a:spcPct val="0"/>
            </a:spcBef>
            <a:spcAft>
              <a:spcPct val="15000"/>
            </a:spcAft>
            <a:buChar char="••"/>
          </a:pPr>
          <a:r>
            <a:rPr lang="fi-FI" sz="1050" kern="1200" dirty="0" smtClean="0"/>
            <a:t>Testaus järjestelmän tilaajalle ja omistajalle</a:t>
          </a:r>
          <a:endParaRPr lang="fi-FI" sz="1050" kern="1200" dirty="0"/>
        </a:p>
        <a:p>
          <a:pPr marL="57150" lvl="1" indent="-57150" algn="l" defTabSz="466725" rtl="0">
            <a:lnSpc>
              <a:spcPct val="90000"/>
            </a:lnSpc>
            <a:spcBef>
              <a:spcPct val="0"/>
            </a:spcBef>
            <a:spcAft>
              <a:spcPct val="15000"/>
            </a:spcAft>
            <a:buChar char="••"/>
          </a:pPr>
          <a:r>
            <a:rPr lang="fi-FI" sz="1050" kern="1200" dirty="0" smtClean="0"/>
            <a:t>Monitoimittajaympäristön erityispiirteet hyväksymistestaukselle</a:t>
          </a:r>
          <a:endParaRPr lang="fi-FI" sz="1050" kern="1200" dirty="0"/>
        </a:p>
        <a:p>
          <a:pPr marL="57150" lvl="1" indent="-57150" algn="l" defTabSz="466725" rtl="0">
            <a:lnSpc>
              <a:spcPct val="90000"/>
            </a:lnSpc>
            <a:spcBef>
              <a:spcPct val="0"/>
            </a:spcBef>
            <a:spcAft>
              <a:spcPct val="15000"/>
            </a:spcAft>
            <a:buChar char="••"/>
          </a:pPr>
          <a:r>
            <a:rPr lang="fi-FI" sz="1050" kern="1200" dirty="0" smtClean="0"/>
            <a:t>Laatutiedon rakentaminen palasille ja kokonaisuudelle</a:t>
          </a:r>
          <a:endParaRPr lang="fi-FI" sz="1050" kern="1200" dirty="0"/>
        </a:p>
        <a:p>
          <a:pPr marL="57150" lvl="1" indent="-57150" algn="l" defTabSz="466725" rtl="0">
            <a:lnSpc>
              <a:spcPct val="90000"/>
            </a:lnSpc>
            <a:spcBef>
              <a:spcPct val="0"/>
            </a:spcBef>
            <a:spcAft>
              <a:spcPct val="15000"/>
            </a:spcAft>
            <a:buChar char="••"/>
          </a:pPr>
          <a:r>
            <a:rPr lang="fi-FI" sz="1050" kern="1200" dirty="0" smtClean="0"/>
            <a:t>Laadun monet näkökulmat: toiminnallinen ja ei-toiminnallinen testaus; näkyvä toimituslaatu sekä jatkokehityksen helppous</a:t>
          </a:r>
          <a:endParaRPr lang="fi-FI" sz="1050" kern="1200" dirty="0"/>
        </a:p>
        <a:p>
          <a:pPr marL="57150" lvl="1" indent="-57150" algn="l" defTabSz="466725" rtl="0">
            <a:lnSpc>
              <a:spcPct val="90000"/>
            </a:lnSpc>
            <a:spcBef>
              <a:spcPct val="0"/>
            </a:spcBef>
            <a:spcAft>
              <a:spcPct val="15000"/>
            </a:spcAft>
            <a:buChar char="••"/>
          </a:pPr>
          <a:r>
            <a:rPr lang="fi-FI" sz="1050" kern="1200" dirty="0" smtClean="0"/>
            <a:t>Dokumentaation katselmointien rooli hyväksymistestauksessa</a:t>
          </a:r>
          <a:endParaRPr lang="fi-FI" sz="1050" kern="1200" dirty="0"/>
        </a:p>
        <a:p>
          <a:pPr marL="57150" lvl="1" indent="-57150" algn="l" defTabSz="466725" rtl="0">
            <a:lnSpc>
              <a:spcPct val="90000"/>
            </a:lnSpc>
            <a:spcBef>
              <a:spcPct val="0"/>
            </a:spcBef>
            <a:spcAft>
              <a:spcPct val="15000"/>
            </a:spcAft>
            <a:buChar char="••"/>
          </a:pPr>
          <a:r>
            <a:rPr lang="fi-FI" sz="1050" kern="1200" dirty="0" smtClean="0"/>
            <a:t>Hyväksymistestauksen suhde muuhun testaukseen: tilaajan ja toimittajan työnjako</a:t>
          </a:r>
          <a:endParaRPr lang="fi-FI" sz="1050" kern="1200" dirty="0"/>
        </a:p>
        <a:p>
          <a:pPr marL="57150" lvl="1" indent="-57150" algn="l" defTabSz="466725" rtl="0">
            <a:lnSpc>
              <a:spcPct val="90000"/>
            </a:lnSpc>
            <a:spcBef>
              <a:spcPct val="0"/>
            </a:spcBef>
            <a:spcAft>
              <a:spcPct val="15000"/>
            </a:spcAft>
            <a:buChar char="••"/>
          </a:pPr>
          <a:r>
            <a:rPr lang="fi-FI" sz="1050" kern="1200" dirty="0" smtClean="0"/>
            <a:t>Hyväksymistestauksen erot laskunmaksuun ja tuotantoonsiirtoon liittyen</a:t>
          </a:r>
          <a:endParaRPr lang="fi-FI" sz="1050" kern="1200" dirty="0"/>
        </a:p>
        <a:p>
          <a:pPr marL="57150" lvl="1" indent="-57150" algn="l" defTabSz="466725" rtl="0">
            <a:lnSpc>
              <a:spcPct val="90000"/>
            </a:lnSpc>
            <a:spcBef>
              <a:spcPct val="0"/>
            </a:spcBef>
            <a:spcAft>
              <a:spcPct val="15000"/>
            </a:spcAft>
            <a:buChar char="••"/>
          </a:pPr>
          <a:r>
            <a:rPr lang="fi-FI" sz="1050" kern="1200" dirty="0" smtClean="0"/>
            <a:t>Hyväksymistestauksen erilainen merkitys ketterissä menetelmissä</a:t>
          </a:r>
          <a:endParaRPr lang="fi-FI" sz="1050" kern="1200" dirty="0"/>
        </a:p>
      </dsp:txBody>
      <dsp:txXfrm>
        <a:off x="3094" y="735794"/>
        <a:ext cx="1860500" cy="3774375"/>
      </dsp:txXfrm>
    </dsp:sp>
    <dsp:sp modelId="{20330B3A-115A-4449-BBD2-F1DF7DA08C27}">
      <dsp:nvSpPr>
        <dsp:cNvPr id="0" name=""/>
        <dsp:cNvSpPr/>
      </dsp:nvSpPr>
      <dsp:spPr>
        <a:xfrm>
          <a:off x="2124064" y="15794"/>
          <a:ext cx="1860500" cy="720000"/>
        </a:xfrm>
        <a:prstGeom prst="rect">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lvl="0" algn="ctr" defTabSz="488950" rtl="0">
            <a:lnSpc>
              <a:spcPct val="90000"/>
            </a:lnSpc>
            <a:spcBef>
              <a:spcPct val="0"/>
            </a:spcBef>
            <a:spcAft>
              <a:spcPct val="35000"/>
            </a:spcAft>
          </a:pPr>
          <a:r>
            <a:rPr lang="fi-FI" sz="1100" b="1" kern="1200" dirty="0" smtClean="0"/>
            <a:t>Onnistuneen hyväksymistestauksen edellytykset</a:t>
          </a:r>
          <a:endParaRPr lang="fi-FI" sz="1100" b="1" kern="1200" dirty="0"/>
        </a:p>
      </dsp:txBody>
      <dsp:txXfrm>
        <a:off x="2124064" y="15794"/>
        <a:ext cx="1860500" cy="720000"/>
      </dsp:txXfrm>
    </dsp:sp>
    <dsp:sp modelId="{8901B344-4CDE-44D5-B022-7E0CE2C33BF0}">
      <dsp:nvSpPr>
        <dsp:cNvPr id="0" name=""/>
        <dsp:cNvSpPr/>
      </dsp:nvSpPr>
      <dsp:spPr>
        <a:xfrm>
          <a:off x="2114538" y="732246"/>
          <a:ext cx="1860500" cy="3774375"/>
        </a:xfrm>
        <a:prstGeom prst="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88950" rtl="0">
            <a:lnSpc>
              <a:spcPct val="90000"/>
            </a:lnSpc>
            <a:spcBef>
              <a:spcPct val="0"/>
            </a:spcBef>
            <a:spcAft>
              <a:spcPct val="15000"/>
            </a:spcAft>
            <a:buChar char="••"/>
          </a:pPr>
          <a:r>
            <a:rPr lang="fi-FI" sz="1100" b="0" kern="1200" dirty="0" smtClean="0"/>
            <a:t>Toimituskokonaisuuksien määrittely ja projektointi</a:t>
          </a:r>
          <a:endParaRPr lang="fi-FI" sz="1100" b="0" kern="1200" dirty="0"/>
        </a:p>
        <a:p>
          <a:pPr marL="57150" lvl="1" indent="-57150" algn="l" defTabSz="488950" rtl="0">
            <a:lnSpc>
              <a:spcPct val="90000"/>
            </a:lnSpc>
            <a:spcBef>
              <a:spcPct val="0"/>
            </a:spcBef>
            <a:spcAft>
              <a:spcPct val="15000"/>
            </a:spcAft>
            <a:buChar char="••"/>
          </a:pPr>
          <a:r>
            <a:rPr lang="fi-FI" sz="1100" b="0" kern="1200" dirty="0" smtClean="0"/>
            <a:t>Toimittajan valinta ja sopimukset</a:t>
          </a:r>
          <a:endParaRPr lang="fi-FI" sz="1100" b="0" kern="1200" dirty="0"/>
        </a:p>
        <a:p>
          <a:pPr marL="57150" lvl="1" indent="-57150" algn="l" defTabSz="488950" rtl="0">
            <a:lnSpc>
              <a:spcPct val="90000"/>
            </a:lnSpc>
            <a:spcBef>
              <a:spcPct val="0"/>
            </a:spcBef>
            <a:spcAft>
              <a:spcPct val="15000"/>
            </a:spcAft>
            <a:buChar char="••"/>
          </a:pPr>
          <a:r>
            <a:rPr lang="fi-FI" sz="1100" b="0" kern="1200" dirty="0" smtClean="0"/>
            <a:t>Vaatimusten ja odotusten hallinta</a:t>
          </a:r>
          <a:endParaRPr lang="fi-FI" sz="1100" b="0" kern="1200" dirty="0"/>
        </a:p>
        <a:p>
          <a:pPr marL="57150" lvl="1" indent="-57150" algn="l" defTabSz="488950" rtl="0">
            <a:lnSpc>
              <a:spcPct val="90000"/>
            </a:lnSpc>
            <a:spcBef>
              <a:spcPct val="0"/>
            </a:spcBef>
            <a:spcAft>
              <a:spcPct val="15000"/>
            </a:spcAft>
            <a:buChar char="••"/>
          </a:pPr>
          <a:r>
            <a:rPr lang="fi-FI" sz="1100" b="0" kern="1200" dirty="0" smtClean="0"/>
            <a:t>Toimittajayhteistyö</a:t>
          </a:r>
          <a:endParaRPr lang="fi-FI" sz="1100" b="0" kern="1200" dirty="0"/>
        </a:p>
        <a:p>
          <a:pPr marL="57150" lvl="1" indent="-57150" algn="l" defTabSz="488950" rtl="0">
            <a:lnSpc>
              <a:spcPct val="90000"/>
            </a:lnSpc>
            <a:spcBef>
              <a:spcPct val="0"/>
            </a:spcBef>
            <a:spcAft>
              <a:spcPct val="15000"/>
            </a:spcAft>
            <a:buChar char="••"/>
          </a:pPr>
          <a:r>
            <a:rPr lang="fi-FI" sz="1100" b="0" kern="1200" dirty="0" smtClean="0"/>
            <a:t>Kokonaisjärjestelmän ja osajärjestelmien tunnistaminen</a:t>
          </a:r>
          <a:endParaRPr lang="fi-FI" sz="1100" b="0" kern="1200" dirty="0"/>
        </a:p>
      </dsp:txBody>
      <dsp:txXfrm>
        <a:off x="2114538" y="732246"/>
        <a:ext cx="1860500" cy="3774375"/>
      </dsp:txXfrm>
    </dsp:sp>
    <dsp:sp modelId="{E3E6BEB8-B08E-43CD-A3AF-F2B85C4580AD}">
      <dsp:nvSpPr>
        <dsp:cNvPr id="0" name=""/>
        <dsp:cNvSpPr/>
      </dsp:nvSpPr>
      <dsp:spPr>
        <a:xfrm>
          <a:off x="4245035" y="15794"/>
          <a:ext cx="1860500" cy="720000"/>
        </a:xfrm>
        <a:prstGeom prst="rect">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lvl="0" algn="ctr" defTabSz="488950" rtl="0">
            <a:lnSpc>
              <a:spcPct val="90000"/>
            </a:lnSpc>
            <a:spcBef>
              <a:spcPct val="0"/>
            </a:spcBef>
            <a:spcAft>
              <a:spcPct val="35000"/>
            </a:spcAft>
          </a:pPr>
          <a:r>
            <a:rPr lang="fi-FI" sz="1100" b="1" kern="1200" dirty="0" smtClean="0"/>
            <a:t>Hyväksymistestauksen organisointi ja puitteet</a:t>
          </a:r>
          <a:endParaRPr lang="fi-FI" sz="1100" b="1" kern="1200" dirty="0"/>
        </a:p>
      </dsp:txBody>
      <dsp:txXfrm>
        <a:off x="4245035" y="15794"/>
        <a:ext cx="1860500" cy="720000"/>
      </dsp:txXfrm>
    </dsp:sp>
    <dsp:sp modelId="{2CE42794-9563-4A96-B9CC-520A06D6EE9D}">
      <dsp:nvSpPr>
        <dsp:cNvPr id="0" name=""/>
        <dsp:cNvSpPr/>
      </dsp:nvSpPr>
      <dsp:spPr>
        <a:xfrm>
          <a:off x="4245035" y="735794"/>
          <a:ext cx="1860500" cy="3774375"/>
        </a:xfrm>
        <a:prstGeom prst="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66725">
            <a:lnSpc>
              <a:spcPct val="90000"/>
            </a:lnSpc>
            <a:spcBef>
              <a:spcPct val="0"/>
            </a:spcBef>
            <a:spcAft>
              <a:spcPct val="15000"/>
            </a:spcAft>
            <a:buChar char="••"/>
          </a:pPr>
          <a:r>
            <a:rPr lang="fi-FI" sz="1050" kern="1200" dirty="0" smtClean="0"/>
            <a:t>Testausprosessi suunnittelusta läpivientiin</a:t>
          </a:r>
          <a:endParaRPr lang="fi-FI" sz="1050" kern="1200" dirty="0"/>
        </a:p>
        <a:p>
          <a:pPr marL="57150" lvl="1" indent="-57150" algn="l" defTabSz="466725">
            <a:lnSpc>
              <a:spcPct val="90000"/>
            </a:lnSpc>
            <a:spcBef>
              <a:spcPct val="0"/>
            </a:spcBef>
            <a:spcAft>
              <a:spcPct val="15000"/>
            </a:spcAft>
            <a:buChar char="••"/>
          </a:pPr>
          <a:r>
            <a:rPr lang="fi-FI" sz="1050" kern="1200" dirty="0" smtClean="0"/>
            <a:t>Toimittajan testauksien tarkastelu osana hyväksymistestausta</a:t>
          </a:r>
          <a:endParaRPr lang="fi-FI" sz="1050" kern="1200" dirty="0"/>
        </a:p>
        <a:p>
          <a:pPr marL="57150" lvl="1" indent="-57150" algn="l" defTabSz="466725">
            <a:lnSpc>
              <a:spcPct val="90000"/>
            </a:lnSpc>
            <a:spcBef>
              <a:spcPct val="0"/>
            </a:spcBef>
            <a:spcAft>
              <a:spcPct val="15000"/>
            </a:spcAft>
            <a:buChar char="••"/>
          </a:pPr>
          <a:r>
            <a:rPr lang="fi-FI" sz="1050" kern="1200" dirty="0" smtClean="0"/>
            <a:t>Ohjelmistokehityksen luonne, jatkuva muutos ja testauksen toistotarve</a:t>
          </a:r>
          <a:endParaRPr lang="fi-FI" sz="1050" kern="1200" dirty="0"/>
        </a:p>
        <a:p>
          <a:pPr marL="57150" lvl="1" indent="-57150" algn="l" defTabSz="466725">
            <a:lnSpc>
              <a:spcPct val="90000"/>
            </a:lnSpc>
            <a:spcBef>
              <a:spcPct val="0"/>
            </a:spcBef>
            <a:spcAft>
              <a:spcPct val="15000"/>
            </a:spcAft>
            <a:buChar char="••"/>
          </a:pPr>
          <a:r>
            <a:rPr lang="fi-FI" sz="1050" kern="1200" dirty="0" smtClean="0"/>
            <a:t>Testauksen työmäärät ja tehokkuus tuloksina ja kustannuksina</a:t>
          </a:r>
          <a:endParaRPr lang="fi-FI" sz="1050" kern="1200" dirty="0"/>
        </a:p>
        <a:p>
          <a:pPr marL="57150" lvl="1" indent="-57150" algn="l" defTabSz="466725">
            <a:lnSpc>
              <a:spcPct val="90000"/>
            </a:lnSpc>
            <a:spcBef>
              <a:spcPct val="0"/>
            </a:spcBef>
            <a:spcAft>
              <a:spcPct val="15000"/>
            </a:spcAft>
            <a:buChar char="••"/>
          </a:pPr>
          <a:r>
            <a:rPr lang="fi-FI" sz="1050" kern="1200" dirty="0" smtClean="0"/>
            <a:t>Riskiohjattu testaus: rajallisen työmäärän kohdistaminen</a:t>
          </a:r>
          <a:endParaRPr lang="fi-FI" sz="1050" kern="1200" dirty="0"/>
        </a:p>
        <a:p>
          <a:pPr marL="57150" lvl="1" indent="-57150" algn="l" defTabSz="466725">
            <a:lnSpc>
              <a:spcPct val="90000"/>
            </a:lnSpc>
            <a:spcBef>
              <a:spcPct val="0"/>
            </a:spcBef>
            <a:spcAft>
              <a:spcPct val="15000"/>
            </a:spcAft>
            <a:buChar char="••"/>
          </a:pPr>
          <a:r>
            <a:rPr lang="fi-FI" sz="1050" kern="1200" dirty="0" smtClean="0"/>
            <a:t>Havaintokirjausten käsittely ja muutoksista sopiminen</a:t>
          </a:r>
          <a:endParaRPr lang="fi-FI" sz="1050" kern="1200" dirty="0"/>
        </a:p>
        <a:p>
          <a:pPr marL="57150" lvl="1" indent="-57150" algn="l" defTabSz="466725">
            <a:lnSpc>
              <a:spcPct val="90000"/>
            </a:lnSpc>
            <a:spcBef>
              <a:spcPct val="0"/>
            </a:spcBef>
            <a:spcAft>
              <a:spcPct val="15000"/>
            </a:spcAft>
            <a:buChar char="••"/>
          </a:pPr>
          <a:r>
            <a:rPr lang="fi-FI" sz="1050" kern="1200" dirty="0" smtClean="0"/>
            <a:t>Testausympäristöt, testitapaukset ja testiaineisto</a:t>
          </a:r>
          <a:endParaRPr lang="fi-FI" sz="1050" kern="1200" dirty="0"/>
        </a:p>
        <a:p>
          <a:pPr marL="57150" lvl="1" indent="-57150" algn="l" defTabSz="466725">
            <a:lnSpc>
              <a:spcPct val="90000"/>
            </a:lnSpc>
            <a:spcBef>
              <a:spcPct val="0"/>
            </a:spcBef>
            <a:spcAft>
              <a:spcPct val="15000"/>
            </a:spcAft>
            <a:buChar char="••"/>
          </a:pPr>
          <a:r>
            <a:rPr lang="fi-FI" sz="1050" kern="1200" dirty="0" smtClean="0"/>
            <a:t>Testauksen hallinta, seuranta ja mittarit</a:t>
          </a:r>
          <a:endParaRPr lang="fi-FI" sz="1050" kern="1200" dirty="0"/>
        </a:p>
        <a:p>
          <a:pPr marL="57150" lvl="1" indent="-57150" algn="l" defTabSz="466725">
            <a:lnSpc>
              <a:spcPct val="90000"/>
            </a:lnSpc>
            <a:spcBef>
              <a:spcPct val="0"/>
            </a:spcBef>
            <a:spcAft>
              <a:spcPct val="15000"/>
            </a:spcAft>
            <a:buChar char="••"/>
          </a:pPr>
          <a:r>
            <a:rPr lang="fi-FI" sz="1050" kern="1200" dirty="0" smtClean="0"/>
            <a:t>Toistuva hyväksymistestaus ylläpitoluonteiselle kehitystyölle</a:t>
          </a:r>
        </a:p>
      </dsp:txBody>
      <dsp:txXfrm>
        <a:off x="4245035" y="735794"/>
        <a:ext cx="1860500" cy="3774375"/>
      </dsp:txXfrm>
    </dsp:sp>
    <dsp:sp modelId="{016C0C30-52FC-4CA5-B7B1-35861449347E}">
      <dsp:nvSpPr>
        <dsp:cNvPr id="0" name=""/>
        <dsp:cNvSpPr/>
      </dsp:nvSpPr>
      <dsp:spPr>
        <a:xfrm>
          <a:off x="6366005" y="15794"/>
          <a:ext cx="1860500" cy="720000"/>
        </a:xfrm>
        <a:prstGeom prst="rect">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lvl="0" algn="ctr" defTabSz="488950">
            <a:lnSpc>
              <a:spcPct val="90000"/>
            </a:lnSpc>
            <a:spcBef>
              <a:spcPct val="0"/>
            </a:spcBef>
            <a:spcAft>
              <a:spcPct val="35000"/>
            </a:spcAft>
          </a:pPr>
          <a:r>
            <a:rPr lang="fi-FI" sz="1100" b="1" kern="1200" dirty="0" smtClean="0"/>
            <a:t>Testaus vaatimuksia ja odotuksia vastaan</a:t>
          </a:r>
          <a:endParaRPr lang="fi-FI" sz="1100" b="1" kern="1200" dirty="0"/>
        </a:p>
      </dsp:txBody>
      <dsp:txXfrm>
        <a:off x="6366005" y="15794"/>
        <a:ext cx="1860500" cy="720000"/>
      </dsp:txXfrm>
    </dsp:sp>
    <dsp:sp modelId="{882F28AC-AD1B-4E0E-AEA6-8989F5CE6A35}">
      <dsp:nvSpPr>
        <dsp:cNvPr id="0" name=""/>
        <dsp:cNvSpPr/>
      </dsp:nvSpPr>
      <dsp:spPr>
        <a:xfrm>
          <a:off x="6366005" y="735794"/>
          <a:ext cx="1860500" cy="3774375"/>
        </a:xfrm>
        <a:prstGeom prst="rect">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66725">
            <a:lnSpc>
              <a:spcPct val="90000"/>
            </a:lnSpc>
            <a:spcBef>
              <a:spcPct val="0"/>
            </a:spcBef>
            <a:spcAft>
              <a:spcPct val="15000"/>
            </a:spcAft>
            <a:buChar char="••"/>
          </a:pPr>
          <a:r>
            <a:rPr lang="fi-FI" sz="1050" kern="1200" dirty="0" smtClean="0"/>
            <a:t>Sovellusalueosaamisen ja liiketoimintaprosessin osaamisen käyttö hyväksymistestauksessa</a:t>
          </a:r>
          <a:endParaRPr lang="fi-FI" sz="1050" kern="1200" dirty="0"/>
        </a:p>
        <a:p>
          <a:pPr marL="57150" lvl="1" indent="-57150" algn="l" defTabSz="466725">
            <a:lnSpc>
              <a:spcPct val="90000"/>
            </a:lnSpc>
            <a:spcBef>
              <a:spcPct val="0"/>
            </a:spcBef>
            <a:spcAft>
              <a:spcPct val="15000"/>
            </a:spcAft>
            <a:buChar char="••"/>
          </a:pPr>
          <a:r>
            <a:rPr lang="fi-FI" sz="1050" kern="1200" dirty="0" smtClean="0"/>
            <a:t>Vaatimusten järjestelmällinen läpikäynti</a:t>
          </a:r>
          <a:endParaRPr lang="fi-FI" sz="1050" kern="1200" dirty="0"/>
        </a:p>
        <a:p>
          <a:pPr marL="57150" lvl="1" indent="-57150" algn="l" defTabSz="466725">
            <a:lnSpc>
              <a:spcPct val="90000"/>
            </a:lnSpc>
            <a:spcBef>
              <a:spcPct val="0"/>
            </a:spcBef>
            <a:spcAft>
              <a:spcPct val="15000"/>
            </a:spcAft>
            <a:buChar char="••"/>
          </a:pPr>
          <a:r>
            <a:rPr lang="fi-FI" sz="1050" kern="1200" dirty="0" smtClean="0"/>
            <a:t>Testitapausten merkitys hyväksymistestaukselle</a:t>
          </a:r>
          <a:endParaRPr lang="fi-FI" sz="1050" kern="1200" dirty="0"/>
        </a:p>
        <a:p>
          <a:pPr marL="57150" lvl="1" indent="-57150" algn="l" defTabSz="466725">
            <a:lnSpc>
              <a:spcPct val="90000"/>
            </a:lnSpc>
            <a:spcBef>
              <a:spcPct val="0"/>
            </a:spcBef>
            <a:spcAft>
              <a:spcPct val="15000"/>
            </a:spcAft>
            <a:buChar char="••"/>
          </a:pPr>
          <a:r>
            <a:rPr lang="fi-FI" sz="1050" kern="1200" dirty="0" smtClean="0"/>
            <a:t>Hyväksymistestausta tukevat testitapaukset</a:t>
          </a:r>
          <a:endParaRPr lang="fi-FI" sz="1050" kern="1200" dirty="0"/>
        </a:p>
        <a:p>
          <a:pPr marL="57150" lvl="1" indent="-57150" algn="l" defTabSz="466725">
            <a:lnSpc>
              <a:spcPct val="90000"/>
            </a:lnSpc>
            <a:spcBef>
              <a:spcPct val="0"/>
            </a:spcBef>
            <a:spcAft>
              <a:spcPct val="15000"/>
            </a:spcAft>
            <a:buChar char="••"/>
          </a:pPr>
          <a:r>
            <a:rPr lang="fi-FI" sz="1050" kern="1200" dirty="0" smtClean="0"/>
            <a:t>Testitapausten priorisointi hyväksymistestaukselle: mistä tiedetään mikä on tärkeää liiketoiminnalle</a:t>
          </a:r>
          <a:endParaRPr lang="fi-FI" sz="1050" kern="1200" dirty="0"/>
        </a:p>
        <a:p>
          <a:pPr marL="57150" lvl="1" indent="-57150" algn="l" defTabSz="466725">
            <a:lnSpc>
              <a:spcPct val="90000"/>
            </a:lnSpc>
            <a:spcBef>
              <a:spcPct val="0"/>
            </a:spcBef>
            <a:spcAft>
              <a:spcPct val="15000"/>
            </a:spcAft>
            <a:buChar char="••"/>
          </a:pPr>
          <a:r>
            <a:rPr lang="fi-FI" sz="1050" kern="1200" dirty="0" smtClean="0"/>
            <a:t>Kelpuuttaminen käyttöön vs. todentaminen suhteessa vaatimuksiin</a:t>
          </a:r>
        </a:p>
      </dsp:txBody>
      <dsp:txXfrm>
        <a:off x="6366005" y="735794"/>
        <a:ext cx="1860500" cy="3774375"/>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4BEF6E-3794-4D77-A896-8B27B2033E24}">
      <dsp:nvSpPr>
        <dsp:cNvPr id="0" name=""/>
        <dsp:cNvSpPr/>
      </dsp:nvSpPr>
      <dsp:spPr>
        <a:xfrm>
          <a:off x="1851818" y="0"/>
          <a:ext cx="4525963" cy="4525963"/>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1D3CAEC-1660-485B-81F0-922A9B6499D5}">
      <dsp:nvSpPr>
        <dsp:cNvPr id="0" name=""/>
        <dsp:cNvSpPr/>
      </dsp:nvSpPr>
      <dsp:spPr>
        <a:xfrm>
          <a:off x="2281784" y="429966"/>
          <a:ext cx="1765125" cy="1765125"/>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rtl="0">
            <a:lnSpc>
              <a:spcPct val="90000"/>
            </a:lnSpc>
            <a:spcBef>
              <a:spcPct val="0"/>
            </a:spcBef>
            <a:spcAft>
              <a:spcPct val="35000"/>
            </a:spcAft>
          </a:pPr>
          <a:r>
            <a:rPr lang="fi-FI" sz="2000" kern="1200" dirty="0" smtClean="0"/>
            <a:t>Pragmaatikko</a:t>
          </a:r>
          <a:endParaRPr lang="en-US" sz="2000" kern="1200" dirty="0"/>
        </a:p>
      </dsp:txBody>
      <dsp:txXfrm>
        <a:off x="2367950" y="516132"/>
        <a:ext cx="1592793" cy="1592793"/>
      </dsp:txXfrm>
    </dsp:sp>
    <dsp:sp modelId="{A353EA05-BE3E-4FC8-B550-FE9C3B399CB7}">
      <dsp:nvSpPr>
        <dsp:cNvPr id="0" name=""/>
        <dsp:cNvSpPr/>
      </dsp:nvSpPr>
      <dsp:spPr>
        <a:xfrm>
          <a:off x="4182689" y="429966"/>
          <a:ext cx="1765125" cy="1765125"/>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rtl="0">
            <a:lnSpc>
              <a:spcPct val="90000"/>
            </a:lnSpc>
            <a:spcBef>
              <a:spcPct val="0"/>
            </a:spcBef>
            <a:spcAft>
              <a:spcPct val="35000"/>
            </a:spcAft>
          </a:pPr>
          <a:r>
            <a:rPr lang="fi-FI" sz="2000" kern="1200" dirty="0" smtClean="0"/>
            <a:t>Pioneeri</a:t>
          </a:r>
          <a:endParaRPr lang="en-US" sz="2000" kern="1200" dirty="0"/>
        </a:p>
      </dsp:txBody>
      <dsp:txXfrm>
        <a:off x="4268855" y="516132"/>
        <a:ext cx="1592793" cy="1592793"/>
      </dsp:txXfrm>
    </dsp:sp>
    <dsp:sp modelId="{19F0EBA6-6C33-4003-868E-3DDC624226AE}">
      <dsp:nvSpPr>
        <dsp:cNvPr id="0" name=""/>
        <dsp:cNvSpPr/>
      </dsp:nvSpPr>
      <dsp:spPr>
        <a:xfrm>
          <a:off x="2281784" y="2330870"/>
          <a:ext cx="1765125" cy="1765125"/>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rtl="0">
            <a:lnSpc>
              <a:spcPct val="90000"/>
            </a:lnSpc>
            <a:spcBef>
              <a:spcPct val="0"/>
            </a:spcBef>
            <a:spcAft>
              <a:spcPct val="35000"/>
            </a:spcAft>
          </a:pPr>
          <a:r>
            <a:rPr lang="fi-FI" sz="2000" kern="1200" dirty="0" smtClean="0"/>
            <a:t>Analysoija</a:t>
          </a:r>
          <a:endParaRPr lang="en-US" sz="2000" kern="1200" dirty="0"/>
        </a:p>
      </dsp:txBody>
      <dsp:txXfrm>
        <a:off x="2367950" y="2417036"/>
        <a:ext cx="1592793" cy="1592793"/>
      </dsp:txXfrm>
    </dsp:sp>
    <dsp:sp modelId="{865A9AAB-4EA8-428C-8C15-5CCA24A5A1DA}">
      <dsp:nvSpPr>
        <dsp:cNvPr id="0" name=""/>
        <dsp:cNvSpPr/>
      </dsp:nvSpPr>
      <dsp:spPr>
        <a:xfrm>
          <a:off x="4182689" y="2330870"/>
          <a:ext cx="1765125" cy="1765125"/>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rtl="0">
            <a:lnSpc>
              <a:spcPct val="90000"/>
            </a:lnSpc>
            <a:spcBef>
              <a:spcPct val="0"/>
            </a:spcBef>
            <a:spcAft>
              <a:spcPct val="35000"/>
            </a:spcAft>
          </a:pPr>
          <a:r>
            <a:rPr lang="fi-FI" sz="2000" kern="1200" dirty="0" smtClean="0"/>
            <a:t>Mahdollistaja</a:t>
          </a:r>
          <a:endParaRPr lang="en-US" sz="2000" kern="1200" dirty="0"/>
        </a:p>
      </dsp:txBody>
      <dsp:txXfrm>
        <a:off x="4268855" y="2417036"/>
        <a:ext cx="1592793" cy="1592793"/>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43157F-351C-4900-BA19-7CF857D57FAC}">
      <dsp:nvSpPr>
        <dsp:cNvPr id="0" name=""/>
        <dsp:cNvSpPr/>
      </dsp:nvSpPr>
      <dsp:spPr>
        <a:xfrm>
          <a:off x="0" y="3712270"/>
          <a:ext cx="8229600" cy="812154"/>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rtl="0">
            <a:lnSpc>
              <a:spcPct val="90000"/>
            </a:lnSpc>
            <a:spcBef>
              <a:spcPct val="0"/>
            </a:spcBef>
            <a:spcAft>
              <a:spcPct val="35000"/>
            </a:spcAft>
          </a:pPr>
          <a:r>
            <a:rPr lang="fi-FI" sz="1600" kern="1200" dirty="0" smtClean="0"/>
            <a:t>Hyväksymispäätöksen tekeminen</a:t>
          </a:r>
          <a:endParaRPr lang="en-US" sz="1600" kern="1200" dirty="0"/>
        </a:p>
      </dsp:txBody>
      <dsp:txXfrm>
        <a:off x="0" y="3712270"/>
        <a:ext cx="8229600" cy="438563"/>
      </dsp:txXfrm>
    </dsp:sp>
    <dsp:sp modelId="{BC5829FE-AE62-4C72-87F8-50A99B4046C8}">
      <dsp:nvSpPr>
        <dsp:cNvPr id="0" name=""/>
        <dsp:cNvSpPr/>
      </dsp:nvSpPr>
      <dsp:spPr>
        <a:xfrm>
          <a:off x="0" y="4134590"/>
          <a:ext cx="4114799" cy="373590"/>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fi-FI" sz="1200" kern="1200" dirty="0" smtClean="0"/>
            <a:t>Testauksen riittävyyden arviointi</a:t>
          </a:r>
          <a:endParaRPr lang="en-US" sz="1200" kern="1200" dirty="0"/>
        </a:p>
      </dsp:txBody>
      <dsp:txXfrm>
        <a:off x="0" y="4134590"/>
        <a:ext cx="4114799" cy="373590"/>
      </dsp:txXfrm>
    </dsp:sp>
    <dsp:sp modelId="{F670390C-ABEF-4A62-BA35-08167288C47D}">
      <dsp:nvSpPr>
        <dsp:cNvPr id="0" name=""/>
        <dsp:cNvSpPr/>
      </dsp:nvSpPr>
      <dsp:spPr>
        <a:xfrm>
          <a:off x="4114800" y="4134590"/>
          <a:ext cx="4114799" cy="373590"/>
        </a:xfrm>
        <a:prstGeom prst="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fi-FI" sz="1200" kern="1200" dirty="0" smtClean="0"/>
            <a:t>Testauksen tulosten tarkastelu</a:t>
          </a:r>
          <a:endParaRPr lang="fi-FI" sz="1200" kern="1200" dirty="0"/>
        </a:p>
      </dsp:txBody>
      <dsp:txXfrm>
        <a:off x="4114800" y="4134590"/>
        <a:ext cx="4114799" cy="373590"/>
      </dsp:txXfrm>
    </dsp:sp>
    <dsp:sp modelId="{CD6073F2-E99A-4092-99F1-8C5A9366EC04}">
      <dsp:nvSpPr>
        <dsp:cNvPr id="0" name=""/>
        <dsp:cNvSpPr/>
      </dsp:nvSpPr>
      <dsp:spPr>
        <a:xfrm rot="10800000">
          <a:off x="0" y="2475359"/>
          <a:ext cx="8229600" cy="1249092"/>
        </a:xfrm>
        <a:prstGeom prst="upArrowCallou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rtl="0">
            <a:lnSpc>
              <a:spcPct val="90000"/>
            </a:lnSpc>
            <a:spcBef>
              <a:spcPct val="0"/>
            </a:spcBef>
            <a:spcAft>
              <a:spcPct val="35000"/>
            </a:spcAft>
          </a:pPr>
          <a:r>
            <a:rPr lang="fi-FI" sz="1600" kern="1200" dirty="0" smtClean="0"/>
            <a:t>Testaaminen</a:t>
          </a:r>
          <a:endParaRPr lang="en-US" sz="1600" kern="1200" dirty="0"/>
        </a:p>
      </dsp:txBody>
      <dsp:txXfrm rot="-10800000">
        <a:off x="0" y="2475359"/>
        <a:ext cx="8229600" cy="438431"/>
      </dsp:txXfrm>
    </dsp:sp>
    <dsp:sp modelId="{0088C5A1-A7B7-47CD-A509-2C9524D241F6}">
      <dsp:nvSpPr>
        <dsp:cNvPr id="0" name=""/>
        <dsp:cNvSpPr/>
      </dsp:nvSpPr>
      <dsp:spPr>
        <a:xfrm>
          <a:off x="4018" y="2913791"/>
          <a:ext cx="2740521" cy="373478"/>
        </a:xfrm>
        <a:prstGeom prst="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fi-FI" sz="1200" kern="1200" dirty="0" smtClean="0"/>
            <a:t>Havaintojen tekeminen, kirjaaminen, luokittelu</a:t>
          </a:r>
          <a:endParaRPr lang="en-US" sz="1200" kern="1200" dirty="0"/>
        </a:p>
      </dsp:txBody>
      <dsp:txXfrm>
        <a:off x="4018" y="2913791"/>
        <a:ext cx="2740521" cy="373478"/>
      </dsp:txXfrm>
    </dsp:sp>
    <dsp:sp modelId="{659195B5-86D5-4BF9-B2C7-2DC5CFDC5BDB}">
      <dsp:nvSpPr>
        <dsp:cNvPr id="0" name=""/>
        <dsp:cNvSpPr/>
      </dsp:nvSpPr>
      <dsp:spPr>
        <a:xfrm>
          <a:off x="2744539" y="2913791"/>
          <a:ext cx="2740521" cy="373478"/>
        </a:xfrm>
        <a:prstGeom prst="rect">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fi-FI" sz="1200" kern="1200" dirty="0" smtClean="0"/>
            <a:t>Testauksen etenemisen arviointi</a:t>
          </a:r>
          <a:endParaRPr lang="en-US" sz="1200" kern="1200" dirty="0"/>
        </a:p>
      </dsp:txBody>
      <dsp:txXfrm>
        <a:off x="2744539" y="2913791"/>
        <a:ext cx="2740521" cy="373478"/>
      </dsp:txXfrm>
    </dsp:sp>
    <dsp:sp modelId="{8C9AC0C0-3DB3-4DCD-811E-9CCA3508B7B1}">
      <dsp:nvSpPr>
        <dsp:cNvPr id="0" name=""/>
        <dsp:cNvSpPr/>
      </dsp:nvSpPr>
      <dsp:spPr>
        <a:xfrm>
          <a:off x="5485060" y="2913791"/>
          <a:ext cx="2740521" cy="373478"/>
        </a:xfrm>
        <a:prstGeom prst="rect">
          <a:avLst/>
        </a:prstGeom>
        <a:solidFill>
          <a:schemeClr val="accent6">
            <a:tint val="40000"/>
            <a:alpha val="90000"/>
            <a:hueOff val="0"/>
            <a:satOff val="0"/>
            <a:lumOff val="0"/>
            <a:alphaOff val="0"/>
          </a:schemeClr>
        </a:solidFill>
        <a:ln w="25400" cap="flat" cmpd="sng" algn="ctr">
          <a:solidFill>
            <a:schemeClr val="accent6">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fi-FI" sz="1200" kern="1200" dirty="0" smtClean="0"/>
            <a:t>Korjauksien varmistaminen, regressiotestaus</a:t>
          </a:r>
          <a:endParaRPr lang="en-US" sz="1200" kern="1200" dirty="0"/>
        </a:p>
      </dsp:txBody>
      <dsp:txXfrm>
        <a:off x="5485060" y="2913791"/>
        <a:ext cx="2740521" cy="373478"/>
      </dsp:txXfrm>
    </dsp:sp>
    <dsp:sp modelId="{2169BE9E-E813-4240-BE92-BB460A01A0BB}">
      <dsp:nvSpPr>
        <dsp:cNvPr id="0" name=""/>
        <dsp:cNvSpPr/>
      </dsp:nvSpPr>
      <dsp:spPr>
        <a:xfrm rot="10800000">
          <a:off x="0" y="1238449"/>
          <a:ext cx="8229600" cy="1249092"/>
        </a:xfrm>
        <a:prstGeom prst="upArrowCallou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rtl="0">
            <a:lnSpc>
              <a:spcPct val="90000"/>
            </a:lnSpc>
            <a:spcBef>
              <a:spcPct val="0"/>
            </a:spcBef>
            <a:spcAft>
              <a:spcPct val="35000"/>
            </a:spcAft>
          </a:pPr>
          <a:r>
            <a:rPr lang="fi-FI" sz="1600" kern="1200" dirty="0" smtClean="0"/>
            <a:t>Valmistelu</a:t>
          </a:r>
          <a:endParaRPr lang="en-US" sz="1600" kern="1200" dirty="0"/>
        </a:p>
      </dsp:txBody>
      <dsp:txXfrm rot="-10800000">
        <a:off x="0" y="1238449"/>
        <a:ext cx="8229600" cy="438431"/>
      </dsp:txXfrm>
    </dsp:sp>
    <dsp:sp modelId="{1D863E9C-272F-4035-ADD3-E4A566F9BD24}">
      <dsp:nvSpPr>
        <dsp:cNvPr id="0" name=""/>
        <dsp:cNvSpPr/>
      </dsp:nvSpPr>
      <dsp:spPr>
        <a:xfrm>
          <a:off x="4018" y="1676880"/>
          <a:ext cx="2740521" cy="373478"/>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fi-FI" sz="1200" kern="1200" dirty="0" smtClean="0"/>
            <a:t>Vaatimusten lajittelu ja laajentaminen</a:t>
          </a:r>
          <a:endParaRPr lang="en-US" sz="1200" kern="1200" dirty="0"/>
        </a:p>
      </dsp:txBody>
      <dsp:txXfrm>
        <a:off x="4018" y="1676880"/>
        <a:ext cx="2740521" cy="373478"/>
      </dsp:txXfrm>
    </dsp:sp>
    <dsp:sp modelId="{6C120B5F-968D-492C-818D-5E486E0387D0}">
      <dsp:nvSpPr>
        <dsp:cNvPr id="0" name=""/>
        <dsp:cNvSpPr/>
      </dsp:nvSpPr>
      <dsp:spPr>
        <a:xfrm>
          <a:off x="2744539" y="1676880"/>
          <a:ext cx="2740521" cy="373478"/>
        </a:xfrm>
        <a:prstGeom prst="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fi-FI" sz="1200" kern="1200" dirty="0" smtClean="0"/>
            <a:t>Testiaineiston luominen, kerääminen, lajittelu ja sopiminen</a:t>
          </a:r>
          <a:endParaRPr lang="en-US" sz="1200" kern="1200" dirty="0"/>
        </a:p>
      </dsp:txBody>
      <dsp:txXfrm>
        <a:off x="2744539" y="1676880"/>
        <a:ext cx="2740521" cy="373478"/>
      </dsp:txXfrm>
    </dsp:sp>
    <dsp:sp modelId="{B09D8E9E-0919-4ECF-BD63-5DC71DA4AF13}">
      <dsp:nvSpPr>
        <dsp:cNvPr id="0" name=""/>
        <dsp:cNvSpPr/>
      </dsp:nvSpPr>
      <dsp:spPr>
        <a:xfrm>
          <a:off x="5485060" y="1676880"/>
          <a:ext cx="2740521" cy="373478"/>
        </a:xfrm>
        <a:prstGeom prst="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en-US" sz="1200" kern="1200" dirty="0" err="1" smtClean="0"/>
            <a:t>Toimittajan</a:t>
          </a:r>
          <a:r>
            <a:rPr lang="en-US" sz="1200" kern="1200" dirty="0" smtClean="0"/>
            <a:t> </a:t>
          </a:r>
          <a:r>
            <a:rPr lang="en-US" sz="1200" kern="1200" dirty="0" err="1" smtClean="0"/>
            <a:t>testauksen</a:t>
          </a:r>
          <a:r>
            <a:rPr lang="en-US" sz="1200" kern="1200" dirty="0" smtClean="0"/>
            <a:t> </a:t>
          </a:r>
          <a:r>
            <a:rPr lang="en-US" sz="1200" kern="1200" dirty="0" err="1" smtClean="0"/>
            <a:t>arviointi</a:t>
          </a:r>
          <a:endParaRPr lang="en-US" sz="1200" kern="1200" dirty="0"/>
        </a:p>
      </dsp:txBody>
      <dsp:txXfrm>
        <a:off x="5485060" y="1676880"/>
        <a:ext cx="2740521" cy="373478"/>
      </dsp:txXfrm>
    </dsp:sp>
    <dsp:sp modelId="{7AC4B2C5-7A18-4385-AD1C-207D66702FC1}">
      <dsp:nvSpPr>
        <dsp:cNvPr id="0" name=""/>
        <dsp:cNvSpPr/>
      </dsp:nvSpPr>
      <dsp:spPr>
        <a:xfrm rot="10800000">
          <a:off x="0" y="1538"/>
          <a:ext cx="8229600" cy="1249092"/>
        </a:xfrm>
        <a:prstGeom prst="upArrowCallou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rtl="0">
            <a:lnSpc>
              <a:spcPct val="90000"/>
            </a:lnSpc>
            <a:spcBef>
              <a:spcPct val="0"/>
            </a:spcBef>
            <a:spcAft>
              <a:spcPct val="35000"/>
            </a:spcAft>
          </a:pPr>
          <a:r>
            <a:rPr lang="fi-FI" sz="1600" kern="1200" dirty="0" smtClean="0"/>
            <a:t>Suunnittelu</a:t>
          </a:r>
          <a:endParaRPr lang="en-US" sz="1600" kern="1200" dirty="0"/>
        </a:p>
      </dsp:txBody>
      <dsp:txXfrm rot="-10800000">
        <a:off x="0" y="1538"/>
        <a:ext cx="8229600" cy="438431"/>
      </dsp:txXfrm>
    </dsp:sp>
    <dsp:sp modelId="{5D608F82-99F0-4C9B-BBD3-A97ED2E65B39}">
      <dsp:nvSpPr>
        <dsp:cNvPr id="0" name=""/>
        <dsp:cNvSpPr/>
      </dsp:nvSpPr>
      <dsp:spPr>
        <a:xfrm>
          <a:off x="1004" y="439970"/>
          <a:ext cx="1645518" cy="373478"/>
        </a:xfrm>
        <a:prstGeom prst="rect">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en-US" sz="1200" kern="1200" dirty="0" err="1" smtClean="0"/>
            <a:t>Tavoitteet</a:t>
          </a:r>
          <a:r>
            <a:rPr lang="en-US" sz="1200" kern="1200" dirty="0" smtClean="0"/>
            <a:t> </a:t>
          </a:r>
          <a:r>
            <a:rPr lang="en-US" sz="1200" kern="1200" dirty="0" err="1" smtClean="0"/>
            <a:t>ja</a:t>
          </a:r>
          <a:r>
            <a:rPr lang="en-US" sz="1200" kern="1200" dirty="0" smtClean="0"/>
            <a:t> </a:t>
          </a:r>
          <a:r>
            <a:rPr lang="en-US" sz="1200" kern="1200" dirty="0" err="1" smtClean="0"/>
            <a:t>kohdistus</a:t>
          </a:r>
          <a:endParaRPr lang="en-US" sz="1200" kern="1200" dirty="0"/>
        </a:p>
      </dsp:txBody>
      <dsp:txXfrm>
        <a:off x="1004" y="439970"/>
        <a:ext cx="1645518" cy="373478"/>
      </dsp:txXfrm>
    </dsp:sp>
    <dsp:sp modelId="{3896DD9B-66DE-4B16-B0FA-E659A0C1F565}">
      <dsp:nvSpPr>
        <dsp:cNvPr id="0" name=""/>
        <dsp:cNvSpPr/>
      </dsp:nvSpPr>
      <dsp:spPr>
        <a:xfrm>
          <a:off x="1646522" y="439970"/>
          <a:ext cx="1645518" cy="373478"/>
        </a:xfrm>
        <a:prstGeom prst="rect">
          <a:avLst/>
        </a:prstGeom>
        <a:solidFill>
          <a:schemeClr val="accent6">
            <a:tint val="40000"/>
            <a:alpha val="90000"/>
            <a:hueOff val="0"/>
            <a:satOff val="0"/>
            <a:lumOff val="0"/>
            <a:alphaOff val="0"/>
          </a:schemeClr>
        </a:solidFill>
        <a:ln w="25400" cap="flat" cmpd="sng" algn="ctr">
          <a:solidFill>
            <a:schemeClr val="accent6">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fi-FI" sz="1200" kern="1200" dirty="0" smtClean="0"/>
            <a:t>Puitteiden sopiminen</a:t>
          </a:r>
          <a:endParaRPr lang="en-US" sz="1200" kern="1200" dirty="0"/>
        </a:p>
      </dsp:txBody>
      <dsp:txXfrm>
        <a:off x="1646522" y="439970"/>
        <a:ext cx="1645518" cy="373478"/>
      </dsp:txXfrm>
    </dsp:sp>
    <dsp:sp modelId="{64042271-5038-4C0C-832F-DADB9C4C8795}">
      <dsp:nvSpPr>
        <dsp:cNvPr id="0" name=""/>
        <dsp:cNvSpPr/>
      </dsp:nvSpPr>
      <dsp:spPr>
        <a:xfrm>
          <a:off x="3292040" y="439970"/>
          <a:ext cx="1645518" cy="373478"/>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fi-FI" sz="1200" kern="1200" dirty="0" smtClean="0"/>
            <a:t>Budjetti</a:t>
          </a:r>
          <a:endParaRPr lang="en-US" sz="1200" kern="1200" dirty="0"/>
        </a:p>
      </dsp:txBody>
      <dsp:txXfrm>
        <a:off x="3292040" y="439970"/>
        <a:ext cx="1645518" cy="373478"/>
      </dsp:txXfrm>
    </dsp:sp>
    <dsp:sp modelId="{B7C74EA3-F818-4415-892D-3423E4AA0A9C}">
      <dsp:nvSpPr>
        <dsp:cNvPr id="0" name=""/>
        <dsp:cNvSpPr/>
      </dsp:nvSpPr>
      <dsp:spPr>
        <a:xfrm>
          <a:off x="4937559" y="439970"/>
          <a:ext cx="1645518" cy="373478"/>
        </a:xfrm>
        <a:prstGeom prst="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fi-FI" sz="1200" kern="1200" dirty="0" smtClean="0"/>
            <a:t>Hankinnat ja rekrytoinnit</a:t>
          </a:r>
          <a:endParaRPr lang="en-US" sz="1200" kern="1200" dirty="0"/>
        </a:p>
      </dsp:txBody>
      <dsp:txXfrm>
        <a:off x="4937559" y="439970"/>
        <a:ext cx="1645518" cy="373478"/>
      </dsp:txXfrm>
    </dsp:sp>
    <dsp:sp modelId="{E134A9A1-440B-4E79-9492-DD73C2676446}">
      <dsp:nvSpPr>
        <dsp:cNvPr id="0" name=""/>
        <dsp:cNvSpPr/>
      </dsp:nvSpPr>
      <dsp:spPr>
        <a:xfrm>
          <a:off x="6583077" y="439970"/>
          <a:ext cx="1645518" cy="373478"/>
        </a:xfrm>
        <a:prstGeom prst="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fi-FI" sz="1200" kern="1200" dirty="0" smtClean="0"/>
            <a:t>Versioiden toimituslogistiikka</a:t>
          </a:r>
          <a:endParaRPr lang="en-US" sz="1200" kern="1200" dirty="0"/>
        </a:p>
      </dsp:txBody>
      <dsp:txXfrm>
        <a:off x="6583077" y="439970"/>
        <a:ext cx="1645518" cy="373478"/>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1B2EB2-422B-437D-AACF-1257E246CA1C}">
      <dsp:nvSpPr>
        <dsp:cNvPr id="0" name=""/>
        <dsp:cNvSpPr/>
      </dsp:nvSpPr>
      <dsp:spPr>
        <a:xfrm>
          <a:off x="6288707" y="2086035"/>
          <a:ext cx="252779" cy="1971683"/>
        </a:xfrm>
        <a:custGeom>
          <a:avLst/>
          <a:gdLst/>
          <a:ahLst/>
          <a:cxnLst/>
          <a:rect l="0" t="0" r="0" b="0"/>
          <a:pathLst>
            <a:path>
              <a:moveTo>
                <a:pt x="0" y="0"/>
              </a:moveTo>
              <a:lnTo>
                <a:pt x="0" y="1971683"/>
              </a:lnTo>
              <a:lnTo>
                <a:pt x="252779" y="1971683"/>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A84D7F4-E656-4A68-9469-8F307CA63EC6}">
      <dsp:nvSpPr>
        <dsp:cNvPr id="0" name=""/>
        <dsp:cNvSpPr/>
      </dsp:nvSpPr>
      <dsp:spPr>
        <a:xfrm>
          <a:off x="6288707" y="2086035"/>
          <a:ext cx="252779" cy="775191"/>
        </a:xfrm>
        <a:custGeom>
          <a:avLst/>
          <a:gdLst/>
          <a:ahLst/>
          <a:cxnLst/>
          <a:rect l="0" t="0" r="0" b="0"/>
          <a:pathLst>
            <a:path>
              <a:moveTo>
                <a:pt x="0" y="0"/>
              </a:moveTo>
              <a:lnTo>
                <a:pt x="0" y="775191"/>
              </a:lnTo>
              <a:lnTo>
                <a:pt x="252779" y="775191"/>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6317130-63F7-4ADA-AA64-A086F762D882}">
      <dsp:nvSpPr>
        <dsp:cNvPr id="0" name=""/>
        <dsp:cNvSpPr/>
      </dsp:nvSpPr>
      <dsp:spPr>
        <a:xfrm>
          <a:off x="3904150" y="889543"/>
          <a:ext cx="3058637" cy="353891"/>
        </a:xfrm>
        <a:custGeom>
          <a:avLst/>
          <a:gdLst/>
          <a:ahLst/>
          <a:cxnLst/>
          <a:rect l="0" t="0" r="0" b="0"/>
          <a:pathLst>
            <a:path>
              <a:moveTo>
                <a:pt x="0" y="0"/>
              </a:moveTo>
              <a:lnTo>
                <a:pt x="0" y="176945"/>
              </a:lnTo>
              <a:lnTo>
                <a:pt x="3058637" y="176945"/>
              </a:lnTo>
              <a:lnTo>
                <a:pt x="3058637" y="353891"/>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4A1C22F-3731-40C0-8733-1680F6A1636F}">
      <dsp:nvSpPr>
        <dsp:cNvPr id="0" name=""/>
        <dsp:cNvSpPr/>
      </dsp:nvSpPr>
      <dsp:spPr>
        <a:xfrm>
          <a:off x="4249615" y="2086035"/>
          <a:ext cx="252779" cy="1971683"/>
        </a:xfrm>
        <a:custGeom>
          <a:avLst/>
          <a:gdLst/>
          <a:ahLst/>
          <a:cxnLst/>
          <a:rect l="0" t="0" r="0" b="0"/>
          <a:pathLst>
            <a:path>
              <a:moveTo>
                <a:pt x="0" y="0"/>
              </a:moveTo>
              <a:lnTo>
                <a:pt x="0" y="1971683"/>
              </a:lnTo>
              <a:lnTo>
                <a:pt x="252779" y="1971683"/>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0A13ADE-3F04-4E36-ADD3-4EAB45648B18}">
      <dsp:nvSpPr>
        <dsp:cNvPr id="0" name=""/>
        <dsp:cNvSpPr/>
      </dsp:nvSpPr>
      <dsp:spPr>
        <a:xfrm>
          <a:off x="4249615" y="2086035"/>
          <a:ext cx="252779" cy="775191"/>
        </a:xfrm>
        <a:custGeom>
          <a:avLst/>
          <a:gdLst/>
          <a:ahLst/>
          <a:cxnLst/>
          <a:rect l="0" t="0" r="0" b="0"/>
          <a:pathLst>
            <a:path>
              <a:moveTo>
                <a:pt x="0" y="0"/>
              </a:moveTo>
              <a:lnTo>
                <a:pt x="0" y="775191"/>
              </a:lnTo>
              <a:lnTo>
                <a:pt x="252779" y="775191"/>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C999057-DF52-4EEB-91EE-C41BFEEFE4F0}">
      <dsp:nvSpPr>
        <dsp:cNvPr id="0" name=""/>
        <dsp:cNvSpPr/>
      </dsp:nvSpPr>
      <dsp:spPr>
        <a:xfrm>
          <a:off x="3904150" y="889543"/>
          <a:ext cx="1019545" cy="353891"/>
        </a:xfrm>
        <a:custGeom>
          <a:avLst/>
          <a:gdLst/>
          <a:ahLst/>
          <a:cxnLst/>
          <a:rect l="0" t="0" r="0" b="0"/>
          <a:pathLst>
            <a:path>
              <a:moveTo>
                <a:pt x="0" y="0"/>
              </a:moveTo>
              <a:lnTo>
                <a:pt x="0" y="176945"/>
              </a:lnTo>
              <a:lnTo>
                <a:pt x="1019545" y="176945"/>
              </a:lnTo>
              <a:lnTo>
                <a:pt x="1019545" y="353891"/>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AAB95D1-8516-4126-87AA-987FC4A2483E}">
      <dsp:nvSpPr>
        <dsp:cNvPr id="0" name=""/>
        <dsp:cNvSpPr/>
      </dsp:nvSpPr>
      <dsp:spPr>
        <a:xfrm>
          <a:off x="2210524" y="2086035"/>
          <a:ext cx="252779" cy="1971683"/>
        </a:xfrm>
        <a:custGeom>
          <a:avLst/>
          <a:gdLst/>
          <a:ahLst/>
          <a:cxnLst/>
          <a:rect l="0" t="0" r="0" b="0"/>
          <a:pathLst>
            <a:path>
              <a:moveTo>
                <a:pt x="0" y="0"/>
              </a:moveTo>
              <a:lnTo>
                <a:pt x="0" y="1971683"/>
              </a:lnTo>
              <a:lnTo>
                <a:pt x="252779" y="1971683"/>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0A97014-A884-4C52-87AB-43E11FF847DF}">
      <dsp:nvSpPr>
        <dsp:cNvPr id="0" name=""/>
        <dsp:cNvSpPr/>
      </dsp:nvSpPr>
      <dsp:spPr>
        <a:xfrm>
          <a:off x="2210524" y="2086035"/>
          <a:ext cx="252779" cy="775191"/>
        </a:xfrm>
        <a:custGeom>
          <a:avLst/>
          <a:gdLst/>
          <a:ahLst/>
          <a:cxnLst/>
          <a:rect l="0" t="0" r="0" b="0"/>
          <a:pathLst>
            <a:path>
              <a:moveTo>
                <a:pt x="0" y="0"/>
              </a:moveTo>
              <a:lnTo>
                <a:pt x="0" y="775191"/>
              </a:lnTo>
              <a:lnTo>
                <a:pt x="252779" y="775191"/>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E8A41C8-F821-45FA-A609-A3C757CFC2CF}">
      <dsp:nvSpPr>
        <dsp:cNvPr id="0" name=""/>
        <dsp:cNvSpPr/>
      </dsp:nvSpPr>
      <dsp:spPr>
        <a:xfrm>
          <a:off x="2884604" y="889543"/>
          <a:ext cx="1019545" cy="353891"/>
        </a:xfrm>
        <a:custGeom>
          <a:avLst/>
          <a:gdLst/>
          <a:ahLst/>
          <a:cxnLst/>
          <a:rect l="0" t="0" r="0" b="0"/>
          <a:pathLst>
            <a:path>
              <a:moveTo>
                <a:pt x="1019545" y="0"/>
              </a:moveTo>
              <a:lnTo>
                <a:pt x="1019545" y="176945"/>
              </a:lnTo>
              <a:lnTo>
                <a:pt x="0" y="176945"/>
              </a:lnTo>
              <a:lnTo>
                <a:pt x="0" y="353891"/>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50492A8-CC55-4FE1-8DA6-CC28322A3F7E}">
      <dsp:nvSpPr>
        <dsp:cNvPr id="0" name=""/>
        <dsp:cNvSpPr/>
      </dsp:nvSpPr>
      <dsp:spPr>
        <a:xfrm>
          <a:off x="171433" y="2086035"/>
          <a:ext cx="252779" cy="1971683"/>
        </a:xfrm>
        <a:custGeom>
          <a:avLst/>
          <a:gdLst/>
          <a:ahLst/>
          <a:cxnLst/>
          <a:rect l="0" t="0" r="0" b="0"/>
          <a:pathLst>
            <a:path>
              <a:moveTo>
                <a:pt x="0" y="0"/>
              </a:moveTo>
              <a:lnTo>
                <a:pt x="0" y="1971683"/>
              </a:lnTo>
              <a:lnTo>
                <a:pt x="252779" y="1971683"/>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45FC0D4-BA9E-4522-B4D0-66D8C81FCE55}">
      <dsp:nvSpPr>
        <dsp:cNvPr id="0" name=""/>
        <dsp:cNvSpPr/>
      </dsp:nvSpPr>
      <dsp:spPr>
        <a:xfrm>
          <a:off x="171433" y="2086035"/>
          <a:ext cx="252779" cy="775191"/>
        </a:xfrm>
        <a:custGeom>
          <a:avLst/>
          <a:gdLst/>
          <a:ahLst/>
          <a:cxnLst/>
          <a:rect l="0" t="0" r="0" b="0"/>
          <a:pathLst>
            <a:path>
              <a:moveTo>
                <a:pt x="0" y="0"/>
              </a:moveTo>
              <a:lnTo>
                <a:pt x="0" y="775191"/>
              </a:lnTo>
              <a:lnTo>
                <a:pt x="252779" y="775191"/>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AE5DD16-B3EB-4EFB-A3A4-9202AD55349D}">
      <dsp:nvSpPr>
        <dsp:cNvPr id="0" name=""/>
        <dsp:cNvSpPr/>
      </dsp:nvSpPr>
      <dsp:spPr>
        <a:xfrm>
          <a:off x="845513" y="889543"/>
          <a:ext cx="3058637" cy="353891"/>
        </a:xfrm>
        <a:custGeom>
          <a:avLst/>
          <a:gdLst/>
          <a:ahLst/>
          <a:cxnLst/>
          <a:rect l="0" t="0" r="0" b="0"/>
          <a:pathLst>
            <a:path>
              <a:moveTo>
                <a:pt x="3058637" y="0"/>
              </a:moveTo>
              <a:lnTo>
                <a:pt x="3058637" y="176945"/>
              </a:lnTo>
              <a:lnTo>
                <a:pt x="0" y="176945"/>
              </a:lnTo>
              <a:lnTo>
                <a:pt x="0" y="353891"/>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89B6290-4B61-447E-AAF6-90A28BA1642E}">
      <dsp:nvSpPr>
        <dsp:cNvPr id="0" name=""/>
        <dsp:cNvSpPr/>
      </dsp:nvSpPr>
      <dsp:spPr>
        <a:xfrm>
          <a:off x="3061550" y="46944"/>
          <a:ext cx="1685199" cy="84259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rtl="0">
            <a:lnSpc>
              <a:spcPct val="90000"/>
            </a:lnSpc>
            <a:spcBef>
              <a:spcPct val="0"/>
            </a:spcBef>
            <a:spcAft>
              <a:spcPct val="35000"/>
            </a:spcAft>
          </a:pPr>
          <a:r>
            <a:rPr lang="fi-FI" sz="1100" kern="1200" dirty="0" smtClean="0"/>
            <a:t>Havainto (oletettu virhe)</a:t>
          </a:r>
          <a:endParaRPr lang="en-US" sz="1100" kern="1200" dirty="0"/>
        </a:p>
      </dsp:txBody>
      <dsp:txXfrm>
        <a:off x="3061550" y="46944"/>
        <a:ext cx="1685199" cy="842599"/>
      </dsp:txXfrm>
    </dsp:sp>
    <dsp:sp modelId="{D11ED32B-8FC0-4F0E-8CA9-9F672BCCA219}">
      <dsp:nvSpPr>
        <dsp:cNvPr id="0" name=""/>
        <dsp:cNvSpPr/>
      </dsp:nvSpPr>
      <dsp:spPr>
        <a:xfrm>
          <a:off x="2913" y="1243435"/>
          <a:ext cx="1685199" cy="842599"/>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rtl="0">
            <a:lnSpc>
              <a:spcPct val="90000"/>
            </a:lnSpc>
            <a:spcBef>
              <a:spcPct val="0"/>
            </a:spcBef>
            <a:spcAft>
              <a:spcPct val="35000"/>
            </a:spcAft>
          </a:pPr>
          <a:r>
            <a:rPr lang="fi-FI" sz="1100" kern="1200" dirty="0" smtClean="0"/>
            <a:t>Virhe</a:t>
          </a:r>
          <a:endParaRPr lang="en-US" sz="1100" kern="1200" dirty="0"/>
        </a:p>
      </dsp:txBody>
      <dsp:txXfrm>
        <a:off x="2913" y="1243435"/>
        <a:ext cx="1685199" cy="842599"/>
      </dsp:txXfrm>
    </dsp:sp>
    <dsp:sp modelId="{E2C45EDD-BF3B-4760-8816-061785A8D923}">
      <dsp:nvSpPr>
        <dsp:cNvPr id="0" name=""/>
        <dsp:cNvSpPr/>
      </dsp:nvSpPr>
      <dsp:spPr>
        <a:xfrm>
          <a:off x="424213" y="2439927"/>
          <a:ext cx="1685199" cy="842599"/>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rtl="0">
            <a:lnSpc>
              <a:spcPct val="90000"/>
            </a:lnSpc>
            <a:spcBef>
              <a:spcPct val="0"/>
            </a:spcBef>
            <a:spcAft>
              <a:spcPct val="35000"/>
            </a:spcAft>
          </a:pPr>
          <a:r>
            <a:rPr lang="fi-FI" sz="1100" b="1" kern="1200" dirty="0" smtClean="0"/>
            <a:t>Aika</a:t>
          </a:r>
          <a:r>
            <a:rPr lang="fi-FI" sz="1100" kern="1200" dirty="0" smtClean="0"/>
            <a:t>: laskenta pidentämistarpeelle alkaa analyysin alusta</a:t>
          </a:r>
          <a:endParaRPr lang="en-US" sz="1100" kern="1200" dirty="0"/>
        </a:p>
      </dsp:txBody>
      <dsp:txXfrm>
        <a:off x="424213" y="2439927"/>
        <a:ext cx="1685199" cy="842599"/>
      </dsp:txXfrm>
    </dsp:sp>
    <dsp:sp modelId="{D43491D2-1527-4EC3-95EA-7965377B5FC8}">
      <dsp:nvSpPr>
        <dsp:cNvPr id="0" name=""/>
        <dsp:cNvSpPr/>
      </dsp:nvSpPr>
      <dsp:spPr>
        <a:xfrm>
          <a:off x="424213" y="3636419"/>
          <a:ext cx="1685199" cy="842599"/>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rtl="0">
            <a:lnSpc>
              <a:spcPct val="90000"/>
            </a:lnSpc>
            <a:spcBef>
              <a:spcPct val="0"/>
            </a:spcBef>
            <a:spcAft>
              <a:spcPct val="35000"/>
            </a:spcAft>
          </a:pPr>
          <a:r>
            <a:rPr lang="fi-FI" sz="1100" b="1" kern="1200" dirty="0" smtClean="0"/>
            <a:t>Raha</a:t>
          </a:r>
          <a:r>
            <a:rPr lang="fi-FI" sz="1100" kern="1200" dirty="0" smtClean="0"/>
            <a:t>: analyysi + korjaus + uudelleentestaus + regressiotestaus toimittajan vastuulla (kustannuspaikka toimittajan takuutyöt)</a:t>
          </a:r>
          <a:endParaRPr lang="en-US" sz="1100" kern="1200" dirty="0"/>
        </a:p>
      </dsp:txBody>
      <dsp:txXfrm>
        <a:off x="424213" y="3636419"/>
        <a:ext cx="1685199" cy="842599"/>
      </dsp:txXfrm>
    </dsp:sp>
    <dsp:sp modelId="{02353FE0-2112-4D89-8B23-CDA9E9761A69}">
      <dsp:nvSpPr>
        <dsp:cNvPr id="0" name=""/>
        <dsp:cNvSpPr/>
      </dsp:nvSpPr>
      <dsp:spPr>
        <a:xfrm>
          <a:off x="2042004" y="1243435"/>
          <a:ext cx="1685199" cy="842599"/>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rtl="0">
            <a:lnSpc>
              <a:spcPct val="90000"/>
            </a:lnSpc>
            <a:spcBef>
              <a:spcPct val="0"/>
            </a:spcBef>
            <a:spcAft>
              <a:spcPct val="35000"/>
            </a:spcAft>
          </a:pPr>
          <a:r>
            <a:rPr lang="fi-FI" sz="1100" kern="1200" dirty="0" smtClean="0"/>
            <a:t>Ulkoinen virhe</a:t>
          </a:r>
          <a:endParaRPr lang="en-US" sz="1100" kern="1200" dirty="0"/>
        </a:p>
      </dsp:txBody>
      <dsp:txXfrm>
        <a:off x="2042004" y="1243435"/>
        <a:ext cx="1685199" cy="842599"/>
      </dsp:txXfrm>
    </dsp:sp>
    <dsp:sp modelId="{0CB0D82B-0B6E-401E-B0A5-3443E50E4274}">
      <dsp:nvSpPr>
        <dsp:cNvPr id="0" name=""/>
        <dsp:cNvSpPr/>
      </dsp:nvSpPr>
      <dsp:spPr>
        <a:xfrm>
          <a:off x="2463304" y="2439927"/>
          <a:ext cx="1685199" cy="842599"/>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rtl="0">
            <a:lnSpc>
              <a:spcPct val="90000"/>
            </a:lnSpc>
            <a:spcBef>
              <a:spcPct val="0"/>
            </a:spcBef>
            <a:spcAft>
              <a:spcPct val="35000"/>
            </a:spcAft>
          </a:pPr>
          <a:r>
            <a:rPr lang="fi-FI" sz="1100" b="1" kern="1200" dirty="0" smtClean="0"/>
            <a:t>Aika</a:t>
          </a:r>
          <a:r>
            <a:rPr lang="fi-FI" sz="1100" kern="1200" dirty="0" smtClean="0"/>
            <a:t>: ei pidennä </a:t>
          </a:r>
          <a:endParaRPr lang="en-US" sz="1100" kern="1200" dirty="0"/>
        </a:p>
      </dsp:txBody>
      <dsp:txXfrm>
        <a:off x="2463304" y="2439927"/>
        <a:ext cx="1685199" cy="842599"/>
      </dsp:txXfrm>
    </dsp:sp>
    <dsp:sp modelId="{F92FDB78-C680-4C9B-88CB-6D1654FBCD35}">
      <dsp:nvSpPr>
        <dsp:cNvPr id="0" name=""/>
        <dsp:cNvSpPr/>
      </dsp:nvSpPr>
      <dsp:spPr>
        <a:xfrm>
          <a:off x="2463304" y="3636419"/>
          <a:ext cx="1685199" cy="842599"/>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rtl="0">
            <a:lnSpc>
              <a:spcPct val="90000"/>
            </a:lnSpc>
            <a:spcBef>
              <a:spcPct val="0"/>
            </a:spcBef>
            <a:spcAft>
              <a:spcPct val="35000"/>
            </a:spcAft>
          </a:pPr>
          <a:r>
            <a:rPr lang="fi-FI" sz="1100" b="1" kern="1200" dirty="0" smtClean="0"/>
            <a:t>Raha</a:t>
          </a:r>
          <a:r>
            <a:rPr lang="fi-FI" sz="1100" kern="1200" dirty="0" smtClean="0"/>
            <a:t>: analyysi ilman korjausehdotusta  tavoitehintaisen projektin työtä (kustannuspaikka  hyväksymistestauksen tuki)</a:t>
          </a:r>
          <a:endParaRPr lang="en-US" sz="1100" kern="1200" dirty="0"/>
        </a:p>
      </dsp:txBody>
      <dsp:txXfrm>
        <a:off x="2463304" y="3636419"/>
        <a:ext cx="1685199" cy="842599"/>
      </dsp:txXfrm>
    </dsp:sp>
    <dsp:sp modelId="{FD70D16C-6771-4799-A5DB-70F78C928639}">
      <dsp:nvSpPr>
        <dsp:cNvPr id="0" name=""/>
        <dsp:cNvSpPr/>
      </dsp:nvSpPr>
      <dsp:spPr>
        <a:xfrm>
          <a:off x="4081096" y="1243435"/>
          <a:ext cx="1685199" cy="842599"/>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rtl="0">
            <a:lnSpc>
              <a:spcPct val="90000"/>
            </a:lnSpc>
            <a:spcBef>
              <a:spcPct val="0"/>
            </a:spcBef>
            <a:spcAft>
              <a:spcPct val="35000"/>
            </a:spcAft>
          </a:pPr>
          <a:r>
            <a:rPr lang="fi-FI" sz="1100" kern="1200" dirty="0" smtClean="0"/>
            <a:t>Määrittelymuutos</a:t>
          </a:r>
          <a:endParaRPr lang="en-US" sz="1100" kern="1200" dirty="0"/>
        </a:p>
      </dsp:txBody>
      <dsp:txXfrm>
        <a:off x="4081096" y="1243435"/>
        <a:ext cx="1685199" cy="842599"/>
      </dsp:txXfrm>
    </dsp:sp>
    <dsp:sp modelId="{86595F81-4382-424D-964F-1BF7B6C18567}">
      <dsp:nvSpPr>
        <dsp:cNvPr id="0" name=""/>
        <dsp:cNvSpPr/>
      </dsp:nvSpPr>
      <dsp:spPr>
        <a:xfrm>
          <a:off x="4502395" y="2439927"/>
          <a:ext cx="1685199" cy="842599"/>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rtl="0">
            <a:lnSpc>
              <a:spcPct val="90000"/>
            </a:lnSpc>
            <a:spcBef>
              <a:spcPct val="0"/>
            </a:spcBef>
            <a:spcAft>
              <a:spcPct val="35000"/>
            </a:spcAft>
          </a:pPr>
          <a:r>
            <a:rPr lang="fi-FI" sz="1100" b="1" kern="1200" dirty="0" smtClean="0"/>
            <a:t>Aika</a:t>
          </a:r>
          <a:r>
            <a:rPr lang="fi-FI" sz="1100" kern="1200" dirty="0" smtClean="0"/>
            <a:t>: ei pidennä </a:t>
          </a:r>
          <a:endParaRPr lang="en-US" sz="1100" kern="1200" dirty="0"/>
        </a:p>
      </dsp:txBody>
      <dsp:txXfrm>
        <a:off x="4502395" y="2439927"/>
        <a:ext cx="1685199" cy="842599"/>
      </dsp:txXfrm>
    </dsp:sp>
    <dsp:sp modelId="{FCEBFE69-F0ED-401D-93A9-D54C61B0D169}">
      <dsp:nvSpPr>
        <dsp:cNvPr id="0" name=""/>
        <dsp:cNvSpPr/>
      </dsp:nvSpPr>
      <dsp:spPr>
        <a:xfrm>
          <a:off x="4502395" y="3636419"/>
          <a:ext cx="1685199" cy="842599"/>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rtl="0">
            <a:lnSpc>
              <a:spcPct val="90000"/>
            </a:lnSpc>
            <a:spcBef>
              <a:spcPct val="0"/>
            </a:spcBef>
            <a:spcAft>
              <a:spcPct val="35000"/>
            </a:spcAft>
          </a:pPr>
          <a:r>
            <a:rPr lang="fi-FI" sz="1100" b="1" kern="1200" dirty="0" smtClean="0"/>
            <a:t>Raha</a:t>
          </a:r>
          <a:r>
            <a:rPr lang="fi-FI" sz="1100" kern="1200" dirty="0" smtClean="0"/>
            <a:t>: analyysi ilman korjausehdotusta  tavoitehintaisen projektin työtä (kustannuspaikka  hyväksymistestauksen tuki)</a:t>
          </a:r>
          <a:endParaRPr lang="en-US" sz="1100" kern="1200" dirty="0"/>
        </a:p>
      </dsp:txBody>
      <dsp:txXfrm>
        <a:off x="4502395" y="3636419"/>
        <a:ext cx="1685199" cy="842599"/>
      </dsp:txXfrm>
    </dsp:sp>
    <dsp:sp modelId="{0FD03FBA-5548-4BCC-A586-FFF7FE68F4C0}">
      <dsp:nvSpPr>
        <dsp:cNvPr id="0" name=""/>
        <dsp:cNvSpPr/>
      </dsp:nvSpPr>
      <dsp:spPr>
        <a:xfrm>
          <a:off x="6120187" y="1243435"/>
          <a:ext cx="1685199" cy="842599"/>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rtl="0">
            <a:lnSpc>
              <a:spcPct val="90000"/>
            </a:lnSpc>
            <a:spcBef>
              <a:spcPct val="0"/>
            </a:spcBef>
            <a:spcAft>
              <a:spcPct val="35000"/>
            </a:spcAft>
          </a:pPr>
          <a:r>
            <a:rPr lang="fi-FI" sz="1100" kern="1200" dirty="0" smtClean="0"/>
            <a:t>Huti</a:t>
          </a:r>
          <a:endParaRPr lang="en-US" sz="1100" kern="1200" dirty="0"/>
        </a:p>
      </dsp:txBody>
      <dsp:txXfrm>
        <a:off x="6120187" y="1243435"/>
        <a:ext cx="1685199" cy="842599"/>
      </dsp:txXfrm>
    </dsp:sp>
    <dsp:sp modelId="{7641A269-0D50-4F66-9BCA-B0A46630F2BE}">
      <dsp:nvSpPr>
        <dsp:cNvPr id="0" name=""/>
        <dsp:cNvSpPr/>
      </dsp:nvSpPr>
      <dsp:spPr>
        <a:xfrm>
          <a:off x="6541487" y="2439927"/>
          <a:ext cx="1685199" cy="842599"/>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rtl="0">
            <a:lnSpc>
              <a:spcPct val="90000"/>
            </a:lnSpc>
            <a:spcBef>
              <a:spcPct val="0"/>
            </a:spcBef>
            <a:spcAft>
              <a:spcPct val="35000"/>
            </a:spcAft>
          </a:pPr>
          <a:r>
            <a:rPr lang="fi-FI" sz="1100" b="1" kern="1200" dirty="0" smtClean="0"/>
            <a:t>Aika</a:t>
          </a:r>
          <a:r>
            <a:rPr lang="fi-FI" sz="1100" kern="1200" dirty="0" smtClean="0"/>
            <a:t>: ei pidennä </a:t>
          </a:r>
          <a:endParaRPr lang="en-US" sz="1100" kern="1200" dirty="0"/>
        </a:p>
      </dsp:txBody>
      <dsp:txXfrm>
        <a:off x="6541487" y="2439927"/>
        <a:ext cx="1685199" cy="842599"/>
      </dsp:txXfrm>
    </dsp:sp>
    <dsp:sp modelId="{CCBDED39-5A00-49EB-A21B-09FFF7622660}">
      <dsp:nvSpPr>
        <dsp:cNvPr id="0" name=""/>
        <dsp:cNvSpPr/>
      </dsp:nvSpPr>
      <dsp:spPr>
        <a:xfrm>
          <a:off x="6541487" y="3636419"/>
          <a:ext cx="1685199" cy="842599"/>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rtl="0">
            <a:lnSpc>
              <a:spcPct val="90000"/>
            </a:lnSpc>
            <a:spcBef>
              <a:spcPct val="0"/>
            </a:spcBef>
            <a:spcAft>
              <a:spcPct val="35000"/>
            </a:spcAft>
          </a:pPr>
          <a:r>
            <a:rPr lang="fi-FI" sz="1100" b="1" kern="1200" dirty="0" smtClean="0"/>
            <a:t>Raha</a:t>
          </a:r>
          <a:r>
            <a:rPr lang="fi-FI" sz="1100" kern="1200" dirty="0" smtClean="0"/>
            <a:t>: analyysi tavoitehintaisen projektin työtä (kustannuspaikka  hyväksymistestauksen tuki)</a:t>
          </a:r>
          <a:endParaRPr lang="en-US" sz="1100" kern="1200" dirty="0"/>
        </a:p>
      </dsp:txBody>
      <dsp:txXfrm>
        <a:off x="6541487" y="3636419"/>
        <a:ext cx="1685199" cy="842599"/>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13C626-6D16-4809-854B-0618BAB560D9}">
      <dsp:nvSpPr>
        <dsp:cNvPr id="0" name=""/>
        <dsp:cNvSpPr/>
      </dsp:nvSpPr>
      <dsp:spPr>
        <a:xfrm>
          <a:off x="2872812" y="0"/>
          <a:ext cx="2483975" cy="113149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fi-FI" sz="1800" kern="1200" dirty="0" smtClean="0"/>
            <a:t>Valmistautumisvaihe</a:t>
          </a:r>
          <a:endParaRPr lang="en-US" sz="1800" kern="1200" dirty="0"/>
        </a:p>
      </dsp:txBody>
      <dsp:txXfrm>
        <a:off x="2905952" y="33140"/>
        <a:ext cx="2417695" cy="1065210"/>
      </dsp:txXfrm>
    </dsp:sp>
    <dsp:sp modelId="{2049C1CA-78FE-48B5-9945-774EE7A04462}">
      <dsp:nvSpPr>
        <dsp:cNvPr id="0" name=""/>
        <dsp:cNvSpPr/>
      </dsp:nvSpPr>
      <dsp:spPr>
        <a:xfrm rot="5400000">
          <a:off x="3902645" y="1159778"/>
          <a:ext cx="424309" cy="50917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en-US" sz="1400" kern="1200"/>
        </a:p>
      </dsp:txBody>
      <dsp:txXfrm rot="-5400000">
        <a:off x="3962049" y="1202209"/>
        <a:ext cx="305502" cy="297016"/>
      </dsp:txXfrm>
    </dsp:sp>
    <dsp:sp modelId="{19EDB6F4-05F5-404C-98E1-B90F20CCE7C7}">
      <dsp:nvSpPr>
        <dsp:cNvPr id="0" name=""/>
        <dsp:cNvSpPr/>
      </dsp:nvSpPr>
      <dsp:spPr>
        <a:xfrm>
          <a:off x="2872812" y="1697236"/>
          <a:ext cx="2483975" cy="113149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fi-FI" sz="1800" kern="1200" dirty="0" smtClean="0"/>
            <a:t>Hyväksymistestausvaihe</a:t>
          </a:r>
          <a:endParaRPr lang="en-US" sz="1800" kern="1200" dirty="0"/>
        </a:p>
      </dsp:txBody>
      <dsp:txXfrm>
        <a:off x="2905952" y="1730376"/>
        <a:ext cx="2417695" cy="1065210"/>
      </dsp:txXfrm>
    </dsp:sp>
    <dsp:sp modelId="{C3435368-CCFA-46E8-A2D0-D16D3EBA90C3}">
      <dsp:nvSpPr>
        <dsp:cNvPr id="0" name=""/>
        <dsp:cNvSpPr/>
      </dsp:nvSpPr>
      <dsp:spPr>
        <a:xfrm rot="5400000">
          <a:off x="3902645" y="2857014"/>
          <a:ext cx="424309" cy="50917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en-US" sz="1400" kern="1200"/>
        </a:p>
      </dsp:txBody>
      <dsp:txXfrm rot="-5400000">
        <a:off x="3962049" y="2899445"/>
        <a:ext cx="305502" cy="297016"/>
      </dsp:txXfrm>
    </dsp:sp>
    <dsp:sp modelId="{708405CE-2774-493D-B188-9B9725133FBD}">
      <dsp:nvSpPr>
        <dsp:cNvPr id="0" name=""/>
        <dsp:cNvSpPr/>
      </dsp:nvSpPr>
      <dsp:spPr>
        <a:xfrm>
          <a:off x="2872812" y="3394472"/>
          <a:ext cx="2483975" cy="113149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fi-FI" sz="1800" kern="1200" dirty="0" smtClean="0"/>
            <a:t>Hyväksyntävaihe</a:t>
          </a:r>
          <a:endParaRPr lang="en-US" sz="1800" kern="1200" dirty="0"/>
        </a:p>
      </dsp:txBody>
      <dsp:txXfrm>
        <a:off x="2905952" y="3427612"/>
        <a:ext cx="2417695" cy="1065210"/>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A758F6-FE12-489E-AC5B-8E9A1D1EAB53}">
      <dsp:nvSpPr>
        <dsp:cNvPr id="0" name=""/>
        <dsp:cNvSpPr/>
      </dsp:nvSpPr>
      <dsp:spPr>
        <a:xfrm>
          <a:off x="3888501" y="2036683"/>
          <a:ext cx="2489279" cy="2489279"/>
        </a:xfrm>
        <a:prstGeom prst="gear9">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fi-FI" sz="1000" kern="1200" dirty="0" smtClean="0"/>
            <a:t>Projektipäällikkö</a:t>
          </a:r>
          <a:endParaRPr lang="fi-FI" sz="1000" kern="1200" dirty="0"/>
        </a:p>
      </dsp:txBody>
      <dsp:txXfrm>
        <a:off x="4388957" y="2619785"/>
        <a:ext cx="1488367" cy="1279541"/>
      </dsp:txXfrm>
    </dsp:sp>
    <dsp:sp modelId="{2C39BA36-2692-41D1-8212-4202C39C30BE}">
      <dsp:nvSpPr>
        <dsp:cNvPr id="0" name=""/>
        <dsp:cNvSpPr/>
      </dsp:nvSpPr>
      <dsp:spPr>
        <a:xfrm>
          <a:off x="2440193" y="1448308"/>
          <a:ext cx="1810385" cy="1810385"/>
        </a:xfrm>
        <a:prstGeom prst="gear6">
          <a:avLst/>
        </a:prstGeom>
        <a:solidFill>
          <a:schemeClr val="accent2">
            <a:hueOff val="-6317677"/>
            <a:satOff val="10648"/>
            <a:lumOff val="-1304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fi-FI" sz="1000" kern="1200" dirty="0" smtClean="0"/>
            <a:t>Testaus-päällikkö</a:t>
          </a:r>
          <a:endParaRPr lang="fi-FI" sz="1000" kern="1200" dirty="0"/>
        </a:p>
      </dsp:txBody>
      <dsp:txXfrm>
        <a:off x="2895963" y="1906833"/>
        <a:ext cx="898845" cy="893335"/>
      </dsp:txXfrm>
    </dsp:sp>
    <dsp:sp modelId="{0E407C60-5C8E-4DB4-AD3C-A2545D44B669}">
      <dsp:nvSpPr>
        <dsp:cNvPr id="0" name=""/>
        <dsp:cNvSpPr/>
      </dsp:nvSpPr>
      <dsp:spPr>
        <a:xfrm rot="20700000">
          <a:off x="3454194" y="199327"/>
          <a:ext cx="1773807" cy="1773807"/>
        </a:xfrm>
        <a:prstGeom prst="gear6">
          <a:avLst/>
        </a:prstGeom>
        <a:solidFill>
          <a:schemeClr val="accent2">
            <a:hueOff val="-12635355"/>
            <a:satOff val="21297"/>
            <a:lumOff val="-26079"/>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fi-FI" sz="1000" kern="1200" dirty="0" smtClean="0"/>
            <a:t>Liiketoiminnan testausvastaava</a:t>
          </a:r>
          <a:endParaRPr lang="fi-FI" sz="1000" kern="1200" dirty="0"/>
        </a:p>
      </dsp:txBody>
      <dsp:txXfrm rot="-20700000">
        <a:off x="3843242" y="588375"/>
        <a:ext cx="995711" cy="995711"/>
      </dsp:txXfrm>
    </dsp:sp>
    <dsp:sp modelId="{C99D8ED9-83CE-4DD3-A8F6-5B4ACC34C935}">
      <dsp:nvSpPr>
        <dsp:cNvPr id="0" name=""/>
        <dsp:cNvSpPr/>
      </dsp:nvSpPr>
      <dsp:spPr>
        <a:xfrm>
          <a:off x="3700746" y="1658974"/>
          <a:ext cx="3186277" cy="3186277"/>
        </a:xfrm>
        <a:prstGeom prst="circularArrow">
          <a:avLst>
            <a:gd name="adj1" fmla="val 4687"/>
            <a:gd name="adj2" fmla="val 299029"/>
            <a:gd name="adj3" fmla="val 2523572"/>
            <a:gd name="adj4" fmla="val 15845412"/>
            <a:gd name="adj5" fmla="val 5469"/>
          </a:avLst>
        </a:prstGeom>
        <a:solidFill>
          <a:schemeClr val="accent2">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sp>
    <dsp:sp modelId="{2F813BB1-45E0-4996-A88F-CFD1E7DF3FF0}">
      <dsp:nvSpPr>
        <dsp:cNvPr id="0" name=""/>
        <dsp:cNvSpPr/>
      </dsp:nvSpPr>
      <dsp:spPr>
        <a:xfrm>
          <a:off x="2119577" y="1046315"/>
          <a:ext cx="2315030" cy="2315030"/>
        </a:xfrm>
        <a:prstGeom prst="leftCircularArrow">
          <a:avLst>
            <a:gd name="adj1" fmla="val 6452"/>
            <a:gd name="adj2" fmla="val 429999"/>
            <a:gd name="adj3" fmla="val 10489124"/>
            <a:gd name="adj4" fmla="val 14837806"/>
            <a:gd name="adj5" fmla="val 7527"/>
          </a:avLst>
        </a:prstGeom>
        <a:solidFill>
          <a:schemeClr val="accent2">
            <a:hueOff val="-6317677"/>
            <a:satOff val="10648"/>
            <a:lumOff val="-1304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sp>
    <dsp:sp modelId="{F5146293-EF9B-409D-86BE-008078BC3268}">
      <dsp:nvSpPr>
        <dsp:cNvPr id="0" name=""/>
        <dsp:cNvSpPr/>
      </dsp:nvSpPr>
      <dsp:spPr>
        <a:xfrm>
          <a:off x="3043894" y="-190626"/>
          <a:ext cx="2496068" cy="2496068"/>
        </a:xfrm>
        <a:prstGeom prst="circularArrow">
          <a:avLst>
            <a:gd name="adj1" fmla="val 5984"/>
            <a:gd name="adj2" fmla="val 394124"/>
            <a:gd name="adj3" fmla="val 13313824"/>
            <a:gd name="adj4" fmla="val 10508221"/>
            <a:gd name="adj5" fmla="val 6981"/>
          </a:avLst>
        </a:prstGeom>
        <a:solidFill>
          <a:schemeClr val="accent2">
            <a:hueOff val="-12635355"/>
            <a:satOff val="21297"/>
            <a:lumOff val="-26079"/>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5EE660-A48F-41AA-8921-D8F663103EE8}">
      <dsp:nvSpPr>
        <dsp:cNvPr id="0" name=""/>
        <dsp:cNvSpPr/>
      </dsp:nvSpPr>
      <dsp:spPr>
        <a:xfrm>
          <a:off x="3857" y="1109222"/>
          <a:ext cx="1478756" cy="408320"/>
        </a:xfrm>
        <a:prstGeom prst="rect">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32512" rIns="56896" bIns="32512" numCol="1" spcCol="1270" anchor="ctr" anchorCtr="0">
          <a:noAutofit/>
        </a:bodyPr>
        <a:lstStyle/>
        <a:p>
          <a:pPr lvl="0" algn="ctr" defTabSz="355600" rtl="0">
            <a:lnSpc>
              <a:spcPct val="90000"/>
            </a:lnSpc>
            <a:spcBef>
              <a:spcPct val="0"/>
            </a:spcBef>
            <a:spcAft>
              <a:spcPct val="35000"/>
            </a:spcAft>
          </a:pPr>
          <a:r>
            <a:rPr lang="fi-FI" sz="800" kern="1200" dirty="0" smtClean="0"/>
            <a:t>Testaussuunnitteluun valmistautuminen (pakolliset varhaiset teemat)</a:t>
          </a:r>
          <a:endParaRPr lang="fi-FI" sz="800" kern="1200" dirty="0"/>
        </a:p>
      </dsp:txBody>
      <dsp:txXfrm>
        <a:off x="3857" y="1109222"/>
        <a:ext cx="1478756" cy="408320"/>
      </dsp:txXfrm>
    </dsp:sp>
    <dsp:sp modelId="{AADC72F3-0F30-4B15-A682-182ECAF8C204}">
      <dsp:nvSpPr>
        <dsp:cNvPr id="0" name=""/>
        <dsp:cNvSpPr/>
      </dsp:nvSpPr>
      <dsp:spPr>
        <a:xfrm>
          <a:off x="3857" y="1517543"/>
          <a:ext cx="1478756" cy="1899196"/>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2004" tIns="32004" rIns="42672" bIns="48006" numCol="1" spcCol="1270" anchor="t" anchorCtr="0">
          <a:noAutofit/>
        </a:bodyPr>
        <a:lstStyle/>
        <a:p>
          <a:pPr marL="57150" lvl="1" indent="-57150" algn="l" defTabSz="266700" rtl="0">
            <a:lnSpc>
              <a:spcPct val="90000"/>
            </a:lnSpc>
            <a:spcBef>
              <a:spcPct val="0"/>
            </a:spcBef>
            <a:spcAft>
              <a:spcPct val="15000"/>
            </a:spcAft>
            <a:buChar char="••"/>
          </a:pPr>
          <a:r>
            <a:rPr lang="fi-FI" sz="600" kern="1200" dirty="0" smtClean="0"/>
            <a:t>Toimituserät</a:t>
          </a:r>
          <a:endParaRPr lang="fi-FI" sz="600" kern="1200" dirty="0"/>
        </a:p>
        <a:p>
          <a:pPr marL="57150" lvl="1" indent="-57150" algn="l" defTabSz="266700" rtl="0">
            <a:lnSpc>
              <a:spcPct val="90000"/>
            </a:lnSpc>
            <a:spcBef>
              <a:spcPct val="0"/>
            </a:spcBef>
            <a:spcAft>
              <a:spcPct val="15000"/>
            </a:spcAft>
            <a:buChar char="••"/>
          </a:pPr>
          <a:r>
            <a:rPr lang="fi-FI" sz="600" kern="1200" dirty="0" smtClean="0"/>
            <a:t>Loppu HT:n kesto</a:t>
          </a:r>
          <a:endParaRPr lang="fi-FI" sz="600" kern="1200" dirty="0"/>
        </a:p>
        <a:p>
          <a:pPr marL="57150" lvl="1" indent="-57150" algn="l" defTabSz="266700" rtl="0">
            <a:lnSpc>
              <a:spcPct val="90000"/>
            </a:lnSpc>
            <a:spcBef>
              <a:spcPct val="0"/>
            </a:spcBef>
            <a:spcAft>
              <a:spcPct val="15000"/>
            </a:spcAft>
            <a:buChar char="••"/>
          </a:pPr>
          <a:r>
            <a:rPr lang="fi-FI" sz="600" kern="1200" dirty="0" smtClean="0"/>
            <a:t>Osahyväksyntämahdollisuuksien luominen</a:t>
          </a:r>
          <a:endParaRPr lang="fi-FI" sz="600" kern="1200" dirty="0"/>
        </a:p>
        <a:p>
          <a:pPr marL="57150" lvl="1" indent="-57150" algn="l" defTabSz="266700" rtl="0">
            <a:lnSpc>
              <a:spcPct val="90000"/>
            </a:lnSpc>
            <a:spcBef>
              <a:spcPct val="0"/>
            </a:spcBef>
            <a:spcAft>
              <a:spcPct val="15000"/>
            </a:spcAft>
            <a:buChar char="••"/>
          </a:pPr>
          <a:r>
            <a:rPr lang="fi-FI" sz="600" kern="1200" dirty="0" smtClean="0"/>
            <a:t>Toimittajalta vaadittava testaus &amp; muu palvelu</a:t>
          </a:r>
          <a:endParaRPr lang="fi-FI" sz="600" kern="1200" dirty="0"/>
        </a:p>
        <a:p>
          <a:pPr marL="57150" lvl="1" indent="-57150" algn="l" defTabSz="266700" rtl="0">
            <a:lnSpc>
              <a:spcPct val="90000"/>
            </a:lnSpc>
            <a:spcBef>
              <a:spcPct val="0"/>
            </a:spcBef>
            <a:spcAft>
              <a:spcPct val="15000"/>
            </a:spcAft>
            <a:buChar char="••"/>
          </a:pPr>
          <a:r>
            <a:rPr lang="fi-FI" sz="600" kern="1200" dirty="0" smtClean="0"/>
            <a:t>Muualta tilattavat testaukset</a:t>
          </a:r>
          <a:endParaRPr lang="fi-FI" sz="600" kern="1200" dirty="0"/>
        </a:p>
        <a:p>
          <a:pPr marL="57150" lvl="1" indent="-57150" algn="l" defTabSz="266700" rtl="0">
            <a:lnSpc>
              <a:spcPct val="90000"/>
            </a:lnSpc>
            <a:spcBef>
              <a:spcPct val="0"/>
            </a:spcBef>
            <a:spcAft>
              <a:spcPct val="15000"/>
            </a:spcAft>
            <a:buChar char="••"/>
          </a:pPr>
          <a:r>
            <a:rPr lang="fi-FI" sz="600" kern="1200" dirty="0" smtClean="0"/>
            <a:t>Ympäristön eheyttämiseen liittyvät toimet</a:t>
          </a:r>
          <a:endParaRPr lang="fi-FI" sz="600" kern="1200" dirty="0"/>
        </a:p>
        <a:p>
          <a:pPr marL="57150" lvl="1" indent="-57150" algn="l" defTabSz="266700" rtl="0">
            <a:lnSpc>
              <a:spcPct val="90000"/>
            </a:lnSpc>
            <a:spcBef>
              <a:spcPct val="0"/>
            </a:spcBef>
            <a:spcAft>
              <a:spcPct val="15000"/>
            </a:spcAft>
            <a:buChar char="••"/>
          </a:pPr>
          <a:r>
            <a:rPr lang="fi-FI" sz="600" kern="1200" dirty="0" smtClean="0"/>
            <a:t>Testauspäällikön tehtäväkenttä</a:t>
          </a:r>
          <a:endParaRPr lang="fi-FI" sz="600" kern="1200" dirty="0"/>
        </a:p>
        <a:p>
          <a:pPr marL="57150" lvl="1" indent="-57150" algn="l" defTabSz="266700" rtl="0">
            <a:lnSpc>
              <a:spcPct val="90000"/>
            </a:lnSpc>
            <a:spcBef>
              <a:spcPct val="0"/>
            </a:spcBef>
            <a:spcAft>
              <a:spcPct val="15000"/>
            </a:spcAft>
            <a:buChar char="••"/>
          </a:pPr>
          <a:r>
            <a:rPr lang="fi-FI" sz="600" kern="1200" dirty="0" smtClean="0"/>
            <a:t>Sopimusuhkien torjunta, erityisesti toimittajan projektisuunnitelmaan kirjattavat asiat</a:t>
          </a:r>
          <a:endParaRPr lang="fi-FI" sz="600" kern="1200" dirty="0"/>
        </a:p>
        <a:p>
          <a:pPr marL="57150" lvl="1" indent="-57150" algn="l" defTabSz="266700" rtl="0">
            <a:lnSpc>
              <a:spcPct val="90000"/>
            </a:lnSpc>
            <a:spcBef>
              <a:spcPct val="0"/>
            </a:spcBef>
            <a:spcAft>
              <a:spcPct val="15000"/>
            </a:spcAft>
            <a:buChar char="••"/>
          </a:pPr>
          <a:endParaRPr lang="fi-FI" sz="600" kern="1200" dirty="0"/>
        </a:p>
        <a:p>
          <a:pPr marL="57150" lvl="1" indent="-57150" algn="l" defTabSz="266700" rtl="0">
            <a:lnSpc>
              <a:spcPct val="90000"/>
            </a:lnSpc>
            <a:spcBef>
              <a:spcPct val="0"/>
            </a:spcBef>
            <a:spcAft>
              <a:spcPct val="15000"/>
            </a:spcAft>
            <a:buChar char="••"/>
          </a:pPr>
          <a:endParaRPr lang="fi-FI" sz="600" kern="1200" dirty="0"/>
        </a:p>
        <a:p>
          <a:pPr marL="57150" lvl="1" indent="-57150" algn="l" defTabSz="266700" rtl="0">
            <a:lnSpc>
              <a:spcPct val="90000"/>
            </a:lnSpc>
            <a:spcBef>
              <a:spcPct val="0"/>
            </a:spcBef>
            <a:spcAft>
              <a:spcPct val="15000"/>
            </a:spcAft>
            <a:buChar char="••"/>
          </a:pPr>
          <a:r>
            <a:rPr lang="fi-FI" sz="600" kern="1200" dirty="0" smtClean="0"/>
            <a:t>ALUSTAVA PROJEKTISUUNNITELMA, LAATIJA PROJEKTIPÄÄLLIKKÖ</a:t>
          </a:r>
          <a:endParaRPr lang="fi-FI" sz="600" kern="1200" dirty="0"/>
        </a:p>
      </dsp:txBody>
      <dsp:txXfrm>
        <a:off x="3857" y="1517543"/>
        <a:ext cx="1478756" cy="1899196"/>
      </dsp:txXfrm>
    </dsp:sp>
    <dsp:sp modelId="{39B4AA2E-F145-4F68-9AA4-2A35EA9A252F}">
      <dsp:nvSpPr>
        <dsp:cNvPr id="0" name=""/>
        <dsp:cNvSpPr/>
      </dsp:nvSpPr>
      <dsp:spPr>
        <a:xfrm>
          <a:off x="1689639" y="1109222"/>
          <a:ext cx="1478756" cy="408320"/>
        </a:xfrm>
        <a:prstGeom prst="rect">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32512" rIns="56896" bIns="32512" numCol="1" spcCol="1270" anchor="ctr" anchorCtr="0">
          <a:noAutofit/>
        </a:bodyPr>
        <a:lstStyle/>
        <a:p>
          <a:pPr lvl="0" algn="ctr" defTabSz="355600" rtl="0">
            <a:lnSpc>
              <a:spcPct val="90000"/>
            </a:lnSpc>
            <a:spcBef>
              <a:spcPct val="0"/>
            </a:spcBef>
            <a:spcAft>
              <a:spcPct val="35000"/>
            </a:spcAft>
          </a:pPr>
          <a:r>
            <a:rPr lang="fi-FI" sz="800" kern="1200" dirty="0" smtClean="0"/>
            <a:t>Kokonaistestaussuunnittelu (toimittajan ohjaaminen, työpaja + katselmointi)</a:t>
          </a:r>
          <a:endParaRPr lang="fi-FI" sz="800" kern="1200" dirty="0"/>
        </a:p>
      </dsp:txBody>
      <dsp:txXfrm>
        <a:off x="1689639" y="1109222"/>
        <a:ext cx="1478756" cy="408320"/>
      </dsp:txXfrm>
    </dsp:sp>
    <dsp:sp modelId="{695F9F04-9087-48C9-81AE-69079825EC2A}">
      <dsp:nvSpPr>
        <dsp:cNvPr id="0" name=""/>
        <dsp:cNvSpPr/>
      </dsp:nvSpPr>
      <dsp:spPr>
        <a:xfrm>
          <a:off x="1689639" y="1517543"/>
          <a:ext cx="1478756" cy="1899196"/>
        </a:xfrm>
        <a:prstGeom prst="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2004" tIns="32004" rIns="42672" bIns="48006" numCol="1" spcCol="1270" anchor="t" anchorCtr="0">
          <a:noAutofit/>
        </a:bodyPr>
        <a:lstStyle/>
        <a:p>
          <a:pPr marL="57150" lvl="1" indent="-57150" algn="l" defTabSz="266700" rtl="0">
            <a:lnSpc>
              <a:spcPct val="90000"/>
            </a:lnSpc>
            <a:spcBef>
              <a:spcPct val="0"/>
            </a:spcBef>
            <a:spcAft>
              <a:spcPct val="15000"/>
            </a:spcAft>
            <a:buChar char="••"/>
          </a:pPr>
          <a:r>
            <a:rPr lang="fi-FI" sz="600" kern="1200" dirty="0" smtClean="0"/>
            <a:t>Aikataulut ja riippuvuudet muihin osatoimituksiin</a:t>
          </a:r>
          <a:endParaRPr lang="fi-FI" sz="600" kern="1200" dirty="0"/>
        </a:p>
        <a:p>
          <a:pPr marL="57150" lvl="1" indent="-57150" algn="l" defTabSz="266700" rtl="0">
            <a:lnSpc>
              <a:spcPct val="90000"/>
            </a:lnSpc>
            <a:spcBef>
              <a:spcPct val="0"/>
            </a:spcBef>
            <a:spcAft>
              <a:spcPct val="15000"/>
            </a:spcAft>
            <a:buChar char="••"/>
          </a:pPr>
          <a:r>
            <a:rPr lang="fi-FI" sz="600" kern="1200" dirty="0" smtClean="0"/>
            <a:t>Testaustasojen käytännön merkitykset</a:t>
          </a:r>
          <a:endParaRPr lang="fi-FI" sz="600" kern="1200" dirty="0"/>
        </a:p>
        <a:p>
          <a:pPr marL="57150" lvl="1" indent="-57150" algn="l" defTabSz="266700" rtl="0">
            <a:lnSpc>
              <a:spcPct val="90000"/>
            </a:lnSpc>
            <a:spcBef>
              <a:spcPct val="0"/>
            </a:spcBef>
            <a:spcAft>
              <a:spcPct val="15000"/>
            </a:spcAft>
            <a:buChar char="••"/>
          </a:pPr>
          <a:r>
            <a:rPr lang="fi-FI" sz="600" kern="1200" dirty="0" smtClean="0"/>
            <a:t>Ei-toiminnalliset testaukset (suorituskyky, tietoturva, luotettavuus, käyttöoikeudet)</a:t>
          </a:r>
          <a:endParaRPr lang="fi-FI" sz="600" kern="1200" dirty="0"/>
        </a:p>
        <a:p>
          <a:pPr marL="57150" lvl="1" indent="-57150" algn="l" defTabSz="266700" rtl="0">
            <a:lnSpc>
              <a:spcPct val="90000"/>
            </a:lnSpc>
            <a:spcBef>
              <a:spcPct val="0"/>
            </a:spcBef>
            <a:spcAft>
              <a:spcPct val="15000"/>
            </a:spcAft>
            <a:buChar char="••"/>
          </a:pPr>
          <a:r>
            <a:rPr lang="fi-FI" sz="600" kern="1200" dirty="0" smtClean="0"/>
            <a:t>Testauksen ja havaintojen hallinnan välineet, muu dokumentaatio</a:t>
          </a:r>
          <a:endParaRPr lang="fi-FI" sz="600" kern="1200" dirty="0"/>
        </a:p>
        <a:p>
          <a:pPr marL="57150" lvl="1" indent="-57150" algn="l" defTabSz="266700" rtl="0">
            <a:lnSpc>
              <a:spcPct val="90000"/>
            </a:lnSpc>
            <a:spcBef>
              <a:spcPct val="0"/>
            </a:spcBef>
            <a:spcAft>
              <a:spcPct val="15000"/>
            </a:spcAft>
            <a:buChar char="••"/>
          </a:pPr>
          <a:r>
            <a:rPr lang="fi-FI" sz="600" kern="1200" dirty="0" smtClean="0"/>
            <a:t>Testiympäristöt, oikeudet ja aineistot</a:t>
          </a:r>
          <a:endParaRPr lang="fi-FI" sz="600" kern="1200" dirty="0"/>
        </a:p>
        <a:p>
          <a:pPr marL="57150" lvl="1" indent="-57150" algn="l" defTabSz="266700" rtl="0">
            <a:lnSpc>
              <a:spcPct val="90000"/>
            </a:lnSpc>
            <a:spcBef>
              <a:spcPct val="0"/>
            </a:spcBef>
            <a:spcAft>
              <a:spcPct val="15000"/>
            </a:spcAft>
            <a:buChar char="••"/>
          </a:pPr>
          <a:r>
            <a:rPr lang="fi-FI" sz="600" kern="1200" dirty="0" smtClean="0"/>
            <a:t>Ohjausryhmäpäätöksenteko testaukseen liittyen</a:t>
          </a:r>
          <a:endParaRPr lang="fi-FI" sz="600" kern="1200" dirty="0"/>
        </a:p>
        <a:p>
          <a:pPr marL="57150" lvl="1" indent="-57150" algn="l" defTabSz="266700" rtl="0">
            <a:lnSpc>
              <a:spcPct val="90000"/>
            </a:lnSpc>
            <a:spcBef>
              <a:spcPct val="0"/>
            </a:spcBef>
            <a:spcAft>
              <a:spcPct val="15000"/>
            </a:spcAft>
            <a:buChar char="••"/>
          </a:pPr>
          <a:r>
            <a:rPr lang="fi-FI" sz="600" kern="1200" dirty="0" smtClean="0"/>
            <a:t>Testauksen tehtäväsuunnittelu ja testaustyömäärien hallittavuus</a:t>
          </a:r>
          <a:endParaRPr lang="fi-FI" sz="600" kern="1200" dirty="0"/>
        </a:p>
        <a:p>
          <a:pPr marL="57150" lvl="1" indent="-57150" algn="l" defTabSz="266700" rtl="0">
            <a:lnSpc>
              <a:spcPct val="90000"/>
            </a:lnSpc>
            <a:spcBef>
              <a:spcPct val="0"/>
            </a:spcBef>
            <a:spcAft>
              <a:spcPct val="15000"/>
            </a:spcAft>
            <a:buChar char="••"/>
          </a:pPr>
          <a:r>
            <a:rPr lang="fi-FI" sz="600" kern="1200" dirty="0" smtClean="0"/>
            <a:t>Testauksen vastuut ja yhteistyömalli</a:t>
          </a:r>
          <a:endParaRPr lang="fi-FI" sz="600" kern="1200" dirty="0"/>
        </a:p>
        <a:p>
          <a:pPr marL="57150" lvl="1" indent="-57150" algn="l" defTabSz="266700" rtl="0">
            <a:lnSpc>
              <a:spcPct val="90000"/>
            </a:lnSpc>
            <a:spcBef>
              <a:spcPct val="0"/>
            </a:spcBef>
            <a:spcAft>
              <a:spcPct val="15000"/>
            </a:spcAft>
            <a:buChar char="••"/>
          </a:pPr>
          <a:r>
            <a:rPr lang="fi-FI" sz="600" kern="1200" dirty="0" smtClean="0"/>
            <a:t>Uusien versioiden toimittaminen ja tiedottaminen</a:t>
          </a:r>
          <a:endParaRPr lang="fi-FI" sz="600" kern="1200" dirty="0"/>
        </a:p>
        <a:p>
          <a:pPr marL="57150" lvl="1" indent="-57150" algn="l" defTabSz="266700" rtl="0">
            <a:lnSpc>
              <a:spcPct val="90000"/>
            </a:lnSpc>
            <a:spcBef>
              <a:spcPct val="0"/>
            </a:spcBef>
            <a:spcAft>
              <a:spcPct val="15000"/>
            </a:spcAft>
            <a:buChar char="••"/>
          </a:pPr>
          <a:r>
            <a:rPr lang="fi-FI" sz="600" kern="1200" dirty="0" smtClean="0"/>
            <a:t>Riskit ja toipumissuunnittelu</a:t>
          </a:r>
          <a:endParaRPr lang="fi-FI" sz="600" kern="1200" dirty="0"/>
        </a:p>
        <a:p>
          <a:pPr marL="57150" lvl="1" indent="-57150" algn="l" defTabSz="266700" rtl="0">
            <a:lnSpc>
              <a:spcPct val="90000"/>
            </a:lnSpc>
            <a:spcBef>
              <a:spcPct val="0"/>
            </a:spcBef>
            <a:spcAft>
              <a:spcPct val="15000"/>
            </a:spcAft>
            <a:buChar char="••"/>
          </a:pPr>
          <a:endParaRPr lang="fi-FI" sz="600" kern="1200" dirty="0"/>
        </a:p>
        <a:p>
          <a:pPr marL="57150" lvl="1" indent="-57150" algn="l" defTabSz="266700" rtl="0">
            <a:lnSpc>
              <a:spcPct val="90000"/>
            </a:lnSpc>
            <a:spcBef>
              <a:spcPct val="0"/>
            </a:spcBef>
            <a:spcAft>
              <a:spcPct val="15000"/>
            </a:spcAft>
            <a:buChar char="••"/>
          </a:pPr>
          <a:r>
            <a:rPr lang="fi-FI" sz="600" kern="1200" dirty="0" smtClean="0"/>
            <a:t>KOKONAISTESTAUSSUUNNITELMA(T) PAINOTTAEN TOIMITTAJAN TESTAUSTA, LAATIJA TOIMITTAJA</a:t>
          </a:r>
          <a:endParaRPr lang="fi-FI" sz="600" kern="1200" dirty="0"/>
        </a:p>
      </dsp:txBody>
      <dsp:txXfrm>
        <a:off x="1689639" y="1517543"/>
        <a:ext cx="1478756" cy="1899196"/>
      </dsp:txXfrm>
    </dsp:sp>
    <dsp:sp modelId="{A154C246-8AED-40F6-A2C4-4C0DBEBADF1B}">
      <dsp:nvSpPr>
        <dsp:cNvPr id="0" name=""/>
        <dsp:cNvSpPr/>
      </dsp:nvSpPr>
      <dsp:spPr>
        <a:xfrm>
          <a:off x="3375421" y="1109222"/>
          <a:ext cx="1478756" cy="408320"/>
        </a:xfrm>
        <a:prstGeom prst="rect">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32512" rIns="56896" bIns="32512" numCol="1" spcCol="1270" anchor="ctr" anchorCtr="0">
          <a:noAutofit/>
        </a:bodyPr>
        <a:lstStyle/>
        <a:p>
          <a:pPr lvl="0" algn="ctr" defTabSz="355600" rtl="0">
            <a:lnSpc>
              <a:spcPct val="90000"/>
            </a:lnSpc>
            <a:spcBef>
              <a:spcPct val="0"/>
            </a:spcBef>
            <a:spcAft>
              <a:spcPct val="35000"/>
            </a:spcAft>
          </a:pPr>
          <a:r>
            <a:rPr lang="fi-FI" sz="800" kern="1200" dirty="0" smtClean="0"/>
            <a:t>Hyväksymistestaussuunnittelu</a:t>
          </a:r>
          <a:endParaRPr lang="fi-FI" sz="800" kern="1200" dirty="0"/>
        </a:p>
      </dsp:txBody>
      <dsp:txXfrm>
        <a:off x="3375421" y="1109222"/>
        <a:ext cx="1478756" cy="408320"/>
      </dsp:txXfrm>
    </dsp:sp>
    <dsp:sp modelId="{79C3F119-DC7D-4246-84EF-BEFD03BDD65D}">
      <dsp:nvSpPr>
        <dsp:cNvPr id="0" name=""/>
        <dsp:cNvSpPr/>
      </dsp:nvSpPr>
      <dsp:spPr>
        <a:xfrm>
          <a:off x="3375421" y="1517543"/>
          <a:ext cx="1478756" cy="1899196"/>
        </a:xfrm>
        <a:prstGeom prst="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2004" tIns="32004" rIns="42672" bIns="48006" numCol="1" spcCol="1270" anchor="t" anchorCtr="0">
          <a:noAutofit/>
        </a:bodyPr>
        <a:lstStyle/>
        <a:p>
          <a:pPr marL="57150" lvl="1" indent="-57150" algn="l" defTabSz="266700" rtl="0">
            <a:lnSpc>
              <a:spcPct val="90000"/>
            </a:lnSpc>
            <a:spcBef>
              <a:spcPct val="0"/>
            </a:spcBef>
            <a:spcAft>
              <a:spcPct val="15000"/>
            </a:spcAft>
            <a:buChar char="••"/>
          </a:pPr>
          <a:r>
            <a:rPr lang="fi-FI" sz="600" kern="1200" dirty="0" smtClean="0"/>
            <a:t>Työmäärä, tehtäviin organisoituminen</a:t>
          </a:r>
          <a:endParaRPr lang="fi-FI" sz="600" kern="1200" dirty="0"/>
        </a:p>
        <a:p>
          <a:pPr marL="57150" lvl="1" indent="-57150" algn="l" defTabSz="266700" rtl="0">
            <a:lnSpc>
              <a:spcPct val="90000"/>
            </a:lnSpc>
            <a:spcBef>
              <a:spcPct val="0"/>
            </a:spcBef>
            <a:spcAft>
              <a:spcPct val="15000"/>
            </a:spcAft>
            <a:buChar char="••"/>
          </a:pPr>
          <a:r>
            <a:rPr lang="fi-FI" sz="600" kern="1200" dirty="0" smtClean="0"/>
            <a:t>Työnjako osapuolien kesken</a:t>
          </a:r>
          <a:endParaRPr lang="fi-FI" sz="600" kern="1200" dirty="0"/>
        </a:p>
        <a:p>
          <a:pPr marL="57150" lvl="1" indent="-57150" algn="l" defTabSz="266700" rtl="0">
            <a:lnSpc>
              <a:spcPct val="90000"/>
            </a:lnSpc>
            <a:spcBef>
              <a:spcPct val="0"/>
            </a:spcBef>
            <a:spcAft>
              <a:spcPct val="15000"/>
            </a:spcAft>
            <a:buChar char="••"/>
          </a:pPr>
          <a:r>
            <a:rPr lang="fi-FI" sz="600" kern="1200" dirty="0" smtClean="0"/>
            <a:t>Ympäristö ja osatoimitukset</a:t>
          </a:r>
          <a:endParaRPr lang="fi-FI" sz="600" kern="1200" dirty="0"/>
        </a:p>
        <a:p>
          <a:pPr marL="57150" lvl="1" indent="-57150" algn="l" defTabSz="266700" rtl="0">
            <a:lnSpc>
              <a:spcPct val="90000"/>
            </a:lnSpc>
            <a:spcBef>
              <a:spcPct val="0"/>
            </a:spcBef>
            <a:spcAft>
              <a:spcPct val="15000"/>
            </a:spcAft>
            <a:buChar char="••"/>
          </a:pPr>
          <a:r>
            <a:rPr lang="fi-FI" sz="600" kern="1200" dirty="0" smtClean="0"/>
            <a:t>Työvälineet</a:t>
          </a:r>
          <a:endParaRPr lang="fi-FI" sz="600" kern="1200" dirty="0"/>
        </a:p>
        <a:p>
          <a:pPr marL="57150" lvl="1" indent="-57150" algn="l" defTabSz="266700" rtl="0">
            <a:lnSpc>
              <a:spcPct val="90000"/>
            </a:lnSpc>
            <a:spcBef>
              <a:spcPct val="0"/>
            </a:spcBef>
            <a:spcAft>
              <a:spcPct val="15000"/>
            </a:spcAft>
            <a:buChar char="••"/>
          </a:pPr>
          <a:r>
            <a:rPr lang="fi-FI" sz="600" kern="1200" dirty="0" smtClean="0"/>
            <a:t>Riskit</a:t>
          </a:r>
          <a:endParaRPr lang="fi-FI" sz="600" kern="1200" dirty="0"/>
        </a:p>
        <a:p>
          <a:pPr marL="57150" lvl="1" indent="-57150" algn="l" defTabSz="266700" rtl="0">
            <a:lnSpc>
              <a:spcPct val="90000"/>
            </a:lnSpc>
            <a:spcBef>
              <a:spcPct val="0"/>
            </a:spcBef>
            <a:spcAft>
              <a:spcPct val="15000"/>
            </a:spcAft>
            <a:buChar char="••"/>
          </a:pPr>
          <a:endParaRPr lang="fi-FI" sz="600" kern="1200" dirty="0"/>
        </a:p>
        <a:p>
          <a:pPr marL="57150" lvl="1" indent="-57150" algn="l" defTabSz="266700" rtl="0">
            <a:lnSpc>
              <a:spcPct val="90000"/>
            </a:lnSpc>
            <a:spcBef>
              <a:spcPct val="0"/>
            </a:spcBef>
            <a:spcAft>
              <a:spcPct val="15000"/>
            </a:spcAft>
            <a:buChar char="••"/>
          </a:pPr>
          <a:r>
            <a:rPr lang="fi-FI" sz="600" kern="1200" dirty="0" smtClean="0"/>
            <a:t>HYVÄKSYMISTESTAUSSUUNNITELMA (sis. Ilmarisen testausvastuiden organisoinnit, </a:t>
          </a:r>
          <a:r>
            <a:rPr lang="fi-FI" sz="600" kern="1200" dirty="0" err="1" smtClean="0"/>
            <a:t>jt-tuki</a:t>
          </a:r>
          <a:r>
            <a:rPr lang="fi-FI" sz="600" kern="1200" dirty="0" smtClean="0"/>
            <a:t>, </a:t>
          </a:r>
          <a:r>
            <a:rPr lang="fi-FI" sz="600" kern="1200" dirty="0" err="1" smtClean="0"/>
            <a:t>hyte</a:t>
          </a:r>
          <a:r>
            <a:rPr lang="fi-FI" sz="600" kern="1200" dirty="0" smtClean="0"/>
            <a:t>, aste, tekniset </a:t>
          </a:r>
          <a:r>
            <a:rPr lang="fi-FI" sz="600" kern="1200" dirty="0" err="1" smtClean="0"/>
            <a:t>hytet</a:t>
          </a:r>
          <a:r>
            <a:rPr lang="fi-FI" sz="600" kern="1200" dirty="0" smtClean="0"/>
            <a:t>), LAATIJA TESTAUSPÄÄLLIKKÖ</a:t>
          </a:r>
          <a:endParaRPr lang="fi-FI" sz="600" kern="1200" dirty="0"/>
        </a:p>
      </dsp:txBody>
      <dsp:txXfrm>
        <a:off x="3375421" y="1517543"/>
        <a:ext cx="1478756" cy="1899196"/>
      </dsp:txXfrm>
    </dsp:sp>
    <dsp:sp modelId="{C86250A0-42DA-4251-A0DA-3A71795DF46F}">
      <dsp:nvSpPr>
        <dsp:cNvPr id="0" name=""/>
        <dsp:cNvSpPr/>
      </dsp:nvSpPr>
      <dsp:spPr>
        <a:xfrm>
          <a:off x="5061204" y="1109222"/>
          <a:ext cx="1478756" cy="408320"/>
        </a:xfrm>
        <a:prstGeom prst="rect">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32512" rIns="56896" bIns="32512" numCol="1" spcCol="1270" anchor="ctr" anchorCtr="0">
          <a:noAutofit/>
        </a:bodyPr>
        <a:lstStyle/>
        <a:p>
          <a:pPr lvl="0" algn="ctr" defTabSz="355600" rtl="0">
            <a:lnSpc>
              <a:spcPct val="90000"/>
            </a:lnSpc>
            <a:spcBef>
              <a:spcPct val="0"/>
            </a:spcBef>
            <a:spcAft>
              <a:spcPct val="35000"/>
            </a:spcAft>
          </a:pPr>
          <a:r>
            <a:rPr lang="fi-FI" sz="800" kern="1200" dirty="0" smtClean="0"/>
            <a:t>Hyväksymistestien suunnittelu</a:t>
          </a:r>
          <a:endParaRPr lang="fi-FI" sz="800" kern="1200" dirty="0"/>
        </a:p>
      </dsp:txBody>
      <dsp:txXfrm>
        <a:off x="5061204" y="1109222"/>
        <a:ext cx="1478756" cy="408320"/>
      </dsp:txXfrm>
    </dsp:sp>
    <dsp:sp modelId="{3EA54C61-BACC-4E9C-BC27-A61FEAE762D4}">
      <dsp:nvSpPr>
        <dsp:cNvPr id="0" name=""/>
        <dsp:cNvSpPr/>
      </dsp:nvSpPr>
      <dsp:spPr>
        <a:xfrm>
          <a:off x="5061204" y="1517543"/>
          <a:ext cx="1478756" cy="1899196"/>
        </a:xfrm>
        <a:prstGeom prst="rect">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2004" tIns="32004" rIns="42672" bIns="48006" numCol="1" spcCol="1270" anchor="t" anchorCtr="0">
          <a:noAutofit/>
        </a:bodyPr>
        <a:lstStyle/>
        <a:p>
          <a:pPr marL="57150" lvl="1" indent="-57150" algn="l" defTabSz="266700" rtl="0">
            <a:lnSpc>
              <a:spcPct val="90000"/>
            </a:lnSpc>
            <a:spcBef>
              <a:spcPct val="0"/>
            </a:spcBef>
            <a:spcAft>
              <a:spcPct val="15000"/>
            </a:spcAft>
            <a:buChar char="••"/>
          </a:pPr>
          <a:r>
            <a:rPr lang="fi-FI" sz="600" kern="1200" dirty="0" err="1" smtClean="0"/>
            <a:t>Testitapaukset-</a:t>
          </a:r>
          <a:r>
            <a:rPr lang="fi-FI" sz="600" kern="1200" dirty="0" smtClean="0"/>
            <a:t> ja aineistot, seurattavuus</a:t>
          </a:r>
          <a:endParaRPr lang="fi-FI" sz="600" kern="1200" dirty="0"/>
        </a:p>
        <a:p>
          <a:pPr marL="57150" lvl="1" indent="-57150" algn="l" defTabSz="266700" rtl="0">
            <a:lnSpc>
              <a:spcPct val="90000"/>
            </a:lnSpc>
            <a:spcBef>
              <a:spcPct val="0"/>
            </a:spcBef>
            <a:spcAft>
              <a:spcPct val="15000"/>
            </a:spcAft>
            <a:buChar char="••"/>
          </a:pPr>
          <a:r>
            <a:rPr lang="fi-FI" sz="600" kern="1200" dirty="0" smtClean="0"/>
            <a:t>Osaamisen kerryttäminen testaajille</a:t>
          </a:r>
          <a:endParaRPr lang="fi-FI" sz="600" kern="1200" dirty="0"/>
        </a:p>
        <a:p>
          <a:pPr marL="57150" lvl="1" indent="-57150" algn="l" defTabSz="266700" rtl="0">
            <a:lnSpc>
              <a:spcPct val="90000"/>
            </a:lnSpc>
            <a:spcBef>
              <a:spcPct val="0"/>
            </a:spcBef>
            <a:spcAft>
              <a:spcPct val="15000"/>
            </a:spcAft>
            <a:buChar char="••"/>
          </a:pPr>
          <a:endParaRPr lang="fi-FI" sz="600" kern="1200" dirty="0"/>
        </a:p>
        <a:p>
          <a:pPr marL="57150" lvl="1" indent="-57150" algn="l" defTabSz="266700" rtl="0">
            <a:lnSpc>
              <a:spcPct val="90000"/>
            </a:lnSpc>
            <a:spcBef>
              <a:spcPct val="0"/>
            </a:spcBef>
            <a:spcAft>
              <a:spcPct val="15000"/>
            </a:spcAft>
            <a:buChar char="••"/>
          </a:pPr>
          <a:r>
            <a:rPr lang="fi-FI" sz="600" kern="1200" dirty="0" smtClean="0"/>
            <a:t>TESTITAPAUKSET JA –AINEISTOLISTAT, LAATIJA TESTAUSVASTAAVA</a:t>
          </a:r>
          <a:endParaRPr lang="fi-FI" sz="600" kern="1200" dirty="0"/>
        </a:p>
      </dsp:txBody>
      <dsp:txXfrm>
        <a:off x="5061204" y="1517543"/>
        <a:ext cx="1478756" cy="1899196"/>
      </dsp:txXfrm>
    </dsp:sp>
    <dsp:sp modelId="{274F625A-8B23-482F-B01E-40930FB6B9BA}">
      <dsp:nvSpPr>
        <dsp:cNvPr id="0" name=""/>
        <dsp:cNvSpPr/>
      </dsp:nvSpPr>
      <dsp:spPr>
        <a:xfrm>
          <a:off x="6746986" y="1109222"/>
          <a:ext cx="1478756" cy="408320"/>
        </a:xfrm>
        <a:prstGeom prst="rect">
          <a:avLst/>
        </a:prstGeom>
        <a:solidFill>
          <a:schemeClr val="accent6">
            <a:hueOff val="0"/>
            <a:satOff val="0"/>
            <a:lumOff val="0"/>
            <a:alphaOff val="0"/>
          </a:schemeClr>
        </a:solidFill>
        <a:ln w="254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32512" rIns="56896" bIns="32512" numCol="1" spcCol="1270" anchor="ctr" anchorCtr="0">
          <a:noAutofit/>
        </a:bodyPr>
        <a:lstStyle/>
        <a:p>
          <a:pPr lvl="0" algn="ctr" defTabSz="355600" rtl="0">
            <a:lnSpc>
              <a:spcPct val="90000"/>
            </a:lnSpc>
            <a:spcBef>
              <a:spcPct val="0"/>
            </a:spcBef>
            <a:spcAft>
              <a:spcPct val="35000"/>
            </a:spcAft>
          </a:pPr>
          <a:r>
            <a:rPr lang="fi-FI" sz="800" kern="1200" dirty="0" smtClean="0"/>
            <a:t>Testaaminen</a:t>
          </a:r>
          <a:endParaRPr lang="fi-FI" sz="800" kern="1200" dirty="0"/>
        </a:p>
      </dsp:txBody>
      <dsp:txXfrm>
        <a:off x="6746986" y="1109222"/>
        <a:ext cx="1478756" cy="408320"/>
      </dsp:txXfrm>
    </dsp:sp>
    <dsp:sp modelId="{A98D0A91-9BD5-487C-90ED-13429E8857DE}">
      <dsp:nvSpPr>
        <dsp:cNvPr id="0" name=""/>
        <dsp:cNvSpPr/>
      </dsp:nvSpPr>
      <dsp:spPr>
        <a:xfrm>
          <a:off x="6746986" y="1517543"/>
          <a:ext cx="1478756" cy="1899196"/>
        </a:xfrm>
        <a:prstGeom prst="rect">
          <a:avLst/>
        </a:prstGeom>
        <a:solidFill>
          <a:schemeClr val="accent6">
            <a:tint val="40000"/>
            <a:alpha val="90000"/>
            <a:hueOff val="0"/>
            <a:satOff val="0"/>
            <a:lumOff val="0"/>
            <a:alphaOff val="0"/>
          </a:schemeClr>
        </a:solidFill>
        <a:ln w="25400" cap="flat" cmpd="sng" algn="ctr">
          <a:solidFill>
            <a:schemeClr val="accent6">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2004" tIns="32004" rIns="42672" bIns="48006" numCol="1" spcCol="1270" anchor="t" anchorCtr="0">
          <a:noAutofit/>
        </a:bodyPr>
        <a:lstStyle/>
        <a:p>
          <a:pPr marL="57150" lvl="1" indent="-57150" algn="l" defTabSz="266700" rtl="0">
            <a:lnSpc>
              <a:spcPct val="90000"/>
            </a:lnSpc>
            <a:spcBef>
              <a:spcPct val="0"/>
            </a:spcBef>
            <a:spcAft>
              <a:spcPct val="15000"/>
            </a:spcAft>
            <a:buChar char="••"/>
          </a:pPr>
          <a:r>
            <a:rPr lang="fi-FI" sz="600" kern="1200" dirty="0" smtClean="0"/>
            <a:t>Testien suorittaminen</a:t>
          </a:r>
          <a:endParaRPr lang="fi-FI" sz="600" kern="1200" dirty="0"/>
        </a:p>
        <a:p>
          <a:pPr marL="57150" lvl="1" indent="-57150" algn="l" defTabSz="266700" rtl="0">
            <a:lnSpc>
              <a:spcPct val="90000"/>
            </a:lnSpc>
            <a:spcBef>
              <a:spcPct val="0"/>
            </a:spcBef>
            <a:spcAft>
              <a:spcPct val="15000"/>
            </a:spcAft>
            <a:buChar char="••"/>
          </a:pPr>
          <a:r>
            <a:rPr lang="fi-FI" sz="600" kern="1200" dirty="0" smtClean="0"/>
            <a:t>Testien täydentäminen</a:t>
          </a:r>
          <a:endParaRPr lang="fi-FI" sz="600" kern="1200" dirty="0"/>
        </a:p>
        <a:p>
          <a:pPr marL="57150" lvl="1" indent="-57150" algn="l" defTabSz="266700" rtl="0">
            <a:lnSpc>
              <a:spcPct val="90000"/>
            </a:lnSpc>
            <a:spcBef>
              <a:spcPct val="0"/>
            </a:spcBef>
            <a:spcAft>
              <a:spcPct val="15000"/>
            </a:spcAft>
            <a:buChar char="••"/>
          </a:pPr>
          <a:endParaRPr lang="fi-FI" sz="600" kern="1200" dirty="0"/>
        </a:p>
        <a:p>
          <a:pPr marL="57150" lvl="1" indent="-57150" algn="l" defTabSz="266700" rtl="0">
            <a:lnSpc>
              <a:spcPct val="90000"/>
            </a:lnSpc>
            <a:spcBef>
              <a:spcPct val="0"/>
            </a:spcBef>
            <a:spcAft>
              <a:spcPct val="15000"/>
            </a:spcAft>
            <a:buChar char="••"/>
          </a:pPr>
          <a:r>
            <a:rPr lang="fi-FI" sz="600" kern="1200" dirty="0" smtClean="0"/>
            <a:t>HYVÄKSYMISTESTAUSRAPORTIT, LAATIJA TESTAUSPÄÄLLIKKÖ</a:t>
          </a:r>
          <a:endParaRPr lang="fi-FI" sz="600" kern="1200" dirty="0"/>
        </a:p>
      </dsp:txBody>
      <dsp:txXfrm>
        <a:off x="6746986" y="1517543"/>
        <a:ext cx="1478756" cy="1899196"/>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7.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hProcess7#1">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15.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19.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21.xml><?xml version="1.0" encoding="utf-8"?>
<dgm:layoutDef xmlns:dgm="http://schemas.openxmlformats.org/drawingml/2006/diagram" xmlns:a="http://schemas.openxmlformats.org/drawingml/2006/main" uniqueId="urn:microsoft.com/office/officeart/2005/8/layout/radial2">
  <dgm:title val=""/>
  <dgm:desc val=""/>
  <dgm:catLst>
    <dgm:cat type="relationship" pri="20000"/>
    <dgm:cat type="convert" pri="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animLvl val="ctr"/>
      <dgm:resizeHandles val="exact"/>
    </dgm:varLst>
    <dgm:alg type="composite"/>
    <dgm:shape xmlns:r="http://schemas.openxmlformats.org/officeDocument/2006/relationships" r:blip="">
      <dgm:adjLst/>
    </dgm:shape>
    <dgm:presOf/>
    <dgm:constrLst>
      <dgm:constr type="w" for="ch" forName="cycle" refType="w"/>
      <dgm:constr type="h" for="ch" forName="cycle" refType="h"/>
    </dgm:constrLst>
    <dgm:ruleLst/>
    <dgm:layoutNode name="cycle">
      <dgm:choose name="Name0">
        <dgm:if name="Name1" func="var" arg="dir" op="equ" val="norm">
          <dgm:choose name="Name2">
            <dgm:if name="Name3" axis="ch" ptType="node" func="cnt" op="lte" val="1">
              <dgm:alg type="cycle">
                <dgm:param type="stAng" val="90"/>
                <dgm:param type="spanAng" val="360"/>
                <dgm:param type="ctrShpMap" val="fNode"/>
              </dgm:alg>
            </dgm:if>
            <dgm:if name="Name4" axis="ch" ptType="node" func="cnt" op="equ" val="2">
              <dgm:alg type="cycle">
                <dgm:param type="stAng" val="70"/>
                <dgm:param type="spanAng" val="40"/>
                <dgm:param type="ctrShpMap" val="fNode"/>
              </dgm:alg>
            </dgm:if>
            <dgm:if name="Name5" axis="ch" ptType="node" func="cnt" op="equ" val="3">
              <dgm:alg type="cycle">
                <dgm:param type="stAng" val="60"/>
                <dgm:param type="spanAng" val="60"/>
                <dgm:param type="ctrShpMap" val="fNode"/>
              </dgm:alg>
            </dgm:if>
            <dgm:else name="Name6">
              <dgm:alg type="cycle">
                <dgm:param type="stAng" val="45"/>
                <dgm:param type="spanAng" val="90"/>
                <dgm:param type="ctrShpMap" val="fNode"/>
              </dgm:alg>
            </dgm:else>
          </dgm:choose>
        </dgm:if>
        <dgm:else name="Name7">
          <dgm:choose name="Name8">
            <dgm:if name="Name9" axis="ch" ptType="node" func="cnt" op="lte" val="1">
              <dgm:alg type="cycle">
                <dgm:param type="stAng" val="-90"/>
                <dgm:param type="spanAng" val="-360"/>
                <dgm:param type="ctrShpMap" val="fNode"/>
              </dgm:alg>
            </dgm:if>
            <dgm:if name="Name10" axis="ch" ptType="node" func="cnt" op="equ" val="2">
              <dgm:alg type="cycle">
                <dgm:param type="stAng" val="-70"/>
                <dgm:param type="spanAng" val="-40"/>
                <dgm:param type="ctrShpMap" val="fNode"/>
              </dgm:alg>
            </dgm:if>
            <dgm:if name="Name11" axis="ch" ptType="node" func="cnt" op="equ" val="3">
              <dgm:alg type="cycle">
                <dgm:param type="stAng" val="-60"/>
                <dgm:param type="spanAng" val="-60"/>
                <dgm:param type="ctrShpMap" val="fNode"/>
              </dgm:alg>
            </dgm:if>
            <dgm:else name="Name12">
              <dgm:alg type="cycle">
                <dgm:param type="stAng" val="-45"/>
                <dgm:param type="spanAng" val="-90"/>
                <dgm:param type="ctrShpMap" val="fNode"/>
              </dgm:alg>
            </dgm:else>
          </dgm:choose>
        </dgm:else>
      </dgm:choose>
      <dgm:shape xmlns:r="http://schemas.openxmlformats.org/officeDocument/2006/relationships" r:blip="">
        <dgm:adjLst/>
      </dgm:shape>
      <dgm:presOf/>
      <dgm:constrLst>
        <dgm:constr type="sp" val="20"/>
        <dgm:constr type="w" for="ch" forName="centerShape" refType="w"/>
        <dgm:constr type="w" for="ch" forName="node" refType="w" refFor="ch" refForName="centerShape" fact="1.5"/>
        <dgm:constr type="sibSp" refType="w" refFor="ch" refForName="centerShape" op="equ" fact="0.08"/>
        <dgm:constr type="primFontSz" for="des" forName="parentNode" op="equ" val="65"/>
        <dgm:constr type="secFontSz" for="des" forName="childNode" op="equ" val="65"/>
      </dgm:constrLst>
      <dgm:ruleLst/>
      <dgm:choose name="Name13">
        <dgm:if name="Name14" axis="ch" ptType="node" hideLastTrans="0" func="cnt" op="gte" val="1">
          <dgm:layoutNode name="centerShape" styleLbl="node0">
            <dgm:alg type="composite"/>
            <dgm:shape xmlns:r="http://schemas.openxmlformats.org/officeDocument/2006/relationships" r:blip="">
              <dgm:adjLst/>
            </dgm:shape>
            <dgm:presOf axis="ch" ptType="node" cnt="1"/>
            <dgm:constrLst>
              <dgm:constr type="w" for="ch" forName="connSite" refType="w" fact="0.7"/>
              <dgm:constr type="h" for="ch" forName="connSite" refType="w" fact="0.7"/>
              <dgm:constr type="ctrX" for="ch" forName="connSite" refType="w" fact="0.5"/>
              <dgm:constr type="ctrY" for="ch" forName="connSite" refType="h" fact="0.5"/>
              <dgm:constr type="w" for="ch" forName="visible" refType="w"/>
              <dgm:constr type="h" for="ch" forName="visible" refType="w"/>
              <dgm:constr type="ctrX" for="ch" forName="visible" refType="w" fact="0.5"/>
              <dgm:constr type="ctrY" for="ch" forName="visible" refType="h" fact="0.5"/>
            </dgm:constrLst>
            <dgm:ruleLst/>
            <dgm:layoutNode name="connSite">
              <dgm:alg type="sp"/>
              <dgm:shape xmlns:r="http://schemas.openxmlformats.org/officeDocument/2006/relationships" type="ellipse" r:blip="" hideGeom="1">
                <dgm:adjLst/>
              </dgm:shape>
              <dgm:presOf/>
              <dgm:constrLst/>
              <dgm:ruleLst/>
            </dgm:layoutNode>
            <dgm:layoutNode name="visible">
              <dgm:alg type="sp"/>
              <dgm:shape xmlns:r="http://schemas.openxmlformats.org/officeDocument/2006/relationships" type="ellipse" r:blip="" blipPhldr="1">
                <dgm:adjLst/>
              </dgm:shape>
              <dgm:presOf/>
              <dgm:constrLst/>
              <dgm:ruleLst/>
            </dgm:layoutNode>
          </dgm:layoutNode>
        </dgm:if>
        <dgm:else name="Name15"/>
      </dgm:choose>
      <dgm:forEach name="Name16" axis="ch">
        <dgm:forEach name="Name17" axis="self" ptType="node">
          <dgm:layoutNode name="node">
            <dgm:alg type="composite"/>
            <dgm:shape xmlns:r="http://schemas.openxmlformats.org/officeDocument/2006/relationships" r:blip="">
              <dgm:adjLst/>
            </dgm:shape>
            <dgm:presOf/>
            <dgm:choose name="Name18">
              <dgm:if name="Name19" func="var" arg="dir" op="equ" val="norm">
                <dgm:constrLst>
                  <dgm:constr type="t" for="ch" forName="parentNode"/>
                  <dgm:constr type="l" for="ch" forName="parentNode"/>
                  <dgm:constr type="w" for="ch" forName="parentNode" refType="w" fact="0.4"/>
                  <dgm:constr type="h" for="ch" forName="parentNode" refType="w" refFor="ch" refForName="parentNode" op="equ"/>
                  <dgm:constr type="ctrY" for="ch" forName="childNode" refType="h" refFor="ch" refForName="parentNode" fact="0.5"/>
                  <dgm:constr type="l" for="ch" forName="childNode" refType="w" refFor="ch" refForName="parentNode" op="equ" fact="1.1"/>
                  <dgm:constr type="w" for="ch" forName="childNode" refType="w" fact="0.6"/>
                  <dgm:constr type="h" for="ch" forName="childNode" refType="h" refFor="ch" refForName="parentNode"/>
                </dgm:constrLst>
              </dgm:if>
              <dgm:else name="Name20">
                <dgm:constrLst>
                  <dgm:constr type="t" for="ch" forName="parentNode"/>
                  <dgm:constr type="r" for="ch" forName="parentNode" refType="w"/>
                  <dgm:constr type="w" for="ch" forName="parentNode" refType="w" fact="0.4"/>
                  <dgm:constr type="h" for="ch" forName="parentNode" refType="w" refFor="ch" refForName="parentNode" op="equ"/>
                  <dgm:constr type="ctrY" for="ch" forName="childNode" refType="h" refFor="ch" refForName="parentNode" fact="0.5"/>
                  <dgm:constr type="l" for="ch" forName="childNode"/>
                  <dgm:constr type="w" for="ch" forName="childNode" refType="w" fact="0.6"/>
                  <dgm:constr type="h" for="ch" forName="childNode" refType="h" refFor="ch" refForName="parentNode"/>
                </dgm:constrLst>
              </dgm:else>
            </dgm:choose>
            <dgm:ruleLst/>
            <dgm:layoutNode name="parentNode" styleLbl="node1">
              <dgm:varLst>
                <dgm:chMax val="1"/>
                <dgm:bulletEnabled val="1"/>
              </dgm:varLst>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childNode" styleLbl="revTx" moveWith="parentNode">
              <dgm:varLst>
                <dgm:bulletEnabled val="1"/>
              </dgm:varLst>
              <dgm:alg type="tx">
                <dgm:param type="txAnchorVertCh" val="mid"/>
                <dgm:param type="stBulletLvl" val="1"/>
              </dgm:alg>
              <dgm:choose name="Name21">
                <dgm:if name="Name22" axis="ch" ptType="node" func="cnt" op="gte" val="1">
                  <dgm:shape xmlns:r="http://schemas.openxmlformats.org/officeDocument/2006/relationships" type="rect" r:blip="">
                    <dgm:adjLst/>
                  </dgm:shape>
                </dgm:if>
                <dgm:else name="Name23">
                  <dgm:shape xmlns:r="http://schemas.openxmlformats.org/officeDocument/2006/relationships" type="rect" r:blip="" hideGeom="1">
                    <dgm:adjLst/>
                  </dgm:shape>
                </dgm:else>
              </dgm:choose>
              <dgm:presOf axis="des" ptType="node"/>
              <dgm:constrLst>
                <dgm:constr type="tMarg"/>
                <dgm:constr type="bMarg"/>
                <dgm:constr type="lMarg"/>
                <dgm:constr type="rMarg"/>
              </dgm:constrLst>
              <dgm:ruleLst>
                <dgm:rule type="secFontSz" val="5" fact="NaN" max="NaN"/>
              </dgm:ruleLst>
            </dgm:layoutNode>
          </dgm:layoutNode>
        </dgm:forEach>
        <dgm:forEach name="Name24" axis="self" ptType="parTrans" cnt="1">
          <dgm:layoutNode name="Name25">
            <dgm:alg type="conn">
              <dgm:param type="dim" val="1D"/>
              <dgm:param type="endSty" val="noArr"/>
              <dgm:param type="begPts" val="auto"/>
              <dgm:param type="endPts" val="auto"/>
              <dgm:param type="srcNode" val="connSite"/>
              <dgm:param type="dstNode" val="parentNode"/>
            </dgm:alg>
            <dgm:shape xmlns:r="http://schemas.openxmlformats.org/officeDocument/2006/relationships" type="conn" r:blip="" zOrderOff="-99">
              <dgm:adjLst/>
            </dgm:shape>
            <dgm:presOf axis="self"/>
            <dgm:constrLst>
              <dgm:constr type="connDist"/>
              <dgm:constr type="w" val="1"/>
              <dgm:constr type="h" val="5"/>
              <dgm:constr type="begPad"/>
              <dgm:constr type="endPad"/>
            </dgm:constrLst>
            <dgm:ruleLst/>
          </dgm:layoutNode>
        </dgm:forEach>
      </dgm:forEach>
    </dgm:layoutNode>
  </dgm:layoutNode>
</dgm:layoutDef>
</file>

<file path=ppt/diagrams/layout2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default#2">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48.emf"/><Relationship Id="rId4" Type="http://schemas.openxmlformats.org/officeDocument/2006/relationships/image" Target="../media/image49.emf"/><Relationship Id="rId5" Type="http://schemas.openxmlformats.org/officeDocument/2006/relationships/image" Target="../media/image50.emf"/><Relationship Id="rId6" Type="http://schemas.openxmlformats.org/officeDocument/2006/relationships/image" Target="../media/image51.emf"/><Relationship Id="rId7" Type="http://schemas.openxmlformats.org/officeDocument/2006/relationships/image" Target="../media/image52.emf"/><Relationship Id="rId8" Type="http://schemas.openxmlformats.org/officeDocument/2006/relationships/image" Target="../media/image53.emf"/><Relationship Id="rId9" Type="http://schemas.openxmlformats.org/officeDocument/2006/relationships/image" Target="../media/image54.emf"/><Relationship Id="rId1" Type="http://schemas.openxmlformats.org/officeDocument/2006/relationships/image" Target="../media/image46.emf"/><Relationship Id="rId2" Type="http://schemas.openxmlformats.org/officeDocument/2006/relationships/image" Target="../media/image47.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5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Ylätunnisteen paikkamerkki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Päivämäärän paikkamerkki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B14253C-3C22-40D5-9CEF-5CDD9D5EEFEC}" type="datetimeFigureOut">
              <a:rPr lang="en-US" smtClean="0"/>
              <a:pPr/>
              <a:t>23/03/15</a:t>
            </a:fld>
            <a:endParaRPr lang="en-US"/>
          </a:p>
        </p:txBody>
      </p:sp>
      <p:sp>
        <p:nvSpPr>
          <p:cNvPr id="4" name="Dian kuvan paikkamerkki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Huomautusten paikkamerkki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i-FI" smtClean="0"/>
              <a:t>Muokkaa tekstin perustyylejä napsauttamalla</a:t>
            </a:r>
          </a:p>
          <a:p>
            <a:pPr lvl="1"/>
            <a:r>
              <a:rPr lang="fi-FI" smtClean="0"/>
              <a:t>toinen taso</a:t>
            </a:r>
          </a:p>
          <a:p>
            <a:pPr lvl="2"/>
            <a:r>
              <a:rPr lang="fi-FI" smtClean="0"/>
              <a:t>kolmas taso</a:t>
            </a:r>
          </a:p>
          <a:p>
            <a:pPr lvl="3"/>
            <a:r>
              <a:rPr lang="fi-FI" smtClean="0"/>
              <a:t>neljäs taso</a:t>
            </a:r>
          </a:p>
          <a:p>
            <a:pPr lvl="4"/>
            <a:r>
              <a:rPr lang="fi-FI" smtClean="0"/>
              <a:t>viides taso</a:t>
            </a:r>
            <a:endParaRPr lang="en-US"/>
          </a:p>
        </p:txBody>
      </p:sp>
      <p:sp>
        <p:nvSpPr>
          <p:cNvPr id="6" name="Alatunnisteen paikkamerkki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Dian numeron paikkamerkki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D922A19-1A10-43BF-BD8F-21AE14289E68}" type="slidenum">
              <a:rPr lang="en-US" smtClean="0"/>
              <a:pPr/>
              <a:t>‹#›</a:t>
            </a:fld>
            <a:endParaRPr lang="en-US"/>
          </a:p>
        </p:txBody>
      </p:sp>
    </p:spTree>
    <p:extLst>
      <p:ext uri="{BB962C8B-B14F-4D97-AF65-F5344CB8AC3E}">
        <p14:creationId xmlns:p14="http://schemas.microsoft.com/office/powerpoint/2010/main" val="1176609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n kuvan paikkamerkki 1"/>
          <p:cNvSpPr>
            <a:spLocks noGrp="1" noRot="1" noChangeAspect="1"/>
          </p:cNvSpPr>
          <p:nvPr>
            <p:ph type="sldImg"/>
          </p:nvPr>
        </p:nvSpPr>
        <p:spPr/>
      </p:sp>
      <p:sp>
        <p:nvSpPr>
          <p:cNvPr id="3" name="Huomautusten paikkamerkki 2"/>
          <p:cNvSpPr>
            <a:spLocks noGrp="1"/>
          </p:cNvSpPr>
          <p:nvPr>
            <p:ph type="body" idx="1"/>
          </p:nvPr>
        </p:nvSpPr>
        <p:spPr/>
        <p:txBody>
          <a:bodyPr>
            <a:normAutofit/>
          </a:bodyPr>
          <a:lstStyle/>
          <a:p>
            <a:endParaRPr lang="en-US" dirty="0"/>
          </a:p>
        </p:txBody>
      </p:sp>
      <p:sp>
        <p:nvSpPr>
          <p:cNvPr id="4" name="Dian numeron paikkamerkki 3"/>
          <p:cNvSpPr>
            <a:spLocks noGrp="1"/>
          </p:cNvSpPr>
          <p:nvPr>
            <p:ph type="sldNum" sz="quarter" idx="10"/>
          </p:nvPr>
        </p:nvSpPr>
        <p:spPr/>
        <p:txBody>
          <a:bodyPr/>
          <a:lstStyle/>
          <a:p>
            <a:fld id="{85A1C853-4250-432D-BE98-26FFC59651A9}"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E261FC5-A4E9-4299-BD4E-F3D0D7FB1735}" type="slidenum">
              <a:rPr lang="en-US"/>
              <a:pPr/>
              <a:t>2</a:t>
            </a:fld>
            <a:endParaRPr lang="en-US"/>
          </a:p>
        </p:txBody>
      </p:sp>
      <p:sp>
        <p:nvSpPr>
          <p:cNvPr id="31746" name="Rectangle 2"/>
          <p:cNvSpPr>
            <a:spLocks noGrp="1" noRot="1" noChangeAspect="1" noChangeArrowheads="1" noTextEdit="1"/>
          </p:cNvSpPr>
          <p:nvPr>
            <p:ph type="sldImg"/>
          </p:nvPr>
        </p:nvSpPr>
        <p:spPr>
          <a:ln/>
        </p:spPr>
      </p:sp>
      <p:sp>
        <p:nvSpPr>
          <p:cNvPr id="317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6</a:t>
            </a:fld>
            <a:endParaRPr lang="fi-FI"/>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7</a:t>
            </a:fld>
            <a:endParaRPr lang="fi-FI"/>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8</a:t>
            </a:fld>
            <a:endParaRPr lang="fi-FI"/>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fi-FI" dirty="0" smtClean="0"/>
              <a:t>Huomioitavaa: määrittelymuutosten löytyminen tavoitetilassa.  </a:t>
            </a:r>
            <a:endParaRPr lang="fi-FI" dirty="0"/>
          </a:p>
        </p:txBody>
      </p:sp>
      <p:sp>
        <p:nvSpPr>
          <p:cNvPr id="4" name="Slide Number Placeholder 3"/>
          <p:cNvSpPr>
            <a:spLocks noGrp="1"/>
          </p:cNvSpPr>
          <p:nvPr>
            <p:ph type="sldNum" sz="quarter" idx="10"/>
          </p:nvPr>
        </p:nvSpPr>
        <p:spPr/>
        <p:txBody>
          <a:bodyPr/>
          <a:lstStyle/>
          <a:p>
            <a:fld id="{4B433224-ACB1-43C7-ABF6-10FC49180078}" type="slidenum">
              <a:rPr lang="fi-FI" smtClean="0"/>
              <a:pPr/>
              <a:t>11</a:t>
            </a:fld>
            <a:endParaRPr lang="fi-FI"/>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12</a:t>
            </a:fld>
            <a:endParaRPr lang="fi-FI"/>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4B433224-ACB1-43C7-ABF6-10FC49180078}" type="slidenum">
              <a:rPr lang="fi-FI" smtClean="0"/>
              <a:pPr/>
              <a:t>13</a:t>
            </a:fld>
            <a:endParaRPr lang="fi-FI"/>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97448301-CC46-4343-9CF3-278EBADD52AD}" type="slidenum">
              <a:rPr lang="fi-FI" smtClean="0"/>
              <a:pPr/>
              <a:t>14</a:t>
            </a:fld>
            <a:endParaRPr lang="fi-FI"/>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i-FI" sz="1200" dirty="0" smtClean="0"/>
              <a:t>Lisähuomiona:  perinteiset testausvaiheet väärin nimetty, ovat korjausvaiheita. Hyväksymistestaus on ainoa testausvaihe – ja vain mikäli järjestelmätestaus on tuotannonkaltaista. </a:t>
            </a:r>
          </a:p>
          <a:p>
            <a:pPr algn="ctr"/>
            <a:r>
              <a:rPr lang="en-US" sz="1200" dirty="0" err="1" smtClean="0">
                <a:solidFill>
                  <a:schemeClr val="accent3"/>
                </a:solidFill>
              </a:rPr>
              <a:t>Boltonin</a:t>
            </a:r>
            <a:r>
              <a:rPr lang="en-US" sz="1200" dirty="0" smtClean="0">
                <a:solidFill>
                  <a:schemeClr val="accent3"/>
                </a:solidFill>
              </a:rPr>
              <a:t> </a:t>
            </a:r>
            <a:r>
              <a:rPr lang="en-US" sz="1200" dirty="0" err="1" smtClean="0">
                <a:solidFill>
                  <a:schemeClr val="accent3"/>
                </a:solidFill>
              </a:rPr>
              <a:t>sertifiointi</a:t>
            </a:r>
            <a:r>
              <a:rPr lang="en-US" sz="1200" dirty="0" smtClean="0">
                <a:solidFill>
                  <a:schemeClr val="accent3"/>
                </a:solidFill>
              </a:rPr>
              <a:t>: </a:t>
            </a:r>
          </a:p>
          <a:p>
            <a:pPr algn="ctr"/>
            <a:r>
              <a:rPr lang="en-US" sz="1200" dirty="0" smtClean="0">
                <a:solidFill>
                  <a:schemeClr val="accent3"/>
                </a:solidFill>
              </a:rPr>
              <a:t> "I test. </a:t>
            </a:r>
          </a:p>
          <a:p>
            <a:pPr algn="ctr"/>
            <a:r>
              <a:rPr lang="en-US" sz="1200" dirty="0" smtClean="0">
                <a:solidFill>
                  <a:schemeClr val="accent3"/>
                </a:solidFill>
              </a:rPr>
              <a:t>You observe. </a:t>
            </a:r>
          </a:p>
          <a:p>
            <a:pPr algn="ctr"/>
            <a:r>
              <a:rPr lang="en-US" sz="1200" dirty="0" smtClean="0">
                <a:solidFill>
                  <a:schemeClr val="accent3"/>
                </a:solidFill>
              </a:rPr>
              <a:t>We talk. </a:t>
            </a:r>
          </a:p>
          <a:p>
            <a:pPr algn="ctr"/>
            <a:r>
              <a:rPr lang="en-US" sz="1200" dirty="0" smtClean="0">
                <a:solidFill>
                  <a:schemeClr val="accent3"/>
                </a:solidFill>
              </a:rPr>
              <a:t>You decide".</a:t>
            </a:r>
            <a:endParaRPr lang="fi-FI" sz="1200" dirty="0" smtClean="0">
              <a:solidFill>
                <a:schemeClr val="accent3"/>
              </a:solidFill>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fi-FI" sz="1200" dirty="0" smtClean="0"/>
          </a:p>
          <a:p>
            <a:endParaRPr lang="fi-FI" dirty="0"/>
          </a:p>
        </p:txBody>
      </p:sp>
      <p:sp>
        <p:nvSpPr>
          <p:cNvPr id="4" name="Slide Number Placeholder 3"/>
          <p:cNvSpPr>
            <a:spLocks noGrp="1"/>
          </p:cNvSpPr>
          <p:nvPr>
            <p:ph type="sldNum" sz="quarter" idx="10"/>
          </p:nvPr>
        </p:nvSpPr>
        <p:spPr/>
        <p:txBody>
          <a:bodyPr/>
          <a:lstStyle/>
          <a:p>
            <a:fld id="{CB3C8FEC-6B29-4D05-ABF2-B95F59EC172F}" type="slidenum">
              <a:rPr lang="fi-FI" smtClean="0"/>
              <a:pPr/>
              <a:t>15</a:t>
            </a:fld>
            <a:endParaRPr lang="fi-FI"/>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CB3C8FEC-6B29-4D05-ABF2-B95F59EC172F}" type="slidenum">
              <a:rPr lang="fi-FI" smtClean="0"/>
              <a:pPr/>
              <a:t>16</a:t>
            </a:fld>
            <a:endParaRPr lang="fi-FI"/>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A5B8226A-455E-4A82-AFB3-5ED269F656B0}" type="slidenum">
              <a:rPr lang="fi-FI" smtClean="0"/>
              <a:pPr/>
              <a:t>18</a:t>
            </a:fld>
            <a:endParaRPr lang="fi-FI"/>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n kuvan paikkamerkki 1"/>
          <p:cNvSpPr>
            <a:spLocks noGrp="1" noRot="1" noChangeAspect="1"/>
          </p:cNvSpPr>
          <p:nvPr>
            <p:ph type="sldImg"/>
          </p:nvPr>
        </p:nvSpPr>
        <p:spPr/>
      </p:sp>
      <p:sp>
        <p:nvSpPr>
          <p:cNvPr id="3" name="Huomautusten paikkamerkki 2"/>
          <p:cNvSpPr>
            <a:spLocks noGrp="1"/>
          </p:cNvSpPr>
          <p:nvPr>
            <p:ph type="body" idx="1"/>
          </p:nvPr>
        </p:nvSpPr>
        <p:spPr/>
        <p:txBody>
          <a:bodyPr>
            <a:normAutofit/>
          </a:bodyPr>
          <a:lstStyle/>
          <a:p>
            <a:r>
              <a:rPr lang="fi-FI" dirty="0" smtClean="0"/>
              <a:t>Jokainen havainto pakottaa testaamaan saman – ja monta jo testattua asiaa – uudelleen. </a:t>
            </a:r>
            <a:endParaRPr lang="en-US" dirty="0"/>
          </a:p>
        </p:txBody>
      </p:sp>
      <p:sp>
        <p:nvSpPr>
          <p:cNvPr id="4" name="Dian numeron paikkamerkki 3"/>
          <p:cNvSpPr>
            <a:spLocks noGrp="1"/>
          </p:cNvSpPr>
          <p:nvPr>
            <p:ph type="sldNum" sz="quarter" idx="10"/>
          </p:nvPr>
        </p:nvSpPr>
        <p:spPr/>
        <p:txBody>
          <a:bodyPr/>
          <a:lstStyle/>
          <a:p>
            <a:fld id="{768647EF-6ECC-4240-A363-BEFF7D7D36C8}" type="slidenum">
              <a:rPr lang="en-US" smtClean="0"/>
              <a:pPr/>
              <a:t>20</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0C11BB56-02F9-49FD-BC56-FEE45359835D}" type="slidenum">
              <a:rPr lang="en-US" smtClean="0"/>
              <a:pPr/>
              <a:t>22</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8E423366-792E-466C-B8B4-E038D2C29C10}" type="slidenum">
              <a:rPr lang="fi-FI" smtClean="0"/>
              <a:pPr/>
              <a:t>23</a:t>
            </a:fld>
            <a:endParaRPr lang="fi-FI"/>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BCCFD434-A6D3-45D1-8809-B7AC7E1096C4}" type="slidenum">
              <a:rPr lang="fi-FI" smtClean="0"/>
              <a:pPr/>
              <a:t>26</a:t>
            </a:fld>
            <a:endParaRPr lang="fi-FI"/>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8AB89F2B-1AC2-4FBF-AD55-B6B73A9E71E1}" type="slidenum">
              <a:rPr lang="en-US" smtClean="0"/>
              <a:pPr/>
              <a:t>29</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9D5FBD91-89CC-4474-845F-D76C5DBC2659}" type="slidenum">
              <a:rPr lang="fi-FI" smtClean="0"/>
              <a:pPr/>
              <a:t>30</a:t>
            </a:fld>
            <a:endParaRPr lang="fi-FI"/>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DE07163-1298-41DD-A2B4-9966EB12B59E}" type="slidenum">
              <a:rPr lang="en-US"/>
              <a:pPr/>
              <a:t>31</a:t>
            </a:fld>
            <a:endParaRPr lang="en-US"/>
          </a:p>
        </p:txBody>
      </p:sp>
      <p:sp>
        <p:nvSpPr>
          <p:cNvPr id="124930" name="Rectangle 2"/>
          <p:cNvSpPr>
            <a:spLocks noGrp="1" noRot="1" noChangeAspect="1" noChangeArrowheads="1" noTextEdit="1"/>
          </p:cNvSpPr>
          <p:nvPr>
            <p:ph type="sldImg"/>
          </p:nvPr>
        </p:nvSpPr>
        <p:spPr>
          <a:ln/>
        </p:spPr>
      </p:sp>
      <p:sp>
        <p:nvSpPr>
          <p:cNvPr id="124931" name="Rectangle 3"/>
          <p:cNvSpPr>
            <a:spLocks noGrp="1" noChangeArrowheads="1"/>
          </p:cNvSpPr>
          <p:nvPr>
            <p:ph type="body" idx="1"/>
          </p:nvPr>
        </p:nvSpPr>
        <p:spPr>
          <a:xfrm>
            <a:off x="914400" y="4343400"/>
            <a:ext cx="5029200" cy="4114800"/>
          </a:xfrm>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C1B32EB4-593E-4CF2-8AFA-07B634106684}" type="slidenum">
              <a:rPr lang="en-US"/>
              <a:pPr/>
              <a:t>32</a:t>
            </a:fld>
            <a:endParaRPr lang="en-US"/>
          </a:p>
        </p:txBody>
      </p:sp>
      <p:sp>
        <p:nvSpPr>
          <p:cNvPr id="71682"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9E0B3219-6A89-4966-AF27-BF0BF7AC8F9A}" type="slidenum">
              <a:rPr lang="en-GB" sz="1200">
                <a:latin typeface="Calibri" pitchFamily="34" charset="0"/>
              </a:rPr>
              <a:pPr algn="r"/>
              <a:t>32</a:t>
            </a:fld>
            <a:endParaRPr lang="en-GB" sz="1200">
              <a:latin typeface="Calibri" pitchFamily="34"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p:txBody>
          <a:bodyPr/>
          <a:lstStyle/>
          <a:p>
            <a:pPr>
              <a:spcBef>
                <a:spcPct val="0"/>
              </a:spcBef>
            </a:pPr>
            <a:r>
              <a:rPr lang="fi-FI"/>
              <a:t>Lisäksi usein nähdään tasojen tarkoittavan että tietyn tasoinen dokumentaatio testataan tietyllä tasolla – eli tiettyä kokoonpanon laajuutta vastaavat määrittelyt ja kuvaukset varmennetaan. </a:t>
            </a:r>
          </a:p>
          <a:p>
            <a:pPr>
              <a:spcBef>
                <a:spcPct val="0"/>
              </a:spcBef>
            </a:pPr>
            <a:endParaRPr lang="fi-FI"/>
          </a:p>
          <a:p>
            <a:pPr>
              <a:spcBef>
                <a:spcPct val="0"/>
              </a:spcBef>
            </a:pPr>
            <a:r>
              <a:rPr lang="fi-FI"/>
              <a:t>Yksikkötestauksessa keskitytään yksikköön, jonka toteuttaja on tehnyt. Hyväksymistestauksessa ja periaatteessa mahdollisuuksien mukaan myös järjestelmätestauksessa keskitytään koko laajuuteen – ihan koko laajuutta ei aina vaan saa ennen kuin on loppukäyttäjien ympäristössä. </a:t>
            </a:r>
          </a:p>
          <a:p>
            <a:pPr>
              <a:spcBef>
                <a:spcPct val="0"/>
              </a:spcBef>
            </a:pPr>
            <a:r>
              <a:rPr lang="fi-FI"/>
              <a:t>Ympäristöjen edustavuus näkyy yleisesti siinä että jos on useita laitteisto&amp;ohjelmistoympäristökonfiguraatioita, on tyypillistä että ne katetaan korkeammilla testaustasoilla. </a:t>
            </a:r>
          </a:p>
          <a:p>
            <a:pPr>
              <a:spcBef>
                <a:spcPct val="0"/>
              </a:spcBef>
            </a:pPr>
            <a:r>
              <a:rPr lang="fi-FI"/>
              <a:t>Lisäksi kullekin tasolle tyypillisesti tulkitaan merkityksiä siihen kuka testauksen tekee – eli niitä käytetään kuvaamaan suoraan tarvittavien testausryhmien tarvetta. Organisoida voi kuitenkin monella tavalla. </a:t>
            </a:r>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5BF0AD32-A6F0-4408-8471-B92C06BDBE54}" type="slidenum">
              <a:rPr lang="fi-FI" smtClean="0"/>
              <a:pPr/>
              <a:t>33</a:t>
            </a:fld>
            <a:endParaRPr lang="fi-FI"/>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4B1300-6A2D-4FD0-841C-EDE2203D92F9}" type="slidenum">
              <a:rPr lang="en-US"/>
              <a:pPr/>
              <a:t>34</a:t>
            </a:fld>
            <a:endParaRPr lang="en-US"/>
          </a:p>
        </p:txBody>
      </p:sp>
      <p:sp>
        <p:nvSpPr>
          <p:cNvPr id="89090" name="Rectangle 2"/>
          <p:cNvSpPr>
            <a:spLocks noGrp="1" noRot="1" noChangeAspect="1" noChangeArrowheads="1" noTextEdit="1"/>
          </p:cNvSpPr>
          <p:nvPr>
            <p:ph type="sldImg"/>
          </p:nvPr>
        </p:nvSpPr>
        <p:spPr>
          <a:ln/>
        </p:spPr>
      </p:sp>
      <p:sp>
        <p:nvSpPr>
          <p:cNvPr id="89091" name="Rectangle 3"/>
          <p:cNvSpPr>
            <a:spLocks noGrp="1" noChangeArrowheads="1"/>
          </p:cNvSpPr>
          <p:nvPr>
            <p:ph type="body" idx="1"/>
          </p:nvPr>
        </p:nvSpPr>
        <p:spPr/>
        <p:txBody>
          <a:bodyPr/>
          <a:lstStyle/>
          <a:p>
            <a:pPr>
              <a:buClr>
                <a:srgbClr val="9BBB59"/>
              </a:buClr>
              <a:buFont typeface="Wingdings 2" pitchFamily="18" charset="2"/>
              <a:buNone/>
            </a:pPr>
            <a:endParaRPr lang="en-US" sz="13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FDF8D526-BB26-42CE-AD6C-E6DBB2D3E111}" type="slidenum">
              <a:rPr lang="en-US"/>
              <a:pPr/>
              <a:t>35</a:t>
            </a:fld>
            <a:endParaRPr lang="en-US"/>
          </a:p>
        </p:txBody>
      </p:sp>
      <p:sp>
        <p:nvSpPr>
          <p:cNvPr id="81922"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CC338EFD-408B-4DAC-850F-C287BCDF8D1D}" type="slidenum">
              <a:rPr lang="en-GB" sz="1200">
                <a:latin typeface="Calibri" pitchFamily="34" charset="0"/>
              </a:rPr>
              <a:pPr algn="r"/>
              <a:t>35</a:t>
            </a:fld>
            <a:endParaRPr lang="en-GB" sz="1200">
              <a:latin typeface="Calibri" pitchFamily="34" charset="0"/>
            </a:endParaRPr>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p:txBody>
          <a:bodyPr/>
          <a:lstStyle/>
          <a:p>
            <a:pPr>
              <a:spcBef>
                <a:spcPct val="0"/>
              </a:spcBef>
            </a:pPr>
            <a:r>
              <a:rPr lang="fi-FI" sz="1000" dirty="0"/>
              <a:t>laatikot – vaiheita</a:t>
            </a:r>
          </a:p>
          <a:p>
            <a:pPr>
              <a:spcBef>
                <a:spcPct val="0"/>
              </a:spcBef>
            </a:pPr>
            <a:r>
              <a:rPr lang="fi-FI" sz="1000" dirty="0"/>
              <a:t>vaaleat laatikot – jaettuja vaiheita</a:t>
            </a:r>
          </a:p>
          <a:p>
            <a:pPr>
              <a:spcBef>
                <a:spcPct val="0"/>
              </a:spcBef>
            </a:pPr>
            <a:r>
              <a:rPr lang="fi-FI" sz="1000" dirty="0"/>
              <a:t>pallo – testauksen suunnitteluvaihe</a:t>
            </a:r>
          </a:p>
          <a:p>
            <a:pPr>
              <a:spcBef>
                <a:spcPct val="0"/>
              </a:spcBef>
            </a:pPr>
            <a:r>
              <a:rPr lang="fi-FI" sz="1000" dirty="0"/>
              <a:t>tähti – esim. suorituskykytestaus integrointitestauksessa ja varmistukset osana vielä hyväksymistestauksen suoritusta</a:t>
            </a:r>
          </a:p>
          <a:p>
            <a:pPr>
              <a:spcBef>
                <a:spcPct val="0"/>
              </a:spcBef>
            </a:pPr>
            <a:endParaRPr lang="fi-FI" sz="1000" dirty="0"/>
          </a:p>
          <a:p>
            <a:pPr>
              <a:spcBef>
                <a:spcPct val="0"/>
              </a:spcBef>
            </a:pPr>
            <a:r>
              <a:rPr lang="fi-FI" sz="1000" dirty="0"/>
              <a:t>Korosta että taso yleensä eniten kuitenkin viittaa vastuun kohdistamiseen tiettyyn ryhmään ihmisiä – tapa allokoida resursseja tavoitteisiin ryhmitellen. </a:t>
            </a:r>
            <a:endParaRPr lang="en-GB" sz="1000" dirty="0"/>
          </a:p>
          <a:p>
            <a:pPr>
              <a:spcBef>
                <a:spcPct val="0"/>
              </a:spcBef>
            </a:pPr>
            <a:endParaRPr lang="fi-FI" sz="1000" dirty="0"/>
          </a:p>
          <a:p>
            <a:pPr>
              <a:spcBef>
                <a:spcPct val="0"/>
              </a:spcBef>
            </a:pPr>
            <a:r>
              <a:rPr lang="fi-FI" sz="1000" dirty="0"/>
              <a:t>--</a:t>
            </a:r>
          </a:p>
          <a:p>
            <a:pPr>
              <a:spcBef>
                <a:spcPct val="0"/>
              </a:spcBef>
            </a:pPr>
            <a:endParaRPr lang="fi-FI" sz="1000" dirty="0"/>
          </a:p>
          <a:p>
            <a:pPr>
              <a:spcBef>
                <a:spcPct val="0"/>
              </a:spcBef>
            </a:pPr>
            <a:r>
              <a:rPr lang="fi-FI" sz="1000" dirty="0"/>
              <a:t>laatikot – vaiheita</a:t>
            </a:r>
          </a:p>
          <a:p>
            <a:pPr>
              <a:spcBef>
                <a:spcPct val="0"/>
              </a:spcBef>
            </a:pPr>
            <a:r>
              <a:rPr lang="fi-FI" sz="1000" dirty="0"/>
              <a:t>vaaleat laatikot – jaettuja vaiheita</a:t>
            </a:r>
          </a:p>
          <a:p>
            <a:pPr>
              <a:spcBef>
                <a:spcPct val="0"/>
              </a:spcBef>
            </a:pPr>
            <a:r>
              <a:rPr lang="fi-FI" sz="1000" dirty="0"/>
              <a:t>pallo – testauksen suunnitteluvaihe</a:t>
            </a:r>
          </a:p>
          <a:p>
            <a:pPr>
              <a:spcBef>
                <a:spcPct val="0"/>
              </a:spcBef>
            </a:pPr>
            <a:r>
              <a:rPr lang="fi-FI" sz="1000" dirty="0"/>
              <a:t>tähti – esim. suorituskykytestaus integrointitestauksessa ja varmistukset osana vielä hyväksymistestauksen suoritusta</a:t>
            </a:r>
          </a:p>
          <a:p>
            <a:pPr>
              <a:spcBef>
                <a:spcPct val="0"/>
              </a:spcBef>
            </a:pPr>
            <a:endParaRPr lang="fi-FI" sz="1000" dirty="0"/>
          </a:p>
          <a:p>
            <a:pPr>
              <a:spcBef>
                <a:spcPct val="0"/>
              </a:spcBef>
            </a:pPr>
            <a:r>
              <a:rPr lang="fi-FI" sz="1000" dirty="0"/>
              <a:t>Korosta että taso yleensä eniten kuitenkin viittaa vastuun kohdistamiseen tiettyyn ryhmään ihmisiä – tapa allokoida resursseja tavoitteisiin ryhmitellen. </a:t>
            </a:r>
            <a:endParaRPr lang="en-GB" sz="10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0C11BB56-02F9-49FD-BC56-FEE45359835D}" type="slidenum">
              <a:rPr lang="en-US" smtClean="0"/>
              <a:pPr/>
              <a:t>36</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0C11BB56-02F9-49FD-BC56-FEE45359835D}" type="slidenum">
              <a:rPr lang="en-US" smtClean="0"/>
              <a:pPr/>
              <a:t>37</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97448301-CC46-4343-9CF3-278EBADD52AD}" type="slidenum">
              <a:rPr lang="fi-FI" smtClean="0"/>
              <a:pPr/>
              <a:t>38</a:t>
            </a:fld>
            <a:endParaRPr lang="fi-FI"/>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B05D5106-9AFF-44F8-914F-C2FD4B6170A2}" type="slidenum">
              <a:rPr lang="en-US"/>
              <a:pPr/>
              <a:t>39</a:t>
            </a:fld>
            <a:endParaRPr lang="en-US"/>
          </a:p>
        </p:txBody>
      </p:sp>
      <p:sp>
        <p:nvSpPr>
          <p:cNvPr id="73730"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E905F74A-E6FA-4A90-8C5E-9894ACE60252}" type="slidenum">
              <a:rPr lang="en-GB" sz="1200">
                <a:latin typeface="Calibri" pitchFamily="34" charset="0"/>
              </a:rPr>
              <a:pPr algn="r"/>
              <a:t>39</a:t>
            </a:fld>
            <a:endParaRPr lang="en-GB" sz="1200">
              <a:latin typeface="Calibri" pitchFamily="34" charset="0"/>
            </a:endParaRP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p:txBody>
          <a:bodyPr/>
          <a:lstStyle/>
          <a:p>
            <a:pPr>
              <a:spcBef>
                <a:spcPct val="0"/>
              </a:spcBef>
            </a:pPr>
            <a:endParaRPr lang="fi-FI"/>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031"/>
          <p:cNvSpPr>
            <a:spLocks noGrp="1" noChangeArrowheads="1"/>
          </p:cNvSpPr>
          <p:nvPr>
            <p:ph type="sldNum" sz="quarter" idx="5"/>
          </p:nvPr>
        </p:nvSpPr>
        <p:spPr>
          <a:ln/>
        </p:spPr>
        <p:txBody>
          <a:bodyPr/>
          <a:lstStyle/>
          <a:p>
            <a:fld id="{D6176C47-0BEC-4E87-A575-A20B5E40D392}" type="slidenum">
              <a:rPr lang="en-GB"/>
              <a:pPr/>
              <a:t>40</a:t>
            </a:fld>
            <a:endParaRPr lang="en-GB"/>
          </a:p>
        </p:txBody>
      </p:sp>
      <p:sp>
        <p:nvSpPr>
          <p:cNvPr id="901122" name="Rectangle 2"/>
          <p:cNvSpPr>
            <a:spLocks noGrp="1" noRot="1" noChangeAspect="1" noChangeArrowheads="1" noTextEdit="1"/>
          </p:cNvSpPr>
          <p:nvPr>
            <p:ph type="sldImg"/>
          </p:nvPr>
        </p:nvSpPr>
        <p:spPr>
          <a:ln/>
        </p:spPr>
      </p:sp>
      <p:sp>
        <p:nvSpPr>
          <p:cNvPr id="901123" name="Rectangle 3"/>
          <p:cNvSpPr>
            <a:spLocks noGrp="1" noChangeArrowheads="1"/>
          </p:cNvSpPr>
          <p:nvPr>
            <p:ph type="body" idx="1"/>
          </p:nvPr>
        </p:nvSpPr>
        <p:spPr/>
        <p:txBody>
          <a:bodyPr/>
          <a:lstStyle/>
          <a:p>
            <a:endParaRPr lang="fi-FI"/>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97448301-CC46-4343-9CF3-278EBADD52AD}" type="slidenum">
              <a:rPr lang="fi-FI" smtClean="0"/>
              <a:pPr/>
              <a:t>41</a:t>
            </a:fld>
            <a:endParaRPr lang="fi-FI"/>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EAF18616-0066-4DB4-98C9-F5E015611863}" type="slidenum">
              <a:rPr lang="fi-FI" smtClean="0"/>
              <a:pPr/>
              <a:t>42</a:t>
            </a:fld>
            <a:endParaRPr lang="fi-FI"/>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0C11BB56-02F9-49FD-BC56-FEE45359835D}" type="slidenum">
              <a:rPr lang="en-US" smtClean="0"/>
              <a:pPr/>
              <a:t>43</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0C11BB56-02F9-49FD-BC56-FEE45359835D}" type="slidenum">
              <a:rPr lang="en-US" smtClean="0"/>
              <a:pPr/>
              <a:t>44</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C131E242-2D81-49AF-97B3-B9556616566C}" type="slidenum">
              <a:rPr lang="en-GB"/>
              <a:pPr/>
              <a:t>48</a:t>
            </a:fld>
            <a:endParaRPr lang="en-GB"/>
          </a:p>
        </p:txBody>
      </p:sp>
      <p:sp>
        <p:nvSpPr>
          <p:cNvPr id="158722" name="Rectangle 2"/>
          <p:cNvSpPr>
            <a:spLocks noGrp="1" noRot="1" noChangeAspect="1" noChangeArrowheads="1" noTextEdit="1"/>
          </p:cNvSpPr>
          <p:nvPr>
            <p:ph type="sldImg"/>
          </p:nvPr>
        </p:nvSpPr>
        <p:spPr>
          <a:ln/>
        </p:spPr>
      </p:sp>
      <p:sp>
        <p:nvSpPr>
          <p:cNvPr id="158723" name="Rectangle 3"/>
          <p:cNvSpPr>
            <a:spLocks noGrp="1" noChangeArrowheads="1"/>
          </p:cNvSpPr>
          <p:nvPr>
            <p:ph type="body" idx="1"/>
          </p:nvPr>
        </p:nvSpPr>
        <p:spPr/>
        <p:txBody>
          <a:bodyPr/>
          <a:lstStyle/>
          <a:p>
            <a:endParaRPr lang="fi-FI"/>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0C11BB56-02F9-49FD-BC56-FEE45359835D}" type="slidenum">
              <a:rPr lang="en-US" smtClean="0"/>
              <a:pPr/>
              <a:t>49</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FBD055C1-F2AA-48A2-96DA-B40142D89914}" type="slidenum">
              <a:rPr lang="en-US" smtClean="0"/>
              <a:pPr/>
              <a:t>50</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5BF0AD32-A6F0-4408-8471-B92C06BDBE54}" type="slidenum">
              <a:rPr lang="fi-FI" smtClean="0"/>
              <a:pPr/>
              <a:t>51</a:t>
            </a:fld>
            <a:endParaRPr lang="fi-FI"/>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n kuvan paikkamerkki 1"/>
          <p:cNvSpPr>
            <a:spLocks noGrp="1" noRot="1" noChangeAspect="1"/>
          </p:cNvSpPr>
          <p:nvPr>
            <p:ph type="sldImg"/>
          </p:nvPr>
        </p:nvSpPr>
        <p:spPr/>
      </p:sp>
      <p:sp>
        <p:nvSpPr>
          <p:cNvPr id="3" name="Huomautusten paikkamerkki 2"/>
          <p:cNvSpPr>
            <a:spLocks noGrp="1"/>
          </p:cNvSpPr>
          <p:nvPr>
            <p:ph type="body" idx="1"/>
          </p:nvPr>
        </p:nvSpPr>
        <p:spPr/>
        <p:txBody>
          <a:bodyPr/>
          <a:lstStyle/>
          <a:p>
            <a:endParaRPr lang="fi-FI" dirty="0"/>
          </a:p>
        </p:txBody>
      </p:sp>
      <p:sp>
        <p:nvSpPr>
          <p:cNvPr id="4" name="Dian numeron paikkamerkki 3"/>
          <p:cNvSpPr>
            <a:spLocks noGrp="1"/>
          </p:cNvSpPr>
          <p:nvPr>
            <p:ph type="sldNum" sz="quarter" idx="10"/>
          </p:nvPr>
        </p:nvSpPr>
        <p:spPr/>
        <p:txBody>
          <a:bodyPr/>
          <a:lstStyle/>
          <a:p>
            <a:fld id="{0EDA45DE-7D68-4BD2-BEF4-FDCF7B74A0D7}" type="slidenum">
              <a:rPr lang="fi-FI" smtClean="0"/>
              <a:pPr/>
              <a:t>52</a:t>
            </a:fld>
            <a:endParaRPr lang="fi-FI"/>
          </a:p>
        </p:txBody>
      </p:sp>
    </p:spTree>
    <p:extLst>
      <p:ext uri="{BB962C8B-B14F-4D97-AF65-F5344CB8AC3E}">
        <p14:creationId xmlns:p14="http://schemas.microsoft.com/office/powerpoint/2010/main" val="356615224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fi-FI" dirty="0" smtClean="0"/>
              <a:t>Ajasta pitää maksaa – toimittajan valmiudet</a:t>
            </a:r>
            <a:r>
              <a:rPr lang="fi-FI" baseline="0" dirty="0" smtClean="0"/>
              <a:t> ja tuki pidemmällä aikavälillä</a:t>
            </a:r>
          </a:p>
          <a:p>
            <a:r>
              <a:rPr lang="fi-FI" baseline="0" dirty="0" smtClean="0"/>
              <a:t>Osien toimittajien rajaukset – kenet saa kantamaan vastuun laatutiedosta kokonaisuudelle (kokoava jäte)</a:t>
            </a:r>
          </a:p>
          <a:p>
            <a:r>
              <a:rPr lang="fi-FI" baseline="0" dirty="0" smtClean="0"/>
              <a:t>Riskin siirto ajallisesti – tarve palautteelle osien toimivuudesta ennen kokonaisuutta</a:t>
            </a:r>
            <a:endParaRPr lang="fi-FI" dirty="0"/>
          </a:p>
        </p:txBody>
      </p:sp>
      <p:sp>
        <p:nvSpPr>
          <p:cNvPr id="4" name="Slide Number Placeholder 3"/>
          <p:cNvSpPr>
            <a:spLocks noGrp="1"/>
          </p:cNvSpPr>
          <p:nvPr>
            <p:ph type="sldNum" sz="quarter" idx="10"/>
          </p:nvPr>
        </p:nvSpPr>
        <p:spPr/>
        <p:txBody>
          <a:bodyPr/>
          <a:lstStyle/>
          <a:p>
            <a:fld id="{30A64DAC-1D9E-403C-B9DE-649926A54AEA}" type="slidenum">
              <a:rPr lang="fi-FI" smtClean="0"/>
              <a:pPr/>
              <a:t>53</a:t>
            </a:fld>
            <a:endParaRPr lang="fi-FI"/>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n kuvan paikkamerkki 1"/>
          <p:cNvSpPr>
            <a:spLocks noGrp="1" noRot="1" noChangeAspect="1"/>
          </p:cNvSpPr>
          <p:nvPr>
            <p:ph type="sldImg"/>
          </p:nvPr>
        </p:nvSpPr>
        <p:spPr/>
      </p:sp>
      <p:sp>
        <p:nvSpPr>
          <p:cNvPr id="3" name="Huomautusten paikkamerkki 2"/>
          <p:cNvSpPr>
            <a:spLocks noGrp="1"/>
          </p:cNvSpPr>
          <p:nvPr>
            <p:ph type="body" idx="1"/>
          </p:nvPr>
        </p:nvSpPr>
        <p:spPr/>
        <p:txBody>
          <a:bodyPr>
            <a:normAutofit/>
          </a:bodyPr>
          <a:lstStyle/>
          <a:p>
            <a:r>
              <a:rPr lang="fi-FI" dirty="0" err="1" smtClean="0"/>
              <a:t>Choosing</a:t>
            </a:r>
            <a:r>
              <a:rPr lang="fi-FI" dirty="0" smtClean="0"/>
              <a:t> the </a:t>
            </a:r>
            <a:r>
              <a:rPr lang="fi-FI" dirty="0" err="1" smtClean="0"/>
              <a:t>right</a:t>
            </a:r>
            <a:r>
              <a:rPr lang="fi-FI" dirty="0" smtClean="0"/>
              <a:t> </a:t>
            </a:r>
            <a:r>
              <a:rPr lang="fi-FI" dirty="0" err="1" smtClean="0"/>
              <a:t>kind</a:t>
            </a:r>
            <a:r>
              <a:rPr lang="fi-FI" dirty="0" smtClean="0"/>
              <a:t> of </a:t>
            </a:r>
            <a:r>
              <a:rPr lang="fi-FI" dirty="0" err="1" smtClean="0"/>
              <a:t>quality</a:t>
            </a:r>
            <a:r>
              <a:rPr lang="fi-FI" dirty="0" smtClean="0"/>
              <a:t> – </a:t>
            </a:r>
            <a:r>
              <a:rPr lang="fi-FI" dirty="0" err="1" smtClean="0"/>
              <a:t>not</a:t>
            </a:r>
            <a:r>
              <a:rPr lang="fi-FI" dirty="0" smtClean="0"/>
              <a:t> </a:t>
            </a:r>
            <a:r>
              <a:rPr lang="fi-FI" dirty="0" err="1" smtClean="0"/>
              <a:t>all</a:t>
            </a:r>
            <a:r>
              <a:rPr lang="fi-FI" dirty="0" smtClean="0"/>
              <a:t> </a:t>
            </a:r>
            <a:r>
              <a:rPr lang="fi-FI" dirty="0" err="1" smtClean="0"/>
              <a:t>functionalities</a:t>
            </a:r>
            <a:r>
              <a:rPr lang="fi-FI" dirty="0" smtClean="0"/>
              <a:t> </a:t>
            </a:r>
            <a:r>
              <a:rPr lang="fi-FI" dirty="0" err="1" smtClean="0"/>
              <a:t>have</a:t>
            </a:r>
            <a:r>
              <a:rPr lang="fi-FI" dirty="0" smtClean="0"/>
              <a:t> </a:t>
            </a:r>
            <a:r>
              <a:rPr lang="fi-FI" dirty="0" err="1" smtClean="0"/>
              <a:t>impact</a:t>
            </a:r>
            <a:r>
              <a:rPr lang="fi-FI" baseline="0" dirty="0" smtClean="0"/>
              <a:t> on </a:t>
            </a:r>
            <a:r>
              <a:rPr lang="fi-FI" baseline="0" dirty="0" err="1" smtClean="0"/>
              <a:t>success</a:t>
            </a:r>
            <a:r>
              <a:rPr lang="fi-FI" baseline="0" dirty="0" smtClean="0"/>
              <a:t>. </a:t>
            </a:r>
            <a:r>
              <a:rPr lang="fi-FI" baseline="0" dirty="0" err="1" smtClean="0"/>
              <a:t>Caring</a:t>
            </a:r>
            <a:r>
              <a:rPr lang="fi-FI" baseline="0" dirty="0" smtClean="0"/>
              <a:t> for the </a:t>
            </a:r>
            <a:r>
              <a:rPr lang="fi-FI" baseline="0" dirty="0" err="1" smtClean="0"/>
              <a:t>success</a:t>
            </a:r>
            <a:r>
              <a:rPr lang="fi-FI" baseline="0" dirty="0" smtClean="0"/>
              <a:t> of the </a:t>
            </a:r>
            <a:r>
              <a:rPr lang="fi-FI" baseline="0" dirty="0" err="1" smtClean="0"/>
              <a:t>product</a:t>
            </a:r>
            <a:r>
              <a:rPr lang="fi-FI" baseline="0" dirty="0" smtClean="0"/>
              <a:t> (</a:t>
            </a:r>
            <a:r>
              <a:rPr lang="fi-FI" baseline="0" dirty="0" err="1" smtClean="0"/>
              <a:t>higher</a:t>
            </a:r>
            <a:r>
              <a:rPr lang="fi-FI" baseline="0" dirty="0" smtClean="0"/>
              <a:t> </a:t>
            </a:r>
            <a:r>
              <a:rPr lang="fi-FI" baseline="0" dirty="0" err="1" smtClean="0"/>
              <a:t>layers</a:t>
            </a:r>
            <a:r>
              <a:rPr lang="fi-FI" baseline="0" smtClean="0"/>
              <a:t>), </a:t>
            </a:r>
            <a:r>
              <a:rPr lang="fi-FI" baseline="0" dirty="0" err="1" smtClean="0"/>
              <a:t>not</a:t>
            </a:r>
            <a:r>
              <a:rPr lang="fi-FI" baseline="0" dirty="0" smtClean="0"/>
              <a:t> just </a:t>
            </a:r>
            <a:r>
              <a:rPr lang="fi-FI" baseline="0" dirty="0" err="1" smtClean="0"/>
              <a:t>success</a:t>
            </a:r>
            <a:r>
              <a:rPr lang="fi-FI" baseline="0" dirty="0" smtClean="0"/>
              <a:t> of </a:t>
            </a:r>
            <a:r>
              <a:rPr lang="fi-FI" baseline="0" dirty="0" err="1" smtClean="0"/>
              <a:t>testing</a:t>
            </a:r>
            <a:r>
              <a:rPr lang="fi-FI" baseline="0" dirty="0" smtClean="0"/>
              <a:t> (</a:t>
            </a:r>
            <a:r>
              <a:rPr lang="fi-FI" baseline="0" dirty="0" err="1" smtClean="0"/>
              <a:t>lower</a:t>
            </a:r>
            <a:r>
              <a:rPr lang="fi-FI" baseline="0" dirty="0" smtClean="0"/>
              <a:t> </a:t>
            </a:r>
            <a:r>
              <a:rPr lang="fi-FI" baseline="0" dirty="0" err="1" smtClean="0"/>
              <a:t>layers</a:t>
            </a:r>
            <a:r>
              <a:rPr lang="fi-FI" baseline="0" dirty="0" smtClean="0"/>
              <a:t>)</a:t>
            </a:r>
            <a:endParaRPr lang="en-US" dirty="0"/>
          </a:p>
        </p:txBody>
      </p:sp>
      <p:sp>
        <p:nvSpPr>
          <p:cNvPr id="4" name="Dian numeron paikkamerkki 3"/>
          <p:cNvSpPr>
            <a:spLocks noGrp="1"/>
          </p:cNvSpPr>
          <p:nvPr>
            <p:ph type="sldNum" sz="quarter" idx="10"/>
          </p:nvPr>
        </p:nvSpPr>
        <p:spPr/>
        <p:txBody>
          <a:bodyPr/>
          <a:lstStyle/>
          <a:p>
            <a:pPr>
              <a:defRPr/>
            </a:pPr>
            <a:fld id="{CCE70F74-C7D7-4E88-B5D1-B34E9F359E4F}" type="slidenum">
              <a:rPr lang="en-US" smtClean="0"/>
              <a:pPr>
                <a:defRPr/>
              </a:pPr>
              <a:t>56</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8AB89F2B-1AC2-4FBF-AD55-B6B73A9E71E1}" type="slidenum">
              <a:rPr lang="en-US" smtClean="0"/>
              <a:pPr/>
              <a:t>57</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AU">
                <a:solidFill>
                  <a:schemeClr val="bg2"/>
                </a:solidFill>
              </a:rPr>
              <a:t>Copyright </a:t>
            </a:r>
            <a:r>
              <a:rPr lang="en-GB">
                <a:solidFill>
                  <a:schemeClr val="bg2"/>
                </a:solidFill>
              </a:rPr>
              <a:t>© 200</a:t>
            </a:r>
            <a:r>
              <a:rPr lang="fi-FI">
                <a:solidFill>
                  <a:schemeClr val="bg2"/>
                </a:solidFill>
              </a:rPr>
              <a:t>4 </a:t>
            </a:r>
            <a:r>
              <a:rPr lang="en-GB">
                <a:solidFill>
                  <a:schemeClr val="bg2"/>
                </a:solidFill>
              </a:rPr>
              <a:t>F-Secure Corporation. All rights reserved. </a:t>
            </a:r>
            <a:br>
              <a:rPr lang="en-GB">
                <a:solidFill>
                  <a:schemeClr val="bg2"/>
                </a:solidFill>
              </a:rPr>
            </a:br>
            <a:r>
              <a:rPr lang="en-AU">
                <a:solidFill>
                  <a:schemeClr val="bg2"/>
                </a:solidFill>
              </a:rPr>
              <a:t>Finland | France | Germany | Japan | Sweden | United Kingdom |  </a:t>
            </a:r>
            <a:r>
              <a:rPr lang="en-GB"/>
              <a:t>USA</a:t>
            </a:r>
            <a:endParaRPr lang="fi-FI"/>
          </a:p>
          <a:p>
            <a:r>
              <a:rPr lang="en-GB"/>
              <a:t>Tel. +358 9 2520 0700 | info@f-secure.com |</a:t>
            </a:r>
            <a:r>
              <a:rPr lang="fi-FI"/>
              <a:t> </a:t>
            </a:r>
            <a:r>
              <a:rPr lang="en-GB"/>
              <a:t>www.f-secure.com</a:t>
            </a:r>
          </a:p>
        </p:txBody>
      </p:sp>
      <p:sp>
        <p:nvSpPr>
          <p:cNvPr id="6" name="Rectangle 7"/>
          <p:cNvSpPr>
            <a:spLocks noGrp="1" noChangeArrowheads="1"/>
          </p:cNvSpPr>
          <p:nvPr>
            <p:ph type="sldNum" sz="quarter" idx="5"/>
          </p:nvPr>
        </p:nvSpPr>
        <p:spPr>
          <a:ln/>
        </p:spPr>
        <p:txBody>
          <a:bodyPr/>
          <a:lstStyle/>
          <a:p>
            <a:fld id="{466DB198-2C3F-4F32-A1B6-EE2EE3939473}" type="slidenum">
              <a:rPr lang="en-GB"/>
              <a:pPr/>
              <a:t>58</a:t>
            </a:fld>
            <a:endParaRPr lang="en-GB"/>
          </a:p>
        </p:txBody>
      </p:sp>
      <p:sp>
        <p:nvSpPr>
          <p:cNvPr id="586754" name="Rectangle 2"/>
          <p:cNvSpPr>
            <a:spLocks noGrp="1" noRot="1" noChangeAspect="1" noChangeArrowheads="1" noTextEdit="1"/>
          </p:cNvSpPr>
          <p:nvPr>
            <p:ph type="sldImg"/>
          </p:nvPr>
        </p:nvSpPr>
        <p:spPr>
          <a:ln/>
        </p:spPr>
      </p:sp>
      <p:sp>
        <p:nvSpPr>
          <p:cNvPr id="586755" name="Rectangle 3"/>
          <p:cNvSpPr>
            <a:spLocks noGrp="1" noChangeArrowheads="1"/>
          </p:cNvSpPr>
          <p:nvPr>
            <p:ph type="body" idx="1"/>
          </p:nvPr>
        </p:nvSpPr>
        <p:spPr/>
        <p:txBody>
          <a:bodyPr/>
          <a:lstStyle/>
          <a:p>
            <a:r>
              <a:rPr lang="fi-FI"/>
              <a:t>Kuormitustestauksen tyyppejä:</a:t>
            </a:r>
          </a:p>
          <a:p>
            <a:pPr lvl="1"/>
            <a:r>
              <a:rPr lang="fi-FI"/>
              <a:t>Rinnakkaisuustestaus</a:t>
            </a:r>
          </a:p>
          <a:p>
            <a:pPr lvl="1"/>
            <a:r>
              <a:rPr lang="fi-FI"/>
              <a:t>Tietomäärätestaus</a:t>
            </a:r>
          </a:p>
          <a:p>
            <a:pPr lvl="1"/>
            <a:r>
              <a:rPr lang="fi-FI"/>
              <a:t>Rasitustestaus</a:t>
            </a:r>
          </a:p>
          <a:p>
            <a:pPr lvl="1"/>
            <a:r>
              <a:rPr lang="fi-FI"/>
              <a:t>Luotettavuustestaus</a:t>
            </a:r>
          </a:p>
          <a:p>
            <a:pPr lvl="1"/>
            <a:r>
              <a:rPr lang="fi-FI"/>
              <a:t>Vasteaikatestaus</a:t>
            </a:r>
          </a:p>
          <a:p>
            <a:pPr lvl="1"/>
            <a:r>
              <a:rPr lang="fi-FI"/>
              <a:t>Kuormitustestausta kutsutaan myös suorituskykytestaukseksi</a:t>
            </a:r>
            <a:endParaRPr lang="en-GB"/>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031"/>
          <p:cNvSpPr>
            <a:spLocks noGrp="1" noChangeArrowheads="1"/>
          </p:cNvSpPr>
          <p:nvPr>
            <p:ph type="sldNum" sz="quarter" idx="5"/>
          </p:nvPr>
        </p:nvSpPr>
        <p:spPr>
          <a:noFill/>
        </p:spPr>
        <p:txBody>
          <a:bodyPr/>
          <a:lstStyle/>
          <a:p>
            <a:fld id="{302BB3CA-9624-4627-83F5-5250124657E5}" type="slidenum">
              <a:rPr lang="en-GB"/>
              <a:pPr/>
              <a:t>59</a:t>
            </a:fld>
            <a:endParaRPr lang="en-GB"/>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eaLnBrk="1" hangingPunct="1"/>
            <a:endParaRPr lang="fi-FI"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60</a:t>
            </a:fld>
            <a:endParaRPr lang="fi-FI"/>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61</a:t>
            </a:fld>
            <a:endParaRPr lang="fi-FI"/>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63</a:t>
            </a:fld>
            <a:endParaRPr lang="fi-FI"/>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AU">
                <a:solidFill>
                  <a:schemeClr val="bg2"/>
                </a:solidFill>
              </a:rPr>
              <a:t>Copyright </a:t>
            </a:r>
            <a:r>
              <a:rPr lang="en-GB">
                <a:solidFill>
                  <a:schemeClr val="bg2"/>
                </a:solidFill>
              </a:rPr>
              <a:t>© 200</a:t>
            </a:r>
            <a:r>
              <a:rPr lang="fi-FI">
                <a:solidFill>
                  <a:schemeClr val="bg2"/>
                </a:solidFill>
              </a:rPr>
              <a:t>4 </a:t>
            </a:r>
            <a:r>
              <a:rPr lang="en-GB">
                <a:solidFill>
                  <a:schemeClr val="bg2"/>
                </a:solidFill>
              </a:rPr>
              <a:t>F-Secure Corporation. All rights reserved. </a:t>
            </a:r>
            <a:br>
              <a:rPr lang="en-GB">
                <a:solidFill>
                  <a:schemeClr val="bg2"/>
                </a:solidFill>
              </a:rPr>
            </a:br>
            <a:r>
              <a:rPr lang="en-AU">
                <a:solidFill>
                  <a:schemeClr val="bg2"/>
                </a:solidFill>
              </a:rPr>
              <a:t>Finland | France | Germany | Japan | Sweden | United Kingdom |  </a:t>
            </a:r>
            <a:r>
              <a:rPr lang="en-GB"/>
              <a:t>USA</a:t>
            </a:r>
            <a:endParaRPr lang="fi-FI"/>
          </a:p>
          <a:p>
            <a:r>
              <a:rPr lang="en-GB"/>
              <a:t>Tel. +358 9 2520 0700 | info@f-secure.com |</a:t>
            </a:r>
            <a:r>
              <a:rPr lang="fi-FI"/>
              <a:t> </a:t>
            </a:r>
            <a:r>
              <a:rPr lang="en-GB"/>
              <a:t>www.f-secure.com</a:t>
            </a:r>
          </a:p>
        </p:txBody>
      </p:sp>
      <p:sp>
        <p:nvSpPr>
          <p:cNvPr id="6" name="Rectangle 7"/>
          <p:cNvSpPr>
            <a:spLocks noGrp="1" noChangeArrowheads="1"/>
          </p:cNvSpPr>
          <p:nvPr>
            <p:ph type="sldNum" sz="quarter" idx="5"/>
          </p:nvPr>
        </p:nvSpPr>
        <p:spPr>
          <a:ln/>
        </p:spPr>
        <p:txBody>
          <a:bodyPr/>
          <a:lstStyle/>
          <a:p>
            <a:fld id="{18F0DC2B-EA89-4738-9B8A-11E4F9E754A0}" type="slidenum">
              <a:rPr lang="en-GB"/>
              <a:pPr/>
              <a:t>64</a:t>
            </a:fld>
            <a:endParaRPr lang="en-GB"/>
          </a:p>
        </p:txBody>
      </p:sp>
      <p:sp>
        <p:nvSpPr>
          <p:cNvPr id="177154" name="Rectangle 2"/>
          <p:cNvSpPr>
            <a:spLocks noGrp="1" noRot="1" noChangeAspect="1" noChangeArrowheads="1" noTextEdit="1"/>
          </p:cNvSpPr>
          <p:nvPr>
            <p:ph type="sldImg"/>
          </p:nvPr>
        </p:nvSpPr>
        <p:spPr>
          <a:ln/>
        </p:spPr>
      </p:sp>
      <p:sp>
        <p:nvSpPr>
          <p:cNvPr id="177155" name="Rectangle 3"/>
          <p:cNvSpPr>
            <a:spLocks noGrp="1" noChangeArrowheads="1"/>
          </p:cNvSpPr>
          <p:nvPr>
            <p:ph type="body" idx="1"/>
          </p:nvPr>
        </p:nvSpPr>
        <p:spPr>
          <a:xfrm>
            <a:off x="685800" y="4343400"/>
            <a:ext cx="5486400" cy="4114800"/>
          </a:xfrm>
        </p:spPr>
        <p:txBody>
          <a:bodyPr/>
          <a:lstStyle/>
          <a:p>
            <a:r>
              <a:rPr lang="fi-FI"/>
              <a:t>Mieti riskin allokointia – kuvaako toiminnallinen/ei-toiminnallinen </a:t>
            </a:r>
          </a:p>
          <a:p>
            <a:r>
              <a:rPr lang="fi-FI"/>
              <a:t>Mukaillen Haikalaa...</a:t>
            </a:r>
          </a:p>
          <a:p>
            <a:r>
              <a:rPr lang="fi-FI"/>
              <a:t>Joidenkin virheiden korjaaminen on vaikeampaa myöhään. Sen tyyppiset asiat siksi pitääkin toteuttaa konkretiaan aikaisin. Ja usein vaan tuppaa olemaan että ne kalliit jutut on monelta osin ei-toiminnallisia. </a:t>
            </a:r>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65</a:t>
            </a:fld>
            <a:endParaRPr lang="fi-FI"/>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66</a:t>
            </a:fld>
            <a:endParaRPr lang="fi-FI"/>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97448301-CC46-4343-9CF3-278EBADD52AD}" type="slidenum">
              <a:rPr lang="fi-FI" smtClean="0"/>
              <a:pPr/>
              <a:t>67</a:t>
            </a:fld>
            <a:endParaRPr lang="fi-FI"/>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68</a:t>
            </a:fld>
            <a:endParaRPr lang="fi-FI"/>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97448301-CC46-4343-9CF3-278EBADD52AD}" type="slidenum">
              <a:rPr lang="fi-FI" smtClean="0"/>
              <a:pPr/>
              <a:t>69</a:t>
            </a:fld>
            <a:endParaRPr lang="fi-FI"/>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8AB89F2B-1AC2-4FBF-AD55-B6B73A9E71E1}" type="slidenum">
              <a:rPr lang="en-US" smtClean="0"/>
              <a:pPr/>
              <a:t>70</a:t>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8AB89F2B-1AC2-4FBF-AD55-B6B73A9E71E1}" type="slidenum">
              <a:rPr lang="en-US" smtClean="0"/>
              <a:pPr/>
              <a:t>71</a:t>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3A039C6F-CB39-45E5-AE72-DDF99195C3E9}" type="slidenum">
              <a:rPr lang="fi-FI" smtClean="0"/>
              <a:pPr/>
              <a:t>72</a:t>
            </a:fld>
            <a:endParaRPr lang="fi-FI"/>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3A039C6F-CB39-45E5-AE72-DDF99195C3E9}" type="slidenum">
              <a:rPr lang="fi-FI" smtClean="0"/>
              <a:pPr/>
              <a:t>73</a:t>
            </a:fld>
            <a:endParaRPr lang="fi-FI"/>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3A039C6F-CB39-45E5-AE72-DDF99195C3E9}" type="slidenum">
              <a:rPr lang="fi-FI" smtClean="0"/>
              <a:pPr/>
              <a:t>74</a:t>
            </a:fld>
            <a:endParaRPr lang="fi-FI"/>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3A039C6F-CB39-45E5-AE72-DDF99195C3E9}" type="slidenum">
              <a:rPr lang="fi-FI" smtClean="0"/>
              <a:pPr/>
              <a:t>75</a:t>
            </a:fld>
            <a:endParaRPr lang="fi-FI"/>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3A039C6F-CB39-45E5-AE72-DDF99195C3E9}" type="slidenum">
              <a:rPr lang="fi-FI" smtClean="0"/>
              <a:pPr/>
              <a:t>76</a:t>
            </a:fld>
            <a:endParaRPr lang="fi-FI"/>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77</a:t>
            </a:fld>
            <a:endParaRPr lang="fi-FI"/>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CD98894-26EB-4FFE-8770-E04F166E85DE}" type="slidenum">
              <a:rPr lang="en-US" smtClean="0"/>
              <a:pPr/>
              <a:t>82</a:t>
            </a:fld>
            <a:endParaRPr lang="en-US"/>
          </a:p>
        </p:txBody>
      </p:sp>
    </p:spTree>
    <p:extLst>
      <p:ext uri="{BB962C8B-B14F-4D97-AF65-F5344CB8AC3E}">
        <p14:creationId xmlns:p14="http://schemas.microsoft.com/office/powerpoint/2010/main" val="115369608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8D5CF7E-467B-475A-8DC3-F93DC30F01CE}" type="slidenum">
              <a:rPr lang="en-US" smtClean="0"/>
              <a:pPr/>
              <a:t>86</a:t>
            </a:fld>
            <a:endParaRPr lang="en-US"/>
          </a:p>
        </p:txBody>
      </p:sp>
    </p:spTree>
    <p:extLst>
      <p:ext uri="{BB962C8B-B14F-4D97-AF65-F5344CB8AC3E}">
        <p14:creationId xmlns:p14="http://schemas.microsoft.com/office/powerpoint/2010/main" val="362043336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8D5CF7E-467B-475A-8DC3-F93DC30F01CE}" type="slidenum">
              <a:rPr lang="en-US" smtClean="0"/>
              <a:pPr/>
              <a:t>90</a:t>
            </a:fld>
            <a:endParaRPr lang="en-US"/>
          </a:p>
        </p:txBody>
      </p:sp>
    </p:spTree>
    <p:extLst>
      <p:ext uri="{BB962C8B-B14F-4D97-AF65-F5344CB8AC3E}">
        <p14:creationId xmlns:p14="http://schemas.microsoft.com/office/powerpoint/2010/main" val="123712985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n kuvan paikkamerkki 1"/>
          <p:cNvSpPr>
            <a:spLocks noGrp="1" noRot="1" noChangeAspect="1"/>
          </p:cNvSpPr>
          <p:nvPr>
            <p:ph type="sldImg"/>
          </p:nvPr>
        </p:nvSpPr>
        <p:spPr/>
      </p:sp>
      <p:sp>
        <p:nvSpPr>
          <p:cNvPr id="3" name="Huomautusten paikkamerkki 2"/>
          <p:cNvSpPr>
            <a:spLocks noGrp="1"/>
          </p:cNvSpPr>
          <p:nvPr>
            <p:ph type="body" idx="1"/>
          </p:nvPr>
        </p:nvSpPr>
        <p:spPr/>
        <p:txBody>
          <a:bodyPr/>
          <a:lstStyle/>
          <a:p>
            <a:endParaRPr lang="fi-FI" dirty="0"/>
          </a:p>
        </p:txBody>
      </p:sp>
      <p:sp>
        <p:nvSpPr>
          <p:cNvPr id="4" name="Dian numeron paikkamerkki 3"/>
          <p:cNvSpPr>
            <a:spLocks noGrp="1"/>
          </p:cNvSpPr>
          <p:nvPr>
            <p:ph type="sldNum" sz="quarter" idx="10"/>
          </p:nvPr>
        </p:nvSpPr>
        <p:spPr/>
        <p:txBody>
          <a:bodyPr/>
          <a:lstStyle/>
          <a:p>
            <a:fld id="{C9135113-3ACC-444C-B1CA-A8D2959BBCF7}" type="slidenum">
              <a:rPr lang="fi-FI" smtClean="0"/>
              <a:pPr/>
              <a:t>91</a:t>
            </a:fld>
            <a:endParaRPr lang="fi-FI"/>
          </a:p>
        </p:txBody>
      </p:sp>
    </p:spTree>
    <p:extLst>
      <p:ext uri="{BB962C8B-B14F-4D97-AF65-F5344CB8AC3E}">
        <p14:creationId xmlns:p14="http://schemas.microsoft.com/office/powerpoint/2010/main" val="329597807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n kuvan paikkamerkki 1"/>
          <p:cNvSpPr>
            <a:spLocks noGrp="1" noRot="1" noChangeAspect="1"/>
          </p:cNvSpPr>
          <p:nvPr>
            <p:ph type="sldImg"/>
          </p:nvPr>
        </p:nvSpPr>
        <p:spPr/>
      </p:sp>
      <p:sp>
        <p:nvSpPr>
          <p:cNvPr id="3" name="Huomautusten paikkamerkki 2"/>
          <p:cNvSpPr>
            <a:spLocks noGrp="1"/>
          </p:cNvSpPr>
          <p:nvPr>
            <p:ph type="body" idx="1"/>
          </p:nvPr>
        </p:nvSpPr>
        <p:spPr/>
        <p:txBody>
          <a:bodyPr/>
          <a:lstStyle/>
          <a:p>
            <a:endParaRPr lang="fi-FI" dirty="0"/>
          </a:p>
        </p:txBody>
      </p:sp>
      <p:sp>
        <p:nvSpPr>
          <p:cNvPr id="4" name="Dian numeron paikkamerkki 3"/>
          <p:cNvSpPr>
            <a:spLocks noGrp="1"/>
          </p:cNvSpPr>
          <p:nvPr>
            <p:ph type="sldNum" sz="quarter" idx="10"/>
          </p:nvPr>
        </p:nvSpPr>
        <p:spPr/>
        <p:txBody>
          <a:bodyPr/>
          <a:lstStyle/>
          <a:p>
            <a:fld id="{C9135113-3ACC-444C-B1CA-A8D2959BBCF7}" type="slidenum">
              <a:rPr lang="fi-FI" smtClean="0"/>
              <a:pPr/>
              <a:t>92</a:t>
            </a:fld>
            <a:endParaRPr lang="fi-FI"/>
          </a:p>
        </p:txBody>
      </p:sp>
    </p:spTree>
    <p:extLst>
      <p:ext uri="{BB962C8B-B14F-4D97-AF65-F5344CB8AC3E}">
        <p14:creationId xmlns:p14="http://schemas.microsoft.com/office/powerpoint/2010/main" val="335754394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A7726435-F428-4577-9E52-71398ACFEEAA}" type="slidenum">
              <a:rPr lang="en-US"/>
              <a:pPr/>
              <a:t>93</a:t>
            </a:fld>
            <a:endParaRPr lang="en-US"/>
          </a:p>
        </p:txBody>
      </p:sp>
      <p:sp>
        <p:nvSpPr>
          <p:cNvPr id="5122" name="Slide Image Placeholder 1"/>
          <p:cNvSpPr>
            <a:spLocks noGrp="1" noRot="1" noChangeAspect="1" noTextEdit="1"/>
          </p:cNvSpPr>
          <p:nvPr>
            <p:ph type="sldImg"/>
          </p:nvPr>
        </p:nvSpPr>
        <p:spPr>
          <a:ln/>
        </p:spPr>
      </p:sp>
      <p:sp>
        <p:nvSpPr>
          <p:cNvPr id="5123" name="Notes Placeholder 2"/>
          <p:cNvSpPr>
            <a:spLocks noGrp="1"/>
          </p:cNvSpPr>
          <p:nvPr>
            <p:ph type="body" idx="1"/>
          </p:nvPr>
        </p:nvSpPr>
        <p:spPr/>
        <p:txBody>
          <a:bodyPr/>
          <a:lstStyle/>
          <a:p>
            <a:pPr>
              <a:spcBef>
                <a:spcPct val="0"/>
              </a:spcBef>
            </a:pPr>
            <a:endParaRPr lang="fi-FI"/>
          </a:p>
        </p:txBody>
      </p:sp>
      <p:sp>
        <p:nvSpPr>
          <p:cNvPr id="5124"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47ADD1B6-29B1-4B60-BB70-D3775C3574A2}" type="slidenum">
              <a:rPr lang="en-US" sz="1200">
                <a:latin typeface="Calibri" pitchFamily="34" charset="0"/>
              </a:rPr>
              <a:pPr algn="r"/>
              <a:t>93</a:t>
            </a:fld>
            <a:endParaRPr lang="en-US" sz="1200">
              <a:latin typeface="Calibri" pitchFamily="34"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8D5CF7E-467B-475A-8DC3-F93DC30F01CE}" type="slidenum">
              <a:rPr lang="en-US" smtClean="0"/>
              <a:pPr/>
              <a:t>94</a:t>
            </a:fld>
            <a:endParaRPr lang="en-US"/>
          </a:p>
        </p:txBody>
      </p:sp>
    </p:spTree>
    <p:extLst>
      <p:ext uri="{BB962C8B-B14F-4D97-AF65-F5344CB8AC3E}">
        <p14:creationId xmlns:p14="http://schemas.microsoft.com/office/powerpoint/2010/main" val="4522656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106</a:t>
            </a:fld>
            <a:endParaRPr lang="fi-FI"/>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107</a:t>
            </a:fld>
            <a:endParaRPr lang="fi-FI"/>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108</a:t>
            </a:fld>
            <a:endParaRPr lang="fi-FI"/>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p:spPr>
        <p:txBody>
          <a:bodyPr/>
          <a:lstStyle/>
          <a:p>
            <a:fld id="{A462D962-4245-4749-AE96-6739AA920F3F}" type="slidenum">
              <a:rPr lang="en-GB"/>
              <a:pPr/>
              <a:t>109</a:t>
            </a:fld>
            <a:endParaRPr lang="en-GB"/>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p>
            <a:fld id="{E6061FB5-EE9B-471C-AEAC-5B27DEEDDFB2}" type="slidenum">
              <a:rPr lang="en-GB"/>
              <a:pPr/>
              <a:t>110</a:t>
            </a:fld>
            <a:endParaRPr lang="en-GB"/>
          </a:p>
        </p:txBody>
      </p:sp>
      <p:sp>
        <p:nvSpPr>
          <p:cNvPr id="7171" name="Rectangle 2"/>
          <p:cNvSpPr>
            <a:spLocks noGrp="1" noRot="1" noChangeAspect="1" noChangeArrowheads="1" noTextEdit="1"/>
          </p:cNvSpPr>
          <p:nvPr>
            <p:ph type="sldImg"/>
          </p:nvPr>
        </p:nvSpPr>
        <p:spPr>
          <a:ln/>
        </p:spPr>
      </p:sp>
      <p:sp>
        <p:nvSpPr>
          <p:cNvPr id="7172"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AU">
                <a:solidFill>
                  <a:schemeClr val="bg2"/>
                </a:solidFill>
              </a:rPr>
              <a:t>Copyright </a:t>
            </a:r>
            <a:r>
              <a:rPr lang="en-GB">
                <a:solidFill>
                  <a:schemeClr val="bg2"/>
                </a:solidFill>
              </a:rPr>
              <a:t>© 200</a:t>
            </a:r>
            <a:r>
              <a:rPr lang="fi-FI">
                <a:solidFill>
                  <a:schemeClr val="bg2"/>
                </a:solidFill>
              </a:rPr>
              <a:t>4 </a:t>
            </a:r>
            <a:r>
              <a:rPr lang="en-GB">
                <a:solidFill>
                  <a:schemeClr val="bg2"/>
                </a:solidFill>
              </a:rPr>
              <a:t>F-Secure Corporation. All rights reserved. </a:t>
            </a:r>
            <a:br>
              <a:rPr lang="en-GB">
                <a:solidFill>
                  <a:schemeClr val="bg2"/>
                </a:solidFill>
              </a:rPr>
            </a:br>
            <a:r>
              <a:rPr lang="en-AU">
                <a:solidFill>
                  <a:schemeClr val="bg2"/>
                </a:solidFill>
              </a:rPr>
              <a:t>Finland | France | Germany | Japan | Sweden | United Kingdom |  </a:t>
            </a:r>
            <a:r>
              <a:rPr lang="en-GB"/>
              <a:t>USA</a:t>
            </a:r>
            <a:endParaRPr lang="fi-FI"/>
          </a:p>
          <a:p>
            <a:r>
              <a:rPr lang="en-GB"/>
              <a:t>Tel. +358 9 2520 0700 | info@f-secure.com |</a:t>
            </a:r>
            <a:r>
              <a:rPr lang="fi-FI"/>
              <a:t> </a:t>
            </a:r>
            <a:r>
              <a:rPr lang="en-GB"/>
              <a:t>www.f-secure.com</a:t>
            </a:r>
          </a:p>
        </p:txBody>
      </p:sp>
      <p:sp>
        <p:nvSpPr>
          <p:cNvPr id="6" name="Rectangle 7"/>
          <p:cNvSpPr>
            <a:spLocks noGrp="1" noChangeArrowheads="1"/>
          </p:cNvSpPr>
          <p:nvPr>
            <p:ph type="sldNum" sz="quarter" idx="5"/>
          </p:nvPr>
        </p:nvSpPr>
        <p:spPr>
          <a:ln/>
        </p:spPr>
        <p:txBody>
          <a:bodyPr/>
          <a:lstStyle/>
          <a:p>
            <a:fld id="{B353A0C8-904D-4997-816F-8EAEAF909CE5}" type="slidenum">
              <a:rPr lang="en-GB"/>
              <a:pPr/>
              <a:t>111</a:t>
            </a:fld>
            <a:endParaRPr lang="en-GB"/>
          </a:p>
        </p:txBody>
      </p:sp>
      <p:sp>
        <p:nvSpPr>
          <p:cNvPr id="29698" name="Rectangle 2"/>
          <p:cNvSpPr>
            <a:spLocks noGrp="1" noRot="1" noChangeAspect="1" noChangeArrowheads="1" noTextEdit="1"/>
          </p:cNvSpPr>
          <p:nvPr>
            <p:ph type="sldImg"/>
          </p:nvPr>
        </p:nvSpPr>
        <p:spPr>
          <a:ln/>
        </p:spPr>
      </p:sp>
      <p:sp>
        <p:nvSpPr>
          <p:cNvPr id="29699" name="Rectangle 3"/>
          <p:cNvSpPr>
            <a:spLocks noGrp="1" noChangeArrowheads="1"/>
          </p:cNvSpPr>
          <p:nvPr>
            <p:ph type="body" idx="1"/>
          </p:nvPr>
        </p:nvSpPr>
        <p:spPr/>
        <p:txBody>
          <a:bodyPr/>
          <a:lstStyle/>
          <a:p>
            <a:pPr>
              <a:buFontTx/>
              <a:buChar char="•"/>
            </a:pPr>
            <a:r>
              <a:rPr lang="fi-FI"/>
              <a:t>Mukailtu TMapista</a:t>
            </a:r>
            <a:endParaRPr lang="en-GB"/>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F7605772-E28D-4706-97E6-FEE12111F296}" type="slidenum">
              <a:rPr lang="fi-FI" smtClean="0"/>
              <a:pPr/>
              <a:t>112</a:t>
            </a:fld>
            <a:endParaRPr lang="fi-FI"/>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8E423366-792E-466C-B8B4-E038D2C29C10}" type="slidenum">
              <a:rPr lang="fi-FI" smtClean="0"/>
              <a:pPr/>
              <a:t>113</a:t>
            </a:fld>
            <a:endParaRPr lang="fi-FI"/>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114</a:t>
            </a:fld>
            <a:endParaRPr lang="fi-FI"/>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115</a:t>
            </a:fld>
            <a:endParaRPr lang="fi-FI"/>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116</a:t>
            </a:fld>
            <a:endParaRPr lang="fi-FI"/>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117</a:t>
            </a:fld>
            <a:endParaRPr lang="fi-FI"/>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118</a:t>
            </a:fld>
            <a:endParaRPr lang="fi-FI"/>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119</a:t>
            </a:fld>
            <a:endParaRPr lang="fi-FI"/>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E9A0D27A-A794-42D6-8F5C-25D71E8A9B8C}" type="slidenum">
              <a:rPr lang="fi-FI" smtClean="0"/>
              <a:pPr/>
              <a:t>120</a:t>
            </a:fld>
            <a:endParaRPr lang="fi-FI"/>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E9A0D27A-A794-42D6-8F5C-25D71E8A9B8C}" type="slidenum">
              <a:rPr lang="fi-FI" smtClean="0"/>
              <a:pPr/>
              <a:t>122</a:t>
            </a:fld>
            <a:endParaRPr lang="fi-FI"/>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pPr>
              <a:defRPr/>
            </a:pPr>
            <a:fld id="{E5072EA4-29B8-4B6B-BC20-39ACFA73D12C}" type="slidenum">
              <a:rPr lang="en-US" smtClean="0"/>
              <a:pPr>
                <a:defRPr/>
              </a:pPr>
              <a:t>123</a:t>
            </a:fld>
            <a:endParaRPr 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D540B1A-9E15-4950-ADD7-503A88590886}" type="slidenum">
              <a:rPr lang="en-US"/>
              <a:pPr/>
              <a:t>124</a:t>
            </a:fld>
            <a:endParaRPr lang="en-US"/>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r>
              <a:rPr lang="fi-FI"/>
              <a:t>Myös kustannusten arviointi muutokselle / korjaukselle vie resursseja ja lisää kustannuksia. Näin ollen on tärkeää säännöstellä myös sitä että kysytään kustannusarviot vain asioista jotka tuntuvat tarpeellisilta. </a:t>
            </a:r>
            <a:endParaRPr 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A5B8226A-455E-4A82-AFB3-5ED269F656B0}" type="slidenum">
              <a:rPr lang="fi-FI" smtClean="0"/>
              <a:pPr/>
              <a:t>129</a:t>
            </a:fld>
            <a:endParaRPr lang="fi-FI"/>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130</a:t>
            </a:fld>
            <a:endParaRPr lang="fi-FI"/>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8AB89F2B-1AC2-4FBF-AD55-B6B73A9E71E1}" type="slidenum">
              <a:rPr lang="en-US" smtClean="0"/>
              <a:pPr/>
              <a:t>131</a:t>
            </a:fld>
            <a:endParaRPr 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CD98894-26EB-4FFE-8770-E04F166E85DE}" type="slidenum">
              <a:rPr lang="en-US" smtClean="0"/>
              <a:pPr/>
              <a:t>132</a:t>
            </a:fld>
            <a:endParaRPr lang="en-US"/>
          </a:p>
        </p:txBody>
      </p:sp>
    </p:spTree>
    <p:extLst>
      <p:ext uri="{BB962C8B-B14F-4D97-AF65-F5344CB8AC3E}">
        <p14:creationId xmlns:p14="http://schemas.microsoft.com/office/powerpoint/2010/main" val="187800075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41412725-E863-4A80-9737-940B4FC3C813}" type="slidenum">
              <a:rPr lang="en-US" smtClean="0"/>
              <a:pPr/>
              <a:t>138</a:t>
            </a:fld>
            <a:endParaRPr 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7A80937-F66D-42A5-8D67-16540E96A131}" type="slidenum">
              <a:rPr lang="en-US"/>
              <a:pPr/>
              <a:t>139</a:t>
            </a:fld>
            <a:endParaRPr lang="en-US"/>
          </a:p>
        </p:txBody>
      </p:sp>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p:txBody>
          <a:bodyPr/>
          <a:lstStyle/>
          <a:p>
            <a:r>
              <a:rPr lang="fi-FI"/>
              <a:t>poistaminen</a:t>
            </a:r>
            <a:endParaRPr 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n kuvan paikkamerkki 1"/>
          <p:cNvSpPr>
            <a:spLocks noGrp="1" noRot="1" noChangeAspect="1"/>
          </p:cNvSpPr>
          <p:nvPr>
            <p:ph type="sldImg"/>
          </p:nvPr>
        </p:nvSpPr>
        <p:spPr/>
      </p:sp>
      <p:sp>
        <p:nvSpPr>
          <p:cNvPr id="3" name="Huomautusten paikkamerkki 2"/>
          <p:cNvSpPr>
            <a:spLocks noGrp="1"/>
          </p:cNvSpPr>
          <p:nvPr>
            <p:ph type="body" idx="1"/>
          </p:nvPr>
        </p:nvSpPr>
        <p:spPr/>
        <p:txBody>
          <a:bodyPr/>
          <a:lstStyle/>
          <a:p>
            <a:endParaRPr lang="fi-FI" dirty="0"/>
          </a:p>
        </p:txBody>
      </p:sp>
      <p:sp>
        <p:nvSpPr>
          <p:cNvPr id="4" name="Dian numeron paikkamerkki 3"/>
          <p:cNvSpPr>
            <a:spLocks noGrp="1"/>
          </p:cNvSpPr>
          <p:nvPr>
            <p:ph type="sldNum" sz="quarter" idx="10"/>
          </p:nvPr>
        </p:nvSpPr>
        <p:spPr/>
        <p:txBody>
          <a:bodyPr/>
          <a:lstStyle/>
          <a:p>
            <a:fld id="{EE64DA84-DA32-4BB3-A39F-893BE4B3E7CA}" type="slidenum">
              <a:rPr lang="fi-FI" smtClean="0"/>
              <a:pPr/>
              <a:t>142</a:t>
            </a:fld>
            <a:endParaRPr lang="fi-FI"/>
          </a:p>
        </p:txBody>
      </p:sp>
    </p:spTree>
    <p:extLst>
      <p:ext uri="{BB962C8B-B14F-4D97-AF65-F5344CB8AC3E}">
        <p14:creationId xmlns:p14="http://schemas.microsoft.com/office/powerpoint/2010/main" val="2733306210"/>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4B433224-ACB1-43C7-ABF6-10FC49180078}" type="slidenum">
              <a:rPr lang="fi-FI" smtClean="0"/>
              <a:pPr/>
              <a:t>146</a:t>
            </a:fld>
            <a:endParaRPr lang="fi-FI"/>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FCBC784-292C-4F02-BF90-5BF335E51F23}" type="slidenum">
              <a:rPr lang="en-US"/>
              <a:pPr/>
              <a:t>148</a:t>
            </a:fld>
            <a:endParaRPr lang="en-US"/>
          </a:p>
        </p:txBody>
      </p:sp>
      <p:sp>
        <p:nvSpPr>
          <p:cNvPr id="45058" name="Rectangle 2"/>
          <p:cNvSpPr>
            <a:spLocks noGrp="1" noRot="1" noChangeAspect="1" noChangeArrowheads="1" noTextEdit="1"/>
          </p:cNvSpPr>
          <p:nvPr>
            <p:ph type="sldImg"/>
          </p:nvPr>
        </p:nvSpPr>
        <p:spPr>
          <a:ln/>
        </p:spPr>
      </p:sp>
      <p:sp>
        <p:nvSpPr>
          <p:cNvPr id="45059" name="Rectangle 3"/>
          <p:cNvSpPr>
            <a:spLocks noGrp="1" noChangeArrowheads="1"/>
          </p:cNvSpPr>
          <p:nvPr>
            <p:ph type="body" idx="1"/>
          </p:nvPr>
        </p:nvSpPr>
        <p:spPr/>
        <p:txBody>
          <a:bodyPr/>
          <a:lstStyle/>
          <a:p>
            <a:r>
              <a:rPr lang="fi-FI"/>
              <a:t>Lisää roolit testivaatimusten ja testitapausten osalta. </a:t>
            </a:r>
            <a:endParaRPr 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150</a:t>
            </a:fld>
            <a:endParaRPr lang="fi-FI"/>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AU">
                <a:solidFill>
                  <a:schemeClr val="bg2"/>
                </a:solidFill>
              </a:rPr>
              <a:t>Copyright </a:t>
            </a:r>
            <a:r>
              <a:rPr lang="en-GB">
                <a:solidFill>
                  <a:schemeClr val="bg2"/>
                </a:solidFill>
              </a:rPr>
              <a:t>© 200</a:t>
            </a:r>
            <a:r>
              <a:rPr lang="fi-FI">
                <a:solidFill>
                  <a:schemeClr val="bg2"/>
                </a:solidFill>
              </a:rPr>
              <a:t>4 </a:t>
            </a:r>
            <a:r>
              <a:rPr lang="en-GB">
                <a:solidFill>
                  <a:schemeClr val="bg2"/>
                </a:solidFill>
              </a:rPr>
              <a:t>F-Secure Corporation. All rights reserved. </a:t>
            </a:r>
            <a:br>
              <a:rPr lang="en-GB">
                <a:solidFill>
                  <a:schemeClr val="bg2"/>
                </a:solidFill>
              </a:rPr>
            </a:br>
            <a:r>
              <a:rPr lang="en-AU">
                <a:solidFill>
                  <a:schemeClr val="bg2"/>
                </a:solidFill>
              </a:rPr>
              <a:t>Finland | France | Germany | Japan | Sweden | United Kingdom |  </a:t>
            </a:r>
            <a:r>
              <a:rPr lang="en-GB"/>
              <a:t>USA</a:t>
            </a:r>
            <a:endParaRPr lang="fi-FI"/>
          </a:p>
          <a:p>
            <a:r>
              <a:rPr lang="en-GB"/>
              <a:t>Tel. +358 9 2520 0700 | info@f-secure.com |</a:t>
            </a:r>
            <a:r>
              <a:rPr lang="fi-FI"/>
              <a:t> </a:t>
            </a:r>
            <a:r>
              <a:rPr lang="en-GB"/>
              <a:t>www.f-secure.com</a:t>
            </a:r>
          </a:p>
        </p:txBody>
      </p:sp>
      <p:sp>
        <p:nvSpPr>
          <p:cNvPr id="6" name="Rectangle 7"/>
          <p:cNvSpPr>
            <a:spLocks noGrp="1" noChangeArrowheads="1"/>
          </p:cNvSpPr>
          <p:nvPr>
            <p:ph type="sldNum" sz="quarter" idx="5"/>
          </p:nvPr>
        </p:nvSpPr>
        <p:spPr>
          <a:ln/>
        </p:spPr>
        <p:txBody>
          <a:bodyPr/>
          <a:lstStyle/>
          <a:p>
            <a:fld id="{E12C9110-4EE4-47E1-B224-D07E007CB223}" type="slidenum">
              <a:rPr lang="en-GB"/>
              <a:pPr/>
              <a:t>151</a:t>
            </a:fld>
            <a:endParaRPr lang="en-GB"/>
          </a:p>
        </p:txBody>
      </p:sp>
      <p:sp>
        <p:nvSpPr>
          <p:cNvPr id="322562" name="Rectangle 2"/>
          <p:cNvSpPr>
            <a:spLocks noGrp="1" noRot="1" noChangeAspect="1" noChangeArrowheads="1" noTextEdit="1"/>
          </p:cNvSpPr>
          <p:nvPr>
            <p:ph type="sldImg"/>
          </p:nvPr>
        </p:nvSpPr>
        <p:spPr>
          <a:ln/>
        </p:spPr>
      </p:sp>
      <p:sp>
        <p:nvSpPr>
          <p:cNvPr id="322563" name="Rectangle 3"/>
          <p:cNvSpPr>
            <a:spLocks noGrp="1" noChangeArrowheads="1"/>
          </p:cNvSpPr>
          <p:nvPr>
            <p:ph type="body" idx="1"/>
          </p:nvPr>
        </p:nvSpPr>
        <p:spPr/>
        <p:txBody>
          <a:bodyPr/>
          <a:lstStyle/>
          <a:p>
            <a:r>
              <a:rPr lang="fi-FI"/>
              <a:t>Measuring test cases is like measuring briefcases – you can’t tell what’s in them and comparing something ignoring if it is comparing apples and oranges is a waste of time and effort, as well as misleading.</a:t>
            </a:r>
          </a:p>
          <a:p>
            <a:endParaRPr lang="fi-FI"/>
          </a:p>
          <a:p>
            <a:r>
              <a:rPr lang="fi-FI"/>
              <a:t>Kalvon idea: ensinnäkin, testitapauksesta ei useinkaan päälle näe onko se pieni vaiko eikö työmäärällisesti. Se että oletetaan että ne ovat saman kokoisia, juurtaa juurensa hyvin paljon pienempiin järjestelmiin, joiden kriittisyys ja toteutuskin oli hyvin erilaista. Useimmiten ei ole järkevää laatia testejä niin yksityiskohtaiselle tasolle. </a:t>
            </a:r>
          </a:p>
          <a:p>
            <a:r>
              <a:rPr lang="fi-FI"/>
              <a:t>Toinen ulottuvuus on sitten se että kun samaa testiä käyttää muutenkin taakkansa alle lyhistyvään kohteeseen (järjestelmä testauksen alkuvaiheissa), sitä käyttäisi vähän hellemmin. Kun taas samaa asiaa tekee voimiensa tunnossa olevalle kohteelle (järjestelmälle kypsyneemmässä vaiheessa), pääsee kokeilemaan jo vähän voimallisemminkin. Niinpä testien läpimeno mittarina ei välttämättä kerro paljoakaan siitä ollaanko kohta valmiita</a:t>
            </a:r>
          </a:p>
          <a:p>
            <a:endParaRPr lang="fi-FI"/>
          </a:p>
          <a:p>
            <a:r>
              <a:rPr lang="fi-FI"/>
              <a:t>Also, the target these contents are to be used on is maturing and as that happens, the value of the contents changes, depending on the ability to adapt to that change. </a:t>
            </a:r>
          </a:p>
          <a:p>
            <a:endParaRPr lang="fi-FI"/>
          </a:p>
          <a:p>
            <a:r>
              <a:rPr lang="fi-FI"/>
              <a:t>So what to do? Some suggest not measuring test cases. I’d suggest understanding the limitations and measuring test cases then. Maybe execution time could be used to balance the differences. However, this does not help with the fact that changing the system changes the contents’ interpretation – unless very detailed (and costly) </a:t>
            </a:r>
            <a:endParaRPr lang="en-GB"/>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FCBC784-292C-4F02-BF90-5BF335E51F23}" type="slidenum">
              <a:rPr lang="en-US"/>
              <a:pPr/>
              <a:t>154</a:t>
            </a:fld>
            <a:endParaRPr lang="en-US"/>
          </a:p>
        </p:txBody>
      </p:sp>
      <p:sp>
        <p:nvSpPr>
          <p:cNvPr id="45058" name="Rectangle 2"/>
          <p:cNvSpPr>
            <a:spLocks noGrp="1" noRot="1" noChangeAspect="1" noChangeArrowheads="1" noTextEdit="1"/>
          </p:cNvSpPr>
          <p:nvPr>
            <p:ph type="sldImg"/>
          </p:nvPr>
        </p:nvSpPr>
        <p:spPr>
          <a:ln/>
        </p:spPr>
      </p:sp>
      <p:sp>
        <p:nvSpPr>
          <p:cNvPr id="45059" name="Rectangle 3"/>
          <p:cNvSpPr>
            <a:spLocks noGrp="1" noChangeArrowheads="1"/>
          </p:cNvSpPr>
          <p:nvPr>
            <p:ph type="body" idx="1"/>
          </p:nvPr>
        </p:nvSpPr>
        <p:spPr/>
        <p:txBody>
          <a:bodyPr/>
          <a:lstStyle/>
          <a:p>
            <a:r>
              <a:rPr lang="fi-FI"/>
              <a:t>Lisää roolit testivaatimusten ja testitapausten osalta. </a:t>
            </a:r>
            <a:endParaRPr 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FBD055C1-F2AA-48A2-96DA-B40142D89914}" type="slidenum">
              <a:rPr lang="en-US" smtClean="0"/>
              <a:pPr/>
              <a:t>155</a:t>
            </a:fld>
            <a:endParaRPr 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072960C5-4951-4E59-B992-18B1FAB6BB03}" type="slidenum">
              <a:rPr lang="en-US" smtClean="0"/>
              <a:pPr/>
              <a:t>156</a:t>
            </a:fld>
            <a:endParaRPr 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p>
            <a:fld id="{2118244B-3DE2-4232-A30F-4664CFCEA3F9}" type="slidenum">
              <a:rPr lang="en-US"/>
              <a:pPr/>
              <a:t>157</a:t>
            </a:fld>
            <a:endParaRPr lang="en-US"/>
          </a:p>
        </p:txBody>
      </p:sp>
      <p:sp>
        <p:nvSpPr>
          <p:cNvPr id="7171" name="Slide Image Placeholder 1"/>
          <p:cNvSpPr>
            <a:spLocks noGrp="1" noRot="1" noChangeAspect="1" noTextEdit="1"/>
          </p:cNvSpPr>
          <p:nvPr>
            <p:ph type="sldImg"/>
          </p:nvPr>
        </p:nvSpPr>
        <p:spPr>
          <a:ln/>
        </p:spPr>
      </p:sp>
      <p:sp>
        <p:nvSpPr>
          <p:cNvPr id="7172" name="Notes Placeholder 2"/>
          <p:cNvSpPr>
            <a:spLocks noGrp="1"/>
          </p:cNvSpPr>
          <p:nvPr>
            <p:ph type="body" idx="1"/>
          </p:nvPr>
        </p:nvSpPr>
        <p:spPr>
          <a:noFill/>
          <a:ln/>
        </p:spPr>
        <p:txBody>
          <a:bodyPr/>
          <a:lstStyle/>
          <a:p>
            <a:pPr eaLnBrk="1" hangingPunct="1">
              <a:spcBef>
                <a:spcPct val="0"/>
              </a:spcBef>
            </a:pPr>
            <a:endParaRPr lang="fi-FI" smtClean="0"/>
          </a:p>
        </p:txBody>
      </p:sp>
      <p:sp>
        <p:nvSpPr>
          <p:cNvPr id="7173"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55C846F6-A81E-44C2-A2EB-985166CB5F80}" type="slidenum">
              <a:rPr lang="fi-FI" sz="1200">
                <a:latin typeface="Calibri" pitchFamily="34" charset="0"/>
              </a:rPr>
              <a:pPr algn="r"/>
              <a:t>157</a:t>
            </a:fld>
            <a:endParaRPr lang="fi-FI" sz="1200">
              <a:latin typeface="Calibri" pitchFamily="34" charset="0"/>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i-FI" dirty="0" smtClean="0"/>
              <a:t>Projektipäällikkö vastaa, testauspäällikkö tuo tietämyksen jolla vastuu kannetaan?!?</a:t>
            </a:r>
          </a:p>
          <a:p>
            <a:r>
              <a:rPr lang="fi-FI" dirty="0" smtClean="0"/>
              <a:t>Vastuu</a:t>
            </a:r>
            <a:r>
              <a:rPr lang="fi-FI" baseline="0" dirty="0" smtClean="0"/>
              <a:t> tulee kyvystä hoitaa vastuu, ei vain siitä että on asetettu vastuuseen ja ainoa keino hoitaa on eskalointi. </a:t>
            </a:r>
          </a:p>
          <a:p>
            <a:r>
              <a:rPr lang="fi-FI" baseline="0" dirty="0" smtClean="0"/>
              <a:t>Vastuun tulee tuoda mukanaan valtuudet: esim. </a:t>
            </a:r>
            <a:r>
              <a:rPr lang="fi-FI" baseline="0" dirty="0" err="1" smtClean="0"/>
              <a:t>ohrylle</a:t>
            </a:r>
            <a:r>
              <a:rPr lang="fi-FI" baseline="0" dirty="0" smtClean="0"/>
              <a:t> eskalointi projektipäällikön </a:t>
            </a:r>
            <a:r>
              <a:rPr lang="fi-FI" baseline="0" smtClean="0"/>
              <a:t>rinnalla tasavertaisena. </a:t>
            </a:r>
            <a:endParaRPr lang="en-US"/>
          </a:p>
        </p:txBody>
      </p:sp>
      <p:sp>
        <p:nvSpPr>
          <p:cNvPr id="4" name="Slide Number Placeholder 3"/>
          <p:cNvSpPr>
            <a:spLocks noGrp="1"/>
          </p:cNvSpPr>
          <p:nvPr>
            <p:ph type="sldNum" sz="quarter" idx="10"/>
          </p:nvPr>
        </p:nvSpPr>
        <p:spPr/>
        <p:txBody>
          <a:bodyPr/>
          <a:lstStyle/>
          <a:p>
            <a:fld id="{A86AA9F1-C2C7-4B49-86F2-5D0949C65D36}" type="slidenum">
              <a:rPr lang="en-US" smtClean="0"/>
              <a:pPr/>
              <a:t>158</a:t>
            </a:fld>
            <a:endParaRPr lang="en-US"/>
          </a:p>
        </p:txBody>
      </p:sp>
    </p:spTree>
    <p:extLst>
      <p:ext uri="{BB962C8B-B14F-4D97-AF65-F5344CB8AC3E}">
        <p14:creationId xmlns:p14="http://schemas.microsoft.com/office/powerpoint/2010/main" val="2176853835"/>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i-FI" dirty="0" smtClean="0"/>
              <a:t>Voi olla esim.</a:t>
            </a:r>
            <a:r>
              <a:rPr lang="fi-FI" baseline="0" dirty="0" smtClean="0"/>
              <a:t> Projektijohtovastuullinen projektipäällikkö, joka vastaa lisäksi toimittajan toimitusten johtamisesta – siinä riittävä työsarka (yleinen). Tällöin johdetaan muitakin laatikoita, mutta määrittelyjen riittävyys menetelmällisesti jää laatupäällikölle ja sisällöllisesti liiketoiminnalle; arkkitehtuuriratkaisujen riittävyys jää arkkitehdeille; havaintojen käsittelystä keskustellaan mistä kohden laitetaan tehtävä poikki, pitääkö olla jo osoitettu että virhe / muutospyyntö ennen kuin siirtyy projektipäällikölle. </a:t>
            </a:r>
          </a:p>
          <a:p>
            <a:endParaRPr lang="fi-FI" baseline="0" dirty="0" smtClean="0"/>
          </a:p>
          <a:p>
            <a:r>
              <a:rPr lang="fi-FI" baseline="0" dirty="0" smtClean="0"/>
              <a:t>Voi olla myös Projektijohtovastuullinen projektipäällikkö, joka vastaa lisäksi määrittelyistä (liiketoiminnan tyypillinen tilanne), mutta ottaa palveluna toimittajan ohjausta. </a:t>
            </a:r>
          </a:p>
          <a:p>
            <a:r>
              <a:rPr lang="fi-FI" baseline="0" dirty="0" smtClean="0"/>
              <a:t>Voi olla myös Projektijohtovastuullinen projektipäällikkö, joka vastaa lisäksi hyväksymistestauksesta, mutta ottaa palveluna toimittajan ohjausta. </a:t>
            </a:r>
          </a:p>
          <a:p>
            <a:r>
              <a:rPr lang="fi-FI" baseline="0" dirty="0" smtClean="0"/>
              <a:t>Voi olla myös projektijohtovastuullinen projektipäällikkö, joka vastaa kaikista muista rooleista paitsi </a:t>
            </a:r>
            <a:r>
              <a:rPr lang="fi-FI" baseline="0" dirty="0" err="1" smtClean="0"/>
              <a:t>määritelyistä</a:t>
            </a:r>
            <a:r>
              <a:rPr lang="fi-FI" baseline="0" dirty="0" smtClean="0"/>
              <a:t> ja arkkitehtuurista, joita voi ajatella osoittavansa muualle. </a:t>
            </a:r>
          </a:p>
          <a:p>
            <a:endParaRPr lang="fi-FI" baseline="0" dirty="0" smtClean="0"/>
          </a:p>
          <a:p>
            <a:r>
              <a:rPr lang="fi-FI" baseline="0" dirty="0" smtClean="0"/>
              <a:t>Jos asetetaan ”määrittelyprojekti” ”testausprojekti” ”toimitusprojektit” – kullekin voi olla oma projektipäällikkönsä. </a:t>
            </a:r>
            <a:endParaRPr lang="en-US" dirty="0"/>
          </a:p>
        </p:txBody>
      </p:sp>
      <p:sp>
        <p:nvSpPr>
          <p:cNvPr id="4" name="Slide Number Placeholder 3"/>
          <p:cNvSpPr>
            <a:spLocks noGrp="1"/>
          </p:cNvSpPr>
          <p:nvPr>
            <p:ph type="sldNum" sz="quarter" idx="10"/>
          </p:nvPr>
        </p:nvSpPr>
        <p:spPr/>
        <p:txBody>
          <a:bodyPr/>
          <a:lstStyle/>
          <a:p>
            <a:fld id="{D63599D0-0958-4096-9654-5BF420CC64FC}" type="slidenum">
              <a:rPr lang="en-US" smtClean="0"/>
              <a:pPr/>
              <a:t>159</a:t>
            </a:fld>
            <a:endParaRPr lang="en-US"/>
          </a:p>
        </p:txBody>
      </p:sp>
    </p:spTree>
    <p:extLst>
      <p:ext uri="{BB962C8B-B14F-4D97-AF65-F5344CB8AC3E}">
        <p14:creationId xmlns:p14="http://schemas.microsoft.com/office/powerpoint/2010/main" val="3079732479"/>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63599D0-0958-4096-9654-5BF420CC64FC}" type="slidenum">
              <a:rPr lang="en-US" smtClean="0"/>
              <a:pPr/>
              <a:t>160</a:t>
            </a:fld>
            <a:endParaRPr lang="en-US"/>
          </a:p>
        </p:txBody>
      </p:sp>
    </p:spTree>
    <p:extLst>
      <p:ext uri="{BB962C8B-B14F-4D97-AF65-F5344CB8AC3E}">
        <p14:creationId xmlns:p14="http://schemas.microsoft.com/office/powerpoint/2010/main" val="3761185095"/>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FBD055C1-F2AA-48A2-96DA-B40142D89914}" type="slidenum">
              <a:rPr lang="en-US" smtClean="0"/>
              <a:pPr/>
              <a:t>161</a:t>
            </a:fld>
            <a:endParaRPr 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162</a:t>
            </a:fld>
            <a:endParaRPr lang="fi-FI"/>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73FC0AA-5EEA-4865-B165-A52FD8C3A6F9}" type="slidenum">
              <a:rPr lang="en-GB"/>
              <a:pPr/>
              <a:t>163</a:t>
            </a:fld>
            <a:endParaRPr lang="en-GB"/>
          </a:p>
        </p:txBody>
      </p:sp>
      <p:sp>
        <p:nvSpPr>
          <p:cNvPr id="1360898" name="Rectangle 2"/>
          <p:cNvSpPr>
            <a:spLocks noGrp="1" noRot="1" noChangeAspect="1" noChangeArrowheads="1" noTextEdit="1"/>
          </p:cNvSpPr>
          <p:nvPr>
            <p:ph type="sldImg"/>
          </p:nvPr>
        </p:nvSpPr>
        <p:spPr>
          <a:ln/>
        </p:spPr>
      </p:sp>
      <p:sp>
        <p:nvSpPr>
          <p:cNvPr id="1360899" name="Rectangle 3"/>
          <p:cNvSpPr>
            <a:spLocks noGrp="1" noChangeArrowheads="1"/>
          </p:cNvSpPr>
          <p:nvPr>
            <p:ph type="body" idx="1"/>
          </p:nvPr>
        </p:nvSpPr>
        <p:spPr/>
        <p:txBody>
          <a:bodyPr/>
          <a:lstStyle/>
          <a:p>
            <a:endParaRPr lang="fi-FI"/>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n kuvan paikkamerkki 1"/>
          <p:cNvSpPr>
            <a:spLocks noGrp="1" noRot="1" noChangeAspect="1"/>
          </p:cNvSpPr>
          <p:nvPr>
            <p:ph type="sldImg"/>
          </p:nvPr>
        </p:nvSpPr>
        <p:spPr/>
      </p:sp>
      <p:sp>
        <p:nvSpPr>
          <p:cNvPr id="3" name="Huomautusten paikkamerkki 2"/>
          <p:cNvSpPr>
            <a:spLocks noGrp="1"/>
          </p:cNvSpPr>
          <p:nvPr>
            <p:ph type="body" idx="1"/>
          </p:nvPr>
        </p:nvSpPr>
        <p:spPr/>
        <p:txBody>
          <a:bodyPr/>
          <a:lstStyle/>
          <a:p>
            <a:endParaRPr lang="fi-FI" dirty="0"/>
          </a:p>
        </p:txBody>
      </p:sp>
      <p:sp>
        <p:nvSpPr>
          <p:cNvPr id="4" name="Dian numeron paikkamerkki 3"/>
          <p:cNvSpPr>
            <a:spLocks noGrp="1"/>
          </p:cNvSpPr>
          <p:nvPr>
            <p:ph type="sldNum" sz="quarter" idx="10"/>
          </p:nvPr>
        </p:nvSpPr>
        <p:spPr/>
        <p:txBody>
          <a:bodyPr/>
          <a:lstStyle/>
          <a:p>
            <a:fld id="{D2EABF97-F66D-4648-ADA8-FA1CD7F59950}" type="slidenum">
              <a:rPr lang="fi-FI" smtClean="0"/>
              <a:pPr/>
              <a:t>165</a:t>
            </a:fld>
            <a:endParaRPr lang="fi-FI"/>
          </a:p>
        </p:txBody>
      </p:sp>
    </p:spTree>
    <p:extLst>
      <p:ext uri="{BB962C8B-B14F-4D97-AF65-F5344CB8AC3E}">
        <p14:creationId xmlns:p14="http://schemas.microsoft.com/office/powerpoint/2010/main" val="2554883512"/>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166</a:t>
            </a:fld>
            <a:endParaRPr lang="fi-FI"/>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A4A5FD09-2A5A-406B-A5F1-CE55C1DC9B35}" type="slidenum">
              <a:rPr lang="en-GB"/>
              <a:pPr/>
              <a:t>167</a:t>
            </a:fld>
            <a:endParaRPr lang="en-GB"/>
          </a:p>
        </p:txBody>
      </p:sp>
      <p:sp>
        <p:nvSpPr>
          <p:cNvPr id="171010" name="Rectangle 2"/>
          <p:cNvSpPr>
            <a:spLocks noGrp="1" noRot="1" noChangeAspect="1" noChangeArrowheads="1" noTextEdit="1"/>
          </p:cNvSpPr>
          <p:nvPr>
            <p:ph type="sldImg"/>
          </p:nvPr>
        </p:nvSpPr>
        <p:spPr>
          <a:xfrm>
            <a:off x="1143000" y="685800"/>
            <a:ext cx="4572000" cy="3429000"/>
          </a:xfrm>
          <a:ln/>
        </p:spPr>
      </p:sp>
      <p:sp>
        <p:nvSpPr>
          <p:cNvPr id="171011" name="Rectangle 3"/>
          <p:cNvSpPr>
            <a:spLocks noGrp="1" noChangeArrowheads="1"/>
          </p:cNvSpPr>
          <p:nvPr>
            <p:ph type="body" idx="1"/>
          </p:nvPr>
        </p:nvSpPr>
        <p:spPr>
          <a:xfrm>
            <a:off x="685801" y="4344988"/>
            <a:ext cx="5486400" cy="4113212"/>
          </a:xfrm>
        </p:spPr>
        <p:txBody>
          <a:bodyPr/>
          <a:lstStyle/>
          <a:p>
            <a:r>
              <a:rPr lang="en-GB"/>
              <a:t>#11</a:t>
            </a: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a:ln/>
        </p:spPr>
      </p:sp>
      <p:sp>
        <p:nvSpPr>
          <p:cNvPr id="8195" name="Notes Placeholder 2"/>
          <p:cNvSpPr>
            <a:spLocks noGrp="1"/>
          </p:cNvSpPr>
          <p:nvPr>
            <p:ph type="body" idx="1"/>
          </p:nvPr>
        </p:nvSpPr>
        <p:spPr>
          <a:noFill/>
          <a:ln/>
        </p:spPr>
        <p:txBody>
          <a:bodyPr/>
          <a:lstStyle/>
          <a:p>
            <a:pPr eaLnBrk="1" hangingPunct="1"/>
            <a:endParaRPr lang="fi-FI" dirty="0" smtClean="0"/>
          </a:p>
        </p:txBody>
      </p:sp>
      <p:sp>
        <p:nvSpPr>
          <p:cNvPr id="8196" name="Slide Number Placeholder 3"/>
          <p:cNvSpPr>
            <a:spLocks noGrp="1"/>
          </p:cNvSpPr>
          <p:nvPr>
            <p:ph type="sldNum" sz="quarter" idx="5"/>
          </p:nvPr>
        </p:nvSpPr>
        <p:spPr>
          <a:noFill/>
        </p:spPr>
        <p:txBody>
          <a:bodyPr/>
          <a:lstStyle/>
          <a:p>
            <a:fld id="{CC669563-B982-45D4-8627-AAA9E48D0183}" type="slidenum">
              <a:rPr lang="en-US"/>
              <a:pPr/>
              <a:t>168</a:t>
            </a:fld>
            <a:endParaRPr 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169</a:t>
            </a:fld>
            <a:endParaRPr lang="fi-FI"/>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CF3975E-B0A5-49BA-B4FA-ADB1132A2EAD}" type="slidenum">
              <a:rPr lang="en-GB"/>
              <a:pPr/>
              <a:t>170</a:t>
            </a:fld>
            <a:endParaRPr lang="en-GB"/>
          </a:p>
        </p:txBody>
      </p:sp>
      <p:sp>
        <p:nvSpPr>
          <p:cNvPr id="1210370" name="Rectangle 2"/>
          <p:cNvSpPr>
            <a:spLocks noGrp="1" noRot="1" noChangeAspect="1" noChangeArrowheads="1" noTextEdit="1"/>
          </p:cNvSpPr>
          <p:nvPr>
            <p:ph type="sldImg"/>
          </p:nvPr>
        </p:nvSpPr>
        <p:spPr>
          <a:ln/>
        </p:spPr>
      </p:sp>
      <p:sp>
        <p:nvSpPr>
          <p:cNvPr id="1210371" name="Rectangle 3"/>
          <p:cNvSpPr>
            <a:spLocks noGrp="1" noChangeArrowheads="1"/>
          </p:cNvSpPr>
          <p:nvPr>
            <p:ph type="body" idx="1"/>
          </p:nvPr>
        </p:nvSpPr>
        <p:spPr/>
        <p:txBody>
          <a:bodyPr/>
          <a:lstStyle/>
          <a:p>
            <a:endParaRPr lang="en-GB" dirty="0"/>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171</a:t>
            </a:fld>
            <a:endParaRPr lang="fi-FI"/>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047915C-5027-4F9D-A915-8E635C854E06}" type="slidenum">
              <a:rPr lang="en-GB"/>
              <a:pPr/>
              <a:t>172</a:t>
            </a:fld>
            <a:endParaRPr lang="en-GB"/>
          </a:p>
        </p:txBody>
      </p:sp>
      <p:sp>
        <p:nvSpPr>
          <p:cNvPr id="1197058" name="Rectangle 2"/>
          <p:cNvSpPr>
            <a:spLocks noGrp="1" noRot="1" noChangeAspect="1" noChangeArrowheads="1" noTextEdit="1"/>
          </p:cNvSpPr>
          <p:nvPr>
            <p:ph type="sldImg"/>
          </p:nvPr>
        </p:nvSpPr>
        <p:spPr>
          <a:ln/>
        </p:spPr>
      </p:sp>
      <p:sp>
        <p:nvSpPr>
          <p:cNvPr id="1197059" name="Rectangle 3"/>
          <p:cNvSpPr>
            <a:spLocks noGrp="1" noChangeArrowheads="1"/>
          </p:cNvSpPr>
          <p:nvPr>
            <p:ph type="body" idx="1"/>
          </p:nvPr>
        </p:nvSpPr>
        <p:spPr/>
        <p:txBody>
          <a:bodyPr/>
          <a:lstStyle/>
          <a:p>
            <a:r>
              <a:rPr lang="fi-FI"/>
              <a:t>Ref: Morgan, Peter. 2003. Dig the SPACEDIRT. Professional Tester, October 2003. pp. 24- 25</a:t>
            </a:r>
            <a:endParaRPr lang="en-GB"/>
          </a:p>
          <a:p>
            <a:endParaRPr lang="en-US"/>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BC781E0-671D-4CE3-8F1F-9573AA7D426E}" type="slidenum">
              <a:rPr lang="en-GB"/>
              <a:pPr/>
              <a:t>173</a:t>
            </a:fld>
            <a:endParaRPr lang="en-GB"/>
          </a:p>
        </p:txBody>
      </p:sp>
      <p:sp>
        <p:nvSpPr>
          <p:cNvPr id="1363970" name="Rectangle 2"/>
          <p:cNvSpPr>
            <a:spLocks noGrp="1" noRot="1" noChangeAspect="1" noChangeArrowheads="1" noTextEdit="1"/>
          </p:cNvSpPr>
          <p:nvPr>
            <p:ph type="sldImg"/>
          </p:nvPr>
        </p:nvSpPr>
        <p:spPr>
          <a:ln/>
        </p:spPr>
      </p:sp>
      <p:sp>
        <p:nvSpPr>
          <p:cNvPr id="1363971" name="Rectangle 3"/>
          <p:cNvSpPr>
            <a:spLocks noGrp="1" noChangeArrowheads="1"/>
          </p:cNvSpPr>
          <p:nvPr>
            <p:ph type="body" idx="1"/>
          </p:nvPr>
        </p:nvSpPr>
        <p:spPr/>
        <p:txBody>
          <a:bodyPr/>
          <a:lstStyle/>
          <a:p>
            <a:endParaRPr lang="fi-FI"/>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174</a:t>
            </a:fld>
            <a:endParaRPr lang="fi-FI"/>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175</a:t>
            </a:fld>
            <a:endParaRPr lang="fi-FI"/>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176</a:t>
            </a:fld>
            <a:endParaRPr lang="fi-FI"/>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177</a:t>
            </a:fld>
            <a:endParaRPr lang="fi-FI"/>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178</a:t>
            </a:fld>
            <a:endParaRPr lang="fi-FI"/>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A5B8226A-455E-4A82-AFB3-5ED269F656B0}" type="slidenum">
              <a:rPr lang="fi-FI" smtClean="0"/>
              <a:pPr/>
              <a:t>179</a:t>
            </a:fld>
            <a:endParaRPr lang="fi-FI"/>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6"/>
          <p:cNvSpPr>
            <a:spLocks noGrp="1" noChangeArrowheads="1"/>
          </p:cNvSpPr>
          <p:nvPr>
            <p:ph type="ftr" sz="quarter" idx="4"/>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r>
              <a:rPr lang="en-AU" smtClean="0">
                <a:solidFill>
                  <a:schemeClr val="bg2"/>
                </a:solidFill>
              </a:rPr>
              <a:t>Copyright </a:t>
            </a:r>
            <a:r>
              <a:rPr lang="en-GB" smtClean="0">
                <a:solidFill>
                  <a:schemeClr val="bg2"/>
                </a:solidFill>
              </a:rPr>
              <a:t>© 200</a:t>
            </a:r>
            <a:r>
              <a:rPr lang="fi-FI" smtClean="0">
                <a:solidFill>
                  <a:schemeClr val="bg2"/>
                </a:solidFill>
              </a:rPr>
              <a:t>4 </a:t>
            </a:r>
            <a:r>
              <a:rPr lang="en-GB" smtClean="0">
                <a:solidFill>
                  <a:schemeClr val="bg2"/>
                </a:solidFill>
              </a:rPr>
              <a:t>F-Secure Corporation. All rights reserved. </a:t>
            </a:r>
            <a:br>
              <a:rPr lang="en-GB" smtClean="0">
                <a:solidFill>
                  <a:schemeClr val="bg2"/>
                </a:solidFill>
              </a:rPr>
            </a:br>
            <a:r>
              <a:rPr lang="en-AU" smtClean="0">
                <a:solidFill>
                  <a:schemeClr val="bg2"/>
                </a:solidFill>
              </a:rPr>
              <a:t>Finland | France | Germany | Japan | Sweden | United Kingdom |  </a:t>
            </a:r>
            <a:r>
              <a:rPr lang="en-GB" smtClean="0"/>
              <a:t>USA</a:t>
            </a:r>
            <a:endParaRPr lang="fi-FI" smtClean="0"/>
          </a:p>
          <a:p>
            <a:pPr fontAlgn="base">
              <a:spcBef>
                <a:spcPct val="0"/>
              </a:spcBef>
              <a:spcAft>
                <a:spcPct val="0"/>
              </a:spcAft>
            </a:pPr>
            <a:r>
              <a:rPr lang="en-GB" smtClean="0"/>
              <a:t>Tel. +358 9 2520 0700 | info@f-secure.com |</a:t>
            </a:r>
            <a:r>
              <a:rPr lang="fi-FI" smtClean="0"/>
              <a:t> </a:t>
            </a:r>
            <a:r>
              <a:rPr lang="en-GB" smtClean="0"/>
              <a:t>www.f-secure.com</a:t>
            </a:r>
          </a:p>
        </p:txBody>
      </p:sp>
      <p:sp>
        <p:nvSpPr>
          <p:cNvPr id="124931"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81888940-AD2B-49CB-8DED-CA3D188B3F1A}" type="slidenum">
              <a:rPr lang="en-GB"/>
              <a:pPr fontAlgn="base">
                <a:spcBef>
                  <a:spcPct val="0"/>
                </a:spcBef>
                <a:spcAft>
                  <a:spcPct val="0"/>
                </a:spcAft>
              </a:pPr>
              <a:t>180</a:t>
            </a:fld>
            <a:endParaRPr lang="en-GB"/>
          </a:p>
        </p:txBody>
      </p:sp>
      <p:sp>
        <p:nvSpPr>
          <p:cNvPr id="12493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2493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GB" dirty="0" err="1" smtClean="0"/>
              <a:t>Testauspäällikön</a:t>
            </a:r>
            <a:r>
              <a:rPr lang="en-GB" baseline="0" dirty="0" smtClean="0"/>
              <a:t> </a:t>
            </a:r>
            <a:r>
              <a:rPr lang="en-GB" baseline="0" dirty="0" err="1" smtClean="0"/>
              <a:t>pitää</a:t>
            </a:r>
            <a:r>
              <a:rPr lang="en-GB" baseline="0" dirty="0" smtClean="0"/>
              <a:t> </a:t>
            </a:r>
            <a:r>
              <a:rPr lang="en-GB" baseline="0" dirty="0" err="1" smtClean="0"/>
              <a:t>pystyä</a:t>
            </a:r>
            <a:r>
              <a:rPr lang="en-GB" baseline="0" dirty="0" smtClean="0"/>
              <a:t> </a:t>
            </a:r>
            <a:r>
              <a:rPr lang="en-GB" baseline="0" dirty="0" err="1" smtClean="0"/>
              <a:t>vetämään</a:t>
            </a:r>
            <a:r>
              <a:rPr lang="en-GB" baseline="0" dirty="0" smtClean="0"/>
              <a:t> </a:t>
            </a:r>
            <a:r>
              <a:rPr lang="en-GB" baseline="0" dirty="0" err="1" smtClean="0"/>
              <a:t>yhteen</a:t>
            </a:r>
            <a:r>
              <a:rPr lang="en-GB" baseline="0" dirty="0" smtClean="0"/>
              <a:t> </a:t>
            </a:r>
            <a:r>
              <a:rPr lang="en-GB" baseline="0" dirty="0" err="1" smtClean="0"/>
              <a:t>erillisten</a:t>
            </a:r>
            <a:r>
              <a:rPr lang="en-GB" baseline="0" dirty="0" smtClean="0"/>
              <a:t> </a:t>
            </a:r>
            <a:r>
              <a:rPr lang="en-GB" baseline="0" dirty="0" err="1" smtClean="0"/>
              <a:t>testaajien</a:t>
            </a:r>
            <a:r>
              <a:rPr lang="en-GB" baseline="0" dirty="0" smtClean="0"/>
              <a:t> </a:t>
            </a:r>
            <a:r>
              <a:rPr lang="en-GB" baseline="0" dirty="0" err="1" smtClean="0"/>
              <a:t>tekemän</a:t>
            </a:r>
            <a:r>
              <a:rPr lang="en-GB" baseline="0" dirty="0" smtClean="0"/>
              <a:t> </a:t>
            </a:r>
            <a:r>
              <a:rPr lang="en-GB" baseline="0" dirty="0" err="1" smtClean="0"/>
              <a:t>testauksen</a:t>
            </a:r>
            <a:r>
              <a:rPr lang="en-GB" baseline="0" dirty="0" smtClean="0"/>
              <a:t> </a:t>
            </a:r>
            <a:r>
              <a:rPr lang="en-GB" baseline="0" dirty="0" err="1" smtClean="0"/>
              <a:t>tulokset</a:t>
            </a:r>
            <a:r>
              <a:rPr lang="en-GB" baseline="0" dirty="0" smtClean="0"/>
              <a:t> </a:t>
            </a:r>
            <a:r>
              <a:rPr lang="en-GB" baseline="0" dirty="0" err="1" smtClean="0"/>
              <a:t>ja</a:t>
            </a:r>
            <a:r>
              <a:rPr lang="en-GB" baseline="0" dirty="0" smtClean="0"/>
              <a:t> </a:t>
            </a:r>
            <a:r>
              <a:rPr lang="en-GB" baseline="0" dirty="0" err="1" smtClean="0"/>
              <a:t>kattavuus</a:t>
            </a:r>
            <a:r>
              <a:rPr lang="en-GB" baseline="0" dirty="0" smtClean="0"/>
              <a:t>. </a:t>
            </a:r>
            <a:r>
              <a:rPr lang="en-GB" baseline="0" dirty="0" err="1" smtClean="0"/>
              <a:t>Yhteinen</a:t>
            </a:r>
            <a:r>
              <a:rPr lang="en-GB" baseline="0" dirty="0" smtClean="0"/>
              <a:t> </a:t>
            </a:r>
            <a:r>
              <a:rPr lang="en-GB" baseline="0" dirty="0" err="1" smtClean="0"/>
              <a:t>testipäiväkirjakäytäntö</a:t>
            </a:r>
            <a:r>
              <a:rPr lang="en-GB" baseline="0" dirty="0" smtClean="0"/>
              <a:t> </a:t>
            </a:r>
            <a:r>
              <a:rPr lang="en-GB" baseline="0" dirty="0" err="1" smtClean="0"/>
              <a:t>auttaa</a:t>
            </a:r>
            <a:r>
              <a:rPr lang="en-GB" baseline="0" dirty="0" smtClean="0"/>
              <a:t> </a:t>
            </a:r>
            <a:r>
              <a:rPr lang="en-GB" baseline="0" dirty="0" err="1" smtClean="0"/>
              <a:t>tässä</a:t>
            </a:r>
            <a:r>
              <a:rPr lang="en-GB" baseline="0" dirty="0" smtClean="0"/>
              <a:t>. </a:t>
            </a:r>
            <a:endParaRPr lang="en-GB" dirty="0" smtClean="0"/>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E9A0D27A-A794-42D6-8F5C-25D71E8A9B8C}" type="slidenum">
              <a:rPr lang="fi-FI" smtClean="0"/>
              <a:pPr/>
              <a:t>181</a:t>
            </a:fld>
            <a:endParaRPr lang="fi-FI"/>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8AB89F2B-1AC2-4FBF-AD55-B6B73A9E71E1}" type="slidenum">
              <a:rPr lang="en-US" smtClean="0"/>
              <a:pPr/>
              <a:t>182</a:t>
            </a:fld>
            <a:endParaRPr lang="en-US"/>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183</a:t>
            </a:fld>
            <a:endParaRPr lang="fi-FI"/>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184</a:t>
            </a:fld>
            <a:endParaRPr lang="fi-FI"/>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i-FI" dirty="0" smtClean="0"/>
              <a:t>The</a:t>
            </a:r>
            <a:r>
              <a:rPr lang="fi-FI" baseline="0" dirty="0" smtClean="0"/>
              <a:t> slogan ”Better tests, better testers!” comes from a presentation by Cem Kaner. </a:t>
            </a:r>
            <a:endParaRPr lang="fi-FI" dirty="0" smtClean="0"/>
          </a:p>
          <a:p>
            <a:endParaRPr lang="fi-FI" dirty="0" smtClean="0"/>
          </a:p>
          <a:p>
            <a:r>
              <a:rPr lang="fi-FI" dirty="0" smtClean="0"/>
              <a:t>Starts with an</a:t>
            </a:r>
            <a:r>
              <a:rPr lang="fi-FI" baseline="0" dirty="0" smtClean="0"/>
              <a:t> idea: a chest of gold</a:t>
            </a:r>
          </a:p>
          <a:p>
            <a:r>
              <a:rPr lang="fi-FI" baseline="0" dirty="0" smtClean="0"/>
              <a:t>Ends with a perception: nothing to find; earth ends here. </a:t>
            </a:r>
          </a:p>
          <a:p>
            <a:r>
              <a:rPr lang="fi-FI" baseline="0" dirty="0" smtClean="0"/>
              <a:t>Know your mission!</a:t>
            </a:r>
          </a:p>
          <a:p>
            <a:endParaRPr lang="fi-FI" baseline="0" dirty="0" smtClean="0"/>
          </a:p>
          <a:p>
            <a:r>
              <a:rPr lang="fi-FI" dirty="0" smtClean="0"/>
              <a:t>Tunnustetaan ohjelmistokehityksen ja –testauksen luonne tietotyönä ja hyödynnetään ihmisiä tekemisen selkärankana</a:t>
            </a:r>
          </a:p>
          <a:p>
            <a:pPr lvl="1"/>
            <a:r>
              <a:rPr lang="fi-FI" dirty="0" smtClean="0"/>
              <a:t>Itseohjautuvat tiimit</a:t>
            </a:r>
          </a:p>
          <a:p>
            <a:pPr lvl="1"/>
            <a:r>
              <a:rPr lang="fi-FI" dirty="0" smtClean="0"/>
              <a:t>Ihmisen kyky oppia</a:t>
            </a:r>
          </a:p>
          <a:p>
            <a:r>
              <a:rPr lang="fi-FI" dirty="0" smtClean="0"/>
              <a:t>Ihmiset voi laittaa jatkamaan toisen jäljiltä muutenkin kuin rakentamalla ensin dokumentaation jolla tieto ei kuitenkaan välity!</a:t>
            </a:r>
          </a:p>
          <a:p>
            <a:r>
              <a:rPr lang="fi-FI" dirty="0" smtClean="0"/>
              <a:t>Kotimaista tutkimusta Itkonen et al. Samat tulokset pienemmillä kustannuksilla</a:t>
            </a:r>
          </a:p>
          <a:p>
            <a:r>
              <a:rPr lang="fi-FI" dirty="0" smtClean="0"/>
              <a:t>Kaksi isoa haastetta: testauksesta ei saada tuloksia (ei osata ajatella monipuolisesti) ja testausta ei osata lopettaa ajoissa. </a:t>
            </a:r>
          </a:p>
          <a:p>
            <a:endParaRPr lang="fi-FI" baseline="0" dirty="0" smtClean="0"/>
          </a:p>
        </p:txBody>
      </p:sp>
      <p:sp>
        <p:nvSpPr>
          <p:cNvPr id="4" name="Slide Number Placeholder 3"/>
          <p:cNvSpPr>
            <a:spLocks noGrp="1"/>
          </p:cNvSpPr>
          <p:nvPr>
            <p:ph type="sldNum" sz="quarter" idx="10"/>
          </p:nvPr>
        </p:nvSpPr>
        <p:spPr/>
        <p:txBody>
          <a:bodyPr/>
          <a:lstStyle/>
          <a:p>
            <a:fld id="{CB3C8FEC-6B29-4D05-ABF2-B95F59EC172F}" type="slidenum">
              <a:rPr lang="fi-FI" smtClean="0"/>
              <a:pPr/>
              <a:t>185</a:t>
            </a:fld>
            <a:endParaRPr lang="fi-FI"/>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9D0E40E0-A78D-4E27-92DF-58174ECAEFD5}" type="slidenum">
              <a:rPr lang="fi-FI" smtClean="0"/>
              <a:pPr/>
              <a:t>186</a:t>
            </a:fld>
            <a:endParaRPr lang="fi-FI"/>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fi-FI" dirty="0"/>
          </a:p>
        </p:txBody>
      </p:sp>
      <p:sp>
        <p:nvSpPr>
          <p:cNvPr id="4" name="Slide Number Placeholder 3"/>
          <p:cNvSpPr>
            <a:spLocks noGrp="1"/>
          </p:cNvSpPr>
          <p:nvPr>
            <p:ph type="sldNum" sz="quarter" idx="10"/>
          </p:nvPr>
        </p:nvSpPr>
        <p:spPr/>
        <p:txBody>
          <a:bodyPr/>
          <a:lstStyle/>
          <a:p>
            <a:fld id="{CB3C8FEC-6B29-4D05-ABF2-B95F59EC172F}" type="slidenum">
              <a:rPr lang="fi-FI" smtClean="0"/>
              <a:pPr/>
              <a:t>187</a:t>
            </a:fld>
            <a:endParaRPr lang="fi-FI"/>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CCB6EA1D-2977-49C8-BFB7-651D4E153B63}" type="slidenum">
              <a:rPr lang="fi-FI" smtClean="0"/>
              <a:pPr/>
              <a:t>188</a:t>
            </a:fld>
            <a:endParaRPr lang="fi-FI"/>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AC78586B-2383-455D-9CE5-C5D34A08B2A8}" type="slidenum">
              <a:rPr lang="fi-FI" smtClean="0"/>
              <a:pPr/>
              <a:t>189</a:t>
            </a:fld>
            <a:endParaRPr lang="fi-FI"/>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AC78586B-2383-455D-9CE5-C5D34A08B2A8}" type="slidenum">
              <a:rPr lang="fi-FI" smtClean="0"/>
              <a:pPr/>
              <a:t>190</a:t>
            </a:fld>
            <a:endParaRPr lang="fi-FI"/>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5E0E455-F612-49BE-852A-2A4F2818BCB6}" type="slidenum">
              <a:rPr lang="en-US" smtClean="0"/>
              <a:pPr/>
              <a:t>191</a:t>
            </a:fld>
            <a:endParaRPr lang="en-US"/>
          </a:p>
        </p:txBody>
      </p:sp>
    </p:spTree>
    <p:extLst>
      <p:ext uri="{BB962C8B-B14F-4D97-AF65-F5344CB8AC3E}">
        <p14:creationId xmlns:p14="http://schemas.microsoft.com/office/powerpoint/2010/main" val="4245607932"/>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noFill/>
          <a:ln>
            <a:solidFill>
              <a:srgbClr val="000000"/>
            </a:solidFill>
            <a:miter lim="800000"/>
            <a:headEnd/>
            <a:tailEnd/>
          </a:ln>
        </p:spPr>
      </p:sp>
      <p:sp>
        <p:nvSpPr>
          <p:cNvPr id="2969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fi-FI" smtClean="0"/>
          </a:p>
        </p:txBody>
      </p:sp>
      <p:sp>
        <p:nvSpPr>
          <p:cNvPr id="2970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A540B378-30B7-4AE5-B39D-C007B157F03E}" type="slidenum">
              <a:rPr lang="fi-FI" smtClean="0"/>
              <a:pPr/>
              <a:t>192</a:t>
            </a:fld>
            <a:endParaRPr lang="fi-FI" smtClean="0"/>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EAF18616-0066-4DB4-98C9-F5E015611863}" type="slidenum">
              <a:rPr lang="fi-FI" smtClean="0"/>
              <a:pPr/>
              <a:t>194</a:t>
            </a:fld>
            <a:endParaRPr lang="fi-FI"/>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195</a:t>
            </a:fld>
            <a:endParaRPr lang="fi-FI"/>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9D0E40E0-A78D-4E27-92DF-58174ECAEFD5}" type="slidenum">
              <a:rPr lang="fi-FI" smtClean="0"/>
              <a:pPr/>
              <a:t>196</a:t>
            </a:fld>
            <a:endParaRPr lang="fi-FI"/>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1E42E794-638D-48BE-9CAC-6C3073D24FE2}" type="slidenum">
              <a:rPr lang="fi-FI" smtClean="0"/>
              <a:pPr/>
              <a:t>199</a:t>
            </a:fld>
            <a:endParaRPr lang="fi-FI"/>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3D3FEE6C-EF2A-4134-B80C-D0189D2FA064}" type="slidenum">
              <a:rPr lang="en-US" smtClean="0"/>
              <a:pPr/>
              <a:t>200</a:t>
            </a:fld>
            <a:endParaRPr lang="en-US"/>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3D3FEE6C-EF2A-4134-B80C-D0189D2FA064}" type="slidenum">
              <a:rPr lang="en-US" smtClean="0"/>
              <a:pPr/>
              <a:t>201</a:t>
            </a:fld>
            <a:endParaRPr lang="en-US"/>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202</a:t>
            </a:fld>
            <a:endParaRPr lang="fi-FI"/>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C3841F2-8A62-4308-BC26-623AFD3BB63C}" type="slidenum">
              <a:rPr lang="en-US"/>
              <a:pPr/>
              <a:t>203</a:t>
            </a:fld>
            <a:endParaRPr lang="en-US"/>
          </a:p>
        </p:txBody>
      </p:sp>
      <p:sp>
        <p:nvSpPr>
          <p:cNvPr id="108546" name="Rectangle 2"/>
          <p:cNvSpPr>
            <a:spLocks noGrp="1" noRot="1" noChangeAspect="1" noChangeArrowheads="1" noTextEdit="1"/>
          </p:cNvSpPr>
          <p:nvPr>
            <p:ph type="sldImg"/>
          </p:nvPr>
        </p:nvSpPr>
        <p:spPr>
          <a:ln/>
        </p:spPr>
      </p:sp>
      <p:sp>
        <p:nvSpPr>
          <p:cNvPr id="108547" name="Rectangle 3"/>
          <p:cNvSpPr>
            <a:spLocks noGrp="1" noChangeArrowheads="1"/>
          </p:cNvSpPr>
          <p:nvPr>
            <p:ph type="body" idx="1"/>
          </p:nvPr>
        </p:nvSpPr>
        <p:spPr/>
        <p:txBody>
          <a:bodyPr/>
          <a:lstStyle/>
          <a:p>
            <a:r>
              <a:rPr lang="en-GB"/>
              <a:t>Testivaatimus</a:t>
            </a: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F7BDC1C-D1E6-42F5-A7DB-A1E711AED94D}" type="slidenum">
              <a:rPr lang="en-US"/>
              <a:pPr/>
              <a:t>204</a:t>
            </a:fld>
            <a:endParaRPr lang="en-US"/>
          </a:p>
        </p:txBody>
      </p:sp>
      <p:sp>
        <p:nvSpPr>
          <p:cNvPr id="115714" name="Rectangle 2"/>
          <p:cNvSpPr>
            <a:spLocks noGrp="1" noRot="1" noChangeAspect="1" noChangeArrowheads="1" noTextEdit="1"/>
          </p:cNvSpPr>
          <p:nvPr>
            <p:ph type="sldImg"/>
          </p:nvPr>
        </p:nvSpPr>
        <p:spPr>
          <a:xfrm>
            <a:off x="1144588" y="685800"/>
            <a:ext cx="4572000" cy="3429000"/>
          </a:xfrm>
          <a:ln/>
        </p:spPr>
      </p:sp>
      <p:sp>
        <p:nvSpPr>
          <p:cNvPr id="115715" name="Rectangle 3"/>
          <p:cNvSpPr>
            <a:spLocks noGrp="1" noChangeArrowheads="1"/>
          </p:cNvSpPr>
          <p:nvPr>
            <p:ph type="body" idx="1"/>
          </p:nvPr>
        </p:nvSpPr>
        <p:spPr>
          <a:xfrm>
            <a:off x="914400" y="4343400"/>
            <a:ext cx="5029200" cy="4114800"/>
          </a:xfrm>
        </p:spPr>
        <p:txBody>
          <a:bodyPr/>
          <a:lstStyle/>
          <a:p>
            <a:endParaRPr lang="en-GB"/>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E9A0D27A-A794-42D6-8F5C-25D71E8A9B8C}" type="slidenum">
              <a:rPr lang="fi-FI" smtClean="0"/>
              <a:pPr/>
              <a:t>205</a:t>
            </a:fld>
            <a:endParaRPr lang="fi-FI"/>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0BC181E-A55B-45D9-8CD8-ED30E47DF0CC}" type="slidenum">
              <a:rPr lang="en-US" smtClean="0"/>
              <a:pPr/>
              <a:t>206</a:t>
            </a:fld>
            <a:endParaRPr lang="en-US"/>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n kuvan paikkamerkki 1"/>
          <p:cNvSpPr>
            <a:spLocks noGrp="1" noRot="1" noChangeAspect="1"/>
          </p:cNvSpPr>
          <p:nvPr>
            <p:ph type="sldImg"/>
          </p:nvPr>
        </p:nvSpPr>
        <p:spPr/>
      </p:sp>
      <p:sp>
        <p:nvSpPr>
          <p:cNvPr id="3" name="Huomautusten paikkamerkki 2"/>
          <p:cNvSpPr>
            <a:spLocks noGrp="1"/>
          </p:cNvSpPr>
          <p:nvPr>
            <p:ph type="body" idx="1"/>
          </p:nvPr>
        </p:nvSpPr>
        <p:spPr/>
        <p:txBody>
          <a:bodyPr/>
          <a:lstStyle/>
          <a:p>
            <a:r>
              <a:rPr lang="fi-FI" dirty="0" smtClean="0"/>
              <a:t>Ei tasoa</a:t>
            </a:r>
            <a:r>
              <a:rPr lang="fi-FI" baseline="0" dirty="0" smtClean="0"/>
              <a:t> (</a:t>
            </a:r>
            <a:r>
              <a:rPr lang="fi-FI" baseline="0" dirty="0" err="1" smtClean="0"/>
              <a:t>level</a:t>
            </a:r>
            <a:r>
              <a:rPr lang="fi-FI" baseline="0" dirty="0" smtClean="0"/>
              <a:t>), vaan koko (S, M, L) ja </a:t>
            </a:r>
            <a:r>
              <a:rPr lang="fi-FI" baseline="0" dirty="0" err="1" smtClean="0"/>
              <a:t>owner</a:t>
            </a:r>
            <a:r>
              <a:rPr lang="fi-FI" baseline="0" dirty="0" smtClean="0"/>
              <a:t>. </a:t>
            </a:r>
            <a:endParaRPr lang="fi-FI" dirty="0"/>
          </a:p>
        </p:txBody>
      </p:sp>
      <p:sp>
        <p:nvSpPr>
          <p:cNvPr id="4" name="Dian numeron paikkamerkki 3"/>
          <p:cNvSpPr>
            <a:spLocks noGrp="1"/>
          </p:cNvSpPr>
          <p:nvPr>
            <p:ph type="sldNum" sz="quarter" idx="10"/>
          </p:nvPr>
        </p:nvSpPr>
        <p:spPr/>
        <p:txBody>
          <a:bodyPr/>
          <a:lstStyle/>
          <a:p>
            <a:fld id="{B49D5684-CD4B-47F6-8BC5-02AD6637F038}" type="slidenum">
              <a:rPr lang="fi-FI" smtClean="0"/>
              <a:pPr/>
              <a:t>207</a:t>
            </a:fld>
            <a:endParaRPr lang="fi-FI"/>
          </a:p>
        </p:txBody>
      </p:sp>
    </p:spTree>
    <p:extLst>
      <p:ext uri="{BB962C8B-B14F-4D97-AF65-F5344CB8AC3E}">
        <p14:creationId xmlns:p14="http://schemas.microsoft.com/office/powerpoint/2010/main" val="2753808018"/>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AB80F79A-5678-4662-BC96-966FC15CC066}" type="slidenum">
              <a:rPr lang="fi-FI" smtClean="0"/>
              <a:pPr/>
              <a:t>208</a:t>
            </a:fld>
            <a:endParaRPr lang="fi-FI"/>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just"/>
            <a:r>
              <a:rPr lang="en-GB" dirty="0" smtClean="0"/>
              <a:t>#3</a:t>
            </a:r>
            <a:endParaRPr lang="en-GB" dirty="0" smtClean="0">
              <a:solidFill>
                <a:srgbClr val="000000"/>
              </a:solidFill>
            </a:endParaRPr>
          </a:p>
          <a:p>
            <a:pPr algn="just"/>
            <a:r>
              <a:rPr lang="en-GB" dirty="0" err="1" smtClean="0">
                <a:solidFill>
                  <a:srgbClr val="000000"/>
                </a:solidFill>
              </a:rPr>
              <a:t>Haastetta</a:t>
            </a:r>
            <a:r>
              <a:rPr lang="en-GB" dirty="0" smtClean="0">
                <a:solidFill>
                  <a:srgbClr val="000000"/>
                </a:solidFill>
              </a:rPr>
              <a:t> </a:t>
            </a:r>
            <a:r>
              <a:rPr lang="en-GB" dirty="0" err="1" smtClean="0">
                <a:solidFill>
                  <a:srgbClr val="000000"/>
                </a:solidFill>
              </a:rPr>
              <a:t>riittää</a:t>
            </a:r>
            <a:r>
              <a:rPr lang="en-GB" dirty="0" smtClean="0">
                <a:solidFill>
                  <a:srgbClr val="000000"/>
                </a:solidFill>
              </a:rPr>
              <a:t>, </a:t>
            </a:r>
            <a:r>
              <a:rPr lang="en-GB" dirty="0" err="1" smtClean="0">
                <a:solidFill>
                  <a:srgbClr val="000000"/>
                </a:solidFill>
              </a:rPr>
              <a:t>vaikka</a:t>
            </a:r>
            <a:r>
              <a:rPr lang="en-GB" dirty="0" smtClean="0">
                <a:solidFill>
                  <a:srgbClr val="000000"/>
                </a:solidFill>
              </a:rPr>
              <a:t> </a:t>
            </a:r>
            <a:r>
              <a:rPr lang="en-GB" dirty="0" err="1" smtClean="0">
                <a:solidFill>
                  <a:srgbClr val="000000"/>
                </a:solidFill>
              </a:rPr>
              <a:t>kokonaisuutta</a:t>
            </a:r>
            <a:r>
              <a:rPr lang="en-GB" dirty="0" smtClean="0">
                <a:solidFill>
                  <a:srgbClr val="000000"/>
                </a:solidFill>
              </a:rPr>
              <a:t> </a:t>
            </a:r>
            <a:r>
              <a:rPr lang="en-GB" dirty="0" err="1" smtClean="0">
                <a:solidFill>
                  <a:srgbClr val="000000"/>
                </a:solidFill>
              </a:rPr>
              <a:t>yksinkertaistetaan</a:t>
            </a:r>
            <a:r>
              <a:rPr lang="en-GB" dirty="0" smtClean="0">
                <a:solidFill>
                  <a:srgbClr val="000000"/>
                </a:solidFill>
              </a:rPr>
              <a:t> </a:t>
            </a:r>
            <a:r>
              <a:rPr lang="en-GB" dirty="0" err="1" smtClean="0">
                <a:solidFill>
                  <a:srgbClr val="000000"/>
                </a:solidFill>
              </a:rPr>
              <a:t>jättämällä</a:t>
            </a:r>
            <a:r>
              <a:rPr lang="en-GB" dirty="0" smtClean="0">
                <a:solidFill>
                  <a:srgbClr val="000000"/>
                </a:solidFill>
              </a:rPr>
              <a:t> </a:t>
            </a:r>
            <a:r>
              <a:rPr lang="en-GB" dirty="0" err="1" smtClean="0">
                <a:solidFill>
                  <a:srgbClr val="000000"/>
                </a:solidFill>
              </a:rPr>
              <a:t>toistaiseksi</a:t>
            </a:r>
            <a:r>
              <a:rPr lang="en-GB" dirty="0" smtClean="0">
                <a:solidFill>
                  <a:srgbClr val="000000"/>
                </a:solidFill>
              </a:rPr>
              <a:t> </a:t>
            </a:r>
            <a:r>
              <a:rPr lang="en-GB" dirty="0" err="1" smtClean="0">
                <a:solidFill>
                  <a:srgbClr val="000000"/>
                </a:solidFill>
              </a:rPr>
              <a:t>huomiotta</a:t>
            </a:r>
            <a:r>
              <a:rPr lang="en-GB" dirty="0" smtClean="0">
                <a:solidFill>
                  <a:srgbClr val="000000"/>
                </a:solidFill>
              </a:rPr>
              <a:t> </a:t>
            </a:r>
            <a:r>
              <a:rPr lang="en-GB" dirty="0" err="1" smtClean="0">
                <a:solidFill>
                  <a:srgbClr val="000000"/>
                </a:solidFill>
              </a:rPr>
              <a:t>muuttujat</a:t>
            </a:r>
            <a:r>
              <a:rPr lang="en-GB" dirty="0" smtClean="0">
                <a:solidFill>
                  <a:srgbClr val="000000"/>
                </a:solidFill>
              </a:rPr>
              <a:t>, </a:t>
            </a:r>
            <a:r>
              <a:rPr lang="en-GB" dirty="0" err="1" smtClean="0">
                <a:solidFill>
                  <a:srgbClr val="000000"/>
                </a:solidFill>
              </a:rPr>
              <a:t>joihin</a:t>
            </a:r>
            <a:r>
              <a:rPr lang="en-GB" dirty="0" smtClean="0">
                <a:solidFill>
                  <a:srgbClr val="000000"/>
                </a:solidFill>
              </a:rPr>
              <a:t> </a:t>
            </a:r>
            <a:r>
              <a:rPr lang="en-GB" dirty="0" err="1" smtClean="0">
                <a:solidFill>
                  <a:srgbClr val="000000"/>
                </a:solidFill>
              </a:rPr>
              <a:t>vaikuttaminen</a:t>
            </a:r>
            <a:r>
              <a:rPr lang="en-GB" dirty="0" smtClean="0">
                <a:solidFill>
                  <a:srgbClr val="000000"/>
                </a:solidFill>
              </a:rPr>
              <a:t> on </a:t>
            </a:r>
            <a:r>
              <a:rPr lang="en-GB" dirty="0" err="1" smtClean="0">
                <a:solidFill>
                  <a:srgbClr val="000000"/>
                </a:solidFill>
              </a:rPr>
              <a:t>ei</a:t>
            </a:r>
            <a:r>
              <a:rPr lang="en-GB" dirty="0" smtClean="0">
                <a:solidFill>
                  <a:srgbClr val="000000"/>
                </a:solidFill>
              </a:rPr>
              <a:t> ole </a:t>
            </a:r>
            <a:r>
              <a:rPr lang="en-GB" dirty="0" err="1" smtClean="0">
                <a:solidFill>
                  <a:srgbClr val="000000"/>
                </a:solidFill>
              </a:rPr>
              <a:t>suoraan</a:t>
            </a:r>
            <a:r>
              <a:rPr lang="en-GB" dirty="0" smtClean="0">
                <a:solidFill>
                  <a:srgbClr val="000000"/>
                </a:solidFill>
              </a:rPr>
              <a:t> </a:t>
            </a:r>
            <a:r>
              <a:rPr lang="en-GB" dirty="0" err="1" smtClean="0">
                <a:solidFill>
                  <a:srgbClr val="000000"/>
                </a:solidFill>
              </a:rPr>
              <a:t>testaajan</a:t>
            </a:r>
            <a:r>
              <a:rPr lang="en-GB" dirty="0" smtClean="0">
                <a:solidFill>
                  <a:srgbClr val="000000"/>
                </a:solidFill>
              </a:rPr>
              <a:t> </a:t>
            </a:r>
            <a:r>
              <a:rPr lang="en-GB" dirty="0" err="1" smtClean="0">
                <a:solidFill>
                  <a:srgbClr val="000000"/>
                </a:solidFill>
              </a:rPr>
              <a:t>vallassa</a:t>
            </a:r>
            <a:r>
              <a:rPr lang="en-GB" dirty="0" smtClean="0">
                <a:solidFill>
                  <a:srgbClr val="000000"/>
                </a:solidFill>
              </a:rPr>
              <a:t>. </a:t>
            </a:r>
            <a:r>
              <a:rPr lang="en-GB" dirty="0" err="1" smtClean="0">
                <a:solidFill>
                  <a:srgbClr val="000000"/>
                </a:solidFill>
              </a:rPr>
              <a:t>Kaksi</a:t>
            </a:r>
            <a:r>
              <a:rPr lang="en-GB" dirty="0" smtClean="0">
                <a:solidFill>
                  <a:srgbClr val="000000"/>
                </a:solidFill>
              </a:rPr>
              <a:t> </a:t>
            </a:r>
            <a:r>
              <a:rPr lang="en-GB" dirty="0" err="1" smtClean="0">
                <a:solidFill>
                  <a:srgbClr val="000000"/>
                </a:solidFill>
              </a:rPr>
              <a:t>päämuuttujaa</a:t>
            </a:r>
            <a:r>
              <a:rPr lang="en-GB" dirty="0" smtClean="0">
                <a:solidFill>
                  <a:srgbClr val="000000"/>
                </a:solidFill>
              </a:rPr>
              <a:t>, </a:t>
            </a:r>
            <a:r>
              <a:rPr lang="en-GB" dirty="0" err="1" smtClean="0">
                <a:solidFill>
                  <a:srgbClr val="000000"/>
                </a:solidFill>
              </a:rPr>
              <a:t>joita</a:t>
            </a:r>
            <a:r>
              <a:rPr lang="en-GB" dirty="0" smtClean="0">
                <a:solidFill>
                  <a:srgbClr val="000000"/>
                </a:solidFill>
              </a:rPr>
              <a:t> </a:t>
            </a:r>
            <a:r>
              <a:rPr lang="en-GB" dirty="0" err="1" smtClean="0">
                <a:solidFill>
                  <a:srgbClr val="000000"/>
                </a:solidFill>
              </a:rPr>
              <a:t>testaaja</a:t>
            </a:r>
            <a:r>
              <a:rPr lang="en-GB" dirty="0" smtClean="0">
                <a:solidFill>
                  <a:srgbClr val="000000"/>
                </a:solidFill>
              </a:rPr>
              <a:t> </a:t>
            </a:r>
            <a:r>
              <a:rPr lang="en-GB" dirty="0" err="1" smtClean="0">
                <a:solidFill>
                  <a:srgbClr val="000000"/>
                </a:solidFill>
              </a:rPr>
              <a:t>voi</a:t>
            </a:r>
            <a:r>
              <a:rPr lang="en-GB" dirty="0" smtClean="0">
                <a:solidFill>
                  <a:srgbClr val="000000"/>
                </a:solidFill>
              </a:rPr>
              <a:t> </a:t>
            </a:r>
            <a:r>
              <a:rPr lang="en-GB" dirty="0" err="1" smtClean="0">
                <a:solidFill>
                  <a:srgbClr val="000000"/>
                </a:solidFill>
              </a:rPr>
              <a:t>hallita</a:t>
            </a:r>
            <a:r>
              <a:rPr lang="en-GB" dirty="0" smtClean="0">
                <a:solidFill>
                  <a:srgbClr val="000000"/>
                </a:solidFill>
              </a:rPr>
              <a:t>, </a:t>
            </a:r>
            <a:r>
              <a:rPr lang="en-GB" dirty="0" err="1" smtClean="0">
                <a:solidFill>
                  <a:srgbClr val="000000"/>
                </a:solidFill>
              </a:rPr>
              <a:t>ovat</a:t>
            </a:r>
            <a:r>
              <a:rPr lang="en-GB" dirty="0" smtClean="0">
                <a:solidFill>
                  <a:srgbClr val="000000"/>
                </a:solidFill>
              </a:rPr>
              <a:t> </a:t>
            </a:r>
            <a:r>
              <a:rPr lang="en-GB" dirty="0" err="1" smtClean="0">
                <a:solidFill>
                  <a:srgbClr val="000000"/>
                </a:solidFill>
              </a:rPr>
              <a:t>ohjelmiston</a:t>
            </a:r>
            <a:r>
              <a:rPr lang="en-GB" dirty="0" smtClean="0">
                <a:solidFill>
                  <a:srgbClr val="000000"/>
                </a:solidFill>
              </a:rPr>
              <a:t> </a:t>
            </a:r>
            <a:r>
              <a:rPr lang="en-GB" dirty="0" err="1" smtClean="0">
                <a:solidFill>
                  <a:srgbClr val="000000"/>
                </a:solidFill>
              </a:rPr>
              <a:t>toiminnot</a:t>
            </a:r>
            <a:r>
              <a:rPr lang="en-GB" dirty="0" smtClean="0">
                <a:solidFill>
                  <a:srgbClr val="000000"/>
                </a:solidFill>
              </a:rPr>
              <a:t> </a:t>
            </a:r>
            <a:r>
              <a:rPr lang="en-GB" dirty="0" err="1" smtClean="0">
                <a:solidFill>
                  <a:srgbClr val="000000"/>
                </a:solidFill>
              </a:rPr>
              <a:t>ja</a:t>
            </a:r>
            <a:r>
              <a:rPr lang="en-GB" dirty="0" smtClean="0">
                <a:solidFill>
                  <a:srgbClr val="000000"/>
                </a:solidFill>
              </a:rPr>
              <a:t> </a:t>
            </a:r>
            <a:r>
              <a:rPr lang="en-GB" dirty="0" err="1" smtClean="0">
                <a:solidFill>
                  <a:srgbClr val="000000"/>
                </a:solidFill>
              </a:rPr>
              <a:t>toimintoihin</a:t>
            </a:r>
            <a:r>
              <a:rPr lang="en-GB" dirty="0" smtClean="0">
                <a:solidFill>
                  <a:srgbClr val="000000"/>
                </a:solidFill>
              </a:rPr>
              <a:t> </a:t>
            </a:r>
            <a:r>
              <a:rPr lang="en-GB" dirty="0" err="1" smtClean="0">
                <a:solidFill>
                  <a:srgbClr val="000000"/>
                </a:solidFill>
              </a:rPr>
              <a:t>liittyvä</a:t>
            </a:r>
            <a:r>
              <a:rPr lang="en-GB" dirty="0" smtClean="0">
                <a:solidFill>
                  <a:srgbClr val="000000"/>
                </a:solidFill>
              </a:rPr>
              <a:t> </a:t>
            </a:r>
            <a:r>
              <a:rPr lang="en-GB" dirty="0" err="1" smtClean="0">
                <a:solidFill>
                  <a:srgbClr val="000000"/>
                </a:solidFill>
              </a:rPr>
              <a:t>aineisto</a:t>
            </a:r>
            <a:r>
              <a:rPr lang="en-GB" dirty="0" smtClean="0">
                <a:solidFill>
                  <a:srgbClr val="000000"/>
                </a:solidFill>
              </a:rPr>
              <a:t>. </a:t>
            </a:r>
            <a:r>
              <a:rPr lang="en-GB" dirty="0" err="1" smtClean="0">
                <a:solidFill>
                  <a:srgbClr val="000000"/>
                </a:solidFill>
              </a:rPr>
              <a:t>Kattavassa</a:t>
            </a:r>
            <a:r>
              <a:rPr lang="en-GB" dirty="0" smtClean="0">
                <a:solidFill>
                  <a:srgbClr val="000000"/>
                </a:solidFill>
              </a:rPr>
              <a:t> </a:t>
            </a:r>
            <a:r>
              <a:rPr lang="en-GB" dirty="0" err="1" smtClean="0">
                <a:solidFill>
                  <a:srgbClr val="000000"/>
                </a:solidFill>
              </a:rPr>
              <a:t>testauksessa</a:t>
            </a:r>
            <a:r>
              <a:rPr lang="en-GB" dirty="0" smtClean="0">
                <a:solidFill>
                  <a:srgbClr val="000000"/>
                </a:solidFill>
              </a:rPr>
              <a:t> </a:t>
            </a:r>
            <a:r>
              <a:rPr lang="en-GB" dirty="0" err="1" smtClean="0">
                <a:solidFill>
                  <a:srgbClr val="000000"/>
                </a:solidFill>
              </a:rPr>
              <a:t>molemmat</a:t>
            </a:r>
            <a:r>
              <a:rPr lang="en-GB" dirty="0" smtClean="0">
                <a:solidFill>
                  <a:srgbClr val="000000"/>
                </a:solidFill>
              </a:rPr>
              <a:t> </a:t>
            </a:r>
            <a:r>
              <a:rPr lang="en-GB" dirty="0" err="1" smtClean="0">
                <a:solidFill>
                  <a:srgbClr val="000000"/>
                </a:solidFill>
              </a:rPr>
              <a:t>ulottuvuudet</a:t>
            </a:r>
            <a:r>
              <a:rPr lang="en-GB" dirty="0" smtClean="0">
                <a:solidFill>
                  <a:srgbClr val="000000"/>
                </a:solidFill>
              </a:rPr>
              <a:t> </a:t>
            </a:r>
            <a:r>
              <a:rPr lang="en-GB" dirty="0" err="1" smtClean="0">
                <a:solidFill>
                  <a:srgbClr val="000000"/>
                </a:solidFill>
              </a:rPr>
              <a:t>pyrittäisiin</a:t>
            </a:r>
            <a:r>
              <a:rPr lang="en-GB" dirty="0" smtClean="0">
                <a:solidFill>
                  <a:srgbClr val="000000"/>
                </a:solidFill>
              </a:rPr>
              <a:t> </a:t>
            </a:r>
            <a:r>
              <a:rPr lang="en-GB" dirty="0" err="1" smtClean="0">
                <a:solidFill>
                  <a:srgbClr val="000000"/>
                </a:solidFill>
              </a:rPr>
              <a:t>kattamaan</a:t>
            </a:r>
            <a:r>
              <a:rPr lang="en-GB" dirty="0" smtClean="0">
                <a:solidFill>
                  <a:srgbClr val="000000"/>
                </a:solidFill>
              </a:rPr>
              <a:t> - </a:t>
            </a:r>
            <a:r>
              <a:rPr lang="en-GB" dirty="0" err="1" smtClean="0">
                <a:solidFill>
                  <a:srgbClr val="000000"/>
                </a:solidFill>
              </a:rPr>
              <a:t>ja</a:t>
            </a:r>
            <a:r>
              <a:rPr lang="en-GB" dirty="0" smtClean="0">
                <a:solidFill>
                  <a:srgbClr val="000000"/>
                </a:solidFill>
              </a:rPr>
              <a:t> </a:t>
            </a:r>
            <a:r>
              <a:rPr lang="en-GB" dirty="0" err="1" smtClean="0">
                <a:solidFill>
                  <a:srgbClr val="000000"/>
                </a:solidFill>
              </a:rPr>
              <a:t>lisäksi</a:t>
            </a:r>
            <a:r>
              <a:rPr lang="en-GB" dirty="0" smtClean="0">
                <a:solidFill>
                  <a:srgbClr val="000000"/>
                </a:solidFill>
              </a:rPr>
              <a:t> </a:t>
            </a:r>
            <a:r>
              <a:rPr lang="en-GB" dirty="0" err="1" smtClean="0">
                <a:solidFill>
                  <a:srgbClr val="000000"/>
                </a:solidFill>
              </a:rPr>
              <a:t>vielä</a:t>
            </a:r>
            <a:r>
              <a:rPr lang="en-GB" dirty="0" smtClean="0">
                <a:solidFill>
                  <a:srgbClr val="000000"/>
                </a:solidFill>
              </a:rPr>
              <a:t> </a:t>
            </a:r>
            <a:r>
              <a:rPr lang="en-GB" dirty="0" err="1" smtClean="0">
                <a:solidFill>
                  <a:srgbClr val="000000"/>
                </a:solidFill>
              </a:rPr>
              <a:t>lisäulottuvuudet</a:t>
            </a:r>
            <a:r>
              <a:rPr lang="en-GB" dirty="0" smtClean="0">
                <a:solidFill>
                  <a:srgbClr val="000000"/>
                </a:solidFill>
              </a:rPr>
              <a:t> </a:t>
            </a:r>
            <a:r>
              <a:rPr lang="en-GB" dirty="0" err="1" smtClean="0">
                <a:solidFill>
                  <a:srgbClr val="000000"/>
                </a:solidFill>
              </a:rPr>
              <a:t>jotka</a:t>
            </a:r>
            <a:r>
              <a:rPr lang="en-GB" dirty="0" smtClean="0">
                <a:solidFill>
                  <a:srgbClr val="000000"/>
                </a:solidFill>
              </a:rPr>
              <a:t> </a:t>
            </a:r>
            <a:r>
              <a:rPr lang="en-GB" dirty="0" err="1" smtClean="0">
                <a:solidFill>
                  <a:srgbClr val="000000"/>
                </a:solidFill>
              </a:rPr>
              <a:t>aiheutuvat</a:t>
            </a:r>
            <a:r>
              <a:rPr lang="en-GB" dirty="0" smtClean="0">
                <a:solidFill>
                  <a:srgbClr val="000000"/>
                </a:solidFill>
              </a:rPr>
              <a:t> mm. </a:t>
            </a:r>
            <a:r>
              <a:rPr lang="en-GB" dirty="0" err="1" smtClean="0">
                <a:solidFill>
                  <a:srgbClr val="000000"/>
                </a:solidFill>
              </a:rPr>
              <a:t>ympäristömuuttujista</a:t>
            </a:r>
            <a:r>
              <a:rPr lang="en-GB" dirty="0" smtClean="0">
                <a:solidFill>
                  <a:srgbClr val="000000"/>
                </a:solidFill>
              </a:rPr>
              <a:t> </a:t>
            </a:r>
            <a:r>
              <a:rPr lang="en-GB" dirty="0" err="1" smtClean="0">
                <a:solidFill>
                  <a:srgbClr val="000000"/>
                </a:solidFill>
              </a:rPr>
              <a:t>ja</a:t>
            </a:r>
            <a:r>
              <a:rPr lang="en-GB" dirty="0" smtClean="0">
                <a:solidFill>
                  <a:srgbClr val="000000"/>
                </a:solidFill>
              </a:rPr>
              <a:t> </a:t>
            </a:r>
            <a:r>
              <a:rPr lang="en-GB" dirty="0" err="1" smtClean="0">
                <a:solidFill>
                  <a:srgbClr val="000000"/>
                </a:solidFill>
              </a:rPr>
              <a:t>ohjelman</a:t>
            </a:r>
            <a:r>
              <a:rPr lang="en-GB" dirty="0" smtClean="0">
                <a:solidFill>
                  <a:srgbClr val="000000"/>
                </a:solidFill>
              </a:rPr>
              <a:t> </a:t>
            </a:r>
            <a:r>
              <a:rPr lang="en-GB" dirty="0" err="1" smtClean="0">
                <a:solidFill>
                  <a:srgbClr val="000000"/>
                </a:solidFill>
              </a:rPr>
              <a:t>erilaisista</a:t>
            </a:r>
            <a:r>
              <a:rPr lang="en-GB" dirty="0" smtClean="0">
                <a:solidFill>
                  <a:srgbClr val="000000"/>
                </a:solidFill>
              </a:rPr>
              <a:t> </a:t>
            </a:r>
            <a:r>
              <a:rPr lang="en-GB" dirty="0" err="1" smtClean="0">
                <a:solidFill>
                  <a:srgbClr val="000000"/>
                </a:solidFill>
              </a:rPr>
              <a:t>tiloista</a:t>
            </a:r>
            <a:r>
              <a:rPr lang="en-GB" dirty="0" smtClean="0">
                <a:solidFill>
                  <a:srgbClr val="000000"/>
                </a:solidFill>
              </a:rPr>
              <a:t>. </a:t>
            </a:r>
            <a:r>
              <a:rPr lang="en-GB" b="1" dirty="0" err="1" smtClean="0">
                <a:solidFill>
                  <a:srgbClr val="000000"/>
                </a:solidFill>
              </a:rPr>
              <a:t>Toiminnallisuustestauksessa</a:t>
            </a:r>
            <a:r>
              <a:rPr lang="en-GB" dirty="0" smtClean="0">
                <a:solidFill>
                  <a:srgbClr val="000000"/>
                </a:solidFill>
              </a:rPr>
              <a:t> </a:t>
            </a:r>
            <a:r>
              <a:rPr lang="en-GB" dirty="0" err="1" smtClean="0">
                <a:solidFill>
                  <a:srgbClr val="000000"/>
                </a:solidFill>
              </a:rPr>
              <a:t>pyritään</a:t>
            </a:r>
            <a:r>
              <a:rPr lang="en-GB" dirty="0" smtClean="0">
                <a:solidFill>
                  <a:srgbClr val="000000"/>
                </a:solidFill>
              </a:rPr>
              <a:t> </a:t>
            </a:r>
            <a:r>
              <a:rPr lang="en-GB" dirty="0" err="1" smtClean="0">
                <a:solidFill>
                  <a:srgbClr val="000000"/>
                </a:solidFill>
              </a:rPr>
              <a:t>ensisijaisesti</a:t>
            </a:r>
            <a:r>
              <a:rPr lang="en-GB" dirty="0" smtClean="0">
                <a:solidFill>
                  <a:srgbClr val="000000"/>
                </a:solidFill>
              </a:rPr>
              <a:t> </a:t>
            </a:r>
            <a:r>
              <a:rPr lang="en-GB" dirty="0" err="1" smtClean="0">
                <a:solidFill>
                  <a:srgbClr val="000000"/>
                </a:solidFill>
              </a:rPr>
              <a:t>kattamaan</a:t>
            </a:r>
            <a:r>
              <a:rPr lang="en-GB" dirty="0" smtClean="0">
                <a:solidFill>
                  <a:srgbClr val="000000"/>
                </a:solidFill>
              </a:rPr>
              <a:t> </a:t>
            </a:r>
            <a:r>
              <a:rPr lang="en-GB" dirty="0" err="1" smtClean="0">
                <a:solidFill>
                  <a:srgbClr val="000000"/>
                </a:solidFill>
              </a:rPr>
              <a:t>ohjelmiston</a:t>
            </a:r>
            <a:r>
              <a:rPr lang="en-GB" dirty="0" smtClean="0">
                <a:solidFill>
                  <a:srgbClr val="000000"/>
                </a:solidFill>
              </a:rPr>
              <a:t> </a:t>
            </a:r>
            <a:r>
              <a:rPr lang="en-GB" dirty="0" err="1" smtClean="0">
                <a:solidFill>
                  <a:srgbClr val="000000"/>
                </a:solidFill>
              </a:rPr>
              <a:t>toiminnot</a:t>
            </a:r>
            <a:r>
              <a:rPr lang="en-GB" dirty="0" smtClean="0">
                <a:solidFill>
                  <a:srgbClr val="000000"/>
                </a:solidFill>
              </a:rPr>
              <a:t> </a:t>
            </a:r>
            <a:r>
              <a:rPr lang="en-GB" dirty="0" err="1" smtClean="0">
                <a:solidFill>
                  <a:srgbClr val="000000"/>
                </a:solidFill>
              </a:rPr>
              <a:t>jollakin</a:t>
            </a:r>
            <a:r>
              <a:rPr lang="en-GB" dirty="0" smtClean="0">
                <a:solidFill>
                  <a:srgbClr val="000000"/>
                </a:solidFill>
              </a:rPr>
              <a:t> </a:t>
            </a:r>
            <a:r>
              <a:rPr lang="en-GB" dirty="0" err="1" smtClean="0">
                <a:solidFill>
                  <a:srgbClr val="000000"/>
                </a:solidFill>
              </a:rPr>
              <a:t>aineistolla</a:t>
            </a:r>
            <a:r>
              <a:rPr lang="en-GB" dirty="0" smtClean="0">
                <a:solidFill>
                  <a:srgbClr val="000000"/>
                </a:solidFill>
              </a:rPr>
              <a:t>. </a:t>
            </a:r>
            <a:r>
              <a:rPr lang="en-GB" b="1" dirty="0" err="1" smtClean="0">
                <a:solidFill>
                  <a:srgbClr val="000000"/>
                </a:solidFill>
              </a:rPr>
              <a:t>Luotettavuustestauksen</a:t>
            </a:r>
            <a:r>
              <a:rPr lang="en-GB" dirty="0" smtClean="0">
                <a:solidFill>
                  <a:srgbClr val="000000"/>
                </a:solidFill>
              </a:rPr>
              <a:t> </a:t>
            </a:r>
            <a:r>
              <a:rPr lang="en-GB" dirty="0" err="1" smtClean="0">
                <a:solidFill>
                  <a:srgbClr val="000000"/>
                </a:solidFill>
              </a:rPr>
              <a:t>kannalta</a:t>
            </a:r>
            <a:r>
              <a:rPr lang="en-GB" dirty="0" smtClean="0">
                <a:solidFill>
                  <a:srgbClr val="000000"/>
                </a:solidFill>
              </a:rPr>
              <a:t> </a:t>
            </a:r>
            <a:r>
              <a:rPr lang="en-GB" dirty="0" err="1" smtClean="0">
                <a:solidFill>
                  <a:srgbClr val="000000"/>
                </a:solidFill>
              </a:rPr>
              <a:t>aineiston</a:t>
            </a:r>
            <a:r>
              <a:rPr lang="en-GB" dirty="0" smtClean="0">
                <a:solidFill>
                  <a:srgbClr val="000000"/>
                </a:solidFill>
              </a:rPr>
              <a:t> </a:t>
            </a:r>
            <a:r>
              <a:rPr lang="en-GB" dirty="0" err="1" smtClean="0">
                <a:solidFill>
                  <a:srgbClr val="000000"/>
                </a:solidFill>
              </a:rPr>
              <a:t>monipuolinen</a:t>
            </a:r>
            <a:r>
              <a:rPr lang="en-GB" dirty="0" smtClean="0">
                <a:solidFill>
                  <a:srgbClr val="000000"/>
                </a:solidFill>
              </a:rPr>
              <a:t> </a:t>
            </a:r>
            <a:r>
              <a:rPr lang="en-GB" dirty="0" err="1" smtClean="0">
                <a:solidFill>
                  <a:srgbClr val="000000"/>
                </a:solidFill>
              </a:rPr>
              <a:t>kattaminen</a:t>
            </a:r>
            <a:r>
              <a:rPr lang="en-GB" dirty="0" smtClean="0">
                <a:solidFill>
                  <a:srgbClr val="000000"/>
                </a:solidFill>
              </a:rPr>
              <a:t> on </a:t>
            </a:r>
            <a:r>
              <a:rPr lang="en-GB" dirty="0" err="1" smtClean="0">
                <a:solidFill>
                  <a:srgbClr val="000000"/>
                </a:solidFill>
              </a:rPr>
              <a:t>oleellista</a:t>
            </a:r>
            <a:r>
              <a:rPr lang="en-GB" dirty="0" smtClean="0">
                <a:solidFill>
                  <a:srgbClr val="000000"/>
                </a:solidFill>
              </a:rPr>
              <a:t>. </a:t>
            </a:r>
            <a:r>
              <a:rPr lang="en-GB" dirty="0" err="1" smtClean="0">
                <a:solidFill>
                  <a:srgbClr val="000000"/>
                </a:solidFill>
              </a:rPr>
              <a:t>Ihanteellinen</a:t>
            </a:r>
            <a:r>
              <a:rPr lang="en-GB" dirty="0" smtClean="0">
                <a:solidFill>
                  <a:srgbClr val="000000"/>
                </a:solidFill>
              </a:rPr>
              <a:t> </a:t>
            </a:r>
            <a:r>
              <a:rPr lang="en-GB" dirty="0" err="1" smtClean="0">
                <a:solidFill>
                  <a:srgbClr val="000000"/>
                </a:solidFill>
              </a:rPr>
              <a:t>tilanne</a:t>
            </a:r>
            <a:r>
              <a:rPr lang="en-GB" dirty="0" smtClean="0">
                <a:solidFill>
                  <a:srgbClr val="000000"/>
                </a:solidFill>
              </a:rPr>
              <a:t> </a:t>
            </a:r>
            <a:r>
              <a:rPr lang="en-GB" dirty="0" err="1" smtClean="0">
                <a:solidFill>
                  <a:srgbClr val="000000"/>
                </a:solidFill>
              </a:rPr>
              <a:t>olisi</a:t>
            </a:r>
            <a:r>
              <a:rPr lang="en-GB" dirty="0" smtClean="0">
                <a:solidFill>
                  <a:srgbClr val="000000"/>
                </a:solidFill>
              </a:rPr>
              <a:t> </a:t>
            </a:r>
            <a:r>
              <a:rPr lang="en-GB" dirty="0" err="1" smtClean="0">
                <a:solidFill>
                  <a:srgbClr val="000000"/>
                </a:solidFill>
              </a:rPr>
              <a:t>kyetä</a:t>
            </a:r>
            <a:r>
              <a:rPr lang="en-GB" dirty="0" smtClean="0">
                <a:solidFill>
                  <a:srgbClr val="000000"/>
                </a:solidFill>
              </a:rPr>
              <a:t> </a:t>
            </a:r>
            <a:r>
              <a:rPr lang="en-GB" dirty="0" err="1" smtClean="0">
                <a:solidFill>
                  <a:srgbClr val="000000"/>
                </a:solidFill>
              </a:rPr>
              <a:t>valitsemaan</a:t>
            </a:r>
            <a:r>
              <a:rPr lang="en-GB" dirty="0" smtClean="0">
                <a:solidFill>
                  <a:srgbClr val="000000"/>
                </a:solidFill>
              </a:rPr>
              <a:t> </a:t>
            </a:r>
            <a:r>
              <a:rPr lang="en-GB" dirty="0" err="1" smtClean="0">
                <a:solidFill>
                  <a:srgbClr val="000000"/>
                </a:solidFill>
              </a:rPr>
              <a:t>testit</a:t>
            </a:r>
            <a:r>
              <a:rPr lang="en-GB" dirty="0" smtClean="0">
                <a:solidFill>
                  <a:srgbClr val="000000"/>
                </a:solidFill>
              </a:rPr>
              <a:t> </a:t>
            </a:r>
            <a:r>
              <a:rPr lang="en-GB" dirty="0" err="1" smtClean="0">
                <a:solidFill>
                  <a:srgbClr val="000000"/>
                </a:solidFill>
              </a:rPr>
              <a:t>niin</a:t>
            </a:r>
            <a:r>
              <a:rPr lang="en-GB" dirty="0" smtClean="0">
                <a:solidFill>
                  <a:srgbClr val="000000"/>
                </a:solidFill>
              </a:rPr>
              <a:t> </a:t>
            </a:r>
            <a:r>
              <a:rPr lang="en-GB" dirty="0" err="1" smtClean="0">
                <a:solidFill>
                  <a:srgbClr val="000000"/>
                </a:solidFill>
              </a:rPr>
              <a:t>että</a:t>
            </a:r>
            <a:r>
              <a:rPr lang="en-GB" dirty="0" smtClean="0">
                <a:solidFill>
                  <a:srgbClr val="000000"/>
                </a:solidFill>
              </a:rPr>
              <a:t> ne </a:t>
            </a:r>
            <a:r>
              <a:rPr lang="en-GB" dirty="0" err="1" smtClean="0">
                <a:solidFill>
                  <a:srgbClr val="000000"/>
                </a:solidFill>
              </a:rPr>
              <a:t>kohdistuvat</a:t>
            </a:r>
            <a:r>
              <a:rPr lang="en-GB" dirty="0" smtClean="0">
                <a:solidFill>
                  <a:srgbClr val="000000"/>
                </a:solidFill>
              </a:rPr>
              <a:t> </a:t>
            </a:r>
            <a:r>
              <a:rPr lang="en-GB" dirty="0" err="1" smtClean="0">
                <a:solidFill>
                  <a:srgbClr val="000000"/>
                </a:solidFill>
              </a:rPr>
              <a:t>ohjelmiston</a:t>
            </a:r>
            <a:r>
              <a:rPr lang="en-GB" dirty="0" smtClean="0">
                <a:solidFill>
                  <a:srgbClr val="000000"/>
                </a:solidFill>
              </a:rPr>
              <a:t> </a:t>
            </a:r>
            <a:r>
              <a:rPr lang="en-GB" dirty="0" err="1" smtClean="0">
                <a:solidFill>
                  <a:srgbClr val="000000"/>
                </a:solidFill>
              </a:rPr>
              <a:t>riskeihin</a:t>
            </a:r>
            <a:r>
              <a:rPr lang="en-GB" dirty="0" smtClean="0">
                <a:solidFill>
                  <a:srgbClr val="000000"/>
                </a:solidFill>
              </a:rPr>
              <a:t> </a:t>
            </a:r>
            <a:r>
              <a:rPr lang="en-GB" dirty="0" err="1" smtClean="0">
                <a:solidFill>
                  <a:srgbClr val="000000"/>
                </a:solidFill>
              </a:rPr>
              <a:t>ja</a:t>
            </a:r>
            <a:r>
              <a:rPr lang="en-GB" dirty="0" smtClean="0">
                <a:solidFill>
                  <a:srgbClr val="000000"/>
                </a:solidFill>
              </a:rPr>
              <a:t> </a:t>
            </a:r>
            <a:r>
              <a:rPr lang="en-GB" dirty="0" err="1" smtClean="0">
                <a:solidFill>
                  <a:srgbClr val="000000"/>
                </a:solidFill>
              </a:rPr>
              <a:t>tätä</a:t>
            </a:r>
            <a:r>
              <a:rPr lang="en-GB" dirty="0" smtClean="0">
                <a:solidFill>
                  <a:srgbClr val="000000"/>
                </a:solidFill>
              </a:rPr>
              <a:t> </a:t>
            </a:r>
            <a:r>
              <a:rPr lang="en-GB" dirty="0" err="1" smtClean="0">
                <a:solidFill>
                  <a:srgbClr val="000000"/>
                </a:solidFill>
              </a:rPr>
              <a:t>lähestymistapaa</a:t>
            </a:r>
            <a:r>
              <a:rPr lang="en-GB" dirty="0" smtClean="0">
                <a:solidFill>
                  <a:srgbClr val="000000"/>
                </a:solidFill>
              </a:rPr>
              <a:t> </a:t>
            </a:r>
            <a:r>
              <a:rPr lang="en-GB" dirty="0" err="1" smtClean="0">
                <a:solidFill>
                  <a:srgbClr val="000000"/>
                </a:solidFill>
              </a:rPr>
              <a:t>kutsutaan</a:t>
            </a:r>
            <a:r>
              <a:rPr lang="en-GB" b="1" dirty="0" smtClean="0">
                <a:solidFill>
                  <a:srgbClr val="000000"/>
                </a:solidFill>
              </a:rPr>
              <a:t> </a:t>
            </a:r>
            <a:r>
              <a:rPr lang="en-GB" b="1" dirty="0" err="1" smtClean="0">
                <a:solidFill>
                  <a:srgbClr val="000000"/>
                </a:solidFill>
              </a:rPr>
              <a:t>riskien</a:t>
            </a:r>
            <a:r>
              <a:rPr lang="en-GB" b="1" dirty="0" smtClean="0">
                <a:solidFill>
                  <a:srgbClr val="000000"/>
                </a:solidFill>
              </a:rPr>
              <a:t> </a:t>
            </a:r>
            <a:r>
              <a:rPr lang="en-GB" b="1" dirty="0" err="1" smtClean="0">
                <a:solidFill>
                  <a:srgbClr val="000000"/>
                </a:solidFill>
              </a:rPr>
              <a:t>testaamiseksi</a:t>
            </a:r>
            <a:r>
              <a:rPr lang="en-GB" dirty="0" smtClean="0">
                <a:solidFill>
                  <a:srgbClr val="000000"/>
                </a:solidFill>
              </a:rPr>
              <a:t>.</a:t>
            </a:r>
          </a:p>
          <a:p>
            <a:endParaRPr lang="en-GB" dirty="0" smtClean="0"/>
          </a:p>
          <a:p>
            <a:endParaRPr lang="fi-FI" dirty="0"/>
          </a:p>
        </p:txBody>
      </p:sp>
      <p:sp>
        <p:nvSpPr>
          <p:cNvPr id="4" name="Slide Number Placeholder 3"/>
          <p:cNvSpPr>
            <a:spLocks noGrp="1"/>
          </p:cNvSpPr>
          <p:nvPr>
            <p:ph type="sldNum" sz="quarter" idx="10"/>
          </p:nvPr>
        </p:nvSpPr>
        <p:spPr/>
        <p:txBody>
          <a:bodyPr/>
          <a:lstStyle/>
          <a:p>
            <a:fld id="{97448301-CC46-4343-9CF3-278EBADD52AD}" type="slidenum">
              <a:rPr lang="fi-FI" smtClean="0"/>
              <a:pPr/>
              <a:t>209</a:t>
            </a:fld>
            <a:endParaRPr lang="fi-FI"/>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41412725-E863-4A80-9737-940B4FC3C813}" type="slidenum">
              <a:rPr lang="en-US" smtClean="0"/>
              <a:pPr/>
              <a:t>210</a:t>
            </a:fld>
            <a:endParaRPr lang="en-US"/>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DDBCDF7F-5AB8-470F-8C9F-B8B6C6AAA07C}" type="slidenum">
              <a:rPr lang="fi-FI" smtClean="0"/>
              <a:pPr/>
              <a:t>221</a:t>
            </a:fld>
            <a:endParaRPr lang="fi-FI"/>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9A13E0A-11F1-4D19-9DBD-97A63ACEC716}" type="slidenum">
              <a:rPr lang="en-US"/>
              <a:pPr/>
              <a:t>222</a:t>
            </a:fld>
            <a:endParaRPr lang="en-US"/>
          </a:p>
        </p:txBody>
      </p:sp>
      <p:sp>
        <p:nvSpPr>
          <p:cNvPr id="138242" name="Rectangle 2"/>
          <p:cNvSpPr>
            <a:spLocks noGrp="1" noRot="1" noChangeAspect="1" noChangeArrowheads="1" noTextEdit="1"/>
          </p:cNvSpPr>
          <p:nvPr>
            <p:ph type="sldImg"/>
          </p:nvPr>
        </p:nvSpPr>
        <p:spPr>
          <a:ln/>
        </p:spPr>
      </p:sp>
      <p:sp>
        <p:nvSpPr>
          <p:cNvPr id="138243" name="Rectangle 3"/>
          <p:cNvSpPr>
            <a:spLocks noGrp="1" noChangeArrowheads="1"/>
          </p:cNvSpPr>
          <p:nvPr>
            <p:ph type="body" idx="1"/>
          </p:nvPr>
        </p:nvSpPr>
        <p:spPr>
          <a:xfrm>
            <a:off x="914400" y="4343400"/>
            <a:ext cx="5029200" cy="4114800"/>
          </a:xfrm>
        </p:spPr>
        <p:txBody>
          <a:bodyPr/>
          <a:lstStyle/>
          <a:p>
            <a:endParaRPr lang="en-US"/>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223</a:t>
            </a:fld>
            <a:endParaRPr lang="fi-FI"/>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1E42E794-638D-48BE-9CAC-6C3073D24FE2}" type="slidenum">
              <a:rPr lang="fi-FI" smtClean="0"/>
              <a:pPr/>
              <a:t>224</a:t>
            </a:fld>
            <a:endParaRPr lang="fi-FI"/>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DDBCDF7F-5AB8-470F-8C9F-B8B6C6AAA07C}" type="slidenum">
              <a:rPr lang="fi-FI" smtClean="0"/>
              <a:pPr/>
              <a:t>226</a:t>
            </a:fld>
            <a:endParaRPr lang="fi-FI"/>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1E42E794-638D-48BE-9CAC-6C3073D24FE2}" type="slidenum">
              <a:rPr lang="fi-FI" smtClean="0"/>
              <a:pPr/>
              <a:t>227</a:t>
            </a:fld>
            <a:endParaRPr lang="fi-FI"/>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DDBCDF7F-5AB8-470F-8C9F-B8B6C6AAA07C}" type="slidenum">
              <a:rPr lang="fi-FI" smtClean="0"/>
              <a:pPr/>
              <a:t>228</a:t>
            </a:fld>
            <a:endParaRPr lang="fi-FI"/>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1E42E794-638D-48BE-9CAC-6C3073D24FE2}" type="slidenum">
              <a:rPr lang="fi-FI" smtClean="0"/>
              <a:pPr/>
              <a:t>229</a:t>
            </a:fld>
            <a:endParaRPr lang="fi-FI"/>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6B2E4471-24CF-48D2-9D3C-6CE1D5B02152}" type="slidenum">
              <a:rPr lang="fi-FI" smtClean="0"/>
              <a:pPr/>
              <a:t>230</a:t>
            </a:fld>
            <a:endParaRPr lang="fi-FI"/>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E9A0D27A-A794-42D6-8F5C-25D71E8A9B8C}" type="slidenum">
              <a:rPr lang="fi-FI" smtClean="0"/>
              <a:pPr/>
              <a:t>231</a:t>
            </a:fld>
            <a:endParaRPr lang="fi-FI"/>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EFE93779-483C-49C1-A43A-0CDFF567C6BF}" type="slidenum">
              <a:rPr lang="fi-FI" smtClean="0"/>
              <a:pPr/>
              <a:t>232</a:t>
            </a:fld>
            <a:endParaRPr lang="fi-FI"/>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p:cNvSpPr>
            <a:spLocks noGrp="1" noRot="1" noChangeAspect="1"/>
          </p:cNvSpPr>
          <p:nvPr>
            <p:ph type="sldImg"/>
          </p:nvPr>
        </p:nvSpPr>
        <p:spPr bwMode="auto">
          <a:noFill/>
          <a:ln>
            <a:solidFill>
              <a:srgbClr val="000000"/>
            </a:solidFill>
            <a:miter lim="800000"/>
            <a:headEnd/>
            <a:tailEnd/>
          </a:ln>
        </p:spPr>
      </p:sp>
      <p:sp>
        <p:nvSpPr>
          <p:cNvPr id="29698"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fi-FI" smtClean="0"/>
          </a:p>
        </p:txBody>
      </p:sp>
      <p:sp>
        <p:nvSpPr>
          <p:cNvPr id="29699"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8E69A87-4584-4DFB-8696-39069E0FD2F5}" type="slidenum">
              <a:rPr lang="fi-FI"/>
              <a:pPr fontAlgn="base">
                <a:spcBef>
                  <a:spcPct val="0"/>
                </a:spcBef>
                <a:spcAft>
                  <a:spcPct val="0"/>
                </a:spcAft>
              </a:pPr>
              <a:t>234</a:t>
            </a:fld>
            <a:endParaRPr lang="fi-FI"/>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8AB89F2B-1AC2-4FBF-AD55-B6B73A9E71E1}" type="slidenum">
              <a:rPr lang="en-US" smtClean="0"/>
              <a:pPr/>
              <a:t>235</a:t>
            </a:fld>
            <a:endParaRPr lang="en-US"/>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6"/>
          <p:cNvSpPr>
            <a:spLocks noGrp="1" noChangeArrowheads="1"/>
          </p:cNvSpPr>
          <p:nvPr>
            <p:ph type="ftr" sz="quarter" idx="4"/>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r>
              <a:rPr lang="en-AU" smtClean="0">
                <a:solidFill>
                  <a:schemeClr val="bg2"/>
                </a:solidFill>
              </a:rPr>
              <a:t>Copyright </a:t>
            </a:r>
            <a:r>
              <a:rPr lang="en-GB" smtClean="0">
                <a:solidFill>
                  <a:schemeClr val="bg2"/>
                </a:solidFill>
              </a:rPr>
              <a:t>© 200</a:t>
            </a:r>
            <a:r>
              <a:rPr lang="fi-FI" smtClean="0">
                <a:solidFill>
                  <a:schemeClr val="bg2"/>
                </a:solidFill>
              </a:rPr>
              <a:t>4 </a:t>
            </a:r>
            <a:r>
              <a:rPr lang="en-GB" smtClean="0">
                <a:solidFill>
                  <a:schemeClr val="bg2"/>
                </a:solidFill>
              </a:rPr>
              <a:t>F-Secure Corporation. All rights reserved. </a:t>
            </a:r>
            <a:br>
              <a:rPr lang="en-GB" smtClean="0">
                <a:solidFill>
                  <a:schemeClr val="bg2"/>
                </a:solidFill>
              </a:rPr>
            </a:br>
            <a:r>
              <a:rPr lang="en-AU" smtClean="0">
                <a:solidFill>
                  <a:schemeClr val="bg2"/>
                </a:solidFill>
              </a:rPr>
              <a:t>Finland | France | Germany | Japan | Sweden | United Kingdom |  </a:t>
            </a:r>
            <a:r>
              <a:rPr lang="en-GB" smtClean="0"/>
              <a:t>USA</a:t>
            </a:r>
            <a:endParaRPr lang="fi-FI" smtClean="0"/>
          </a:p>
          <a:p>
            <a:pPr fontAlgn="base">
              <a:spcBef>
                <a:spcPct val="0"/>
              </a:spcBef>
              <a:spcAft>
                <a:spcPct val="0"/>
              </a:spcAft>
            </a:pPr>
            <a:r>
              <a:rPr lang="en-GB" smtClean="0"/>
              <a:t>Tel. +358 9 2520 0700 | info@f-secure.com |</a:t>
            </a:r>
            <a:r>
              <a:rPr lang="fi-FI" smtClean="0"/>
              <a:t> </a:t>
            </a:r>
            <a:r>
              <a:rPr lang="en-GB" smtClean="0"/>
              <a:t>www.f-secure.com</a:t>
            </a:r>
          </a:p>
        </p:txBody>
      </p:sp>
      <p:sp>
        <p:nvSpPr>
          <p:cNvPr id="114691"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B3A55EBC-ACA9-441C-A34E-F766F450A3F0}" type="slidenum">
              <a:rPr lang="en-GB"/>
              <a:pPr fontAlgn="base">
                <a:spcBef>
                  <a:spcPct val="0"/>
                </a:spcBef>
                <a:spcAft>
                  <a:spcPct val="0"/>
                </a:spcAft>
              </a:pPr>
              <a:t>237</a:t>
            </a:fld>
            <a:endParaRPr lang="en-GB"/>
          </a:p>
        </p:txBody>
      </p:sp>
      <p:sp>
        <p:nvSpPr>
          <p:cNvPr id="11469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1469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GB" smtClean="0"/>
              <a:t>Kerro tarina Whittaker. </a:t>
            </a:r>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97448301-CC46-4343-9CF3-278EBADD52AD}" type="slidenum">
              <a:rPr lang="fi-FI" smtClean="0"/>
              <a:pPr/>
              <a:t>238</a:t>
            </a:fld>
            <a:endParaRPr lang="fi-FI"/>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pPr>
              <a:defRPr/>
            </a:pPr>
            <a:fld id="{45E1FADA-F3C1-486A-BEBC-DC172215D2C0}" type="slidenum">
              <a:rPr lang="en-US" smtClean="0"/>
              <a:pPr>
                <a:defRPr/>
              </a:pPr>
              <a:t>239</a:t>
            </a:fld>
            <a:endParaRPr lang="en-US"/>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242</a:t>
            </a:fld>
            <a:endParaRPr lang="fi-FI"/>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Otsikkodia">
    <p:spTree>
      <p:nvGrpSpPr>
        <p:cNvPr id="1" name=""/>
        <p:cNvGrpSpPr/>
        <p:nvPr/>
      </p:nvGrpSpPr>
      <p:grpSpPr>
        <a:xfrm>
          <a:off x="0" y="0"/>
          <a:ext cx="0" cy="0"/>
          <a:chOff x="0" y="0"/>
          <a:chExt cx="0" cy="0"/>
        </a:xfrm>
      </p:grpSpPr>
      <p:sp>
        <p:nvSpPr>
          <p:cNvPr id="2" name="Otsikko 1"/>
          <p:cNvSpPr>
            <a:spLocks noGrp="1"/>
          </p:cNvSpPr>
          <p:nvPr>
            <p:ph type="ctrTitle"/>
          </p:nvPr>
        </p:nvSpPr>
        <p:spPr>
          <a:xfrm>
            <a:off x="685800" y="2130425"/>
            <a:ext cx="7772400" cy="1470025"/>
          </a:xfrm>
        </p:spPr>
        <p:txBody>
          <a:bodyPr/>
          <a:lstStyle/>
          <a:p>
            <a:r>
              <a:rPr lang="fi-FI" smtClean="0"/>
              <a:t>Muokkaa perustyyl. napsautt.</a:t>
            </a:r>
            <a:endParaRPr lang="en-US"/>
          </a:p>
        </p:txBody>
      </p:sp>
      <p:sp>
        <p:nvSpPr>
          <p:cNvPr id="3" name="Alaotsikk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smtClean="0"/>
              <a:t>Muokkaa alaotsikon perustyyliä napsautt.</a:t>
            </a:r>
            <a:endParaRPr lang="en-US"/>
          </a:p>
        </p:txBody>
      </p:sp>
      <p:sp>
        <p:nvSpPr>
          <p:cNvPr id="4" name="Päivämäärän paikkamerkki 3"/>
          <p:cNvSpPr>
            <a:spLocks noGrp="1"/>
          </p:cNvSpPr>
          <p:nvPr>
            <p:ph type="dt" sz="half" idx="10"/>
          </p:nvPr>
        </p:nvSpPr>
        <p:spPr/>
        <p:txBody>
          <a:bodyPr/>
          <a:lstStyle/>
          <a:p>
            <a:fld id="{3D7123CE-FAA5-486A-A3A4-292CF156087E}" type="datetime1">
              <a:rPr lang="en-US" smtClean="0"/>
              <a:pPr/>
              <a:t>23/03/15</a:t>
            </a:fld>
            <a:endParaRPr lang="en-US"/>
          </a:p>
        </p:txBody>
      </p:sp>
      <p:sp>
        <p:nvSpPr>
          <p:cNvPr id="5" name="Alatunnisteen paikkamerkki 4"/>
          <p:cNvSpPr>
            <a:spLocks noGrp="1"/>
          </p:cNvSpPr>
          <p:nvPr>
            <p:ph type="ftr" sz="quarter" idx="11"/>
          </p:nvPr>
        </p:nvSpPr>
        <p:spPr/>
        <p:txBody>
          <a:bodyPr/>
          <a:lstStyle/>
          <a:p>
            <a:endParaRPr lang="en-US"/>
          </a:p>
        </p:txBody>
      </p:sp>
      <p:sp>
        <p:nvSpPr>
          <p:cNvPr id="6" name="Dian numeron paikkamerkki 5"/>
          <p:cNvSpPr>
            <a:spLocks noGrp="1"/>
          </p:cNvSpPr>
          <p:nvPr>
            <p:ph type="sldNum" sz="quarter" idx="12"/>
          </p:nvPr>
        </p:nvSpPr>
        <p:spPr/>
        <p:txBody>
          <a:bodyPr/>
          <a:lstStyle/>
          <a:p>
            <a:fld id="{795D4979-5CBF-4F74-9540-D01A567AC31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Otsikko ja sisältö">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smtClean="0"/>
              <a:t>Muokkaa perustyyl. napsautt.</a:t>
            </a:r>
            <a:endParaRPr lang="en-US"/>
          </a:p>
        </p:txBody>
      </p:sp>
      <p:sp>
        <p:nvSpPr>
          <p:cNvPr id="3" name="Sisällön paikkamerkki 2"/>
          <p:cNvSpPr>
            <a:spLocks noGrp="1"/>
          </p:cNvSpPr>
          <p:nvPr>
            <p:ph idx="1"/>
          </p:nvPr>
        </p:nvSpPr>
        <p:spPr/>
        <p:txBody>
          <a:bodyPr/>
          <a:lstStyle/>
          <a:p>
            <a:pPr lvl="0"/>
            <a:r>
              <a:rPr lang="fi-FI" smtClean="0"/>
              <a:t>Muokkaa tekstin perustyylejä napsauttamalla</a:t>
            </a:r>
          </a:p>
          <a:p>
            <a:pPr lvl="1"/>
            <a:r>
              <a:rPr lang="fi-FI" smtClean="0"/>
              <a:t>toinen taso</a:t>
            </a:r>
          </a:p>
          <a:p>
            <a:pPr lvl="2"/>
            <a:r>
              <a:rPr lang="fi-FI" smtClean="0"/>
              <a:t>kolmas taso</a:t>
            </a:r>
          </a:p>
          <a:p>
            <a:pPr lvl="3"/>
            <a:r>
              <a:rPr lang="fi-FI" smtClean="0"/>
              <a:t>neljäs taso</a:t>
            </a:r>
          </a:p>
          <a:p>
            <a:pPr lvl="4"/>
            <a:r>
              <a:rPr lang="fi-FI" smtClean="0"/>
              <a:t>viides taso</a:t>
            </a:r>
            <a:endParaRPr lang="en-US"/>
          </a:p>
        </p:txBody>
      </p:sp>
      <p:sp>
        <p:nvSpPr>
          <p:cNvPr id="4" name="Päivämäärän paikkamerkki 3"/>
          <p:cNvSpPr>
            <a:spLocks noGrp="1"/>
          </p:cNvSpPr>
          <p:nvPr>
            <p:ph type="dt" sz="half" idx="10"/>
          </p:nvPr>
        </p:nvSpPr>
        <p:spPr/>
        <p:txBody>
          <a:bodyPr/>
          <a:lstStyle/>
          <a:p>
            <a:fld id="{1C8FBF0F-4FB6-434D-8AA6-26D879C2BC23}" type="datetime1">
              <a:rPr lang="en-US" smtClean="0"/>
              <a:pPr/>
              <a:t>23/03/15</a:t>
            </a:fld>
            <a:endParaRPr lang="en-US"/>
          </a:p>
        </p:txBody>
      </p:sp>
      <p:sp>
        <p:nvSpPr>
          <p:cNvPr id="5" name="Alatunnisteen paikkamerkki 4"/>
          <p:cNvSpPr>
            <a:spLocks noGrp="1"/>
          </p:cNvSpPr>
          <p:nvPr>
            <p:ph type="ftr" sz="quarter" idx="11"/>
          </p:nvPr>
        </p:nvSpPr>
        <p:spPr/>
        <p:txBody>
          <a:bodyPr/>
          <a:lstStyle/>
          <a:p>
            <a:endParaRPr lang="en-US"/>
          </a:p>
        </p:txBody>
      </p:sp>
      <p:sp>
        <p:nvSpPr>
          <p:cNvPr id="6" name="Dian numeron paikkamerkki 5"/>
          <p:cNvSpPr>
            <a:spLocks noGrp="1"/>
          </p:cNvSpPr>
          <p:nvPr>
            <p:ph type="sldNum" sz="quarter" idx="12"/>
          </p:nvPr>
        </p:nvSpPr>
        <p:spPr/>
        <p:txBody>
          <a:bodyPr/>
          <a:lstStyle/>
          <a:p>
            <a:fld id="{795D4979-5CBF-4F74-9540-D01A567AC31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Osan ylätunniste">
    <p:spTree>
      <p:nvGrpSpPr>
        <p:cNvPr id="1" name=""/>
        <p:cNvGrpSpPr/>
        <p:nvPr/>
      </p:nvGrpSpPr>
      <p:grpSpPr>
        <a:xfrm>
          <a:off x="0" y="0"/>
          <a:ext cx="0" cy="0"/>
          <a:chOff x="0" y="0"/>
          <a:chExt cx="0" cy="0"/>
        </a:xfrm>
      </p:grpSpPr>
      <p:sp>
        <p:nvSpPr>
          <p:cNvPr id="2" name="Otsikko 1"/>
          <p:cNvSpPr>
            <a:spLocks noGrp="1"/>
          </p:cNvSpPr>
          <p:nvPr>
            <p:ph type="title"/>
          </p:nvPr>
        </p:nvSpPr>
        <p:spPr>
          <a:xfrm>
            <a:off x="722313" y="4406900"/>
            <a:ext cx="7772400" cy="1362075"/>
          </a:xfrm>
        </p:spPr>
        <p:txBody>
          <a:bodyPr anchor="t"/>
          <a:lstStyle>
            <a:lvl1pPr algn="l">
              <a:defRPr sz="4000" b="1" cap="all"/>
            </a:lvl1pPr>
          </a:lstStyle>
          <a:p>
            <a:r>
              <a:rPr lang="fi-FI" smtClean="0"/>
              <a:t>Muokkaa perustyyl. napsautt.</a:t>
            </a:r>
            <a:endParaRPr lang="en-US"/>
          </a:p>
        </p:txBody>
      </p:sp>
      <p:sp>
        <p:nvSpPr>
          <p:cNvPr id="3" name="Tekstin paikkamerkki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smtClean="0"/>
              <a:t>Muokkaa tekstin perustyylejä napsauttamalla</a:t>
            </a:r>
          </a:p>
        </p:txBody>
      </p:sp>
      <p:sp>
        <p:nvSpPr>
          <p:cNvPr id="4" name="Päivämäärän paikkamerkki 3"/>
          <p:cNvSpPr>
            <a:spLocks noGrp="1"/>
          </p:cNvSpPr>
          <p:nvPr>
            <p:ph type="dt" sz="half" idx="10"/>
          </p:nvPr>
        </p:nvSpPr>
        <p:spPr/>
        <p:txBody>
          <a:bodyPr/>
          <a:lstStyle/>
          <a:p>
            <a:fld id="{E0A92AD2-70D2-4F9F-B0DC-44352CD5FC7B}" type="datetime1">
              <a:rPr lang="en-US" smtClean="0"/>
              <a:pPr/>
              <a:t>23/03/15</a:t>
            </a:fld>
            <a:endParaRPr lang="en-US"/>
          </a:p>
        </p:txBody>
      </p:sp>
      <p:sp>
        <p:nvSpPr>
          <p:cNvPr id="5" name="Alatunnisteen paikkamerkki 4"/>
          <p:cNvSpPr>
            <a:spLocks noGrp="1"/>
          </p:cNvSpPr>
          <p:nvPr>
            <p:ph type="ftr" sz="quarter" idx="11"/>
          </p:nvPr>
        </p:nvSpPr>
        <p:spPr/>
        <p:txBody>
          <a:bodyPr/>
          <a:lstStyle/>
          <a:p>
            <a:endParaRPr lang="en-US"/>
          </a:p>
        </p:txBody>
      </p:sp>
      <p:sp>
        <p:nvSpPr>
          <p:cNvPr id="6" name="Dian numeron paikkamerkki 5"/>
          <p:cNvSpPr>
            <a:spLocks noGrp="1"/>
          </p:cNvSpPr>
          <p:nvPr>
            <p:ph type="sldNum" sz="quarter" idx="12"/>
          </p:nvPr>
        </p:nvSpPr>
        <p:spPr/>
        <p:txBody>
          <a:bodyPr/>
          <a:lstStyle/>
          <a:p>
            <a:fld id="{795D4979-5CBF-4F74-9540-D01A567AC31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Kaksi sisältökohdetta">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smtClean="0"/>
              <a:t>Muokkaa perustyyl. napsautt.</a:t>
            </a:r>
            <a:endParaRPr lang="en-US"/>
          </a:p>
        </p:txBody>
      </p:sp>
      <p:sp>
        <p:nvSpPr>
          <p:cNvPr id="3" name="Sisällön paikkamerkki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i-FI" smtClean="0"/>
              <a:t>Muokkaa tekstin perustyylejä napsauttamalla</a:t>
            </a:r>
          </a:p>
          <a:p>
            <a:pPr lvl="1"/>
            <a:r>
              <a:rPr lang="fi-FI" smtClean="0"/>
              <a:t>toinen taso</a:t>
            </a:r>
          </a:p>
          <a:p>
            <a:pPr lvl="2"/>
            <a:r>
              <a:rPr lang="fi-FI" smtClean="0"/>
              <a:t>kolmas taso</a:t>
            </a:r>
          </a:p>
          <a:p>
            <a:pPr lvl="3"/>
            <a:r>
              <a:rPr lang="fi-FI" smtClean="0"/>
              <a:t>neljäs taso</a:t>
            </a:r>
          </a:p>
          <a:p>
            <a:pPr lvl="4"/>
            <a:r>
              <a:rPr lang="fi-FI" smtClean="0"/>
              <a:t>viides taso</a:t>
            </a:r>
            <a:endParaRPr lang="en-US"/>
          </a:p>
        </p:txBody>
      </p:sp>
      <p:sp>
        <p:nvSpPr>
          <p:cNvPr id="4" name="Sisällön paikkamerkki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i-FI" smtClean="0"/>
              <a:t>Muokkaa tekstin perustyylejä napsauttamalla</a:t>
            </a:r>
          </a:p>
          <a:p>
            <a:pPr lvl="1"/>
            <a:r>
              <a:rPr lang="fi-FI" smtClean="0"/>
              <a:t>toinen taso</a:t>
            </a:r>
          </a:p>
          <a:p>
            <a:pPr lvl="2"/>
            <a:r>
              <a:rPr lang="fi-FI" smtClean="0"/>
              <a:t>kolmas taso</a:t>
            </a:r>
          </a:p>
          <a:p>
            <a:pPr lvl="3"/>
            <a:r>
              <a:rPr lang="fi-FI" smtClean="0"/>
              <a:t>neljäs taso</a:t>
            </a:r>
          </a:p>
          <a:p>
            <a:pPr lvl="4"/>
            <a:r>
              <a:rPr lang="fi-FI" smtClean="0"/>
              <a:t>viides taso</a:t>
            </a:r>
            <a:endParaRPr lang="en-US"/>
          </a:p>
        </p:txBody>
      </p:sp>
      <p:sp>
        <p:nvSpPr>
          <p:cNvPr id="5" name="Päivämäärän paikkamerkki 4"/>
          <p:cNvSpPr>
            <a:spLocks noGrp="1"/>
          </p:cNvSpPr>
          <p:nvPr>
            <p:ph type="dt" sz="half" idx="10"/>
          </p:nvPr>
        </p:nvSpPr>
        <p:spPr/>
        <p:txBody>
          <a:bodyPr/>
          <a:lstStyle/>
          <a:p>
            <a:fld id="{F2952227-A05F-4884-A5E9-0ED230191A7D}" type="datetime1">
              <a:rPr lang="en-US" smtClean="0"/>
              <a:pPr/>
              <a:t>23/03/15</a:t>
            </a:fld>
            <a:endParaRPr lang="en-US"/>
          </a:p>
        </p:txBody>
      </p:sp>
      <p:sp>
        <p:nvSpPr>
          <p:cNvPr id="6" name="Alatunnisteen paikkamerkki 5"/>
          <p:cNvSpPr>
            <a:spLocks noGrp="1"/>
          </p:cNvSpPr>
          <p:nvPr>
            <p:ph type="ftr" sz="quarter" idx="11"/>
          </p:nvPr>
        </p:nvSpPr>
        <p:spPr/>
        <p:txBody>
          <a:bodyPr/>
          <a:lstStyle/>
          <a:p>
            <a:endParaRPr lang="en-US"/>
          </a:p>
        </p:txBody>
      </p:sp>
      <p:sp>
        <p:nvSpPr>
          <p:cNvPr id="7" name="Dian numeron paikkamerkki 6"/>
          <p:cNvSpPr>
            <a:spLocks noGrp="1"/>
          </p:cNvSpPr>
          <p:nvPr>
            <p:ph type="sldNum" sz="quarter" idx="12"/>
          </p:nvPr>
        </p:nvSpPr>
        <p:spPr/>
        <p:txBody>
          <a:bodyPr/>
          <a:lstStyle/>
          <a:p>
            <a:fld id="{795D4979-5CBF-4F74-9540-D01A567AC31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tailu">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lvl1pPr>
              <a:defRPr/>
            </a:lvl1pPr>
          </a:lstStyle>
          <a:p>
            <a:r>
              <a:rPr lang="fi-FI" smtClean="0"/>
              <a:t>Muokkaa perustyyl. napsautt.</a:t>
            </a:r>
            <a:endParaRPr lang="en-US"/>
          </a:p>
        </p:txBody>
      </p:sp>
      <p:sp>
        <p:nvSpPr>
          <p:cNvPr id="3" name="Tekstin paikkamerkki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smtClean="0"/>
              <a:t>Muokkaa tekstin perustyylejä napsauttamalla</a:t>
            </a:r>
          </a:p>
        </p:txBody>
      </p:sp>
      <p:sp>
        <p:nvSpPr>
          <p:cNvPr id="4" name="Sisällön paikkamerkki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i-FI" smtClean="0"/>
              <a:t>Muokkaa tekstin perustyylejä napsauttamalla</a:t>
            </a:r>
          </a:p>
          <a:p>
            <a:pPr lvl="1"/>
            <a:r>
              <a:rPr lang="fi-FI" smtClean="0"/>
              <a:t>toinen taso</a:t>
            </a:r>
          </a:p>
          <a:p>
            <a:pPr lvl="2"/>
            <a:r>
              <a:rPr lang="fi-FI" smtClean="0"/>
              <a:t>kolmas taso</a:t>
            </a:r>
          </a:p>
          <a:p>
            <a:pPr lvl="3"/>
            <a:r>
              <a:rPr lang="fi-FI" smtClean="0"/>
              <a:t>neljäs taso</a:t>
            </a:r>
          </a:p>
          <a:p>
            <a:pPr lvl="4"/>
            <a:r>
              <a:rPr lang="fi-FI" smtClean="0"/>
              <a:t>viides taso</a:t>
            </a:r>
            <a:endParaRPr lang="en-US"/>
          </a:p>
        </p:txBody>
      </p:sp>
      <p:sp>
        <p:nvSpPr>
          <p:cNvPr id="5" name="Tekstin paikkamerkki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smtClean="0"/>
              <a:t>Muokkaa tekstin perustyylejä napsauttamalla</a:t>
            </a:r>
          </a:p>
        </p:txBody>
      </p:sp>
      <p:sp>
        <p:nvSpPr>
          <p:cNvPr id="6" name="Sisällön paikkamerkki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i-FI" smtClean="0"/>
              <a:t>Muokkaa tekstin perustyylejä napsauttamalla</a:t>
            </a:r>
          </a:p>
          <a:p>
            <a:pPr lvl="1"/>
            <a:r>
              <a:rPr lang="fi-FI" smtClean="0"/>
              <a:t>toinen taso</a:t>
            </a:r>
          </a:p>
          <a:p>
            <a:pPr lvl="2"/>
            <a:r>
              <a:rPr lang="fi-FI" smtClean="0"/>
              <a:t>kolmas taso</a:t>
            </a:r>
          </a:p>
          <a:p>
            <a:pPr lvl="3"/>
            <a:r>
              <a:rPr lang="fi-FI" smtClean="0"/>
              <a:t>neljäs taso</a:t>
            </a:r>
          </a:p>
          <a:p>
            <a:pPr lvl="4"/>
            <a:r>
              <a:rPr lang="fi-FI" smtClean="0"/>
              <a:t>viides taso</a:t>
            </a:r>
            <a:endParaRPr lang="en-US"/>
          </a:p>
        </p:txBody>
      </p:sp>
      <p:sp>
        <p:nvSpPr>
          <p:cNvPr id="7" name="Päivämäärän paikkamerkki 6"/>
          <p:cNvSpPr>
            <a:spLocks noGrp="1"/>
          </p:cNvSpPr>
          <p:nvPr>
            <p:ph type="dt" sz="half" idx="10"/>
          </p:nvPr>
        </p:nvSpPr>
        <p:spPr/>
        <p:txBody>
          <a:bodyPr/>
          <a:lstStyle/>
          <a:p>
            <a:fld id="{98623E60-EA47-4A91-B8A4-73336EA2FD63}" type="datetime1">
              <a:rPr lang="en-US" smtClean="0"/>
              <a:pPr/>
              <a:t>23/03/15</a:t>
            </a:fld>
            <a:endParaRPr lang="en-US"/>
          </a:p>
        </p:txBody>
      </p:sp>
      <p:sp>
        <p:nvSpPr>
          <p:cNvPr id="8" name="Alatunnisteen paikkamerkki 7"/>
          <p:cNvSpPr>
            <a:spLocks noGrp="1"/>
          </p:cNvSpPr>
          <p:nvPr>
            <p:ph type="ftr" sz="quarter" idx="11"/>
          </p:nvPr>
        </p:nvSpPr>
        <p:spPr/>
        <p:txBody>
          <a:bodyPr/>
          <a:lstStyle/>
          <a:p>
            <a:endParaRPr lang="en-US"/>
          </a:p>
        </p:txBody>
      </p:sp>
      <p:sp>
        <p:nvSpPr>
          <p:cNvPr id="9" name="Dian numeron paikkamerkki 8"/>
          <p:cNvSpPr>
            <a:spLocks noGrp="1"/>
          </p:cNvSpPr>
          <p:nvPr>
            <p:ph type="sldNum" sz="quarter" idx="12"/>
          </p:nvPr>
        </p:nvSpPr>
        <p:spPr/>
        <p:txBody>
          <a:bodyPr/>
          <a:lstStyle/>
          <a:p>
            <a:fld id="{795D4979-5CBF-4F74-9540-D01A567AC31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Vain otsikko">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smtClean="0"/>
              <a:t>Muokkaa perustyyl. napsautt.</a:t>
            </a:r>
            <a:endParaRPr lang="en-US"/>
          </a:p>
        </p:txBody>
      </p:sp>
      <p:sp>
        <p:nvSpPr>
          <p:cNvPr id="3" name="Päivämäärän paikkamerkki 2"/>
          <p:cNvSpPr>
            <a:spLocks noGrp="1"/>
          </p:cNvSpPr>
          <p:nvPr>
            <p:ph type="dt" sz="half" idx="10"/>
          </p:nvPr>
        </p:nvSpPr>
        <p:spPr/>
        <p:txBody>
          <a:bodyPr/>
          <a:lstStyle/>
          <a:p>
            <a:fld id="{FA00AE5D-6106-493C-B586-FF9FBCDAEFFD}" type="datetime1">
              <a:rPr lang="en-US" smtClean="0"/>
              <a:pPr/>
              <a:t>23/03/15</a:t>
            </a:fld>
            <a:endParaRPr lang="en-US"/>
          </a:p>
        </p:txBody>
      </p:sp>
      <p:sp>
        <p:nvSpPr>
          <p:cNvPr id="4" name="Alatunnisteen paikkamerkki 3"/>
          <p:cNvSpPr>
            <a:spLocks noGrp="1"/>
          </p:cNvSpPr>
          <p:nvPr>
            <p:ph type="ftr" sz="quarter" idx="11"/>
          </p:nvPr>
        </p:nvSpPr>
        <p:spPr/>
        <p:txBody>
          <a:bodyPr/>
          <a:lstStyle/>
          <a:p>
            <a:endParaRPr lang="en-US"/>
          </a:p>
        </p:txBody>
      </p:sp>
      <p:sp>
        <p:nvSpPr>
          <p:cNvPr id="5" name="Dian numeron paikkamerkki 4"/>
          <p:cNvSpPr>
            <a:spLocks noGrp="1"/>
          </p:cNvSpPr>
          <p:nvPr>
            <p:ph type="sldNum" sz="quarter" idx="12"/>
          </p:nvPr>
        </p:nvSpPr>
        <p:spPr/>
        <p:txBody>
          <a:bodyPr/>
          <a:lstStyle/>
          <a:p>
            <a:fld id="{795D4979-5CBF-4F74-9540-D01A567AC31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yhjä">
    <p:spTree>
      <p:nvGrpSpPr>
        <p:cNvPr id="1" name=""/>
        <p:cNvGrpSpPr/>
        <p:nvPr/>
      </p:nvGrpSpPr>
      <p:grpSpPr>
        <a:xfrm>
          <a:off x="0" y="0"/>
          <a:ext cx="0" cy="0"/>
          <a:chOff x="0" y="0"/>
          <a:chExt cx="0" cy="0"/>
        </a:xfrm>
      </p:grpSpPr>
      <p:sp>
        <p:nvSpPr>
          <p:cNvPr id="2" name="Päivämäärän paikkamerkki 1"/>
          <p:cNvSpPr>
            <a:spLocks noGrp="1"/>
          </p:cNvSpPr>
          <p:nvPr>
            <p:ph type="dt" sz="half" idx="10"/>
          </p:nvPr>
        </p:nvSpPr>
        <p:spPr/>
        <p:txBody>
          <a:bodyPr/>
          <a:lstStyle/>
          <a:p>
            <a:fld id="{128CBCFD-3CC9-4AFB-A75E-4DF15F170EF1}" type="datetime1">
              <a:rPr lang="en-US" smtClean="0"/>
              <a:pPr/>
              <a:t>23/03/15</a:t>
            </a:fld>
            <a:endParaRPr lang="en-US"/>
          </a:p>
        </p:txBody>
      </p:sp>
      <p:sp>
        <p:nvSpPr>
          <p:cNvPr id="3" name="Alatunnisteen paikkamerkki 2"/>
          <p:cNvSpPr>
            <a:spLocks noGrp="1"/>
          </p:cNvSpPr>
          <p:nvPr>
            <p:ph type="ftr" sz="quarter" idx="11"/>
          </p:nvPr>
        </p:nvSpPr>
        <p:spPr/>
        <p:txBody>
          <a:bodyPr/>
          <a:lstStyle/>
          <a:p>
            <a:endParaRPr lang="en-US"/>
          </a:p>
        </p:txBody>
      </p:sp>
      <p:sp>
        <p:nvSpPr>
          <p:cNvPr id="4" name="Dian numeron paikkamerkki 3"/>
          <p:cNvSpPr>
            <a:spLocks noGrp="1"/>
          </p:cNvSpPr>
          <p:nvPr>
            <p:ph type="sldNum" sz="quarter" idx="12"/>
          </p:nvPr>
        </p:nvSpPr>
        <p:spPr/>
        <p:txBody>
          <a:bodyPr/>
          <a:lstStyle/>
          <a:p>
            <a:fld id="{795D4979-5CBF-4F74-9540-D01A567AC31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Otsikollinen sisältö">
    <p:spTree>
      <p:nvGrpSpPr>
        <p:cNvPr id="1" name=""/>
        <p:cNvGrpSpPr/>
        <p:nvPr/>
      </p:nvGrpSpPr>
      <p:grpSpPr>
        <a:xfrm>
          <a:off x="0" y="0"/>
          <a:ext cx="0" cy="0"/>
          <a:chOff x="0" y="0"/>
          <a:chExt cx="0" cy="0"/>
        </a:xfrm>
      </p:grpSpPr>
      <p:sp>
        <p:nvSpPr>
          <p:cNvPr id="2" name="Otsikko 1"/>
          <p:cNvSpPr>
            <a:spLocks noGrp="1"/>
          </p:cNvSpPr>
          <p:nvPr>
            <p:ph type="title"/>
          </p:nvPr>
        </p:nvSpPr>
        <p:spPr>
          <a:xfrm>
            <a:off x="457200" y="273050"/>
            <a:ext cx="3008313" cy="1162050"/>
          </a:xfrm>
        </p:spPr>
        <p:txBody>
          <a:bodyPr anchor="b"/>
          <a:lstStyle>
            <a:lvl1pPr algn="l">
              <a:defRPr sz="2000" b="1"/>
            </a:lvl1pPr>
          </a:lstStyle>
          <a:p>
            <a:r>
              <a:rPr lang="fi-FI" smtClean="0"/>
              <a:t>Muokkaa perustyyl. napsautt.</a:t>
            </a:r>
            <a:endParaRPr lang="en-US"/>
          </a:p>
        </p:txBody>
      </p:sp>
      <p:sp>
        <p:nvSpPr>
          <p:cNvPr id="3" name="Sisällön paikkamerkki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i-FI" smtClean="0"/>
              <a:t>Muokkaa tekstin perustyylejä napsauttamalla</a:t>
            </a:r>
          </a:p>
          <a:p>
            <a:pPr lvl="1"/>
            <a:r>
              <a:rPr lang="fi-FI" smtClean="0"/>
              <a:t>toinen taso</a:t>
            </a:r>
          </a:p>
          <a:p>
            <a:pPr lvl="2"/>
            <a:r>
              <a:rPr lang="fi-FI" smtClean="0"/>
              <a:t>kolmas taso</a:t>
            </a:r>
          </a:p>
          <a:p>
            <a:pPr lvl="3"/>
            <a:r>
              <a:rPr lang="fi-FI" smtClean="0"/>
              <a:t>neljäs taso</a:t>
            </a:r>
          </a:p>
          <a:p>
            <a:pPr lvl="4"/>
            <a:r>
              <a:rPr lang="fi-FI" smtClean="0"/>
              <a:t>viides taso</a:t>
            </a:r>
            <a:endParaRPr lang="en-US"/>
          </a:p>
        </p:txBody>
      </p:sp>
      <p:sp>
        <p:nvSpPr>
          <p:cNvPr id="4" name="Tekstin paikkamerkki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smtClean="0"/>
              <a:t>Muokkaa tekstin perustyylejä napsauttamalla</a:t>
            </a:r>
          </a:p>
        </p:txBody>
      </p:sp>
      <p:sp>
        <p:nvSpPr>
          <p:cNvPr id="5" name="Päivämäärän paikkamerkki 4"/>
          <p:cNvSpPr>
            <a:spLocks noGrp="1"/>
          </p:cNvSpPr>
          <p:nvPr>
            <p:ph type="dt" sz="half" idx="10"/>
          </p:nvPr>
        </p:nvSpPr>
        <p:spPr/>
        <p:txBody>
          <a:bodyPr/>
          <a:lstStyle/>
          <a:p>
            <a:fld id="{E94168FD-FD56-4E4F-BE98-6A6ECDFF49F4}" type="datetime1">
              <a:rPr lang="en-US" smtClean="0"/>
              <a:pPr/>
              <a:t>23/03/15</a:t>
            </a:fld>
            <a:endParaRPr lang="en-US"/>
          </a:p>
        </p:txBody>
      </p:sp>
      <p:sp>
        <p:nvSpPr>
          <p:cNvPr id="6" name="Alatunnisteen paikkamerkki 5"/>
          <p:cNvSpPr>
            <a:spLocks noGrp="1"/>
          </p:cNvSpPr>
          <p:nvPr>
            <p:ph type="ftr" sz="quarter" idx="11"/>
          </p:nvPr>
        </p:nvSpPr>
        <p:spPr/>
        <p:txBody>
          <a:bodyPr/>
          <a:lstStyle/>
          <a:p>
            <a:endParaRPr lang="en-US"/>
          </a:p>
        </p:txBody>
      </p:sp>
      <p:sp>
        <p:nvSpPr>
          <p:cNvPr id="7" name="Dian numeron paikkamerkki 6"/>
          <p:cNvSpPr>
            <a:spLocks noGrp="1"/>
          </p:cNvSpPr>
          <p:nvPr>
            <p:ph type="sldNum" sz="quarter" idx="12"/>
          </p:nvPr>
        </p:nvSpPr>
        <p:spPr/>
        <p:txBody>
          <a:bodyPr/>
          <a:lstStyle/>
          <a:p>
            <a:fld id="{795D4979-5CBF-4F74-9540-D01A567AC31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tsikollinen kuva">
    <p:spTree>
      <p:nvGrpSpPr>
        <p:cNvPr id="1" name=""/>
        <p:cNvGrpSpPr/>
        <p:nvPr/>
      </p:nvGrpSpPr>
      <p:grpSpPr>
        <a:xfrm>
          <a:off x="0" y="0"/>
          <a:ext cx="0" cy="0"/>
          <a:chOff x="0" y="0"/>
          <a:chExt cx="0" cy="0"/>
        </a:xfrm>
      </p:grpSpPr>
      <p:sp>
        <p:nvSpPr>
          <p:cNvPr id="2" name="Otsikko 1"/>
          <p:cNvSpPr>
            <a:spLocks noGrp="1"/>
          </p:cNvSpPr>
          <p:nvPr>
            <p:ph type="title"/>
          </p:nvPr>
        </p:nvSpPr>
        <p:spPr>
          <a:xfrm>
            <a:off x="1792288" y="4800600"/>
            <a:ext cx="5486400" cy="566738"/>
          </a:xfrm>
        </p:spPr>
        <p:txBody>
          <a:bodyPr anchor="b"/>
          <a:lstStyle>
            <a:lvl1pPr algn="l">
              <a:defRPr sz="2000" b="1"/>
            </a:lvl1pPr>
          </a:lstStyle>
          <a:p>
            <a:r>
              <a:rPr lang="fi-FI" smtClean="0"/>
              <a:t>Muokkaa perustyyl. napsautt.</a:t>
            </a:r>
            <a:endParaRPr lang="en-US"/>
          </a:p>
        </p:txBody>
      </p:sp>
      <p:sp>
        <p:nvSpPr>
          <p:cNvPr id="3" name="Kuvan paikkamerkki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kstin paikkamerkki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smtClean="0"/>
              <a:t>Muokkaa tekstin perustyylejä napsauttamalla</a:t>
            </a:r>
          </a:p>
        </p:txBody>
      </p:sp>
      <p:sp>
        <p:nvSpPr>
          <p:cNvPr id="5" name="Päivämäärän paikkamerkki 4"/>
          <p:cNvSpPr>
            <a:spLocks noGrp="1"/>
          </p:cNvSpPr>
          <p:nvPr>
            <p:ph type="dt" sz="half" idx="10"/>
          </p:nvPr>
        </p:nvSpPr>
        <p:spPr/>
        <p:txBody>
          <a:bodyPr/>
          <a:lstStyle/>
          <a:p>
            <a:fld id="{A8E9F39C-3E88-46F9-9BFD-5A01DFFCFC9F}" type="datetime1">
              <a:rPr lang="en-US" smtClean="0"/>
              <a:pPr/>
              <a:t>23/03/15</a:t>
            </a:fld>
            <a:endParaRPr lang="en-US"/>
          </a:p>
        </p:txBody>
      </p:sp>
      <p:sp>
        <p:nvSpPr>
          <p:cNvPr id="6" name="Alatunnisteen paikkamerkki 5"/>
          <p:cNvSpPr>
            <a:spLocks noGrp="1"/>
          </p:cNvSpPr>
          <p:nvPr>
            <p:ph type="ftr" sz="quarter" idx="11"/>
          </p:nvPr>
        </p:nvSpPr>
        <p:spPr/>
        <p:txBody>
          <a:bodyPr/>
          <a:lstStyle/>
          <a:p>
            <a:endParaRPr lang="en-US"/>
          </a:p>
        </p:txBody>
      </p:sp>
      <p:sp>
        <p:nvSpPr>
          <p:cNvPr id="7" name="Dian numeron paikkamerkki 6"/>
          <p:cNvSpPr>
            <a:spLocks noGrp="1"/>
          </p:cNvSpPr>
          <p:nvPr>
            <p:ph type="sldNum" sz="quarter" idx="12"/>
          </p:nvPr>
        </p:nvSpPr>
        <p:spPr/>
        <p:txBody>
          <a:bodyPr/>
          <a:lstStyle/>
          <a:p>
            <a:fld id="{795D4979-5CBF-4F74-9540-D01A567AC31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Otsikko ja pystysuora teksti">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smtClean="0"/>
              <a:t>Muokkaa perustyyl. napsautt.</a:t>
            </a:r>
            <a:endParaRPr lang="en-US"/>
          </a:p>
        </p:txBody>
      </p:sp>
      <p:sp>
        <p:nvSpPr>
          <p:cNvPr id="3" name="Pystysuoran tekstin paikkamerkki 2"/>
          <p:cNvSpPr>
            <a:spLocks noGrp="1"/>
          </p:cNvSpPr>
          <p:nvPr>
            <p:ph type="body" orient="vert" idx="1"/>
          </p:nvPr>
        </p:nvSpPr>
        <p:spPr/>
        <p:txBody>
          <a:bodyPr vert="eaVert"/>
          <a:lstStyle/>
          <a:p>
            <a:pPr lvl="0"/>
            <a:r>
              <a:rPr lang="fi-FI" smtClean="0"/>
              <a:t>Muokkaa tekstin perustyylejä napsauttamalla</a:t>
            </a:r>
          </a:p>
          <a:p>
            <a:pPr lvl="1"/>
            <a:r>
              <a:rPr lang="fi-FI" smtClean="0"/>
              <a:t>toinen taso</a:t>
            </a:r>
          </a:p>
          <a:p>
            <a:pPr lvl="2"/>
            <a:r>
              <a:rPr lang="fi-FI" smtClean="0"/>
              <a:t>kolmas taso</a:t>
            </a:r>
          </a:p>
          <a:p>
            <a:pPr lvl="3"/>
            <a:r>
              <a:rPr lang="fi-FI" smtClean="0"/>
              <a:t>neljäs taso</a:t>
            </a:r>
          </a:p>
          <a:p>
            <a:pPr lvl="4"/>
            <a:r>
              <a:rPr lang="fi-FI" smtClean="0"/>
              <a:t>viides taso</a:t>
            </a:r>
            <a:endParaRPr lang="en-US"/>
          </a:p>
        </p:txBody>
      </p:sp>
      <p:sp>
        <p:nvSpPr>
          <p:cNvPr id="4" name="Päivämäärän paikkamerkki 3"/>
          <p:cNvSpPr>
            <a:spLocks noGrp="1"/>
          </p:cNvSpPr>
          <p:nvPr>
            <p:ph type="dt" sz="half" idx="10"/>
          </p:nvPr>
        </p:nvSpPr>
        <p:spPr/>
        <p:txBody>
          <a:bodyPr/>
          <a:lstStyle/>
          <a:p>
            <a:fld id="{D1B6193E-E467-4986-BEE0-F9098C679A05}" type="datetime1">
              <a:rPr lang="en-US" smtClean="0"/>
              <a:pPr/>
              <a:t>23/03/15</a:t>
            </a:fld>
            <a:endParaRPr lang="en-US"/>
          </a:p>
        </p:txBody>
      </p:sp>
      <p:sp>
        <p:nvSpPr>
          <p:cNvPr id="5" name="Alatunnisteen paikkamerkki 4"/>
          <p:cNvSpPr>
            <a:spLocks noGrp="1"/>
          </p:cNvSpPr>
          <p:nvPr>
            <p:ph type="ftr" sz="quarter" idx="11"/>
          </p:nvPr>
        </p:nvSpPr>
        <p:spPr/>
        <p:txBody>
          <a:bodyPr/>
          <a:lstStyle/>
          <a:p>
            <a:endParaRPr lang="en-US"/>
          </a:p>
        </p:txBody>
      </p:sp>
      <p:sp>
        <p:nvSpPr>
          <p:cNvPr id="6" name="Dian numeron paikkamerkki 5"/>
          <p:cNvSpPr>
            <a:spLocks noGrp="1"/>
          </p:cNvSpPr>
          <p:nvPr>
            <p:ph type="sldNum" sz="quarter" idx="12"/>
          </p:nvPr>
        </p:nvSpPr>
        <p:spPr/>
        <p:txBody>
          <a:bodyPr/>
          <a:lstStyle/>
          <a:p>
            <a:fld id="{795D4979-5CBF-4F74-9540-D01A567AC31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Pystysuora otsikko ja teksti">
    <p:spTree>
      <p:nvGrpSpPr>
        <p:cNvPr id="1" name=""/>
        <p:cNvGrpSpPr/>
        <p:nvPr/>
      </p:nvGrpSpPr>
      <p:grpSpPr>
        <a:xfrm>
          <a:off x="0" y="0"/>
          <a:ext cx="0" cy="0"/>
          <a:chOff x="0" y="0"/>
          <a:chExt cx="0" cy="0"/>
        </a:xfrm>
      </p:grpSpPr>
      <p:sp>
        <p:nvSpPr>
          <p:cNvPr id="2" name="Pystysuora otsikko 1"/>
          <p:cNvSpPr>
            <a:spLocks noGrp="1"/>
          </p:cNvSpPr>
          <p:nvPr>
            <p:ph type="title" orient="vert"/>
          </p:nvPr>
        </p:nvSpPr>
        <p:spPr>
          <a:xfrm>
            <a:off x="6629400" y="274638"/>
            <a:ext cx="2057400" cy="5851525"/>
          </a:xfrm>
        </p:spPr>
        <p:txBody>
          <a:bodyPr vert="eaVert"/>
          <a:lstStyle/>
          <a:p>
            <a:r>
              <a:rPr lang="fi-FI" smtClean="0"/>
              <a:t>Muokkaa perustyyl. napsautt.</a:t>
            </a:r>
            <a:endParaRPr lang="en-US"/>
          </a:p>
        </p:txBody>
      </p:sp>
      <p:sp>
        <p:nvSpPr>
          <p:cNvPr id="3" name="Pystysuoran tekstin paikkamerkki 2"/>
          <p:cNvSpPr>
            <a:spLocks noGrp="1"/>
          </p:cNvSpPr>
          <p:nvPr>
            <p:ph type="body" orient="vert" idx="1"/>
          </p:nvPr>
        </p:nvSpPr>
        <p:spPr>
          <a:xfrm>
            <a:off x="457200" y="274638"/>
            <a:ext cx="6019800" cy="5851525"/>
          </a:xfrm>
        </p:spPr>
        <p:txBody>
          <a:bodyPr vert="eaVert"/>
          <a:lstStyle/>
          <a:p>
            <a:pPr lvl="0"/>
            <a:r>
              <a:rPr lang="fi-FI" smtClean="0"/>
              <a:t>Muokkaa tekstin perustyylejä napsauttamalla</a:t>
            </a:r>
          </a:p>
          <a:p>
            <a:pPr lvl="1"/>
            <a:r>
              <a:rPr lang="fi-FI" smtClean="0"/>
              <a:t>toinen taso</a:t>
            </a:r>
          </a:p>
          <a:p>
            <a:pPr lvl="2"/>
            <a:r>
              <a:rPr lang="fi-FI" smtClean="0"/>
              <a:t>kolmas taso</a:t>
            </a:r>
          </a:p>
          <a:p>
            <a:pPr lvl="3"/>
            <a:r>
              <a:rPr lang="fi-FI" smtClean="0"/>
              <a:t>neljäs taso</a:t>
            </a:r>
          </a:p>
          <a:p>
            <a:pPr lvl="4"/>
            <a:r>
              <a:rPr lang="fi-FI" smtClean="0"/>
              <a:t>viides taso</a:t>
            </a:r>
            <a:endParaRPr lang="en-US"/>
          </a:p>
        </p:txBody>
      </p:sp>
      <p:sp>
        <p:nvSpPr>
          <p:cNvPr id="4" name="Päivämäärän paikkamerkki 3"/>
          <p:cNvSpPr>
            <a:spLocks noGrp="1"/>
          </p:cNvSpPr>
          <p:nvPr>
            <p:ph type="dt" sz="half" idx="10"/>
          </p:nvPr>
        </p:nvSpPr>
        <p:spPr/>
        <p:txBody>
          <a:bodyPr/>
          <a:lstStyle/>
          <a:p>
            <a:fld id="{8A8C2A13-6848-4020-AC77-C6D9F89754B5}" type="datetime1">
              <a:rPr lang="en-US" smtClean="0"/>
              <a:pPr/>
              <a:t>23/03/15</a:t>
            </a:fld>
            <a:endParaRPr lang="en-US"/>
          </a:p>
        </p:txBody>
      </p:sp>
      <p:sp>
        <p:nvSpPr>
          <p:cNvPr id="5" name="Alatunnisteen paikkamerkki 4"/>
          <p:cNvSpPr>
            <a:spLocks noGrp="1"/>
          </p:cNvSpPr>
          <p:nvPr>
            <p:ph type="ftr" sz="quarter" idx="11"/>
          </p:nvPr>
        </p:nvSpPr>
        <p:spPr/>
        <p:txBody>
          <a:bodyPr/>
          <a:lstStyle/>
          <a:p>
            <a:endParaRPr lang="en-US"/>
          </a:p>
        </p:txBody>
      </p:sp>
      <p:sp>
        <p:nvSpPr>
          <p:cNvPr id="6" name="Dian numeron paikkamerkki 5"/>
          <p:cNvSpPr>
            <a:spLocks noGrp="1"/>
          </p:cNvSpPr>
          <p:nvPr>
            <p:ph type="sldNum" sz="quarter" idx="12"/>
          </p:nvPr>
        </p:nvSpPr>
        <p:spPr/>
        <p:txBody>
          <a:bodyPr/>
          <a:lstStyle/>
          <a:p>
            <a:fld id="{795D4979-5CBF-4F74-9540-D01A567AC310}"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838200"/>
          </a:xfrm>
        </p:spPr>
        <p:txBody>
          <a:bodyPr/>
          <a:lstStyle/>
          <a:p>
            <a:r>
              <a:rPr lang="en-US" smtClean="0"/>
              <a:t>Click to edit Master title style</a:t>
            </a:r>
            <a:endParaRPr lang="fi-FI"/>
          </a:p>
        </p:txBody>
      </p:sp>
      <p:sp>
        <p:nvSpPr>
          <p:cNvPr id="3" name="SmartArt Placeholder 2"/>
          <p:cNvSpPr>
            <a:spLocks noGrp="1"/>
          </p:cNvSpPr>
          <p:nvPr>
            <p:ph type="dgm" idx="1"/>
          </p:nvPr>
        </p:nvSpPr>
        <p:spPr>
          <a:xfrm>
            <a:off x="457200" y="1600200"/>
            <a:ext cx="8229600" cy="4114800"/>
          </a:xfrm>
        </p:spPr>
        <p:txBody>
          <a:bodyPr/>
          <a:lstStyle/>
          <a:p>
            <a:pPr lvl="0"/>
            <a:endParaRPr lang="fi-FI" noProof="0" smtClean="0"/>
          </a:p>
        </p:txBody>
      </p:sp>
      <p:sp>
        <p:nvSpPr>
          <p:cNvPr id="4" name="Rectangle 14"/>
          <p:cNvSpPr>
            <a:spLocks noGrp="1" noChangeArrowheads="1"/>
          </p:cNvSpPr>
          <p:nvPr>
            <p:ph type="sldNum" sz="quarter" idx="10"/>
          </p:nvPr>
        </p:nvSpPr>
        <p:spPr>
          <a:ln/>
        </p:spPr>
        <p:txBody>
          <a:bodyPr/>
          <a:lstStyle>
            <a:lvl1pPr>
              <a:defRPr/>
            </a:lvl1pPr>
          </a:lstStyle>
          <a:p>
            <a:pPr>
              <a:defRPr/>
            </a:pPr>
            <a:r>
              <a:rPr lang="en-GB"/>
              <a:t>Page </a:t>
            </a:r>
            <a:fld id="{432BA7F9-E876-4590-8401-BBA2E4E648BE}" type="slidenum">
              <a:rPr lang="en-GB"/>
              <a:pPr>
                <a:defRPr/>
              </a:pPr>
              <a:t>‹#›</a:t>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500063" y="476250"/>
            <a:ext cx="7848600" cy="936625"/>
          </a:xfrm>
        </p:spPr>
        <p:txBody>
          <a:bodyPr/>
          <a:lstStyle/>
          <a:p>
            <a:r>
              <a:rPr lang="en-US" smtClean="0"/>
              <a:t>Click to edit Master title style</a:t>
            </a:r>
            <a:endParaRPr lang="fi-FI"/>
          </a:p>
        </p:txBody>
      </p:sp>
      <p:sp>
        <p:nvSpPr>
          <p:cNvPr id="3" name="Table Placeholder 2"/>
          <p:cNvSpPr>
            <a:spLocks noGrp="1"/>
          </p:cNvSpPr>
          <p:nvPr>
            <p:ph type="tbl" idx="1"/>
          </p:nvPr>
        </p:nvSpPr>
        <p:spPr>
          <a:xfrm>
            <a:off x="547688" y="1722438"/>
            <a:ext cx="7848600" cy="4105275"/>
          </a:xfrm>
        </p:spPr>
        <p:txBody>
          <a:bodyPr/>
          <a:lstStyle/>
          <a:p>
            <a:endParaRPr lang="fi-FI"/>
          </a:p>
        </p:txBody>
      </p:sp>
      <p:sp>
        <p:nvSpPr>
          <p:cNvPr id="4" name="Date Placeholder 3"/>
          <p:cNvSpPr>
            <a:spLocks noGrp="1"/>
          </p:cNvSpPr>
          <p:nvPr>
            <p:ph type="dt" sz="half" idx="10"/>
          </p:nvPr>
        </p:nvSpPr>
        <p:spPr>
          <a:xfrm>
            <a:off x="492125" y="114300"/>
            <a:ext cx="2133600" cy="476250"/>
          </a:xfrm>
        </p:spPr>
        <p:txBody>
          <a:bodyPr/>
          <a:lstStyle>
            <a:lvl1pPr>
              <a:defRPr/>
            </a:lvl1pPr>
          </a:lstStyle>
          <a:p>
            <a:fld id="{DCBF0FA3-51A1-40B5-807A-BA749B70BEE5}" type="datetime1">
              <a:rPr lang="fi-FI" smtClean="0"/>
              <a:pPr/>
              <a:t>23/03/15</a:t>
            </a:fld>
            <a:endParaRPr lang="fi-FI"/>
          </a:p>
        </p:txBody>
      </p:sp>
      <p:sp>
        <p:nvSpPr>
          <p:cNvPr id="5" name="Slide Number Placeholder 4"/>
          <p:cNvSpPr>
            <a:spLocks noGrp="1"/>
          </p:cNvSpPr>
          <p:nvPr>
            <p:ph type="sldNum" sz="quarter" idx="11"/>
          </p:nvPr>
        </p:nvSpPr>
        <p:spPr>
          <a:xfrm>
            <a:off x="6610350" y="130175"/>
            <a:ext cx="2133600" cy="476250"/>
          </a:xfrm>
        </p:spPr>
        <p:txBody>
          <a:bodyPr/>
          <a:lstStyle>
            <a:lvl1pPr>
              <a:defRPr/>
            </a:lvl1pPr>
          </a:lstStyle>
          <a:p>
            <a:fld id="{63CA0F77-99DB-43DB-B9CB-E69A7FE82F8D}" type="slidenum">
              <a:rPr lang="fi-FI"/>
              <a:pPr/>
              <a:t>‹#›</a:t>
            </a:fld>
            <a:endParaRPr lang="fi-FI"/>
          </a:p>
        </p:txBody>
      </p:sp>
      <p:sp>
        <p:nvSpPr>
          <p:cNvPr id="6" name="Footer Placeholder 5"/>
          <p:cNvSpPr>
            <a:spLocks noGrp="1"/>
          </p:cNvSpPr>
          <p:nvPr>
            <p:ph type="ftr" sz="quarter" idx="12"/>
          </p:nvPr>
        </p:nvSpPr>
        <p:spPr>
          <a:xfrm>
            <a:off x="492125" y="6070600"/>
            <a:ext cx="2895600" cy="476250"/>
          </a:xfrm>
        </p:spPr>
        <p:txBody>
          <a:bodyPr/>
          <a:lstStyle>
            <a:lvl1pPr>
              <a:defRPr/>
            </a:lvl1pPr>
          </a:lstStyle>
          <a:p>
            <a:endParaRPr lang="fi-FI"/>
          </a:p>
        </p:txBody>
      </p:sp>
    </p:spTree>
  </p:cSld>
  <p:clrMapOvr>
    <a:masterClrMapping/>
  </p:clrMapOvr>
  <p:transition xmlns:p14="http://schemas.microsoft.com/office/powerpoint/2010/main">
    <p:fade/>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Otsikon paikkamerkki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i-FI" smtClean="0"/>
              <a:t>Muokkaa perustyyl. napsautt.</a:t>
            </a:r>
            <a:endParaRPr lang="en-US"/>
          </a:p>
        </p:txBody>
      </p:sp>
      <p:sp>
        <p:nvSpPr>
          <p:cNvPr id="3" name="Tekstin paikkamerkki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i-FI" smtClean="0"/>
              <a:t>Muokkaa tekstin perustyylejä napsauttamalla</a:t>
            </a:r>
          </a:p>
          <a:p>
            <a:pPr lvl="1"/>
            <a:r>
              <a:rPr lang="fi-FI" smtClean="0"/>
              <a:t>toinen taso</a:t>
            </a:r>
          </a:p>
          <a:p>
            <a:pPr lvl="2"/>
            <a:r>
              <a:rPr lang="fi-FI" smtClean="0"/>
              <a:t>kolmas taso</a:t>
            </a:r>
          </a:p>
          <a:p>
            <a:pPr lvl="3"/>
            <a:r>
              <a:rPr lang="fi-FI" smtClean="0"/>
              <a:t>neljäs taso</a:t>
            </a:r>
          </a:p>
          <a:p>
            <a:pPr lvl="4"/>
            <a:r>
              <a:rPr lang="fi-FI" smtClean="0"/>
              <a:t>viides taso</a:t>
            </a:r>
            <a:endParaRPr lang="en-US"/>
          </a:p>
        </p:txBody>
      </p:sp>
      <p:sp>
        <p:nvSpPr>
          <p:cNvPr id="4" name="Päivämäärän paikkamerkki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9FF74-2335-4B54-A149-3E4126442494}" type="datetime1">
              <a:rPr lang="en-US" smtClean="0"/>
              <a:pPr/>
              <a:t>23/03/15</a:t>
            </a:fld>
            <a:endParaRPr lang="en-US"/>
          </a:p>
        </p:txBody>
      </p:sp>
      <p:sp>
        <p:nvSpPr>
          <p:cNvPr id="5" name="Alatunnisteen paikkamerkki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Dian numeron paikkamerkki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5D4979-5CBF-4F74-9540-D01A567AC31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 id="2147483663" r:id="rId13"/>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creativecommons.org/licenses/by/1.0/fi/" TargetMode="External"/><Relationship Id="rId4" Type="http://schemas.openxmlformats.org/officeDocument/2006/relationships/hyperlink" Target="http://creativecommons.org/licenses/by/1.0/fi/deed.en" TargetMode="External"/><Relationship Id="rId5"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hyperlink" Target="http://creativecommons.org/licenses/by/1.0/fi/" TargetMode="External"/><Relationship Id="rId4" Type="http://schemas.openxmlformats.org/officeDocument/2006/relationships/hyperlink" Target="http://creativecommons.org/licenses/by/1.0/fi/deed.en" TargetMode="External"/><Relationship Id="rId5" Type="http://schemas.openxmlformats.org/officeDocument/2006/relationships/image" Target="../media/image1.png"/><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hyperlink" Target="http://testausosy.ttlry.fi/" TargetMode="External"/><Relationship Id="rId4" Type="http://schemas.openxmlformats.org/officeDocument/2006/relationships/image" Target="../media/image3.png"/><Relationship Id="rId5" Type="http://schemas.openxmlformats.org/officeDocument/2006/relationships/image" Target="../media/image4.gif"/><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jpeg"/><Relationship Id="rId1" Type="http://schemas.openxmlformats.org/officeDocument/2006/relationships/slideLayout" Target="../slideLayouts/slideLayout2.xml"/><Relationship Id="rId2"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wmf"/></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 Id="rId1" Type="http://schemas.openxmlformats.org/officeDocument/2006/relationships/slideLayout" Target="../slideLayouts/slideLayout2.xml"/><Relationship Id="rId2" Type="http://schemas.openxmlformats.org/officeDocument/2006/relationships/diagramData" Target="../diagrams/data1.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4" Type="http://schemas.openxmlformats.org/officeDocument/2006/relationships/diagramLayout" Target="../diagrams/layout2.xml"/><Relationship Id="rId5" Type="http://schemas.openxmlformats.org/officeDocument/2006/relationships/diagramQuickStyle" Target="../diagrams/quickStyle2.xml"/><Relationship Id="rId6" Type="http://schemas.openxmlformats.org/officeDocument/2006/relationships/diagramColors" Target="../diagrams/colors2.xml"/><Relationship Id="rId7" Type="http://schemas.microsoft.com/office/2007/relationships/diagramDrawing" Target="../diagrams/drawing2.xml"/><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4" Type="http://schemas.openxmlformats.org/officeDocument/2006/relationships/diagramLayout" Target="../diagrams/layout3.xml"/><Relationship Id="rId5" Type="http://schemas.openxmlformats.org/officeDocument/2006/relationships/diagramQuickStyle" Target="../diagrams/quickStyle3.xml"/><Relationship Id="rId6" Type="http://schemas.openxmlformats.org/officeDocument/2006/relationships/diagramColors" Target="../diagrams/colors3.xml"/><Relationship Id="rId7" Type="http://schemas.microsoft.com/office/2007/relationships/diagramDrawing" Target="../diagrams/drawing3.xml"/><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4" Type="http://schemas.openxmlformats.org/officeDocument/2006/relationships/image" Target="../media/image11.jpeg"/><Relationship Id="rId5" Type="http://schemas.openxmlformats.org/officeDocument/2006/relationships/image" Target="../media/image12.jpeg"/><Relationship Id="rId1" Type="http://schemas.openxmlformats.org/officeDocument/2006/relationships/slideLayout" Target="../slideLayouts/slideLayout6.xml"/><Relationship Id="rId2" Type="http://schemas.openxmlformats.org/officeDocument/2006/relationships/image" Target="../media/image9.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3" Type="http://schemas.openxmlformats.org/officeDocument/2006/relationships/hyperlink" Target="http://viscog.beckman.illinois.edu/flashmovie/15.php" TargetMode="External"/><Relationship Id="rId4" Type="http://schemas.openxmlformats.org/officeDocument/2006/relationships/hyperlink" Target="http://www.dothetest.co.uk/whodunnit.html" TargetMode="External"/><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3" Type="http://schemas.openxmlformats.org/officeDocument/2006/relationships/chart" Target="../charts/chart2.xml"/><Relationship Id="rId4" Type="http://schemas.openxmlformats.org/officeDocument/2006/relationships/image" Target="../media/image14.wmf"/><Relationship Id="rId5" Type="http://schemas.openxmlformats.org/officeDocument/2006/relationships/image" Target="../media/image15.wmf"/><Relationship Id="rId1" Type="http://schemas.openxmlformats.org/officeDocument/2006/relationships/slideLayout" Target="../slideLayouts/slideLayout8.xml"/><Relationship Id="rId2" Type="http://schemas.openxmlformats.org/officeDocument/2006/relationships/chart" Target="../charts/char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16.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4.xml"/><Relationship Id="rId4" Type="http://schemas.openxmlformats.org/officeDocument/2006/relationships/diagramLayout" Target="../diagrams/layout4.xml"/><Relationship Id="rId5" Type="http://schemas.openxmlformats.org/officeDocument/2006/relationships/diagramQuickStyle" Target="../diagrams/quickStyle4.xml"/><Relationship Id="rId6" Type="http://schemas.openxmlformats.org/officeDocument/2006/relationships/diagramColors" Target="../diagrams/colors4.xml"/><Relationship Id="rId7" Type="http://schemas.microsoft.com/office/2007/relationships/diagramDrawing" Target="../diagrams/drawing4.xml"/><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7.xml"/><Relationship Id="rId4" Type="http://schemas.openxmlformats.org/officeDocument/2006/relationships/oleObject" Target="../embeddings/oleObject1.bin"/><Relationship Id="rId5" Type="http://schemas.openxmlformats.org/officeDocument/2006/relationships/image" Target="../media/image18.wmf"/><Relationship Id="rId1" Type="http://schemas.openxmlformats.org/officeDocument/2006/relationships/vmlDrawing" Target="../drawings/vmlDrawing1.vml"/><Relationship Id="rId2"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42.xml"/><Relationship Id="rId4" Type="http://schemas.openxmlformats.org/officeDocument/2006/relationships/oleObject" Target="../embeddings/oleObject2.bin"/><Relationship Id="rId5" Type="http://schemas.openxmlformats.org/officeDocument/2006/relationships/image" Target="../media/image19.wmf"/><Relationship Id="rId1" Type="http://schemas.openxmlformats.org/officeDocument/2006/relationships/vmlDrawing" Target="../drawings/vmlDrawing2.vml"/><Relationship Id="rId2"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3" Type="http://schemas.openxmlformats.org/officeDocument/2006/relationships/diagramData" Target="../diagrams/data5.xml"/><Relationship Id="rId4" Type="http://schemas.openxmlformats.org/officeDocument/2006/relationships/diagramLayout" Target="../diagrams/layout5.xml"/><Relationship Id="rId5" Type="http://schemas.openxmlformats.org/officeDocument/2006/relationships/diagramQuickStyle" Target="../diagrams/quickStyle5.xml"/><Relationship Id="rId6" Type="http://schemas.openxmlformats.org/officeDocument/2006/relationships/diagramColors" Target="../diagrams/colors5.xml"/><Relationship Id="rId7" Type="http://schemas.microsoft.com/office/2007/relationships/diagramDrawing" Target="../diagrams/drawing5.xml"/><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62.xml.rels><?xml version="1.0" encoding="UTF-8" standalone="yes"?>
<Relationships xmlns="http://schemas.openxmlformats.org/package/2006/relationships"><Relationship Id="rId3" Type="http://schemas.openxmlformats.org/officeDocument/2006/relationships/diagramLayout" Target="../diagrams/layout6.xml"/><Relationship Id="rId4" Type="http://schemas.openxmlformats.org/officeDocument/2006/relationships/diagramQuickStyle" Target="../diagrams/quickStyle6.xml"/><Relationship Id="rId5" Type="http://schemas.openxmlformats.org/officeDocument/2006/relationships/diagramColors" Target="../diagrams/colors6.xml"/><Relationship Id="rId6" Type="http://schemas.microsoft.com/office/2007/relationships/diagramDrawing" Target="../diagrams/drawing6.xml"/><Relationship Id="rId1" Type="http://schemas.openxmlformats.org/officeDocument/2006/relationships/slideLayout" Target="../slideLayouts/slideLayout2.xml"/><Relationship Id="rId2" Type="http://schemas.openxmlformats.org/officeDocument/2006/relationships/diagramData" Target="../diagrams/data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81.xml.rels><?xml version="1.0" encoding="UTF-8" standalone="yes"?>
<Relationships xmlns="http://schemas.openxmlformats.org/package/2006/relationships"><Relationship Id="rId3" Type="http://schemas.openxmlformats.org/officeDocument/2006/relationships/diagramLayout" Target="../diagrams/layout7.xml"/><Relationship Id="rId4" Type="http://schemas.openxmlformats.org/officeDocument/2006/relationships/diagramQuickStyle" Target="../diagrams/quickStyle7.xml"/><Relationship Id="rId5" Type="http://schemas.openxmlformats.org/officeDocument/2006/relationships/diagramColors" Target="../diagrams/colors7.xml"/><Relationship Id="rId6" Type="http://schemas.microsoft.com/office/2007/relationships/diagramDrawing" Target="../diagrams/drawing7.xml"/><Relationship Id="rId1" Type="http://schemas.openxmlformats.org/officeDocument/2006/relationships/slideLayout" Target="../slideLayouts/slideLayout2.xml"/><Relationship Id="rId2" Type="http://schemas.openxmlformats.org/officeDocument/2006/relationships/diagramData" Target="../diagrams/data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diagramData" Target="../diagrams/data8.xml"/><Relationship Id="rId4" Type="http://schemas.openxmlformats.org/officeDocument/2006/relationships/diagramLayout" Target="../diagrams/layout8.xml"/><Relationship Id="rId5" Type="http://schemas.openxmlformats.org/officeDocument/2006/relationships/diagramQuickStyle" Target="../diagrams/quickStyle8.xml"/><Relationship Id="rId6" Type="http://schemas.openxmlformats.org/officeDocument/2006/relationships/diagramColors" Target="../diagrams/colors8.xml"/><Relationship Id="rId7" Type="http://schemas.microsoft.com/office/2007/relationships/diagramDrawing" Target="../diagrams/drawing8.xml"/><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emf"/></Relationships>
</file>

<file path=ppt/slides/_rels/slide89.xml.rels><?xml version="1.0" encoding="UTF-8" standalone="yes"?>
<Relationships xmlns="http://schemas.openxmlformats.org/package/2006/relationships"><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diagramLayout" Target="../diagrams/layout9.xml"/><Relationship Id="rId4" Type="http://schemas.openxmlformats.org/officeDocument/2006/relationships/diagramQuickStyle" Target="../diagrams/quickStyle9.xml"/><Relationship Id="rId5" Type="http://schemas.openxmlformats.org/officeDocument/2006/relationships/diagramColors" Target="../diagrams/colors9.xml"/><Relationship Id="rId6" Type="http://schemas.microsoft.com/office/2007/relationships/diagramDrawing" Target="../diagrams/drawing9.xml"/><Relationship Id="rId1" Type="http://schemas.openxmlformats.org/officeDocument/2006/relationships/slideLayout" Target="../slideLayouts/slideLayout2.xml"/><Relationship Id="rId2" Type="http://schemas.openxmlformats.org/officeDocument/2006/relationships/diagramData" Target="../diagrams/data9.xml"/></Relationships>
</file>

<file path=ppt/slides/_rels/slide98.xml.rels><?xml version="1.0" encoding="UTF-8" standalone="yes"?>
<Relationships xmlns="http://schemas.openxmlformats.org/package/2006/relationships"><Relationship Id="rId3" Type="http://schemas.openxmlformats.org/officeDocument/2006/relationships/diagramLayout" Target="../diagrams/layout10.xml"/><Relationship Id="rId4" Type="http://schemas.openxmlformats.org/officeDocument/2006/relationships/diagramQuickStyle" Target="../diagrams/quickStyle10.xml"/><Relationship Id="rId5" Type="http://schemas.openxmlformats.org/officeDocument/2006/relationships/diagramColors" Target="../diagrams/colors10.xml"/><Relationship Id="rId6" Type="http://schemas.microsoft.com/office/2007/relationships/diagramDrawing" Target="../diagrams/drawing10.xml"/><Relationship Id="rId1" Type="http://schemas.openxmlformats.org/officeDocument/2006/relationships/slideLayout" Target="../slideLayouts/slideLayout2.xml"/><Relationship Id="rId2" Type="http://schemas.openxmlformats.org/officeDocument/2006/relationships/diagramData" Target="../diagrams/data10.xml"/></Relationships>
</file>

<file path=ppt/slides/_rels/slide99.xml.rels><?xml version="1.0" encoding="UTF-8" standalone="yes"?>
<Relationships xmlns="http://schemas.openxmlformats.org/package/2006/relationships"><Relationship Id="rId3" Type="http://schemas.openxmlformats.org/officeDocument/2006/relationships/diagramLayout" Target="../diagrams/layout11.xml"/><Relationship Id="rId4" Type="http://schemas.openxmlformats.org/officeDocument/2006/relationships/diagramQuickStyle" Target="../diagrams/quickStyle11.xml"/><Relationship Id="rId5" Type="http://schemas.openxmlformats.org/officeDocument/2006/relationships/diagramColors" Target="../diagrams/colors11.xml"/><Relationship Id="rId6" Type="http://schemas.microsoft.com/office/2007/relationships/diagramDrawing" Target="../diagrams/drawing11.xml"/><Relationship Id="rId1" Type="http://schemas.openxmlformats.org/officeDocument/2006/relationships/slideLayout" Target="../slideLayouts/slideLayout2.xml"/><Relationship Id="rId2" Type="http://schemas.openxmlformats.org/officeDocument/2006/relationships/diagramData" Target="../diagrams/data1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diagramLayout" Target="../diagrams/layout12.xml"/><Relationship Id="rId4" Type="http://schemas.openxmlformats.org/officeDocument/2006/relationships/diagramQuickStyle" Target="../diagrams/quickStyle12.xml"/><Relationship Id="rId5" Type="http://schemas.openxmlformats.org/officeDocument/2006/relationships/diagramColors" Target="../diagrams/colors12.xml"/><Relationship Id="rId6" Type="http://schemas.microsoft.com/office/2007/relationships/diagramDrawing" Target="../diagrams/drawing12.xml"/><Relationship Id="rId1" Type="http://schemas.openxmlformats.org/officeDocument/2006/relationships/slideLayout" Target="../slideLayouts/slideLayout2.xml"/><Relationship Id="rId2" Type="http://schemas.openxmlformats.org/officeDocument/2006/relationships/diagramData" Target="../diagrams/data1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diagramData" Target="../diagrams/data13.xml"/><Relationship Id="rId4" Type="http://schemas.openxmlformats.org/officeDocument/2006/relationships/diagramLayout" Target="../diagrams/layout13.xml"/><Relationship Id="rId5" Type="http://schemas.openxmlformats.org/officeDocument/2006/relationships/diagramQuickStyle" Target="../diagrams/quickStyle13.xml"/><Relationship Id="rId6" Type="http://schemas.openxmlformats.org/officeDocument/2006/relationships/diagramColors" Target="../diagrams/colors13.xml"/><Relationship Id="rId7" Type="http://schemas.microsoft.com/office/2007/relationships/diagramDrawing" Target="../diagrams/drawing13.xml"/><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109.xml.rels><?xml version="1.0" encoding="UTF-8" standalone="yes"?>
<Relationships xmlns="http://schemas.openxmlformats.org/package/2006/relationships"><Relationship Id="rId3" Type="http://schemas.openxmlformats.org/officeDocument/2006/relationships/notesSlide" Target="../notesSlides/notesSlide70.xml"/><Relationship Id="rId4" Type="http://schemas.openxmlformats.org/officeDocument/2006/relationships/oleObject" Target="../embeddings/oleObject3.bin"/><Relationship Id="rId5" Type="http://schemas.openxmlformats.org/officeDocument/2006/relationships/image" Target="../media/image27.wmf"/><Relationship Id="rId1" Type="http://schemas.openxmlformats.org/officeDocument/2006/relationships/vmlDrawing" Target="../drawings/vmlDrawing3.vml"/><Relationship Id="rId2" Type="http://schemas.openxmlformats.org/officeDocument/2006/relationships/slideLayout" Target="../slideLayouts/slideLayout6.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2.xml"/></Relationships>
</file>

<file path=ppt/slides/_rels/slide112.xml.rels><?xml version="1.0" encoding="UTF-8" standalone="yes"?>
<Relationships xmlns="http://schemas.openxmlformats.org/package/2006/relationships"><Relationship Id="rId3" Type="http://schemas.openxmlformats.org/officeDocument/2006/relationships/diagramData" Target="../diagrams/data14.xml"/><Relationship Id="rId4" Type="http://schemas.openxmlformats.org/officeDocument/2006/relationships/diagramLayout" Target="../diagrams/layout14.xml"/><Relationship Id="rId5" Type="http://schemas.openxmlformats.org/officeDocument/2006/relationships/diagramQuickStyle" Target="../diagrams/quickStyle14.xml"/><Relationship Id="rId6" Type="http://schemas.openxmlformats.org/officeDocument/2006/relationships/diagramColors" Target="../diagrams/colors14.xml"/><Relationship Id="rId7" Type="http://schemas.microsoft.com/office/2007/relationships/diagramDrawing" Target="../diagrams/drawing14.xml"/><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113.xml.rels><?xml version="1.0" encoding="UTF-8" standalone="yes"?>
<Relationships xmlns="http://schemas.openxmlformats.org/package/2006/relationships"><Relationship Id="rId3" Type="http://schemas.openxmlformats.org/officeDocument/2006/relationships/diagramData" Target="../diagrams/data15.xml"/><Relationship Id="rId4" Type="http://schemas.openxmlformats.org/officeDocument/2006/relationships/diagramLayout" Target="../diagrams/layout15.xml"/><Relationship Id="rId5" Type="http://schemas.openxmlformats.org/officeDocument/2006/relationships/diagramQuickStyle" Target="../diagrams/quickStyle15.xml"/><Relationship Id="rId6" Type="http://schemas.openxmlformats.org/officeDocument/2006/relationships/diagramColors" Target="../diagrams/colors15.xml"/><Relationship Id="rId7" Type="http://schemas.microsoft.com/office/2007/relationships/diagramDrawing" Target="../diagrams/drawing15.xml"/><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5.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6.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8.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123.xml.rels><?xml version="1.0" encoding="UTF-8" standalone="yes"?>
<Relationships xmlns="http://schemas.openxmlformats.org/package/2006/relationships"><Relationship Id="rId3" Type="http://schemas.openxmlformats.org/officeDocument/2006/relationships/notesSlide" Target="../notesSlides/notesSlide83.xml"/><Relationship Id="rId4" Type="http://schemas.openxmlformats.org/officeDocument/2006/relationships/oleObject" Target="../embeddings/oleObject4.bin"/><Relationship Id="rId5" Type="http://schemas.openxmlformats.org/officeDocument/2006/relationships/image" Target="../media/image28.wmf"/><Relationship Id="rId1" Type="http://schemas.openxmlformats.org/officeDocument/2006/relationships/vmlDrawing" Target="../drawings/vmlDrawing4.vml"/><Relationship Id="rId2" Type="http://schemas.openxmlformats.org/officeDocument/2006/relationships/slideLayout" Target="../slideLayouts/slideLayout6.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wmf"/></Relationships>
</file>

<file path=ppt/slides/_rels/slide126.xml.rels><?xml version="1.0" encoding="UTF-8" standalone="yes"?>
<Relationships xmlns="http://schemas.openxmlformats.org/package/2006/relationships"><Relationship Id="rId3" Type="http://schemas.openxmlformats.org/officeDocument/2006/relationships/image" Target="../media/image30.gif"/><Relationship Id="rId4" Type="http://schemas.openxmlformats.org/officeDocument/2006/relationships/image" Target="../media/image31.wmf"/><Relationship Id="rId5" Type="http://schemas.openxmlformats.org/officeDocument/2006/relationships/image" Target="../media/image32.gif"/><Relationship Id="rId1" Type="http://schemas.openxmlformats.org/officeDocument/2006/relationships/slideLayout" Target="../slideLayouts/slideLayout6.xml"/><Relationship Id="rId2" Type="http://schemas.openxmlformats.org/officeDocument/2006/relationships/image" Target="../media/image29.wmf"/></Relationships>
</file>

<file path=ppt/slides/_rels/slide127.xml.rels><?xml version="1.0" encoding="UTF-8" standalone="yes"?>
<Relationships xmlns="http://schemas.openxmlformats.org/package/2006/relationships"><Relationship Id="rId3" Type="http://schemas.openxmlformats.org/officeDocument/2006/relationships/image" Target="../media/image30.gif"/><Relationship Id="rId4" Type="http://schemas.openxmlformats.org/officeDocument/2006/relationships/image" Target="../media/image31.wmf"/><Relationship Id="rId5" Type="http://schemas.openxmlformats.org/officeDocument/2006/relationships/image" Target="../media/image33.wmf"/><Relationship Id="rId6" Type="http://schemas.openxmlformats.org/officeDocument/2006/relationships/image" Target="../media/image34.wmf"/><Relationship Id="rId1" Type="http://schemas.openxmlformats.org/officeDocument/2006/relationships/slideLayout" Target="../slideLayouts/slideLayout6.xml"/><Relationship Id="rId2" Type="http://schemas.openxmlformats.org/officeDocument/2006/relationships/image" Target="../media/image29.wmf"/></Relationships>
</file>

<file path=ppt/slides/_rels/slide128.xml.rels><?xml version="1.0" encoding="UTF-8" standalone="yes"?>
<Relationships xmlns="http://schemas.openxmlformats.org/package/2006/relationships"><Relationship Id="rId3" Type="http://schemas.openxmlformats.org/officeDocument/2006/relationships/image" Target="../media/image30.gif"/><Relationship Id="rId4" Type="http://schemas.openxmlformats.org/officeDocument/2006/relationships/image" Target="../media/image31.wmf"/><Relationship Id="rId5" Type="http://schemas.openxmlformats.org/officeDocument/2006/relationships/image" Target="../media/image35.wmf"/><Relationship Id="rId6" Type="http://schemas.openxmlformats.org/officeDocument/2006/relationships/image" Target="../media/image34.wmf"/><Relationship Id="rId7" Type="http://schemas.openxmlformats.org/officeDocument/2006/relationships/image" Target="../media/image33.wmf"/><Relationship Id="rId1" Type="http://schemas.openxmlformats.org/officeDocument/2006/relationships/slideLayout" Target="../slideLayouts/slideLayout6.xml"/><Relationship Id="rId2" Type="http://schemas.openxmlformats.org/officeDocument/2006/relationships/image" Target="../media/image32.gif"/></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132.xml.rels><?xml version="1.0" encoding="UTF-8" standalone="yes"?>
<Relationships xmlns="http://schemas.openxmlformats.org/package/2006/relationships"><Relationship Id="rId3" Type="http://schemas.openxmlformats.org/officeDocument/2006/relationships/diagramData" Target="../diagrams/data16.xml"/><Relationship Id="rId4" Type="http://schemas.openxmlformats.org/officeDocument/2006/relationships/diagramLayout" Target="../diagrams/layout16.xml"/><Relationship Id="rId5" Type="http://schemas.openxmlformats.org/officeDocument/2006/relationships/diagramQuickStyle" Target="../diagrams/quickStyle16.xml"/><Relationship Id="rId6" Type="http://schemas.openxmlformats.org/officeDocument/2006/relationships/diagramColors" Target="../diagrams/colors16.xml"/><Relationship Id="rId7" Type="http://schemas.microsoft.com/office/2007/relationships/diagramDrawing" Target="../diagrams/drawing16.xml"/><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0.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_rels/slide149.xml.rels><?xml version="1.0" encoding="UTF-8" standalone="yes"?>
<Relationships xmlns="http://schemas.openxmlformats.org/package/2006/relationships"><Relationship Id="rId3" Type="http://schemas.openxmlformats.org/officeDocument/2006/relationships/diagramLayout" Target="../diagrams/layout17.xml"/><Relationship Id="rId4" Type="http://schemas.openxmlformats.org/officeDocument/2006/relationships/diagramQuickStyle" Target="../diagrams/quickStyle17.xml"/><Relationship Id="rId5" Type="http://schemas.openxmlformats.org/officeDocument/2006/relationships/diagramColors" Target="../diagrams/colors17.xml"/><Relationship Id="rId6" Type="http://schemas.microsoft.com/office/2007/relationships/diagramDrawing" Target="../diagrams/drawing17.xml"/><Relationship Id="rId1" Type="http://schemas.openxmlformats.org/officeDocument/2006/relationships/slideLayout" Target="../slideLayouts/slideLayout2.xml"/><Relationship Id="rId2" Type="http://schemas.openxmlformats.org/officeDocument/2006/relationships/diagramData" Target="../diagrams/data1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4.xml"/><Relationship Id="rId3" Type="http://schemas.openxmlformats.org/officeDocument/2006/relationships/image" Target="../media/image36.wmf"/></Relationships>
</file>

<file path=ppt/slides/_rels/slide151.xml.rels><?xml version="1.0" encoding="UTF-8" standalone="yes"?>
<Relationships xmlns="http://schemas.openxmlformats.org/package/2006/relationships"><Relationship Id="rId3" Type="http://schemas.openxmlformats.org/officeDocument/2006/relationships/image" Target="../media/image37.wmf"/><Relationship Id="rId4" Type="http://schemas.openxmlformats.org/officeDocument/2006/relationships/image" Target="../media/image38.wmf"/><Relationship Id="rId5" Type="http://schemas.openxmlformats.org/officeDocument/2006/relationships/image" Target="../media/image39.wmf"/><Relationship Id="rId6" Type="http://schemas.openxmlformats.org/officeDocument/2006/relationships/image" Target="../media/image40.wmf"/><Relationship Id="rId7" Type="http://schemas.openxmlformats.org/officeDocument/2006/relationships/image" Target="../media/image41.wmf"/><Relationship Id="rId8" Type="http://schemas.openxmlformats.org/officeDocument/2006/relationships/image" Target="../media/image42.wmf"/><Relationship Id="rId1" Type="http://schemas.openxmlformats.org/officeDocument/2006/relationships/slideLayout" Target="../slideLayouts/slideLayout6.xml"/><Relationship Id="rId2" Type="http://schemas.openxmlformats.org/officeDocument/2006/relationships/notesSlide" Target="../notesSlides/notesSlide95.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3.xml"/><Relationship Id="rId3" Type="http://schemas.openxmlformats.org/officeDocument/2006/relationships/chart" Target="../charts/chart4.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157.xml.rels><?xml version="1.0" encoding="UTF-8" standalone="yes"?>
<Relationships xmlns="http://schemas.openxmlformats.org/package/2006/relationships"><Relationship Id="rId3" Type="http://schemas.openxmlformats.org/officeDocument/2006/relationships/diagramData" Target="../diagrams/data18.xml"/><Relationship Id="rId4" Type="http://schemas.openxmlformats.org/officeDocument/2006/relationships/diagramLayout" Target="../diagrams/layout18.xml"/><Relationship Id="rId5" Type="http://schemas.openxmlformats.org/officeDocument/2006/relationships/diagramQuickStyle" Target="../diagrams/quickStyle18.xml"/><Relationship Id="rId6" Type="http://schemas.openxmlformats.org/officeDocument/2006/relationships/diagramColors" Target="../diagrams/colors18.xml"/><Relationship Id="rId7" Type="http://schemas.microsoft.com/office/2007/relationships/diagramDrawing" Target="../diagrams/drawing18.xml"/><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0.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1.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3.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64.xml.rels><?xml version="1.0" encoding="UTF-8" standalone="yes"?>
<Relationships xmlns="http://schemas.openxmlformats.org/package/2006/relationships"><Relationship Id="rId3" Type="http://schemas.openxmlformats.org/officeDocument/2006/relationships/diagramLayout" Target="../diagrams/layout19.xml"/><Relationship Id="rId4" Type="http://schemas.openxmlformats.org/officeDocument/2006/relationships/diagramQuickStyle" Target="../diagrams/quickStyle19.xml"/><Relationship Id="rId5" Type="http://schemas.openxmlformats.org/officeDocument/2006/relationships/diagramColors" Target="../diagrams/colors19.xml"/><Relationship Id="rId6" Type="http://schemas.microsoft.com/office/2007/relationships/diagramDrawing" Target="../diagrams/drawing19.xml"/><Relationship Id="rId1" Type="http://schemas.openxmlformats.org/officeDocument/2006/relationships/slideLayout" Target="../slideLayouts/slideLayout2.xml"/><Relationship Id="rId2" Type="http://schemas.openxmlformats.org/officeDocument/2006/relationships/diagramData" Target="../diagrams/data19.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6.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 Id="rId3" Type="http://schemas.openxmlformats.org/officeDocument/2006/relationships/image" Target="../media/image43.wmf"/></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8.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9.xml"/><Relationship Id="rId3" Type="http://schemas.openxmlformats.org/officeDocument/2006/relationships/image" Target="../media/image44.wmf"/></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 Id="rId3" Type="http://schemas.openxmlformats.org/officeDocument/2006/relationships/image" Target="../media/image45.wmf"/></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3.xml"/></Relationships>
</file>

<file path=ppt/slides/_rels/slide173.xml.rels><?xml version="1.0" encoding="UTF-8" standalone="yes"?>
<Relationships xmlns="http://schemas.openxmlformats.org/package/2006/relationships"><Relationship Id="rId9" Type="http://schemas.openxmlformats.org/officeDocument/2006/relationships/image" Target="../media/image48.emf"/><Relationship Id="rId20" Type="http://schemas.openxmlformats.org/officeDocument/2006/relationships/oleObject" Target="../embeddings/oleObject13.bin"/><Relationship Id="rId21" Type="http://schemas.openxmlformats.org/officeDocument/2006/relationships/image" Target="../media/image54.emf"/><Relationship Id="rId10" Type="http://schemas.openxmlformats.org/officeDocument/2006/relationships/oleObject" Target="../embeddings/oleObject8.bin"/><Relationship Id="rId11" Type="http://schemas.openxmlformats.org/officeDocument/2006/relationships/image" Target="../media/image49.emf"/><Relationship Id="rId12" Type="http://schemas.openxmlformats.org/officeDocument/2006/relationships/oleObject" Target="../embeddings/oleObject9.bin"/><Relationship Id="rId13" Type="http://schemas.openxmlformats.org/officeDocument/2006/relationships/image" Target="../media/image50.emf"/><Relationship Id="rId14" Type="http://schemas.openxmlformats.org/officeDocument/2006/relationships/oleObject" Target="../embeddings/oleObject10.bin"/><Relationship Id="rId15" Type="http://schemas.openxmlformats.org/officeDocument/2006/relationships/image" Target="../media/image51.emf"/><Relationship Id="rId16" Type="http://schemas.openxmlformats.org/officeDocument/2006/relationships/oleObject" Target="../embeddings/oleObject11.bin"/><Relationship Id="rId17" Type="http://schemas.openxmlformats.org/officeDocument/2006/relationships/image" Target="../media/image52.emf"/><Relationship Id="rId18" Type="http://schemas.openxmlformats.org/officeDocument/2006/relationships/oleObject" Target="../embeddings/oleObject12.bin"/><Relationship Id="rId19" Type="http://schemas.openxmlformats.org/officeDocument/2006/relationships/image" Target="../media/image53.emf"/><Relationship Id="rId1" Type="http://schemas.openxmlformats.org/officeDocument/2006/relationships/vmlDrawing" Target="../drawings/vmlDrawing5.vml"/><Relationship Id="rId2" Type="http://schemas.openxmlformats.org/officeDocument/2006/relationships/slideLayout" Target="../slideLayouts/slideLayout6.xml"/><Relationship Id="rId3" Type="http://schemas.openxmlformats.org/officeDocument/2006/relationships/notesSlide" Target="../notesSlides/notesSlide114.xml"/><Relationship Id="rId4" Type="http://schemas.openxmlformats.org/officeDocument/2006/relationships/oleObject" Target="../embeddings/oleObject5.bin"/><Relationship Id="rId5" Type="http://schemas.openxmlformats.org/officeDocument/2006/relationships/image" Target="../media/image46.emf"/><Relationship Id="rId6" Type="http://schemas.openxmlformats.org/officeDocument/2006/relationships/oleObject" Target="../embeddings/oleObject6.bin"/><Relationship Id="rId7" Type="http://schemas.openxmlformats.org/officeDocument/2006/relationships/image" Target="../media/image47.emf"/><Relationship Id="rId8" Type="http://schemas.openxmlformats.org/officeDocument/2006/relationships/oleObject" Target="../embeddings/oleObject7.bin"/></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75.xml.rels><?xml version="1.0" encoding="UTF-8" standalone="yes"?>
<Relationships xmlns="http://schemas.openxmlformats.org/package/2006/relationships"><Relationship Id="rId3" Type="http://schemas.openxmlformats.org/officeDocument/2006/relationships/notesSlide" Target="../notesSlides/notesSlide116.xml"/><Relationship Id="rId4" Type="http://schemas.openxmlformats.org/officeDocument/2006/relationships/oleObject" Target="../embeddings/oleObject14.bin"/><Relationship Id="rId5" Type="http://schemas.openxmlformats.org/officeDocument/2006/relationships/image" Target="../media/image55.wmf"/><Relationship Id="rId1" Type="http://schemas.openxmlformats.org/officeDocument/2006/relationships/vmlDrawing" Target="../drawings/vmlDrawing6.vml"/><Relationship Id="rId2" Type="http://schemas.openxmlformats.org/officeDocument/2006/relationships/slideLayout" Target="../slideLayouts/slideLayout6.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80.xml.rels><?xml version="1.0" encoding="UTF-8" standalone="yes"?>
<Relationships xmlns="http://schemas.openxmlformats.org/package/2006/relationships"><Relationship Id="rId3" Type="http://schemas.openxmlformats.org/officeDocument/2006/relationships/notesSlide" Target="../notesSlides/notesSlide121.xml"/><Relationship Id="rId4" Type="http://schemas.openxmlformats.org/officeDocument/2006/relationships/oleObject" Target="../embeddings/oleObject15.bin"/><Relationship Id="rId5" Type="http://schemas.openxmlformats.org/officeDocument/2006/relationships/image" Target="../media/image56.wmf"/><Relationship Id="rId1" Type="http://schemas.openxmlformats.org/officeDocument/2006/relationships/vmlDrawing" Target="../drawings/vmlDrawing7.vml"/><Relationship Id="rId2" Type="http://schemas.openxmlformats.org/officeDocument/2006/relationships/slideLayout" Target="../slideLayouts/slideLayout6.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82.xml.rels><?xml version="1.0" encoding="UTF-8" standalone="yes"?>
<Relationships xmlns="http://schemas.openxmlformats.org/package/2006/relationships"><Relationship Id="rId3" Type="http://schemas.openxmlformats.org/officeDocument/2006/relationships/image" Target="../media/image57.wmf"/><Relationship Id="rId4" Type="http://schemas.openxmlformats.org/officeDocument/2006/relationships/image" Target="../media/image58.wmf"/><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5.xml"/></Relationships>
</file>

<file path=ppt/slides/_rels/slide185.xml.rels><?xml version="1.0" encoding="UTF-8" standalone="yes"?>
<Relationships xmlns="http://schemas.openxmlformats.org/package/2006/relationships"><Relationship Id="rId3" Type="http://schemas.openxmlformats.org/officeDocument/2006/relationships/image" Target="../media/image59.emf"/><Relationship Id="rId4" Type="http://schemas.openxmlformats.org/officeDocument/2006/relationships/image" Target="../media/image60.emf"/><Relationship Id="rId1" Type="http://schemas.openxmlformats.org/officeDocument/2006/relationships/slideLayout" Target="../slideLayouts/slideLayout4.xml"/><Relationship Id="rId2" Type="http://schemas.openxmlformats.org/officeDocument/2006/relationships/notesSlide" Target="../notesSlides/notesSlide126.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87.xml.rels><?xml version="1.0" encoding="UTF-8" standalone="yes"?>
<Relationships xmlns="http://schemas.openxmlformats.org/package/2006/relationships"><Relationship Id="rId3" Type="http://schemas.openxmlformats.org/officeDocument/2006/relationships/image" Target="../media/image61.wmf"/><Relationship Id="rId4" Type="http://schemas.openxmlformats.org/officeDocument/2006/relationships/image" Target="../media/image62.wmf"/><Relationship Id="rId1" Type="http://schemas.openxmlformats.org/officeDocument/2006/relationships/slideLayout" Target="../slideLayouts/slideLayout6.xml"/><Relationship Id="rId2" Type="http://schemas.openxmlformats.org/officeDocument/2006/relationships/notesSlide" Target="../notesSlides/notesSlide128.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89.xml.rels><?xml version="1.0" encoding="UTF-8" standalone="yes"?>
<Relationships xmlns="http://schemas.openxmlformats.org/package/2006/relationships"><Relationship Id="rId3" Type="http://schemas.openxmlformats.org/officeDocument/2006/relationships/diagramData" Target="../diagrams/data20.xml"/><Relationship Id="rId4" Type="http://schemas.openxmlformats.org/officeDocument/2006/relationships/diagramLayout" Target="../diagrams/layout20.xml"/><Relationship Id="rId5" Type="http://schemas.openxmlformats.org/officeDocument/2006/relationships/diagramQuickStyle" Target="../diagrams/quickStyle20.xml"/><Relationship Id="rId6" Type="http://schemas.openxmlformats.org/officeDocument/2006/relationships/diagramColors" Target="../diagrams/colors20.xml"/><Relationship Id="rId7" Type="http://schemas.microsoft.com/office/2007/relationships/diagramDrawing" Target="../diagrams/drawing20.xml"/><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90.xml.rels><?xml version="1.0" encoding="UTF-8" standalone="yes"?>
<Relationships xmlns="http://schemas.openxmlformats.org/package/2006/relationships"><Relationship Id="rId3" Type="http://schemas.openxmlformats.org/officeDocument/2006/relationships/diagramData" Target="../diagrams/data21.xml"/><Relationship Id="rId4" Type="http://schemas.openxmlformats.org/officeDocument/2006/relationships/diagramLayout" Target="../diagrams/layout21.xml"/><Relationship Id="rId5" Type="http://schemas.openxmlformats.org/officeDocument/2006/relationships/diagramQuickStyle" Target="../diagrams/quickStyle21.xml"/><Relationship Id="rId6" Type="http://schemas.openxmlformats.org/officeDocument/2006/relationships/diagramColors" Target="../diagrams/colors21.xml"/><Relationship Id="rId7" Type="http://schemas.microsoft.com/office/2007/relationships/diagramDrawing" Target="../diagrams/drawing21.xml"/><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2.xml"/><Relationship Id="rId3" Type="http://schemas.openxmlformats.org/officeDocument/2006/relationships/image" Target="../media/image64.png"/></Relationships>
</file>

<file path=ppt/slides/_rels/slide192.xml.rels><?xml version="1.0" encoding="UTF-8" standalone="yes"?>
<Relationships xmlns="http://schemas.openxmlformats.org/package/2006/relationships"><Relationship Id="rId3" Type="http://schemas.openxmlformats.org/officeDocument/2006/relationships/image" Target="../media/image65.png"/><Relationship Id="rId4" Type="http://schemas.openxmlformats.org/officeDocument/2006/relationships/image" Target="../media/image66.png"/><Relationship Id="rId1" Type="http://schemas.openxmlformats.org/officeDocument/2006/relationships/slideLayout" Target="../slideLayouts/slideLayout6.xml"/><Relationship Id="rId2" Type="http://schemas.openxmlformats.org/officeDocument/2006/relationships/notesSlide" Target="../notesSlides/notesSlide133.xml"/></Relationships>
</file>

<file path=ppt/slides/_rels/slide193.xml.rels><?xml version="1.0" encoding="UTF-8" standalone="yes"?>
<Relationships xmlns="http://schemas.openxmlformats.org/package/2006/relationships"><Relationship Id="rId3" Type="http://schemas.openxmlformats.org/officeDocument/2006/relationships/image" Target="../media/image68.png"/><Relationship Id="rId4" Type="http://schemas.openxmlformats.org/officeDocument/2006/relationships/chart" Target="../charts/chart5.xml"/><Relationship Id="rId5" Type="http://schemas.openxmlformats.org/officeDocument/2006/relationships/chart" Target="../charts/chart6.xml"/><Relationship Id="rId6" Type="http://schemas.openxmlformats.org/officeDocument/2006/relationships/chart" Target="../charts/chart7.xml"/><Relationship Id="rId7" Type="http://schemas.openxmlformats.org/officeDocument/2006/relationships/image" Target="../media/image70.png"/><Relationship Id="rId1" Type="http://schemas.openxmlformats.org/officeDocument/2006/relationships/slideLayout" Target="../slideLayouts/slideLayout6.xml"/><Relationship Id="rId2" Type="http://schemas.openxmlformats.org/officeDocument/2006/relationships/image" Target="../media/image67.png"/></Relationships>
</file>

<file path=ppt/slides/_rels/slide194.xml.rels><?xml version="1.0" encoding="UTF-8" standalone="yes"?>
<Relationships xmlns="http://schemas.openxmlformats.org/package/2006/relationships"><Relationship Id="rId3" Type="http://schemas.openxmlformats.org/officeDocument/2006/relationships/diagramData" Target="../diagrams/data22.xml"/><Relationship Id="rId4" Type="http://schemas.openxmlformats.org/officeDocument/2006/relationships/diagramLayout" Target="../diagrams/layout22.xml"/><Relationship Id="rId5" Type="http://schemas.openxmlformats.org/officeDocument/2006/relationships/diagramQuickStyle" Target="../diagrams/quickStyle22.xml"/><Relationship Id="rId6" Type="http://schemas.openxmlformats.org/officeDocument/2006/relationships/diagramColors" Target="../diagrams/colors22.xml"/><Relationship Id="rId7" Type="http://schemas.microsoft.com/office/2007/relationships/diagramDrawing" Target="../diagrams/drawing22.xml"/><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 Id="rId3" Type="http://schemas.openxmlformats.org/officeDocument/2006/relationships/image" Target="../media/image71.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1.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4.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5.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6.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2.png"/><Relationship Id="rId3" Type="http://schemas.openxmlformats.org/officeDocument/2006/relationships/image" Target="../media/image73.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4.png"/><Relationship Id="rId3" Type="http://schemas.openxmlformats.org/officeDocument/2006/relationships/image" Target="../media/image75.png"/></Relationships>
</file>

<file path=ppt/slides/_rels/slide214.xml.rels><?xml version="1.0" encoding="UTF-8" standalone="yes"?>
<Relationships xmlns="http://schemas.openxmlformats.org/package/2006/relationships"><Relationship Id="rId3" Type="http://schemas.openxmlformats.org/officeDocument/2006/relationships/image" Target="../media/image77.png"/><Relationship Id="rId4" Type="http://schemas.openxmlformats.org/officeDocument/2006/relationships/image" Target="../media/image78.png"/><Relationship Id="rId1" Type="http://schemas.openxmlformats.org/officeDocument/2006/relationships/slideLayout" Target="../slideLayouts/slideLayout6.xml"/><Relationship Id="rId2" Type="http://schemas.openxmlformats.org/officeDocument/2006/relationships/image" Target="../media/image76.pn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9.png"/><Relationship Id="rId3" Type="http://schemas.openxmlformats.org/officeDocument/2006/relationships/image" Target="../media/image80.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1.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2.pn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3.pn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4.png"/></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 Id="rId3" Type="http://schemas.openxmlformats.org/officeDocument/2006/relationships/image" Target="../media/image85.wmf"/></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0.xml"/><Relationship Id="rId3" Type="http://schemas.openxmlformats.org/officeDocument/2006/relationships/image" Target="../media/image86.wmf"/></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 Id="rId3" Type="http://schemas.openxmlformats.org/officeDocument/2006/relationships/image" Target="../media/image87.jpeg"/></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5.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9.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4.xml"/></Relationships>
</file>

<file path=ppt/slides/_rels/slide240.xml.rels><?xml version="1.0" encoding="UTF-8" standalone="yes"?>
<Relationships xmlns="http://schemas.openxmlformats.org/package/2006/relationships"><Relationship Id="rId3" Type="http://schemas.openxmlformats.org/officeDocument/2006/relationships/diagramLayout" Target="../diagrams/layout23.xml"/><Relationship Id="rId4" Type="http://schemas.openxmlformats.org/officeDocument/2006/relationships/diagramQuickStyle" Target="../diagrams/quickStyle23.xml"/><Relationship Id="rId5" Type="http://schemas.openxmlformats.org/officeDocument/2006/relationships/diagramColors" Target="../diagrams/colors23.xml"/><Relationship Id="rId6" Type="http://schemas.microsoft.com/office/2007/relationships/diagramDrawing" Target="../diagrams/drawing23.xml"/><Relationship Id="rId1" Type="http://schemas.openxmlformats.org/officeDocument/2006/relationships/slideLayout" Target="../slideLayouts/slideLayout4.xml"/><Relationship Id="rId2" Type="http://schemas.openxmlformats.org/officeDocument/2006/relationships/diagramData" Target="../diagrams/data23.xml"/></Relationships>
</file>

<file path=ppt/slides/_rels/slide241.xml.rels><?xml version="1.0" encoding="UTF-8" standalone="yes"?>
<Relationships xmlns="http://schemas.openxmlformats.org/package/2006/relationships"><Relationship Id="rId3" Type="http://schemas.openxmlformats.org/officeDocument/2006/relationships/diagramLayout" Target="../diagrams/layout24.xml"/><Relationship Id="rId4" Type="http://schemas.openxmlformats.org/officeDocument/2006/relationships/diagramQuickStyle" Target="../diagrams/quickStyle24.xml"/><Relationship Id="rId5" Type="http://schemas.openxmlformats.org/officeDocument/2006/relationships/diagramColors" Target="../diagrams/colors24.xml"/><Relationship Id="rId6" Type="http://schemas.microsoft.com/office/2007/relationships/diagramDrawing" Target="../diagrams/drawing24.xml"/><Relationship Id="rId7" Type="http://schemas.openxmlformats.org/officeDocument/2006/relationships/image" Target="../media/image88.wmf"/><Relationship Id="rId8" Type="http://schemas.openxmlformats.org/officeDocument/2006/relationships/image" Target="../media/image89.wmf"/><Relationship Id="rId1" Type="http://schemas.openxmlformats.org/officeDocument/2006/relationships/slideLayout" Target="../slideLayouts/slideLayout2.xml"/><Relationship Id="rId2" Type="http://schemas.openxmlformats.org/officeDocument/2006/relationships/diagramData" Target="../diagrams/data24.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p:cNvSpPr>
            <a:spLocks noGrp="1"/>
          </p:cNvSpPr>
          <p:nvPr>
            <p:ph type="ctrTitle"/>
          </p:nvPr>
        </p:nvSpPr>
        <p:spPr/>
        <p:txBody>
          <a:bodyPr>
            <a:noAutofit/>
          </a:bodyPr>
          <a:lstStyle/>
          <a:p>
            <a:r>
              <a:rPr lang="fi-FI" sz="4800" dirty="0" smtClean="0"/>
              <a:t>Hyväksymistestaus</a:t>
            </a:r>
            <a:r>
              <a:rPr lang="fi-FI" dirty="0" smtClean="0"/>
              <a:t/>
            </a:r>
            <a:br>
              <a:rPr lang="fi-FI" dirty="0" smtClean="0"/>
            </a:br>
            <a:r>
              <a:rPr lang="fi-FI" sz="2800" dirty="0" smtClean="0"/>
              <a:t>”testausvastuullisena asiakkaat ja loppukäyttäjät”</a:t>
            </a:r>
            <a:endParaRPr lang="en-US" sz="3600" dirty="0">
              <a:solidFill>
                <a:schemeClr val="accent3"/>
              </a:solidFill>
            </a:endParaRPr>
          </a:p>
        </p:txBody>
      </p:sp>
      <p:sp>
        <p:nvSpPr>
          <p:cNvPr id="3" name="Alaotsikko 2"/>
          <p:cNvSpPr>
            <a:spLocks noGrp="1"/>
          </p:cNvSpPr>
          <p:nvPr>
            <p:ph type="subTitle" idx="1"/>
          </p:nvPr>
        </p:nvSpPr>
        <p:spPr>
          <a:xfrm>
            <a:off x="323528" y="3886200"/>
            <a:ext cx="8280920" cy="1752600"/>
          </a:xfrm>
        </p:spPr>
        <p:txBody>
          <a:bodyPr>
            <a:noAutofit/>
          </a:bodyPr>
          <a:lstStyle/>
          <a:p>
            <a:pPr>
              <a:defRPr/>
            </a:pPr>
            <a:r>
              <a:rPr lang="fi-FI" sz="2000" b="1" dirty="0"/>
              <a:t>Maaret Pyhäjärvi</a:t>
            </a:r>
            <a:r>
              <a:rPr lang="fi-FI" sz="2000" dirty="0"/>
              <a:t>| &lt;</a:t>
            </a:r>
            <a:r>
              <a:rPr lang="fi-FI" sz="2000" dirty="0" err="1"/>
              <a:t>maaret@iki.fi</a:t>
            </a:r>
            <a:r>
              <a:rPr lang="fi-FI" sz="2000" dirty="0"/>
              <a:t>&gt; | </a:t>
            </a:r>
            <a:r>
              <a:rPr lang="fi-FI" sz="2000" dirty="0" err="1"/>
              <a:t>Twitter</a:t>
            </a:r>
            <a:r>
              <a:rPr lang="fi-FI" sz="2000" dirty="0"/>
              <a:t>: </a:t>
            </a:r>
            <a:r>
              <a:rPr lang="fi-FI" sz="2000" dirty="0" err="1"/>
              <a:t>maaretp</a:t>
            </a:r>
            <a:endParaRPr lang="fi-FI" sz="2000" dirty="0"/>
          </a:p>
          <a:p>
            <a:pPr>
              <a:defRPr/>
            </a:pPr>
            <a:r>
              <a:rPr lang="fi-FI" sz="1800" b="1" dirty="0" smtClean="0"/>
              <a:t>Testausasiantuntija </a:t>
            </a:r>
            <a:r>
              <a:rPr lang="fi-FI" sz="1800" b="1" dirty="0"/>
              <a:t>@ Granlund Oy </a:t>
            </a:r>
            <a:r>
              <a:rPr lang="fi-FI" sz="1800" dirty="0"/>
              <a:t>| </a:t>
            </a:r>
            <a:r>
              <a:rPr lang="fi-FI" sz="1800" dirty="0" smtClean="0"/>
              <a:t>Kouluttaja @ Altom| Ohjelmistotestaus ry | </a:t>
            </a:r>
            <a:r>
              <a:rPr lang="fi-FI" sz="1800" dirty="0" err="1" smtClean="0"/>
              <a:t>TestausOSY</a:t>
            </a:r>
            <a:r>
              <a:rPr lang="fi-FI" sz="1800" dirty="0" smtClean="0"/>
              <a:t> </a:t>
            </a:r>
            <a:r>
              <a:rPr lang="fi-FI" sz="1800" dirty="0"/>
              <a:t>| </a:t>
            </a:r>
            <a:r>
              <a:rPr lang="fi-FI" sz="1800" dirty="0" err="1"/>
              <a:t>Agile</a:t>
            </a:r>
            <a:r>
              <a:rPr lang="fi-FI" sz="1800" dirty="0"/>
              <a:t> Finland</a:t>
            </a:r>
          </a:p>
          <a:p>
            <a:endParaRPr lang="en-US" sz="2000" dirty="0"/>
          </a:p>
        </p:txBody>
      </p:sp>
      <p:grpSp>
        <p:nvGrpSpPr>
          <p:cNvPr id="4" name="Ryhmä 4"/>
          <p:cNvGrpSpPr/>
          <p:nvPr/>
        </p:nvGrpSpPr>
        <p:grpSpPr>
          <a:xfrm>
            <a:off x="1979712" y="5007126"/>
            <a:ext cx="5648627" cy="798138"/>
            <a:chOff x="1979712" y="4724406"/>
            <a:chExt cx="5648627" cy="798138"/>
          </a:xfrm>
        </p:grpSpPr>
        <p:grpSp>
          <p:nvGrpSpPr>
            <p:cNvPr id="5" name="Group 12"/>
            <p:cNvGrpSpPr>
              <a:grpSpLocks/>
            </p:cNvGrpSpPr>
            <p:nvPr/>
          </p:nvGrpSpPr>
          <p:grpSpPr bwMode="auto">
            <a:xfrm>
              <a:off x="1979712" y="4724406"/>
              <a:ext cx="5648627" cy="798138"/>
              <a:chOff x="838200" y="5486400"/>
              <a:chExt cx="4138247" cy="690391"/>
            </a:xfrm>
          </p:grpSpPr>
          <p:sp>
            <p:nvSpPr>
              <p:cNvPr id="8" name="Rectangle 9"/>
              <p:cNvSpPr/>
              <p:nvPr/>
            </p:nvSpPr>
            <p:spPr>
              <a:xfrm>
                <a:off x="838200" y="5486400"/>
                <a:ext cx="4114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Bef>
                    <a:spcPts val="0"/>
                  </a:spcBef>
                  <a:spcAft>
                    <a:spcPts val="0"/>
                  </a:spcAft>
                  <a:defRPr/>
                </a:pPr>
                <a:endParaRPr lang="fi-FI" sz="1100"/>
              </a:p>
            </p:txBody>
          </p:sp>
          <p:sp>
            <p:nvSpPr>
              <p:cNvPr id="9" name="TextBox 11"/>
              <p:cNvSpPr txBox="1">
                <a:spLocks noChangeArrowheads="1"/>
              </p:cNvSpPr>
              <p:nvPr/>
            </p:nvSpPr>
            <p:spPr bwMode="auto">
              <a:xfrm>
                <a:off x="2157047" y="5511223"/>
                <a:ext cx="2819400" cy="665568"/>
              </a:xfrm>
              <a:prstGeom prst="rect">
                <a:avLst/>
              </a:prstGeom>
              <a:noFill/>
              <a:ln w="9525">
                <a:noFill/>
                <a:miter lim="800000"/>
                <a:headEnd/>
                <a:tailEnd/>
              </a:ln>
            </p:spPr>
            <p:txBody>
              <a:bodyPr>
                <a:spAutoFit/>
              </a:bodyPr>
              <a:lstStyle/>
              <a:p>
                <a:r>
                  <a:rPr lang="fi-FI" sz="1100" dirty="0" smtClean="0"/>
                  <a:t>Maaret Pyhäjärvi &amp; Erkki Pöyhönen</a:t>
                </a:r>
                <a:endParaRPr lang="fi-FI" sz="1100" dirty="0"/>
              </a:p>
              <a:p>
                <a:r>
                  <a:rPr lang="fi-FI" sz="1100" dirty="0"/>
                  <a:t>Nimeä |  </a:t>
                </a:r>
                <a:r>
                  <a:rPr lang="fi-FI" sz="1100" dirty="0" err="1"/>
                  <a:t>Attribution</a:t>
                </a:r>
                <a:r>
                  <a:rPr lang="fi-FI" sz="1100" dirty="0"/>
                  <a:t> (Finland)</a:t>
                </a:r>
              </a:p>
              <a:p>
                <a:pPr marL="0" lvl="1"/>
                <a:r>
                  <a:rPr lang="fi-FI" sz="1100" dirty="0">
                    <a:hlinkClick r:id="rId3"/>
                  </a:rPr>
                  <a:t>http://creativecommons.org/licenses/by/1.0/fi/</a:t>
                </a:r>
                <a:endParaRPr lang="fi-FI" sz="1100" dirty="0"/>
              </a:p>
              <a:p>
                <a:pPr marL="0" lvl="1"/>
                <a:r>
                  <a:rPr lang="fi-FI" sz="1100" dirty="0">
                    <a:hlinkClick r:id="rId4"/>
                  </a:rPr>
                  <a:t>http://creativecommons.org/licenses/by/1.0/fi/deed.en</a:t>
                </a:r>
                <a:endParaRPr lang="fi-FI" sz="1100" dirty="0"/>
              </a:p>
            </p:txBody>
          </p:sp>
        </p:grpSp>
        <p:pic>
          <p:nvPicPr>
            <p:cNvPr id="7" name="Picture 10" descr="88x31.png"/>
            <p:cNvPicPr>
              <a:picLocks noChangeAspect="1"/>
            </p:cNvPicPr>
            <p:nvPr/>
          </p:nvPicPr>
          <p:blipFill>
            <a:blip r:embed="rId5" cstate="print"/>
            <a:srcRect/>
            <a:stretch>
              <a:fillRect/>
            </a:stretch>
          </p:blipFill>
          <p:spPr bwMode="auto">
            <a:xfrm>
              <a:off x="2067486" y="4845268"/>
              <a:ext cx="1613589" cy="568424"/>
            </a:xfrm>
            <a:prstGeom prst="rect">
              <a:avLst/>
            </a:prstGeom>
            <a:noFill/>
            <a:ln w="9525">
              <a:noFill/>
              <a:miter lim="800000"/>
              <a:headEnd/>
              <a:tailEnd/>
            </a:ln>
          </p:spPr>
        </p:pic>
      </p:grpSp>
      <p:sp>
        <p:nvSpPr>
          <p:cNvPr id="11" name="Dian numeron paikkamerkki 10"/>
          <p:cNvSpPr>
            <a:spLocks noGrp="1"/>
          </p:cNvSpPr>
          <p:nvPr>
            <p:ph type="sldNum" sz="quarter" idx="12"/>
          </p:nvPr>
        </p:nvSpPr>
        <p:spPr/>
        <p:txBody>
          <a:bodyPr/>
          <a:lstStyle/>
          <a:p>
            <a:fld id="{026D7E99-7AAC-4314-B8CA-6DF60EA686A5}" type="slidenum">
              <a:rPr lang="en-US" smtClean="0"/>
              <a:pPr/>
              <a:t>1</a:t>
            </a:fld>
            <a:endParaRPr lang="en-US"/>
          </a:p>
        </p:txBody>
      </p:sp>
      <p:sp>
        <p:nvSpPr>
          <p:cNvPr id="13" name="TextBox 7"/>
          <p:cNvSpPr txBox="1"/>
          <p:nvPr/>
        </p:nvSpPr>
        <p:spPr>
          <a:xfrm>
            <a:off x="4724400" y="152400"/>
            <a:ext cx="4267200" cy="861774"/>
          </a:xfrm>
          <a:prstGeom prst="rect">
            <a:avLst/>
          </a:prstGeom>
          <a:noFill/>
        </p:spPr>
        <p:txBody>
          <a:bodyPr wrap="square" rtlCol="0">
            <a:spAutoFit/>
          </a:bodyPr>
          <a:lstStyle/>
          <a:p>
            <a:pPr algn="r"/>
            <a:r>
              <a:rPr lang="fi-FI" sz="3200" b="1" dirty="0" smtClean="0">
                <a:solidFill>
                  <a:schemeClr val="accent1"/>
                </a:solidFill>
                <a:latin typeface="Segoe Script" pitchFamily="34" charset="0"/>
                <a:cs typeface="Tunga" pitchFamily="2" charset="0"/>
              </a:rPr>
              <a:t>Hyväksymistestaus</a:t>
            </a:r>
          </a:p>
          <a:p>
            <a:pPr algn="r"/>
            <a:r>
              <a:rPr lang="fi-FI" sz="1400" b="1" dirty="0" smtClean="0">
                <a:solidFill>
                  <a:schemeClr val="accent1"/>
                </a:solidFill>
                <a:latin typeface="Segoe Script" pitchFamily="34" charset="0"/>
                <a:cs typeface="Tunga" pitchFamily="2" charset="0"/>
              </a:rPr>
              <a:t>v.4 (2014-08</a:t>
            </a:r>
            <a:r>
              <a:rPr lang="fi-FI" b="1" dirty="0" smtClean="0">
                <a:solidFill>
                  <a:schemeClr val="accent1"/>
                </a:solidFill>
                <a:latin typeface="Freestyle Script" pitchFamily="66" charset="0"/>
                <a:cs typeface="Tunga" pitchFamily="2" charset="0"/>
              </a:rPr>
              <a:t>)</a:t>
            </a:r>
            <a:endParaRPr lang="fi-FI" sz="1600" b="1" dirty="0">
              <a:solidFill>
                <a:schemeClr val="accent1"/>
              </a:solidFill>
              <a:latin typeface="Freestyle Script" pitchFamily="66" charset="0"/>
              <a:cs typeface="Tunga" pitchFamily="2" charset="0"/>
            </a:endParaRPr>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fi-FI"/>
              <a:t>Materiaalista</a:t>
            </a:r>
            <a:endParaRPr lang="en-US"/>
          </a:p>
        </p:txBody>
      </p:sp>
      <p:sp>
        <p:nvSpPr>
          <p:cNvPr id="28681" name="Rectangle 9"/>
          <p:cNvSpPr>
            <a:spLocks noGrp="1" noChangeArrowheads="1"/>
          </p:cNvSpPr>
          <p:nvPr>
            <p:ph type="body" sz="half" idx="1"/>
          </p:nvPr>
        </p:nvSpPr>
        <p:spPr/>
        <p:txBody>
          <a:bodyPr>
            <a:normAutofit/>
          </a:bodyPr>
          <a:lstStyle/>
          <a:p>
            <a:r>
              <a:rPr lang="fi-FI" sz="2000" dirty="0"/>
              <a:t>Lisensoitu Creative Commons Tekijä mainittava lisenssillä</a:t>
            </a:r>
          </a:p>
          <a:p>
            <a:pPr lvl="1"/>
            <a:r>
              <a:rPr lang="fi-FI" sz="1800" dirty="0"/>
              <a:t>Kokonaisuutta tai osia saa uudelleenkäyttää ja muokata </a:t>
            </a:r>
            <a:r>
              <a:rPr lang="fi-FI" sz="1800" dirty="0" smtClean="0"/>
              <a:t>käyttöönsä</a:t>
            </a:r>
            <a:endParaRPr lang="fi-FI" sz="1800" dirty="0"/>
          </a:p>
          <a:p>
            <a:pPr lvl="1"/>
            <a:r>
              <a:rPr lang="fi-FI" sz="1800" dirty="0"/>
              <a:t>Mainittava ”perustuu </a:t>
            </a:r>
            <a:r>
              <a:rPr lang="fi-FI" sz="1800" dirty="0" smtClean="0"/>
              <a:t>Maaretin ja Erkin materiaaleihin</a:t>
            </a:r>
            <a:r>
              <a:rPr lang="fi-FI" sz="1800" dirty="0"/>
              <a:t>”.</a:t>
            </a:r>
          </a:p>
          <a:p>
            <a:pPr lvl="1"/>
            <a:r>
              <a:rPr lang="fi-FI" sz="1800" dirty="0"/>
              <a:t>Myös kaupallinen käyttö sallittu</a:t>
            </a:r>
          </a:p>
          <a:p>
            <a:r>
              <a:rPr lang="fi-FI" sz="2000" dirty="0"/>
              <a:t>Kaksi tekijää</a:t>
            </a:r>
          </a:p>
          <a:p>
            <a:pPr lvl="1"/>
            <a:r>
              <a:rPr lang="fi-FI" sz="1800" dirty="0"/>
              <a:t>Perustana yhteistyössä selkiytetyt viestintätarpeet</a:t>
            </a:r>
          </a:p>
          <a:p>
            <a:pPr lvl="1"/>
            <a:r>
              <a:rPr lang="fi-FI" sz="1800" dirty="0"/>
              <a:t>Osin näkemyksemme eroavat ja korostamme eri asioita</a:t>
            </a:r>
            <a:endParaRPr lang="en-US" sz="1800" dirty="0"/>
          </a:p>
        </p:txBody>
      </p:sp>
      <p:sp>
        <p:nvSpPr>
          <p:cNvPr id="28682" name="Rectangle 10"/>
          <p:cNvSpPr>
            <a:spLocks noGrp="1" noChangeArrowheads="1"/>
          </p:cNvSpPr>
          <p:nvPr>
            <p:ph type="body" sz="half" idx="2"/>
          </p:nvPr>
        </p:nvSpPr>
        <p:spPr>
          <a:xfrm>
            <a:off x="5029200" y="1561858"/>
            <a:ext cx="3771900" cy="4243406"/>
          </a:xfrm>
          <a:ln/>
        </p:spPr>
        <p:style>
          <a:lnRef idx="1">
            <a:schemeClr val="accent3"/>
          </a:lnRef>
          <a:fillRef idx="2">
            <a:schemeClr val="accent3"/>
          </a:fillRef>
          <a:effectRef idx="1">
            <a:schemeClr val="accent3"/>
          </a:effectRef>
          <a:fontRef idx="minor">
            <a:schemeClr val="dk1"/>
          </a:fontRef>
        </p:style>
        <p:txBody>
          <a:bodyPr>
            <a:normAutofit/>
          </a:bodyPr>
          <a:lstStyle/>
          <a:p>
            <a:pPr algn="ctr">
              <a:buFontTx/>
              <a:buNone/>
            </a:pPr>
            <a:r>
              <a:rPr lang="fi-FI" sz="1800" b="1" dirty="0"/>
              <a:t>VISIO JA TAVOITTEET</a:t>
            </a:r>
          </a:p>
          <a:p>
            <a:r>
              <a:rPr lang="fi-FI" sz="1800" dirty="0"/>
              <a:t>Kehittämisresurssien hukkaan heittämisen välttäminen</a:t>
            </a:r>
          </a:p>
          <a:p>
            <a:pPr lvl="1"/>
            <a:r>
              <a:rPr lang="fi-FI" sz="1600" dirty="0"/>
              <a:t>Tekijänoikeuksien nimissä tuhlataan merkittävästi aikaa saman perustiedon uudelleenpaketoinnissa</a:t>
            </a:r>
          </a:p>
          <a:p>
            <a:r>
              <a:rPr lang="fi-FI" sz="1800" dirty="0"/>
              <a:t>Materiaalin todellinen arvo on esittäjissä</a:t>
            </a:r>
          </a:p>
          <a:p>
            <a:pPr lvl="1"/>
            <a:r>
              <a:rPr lang="fi-FI" sz="1600" dirty="0"/>
              <a:t>Käytännön omakohtaiset esimerkit ovat tärkeitä oppimiselle</a:t>
            </a:r>
          </a:p>
          <a:p>
            <a:r>
              <a:rPr lang="fi-FI" sz="1800" dirty="0"/>
              <a:t>Keskittyminen edistykseen</a:t>
            </a:r>
          </a:p>
          <a:p>
            <a:pPr lvl="1"/>
            <a:r>
              <a:rPr lang="fi-FI" sz="1600" dirty="0"/>
              <a:t>Uusi sisältö uuden muodon asemesta edistää </a:t>
            </a:r>
            <a:r>
              <a:rPr lang="fi-FI" sz="1600" dirty="0" smtClean="0"/>
              <a:t>testausalaa</a:t>
            </a:r>
            <a:endParaRPr lang="fi-FI" sz="1600" dirty="0"/>
          </a:p>
        </p:txBody>
      </p:sp>
      <p:sp>
        <p:nvSpPr>
          <p:cNvPr id="9" name="Slide Number Placeholder 8"/>
          <p:cNvSpPr>
            <a:spLocks noGrp="1"/>
          </p:cNvSpPr>
          <p:nvPr>
            <p:ph type="sldNum" sz="quarter" idx="12"/>
          </p:nvPr>
        </p:nvSpPr>
        <p:spPr/>
        <p:txBody>
          <a:bodyPr/>
          <a:lstStyle/>
          <a:p>
            <a:fld id="{BD0CFE7D-A4BF-470B-95B8-65F5DF7A5EA8}" type="slidenum">
              <a:rPr lang="fi-FI" smtClean="0"/>
              <a:pPr/>
              <a:t>2</a:t>
            </a:fld>
            <a:endParaRPr lang="fi-FI"/>
          </a:p>
        </p:txBody>
      </p:sp>
      <p:grpSp>
        <p:nvGrpSpPr>
          <p:cNvPr id="10" name="Ryhmä 4"/>
          <p:cNvGrpSpPr/>
          <p:nvPr/>
        </p:nvGrpSpPr>
        <p:grpSpPr>
          <a:xfrm>
            <a:off x="179512" y="5877272"/>
            <a:ext cx="5648627" cy="798138"/>
            <a:chOff x="1979712" y="4724406"/>
            <a:chExt cx="5648627" cy="798138"/>
          </a:xfrm>
        </p:grpSpPr>
        <p:grpSp>
          <p:nvGrpSpPr>
            <p:cNvPr id="11" name="Group 12"/>
            <p:cNvGrpSpPr>
              <a:grpSpLocks/>
            </p:cNvGrpSpPr>
            <p:nvPr/>
          </p:nvGrpSpPr>
          <p:grpSpPr bwMode="auto">
            <a:xfrm>
              <a:off x="1979712" y="4724406"/>
              <a:ext cx="5648627" cy="798138"/>
              <a:chOff x="838200" y="5486400"/>
              <a:chExt cx="4138247" cy="690391"/>
            </a:xfrm>
          </p:grpSpPr>
          <p:sp>
            <p:nvSpPr>
              <p:cNvPr id="13" name="Rectangle 9"/>
              <p:cNvSpPr/>
              <p:nvPr/>
            </p:nvSpPr>
            <p:spPr>
              <a:xfrm>
                <a:off x="838200" y="5486400"/>
                <a:ext cx="4114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Bef>
                    <a:spcPts val="0"/>
                  </a:spcBef>
                  <a:spcAft>
                    <a:spcPts val="0"/>
                  </a:spcAft>
                  <a:defRPr/>
                </a:pPr>
                <a:endParaRPr lang="fi-FI" sz="1100"/>
              </a:p>
            </p:txBody>
          </p:sp>
          <p:sp>
            <p:nvSpPr>
              <p:cNvPr id="17" name="TextBox 11"/>
              <p:cNvSpPr txBox="1">
                <a:spLocks noChangeArrowheads="1"/>
              </p:cNvSpPr>
              <p:nvPr/>
            </p:nvSpPr>
            <p:spPr bwMode="auto">
              <a:xfrm>
                <a:off x="2157047" y="5511223"/>
                <a:ext cx="2819400" cy="665568"/>
              </a:xfrm>
              <a:prstGeom prst="rect">
                <a:avLst/>
              </a:prstGeom>
              <a:noFill/>
              <a:ln w="9525">
                <a:noFill/>
                <a:miter lim="800000"/>
                <a:headEnd/>
                <a:tailEnd/>
              </a:ln>
            </p:spPr>
            <p:txBody>
              <a:bodyPr>
                <a:spAutoFit/>
              </a:bodyPr>
              <a:lstStyle/>
              <a:p>
                <a:r>
                  <a:rPr lang="fi-FI" sz="1100" dirty="0" smtClean="0"/>
                  <a:t>Maaret Pyhäjärvi &amp; Erkki Pöyhönen</a:t>
                </a:r>
                <a:endParaRPr lang="fi-FI" sz="1100" dirty="0"/>
              </a:p>
              <a:p>
                <a:r>
                  <a:rPr lang="fi-FI" sz="1100" dirty="0"/>
                  <a:t>Nimeä |  </a:t>
                </a:r>
                <a:r>
                  <a:rPr lang="fi-FI" sz="1100" dirty="0" err="1"/>
                  <a:t>Attribution</a:t>
                </a:r>
                <a:r>
                  <a:rPr lang="fi-FI" sz="1100" dirty="0"/>
                  <a:t> (Finland)</a:t>
                </a:r>
              </a:p>
              <a:p>
                <a:pPr marL="0" lvl="1"/>
                <a:r>
                  <a:rPr lang="fi-FI" sz="1100" dirty="0">
                    <a:hlinkClick r:id="rId3"/>
                  </a:rPr>
                  <a:t>http://creativecommons.org/licenses/by/1.0/fi/</a:t>
                </a:r>
                <a:endParaRPr lang="fi-FI" sz="1100" dirty="0"/>
              </a:p>
              <a:p>
                <a:pPr marL="0" lvl="1"/>
                <a:r>
                  <a:rPr lang="fi-FI" sz="1100" dirty="0">
                    <a:hlinkClick r:id="rId4"/>
                  </a:rPr>
                  <a:t>http://creativecommons.org/licenses/by/1.0/fi/deed.en</a:t>
                </a:r>
                <a:endParaRPr lang="fi-FI" sz="1100" dirty="0"/>
              </a:p>
            </p:txBody>
          </p:sp>
        </p:grpSp>
        <p:pic>
          <p:nvPicPr>
            <p:cNvPr id="12" name="Picture 10" descr="88x31.png"/>
            <p:cNvPicPr>
              <a:picLocks noChangeAspect="1"/>
            </p:cNvPicPr>
            <p:nvPr/>
          </p:nvPicPr>
          <p:blipFill>
            <a:blip r:embed="rId5" cstate="print"/>
            <a:srcRect/>
            <a:stretch>
              <a:fillRect/>
            </a:stretch>
          </p:blipFill>
          <p:spPr bwMode="auto">
            <a:xfrm>
              <a:off x="2067486" y="4845268"/>
              <a:ext cx="1613589" cy="568424"/>
            </a:xfrm>
            <a:prstGeom prst="rect">
              <a:avLst/>
            </a:prstGeom>
            <a:noFill/>
            <a:ln w="9525">
              <a:noFill/>
              <a:miter lim="800000"/>
              <a:headEnd/>
              <a:tailEnd/>
            </a:ln>
          </p:spPr>
        </p:pic>
      </p:grpSp>
    </p:spTree>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dirty="0" smtClean="0"/>
              <a:t>Kouluttajasta</a:t>
            </a:r>
            <a:endParaRPr lang="en-US" dirty="0"/>
          </a:p>
        </p:txBody>
      </p:sp>
      <p:sp>
        <p:nvSpPr>
          <p:cNvPr id="3" name="Sisällön paikkamerkki 2"/>
          <p:cNvSpPr>
            <a:spLocks noGrp="1"/>
          </p:cNvSpPr>
          <p:nvPr>
            <p:ph idx="1"/>
          </p:nvPr>
        </p:nvSpPr>
        <p:spPr>
          <a:xfrm>
            <a:off x="2627784" y="1600200"/>
            <a:ext cx="6059016" cy="4525963"/>
          </a:xfrm>
        </p:spPr>
        <p:txBody>
          <a:bodyPr>
            <a:normAutofit fontScale="85000" lnSpcReduction="10000"/>
          </a:bodyPr>
          <a:lstStyle/>
          <a:p>
            <a:r>
              <a:rPr lang="fi-FI" dirty="0" smtClean="0"/>
              <a:t>Ohjelmistokehityksen asiantuntija</a:t>
            </a:r>
            <a:r>
              <a:rPr lang="en-US" dirty="0" smtClean="0"/>
              <a:t> </a:t>
            </a:r>
            <a:r>
              <a:rPr lang="en-US" dirty="0" err="1" smtClean="0"/>
              <a:t>testauspainotuksella</a:t>
            </a:r>
            <a:r>
              <a:rPr lang="en-US" dirty="0" smtClean="0"/>
              <a:t> ‘95 </a:t>
            </a:r>
            <a:r>
              <a:rPr lang="en-US" dirty="0" smtClean="0">
                <a:sym typeface="Wingdings" pitchFamily="2" charset="2"/>
              </a:rPr>
              <a:t> </a:t>
            </a:r>
            <a:endParaRPr lang="en-US" dirty="0" smtClean="0"/>
          </a:p>
          <a:p>
            <a:r>
              <a:rPr lang="fi-FI" dirty="0" smtClean="0"/>
              <a:t>Eri rooleja (testaaja, testausvastaava, opettaja, projektipäällikkö, määrittelijä, kehittäjä)</a:t>
            </a:r>
          </a:p>
          <a:p>
            <a:r>
              <a:rPr lang="fi-FI" dirty="0" smtClean="0"/>
              <a:t>Eri organisaatioita (Granlund, Ilmarinen, </a:t>
            </a:r>
            <a:r>
              <a:rPr lang="fi-FI" dirty="0" err="1" smtClean="0"/>
              <a:t>F-Secure</a:t>
            </a:r>
            <a:r>
              <a:rPr lang="fi-FI" dirty="0" smtClean="0"/>
              <a:t>, konsultoinnin asiakkaita …)</a:t>
            </a:r>
          </a:p>
          <a:p>
            <a:r>
              <a:rPr lang="fi-FI" dirty="0" smtClean="0"/>
              <a:t>Onnistunut ja toimiva järjestelmä, ihmisten yhteistyö, jatkuva oppiminen</a:t>
            </a:r>
            <a:endParaRPr lang="en-US" dirty="0" smtClean="0"/>
          </a:p>
        </p:txBody>
      </p:sp>
      <p:pic>
        <p:nvPicPr>
          <p:cNvPr id="4" name="Kuva 6" descr="Granlund-logo.jpg"/>
          <p:cNvPicPr>
            <a:picLocks noChangeAspect="1"/>
          </p:cNvPicPr>
          <p:nvPr/>
        </p:nvPicPr>
        <p:blipFill>
          <a:blip r:embed="rId2" cstate="print"/>
          <a:srcRect/>
          <a:stretch>
            <a:fillRect/>
          </a:stretch>
        </p:blipFill>
        <p:spPr bwMode="auto">
          <a:xfrm>
            <a:off x="251123" y="1844824"/>
            <a:ext cx="1152525" cy="1301750"/>
          </a:xfrm>
          <a:prstGeom prst="rect">
            <a:avLst/>
          </a:prstGeom>
          <a:noFill/>
          <a:ln w="9525">
            <a:noFill/>
            <a:miter lim="800000"/>
            <a:headEnd/>
            <a:tailEnd/>
          </a:ln>
        </p:spPr>
      </p:pic>
      <p:pic>
        <p:nvPicPr>
          <p:cNvPr id="5" name="Picture 2" descr="Etusivu">
            <a:hlinkClick r:id="rId3" tooltip="Etusivu"/>
          </p:cNvPr>
          <p:cNvPicPr>
            <a:picLocks noChangeAspect="1" noChangeArrowheads="1"/>
          </p:cNvPicPr>
          <p:nvPr/>
        </p:nvPicPr>
        <p:blipFill>
          <a:blip r:embed="rId4" cstate="print"/>
          <a:srcRect/>
          <a:stretch>
            <a:fillRect/>
          </a:stretch>
        </p:blipFill>
        <p:spPr bwMode="auto">
          <a:xfrm>
            <a:off x="1115616" y="5661248"/>
            <a:ext cx="1368425" cy="392113"/>
          </a:xfrm>
          <a:prstGeom prst="rect">
            <a:avLst/>
          </a:prstGeom>
          <a:noFill/>
          <a:ln w="9525">
            <a:noFill/>
            <a:miter lim="800000"/>
            <a:headEnd/>
            <a:tailEnd/>
          </a:ln>
        </p:spPr>
      </p:pic>
      <p:pic>
        <p:nvPicPr>
          <p:cNvPr id="6" name="Kuva 5" descr="logo-Altom.gif"/>
          <p:cNvPicPr>
            <a:picLocks noChangeAspect="1"/>
          </p:cNvPicPr>
          <p:nvPr/>
        </p:nvPicPr>
        <p:blipFill>
          <a:blip r:embed="rId5" cstate="print"/>
          <a:stretch>
            <a:fillRect/>
          </a:stretch>
        </p:blipFill>
        <p:spPr>
          <a:xfrm>
            <a:off x="1547664" y="2780928"/>
            <a:ext cx="524361" cy="738386"/>
          </a:xfrm>
          <a:prstGeom prst="rect">
            <a:avLst/>
          </a:prstGeom>
        </p:spPr>
      </p:pic>
      <p:pic>
        <p:nvPicPr>
          <p:cNvPr id="7" name="Picture 4" descr="http://confluence.agilefinland.com/download/attachments/131074/global.logo?version=5&amp;modificationDate=1295549319000"/>
          <p:cNvPicPr>
            <a:picLocks noChangeAspect="1" noChangeArrowheads="1"/>
          </p:cNvPicPr>
          <p:nvPr/>
        </p:nvPicPr>
        <p:blipFill>
          <a:blip r:embed="rId6" cstate="print"/>
          <a:srcRect/>
          <a:stretch>
            <a:fillRect/>
          </a:stretch>
        </p:blipFill>
        <p:spPr bwMode="auto">
          <a:xfrm>
            <a:off x="251520" y="4725144"/>
            <a:ext cx="1143000" cy="857251"/>
          </a:xfrm>
          <a:prstGeom prst="rect">
            <a:avLst/>
          </a:prstGeom>
          <a:noFill/>
        </p:spPr>
      </p:pic>
      <p:pic>
        <p:nvPicPr>
          <p:cNvPr id="1026" name="Picture 2"/>
          <p:cNvPicPr>
            <a:picLocks noChangeAspect="1" noChangeArrowheads="1"/>
          </p:cNvPicPr>
          <p:nvPr/>
        </p:nvPicPr>
        <p:blipFill>
          <a:blip r:embed="rId7" cstate="print"/>
          <a:srcRect/>
          <a:stretch>
            <a:fillRect/>
          </a:stretch>
        </p:blipFill>
        <p:spPr bwMode="auto">
          <a:xfrm>
            <a:off x="0" y="3573016"/>
            <a:ext cx="2466975" cy="1190625"/>
          </a:xfrm>
          <a:prstGeom prst="rect">
            <a:avLst/>
          </a:prstGeom>
          <a:noFill/>
          <a:ln w="9525">
            <a:noFill/>
            <a:miter lim="800000"/>
            <a:headEnd/>
            <a:tailEnd/>
          </a:ln>
          <a:effectLst/>
        </p:spPr>
      </p:pic>
      <p:sp>
        <p:nvSpPr>
          <p:cNvPr id="10" name="Dian numeron paikkamerkki 9"/>
          <p:cNvSpPr>
            <a:spLocks noGrp="1"/>
          </p:cNvSpPr>
          <p:nvPr>
            <p:ph type="sldNum" sz="quarter" idx="12"/>
          </p:nvPr>
        </p:nvSpPr>
        <p:spPr/>
        <p:txBody>
          <a:bodyPr/>
          <a:lstStyle/>
          <a:p>
            <a:fld id="{026D7E99-7AAC-4314-B8CA-6DF60EA686A5}" type="slidenum">
              <a:rPr lang="en-US" smtClean="0"/>
              <a:pPr/>
              <a:t>3</a:t>
            </a:fld>
            <a:endParaRPr lang="en-US"/>
          </a:p>
        </p:txBody>
      </p:sp>
      <p:pic>
        <p:nvPicPr>
          <p:cNvPr id="11" name="Kuva 10" descr="maaret07_2014.jpg"/>
          <p:cNvPicPr>
            <a:picLocks noChangeAspect="1"/>
          </p:cNvPicPr>
          <p:nvPr/>
        </p:nvPicPr>
        <p:blipFill>
          <a:blip r:embed="rId8" cstate="print"/>
          <a:stretch>
            <a:fillRect/>
          </a:stretch>
        </p:blipFill>
        <p:spPr>
          <a:xfrm>
            <a:off x="323528" y="188640"/>
            <a:ext cx="1598524" cy="1600200"/>
          </a:xfrm>
          <a:prstGeom prst="rect">
            <a:avLst/>
          </a:prstGeom>
        </p:spPr>
      </p:pic>
    </p:spTree>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Kurssin visio</a:t>
            </a:r>
            <a:endParaRPr lang="fi-FI" dirty="0"/>
          </a:p>
        </p:txBody>
      </p:sp>
      <p:sp>
        <p:nvSpPr>
          <p:cNvPr id="3" name="Content Placeholder 2"/>
          <p:cNvSpPr>
            <a:spLocks noGrp="1"/>
          </p:cNvSpPr>
          <p:nvPr>
            <p:ph idx="1"/>
          </p:nvPr>
        </p:nvSpPr>
        <p:spPr/>
        <p:txBody>
          <a:bodyPr>
            <a:normAutofit/>
          </a:bodyPr>
          <a:lstStyle/>
          <a:p>
            <a:r>
              <a:rPr lang="fi-FI" sz="2800" dirty="0" smtClean="0"/>
              <a:t>Hyväksymistestausta tekevät pääsääntöisesti henkilöt, jotka eivät ole testauksen ammattilaisia</a:t>
            </a:r>
          </a:p>
          <a:p>
            <a:r>
              <a:rPr lang="fi-FI" sz="2800" dirty="0" smtClean="0"/>
              <a:t>Kurssin tarkoituksena on tarjota hyväksymistestauksessa mukana oleville tiedot hyväksymistestauksesta kokonaisuutena:  sen suunnittelusta ja läpiviennistä huomioiden hyväksymistestauksen erityispiirteet</a:t>
            </a:r>
          </a:p>
          <a:p>
            <a:endParaRPr lang="fi-FI" sz="2800" dirty="0" smtClean="0"/>
          </a:p>
        </p:txBody>
      </p:sp>
      <p:pic>
        <p:nvPicPr>
          <p:cNvPr id="1026" name="Picture 2" descr="E:\Documents and Settings\maarit\Local Settings\Temporary Internet Files\Content.IE5\4MW78LPL\MC900078841[1].wmf"/>
          <p:cNvPicPr>
            <a:picLocks noChangeAspect="1" noChangeArrowheads="1"/>
          </p:cNvPicPr>
          <p:nvPr/>
        </p:nvPicPr>
        <p:blipFill>
          <a:blip r:embed="rId2" cstate="print"/>
          <a:srcRect/>
          <a:stretch>
            <a:fillRect/>
          </a:stretch>
        </p:blipFill>
        <p:spPr bwMode="auto">
          <a:xfrm>
            <a:off x="5181600" y="4419600"/>
            <a:ext cx="3346087" cy="1752600"/>
          </a:xfrm>
          <a:prstGeom prst="rect">
            <a:avLst/>
          </a:prstGeom>
          <a:noFill/>
        </p:spPr>
      </p:pic>
      <p:sp>
        <p:nvSpPr>
          <p:cNvPr id="5" name="Slide Number Placeholder 4"/>
          <p:cNvSpPr>
            <a:spLocks noGrp="1"/>
          </p:cNvSpPr>
          <p:nvPr>
            <p:ph type="sldNum" sz="quarter" idx="12"/>
          </p:nvPr>
        </p:nvSpPr>
        <p:spPr/>
        <p:txBody>
          <a:bodyPr/>
          <a:lstStyle/>
          <a:p>
            <a:fld id="{7A750B4A-325E-4AA4-BC07-A8C35B32A4F3}" type="slidenum">
              <a:rPr lang="fi-FI" smtClean="0"/>
              <a:pPr/>
              <a:t>4</a:t>
            </a:fld>
            <a:endParaRPr lang="fi-FI"/>
          </a:p>
        </p:txBody>
      </p:sp>
    </p:spTree>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fi-FI" dirty="0" smtClean="0"/>
              <a:t>Sisältö</a:t>
            </a:r>
            <a:endParaRPr lang="fi-FI" dirty="0"/>
          </a:p>
        </p:txBody>
      </p:sp>
      <p:graphicFrame>
        <p:nvGraphicFramePr>
          <p:cNvPr id="6" name="Content Placeholder 5"/>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Content Placeholder 4"/>
          <p:cNvSpPr>
            <a:spLocks noGrp="1"/>
          </p:cNvSpPr>
          <p:nvPr>
            <p:ph sz="half" idx="4294967295"/>
          </p:nvPr>
        </p:nvSpPr>
        <p:spPr>
          <a:xfrm>
            <a:off x="5105400" y="1600200"/>
            <a:ext cx="4038600" cy="4525963"/>
          </a:xfrm>
        </p:spPr>
        <p:txBody>
          <a:bodyPr>
            <a:normAutofit/>
          </a:bodyPr>
          <a:lstStyle/>
          <a:p>
            <a:endParaRPr lang="fi-FI" dirty="0" smtClean="0"/>
          </a:p>
          <a:p>
            <a:endParaRPr lang="fi-FI" dirty="0" smtClean="0"/>
          </a:p>
          <a:p>
            <a:pPr>
              <a:buNone/>
            </a:pPr>
            <a:endParaRPr lang="fi-FI" dirty="0"/>
          </a:p>
        </p:txBody>
      </p:sp>
      <p:sp>
        <p:nvSpPr>
          <p:cNvPr id="7" name="Slide Number Placeholder 6"/>
          <p:cNvSpPr>
            <a:spLocks noGrp="1"/>
          </p:cNvSpPr>
          <p:nvPr>
            <p:ph type="sldNum" sz="quarter" idx="12"/>
          </p:nvPr>
        </p:nvSpPr>
        <p:spPr/>
        <p:txBody>
          <a:bodyPr/>
          <a:lstStyle/>
          <a:p>
            <a:fld id="{7A750B4A-325E-4AA4-BC07-A8C35B32A4F3}" type="slidenum">
              <a:rPr lang="fi-FI" smtClean="0"/>
              <a:pPr/>
              <a:t>5</a:t>
            </a:fld>
            <a:endParaRPr lang="fi-FI"/>
          </a:p>
        </p:txBody>
      </p:sp>
    </p:spTree>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Harjoitus: Hyväksymistestauksen tarve ja tila</a:t>
            </a:r>
            <a:endParaRPr lang="fi-FI" dirty="0"/>
          </a:p>
        </p:txBody>
      </p:sp>
      <p:sp>
        <p:nvSpPr>
          <p:cNvPr id="4" name="Content Placeholder 3"/>
          <p:cNvSpPr>
            <a:spLocks noGrp="1"/>
          </p:cNvSpPr>
          <p:nvPr>
            <p:ph sz="half" idx="1"/>
          </p:nvPr>
        </p:nvSpPr>
        <p:spPr/>
        <p:txBody>
          <a:bodyPr>
            <a:normAutofit fontScale="85000" lnSpcReduction="20000"/>
          </a:bodyPr>
          <a:lstStyle/>
          <a:p>
            <a:r>
              <a:rPr lang="fi-FI" dirty="0" smtClean="0"/>
              <a:t>Mietitään pienryhmissä hyväksymistestausta, sekä omaa tietämystä ja ymmärrystä hyväksymistestauksen tilasta SWOT-analyysin avulla</a:t>
            </a:r>
          </a:p>
          <a:p>
            <a:r>
              <a:rPr lang="fi-FI" dirty="0" smtClean="0"/>
              <a:t>SWOT = Strengths, Weaknesses, Opportunies, Threats </a:t>
            </a:r>
            <a:r>
              <a:rPr lang="fi-FI" dirty="0" smtClean="0">
                <a:sym typeface="Wingdings" pitchFamily="2" charset="2"/>
              </a:rPr>
              <a:t> vahvuudet, heikkoudet, mahdollisuudet, uhat</a:t>
            </a:r>
          </a:p>
          <a:p>
            <a:r>
              <a:rPr lang="fi-FI" dirty="0" smtClean="0">
                <a:solidFill>
                  <a:schemeClr val="accent1"/>
                </a:solidFill>
                <a:sym typeface="Wingdings" pitchFamily="2" charset="2"/>
              </a:rPr>
              <a:t>Tilanne kurssin alussa – tilanne kurssin lopussa? </a:t>
            </a:r>
            <a:endParaRPr lang="fi-FI" dirty="0">
              <a:solidFill>
                <a:schemeClr val="accent1"/>
              </a:solidFill>
            </a:endParaRPr>
          </a:p>
        </p:txBody>
      </p:sp>
      <p:graphicFrame>
        <p:nvGraphicFramePr>
          <p:cNvPr id="6" name="Content Placeholder 5"/>
          <p:cNvGraphicFramePr>
            <a:graphicFrameLocks noGrp="1"/>
          </p:cNvGraphicFramePr>
          <p:nvPr>
            <p:ph sz="half" idx="2"/>
          </p:nvPr>
        </p:nvGraphicFramePr>
        <p:xfrm>
          <a:off x="4648200" y="1600200"/>
          <a:ext cx="4038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p:cNvSpPr txBox="1"/>
          <p:nvPr/>
        </p:nvSpPr>
        <p:spPr>
          <a:xfrm>
            <a:off x="6715140" y="1571612"/>
            <a:ext cx="1714512" cy="646331"/>
          </a:xfrm>
          <a:prstGeom prst="rect">
            <a:avLst/>
          </a:prstGeom>
          <a:noFill/>
        </p:spPr>
        <p:txBody>
          <a:bodyPr wrap="square" rtlCol="0">
            <a:spAutoFit/>
          </a:bodyPr>
          <a:lstStyle/>
          <a:p>
            <a:r>
              <a:rPr lang="fi-FI" dirty="0" smtClean="0"/>
              <a:t>Tulevaisuus, muutos</a:t>
            </a:r>
            <a:endParaRPr lang="fi-FI" dirty="0"/>
          </a:p>
        </p:txBody>
      </p:sp>
      <p:sp>
        <p:nvSpPr>
          <p:cNvPr id="8" name="TextBox 7"/>
          <p:cNvSpPr txBox="1"/>
          <p:nvPr/>
        </p:nvSpPr>
        <p:spPr>
          <a:xfrm>
            <a:off x="4857752" y="1571612"/>
            <a:ext cx="1714512" cy="646331"/>
          </a:xfrm>
          <a:prstGeom prst="rect">
            <a:avLst/>
          </a:prstGeom>
          <a:noFill/>
        </p:spPr>
        <p:txBody>
          <a:bodyPr wrap="square" rtlCol="0">
            <a:spAutoFit/>
          </a:bodyPr>
          <a:lstStyle/>
          <a:p>
            <a:pPr algn="r"/>
            <a:r>
              <a:rPr lang="fi-FI" dirty="0" smtClean="0"/>
              <a:t>Nykytila, </a:t>
            </a:r>
            <a:br>
              <a:rPr lang="fi-FI" dirty="0" smtClean="0"/>
            </a:br>
            <a:r>
              <a:rPr lang="fi-FI" dirty="0" smtClean="0"/>
              <a:t>pohja</a:t>
            </a:r>
            <a:endParaRPr lang="fi-FI" dirty="0"/>
          </a:p>
        </p:txBody>
      </p:sp>
      <p:cxnSp>
        <p:nvCxnSpPr>
          <p:cNvPr id="11" name="Straight Arrow Connector 10"/>
          <p:cNvCxnSpPr/>
          <p:nvPr/>
        </p:nvCxnSpPr>
        <p:spPr>
          <a:xfrm>
            <a:off x="6786578" y="2285992"/>
            <a:ext cx="785818" cy="1588"/>
          </a:xfrm>
          <a:prstGeom prst="straightConnector1">
            <a:avLst/>
          </a:prstGeom>
          <a:ln>
            <a:tailEnd type="arrow"/>
          </a:ln>
        </p:spPr>
        <p:style>
          <a:lnRef idx="3">
            <a:schemeClr val="accent3"/>
          </a:lnRef>
          <a:fillRef idx="0">
            <a:schemeClr val="accent3"/>
          </a:fillRef>
          <a:effectRef idx="2">
            <a:schemeClr val="accent3"/>
          </a:effectRef>
          <a:fontRef idx="minor">
            <a:schemeClr val="tx1"/>
          </a:fontRef>
        </p:style>
      </p:cxnSp>
      <p:cxnSp>
        <p:nvCxnSpPr>
          <p:cNvPr id="13" name="Straight Arrow Connector 12"/>
          <p:cNvCxnSpPr/>
          <p:nvPr/>
        </p:nvCxnSpPr>
        <p:spPr>
          <a:xfrm rot="10800000">
            <a:off x="5715008" y="2285992"/>
            <a:ext cx="785818" cy="1588"/>
          </a:xfrm>
          <a:prstGeom prst="straightConnector1">
            <a:avLst/>
          </a:prstGeom>
          <a:ln>
            <a:tailEnd type="arrow"/>
          </a:ln>
        </p:spPr>
        <p:style>
          <a:lnRef idx="3">
            <a:schemeClr val="accent3"/>
          </a:lnRef>
          <a:fillRef idx="0">
            <a:schemeClr val="accent3"/>
          </a:fillRef>
          <a:effectRef idx="2">
            <a:schemeClr val="accent3"/>
          </a:effectRef>
          <a:fontRef idx="minor">
            <a:schemeClr val="tx1"/>
          </a:fontRef>
        </p:style>
      </p:cxnSp>
      <p:sp>
        <p:nvSpPr>
          <p:cNvPr id="9" name="Slide Number Placeholder 8"/>
          <p:cNvSpPr>
            <a:spLocks noGrp="1"/>
          </p:cNvSpPr>
          <p:nvPr>
            <p:ph type="sldNum" sz="quarter" idx="12"/>
          </p:nvPr>
        </p:nvSpPr>
        <p:spPr/>
        <p:txBody>
          <a:bodyPr/>
          <a:lstStyle/>
          <a:p>
            <a:fld id="{7A750B4A-325E-4AA4-BC07-A8C35B32A4F3}" type="slidenum">
              <a:rPr lang="fi-FI" smtClean="0"/>
              <a:pPr/>
              <a:t>6</a:t>
            </a:fld>
            <a:endParaRPr lang="fi-FI"/>
          </a:p>
        </p:txBody>
      </p:sp>
    </p:spTree>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57158" y="1500174"/>
            <a:ext cx="2071702" cy="471490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i-FI"/>
          </a:p>
        </p:txBody>
      </p:sp>
      <p:sp>
        <p:nvSpPr>
          <p:cNvPr id="4" name="Title 3"/>
          <p:cNvSpPr>
            <a:spLocks noGrp="1"/>
          </p:cNvSpPr>
          <p:nvPr>
            <p:ph type="title"/>
          </p:nvPr>
        </p:nvSpPr>
        <p:spPr/>
        <p:txBody>
          <a:bodyPr/>
          <a:lstStyle/>
          <a:p>
            <a:r>
              <a:rPr lang="fi-FI" dirty="0" smtClean="0"/>
              <a:t>Sisältö</a:t>
            </a:r>
            <a:endParaRPr lang="fi-FI" dirty="0"/>
          </a:p>
        </p:txBody>
      </p:sp>
      <p:graphicFrame>
        <p:nvGraphicFramePr>
          <p:cNvPr id="6" name="Content Placeholder 5"/>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Content Placeholder 4"/>
          <p:cNvSpPr>
            <a:spLocks noGrp="1"/>
          </p:cNvSpPr>
          <p:nvPr>
            <p:ph sz="half" idx="4294967295"/>
          </p:nvPr>
        </p:nvSpPr>
        <p:spPr>
          <a:xfrm>
            <a:off x="5105400" y="1600200"/>
            <a:ext cx="4038600" cy="4525963"/>
          </a:xfrm>
        </p:spPr>
        <p:txBody>
          <a:bodyPr>
            <a:normAutofit/>
          </a:bodyPr>
          <a:lstStyle/>
          <a:p>
            <a:endParaRPr lang="fi-FI" dirty="0" smtClean="0"/>
          </a:p>
          <a:p>
            <a:endParaRPr lang="fi-FI" dirty="0" smtClean="0"/>
          </a:p>
          <a:p>
            <a:pPr>
              <a:buNone/>
            </a:pPr>
            <a:endParaRPr lang="fi-FI" dirty="0"/>
          </a:p>
        </p:txBody>
      </p:sp>
      <p:sp>
        <p:nvSpPr>
          <p:cNvPr id="8" name="Up Arrow 7"/>
          <p:cNvSpPr/>
          <p:nvPr/>
        </p:nvSpPr>
        <p:spPr>
          <a:xfrm>
            <a:off x="1000100" y="6286520"/>
            <a:ext cx="785818" cy="28575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9" name="Up Arrow 8"/>
          <p:cNvSpPr/>
          <p:nvPr/>
        </p:nvSpPr>
        <p:spPr>
          <a:xfrm rot="10800000">
            <a:off x="1000100" y="1142984"/>
            <a:ext cx="785818" cy="28575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10" name="Slide Number Placeholder 9"/>
          <p:cNvSpPr>
            <a:spLocks noGrp="1"/>
          </p:cNvSpPr>
          <p:nvPr>
            <p:ph type="sldNum" sz="quarter" idx="12"/>
          </p:nvPr>
        </p:nvSpPr>
        <p:spPr/>
        <p:txBody>
          <a:bodyPr/>
          <a:lstStyle/>
          <a:p>
            <a:fld id="{7A750B4A-325E-4AA4-BC07-A8C35B32A4F3}" type="slidenum">
              <a:rPr lang="fi-FI" smtClean="0"/>
              <a:pPr/>
              <a:t>7</a:t>
            </a:fld>
            <a:endParaRPr lang="fi-FI"/>
          </a:p>
        </p:txBody>
      </p:sp>
    </p:spTree>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Hyväksymistestauksen rooli ja merkitys</a:t>
            </a:r>
            <a:endParaRPr lang="fi-FI" dirty="0"/>
          </a:p>
        </p:txBody>
      </p:sp>
      <p:sp>
        <p:nvSpPr>
          <p:cNvPr id="3" name="Content Placeholder 2"/>
          <p:cNvSpPr>
            <a:spLocks noGrp="1"/>
          </p:cNvSpPr>
          <p:nvPr>
            <p:ph sz="half" idx="1"/>
          </p:nvPr>
        </p:nvSpPr>
        <p:spPr/>
        <p:txBody>
          <a:bodyPr>
            <a:normAutofit fontScale="85000" lnSpcReduction="10000"/>
          </a:bodyPr>
          <a:lstStyle/>
          <a:p>
            <a:pPr lvl="0"/>
            <a:r>
              <a:rPr lang="fi-FI" dirty="0" smtClean="0"/>
              <a:t>Rooli ja merkitys = perustiedot hyväksymistestauksesta</a:t>
            </a:r>
          </a:p>
          <a:p>
            <a:pPr lvl="0"/>
            <a:r>
              <a:rPr lang="fi-FI" dirty="0" smtClean="0"/>
              <a:t>Sijoitetaan hyväksymistestaus suhteeseen muun testauksen kanssa</a:t>
            </a:r>
          </a:p>
          <a:p>
            <a:r>
              <a:rPr lang="fi-FI" dirty="0" smtClean="0"/>
              <a:t>Engl. Acceptance testing</a:t>
            </a:r>
          </a:p>
          <a:p>
            <a:r>
              <a:rPr lang="fi-FI" dirty="0" smtClean="0"/>
              <a:t>Samaa tarkoittavia termejä: </a:t>
            </a:r>
          </a:p>
          <a:p>
            <a:pPr lvl="1"/>
            <a:r>
              <a:rPr lang="fi-FI" dirty="0" smtClean="0"/>
              <a:t>Hyväksymistestaus (Google: noin 18100 tulosta)</a:t>
            </a:r>
          </a:p>
          <a:p>
            <a:pPr lvl="1"/>
            <a:r>
              <a:rPr lang="fi-FI" dirty="0" smtClean="0"/>
              <a:t>Hyväksyntätestaus (Google: </a:t>
            </a:r>
            <a:r>
              <a:rPr lang="fi-FI" smtClean="0"/>
              <a:t>noin 4350 </a:t>
            </a:r>
            <a:r>
              <a:rPr lang="fi-FI" dirty="0" smtClean="0"/>
              <a:t>tulosta)</a:t>
            </a:r>
          </a:p>
          <a:p>
            <a:pPr lvl="0"/>
            <a:endParaRPr lang="fi-FI" dirty="0" smtClean="0"/>
          </a:p>
          <a:p>
            <a:pPr lvl="0"/>
            <a:endParaRPr lang="fi-FI" dirty="0" smtClean="0"/>
          </a:p>
        </p:txBody>
      </p:sp>
      <p:sp>
        <p:nvSpPr>
          <p:cNvPr id="4" name="Content Placeholder 3"/>
          <p:cNvSpPr>
            <a:spLocks noGrp="1"/>
          </p:cNvSpPr>
          <p:nvPr>
            <p:ph sz="half" idx="2"/>
          </p:nvPr>
        </p:nvSpPr>
        <p:spPr/>
        <p:txBody>
          <a:bodyPr>
            <a:noAutofit/>
          </a:bodyPr>
          <a:lstStyle/>
          <a:p>
            <a:pPr lvl="0"/>
            <a:r>
              <a:rPr lang="fi-FI" sz="1550" dirty="0" smtClean="0">
                <a:solidFill>
                  <a:schemeClr val="accent1"/>
                </a:solidFill>
              </a:rPr>
              <a:t>Testaus järjestelmän tilaajalle ja omistajalle</a:t>
            </a:r>
          </a:p>
          <a:p>
            <a:pPr lvl="0"/>
            <a:r>
              <a:rPr lang="fi-FI" sz="1550" dirty="0" smtClean="0">
                <a:solidFill>
                  <a:schemeClr val="accent1"/>
                </a:solidFill>
              </a:rPr>
              <a:t>Monitoimittajaympäristön erityispiirteet hyväksymistestaukselle</a:t>
            </a:r>
          </a:p>
          <a:p>
            <a:pPr lvl="0"/>
            <a:r>
              <a:rPr lang="fi-FI" sz="1550" dirty="0" smtClean="0">
                <a:solidFill>
                  <a:schemeClr val="accent1"/>
                </a:solidFill>
              </a:rPr>
              <a:t>Laatutiedon rakentaminen palasille ja kokonaisuudelle</a:t>
            </a:r>
          </a:p>
          <a:p>
            <a:pPr lvl="0"/>
            <a:r>
              <a:rPr lang="fi-FI" sz="1550" dirty="0" smtClean="0">
                <a:solidFill>
                  <a:schemeClr val="accent1"/>
                </a:solidFill>
              </a:rPr>
              <a:t>Laadun monet näkökulmat: toiminnallinen ja ei-toiminnallinen testaus; näkyvä toimituslaatu sekä jatkokehityksen helppous</a:t>
            </a:r>
          </a:p>
          <a:p>
            <a:pPr lvl="0"/>
            <a:r>
              <a:rPr lang="fi-FI" sz="1550" dirty="0" smtClean="0">
                <a:solidFill>
                  <a:schemeClr val="accent1"/>
                </a:solidFill>
              </a:rPr>
              <a:t>Dokumentaation katselmointien rooli hyväksymistestauksessa</a:t>
            </a:r>
          </a:p>
          <a:p>
            <a:pPr lvl="0"/>
            <a:r>
              <a:rPr lang="fi-FI" sz="1550" dirty="0" smtClean="0">
                <a:solidFill>
                  <a:schemeClr val="accent1"/>
                </a:solidFill>
              </a:rPr>
              <a:t>Hyväksymistestauksen suhde muuhun testaukseen: tilaajan ja toimittajan työnjako</a:t>
            </a:r>
          </a:p>
          <a:p>
            <a:pPr lvl="0"/>
            <a:r>
              <a:rPr lang="fi-FI" sz="1550" dirty="0" smtClean="0">
                <a:solidFill>
                  <a:schemeClr val="accent1"/>
                </a:solidFill>
              </a:rPr>
              <a:t>Hyväksymistestauksen erot laskunmaksuun ja tuotantoonsiirtoon liittyen</a:t>
            </a:r>
          </a:p>
          <a:p>
            <a:pPr lvl="0"/>
            <a:r>
              <a:rPr lang="fi-FI" sz="1550" dirty="0" smtClean="0">
                <a:solidFill>
                  <a:schemeClr val="accent1"/>
                </a:solidFill>
              </a:rPr>
              <a:t>Hyväksymistestauksen erilainen merkitys ketterissä menetelmissä</a:t>
            </a:r>
          </a:p>
        </p:txBody>
      </p:sp>
      <p:sp>
        <p:nvSpPr>
          <p:cNvPr id="5" name="Slide Number Placeholder 4"/>
          <p:cNvSpPr>
            <a:spLocks noGrp="1"/>
          </p:cNvSpPr>
          <p:nvPr>
            <p:ph type="sldNum" sz="quarter" idx="12"/>
          </p:nvPr>
        </p:nvSpPr>
        <p:spPr/>
        <p:txBody>
          <a:bodyPr/>
          <a:lstStyle/>
          <a:p>
            <a:fld id="{7A750B4A-325E-4AA4-BC07-A8C35B32A4F3}" type="slidenum">
              <a:rPr lang="fi-FI" smtClean="0"/>
              <a:pPr/>
              <a:t>8</a:t>
            </a:fld>
            <a:endParaRPr lang="fi-FI"/>
          </a:p>
        </p:txBody>
      </p:sp>
    </p:spTree>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fi-FI" dirty="0" smtClean="0"/>
              <a:t>Testaus, laadunvarmistus ja hyväksymistestaus</a:t>
            </a:r>
            <a:endParaRPr lang="fi-FI" dirty="0"/>
          </a:p>
        </p:txBody>
      </p:sp>
      <p:sp>
        <p:nvSpPr>
          <p:cNvPr id="5" name="Text Placeholder 4"/>
          <p:cNvSpPr>
            <a:spLocks noGrp="1"/>
          </p:cNvSpPr>
          <p:nvPr>
            <p:ph type="body" idx="1"/>
          </p:nvPr>
        </p:nvSpPr>
        <p:spPr/>
        <p:txBody>
          <a:bodyPr/>
          <a:lstStyle/>
          <a:p>
            <a:r>
              <a:rPr lang="fi-FI" dirty="0" smtClean="0"/>
              <a:t>Perusasiat</a:t>
            </a:r>
            <a:endParaRPr lang="fi-FI" dirty="0"/>
          </a:p>
        </p:txBody>
      </p:sp>
      <p:sp>
        <p:nvSpPr>
          <p:cNvPr id="6" name="Slide Number Placeholder 5"/>
          <p:cNvSpPr>
            <a:spLocks noGrp="1"/>
          </p:cNvSpPr>
          <p:nvPr>
            <p:ph type="sldNum" sz="quarter" idx="12"/>
          </p:nvPr>
        </p:nvSpPr>
        <p:spPr/>
        <p:txBody>
          <a:bodyPr/>
          <a:lstStyle/>
          <a:p>
            <a:fld id="{1FC54B03-E980-44E0-A0F1-6CAD9D10ECFB}" type="slidenum">
              <a:rPr lang="fi-FI" smtClean="0"/>
              <a:pPr/>
              <a:t>9</a:t>
            </a:fld>
            <a:endParaRPr lang="fi-FI"/>
          </a:p>
        </p:txBody>
      </p:sp>
    </p:spTree>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fi-FI" sz="4000" dirty="0" smtClean="0"/>
              <a:t>Esimerkillä alkuun...</a:t>
            </a:r>
            <a:endParaRPr lang="fi-FI" sz="4000" dirty="0"/>
          </a:p>
        </p:txBody>
      </p:sp>
      <p:pic>
        <p:nvPicPr>
          <p:cNvPr id="1026" name="Picture 2" descr="E:\Documents and Settings\maarit\Omat tiedostot\Google Drive\KIRJA\Kuvia\kuva1.JPG"/>
          <p:cNvPicPr>
            <a:picLocks noChangeAspect="1" noChangeArrowheads="1"/>
          </p:cNvPicPr>
          <p:nvPr/>
        </p:nvPicPr>
        <p:blipFill>
          <a:blip r:embed="rId2" cstate="print"/>
          <a:srcRect/>
          <a:stretch>
            <a:fillRect/>
          </a:stretch>
        </p:blipFill>
        <p:spPr bwMode="auto">
          <a:xfrm>
            <a:off x="215677" y="1196753"/>
            <a:ext cx="1962311" cy="5112568"/>
          </a:xfrm>
          <a:prstGeom prst="rect">
            <a:avLst/>
          </a:prstGeom>
          <a:noFill/>
        </p:spPr>
      </p:pic>
      <p:pic>
        <p:nvPicPr>
          <p:cNvPr id="1027" name="Picture 3" descr="E:\Documents and Settings\maarit\Omat tiedostot\Google Drive\KIRJA\Kuvia\kuva2.JPG"/>
          <p:cNvPicPr>
            <a:picLocks noChangeAspect="1" noChangeArrowheads="1"/>
          </p:cNvPicPr>
          <p:nvPr/>
        </p:nvPicPr>
        <p:blipFill>
          <a:blip r:embed="rId3" cstate="print"/>
          <a:srcRect/>
          <a:stretch>
            <a:fillRect/>
          </a:stretch>
        </p:blipFill>
        <p:spPr bwMode="auto">
          <a:xfrm>
            <a:off x="2272208" y="1216491"/>
            <a:ext cx="6116216" cy="3940701"/>
          </a:xfrm>
          <a:prstGeom prst="rect">
            <a:avLst/>
          </a:prstGeom>
          <a:noFill/>
        </p:spPr>
      </p:pic>
      <p:pic>
        <p:nvPicPr>
          <p:cNvPr id="1028" name="Picture 4" descr="E:\Documents and Settings\maarit\Omat tiedostot\Google Drive\KIRJA\Kuvia\kuva3.JPG"/>
          <p:cNvPicPr>
            <a:picLocks noChangeAspect="1" noChangeArrowheads="1"/>
          </p:cNvPicPr>
          <p:nvPr/>
        </p:nvPicPr>
        <p:blipFill>
          <a:blip r:embed="rId4" cstate="print"/>
          <a:srcRect/>
          <a:stretch>
            <a:fillRect/>
          </a:stretch>
        </p:blipFill>
        <p:spPr bwMode="auto">
          <a:xfrm>
            <a:off x="5796136" y="4049688"/>
            <a:ext cx="3167584" cy="2808312"/>
          </a:xfrm>
          <a:prstGeom prst="rect">
            <a:avLst/>
          </a:prstGeom>
          <a:noFill/>
        </p:spPr>
      </p:pic>
      <p:sp>
        <p:nvSpPr>
          <p:cNvPr id="7" name="TextBox 6"/>
          <p:cNvSpPr txBox="1"/>
          <p:nvPr/>
        </p:nvSpPr>
        <p:spPr>
          <a:xfrm>
            <a:off x="2339752" y="5157192"/>
            <a:ext cx="3456384" cy="1384995"/>
          </a:xfrm>
          <a:prstGeom prst="rect">
            <a:avLst/>
          </a:prstGeom>
          <a:noFill/>
        </p:spPr>
        <p:txBody>
          <a:bodyPr wrap="square" rtlCol="0">
            <a:spAutoFit/>
          </a:bodyPr>
          <a:lstStyle/>
          <a:p>
            <a:r>
              <a:rPr lang="fi-FI" sz="1200" dirty="0" smtClean="0">
                <a:solidFill>
                  <a:schemeClr val="accent2"/>
                </a:solidFill>
                <a:latin typeface="+mn-lt"/>
              </a:rPr>
              <a:t>#1:  oletuspaluupäivä kuluva päivä</a:t>
            </a:r>
          </a:p>
          <a:p>
            <a:r>
              <a:rPr lang="fi-FI" sz="1200" dirty="0" smtClean="0">
                <a:solidFill>
                  <a:schemeClr val="accent2"/>
                </a:solidFill>
                <a:latin typeface="+mn-lt"/>
              </a:rPr>
              <a:t>#2:  ajaksi etusivulla ei voi asettaa saapumisaikaa</a:t>
            </a:r>
          </a:p>
          <a:p>
            <a:r>
              <a:rPr lang="fi-FI" sz="1200" dirty="0" smtClean="0">
                <a:solidFill>
                  <a:schemeClr val="accent2"/>
                </a:solidFill>
                <a:latin typeface="+mn-lt"/>
              </a:rPr>
              <a:t>#3:  tarkempi haku != edellinen sivu</a:t>
            </a:r>
          </a:p>
          <a:p>
            <a:r>
              <a:rPr lang="fi-FI" sz="1200" dirty="0" smtClean="0">
                <a:solidFill>
                  <a:schemeClr val="accent2"/>
                </a:solidFill>
                <a:latin typeface="+mn-lt"/>
              </a:rPr>
              <a:t>#4: päivämäärien sijainti laatikoissaan</a:t>
            </a:r>
          </a:p>
          <a:p>
            <a:r>
              <a:rPr lang="fi-FI" sz="1200" dirty="0" smtClean="0">
                <a:solidFill>
                  <a:schemeClr val="accent2"/>
                </a:solidFill>
                <a:latin typeface="+mn-lt"/>
              </a:rPr>
              <a:t>#5: saapumisaikavalinta ei toimi</a:t>
            </a:r>
          </a:p>
          <a:p>
            <a:r>
              <a:rPr lang="fi-FI" sz="1200" dirty="0" smtClean="0">
                <a:solidFill>
                  <a:schemeClr val="accent2"/>
                </a:solidFill>
                <a:latin typeface="+mn-lt"/>
              </a:rPr>
              <a:t>#6: teknisiä virheitä</a:t>
            </a:r>
          </a:p>
        </p:txBody>
      </p:sp>
      <p:pic>
        <p:nvPicPr>
          <p:cNvPr id="1029" name="Picture 5" descr="E:\Documents and Settings\maarit\Omat tiedostot\Google Drive\KIRJA\Kuvia\kuva6.JPG"/>
          <p:cNvPicPr>
            <a:picLocks noChangeAspect="1" noChangeArrowheads="1"/>
          </p:cNvPicPr>
          <p:nvPr/>
        </p:nvPicPr>
        <p:blipFill>
          <a:blip r:embed="rId5" cstate="print"/>
          <a:srcRect/>
          <a:stretch>
            <a:fillRect/>
          </a:stretch>
        </p:blipFill>
        <p:spPr bwMode="auto">
          <a:xfrm>
            <a:off x="4860032" y="332656"/>
            <a:ext cx="4149345" cy="1052736"/>
          </a:xfrm>
          <a:prstGeom prst="rect">
            <a:avLst/>
          </a:prstGeom>
          <a:noFill/>
        </p:spPr>
      </p:pic>
      <p:sp>
        <p:nvSpPr>
          <p:cNvPr id="8" name="Dian numeron paikkamerkki 7"/>
          <p:cNvSpPr>
            <a:spLocks noGrp="1"/>
          </p:cNvSpPr>
          <p:nvPr>
            <p:ph type="sldNum" sz="quarter" idx="12"/>
          </p:nvPr>
        </p:nvSpPr>
        <p:spPr/>
        <p:txBody>
          <a:bodyPr/>
          <a:lstStyle/>
          <a:p>
            <a:pPr>
              <a:defRPr/>
            </a:pPr>
            <a:fld id="{3E7141D0-0CD1-4F00-9820-59892C4F716E}" type="slidenum">
              <a:rPr lang="en-US" smtClean="0"/>
              <a:pPr>
                <a:defRPr/>
              </a:pPr>
              <a:t>10</a:t>
            </a:fld>
            <a:endParaRPr lang="en-US"/>
          </a:p>
        </p:txBody>
      </p:sp>
    </p:spTree>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Hyväksymistestaus </a:t>
            </a:r>
            <a:br>
              <a:rPr lang="fi-FI" dirty="0" smtClean="0"/>
            </a:br>
            <a:r>
              <a:rPr lang="fi-FI" sz="2700" dirty="0" smtClean="0"/>
              <a:t>Testausvastuullisena asiakkaat ja loppukäyttäjät </a:t>
            </a:r>
            <a:endParaRPr lang="fi-FI" dirty="0"/>
          </a:p>
        </p:txBody>
      </p:sp>
      <p:sp>
        <p:nvSpPr>
          <p:cNvPr id="6" name="Text Placeholder 5"/>
          <p:cNvSpPr>
            <a:spLocks noGrp="1"/>
          </p:cNvSpPr>
          <p:nvPr>
            <p:ph type="body" idx="1"/>
          </p:nvPr>
        </p:nvSpPr>
        <p:spPr/>
        <p:txBody>
          <a:bodyPr/>
          <a:lstStyle/>
          <a:p>
            <a:r>
              <a:rPr lang="fi-FI" dirty="0" smtClean="0"/>
              <a:t>Tavoitetila</a:t>
            </a:r>
            <a:endParaRPr lang="fi-FI" dirty="0"/>
          </a:p>
        </p:txBody>
      </p:sp>
      <p:sp>
        <p:nvSpPr>
          <p:cNvPr id="8" name="Text Placeholder 7"/>
          <p:cNvSpPr>
            <a:spLocks noGrp="1"/>
          </p:cNvSpPr>
          <p:nvPr>
            <p:ph type="body" sz="half" idx="3"/>
          </p:nvPr>
        </p:nvSpPr>
        <p:spPr/>
        <p:txBody>
          <a:bodyPr/>
          <a:lstStyle/>
          <a:p>
            <a:r>
              <a:rPr lang="fi-FI" dirty="0" smtClean="0"/>
              <a:t>Todellisuus</a:t>
            </a:r>
            <a:endParaRPr lang="fi-FI" dirty="0"/>
          </a:p>
        </p:txBody>
      </p:sp>
      <p:sp>
        <p:nvSpPr>
          <p:cNvPr id="7" name="Content Placeholder 6"/>
          <p:cNvSpPr>
            <a:spLocks noGrp="1"/>
          </p:cNvSpPr>
          <p:nvPr>
            <p:ph sz="quarter" idx="2"/>
          </p:nvPr>
        </p:nvSpPr>
        <p:spPr/>
        <p:txBody>
          <a:bodyPr>
            <a:normAutofit fontScale="92500" lnSpcReduction="10000"/>
          </a:bodyPr>
          <a:lstStyle/>
          <a:p>
            <a:r>
              <a:rPr lang="fi-FI" dirty="0" smtClean="0"/>
              <a:t>Asiakas voi </a:t>
            </a:r>
            <a:r>
              <a:rPr lang="fi-FI" i="1" dirty="0" smtClean="0">
                <a:solidFill>
                  <a:schemeClr val="accent2"/>
                </a:solidFill>
              </a:rPr>
              <a:t>kokeilla</a:t>
            </a:r>
            <a:r>
              <a:rPr lang="fi-FI" dirty="0" smtClean="0"/>
              <a:t> päätilanteet ohjelmiston käytölle ja </a:t>
            </a:r>
            <a:r>
              <a:rPr lang="fi-FI" i="1" dirty="0" smtClean="0">
                <a:solidFill>
                  <a:schemeClr val="accent2"/>
                </a:solidFill>
              </a:rPr>
              <a:t>hyväksyä</a:t>
            </a:r>
            <a:r>
              <a:rPr lang="fi-FI" dirty="0" smtClean="0"/>
              <a:t> että ohjelmisto on toteutettu, testattu ja ongelmat korjattu toimittajan toimesta</a:t>
            </a:r>
          </a:p>
          <a:p>
            <a:r>
              <a:rPr lang="fi-FI" dirty="0" smtClean="0"/>
              <a:t>Toimittajan luovuttama versio on hyväksyttävissä tuotantoon laadullisesti</a:t>
            </a:r>
          </a:p>
          <a:p>
            <a:r>
              <a:rPr lang="fi-FI" dirty="0" smtClean="0"/>
              <a:t>Hyväksymistestaukseen riittää pieni työmäärä</a:t>
            </a:r>
          </a:p>
          <a:p>
            <a:r>
              <a:rPr lang="fi-FI" dirty="0" smtClean="0"/>
              <a:t>Ei juurikaan raportoitavaa</a:t>
            </a:r>
            <a:endParaRPr lang="fi-FI" dirty="0"/>
          </a:p>
        </p:txBody>
      </p:sp>
      <p:sp>
        <p:nvSpPr>
          <p:cNvPr id="9" name="Content Placeholder 8"/>
          <p:cNvSpPr>
            <a:spLocks noGrp="1"/>
          </p:cNvSpPr>
          <p:nvPr>
            <p:ph sz="quarter" idx="4"/>
          </p:nvPr>
        </p:nvSpPr>
        <p:spPr/>
        <p:txBody>
          <a:bodyPr>
            <a:normAutofit fontScale="92500" lnSpcReduction="10000"/>
          </a:bodyPr>
          <a:lstStyle/>
          <a:p>
            <a:r>
              <a:rPr lang="fi-FI" dirty="0" smtClean="0"/>
              <a:t>Asiakas löytää merkittävässä määrin ongelmia ja toimittaja usein osoittaa niiden johtuvan pääasiassa vaatimuksista</a:t>
            </a:r>
          </a:p>
          <a:p>
            <a:r>
              <a:rPr lang="fi-FI" dirty="0" smtClean="0"/>
              <a:t>Hyväksymistestauksen työmäärä kasvaa – testaus siirtynyt toimittajalta asiakkaalle</a:t>
            </a:r>
          </a:p>
          <a:p>
            <a:r>
              <a:rPr lang="fi-FI" dirty="0" smtClean="0"/>
              <a:t>Paljon ongelmia raportoitavaksi ja uudelleentestattavaa korjausten jälkeen</a:t>
            </a:r>
            <a:endParaRPr lang="fi-FI" dirty="0"/>
          </a:p>
        </p:txBody>
      </p:sp>
      <p:cxnSp>
        <p:nvCxnSpPr>
          <p:cNvPr id="10" name="Straight Connector 9"/>
          <p:cNvCxnSpPr/>
          <p:nvPr/>
        </p:nvCxnSpPr>
        <p:spPr>
          <a:xfrm>
            <a:off x="4572000" y="1556792"/>
            <a:ext cx="0" cy="4691608"/>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sp>
        <p:nvSpPr>
          <p:cNvPr id="11" name="Slide Number Placeholder 10"/>
          <p:cNvSpPr>
            <a:spLocks noGrp="1"/>
          </p:cNvSpPr>
          <p:nvPr>
            <p:ph type="sldNum" sz="quarter" idx="12"/>
          </p:nvPr>
        </p:nvSpPr>
        <p:spPr/>
        <p:txBody>
          <a:bodyPr/>
          <a:lstStyle/>
          <a:p>
            <a:fld id="{1FC54B03-E980-44E0-A0F1-6CAD9D10ECFB}" type="slidenum">
              <a:rPr lang="fi-FI" smtClean="0"/>
              <a:pPr/>
              <a:t>11</a:t>
            </a:fld>
            <a:endParaRPr lang="fi-FI"/>
          </a:p>
        </p:txBody>
      </p:sp>
    </p:spTree>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Hyväksymistesteistä</a:t>
            </a:r>
            <a:endParaRPr lang="fi-FI" dirty="0"/>
          </a:p>
        </p:txBody>
      </p:sp>
      <p:sp>
        <p:nvSpPr>
          <p:cNvPr id="3" name="Content Placeholder 2"/>
          <p:cNvSpPr>
            <a:spLocks noGrp="1"/>
          </p:cNvSpPr>
          <p:nvPr>
            <p:ph idx="1"/>
          </p:nvPr>
        </p:nvSpPr>
        <p:spPr>
          <a:xfrm>
            <a:off x="457200" y="4071942"/>
            <a:ext cx="8229600" cy="2054221"/>
          </a:xfrm>
        </p:spPr>
        <p:txBody>
          <a:bodyPr>
            <a:normAutofit fontScale="92500" lnSpcReduction="20000"/>
          </a:bodyPr>
          <a:lstStyle/>
          <a:p>
            <a:r>
              <a:rPr lang="fi-FI" dirty="0" smtClean="0"/>
              <a:t>Hyväksymistestaus on ainoa testaustaso, jonka perusluonteeseen ei ole tarkoitus kuulua korjauksia: </a:t>
            </a:r>
            <a:r>
              <a:rPr lang="fi-FI" b="1" i="1" dirty="0" smtClean="0"/>
              <a:t>testausvaihe, ei korjausvaihe</a:t>
            </a:r>
            <a:r>
              <a:rPr lang="fi-FI" dirty="0" smtClean="0"/>
              <a:t>. </a:t>
            </a:r>
          </a:p>
          <a:p>
            <a:r>
              <a:rPr lang="fi-FI" dirty="0" smtClean="0"/>
              <a:t>Korjaus muuttaa hyväksyttävää kohdetta </a:t>
            </a:r>
            <a:r>
              <a:rPr lang="fi-FI" dirty="0" smtClean="0">
                <a:sym typeface="Wingdings" pitchFamily="2" charset="2"/>
              </a:rPr>
              <a:t> hyväksymistestaus alkaa uudelleen</a:t>
            </a:r>
          </a:p>
        </p:txBody>
      </p:sp>
      <p:pic>
        <p:nvPicPr>
          <p:cNvPr id="2050" name="Picture 2"/>
          <p:cNvPicPr>
            <a:picLocks noChangeAspect="1" noChangeArrowheads="1"/>
          </p:cNvPicPr>
          <p:nvPr/>
        </p:nvPicPr>
        <p:blipFill>
          <a:blip r:embed="rId3" cstate="print"/>
          <a:srcRect/>
          <a:stretch>
            <a:fillRect/>
          </a:stretch>
        </p:blipFill>
        <p:spPr bwMode="auto">
          <a:xfrm>
            <a:off x="928662" y="1428736"/>
            <a:ext cx="7181867" cy="2516221"/>
          </a:xfrm>
          <a:prstGeom prst="rect">
            <a:avLst/>
          </a:prstGeom>
          <a:noFill/>
          <a:ln w="9525">
            <a:noFill/>
            <a:miter lim="800000"/>
            <a:headEnd/>
            <a:tailEnd/>
          </a:ln>
        </p:spPr>
      </p:pic>
      <p:sp>
        <p:nvSpPr>
          <p:cNvPr id="6" name="Rectangle 5"/>
          <p:cNvSpPr/>
          <p:nvPr/>
        </p:nvSpPr>
        <p:spPr>
          <a:xfrm>
            <a:off x="928662" y="1500174"/>
            <a:ext cx="7286676" cy="2428892"/>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fi-FI"/>
          </a:p>
        </p:txBody>
      </p:sp>
      <p:sp>
        <p:nvSpPr>
          <p:cNvPr id="7" name="Slide Number Placeholder 6"/>
          <p:cNvSpPr>
            <a:spLocks noGrp="1"/>
          </p:cNvSpPr>
          <p:nvPr>
            <p:ph type="sldNum" sz="quarter" idx="12"/>
          </p:nvPr>
        </p:nvSpPr>
        <p:spPr/>
        <p:txBody>
          <a:bodyPr/>
          <a:lstStyle/>
          <a:p>
            <a:fld id="{7A750B4A-325E-4AA4-BC07-A8C35B32A4F3}" type="slidenum">
              <a:rPr lang="fi-FI" smtClean="0"/>
              <a:pPr/>
              <a:t>12</a:t>
            </a:fld>
            <a:endParaRPr lang="fi-FI"/>
          </a:p>
        </p:txBody>
      </p:sp>
    </p:spTree>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kstikehys 7"/>
          <p:cNvSpPr txBox="1"/>
          <p:nvPr/>
        </p:nvSpPr>
        <p:spPr>
          <a:xfrm>
            <a:off x="228600" y="152400"/>
            <a:ext cx="8305800" cy="3293209"/>
          </a:xfrm>
          <a:prstGeom prst="rect">
            <a:avLst/>
          </a:prstGeom>
          <a:noFill/>
        </p:spPr>
        <p:txBody>
          <a:bodyPr wrap="square">
            <a:spAutoFit/>
          </a:bodyPr>
          <a:lstStyle/>
          <a:p>
            <a:pPr lvl="1" algn="r" fontAlgn="auto">
              <a:spcBef>
                <a:spcPts val="0"/>
              </a:spcBef>
              <a:spcAft>
                <a:spcPts val="0"/>
              </a:spcAft>
              <a:defRPr/>
            </a:pPr>
            <a:r>
              <a:rPr lang="fi-FI" sz="3200" dirty="0" smtClean="0">
                <a:solidFill>
                  <a:srgbClr val="FF0000"/>
                </a:solidFill>
                <a:latin typeface="Impact" pitchFamily="34" charset="0"/>
              </a:rPr>
              <a:t>Laadunvarmistus</a:t>
            </a:r>
            <a:r>
              <a:rPr lang="fi-FI" sz="2800" dirty="0" smtClean="0">
                <a:latin typeface="Impact" pitchFamily="34" charset="0"/>
                <a:cs typeface="+mn-cs"/>
              </a:rPr>
              <a:t>:</a:t>
            </a:r>
            <a:endParaRPr lang="fi-FI" sz="2800" dirty="0">
              <a:latin typeface="Impact" pitchFamily="34" charset="0"/>
              <a:cs typeface="+mn-cs"/>
            </a:endParaRPr>
          </a:p>
          <a:p>
            <a:pPr lvl="1" algn="r" fontAlgn="auto">
              <a:spcBef>
                <a:spcPts val="0"/>
              </a:spcBef>
              <a:spcAft>
                <a:spcPts val="0"/>
              </a:spcAft>
              <a:defRPr/>
            </a:pPr>
            <a:r>
              <a:rPr lang="fi-FI" sz="2800" dirty="0">
                <a:latin typeface="Impact" pitchFamily="34" charset="0"/>
                <a:cs typeface="+mn-cs"/>
              </a:rPr>
              <a:t>Mikä tahansa aktiviteetti, joka </a:t>
            </a:r>
            <a:r>
              <a:rPr lang="fi-FI" sz="2800" dirty="0" smtClean="0">
                <a:solidFill>
                  <a:srgbClr val="FF0000"/>
                </a:solidFill>
                <a:latin typeface="Impact" pitchFamily="34" charset="0"/>
                <a:cs typeface="+mn-cs"/>
              </a:rPr>
              <a:t>varmistaa laatua </a:t>
            </a:r>
            <a:r>
              <a:rPr lang="fi-FI" sz="2800" dirty="0" smtClean="0">
                <a:latin typeface="Impact" pitchFamily="34" charset="0"/>
              </a:rPr>
              <a:t>sisältäen </a:t>
            </a:r>
            <a:r>
              <a:rPr lang="fi-FI" sz="2800" dirty="0" smtClean="0">
                <a:solidFill>
                  <a:srgbClr val="FFC000"/>
                </a:solidFill>
                <a:latin typeface="Impact" pitchFamily="34" charset="0"/>
                <a:cs typeface="+mn-cs"/>
              </a:rPr>
              <a:t>riittävät taloudelliset ja tavoitteelliset puitteet </a:t>
            </a:r>
            <a:r>
              <a:rPr lang="fi-FI" sz="2800" dirty="0" smtClean="0">
                <a:latin typeface="Impact" pitchFamily="34" charset="0"/>
                <a:cs typeface="+mn-cs"/>
              </a:rPr>
              <a:t>laadun tekemiselle, </a:t>
            </a:r>
            <a:r>
              <a:rPr lang="fi-FI" sz="2800" dirty="0" smtClean="0">
                <a:latin typeface="Impact" pitchFamily="34" charset="0"/>
              </a:rPr>
              <a:t>järjestelmälliset </a:t>
            </a:r>
            <a:r>
              <a:rPr lang="fi-FI" sz="2800" dirty="0" smtClean="0">
                <a:solidFill>
                  <a:srgbClr val="FFC000"/>
                </a:solidFill>
                <a:latin typeface="Impact" pitchFamily="34" charset="0"/>
              </a:rPr>
              <a:t>estävät varmistelutoimet  </a:t>
            </a:r>
            <a:r>
              <a:rPr lang="fi-FI" sz="2800" dirty="0" smtClean="0">
                <a:latin typeface="Impact" pitchFamily="34" charset="0"/>
                <a:cs typeface="+mn-cs"/>
              </a:rPr>
              <a:t>ja </a:t>
            </a:r>
            <a:r>
              <a:rPr lang="fi-FI" sz="2800" dirty="0" smtClean="0">
                <a:solidFill>
                  <a:srgbClr val="FFC000"/>
                </a:solidFill>
                <a:latin typeface="Impact" pitchFamily="34" charset="0"/>
                <a:cs typeface="+mn-cs"/>
              </a:rPr>
              <a:t>empiirisen todistusaineiston </a:t>
            </a:r>
            <a:r>
              <a:rPr lang="fi-FI" sz="2800" dirty="0" smtClean="0">
                <a:latin typeface="Impact" pitchFamily="34" charset="0"/>
                <a:cs typeface="+mn-cs"/>
              </a:rPr>
              <a:t>tuloksille useista näkökulmista. </a:t>
            </a:r>
            <a:endParaRPr lang="fi-FI" sz="2800" dirty="0">
              <a:latin typeface="Impact" pitchFamily="34" charset="0"/>
              <a:cs typeface="+mn-cs"/>
            </a:endParaRPr>
          </a:p>
          <a:p>
            <a:pPr algn="r" fontAlgn="auto">
              <a:spcBef>
                <a:spcPts val="0"/>
              </a:spcBef>
              <a:spcAft>
                <a:spcPts val="0"/>
              </a:spcAft>
              <a:defRPr/>
            </a:pPr>
            <a:endParaRPr lang="fi-FI" sz="3600" dirty="0">
              <a:latin typeface="Impact" pitchFamily="34" charset="0"/>
              <a:cs typeface="+mn-cs"/>
            </a:endParaRPr>
          </a:p>
        </p:txBody>
      </p:sp>
      <p:sp>
        <p:nvSpPr>
          <p:cNvPr id="5" name="Tekstikehys 7"/>
          <p:cNvSpPr txBox="1"/>
          <p:nvPr/>
        </p:nvSpPr>
        <p:spPr>
          <a:xfrm>
            <a:off x="228600" y="3429000"/>
            <a:ext cx="8305800" cy="3170099"/>
          </a:xfrm>
          <a:prstGeom prst="rect">
            <a:avLst/>
          </a:prstGeom>
          <a:noFill/>
        </p:spPr>
        <p:txBody>
          <a:bodyPr>
            <a:spAutoFit/>
          </a:bodyPr>
          <a:lstStyle/>
          <a:p>
            <a:pPr lvl="1" fontAlgn="auto">
              <a:spcBef>
                <a:spcPts val="0"/>
              </a:spcBef>
              <a:spcAft>
                <a:spcPts val="0"/>
              </a:spcAft>
              <a:defRPr/>
            </a:pPr>
            <a:r>
              <a:rPr lang="fi-FI" sz="3200" dirty="0">
                <a:solidFill>
                  <a:srgbClr val="FF0000"/>
                </a:solidFill>
                <a:latin typeface="Impact" pitchFamily="34" charset="0"/>
                <a:cs typeface="+mn-cs"/>
              </a:rPr>
              <a:t>Testaus</a:t>
            </a:r>
            <a:r>
              <a:rPr lang="fi-FI" sz="2800" dirty="0">
                <a:latin typeface="Impact" pitchFamily="34" charset="0"/>
                <a:cs typeface="+mn-cs"/>
              </a:rPr>
              <a:t>:</a:t>
            </a:r>
          </a:p>
          <a:p>
            <a:pPr lvl="1" fontAlgn="auto">
              <a:spcBef>
                <a:spcPts val="0"/>
              </a:spcBef>
              <a:spcAft>
                <a:spcPts val="0"/>
              </a:spcAft>
              <a:defRPr/>
            </a:pPr>
            <a:r>
              <a:rPr lang="fi-FI" sz="2800" dirty="0">
                <a:latin typeface="Impact" pitchFamily="34" charset="0"/>
                <a:cs typeface="+mn-cs"/>
              </a:rPr>
              <a:t>Mikä tahansa aktiviteetti, joka tuottaa </a:t>
            </a:r>
            <a:r>
              <a:rPr lang="fi-FI" sz="2800" dirty="0">
                <a:solidFill>
                  <a:srgbClr val="FF0000"/>
                </a:solidFill>
                <a:latin typeface="Impact" pitchFamily="34" charset="0"/>
                <a:cs typeface="+mn-cs"/>
              </a:rPr>
              <a:t>empiiristä todistusaineistoa</a:t>
            </a:r>
            <a:r>
              <a:rPr lang="fi-FI" sz="2800" dirty="0">
                <a:solidFill>
                  <a:schemeClr val="accent3"/>
                </a:solidFill>
                <a:latin typeface="Impact" pitchFamily="34" charset="0"/>
                <a:cs typeface="+mn-cs"/>
              </a:rPr>
              <a:t> </a:t>
            </a:r>
            <a:r>
              <a:rPr lang="fi-FI" sz="2800" dirty="0">
                <a:latin typeface="Impact" pitchFamily="34" charset="0"/>
                <a:cs typeface="+mn-cs"/>
              </a:rPr>
              <a:t>siitä missä määrin </a:t>
            </a:r>
            <a:r>
              <a:rPr lang="fi-FI" sz="2800" dirty="0">
                <a:solidFill>
                  <a:srgbClr val="FFC000"/>
                </a:solidFill>
                <a:latin typeface="Impact" pitchFamily="34" charset="0"/>
                <a:cs typeface="+mn-cs"/>
              </a:rPr>
              <a:t>tarkoituksemme</a:t>
            </a:r>
            <a:r>
              <a:rPr lang="fi-FI" sz="2800" dirty="0">
                <a:latin typeface="Impact" pitchFamily="34" charset="0"/>
                <a:cs typeface="+mn-cs"/>
              </a:rPr>
              <a:t>, </a:t>
            </a:r>
            <a:r>
              <a:rPr lang="fi-FI" sz="2800" dirty="0">
                <a:solidFill>
                  <a:srgbClr val="FFC000"/>
                </a:solidFill>
                <a:latin typeface="Impact" pitchFamily="34" charset="0"/>
                <a:cs typeface="+mn-cs"/>
              </a:rPr>
              <a:t>toteutuksemme</a:t>
            </a:r>
            <a:r>
              <a:rPr lang="fi-FI" sz="2800" dirty="0">
                <a:latin typeface="Impact" pitchFamily="34" charset="0"/>
                <a:cs typeface="+mn-cs"/>
              </a:rPr>
              <a:t> ja </a:t>
            </a:r>
            <a:r>
              <a:rPr lang="fi-FI" sz="2800" dirty="0">
                <a:solidFill>
                  <a:srgbClr val="FFC000"/>
                </a:solidFill>
                <a:latin typeface="Impact" pitchFamily="34" charset="0"/>
                <a:cs typeface="+mn-cs"/>
              </a:rPr>
              <a:t>todelliset liiketoimintatarpeemme </a:t>
            </a:r>
            <a:r>
              <a:rPr lang="fi-FI" sz="2800" dirty="0">
                <a:latin typeface="Impact" pitchFamily="34" charset="0"/>
                <a:cs typeface="+mn-cs"/>
              </a:rPr>
              <a:t>ovat  </a:t>
            </a:r>
            <a:r>
              <a:rPr lang="fi-FI" sz="2800" dirty="0">
                <a:solidFill>
                  <a:srgbClr val="FFC000"/>
                </a:solidFill>
                <a:latin typeface="Impact" pitchFamily="34" charset="0"/>
                <a:cs typeface="+mn-cs"/>
              </a:rPr>
              <a:t>linjassa keskenään</a:t>
            </a:r>
            <a:r>
              <a:rPr lang="fi-FI" sz="2800" dirty="0">
                <a:latin typeface="Impact" pitchFamily="34" charset="0"/>
                <a:cs typeface="+mn-cs"/>
              </a:rPr>
              <a:t>. </a:t>
            </a:r>
            <a:r>
              <a:rPr lang="fi-FI" sz="2800" dirty="0" smtClean="0">
                <a:latin typeface="Impact" pitchFamily="34" charset="0"/>
                <a:cs typeface="+mn-cs"/>
              </a:rPr>
              <a:t/>
            </a:r>
            <a:br>
              <a:rPr lang="fi-FI" sz="2800" dirty="0" smtClean="0">
                <a:latin typeface="Impact" pitchFamily="34" charset="0"/>
                <a:cs typeface="+mn-cs"/>
              </a:rPr>
            </a:br>
            <a:r>
              <a:rPr lang="fi-FI" sz="2800" dirty="0" smtClean="0">
                <a:latin typeface="Impact" pitchFamily="34" charset="0"/>
                <a:cs typeface="+mn-cs"/>
              </a:rPr>
              <a:t>-- </a:t>
            </a:r>
            <a:r>
              <a:rPr lang="fi-FI" sz="1600" dirty="0">
                <a:latin typeface="Impact" pitchFamily="34" charset="0"/>
                <a:cs typeface="+mn-cs"/>
              </a:rPr>
              <a:t>Elisabeth Hendricson</a:t>
            </a:r>
            <a:endParaRPr lang="fi-FI" sz="2800" dirty="0">
              <a:latin typeface="Impact" pitchFamily="34" charset="0"/>
              <a:cs typeface="+mn-cs"/>
            </a:endParaRPr>
          </a:p>
          <a:p>
            <a:pPr fontAlgn="auto">
              <a:spcBef>
                <a:spcPts val="0"/>
              </a:spcBef>
              <a:spcAft>
                <a:spcPts val="0"/>
              </a:spcAft>
              <a:defRPr/>
            </a:pPr>
            <a:endParaRPr lang="fi-FI" sz="2800" dirty="0">
              <a:latin typeface="Impact" pitchFamily="34" charset="0"/>
              <a:cs typeface="+mn-cs"/>
            </a:endParaRPr>
          </a:p>
        </p:txBody>
      </p:sp>
      <p:cxnSp>
        <p:nvCxnSpPr>
          <p:cNvPr id="7" name="Straight Connector 6"/>
          <p:cNvCxnSpPr/>
          <p:nvPr/>
        </p:nvCxnSpPr>
        <p:spPr>
          <a:xfrm>
            <a:off x="304800" y="3200400"/>
            <a:ext cx="8305800" cy="0"/>
          </a:xfrm>
          <a:prstGeom prst="line">
            <a:avLst/>
          </a:prstGeom>
          <a:ln>
            <a:prstDash val="sysDot"/>
          </a:ln>
        </p:spPr>
        <p:style>
          <a:lnRef idx="2">
            <a:schemeClr val="accent4"/>
          </a:lnRef>
          <a:fillRef idx="0">
            <a:schemeClr val="accent4"/>
          </a:fillRef>
          <a:effectRef idx="1">
            <a:schemeClr val="accent4"/>
          </a:effectRef>
          <a:fontRef idx="minor">
            <a:schemeClr val="tx1"/>
          </a:fontRef>
        </p:style>
      </p:cxnSp>
      <p:sp>
        <p:nvSpPr>
          <p:cNvPr id="8" name="TextBox 7"/>
          <p:cNvSpPr txBox="1"/>
          <p:nvPr/>
        </p:nvSpPr>
        <p:spPr>
          <a:xfrm rot="16200000">
            <a:off x="-1010333" y="1315134"/>
            <a:ext cx="2971800" cy="646331"/>
          </a:xfrm>
          <a:prstGeom prst="rect">
            <a:avLst/>
          </a:prstGeom>
          <a:noFill/>
        </p:spPr>
        <p:txBody>
          <a:bodyPr wrap="square" rtlCol="0">
            <a:spAutoFit/>
          </a:bodyPr>
          <a:lstStyle/>
          <a:p>
            <a:pPr algn="ctr"/>
            <a:r>
              <a:rPr lang="fi-FI" b="1" dirty="0" smtClean="0"/>
              <a:t>”Menetelmäorientoitunut laatupoliisi”</a:t>
            </a:r>
            <a:endParaRPr lang="fi-FI" b="1" dirty="0"/>
          </a:p>
        </p:txBody>
      </p:sp>
      <p:sp>
        <p:nvSpPr>
          <p:cNvPr id="9" name="TextBox 8"/>
          <p:cNvSpPr txBox="1"/>
          <p:nvPr/>
        </p:nvSpPr>
        <p:spPr>
          <a:xfrm rot="5400000">
            <a:off x="7104966" y="4477434"/>
            <a:ext cx="2895599" cy="646331"/>
          </a:xfrm>
          <a:prstGeom prst="rect">
            <a:avLst/>
          </a:prstGeom>
          <a:noFill/>
        </p:spPr>
        <p:txBody>
          <a:bodyPr wrap="square" rtlCol="0">
            <a:spAutoFit/>
          </a:bodyPr>
          <a:lstStyle/>
          <a:p>
            <a:pPr algn="ctr"/>
            <a:r>
              <a:rPr lang="fi-FI" b="1" dirty="0" smtClean="0"/>
              <a:t>”Investointi laatutietoon”</a:t>
            </a:r>
            <a:endParaRPr lang="fi-FI" b="1" dirty="0"/>
          </a:p>
        </p:txBody>
      </p:sp>
      <p:sp>
        <p:nvSpPr>
          <p:cNvPr id="10" name="Slide Number Placeholder 9"/>
          <p:cNvSpPr>
            <a:spLocks noGrp="1"/>
          </p:cNvSpPr>
          <p:nvPr>
            <p:ph type="sldNum" sz="quarter" idx="12"/>
          </p:nvPr>
        </p:nvSpPr>
        <p:spPr/>
        <p:txBody>
          <a:bodyPr/>
          <a:lstStyle/>
          <a:p>
            <a:fld id="{1FC54B03-E980-44E0-A0F1-6CAD9D10ECFB}" type="slidenum">
              <a:rPr lang="fi-FI" smtClean="0"/>
              <a:pPr/>
              <a:t>13</a:t>
            </a:fld>
            <a:endParaRPr lang="fi-FI"/>
          </a:p>
        </p:txBody>
      </p:sp>
    </p:spTree>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Testaus on tärkeä palautemekanismi</a:t>
            </a:r>
            <a:endParaRPr lang="fi-FI" dirty="0"/>
          </a:p>
        </p:txBody>
      </p:sp>
      <p:sp>
        <p:nvSpPr>
          <p:cNvPr id="3" name="Content Placeholder 2"/>
          <p:cNvSpPr>
            <a:spLocks noGrp="1"/>
          </p:cNvSpPr>
          <p:nvPr>
            <p:ph idx="1"/>
          </p:nvPr>
        </p:nvSpPr>
        <p:spPr/>
        <p:txBody>
          <a:bodyPr>
            <a:normAutofit fontScale="77500" lnSpcReduction="20000"/>
          </a:bodyPr>
          <a:lstStyle/>
          <a:p>
            <a:r>
              <a:rPr lang="fi-FI" dirty="0" smtClean="0"/>
              <a:t>Merkittävien järjestelmien tekeminen vaatii monta tekijää, joilla kaikilla ei voi olla kaikkia tietoja</a:t>
            </a:r>
          </a:p>
          <a:p>
            <a:pPr lvl="1"/>
            <a:r>
              <a:rPr lang="fi-FI" dirty="0" smtClean="0"/>
              <a:t>Osa tiedoista ”projektin ulkopuolelta”, järjestelmän toimintaympäristö</a:t>
            </a:r>
          </a:p>
          <a:p>
            <a:r>
              <a:rPr lang="fi-FI" dirty="0" smtClean="0"/>
              <a:t>Testauksessa järjestelmää käytetään kuin oikeasti, pikakelauksella – todellinen kokemus käytöstä, ei vain suunniteltu</a:t>
            </a:r>
          </a:p>
          <a:p>
            <a:r>
              <a:rPr lang="fi-FI" dirty="0" smtClean="0"/>
              <a:t>Tuotantoon päässeet virheet kalliita</a:t>
            </a:r>
          </a:p>
          <a:p>
            <a:pPr lvl="1"/>
            <a:r>
              <a:rPr lang="fi-FI" dirty="0" smtClean="0"/>
              <a:t>Suorat kustannukset: esim. korjaaminen</a:t>
            </a:r>
          </a:p>
          <a:p>
            <a:pPr lvl="1"/>
            <a:r>
              <a:rPr lang="fi-FI" dirty="0" smtClean="0"/>
              <a:t>Välilliset kustannukset: esim. maine </a:t>
            </a:r>
          </a:p>
          <a:p>
            <a:r>
              <a:rPr lang="fi-FI" dirty="0" smtClean="0"/>
              <a:t>Onnistuneessa testauksessa taustalla halu / yritys nähdä virheitä – tässä </a:t>
            </a:r>
            <a:r>
              <a:rPr lang="fi-FI" i="1" dirty="0" smtClean="0"/>
              <a:t>epäonnistuminen</a:t>
            </a:r>
            <a:r>
              <a:rPr lang="fi-FI" dirty="0" smtClean="0"/>
              <a:t> tuottaa paremman tiedon. </a:t>
            </a:r>
            <a:endParaRPr lang="fi-FI"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14</a:t>
            </a:fld>
            <a:endParaRPr lang="fi-FI"/>
          </a:p>
        </p:txBody>
      </p:sp>
    </p:spTree>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fi-FI" dirty="0" smtClean="0"/>
              <a:t>”Testausmatematiikan” erikoislyhyt oppimäärä</a:t>
            </a:r>
            <a:endParaRPr lang="fi-FI" dirty="0"/>
          </a:p>
        </p:txBody>
      </p:sp>
      <p:sp>
        <p:nvSpPr>
          <p:cNvPr id="6" name="TextBox 5"/>
          <p:cNvSpPr txBox="1"/>
          <p:nvPr/>
        </p:nvSpPr>
        <p:spPr>
          <a:xfrm>
            <a:off x="3286108" y="1357298"/>
            <a:ext cx="2428892" cy="5632311"/>
          </a:xfrm>
          <a:prstGeom prst="rect">
            <a:avLst/>
          </a:prstGeom>
          <a:noFill/>
        </p:spPr>
        <p:txBody>
          <a:bodyPr wrap="square" rtlCol="0">
            <a:spAutoFit/>
          </a:bodyPr>
          <a:lstStyle/>
          <a:p>
            <a:pPr algn="ctr"/>
            <a:r>
              <a:rPr lang="fi-FI" sz="7200" dirty="0" smtClean="0">
                <a:latin typeface="+mn-lt"/>
              </a:rPr>
              <a:t>20</a:t>
            </a:r>
          </a:p>
          <a:p>
            <a:pPr algn="ctr"/>
            <a:r>
              <a:rPr lang="fi-FI" sz="7200" dirty="0" smtClean="0">
                <a:latin typeface="+mn-lt"/>
              </a:rPr>
              <a:t>16</a:t>
            </a:r>
          </a:p>
          <a:p>
            <a:pPr algn="ctr"/>
            <a:r>
              <a:rPr lang="fi-FI" sz="7200" dirty="0" smtClean="0">
                <a:latin typeface="+mn-lt"/>
              </a:rPr>
              <a:t>1639</a:t>
            </a:r>
          </a:p>
          <a:p>
            <a:pPr algn="ctr"/>
            <a:r>
              <a:rPr lang="fi-FI" sz="7200" dirty="0" smtClean="0">
                <a:latin typeface="+mn-lt"/>
              </a:rPr>
              <a:t>7</a:t>
            </a:r>
            <a:r>
              <a:rPr lang="en-US" sz="7200" dirty="0" smtClean="0">
                <a:latin typeface="+mn-lt"/>
              </a:rPr>
              <a:t>±</a:t>
            </a:r>
            <a:r>
              <a:rPr lang="fi-FI" sz="7200" dirty="0" smtClean="0">
                <a:latin typeface="+mn-lt"/>
              </a:rPr>
              <a:t>2</a:t>
            </a:r>
          </a:p>
          <a:p>
            <a:pPr algn="ctr"/>
            <a:endParaRPr lang="fi-FI" sz="7200" dirty="0">
              <a:latin typeface="+mn-lt"/>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15</a:t>
            </a:fld>
            <a:endParaRPr lang="en-US"/>
          </a:p>
        </p:txBody>
      </p:sp>
      <p:sp>
        <p:nvSpPr>
          <p:cNvPr id="9" name="Rectangle 8"/>
          <p:cNvSpPr/>
          <p:nvPr/>
        </p:nvSpPr>
        <p:spPr>
          <a:xfrm>
            <a:off x="323528" y="1916832"/>
            <a:ext cx="2520280" cy="400110"/>
          </a:xfrm>
          <a:prstGeom prst="rect">
            <a:avLst/>
          </a:prstGeom>
        </p:spPr>
        <p:txBody>
          <a:bodyPr wrap="square">
            <a:spAutoFit/>
          </a:bodyPr>
          <a:lstStyle/>
          <a:p>
            <a:pPr algn="ctr"/>
            <a:endParaRPr lang="fi-FI" sz="2000" dirty="0">
              <a:solidFill>
                <a:schemeClr val="accent3"/>
              </a:solidFill>
            </a:endParaRPr>
          </a:p>
        </p:txBody>
      </p:sp>
      <p:sp>
        <p:nvSpPr>
          <p:cNvPr id="10" name="TextBox 9"/>
          <p:cNvSpPr txBox="1"/>
          <p:nvPr/>
        </p:nvSpPr>
        <p:spPr>
          <a:xfrm>
            <a:off x="35496" y="5013176"/>
            <a:ext cx="2736304" cy="338554"/>
          </a:xfrm>
          <a:prstGeom prst="rect">
            <a:avLst/>
          </a:prstGeom>
          <a:noFill/>
        </p:spPr>
        <p:txBody>
          <a:bodyPr wrap="square" rtlCol="0">
            <a:spAutoFit/>
          </a:bodyPr>
          <a:lstStyle/>
          <a:p>
            <a:pPr algn="ctr"/>
            <a:endParaRPr lang="fi-FI" sz="1600" dirty="0"/>
          </a:p>
        </p:txBody>
      </p:sp>
    </p:spTree>
    <p:extLst>
      <p:ext uri="{BB962C8B-B14F-4D97-AF65-F5344CB8AC3E}">
        <p14:creationId xmlns:p14="http://schemas.microsoft.com/office/powerpoint/2010/main" val="1521280815"/>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nodePh="1">
                                  <p:stCondLst>
                                    <p:cond delay="0"/>
                                  </p:stCondLst>
                                  <p:endCondLst>
                                    <p:cond evt="begin" delay="0">
                                      <p:tn val="5"/>
                                    </p:cond>
                                  </p:end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nodePh="1">
                                  <p:stCondLst>
                                    <p:cond delay="0"/>
                                  </p:stCondLst>
                                  <p:endCondLst>
                                    <p:cond evt="begin" delay="0">
                                      <p:tn val="10"/>
                                    </p:cond>
                                  </p:end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fi-FI" dirty="0" smtClean="0"/>
              <a:t>”Testausmatematiikan” erikoislyhyt oppimäärä</a:t>
            </a:r>
            <a:endParaRPr lang="fi-FI" dirty="0"/>
          </a:p>
        </p:txBody>
      </p:sp>
      <p:sp>
        <p:nvSpPr>
          <p:cNvPr id="7" name="TextBox 6"/>
          <p:cNvSpPr txBox="1"/>
          <p:nvPr/>
        </p:nvSpPr>
        <p:spPr>
          <a:xfrm>
            <a:off x="2428860" y="1531798"/>
            <a:ext cx="6715140" cy="1169551"/>
          </a:xfrm>
          <a:prstGeom prst="rect">
            <a:avLst/>
          </a:prstGeom>
          <a:noFill/>
        </p:spPr>
        <p:txBody>
          <a:bodyPr wrap="square" rtlCol="0">
            <a:spAutoFit/>
          </a:bodyPr>
          <a:lstStyle/>
          <a:p>
            <a:r>
              <a:rPr lang="fi-FI" sz="1400" dirty="0" smtClean="0">
                <a:latin typeface="+mn-lt"/>
              </a:rPr>
              <a:t>Lasten peli ”20 kysymystä” opettaa jotain oleellista testauksesta. Peliin on kaksi vaihtoehtoista strategiaa: kysymysten listaaminen etukäteen kun tiedetään vähiten tai kysymysten esittäminen siten että edellisen vastauksesta saa oppia. </a:t>
            </a:r>
          </a:p>
          <a:p>
            <a:r>
              <a:rPr lang="fi-FI" sz="1400" dirty="0" smtClean="0">
                <a:latin typeface="+mn-lt"/>
              </a:rPr>
              <a:t>Miksi silti toistuvasti testauksessa pelaamme ”hölmöllä” strategialla? </a:t>
            </a:r>
            <a:endParaRPr lang="fi-FI" sz="1400" dirty="0">
              <a:latin typeface="+mn-lt"/>
            </a:endParaRPr>
          </a:p>
        </p:txBody>
      </p:sp>
      <p:sp>
        <p:nvSpPr>
          <p:cNvPr id="8" name="TextBox 7"/>
          <p:cNvSpPr txBox="1"/>
          <p:nvPr/>
        </p:nvSpPr>
        <p:spPr>
          <a:xfrm>
            <a:off x="2428860" y="2708920"/>
            <a:ext cx="6715140" cy="1169551"/>
          </a:xfrm>
          <a:prstGeom prst="rect">
            <a:avLst/>
          </a:prstGeom>
          <a:noFill/>
        </p:spPr>
        <p:txBody>
          <a:bodyPr wrap="square" rtlCol="0">
            <a:spAutoFit/>
          </a:bodyPr>
          <a:lstStyle/>
          <a:p>
            <a:r>
              <a:rPr lang="fi-FI" sz="1400" dirty="0" smtClean="0">
                <a:latin typeface="+mn-lt"/>
              </a:rPr>
              <a:t>Testauksen kansanviisauksiin kuuluu tarve miettiä odotettuja tuloksia yksityiskohtaisesti etukäteen – pelkona sokeus . Testauksen kohteena on odottamattomat ongelmat. </a:t>
            </a:r>
          </a:p>
          <a:p>
            <a:r>
              <a:rPr lang="fi-FI" sz="1400" dirty="0" smtClean="0">
                <a:latin typeface="+mn-lt"/>
              </a:rPr>
              <a:t>Miksi siis sijoitamme merkittävän osan projektibudjeteista virheiden löytymisen todennäköisyyden pienentämiseen?</a:t>
            </a:r>
            <a:endParaRPr lang="fi-FI" sz="1400" dirty="0">
              <a:latin typeface="+mn-lt"/>
            </a:endParaRPr>
          </a:p>
        </p:txBody>
      </p:sp>
      <p:sp>
        <p:nvSpPr>
          <p:cNvPr id="9" name="TextBox 8"/>
          <p:cNvSpPr txBox="1"/>
          <p:nvPr/>
        </p:nvSpPr>
        <p:spPr>
          <a:xfrm>
            <a:off x="2428860" y="5166382"/>
            <a:ext cx="6715140" cy="1169551"/>
          </a:xfrm>
          <a:prstGeom prst="rect">
            <a:avLst/>
          </a:prstGeom>
          <a:noFill/>
        </p:spPr>
        <p:txBody>
          <a:bodyPr wrap="square" rtlCol="0">
            <a:spAutoFit/>
          </a:bodyPr>
          <a:lstStyle/>
          <a:p>
            <a:r>
              <a:rPr lang="fi-FI" sz="1400" dirty="0" smtClean="0">
                <a:latin typeface="+mn-lt"/>
              </a:rPr>
              <a:t>Ihmisen muisti on rajallinen -  ”human envelope” - tutkitusti ja tunnetusti varsin rajoitettu. Tarvitsemme dokumentaatiota tueksi, erityisesti paineen alla. Dokumentaatio on merkittävä kustannuserä, jolla vain pieni osa tiedosta välittyy. Miksi emme luo dokumentaatiota ajankohtina jolloin ymmärrämme tarpeet parhaiten?</a:t>
            </a:r>
            <a:endParaRPr lang="fi-FI" sz="1400" dirty="0">
              <a:latin typeface="+mn-lt"/>
            </a:endParaRPr>
          </a:p>
        </p:txBody>
      </p:sp>
      <p:sp>
        <p:nvSpPr>
          <p:cNvPr id="10" name="TextBox 5"/>
          <p:cNvSpPr txBox="1"/>
          <p:nvPr/>
        </p:nvSpPr>
        <p:spPr>
          <a:xfrm>
            <a:off x="-36512" y="1285592"/>
            <a:ext cx="2428892" cy="5863144"/>
          </a:xfrm>
          <a:prstGeom prst="rect">
            <a:avLst/>
          </a:prstGeom>
          <a:noFill/>
        </p:spPr>
        <p:txBody>
          <a:bodyPr wrap="square" rtlCol="0">
            <a:spAutoFit/>
          </a:bodyPr>
          <a:lstStyle/>
          <a:p>
            <a:pPr algn="ctr"/>
            <a:r>
              <a:rPr lang="fi-FI" sz="7500" dirty="0" smtClean="0">
                <a:latin typeface="+mn-lt"/>
              </a:rPr>
              <a:t>20</a:t>
            </a:r>
          </a:p>
          <a:p>
            <a:pPr algn="ctr"/>
            <a:r>
              <a:rPr lang="fi-FI" sz="7500" dirty="0" smtClean="0">
                <a:latin typeface="+mn-lt"/>
              </a:rPr>
              <a:t>16</a:t>
            </a:r>
          </a:p>
          <a:p>
            <a:pPr algn="ctr"/>
            <a:r>
              <a:rPr lang="fi-FI" sz="7500" dirty="0" smtClean="0">
                <a:latin typeface="+mn-lt"/>
              </a:rPr>
              <a:t>1639</a:t>
            </a:r>
          </a:p>
          <a:p>
            <a:pPr algn="ctr"/>
            <a:r>
              <a:rPr lang="fi-FI" sz="7500" dirty="0" smtClean="0">
                <a:latin typeface="+mn-lt"/>
              </a:rPr>
              <a:t>5</a:t>
            </a:r>
            <a:r>
              <a:rPr lang="en-US" sz="7500" dirty="0" smtClean="0">
                <a:latin typeface="+mn-lt"/>
              </a:rPr>
              <a:t>±</a:t>
            </a:r>
            <a:r>
              <a:rPr lang="fi-FI" sz="7500" dirty="0" smtClean="0">
                <a:latin typeface="+mn-lt"/>
              </a:rPr>
              <a:t>2</a:t>
            </a:r>
          </a:p>
          <a:p>
            <a:pPr algn="ctr"/>
            <a:endParaRPr lang="fi-FI" sz="7500" dirty="0">
              <a:latin typeface="+mn-lt"/>
            </a:endParaRPr>
          </a:p>
        </p:txBody>
      </p:sp>
      <p:sp>
        <p:nvSpPr>
          <p:cNvPr id="11" name="TextBox 7"/>
          <p:cNvSpPr txBox="1"/>
          <p:nvPr/>
        </p:nvSpPr>
        <p:spPr>
          <a:xfrm>
            <a:off x="2465372" y="4221088"/>
            <a:ext cx="6715140" cy="738664"/>
          </a:xfrm>
          <a:prstGeom prst="rect">
            <a:avLst/>
          </a:prstGeom>
          <a:noFill/>
        </p:spPr>
        <p:txBody>
          <a:bodyPr wrap="square" rtlCol="0">
            <a:spAutoFit/>
          </a:bodyPr>
          <a:lstStyle/>
          <a:p>
            <a:r>
              <a:rPr lang="fi-FI" sz="1400" dirty="0" smtClean="0">
                <a:latin typeface="+mn-lt"/>
              </a:rPr>
              <a:t>Sama ei ehkä olekaan sama jos jokin muuttuja on eri lailla. Testaus ei ole kaiken kattamista suhteessa määrittelyyn, vaan sen ajattelua että ”onko tämä ongelma, onko se oleellinen”. Ei läpi / ei läpi. </a:t>
            </a:r>
          </a:p>
        </p:txBody>
      </p:sp>
      <p:sp>
        <p:nvSpPr>
          <p:cNvPr id="12" name="Content Placeholder 3"/>
          <p:cNvSpPr txBox="1">
            <a:spLocks/>
          </p:cNvSpPr>
          <p:nvPr/>
        </p:nvSpPr>
        <p:spPr>
          <a:xfrm>
            <a:off x="3750654" y="3796450"/>
            <a:ext cx="5357850" cy="928694"/>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fi-FI" sz="1200" b="0" i="0" u="none" strike="noStrike" kern="1200" cap="none" spc="0" normalizeH="0" baseline="0" noProof="0" dirty="0" smtClean="0">
                <a:ln>
                  <a:noFill/>
                </a:ln>
                <a:solidFill>
                  <a:schemeClr val="tx1"/>
                </a:solidFill>
                <a:effectLst/>
                <a:uLnTx/>
                <a:uFillTx/>
                <a:latin typeface="+mn-lt"/>
                <a:ea typeface="+mn-ea"/>
                <a:cs typeface="+mn-cs"/>
                <a:hlinkClick r:id="rId3"/>
              </a:rPr>
              <a:t>http://viscog.beckman.illinois.edu/flashmovie/15.php</a:t>
            </a:r>
            <a:endParaRPr kumimoji="0" lang="fi-FI" sz="1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fi-FI" sz="1200" b="0" i="0" u="none" strike="noStrike" kern="1200" cap="none" spc="0" normalizeH="0" baseline="0" noProof="0" dirty="0" smtClean="0">
                <a:ln>
                  <a:noFill/>
                </a:ln>
                <a:solidFill>
                  <a:schemeClr val="tx1"/>
                </a:solidFill>
                <a:effectLst/>
                <a:uLnTx/>
                <a:uFillTx/>
                <a:latin typeface="+mn-lt"/>
                <a:ea typeface="+mn-ea"/>
                <a:cs typeface="+mn-cs"/>
                <a:hlinkClick r:id="rId4"/>
              </a:rPr>
              <a:t>http://www.dothetest.co.uk/whodunnit.html</a:t>
            </a:r>
            <a:r>
              <a:rPr kumimoji="0" lang="fi-FI" sz="1200" b="0" i="0" u="none" strike="noStrike" kern="1200" cap="none" spc="0" normalizeH="0" baseline="0" noProof="0" dirty="0" smtClean="0">
                <a:ln>
                  <a:noFill/>
                </a:ln>
                <a:solidFill>
                  <a:schemeClr val="tx1"/>
                </a:solidFill>
                <a:effectLst/>
                <a:uLnTx/>
                <a:uFillTx/>
                <a:latin typeface="+mn-lt"/>
                <a:ea typeface="+mn-ea"/>
                <a:cs typeface="+mn-cs"/>
              </a:rPr>
              <a:t> </a:t>
            </a:r>
            <a:endParaRPr kumimoji="0" lang="fi-FI" sz="1200" b="0" i="0" u="none" strike="noStrike" kern="1200" cap="none" spc="0" normalizeH="0" baseline="0" noProof="0" dirty="0">
              <a:ln>
                <a:noFill/>
              </a:ln>
              <a:solidFill>
                <a:schemeClr val="tx1"/>
              </a:solidFill>
              <a:effectLst/>
              <a:uLnTx/>
              <a:uFillTx/>
              <a:latin typeface="+mn-lt"/>
              <a:ea typeface="+mn-ea"/>
              <a:cs typeface="+mn-cs"/>
            </a:endParaRPr>
          </a:p>
        </p:txBody>
      </p:sp>
      <p:sp>
        <p:nvSpPr>
          <p:cNvPr id="13" name="Slide Number Placeholder 12"/>
          <p:cNvSpPr>
            <a:spLocks noGrp="1"/>
          </p:cNvSpPr>
          <p:nvPr>
            <p:ph type="sldNum" sz="quarter" idx="12"/>
          </p:nvPr>
        </p:nvSpPr>
        <p:spPr/>
        <p:txBody>
          <a:bodyPr/>
          <a:lstStyle/>
          <a:p>
            <a:fld id="{1FC54B03-E980-44E0-A0F1-6CAD9D10ECFB}" type="slidenum">
              <a:rPr lang="fi-FI" smtClean="0"/>
              <a:pPr/>
              <a:t>16</a:t>
            </a:fld>
            <a:endParaRPr lang="fi-FI"/>
          </a:p>
        </p:txBody>
      </p:sp>
    </p:spTree>
    <p:extLst>
      <p:ext uri="{BB962C8B-B14F-4D97-AF65-F5344CB8AC3E}">
        <p14:creationId xmlns:p14="http://schemas.microsoft.com/office/powerpoint/2010/main" val="1297040169"/>
      </p:ext>
    </p:extLst>
  </p:cSld>
  <p:clrMapOvr>
    <a:masterClrMapping/>
  </p:clrMapOvr>
  <p:transition xmlns:p14="http://schemas.microsoft.com/office/powerpoint/2010/main" spd="slow"/>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tsikko 4"/>
          <p:cNvSpPr>
            <a:spLocks noGrp="1"/>
          </p:cNvSpPr>
          <p:nvPr>
            <p:ph type="title"/>
          </p:nvPr>
        </p:nvSpPr>
        <p:spPr/>
        <p:txBody>
          <a:bodyPr/>
          <a:lstStyle/>
          <a:p>
            <a:r>
              <a:rPr lang="fi-FI" dirty="0" smtClean="0"/>
              <a:t>Määrittelyt ja hyväksymistestaus </a:t>
            </a:r>
            <a:endParaRPr lang="en-US" dirty="0"/>
          </a:p>
        </p:txBody>
      </p:sp>
      <p:sp>
        <p:nvSpPr>
          <p:cNvPr id="6" name="Sisällön paikkamerkki 5"/>
          <p:cNvSpPr>
            <a:spLocks noGrp="1"/>
          </p:cNvSpPr>
          <p:nvPr>
            <p:ph idx="1"/>
          </p:nvPr>
        </p:nvSpPr>
        <p:spPr/>
        <p:txBody>
          <a:bodyPr/>
          <a:lstStyle/>
          <a:p>
            <a:r>
              <a:rPr lang="fi-FI" dirty="0" smtClean="0"/>
              <a:t>Limupeli – määrittelyn perussäännöt</a:t>
            </a:r>
          </a:p>
          <a:p>
            <a:pPr>
              <a:buNone/>
            </a:pPr>
            <a:endParaRPr lang="en-US" dirty="0"/>
          </a:p>
        </p:txBody>
      </p:sp>
      <p:sp>
        <p:nvSpPr>
          <p:cNvPr id="7" name="Tekstin paikkamerkki 6"/>
          <p:cNvSpPr>
            <a:spLocks noGrp="1"/>
          </p:cNvSpPr>
          <p:nvPr>
            <p:ph type="body" sz="half" idx="2"/>
          </p:nvPr>
        </p:nvSpPr>
        <p:spPr/>
        <p:txBody>
          <a:bodyPr/>
          <a:lstStyle/>
          <a:p>
            <a:r>
              <a:rPr lang="fi-FI" sz="1800" dirty="0" smtClean="0"/>
              <a:t>sopimushyväksynnästä käyttökelpoisuuden hyväksyntään; </a:t>
            </a:r>
          </a:p>
          <a:p>
            <a:endParaRPr lang="fi-FI" sz="1800" dirty="0" smtClean="0"/>
          </a:p>
          <a:p>
            <a:r>
              <a:rPr lang="fi-FI" sz="1800" dirty="0" smtClean="0"/>
              <a:t>muutetun kohdan hyväksynnästä sivuvaikutuksettomuuden hyväksyntään</a:t>
            </a:r>
            <a:endParaRPr lang="en-US" sz="1800" dirty="0"/>
          </a:p>
        </p:txBody>
      </p:sp>
      <p:graphicFrame>
        <p:nvGraphicFramePr>
          <p:cNvPr id="8" name="Content Placeholder 3"/>
          <p:cNvGraphicFramePr>
            <a:graphicFrameLocks/>
          </p:cNvGraphicFramePr>
          <p:nvPr/>
        </p:nvGraphicFramePr>
        <p:xfrm>
          <a:off x="3347864" y="1844824"/>
          <a:ext cx="3816424" cy="258330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ontent Placeholder 3"/>
          <p:cNvGraphicFramePr>
            <a:graphicFrameLocks/>
          </p:cNvGraphicFramePr>
          <p:nvPr/>
        </p:nvGraphicFramePr>
        <p:xfrm>
          <a:off x="4813176" y="3789040"/>
          <a:ext cx="4330824" cy="2727325"/>
        </p:xfrm>
        <a:graphic>
          <a:graphicData uri="http://schemas.openxmlformats.org/drawingml/2006/chart">
            <c:chart xmlns:c="http://schemas.openxmlformats.org/drawingml/2006/chart" xmlns:r="http://schemas.openxmlformats.org/officeDocument/2006/relationships" r:id="rId3"/>
          </a:graphicData>
        </a:graphic>
      </p:graphicFrame>
      <p:sp>
        <p:nvSpPr>
          <p:cNvPr id="10" name="Tekstikehys 9"/>
          <p:cNvSpPr txBox="1"/>
          <p:nvPr/>
        </p:nvSpPr>
        <p:spPr>
          <a:xfrm>
            <a:off x="7236296" y="2132856"/>
            <a:ext cx="1763688" cy="923330"/>
          </a:xfrm>
          <a:prstGeom prst="rect">
            <a:avLst/>
          </a:prstGeom>
          <a:noFill/>
        </p:spPr>
        <p:txBody>
          <a:bodyPr wrap="square" rtlCol="0">
            <a:spAutoFit/>
          </a:bodyPr>
          <a:lstStyle/>
          <a:p>
            <a:r>
              <a:rPr lang="fi-FI" b="1" dirty="0" smtClean="0">
                <a:latin typeface="+mn-lt"/>
              </a:rPr>
              <a:t>Kuinka suhtaudumme vaatimuksiin…</a:t>
            </a:r>
            <a:endParaRPr lang="en-US" b="1" dirty="0">
              <a:latin typeface="+mn-lt"/>
            </a:endParaRPr>
          </a:p>
        </p:txBody>
      </p:sp>
      <p:sp>
        <p:nvSpPr>
          <p:cNvPr id="11" name="Tekstikehys 10"/>
          <p:cNvSpPr txBox="1"/>
          <p:nvPr/>
        </p:nvSpPr>
        <p:spPr>
          <a:xfrm>
            <a:off x="3851920" y="4797152"/>
            <a:ext cx="1763688" cy="923330"/>
          </a:xfrm>
          <a:prstGeom prst="rect">
            <a:avLst/>
          </a:prstGeom>
          <a:noFill/>
        </p:spPr>
        <p:txBody>
          <a:bodyPr wrap="square" rtlCol="0">
            <a:spAutoFit/>
          </a:bodyPr>
          <a:lstStyle/>
          <a:p>
            <a:r>
              <a:rPr lang="fi-FI" b="1" dirty="0" smtClean="0">
                <a:latin typeface="+mn-lt"/>
              </a:rPr>
              <a:t>..ja mihin vaatimukset perustuvat</a:t>
            </a:r>
            <a:endParaRPr lang="en-US" b="1" dirty="0">
              <a:latin typeface="+mn-lt"/>
            </a:endParaRPr>
          </a:p>
        </p:txBody>
      </p:sp>
      <p:pic>
        <p:nvPicPr>
          <p:cNvPr id="12" name="Picture 2" descr="C:\Users\mpy\AppData\Local\Microsoft\Windows\Temporary Internet Files\Content.IE5\KN43RTXQ\MC900407930[1].wmf"/>
          <p:cNvPicPr>
            <a:picLocks noChangeAspect="1" noChangeArrowheads="1"/>
          </p:cNvPicPr>
          <p:nvPr/>
        </p:nvPicPr>
        <p:blipFill>
          <a:blip r:embed="rId4" cstate="print"/>
          <a:srcRect/>
          <a:stretch>
            <a:fillRect/>
          </a:stretch>
        </p:blipFill>
        <p:spPr bwMode="auto">
          <a:xfrm>
            <a:off x="7956376" y="116632"/>
            <a:ext cx="841412" cy="792088"/>
          </a:xfrm>
          <a:prstGeom prst="rect">
            <a:avLst/>
          </a:prstGeom>
          <a:noFill/>
        </p:spPr>
      </p:pic>
      <p:pic>
        <p:nvPicPr>
          <p:cNvPr id="13" name="Picture 3" descr="C:\Users\mpy\AppData\Local\Microsoft\Windows\Temporary Internet Files\Content.IE5\A5FEB46V\MC900195398[1].wmf"/>
          <p:cNvPicPr>
            <a:picLocks noChangeAspect="1" noChangeArrowheads="1"/>
          </p:cNvPicPr>
          <p:nvPr/>
        </p:nvPicPr>
        <p:blipFill>
          <a:blip r:embed="rId5" cstate="print"/>
          <a:srcRect/>
          <a:stretch>
            <a:fillRect/>
          </a:stretch>
        </p:blipFill>
        <p:spPr bwMode="auto">
          <a:xfrm>
            <a:off x="7236296" y="764704"/>
            <a:ext cx="859447" cy="1093670"/>
          </a:xfrm>
          <a:prstGeom prst="rect">
            <a:avLst/>
          </a:prstGeom>
          <a:noFill/>
        </p:spPr>
      </p:pic>
    </p:spTree>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Valmiusasteen mittaaminen testauksen kautta</a:t>
            </a:r>
            <a:endParaRPr lang="fi-FI" dirty="0"/>
          </a:p>
        </p:txBody>
      </p:sp>
      <p:sp>
        <p:nvSpPr>
          <p:cNvPr id="4" name="Rectangle 3"/>
          <p:cNvSpPr/>
          <p:nvPr/>
        </p:nvSpPr>
        <p:spPr>
          <a:xfrm>
            <a:off x="785786" y="1857364"/>
            <a:ext cx="3143272" cy="30003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fi-FI" sz="2000" dirty="0" smtClean="0"/>
              <a:t>Määrittelyn näkökulma</a:t>
            </a:r>
            <a:endParaRPr lang="fi-FI" sz="2000" dirty="0"/>
          </a:p>
        </p:txBody>
      </p:sp>
      <p:sp>
        <p:nvSpPr>
          <p:cNvPr id="5" name="Rectangle 4"/>
          <p:cNvSpPr/>
          <p:nvPr/>
        </p:nvSpPr>
        <p:spPr>
          <a:xfrm>
            <a:off x="4929190" y="1857364"/>
            <a:ext cx="3143272" cy="30003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fi-FI" sz="2000" dirty="0" smtClean="0"/>
              <a:t>Tuotantokelpoisuuden näkökulma</a:t>
            </a:r>
            <a:endParaRPr lang="fi-FI" sz="2000" dirty="0"/>
          </a:p>
        </p:txBody>
      </p:sp>
      <p:sp>
        <p:nvSpPr>
          <p:cNvPr id="6" name="Rounded Rectangle 5"/>
          <p:cNvSpPr/>
          <p:nvPr/>
        </p:nvSpPr>
        <p:spPr>
          <a:xfrm>
            <a:off x="1142976" y="2571744"/>
            <a:ext cx="2500330" cy="857256"/>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fi-FI" dirty="0" smtClean="0"/>
              <a:t>Mikä % toimii määrittelyjen mukaisesti?</a:t>
            </a:r>
            <a:endParaRPr lang="fi-FI" dirty="0"/>
          </a:p>
        </p:txBody>
      </p:sp>
      <p:sp>
        <p:nvSpPr>
          <p:cNvPr id="7" name="Rounded Rectangle 6"/>
          <p:cNvSpPr/>
          <p:nvPr/>
        </p:nvSpPr>
        <p:spPr>
          <a:xfrm>
            <a:off x="5286380" y="2571744"/>
            <a:ext cx="2500330" cy="857256"/>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fi-FI" dirty="0" smtClean="0"/>
              <a:t>Mikä % voidaan siirtää tuotantoon?</a:t>
            </a:r>
            <a:endParaRPr lang="fi-FI" dirty="0"/>
          </a:p>
        </p:txBody>
      </p:sp>
      <p:sp>
        <p:nvSpPr>
          <p:cNvPr id="8" name="Oval 7"/>
          <p:cNvSpPr/>
          <p:nvPr/>
        </p:nvSpPr>
        <p:spPr>
          <a:xfrm>
            <a:off x="928662" y="3643314"/>
            <a:ext cx="2786082" cy="785818"/>
          </a:xfrm>
          <a:prstGeom prst="ellipse">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fi-FI" dirty="0" smtClean="0"/>
              <a:t>Vaatimus-</a:t>
            </a:r>
            <a:br>
              <a:rPr lang="fi-FI" dirty="0" smtClean="0"/>
            </a:br>
            <a:r>
              <a:rPr lang="fi-FI" dirty="0" smtClean="0"/>
              <a:t>kattavuus</a:t>
            </a:r>
            <a:endParaRPr lang="fi-FI" dirty="0"/>
          </a:p>
        </p:txBody>
      </p:sp>
      <p:sp>
        <p:nvSpPr>
          <p:cNvPr id="9" name="Oval 8"/>
          <p:cNvSpPr/>
          <p:nvPr/>
        </p:nvSpPr>
        <p:spPr>
          <a:xfrm>
            <a:off x="5143504" y="3714752"/>
            <a:ext cx="2786082" cy="785818"/>
          </a:xfrm>
          <a:prstGeom prst="ellipse">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fi-FI" dirty="0" smtClean="0"/>
              <a:t>Läpäistyt </a:t>
            </a:r>
            <a:r>
              <a:rPr lang="fi-FI" dirty="0" err="1" smtClean="0"/>
              <a:t>tuotantoske-naariotestit</a:t>
            </a:r>
            <a:endParaRPr lang="fi-FI" dirty="0"/>
          </a:p>
        </p:txBody>
      </p:sp>
      <p:sp>
        <p:nvSpPr>
          <p:cNvPr id="10" name="Cloud 9"/>
          <p:cNvSpPr/>
          <p:nvPr/>
        </p:nvSpPr>
        <p:spPr>
          <a:xfrm>
            <a:off x="357158" y="5357826"/>
            <a:ext cx="8715436" cy="1285884"/>
          </a:xfrm>
          <a:prstGeom prst="cloud">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fi-FI" dirty="0" smtClean="0"/>
              <a:t>Asiakas-toimittajasuhteessa toimittaja ei välttämättä tarkastele asiaa tuotantoskenaarioiden näkökulmasta. </a:t>
            </a:r>
            <a:endParaRPr lang="fi-FI" dirty="0"/>
          </a:p>
        </p:txBody>
      </p:sp>
      <p:sp>
        <p:nvSpPr>
          <p:cNvPr id="11" name="Left-Right Arrow 10"/>
          <p:cNvSpPr/>
          <p:nvPr/>
        </p:nvSpPr>
        <p:spPr>
          <a:xfrm>
            <a:off x="3929058" y="4286256"/>
            <a:ext cx="1000132" cy="571504"/>
          </a:xfrm>
          <a:prstGeom prst="leftRigh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fi-FI"/>
          </a:p>
        </p:txBody>
      </p:sp>
      <p:sp>
        <p:nvSpPr>
          <p:cNvPr id="12" name="TextBox 11"/>
          <p:cNvSpPr txBox="1"/>
          <p:nvPr/>
        </p:nvSpPr>
        <p:spPr>
          <a:xfrm>
            <a:off x="3995936" y="3342031"/>
            <a:ext cx="860106" cy="1015663"/>
          </a:xfrm>
          <a:prstGeom prst="rect">
            <a:avLst/>
          </a:prstGeom>
          <a:noFill/>
        </p:spPr>
        <p:txBody>
          <a:bodyPr wrap="square" rtlCol="0">
            <a:spAutoFit/>
          </a:bodyPr>
          <a:lstStyle/>
          <a:p>
            <a:pPr algn="ctr"/>
            <a:r>
              <a:rPr lang="fi-FI" sz="2000" dirty="0" smtClean="0">
                <a:latin typeface="+mn-lt"/>
              </a:rPr>
              <a:t>Ero</a:t>
            </a:r>
          </a:p>
          <a:p>
            <a:pPr algn="ctr"/>
            <a:r>
              <a:rPr lang="fi-FI" sz="2000" dirty="0" smtClean="0">
                <a:latin typeface="+mn-lt"/>
              </a:rPr>
              <a:t> = riski! </a:t>
            </a:r>
            <a:endParaRPr lang="fi-FI" sz="2000" dirty="0">
              <a:latin typeface="+mn-lt"/>
            </a:endParaRPr>
          </a:p>
        </p:txBody>
      </p:sp>
      <p:sp>
        <p:nvSpPr>
          <p:cNvPr id="13" name="Slide Number Placeholder 12"/>
          <p:cNvSpPr>
            <a:spLocks noGrp="1"/>
          </p:cNvSpPr>
          <p:nvPr>
            <p:ph type="sldNum" sz="quarter" idx="12"/>
          </p:nvPr>
        </p:nvSpPr>
        <p:spPr/>
        <p:txBody>
          <a:bodyPr/>
          <a:lstStyle/>
          <a:p>
            <a:fld id="{7A750B4A-325E-4AA4-BC07-A8C35B32A4F3}" type="slidenum">
              <a:rPr lang="fi-FI" smtClean="0"/>
              <a:pPr/>
              <a:t>18</a:t>
            </a:fld>
            <a:endParaRPr lang="fi-FI"/>
          </a:p>
        </p:txBody>
      </p:sp>
    </p:spTree>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tsikko 3"/>
          <p:cNvSpPr>
            <a:spLocks noGrp="1"/>
          </p:cNvSpPr>
          <p:nvPr>
            <p:ph type="title"/>
          </p:nvPr>
        </p:nvSpPr>
        <p:spPr/>
        <p:txBody>
          <a:bodyPr>
            <a:normAutofit/>
          </a:bodyPr>
          <a:lstStyle/>
          <a:p>
            <a:r>
              <a:rPr lang="fi-FI" dirty="0" smtClean="0"/>
              <a:t>The ”</a:t>
            </a:r>
            <a:r>
              <a:rPr lang="fi-FI" dirty="0" err="1" smtClean="0"/>
              <a:t>Beer</a:t>
            </a:r>
            <a:r>
              <a:rPr lang="fi-FI" dirty="0" smtClean="0"/>
              <a:t> </a:t>
            </a:r>
            <a:r>
              <a:rPr lang="fi-FI" dirty="0" err="1" smtClean="0"/>
              <a:t>Game</a:t>
            </a:r>
            <a:r>
              <a:rPr lang="fi-FI" dirty="0" smtClean="0"/>
              <a:t>”</a:t>
            </a:r>
            <a:br>
              <a:rPr lang="fi-FI" dirty="0" smtClean="0"/>
            </a:br>
            <a:r>
              <a:rPr lang="fi-FI" sz="1600" dirty="0" smtClean="0"/>
              <a:t>Lähde mukaillen: James Bach </a:t>
            </a:r>
            <a:endParaRPr lang="en-US" sz="2700" dirty="0"/>
          </a:p>
        </p:txBody>
      </p:sp>
      <p:sp>
        <p:nvSpPr>
          <p:cNvPr id="5" name="Sisällön paikkamerkki 4"/>
          <p:cNvSpPr>
            <a:spLocks noGrp="1"/>
          </p:cNvSpPr>
          <p:nvPr>
            <p:ph idx="1"/>
          </p:nvPr>
        </p:nvSpPr>
        <p:spPr/>
        <p:txBody>
          <a:bodyPr/>
          <a:lstStyle/>
          <a:p>
            <a:r>
              <a:rPr lang="en-US" sz="1400" dirty="0" smtClean="0"/>
              <a:t>Can I get a beer, please?</a:t>
            </a:r>
          </a:p>
          <a:p>
            <a:pPr lvl="1"/>
            <a:r>
              <a:rPr lang="en-US" sz="1200" dirty="0" smtClean="0"/>
              <a:t>Waiter comes and pours a bucket of beer to your head. Not what you wanted, so make your order more specific. </a:t>
            </a:r>
          </a:p>
          <a:p>
            <a:r>
              <a:rPr lang="en-US" sz="1400" dirty="0" smtClean="0"/>
              <a:t>Can I get a beer in glass on the table, please?</a:t>
            </a:r>
          </a:p>
          <a:p>
            <a:pPr lvl="1"/>
            <a:r>
              <a:rPr lang="en-US" sz="1200" dirty="0" smtClean="0"/>
              <a:t>Waiter brings you a shot glass of beer. Still not what you wanted, so make your order more specific. </a:t>
            </a:r>
          </a:p>
          <a:p>
            <a:r>
              <a:rPr lang="en-US" sz="1400" dirty="0" smtClean="0"/>
              <a:t>Can I get a beer in a pint glass on the table, please?</a:t>
            </a:r>
          </a:p>
          <a:p>
            <a:pPr lvl="1"/>
            <a:r>
              <a:rPr lang="en-US" sz="1200" dirty="0" smtClean="0"/>
              <a:t>Waiter brings you a pint glass of boiling beer.</a:t>
            </a:r>
          </a:p>
          <a:p>
            <a:r>
              <a:rPr lang="en-US" sz="1400" dirty="0" smtClean="0"/>
              <a:t>Can I get a cold beer in a pint glass on the table, please?</a:t>
            </a:r>
          </a:p>
          <a:p>
            <a:pPr lvl="1"/>
            <a:r>
              <a:rPr lang="en-US" sz="1200" dirty="0" smtClean="0"/>
              <a:t>Waiter brings you a pint glass of frozen beer.</a:t>
            </a:r>
          </a:p>
          <a:p>
            <a:r>
              <a:rPr lang="en-US" sz="1400" dirty="0" smtClean="0"/>
              <a:t>Can I get a 8C degree beer in a pint glass on the table, please?</a:t>
            </a:r>
          </a:p>
          <a:p>
            <a:pPr lvl="1"/>
            <a:r>
              <a:rPr lang="en-US" sz="1200" dirty="0" smtClean="0"/>
              <a:t>Waiter brings you a pint glass of 8C degree beer, but the glass has a tennis ball inside it.</a:t>
            </a:r>
          </a:p>
          <a:p>
            <a:r>
              <a:rPr lang="en-US" sz="1400" dirty="0" smtClean="0"/>
              <a:t>Can I get a 8C degree beer in a pint glass that does not contain any other objects on the table, please?</a:t>
            </a:r>
          </a:p>
          <a:p>
            <a:pPr lvl="1"/>
            <a:r>
              <a:rPr lang="en-US" sz="1200" dirty="0" smtClean="0"/>
              <a:t>Goes 30 minutes and you do not get anything. So you ask from waiter what is taking so long? Waiter explains that the kitchen is building a new dust free room, and it will take some days to get your beer without any objects.</a:t>
            </a:r>
            <a:endParaRPr lang="en-US" sz="1400" dirty="0" smtClean="0"/>
          </a:p>
          <a:p>
            <a:r>
              <a:rPr lang="en-US" sz="1400" dirty="0" smtClean="0"/>
              <a:t>Can I get a 8C degree beer in a pint glass that does not contain any big size other objects but small particles are ok on the table, please?</a:t>
            </a:r>
          </a:p>
          <a:p>
            <a:pPr lvl="1"/>
            <a:r>
              <a:rPr lang="en-US" sz="1200" dirty="0" smtClean="0"/>
              <a:t>Waiter brings you a pint glass of 8C degree beer. And warns you that it has some small residue of plutonium in it.</a:t>
            </a:r>
          </a:p>
          <a:p>
            <a:pPr algn="ctr">
              <a:buNone/>
            </a:pPr>
            <a:r>
              <a:rPr lang="en-US" sz="2400" dirty="0" smtClean="0">
                <a:solidFill>
                  <a:schemeClr val="accent2"/>
                </a:solidFill>
              </a:rPr>
              <a:t>What Should We Learn from This?</a:t>
            </a:r>
          </a:p>
          <a:p>
            <a:endParaRPr lang="en-US" sz="1400" dirty="0"/>
          </a:p>
        </p:txBody>
      </p:sp>
      <p:sp>
        <p:nvSpPr>
          <p:cNvPr id="6" name="Dian numeron paikkamerkki 5"/>
          <p:cNvSpPr>
            <a:spLocks noGrp="1"/>
          </p:cNvSpPr>
          <p:nvPr>
            <p:ph type="sldNum" sz="quarter" idx="12"/>
          </p:nvPr>
        </p:nvSpPr>
        <p:spPr/>
        <p:txBody>
          <a:bodyPr/>
          <a:lstStyle/>
          <a:p>
            <a:fld id="{026D7E99-7AAC-4314-B8CA-6DF60EA686A5}" type="slidenum">
              <a:rPr lang="en-US" smtClean="0"/>
              <a:pPr/>
              <a:t>19</a:t>
            </a:fld>
            <a:endParaRPr lang="en-US"/>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mpy\Google Drive\Testauskirja\Kuvia\Aikajakauma.jpg"/>
          <p:cNvPicPr>
            <a:picLocks noChangeAspect="1" noChangeArrowheads="1"/>
          </p:cNvPicPr>
          <p:nvPr/>
        </p:nvPicPr>
        <p:blipFill>
          <a:blip r:embed="rId3" cstate="print"/>
          <a:srcRect/>
          <a:stretch>
            <a:fillRect/>
          </a:stretch>
        </p:blipFill>
        <p:spPr bwMode="auto">
          <a:xfrm>
            <a:off x="1043608" y="1232757"/>
            <a:ext cx="7344816" cy="5508611"/>
          </a:xfrm>
          <a:prstGeom prst="rect">
            <a:avLst/>
          </a:prstGeom>
          <a:noFill/>
        </p:spPr>
      </p:pic>
      <p:sp>
        <p:nvSpPr>
          <p:cNvPr id="2" name="Otsikko 1"/>
          <p:cNvSpPr>
            <a:spLocks noGrp="1"/>
          </p:cNvSpPr>
          <p:nvPr>
            <p:ph type="title"/>
          </p:nvPr>
        </p:nvSpPr>
        <p:spPr/>
        <p:txBody>
          <a:bodyPr/>
          <a:lstStyle/>
          <a:p>
            <a:r>
              <a:rPr lang="fi-FI" dirty="0" smtClean="0"/>
              <a:t>Testaaminen vs. korjaaminen</a:t>
            </a:r>
            <a:endParaRPr lang="en-US" dirty="0"/>
          </a:p>
        </p:txBody>
      </p:sp>
      <p:sp>
        <p:nvSpPr>
          <p:cNvPr id="5" name="Tekstikehys 4"/>
          <p:cNvSpPr txBox="1"/>
          <p:nvPr/>
        </p:nvSpPr>
        <p:spPr>
          <a:xfrm>
            <a:off x="3347864" y="5373216"/>
            <a:ext cx="2880320" cy="584775"/>
          </a:xfrm>
          <a:prstGeom prst="rect">
            <a:avLst/>
          </a:prstGeom>
          <a:noFill/>
        </p:spPr>
        <p:txBody>
          <a:bodyPr wrap="square" rtlCol="0">
            <a:spAutoFit/>
          </a:bodyPr>
          <a:lstStyle/>
          <a:p>
            <a:r>
              <a:rPr lang="fi-FI" sz="3200" dirty="0">
                <a:solidFill>
                  <a:srgbClr val="FF0000"/>
                </a:solidFill>
              </a:rPr>
              <a:t>5</a:t>
            </a:r>
            <a:r>
              <a:rPr lang="fi-FI" sz="3200" dirty="0" smtClean="0">
                <a:solidFill>
                  <a:srgbClr val="FF0000"/>
                </a:solidFill>
              </a:rPr>
              <a:t>/40 =12.5 %</a:t>
            </a:r>
            <a:endParaRPr lang="en-US" sz="3200" dirty="0">
              <a:solidFill>
                <a:srgbClr val="FF0000"/>
              </a:solidFill>
            </a:endParaRPr>
          </a:p>
        </p:txBody>
      </p:sp>
    </p:spTree>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p:cNvSpPr>
            <a:spLocks noGrp="1"/>
          </p:cNvSpPr>
          <p:nvPr>
            <p:ph type="title"/>
          </p:nvPr>
        </p:nvSpPr>
        <p:spPr/>
        <p:txBody>
          <a:bodyPr>
            <a:normAutofit fontScale="90000"/>
          </a:bodyPr>
          <a:lstStyle/>
          <a:p>
            <a:r>
              <a:rPr lang="fi-FI" dirty="0" smtClean="0"/>
              <a:t>Testaus ei auta jos korjaaminen ei kuulu kuvioon</a:t>
            </a:r>
            <a:endParaRPr lang="en-US" dirty="0"/>
          </a:p>
        </p:txBody>
      </p:sp>
      <p:pic>
        <p:nvPicPr>
          <p:cNvPr id="1026" name="Kuva 3" descr="image001"/>
          <p:cNvPicPr>
            <a:picLocks noChangeAspect="1" noChangeArrowheads="1"/>
          </p:cNvPicPr>
          <p:nvPr/>
        </p:nvPicPr>
        <p:blipFill>
          <a:blip r:embed="rId2" cstate="print"/>
          <a:srcRect/>
          <a:stretch>
            <a:fillRect/>
          </a:stretch>
        </p:blipFill>
        <p:spPr bwMode="auto">
          <a:xfrm>
            <a:off x="1403648" y="1628800"/>
            <a:ext cx="6564982" cy="4996828"/>
          </a:xfrm>
          <a:prstGeom prst="rect">
            <a:avLst/>
          </a:prstGeom>
          <a:noFill/>
          <a:ln w="9525">
            <a:noFill/>
            <a:miter lim="800000"/>
            <a:headEnd/>
            <a:tailEnd/>
          </a:ln>
        </p:spPr>
      </p:pic>
    </p:spTree>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ChangeArrowheads="1"/>
          </p:cNvSpPr>
          <p:nvPr/>
        </p:nvSpPr>
        <p:spPr bwMode="auto">
          <a:xfrm>
            <a:off x="323850" y="4437063"/>
            <a:ext cx="8351838" cy="576262"/>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r>
              <a:rPr lang="fi-FI" dirty="0"/>
              <a:t>Toiminnalliset</a:t>
            </a:r>
            <a:endParaRPr lang="en-US" dirty="0"/>
          </a:p>
        </p:txBody>
      </p:sp>
      <p:sp>
        <p:nvSpPr>
          <p:cNvPr id="94211" name="Rectangle 3"/>
          <p:cNvSpPr>
            <a:spLocks noChangeArrowheads="1"/>
          </p:cNvSpPr>
          <p:nvPr/>
        </p:nvSpPr>
        <p:spPr bwMode="auto">
          <a:xfrm>
            <a:off x="323850" y="5157788"/>
            <a:ext cx="8351838" cy="576262"/>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r>
              <a:rPr lang="fi-FI"/>
              <a:t>Ei-toiminnalliset</a:t>
            </a:r>
            <a:endParaRPr lang="en-US"/>
          </a:p>
        </p:txBody>
      </p:sp>
      <p:sp>
        <p:nvSpPr>
          <p:cNvPr id="94212" name="Rectangle 4"/>
          <p:cNvSpPr>
            <a:spLocks noGrp="1" noChangeArrowheads="1"/>
          </p:cNvSpPr>
          <p:nvPr>
            <p:ph type="title"/>
          </p:nvPr>
        </p:nvSpPr>
        <p:spPr/>
        <p:txBody>
          <a:bodyPr/>
          <a:lstStyle/>
          <a:p>
            <a:r>
              <a:rPr lang="fi-FI"/>
              <a:t>Hyväksymistestauksen puolet</a:t>
            </a:r>
            <a:endParaRPr lang="en-US"/>
          </a:p>
        </p:txBody>
      </p:sp>
      <p:sp>
        <p:nvSpPr>
          <p:cNvPr id="94213" name="Rectangle 5"/>
          <p:cNvSpPr>
            <a:spLocks noChangeArrowheads="1"/>
          </p:cNvSpPr>
          <p:nvPr/>
        </p:nvSpPr>
        <p:spPr bwMode="auto">
          <a:xfrm>
            <a:off x="682625" y="1917700"/>
            <a:ext cx="3636963" cy="1655763"/>
          </a:xfrm>
          <a:prstGeom prst="rect">
            <a:avLst/>
          </a:prstGeom>
          <a:solidFill>
            <a:schemeClr val="hlink"/>
          </a:solidFill>
          <a:ln w="9525" algn="ctr">
            <a:solidFill>
              <a:schemeClr val="tx1"/>
            </a:solidFill>
            <a:miter lim="800000"/>
            <a:headEnd/>
            <a:tailEnd/>
          </a:ln>
          <a:effectLst/>
        </p:spPr>
        <p:txBody>
          <a:bodyPr/>
          <a:lstStyle/>
          <a:p>
            <a:pPr algn="ctr"/>
            <a:r>
              <a:rPr lang="fi-FI" dirty="0">
                <a:solidFill>
                  <a:schemeClr val="bg1"/>
                </a:solidFill>
                <a:latin typeface="+mn-lt"/>
              </a:rPr>
              <a:t>Liiketoiminnan hyväksymistestaus</a:t>
            </a:r>
            <a:endParaRPr lang="en-US" dirty="0">
              <a:solidFill>
                <a:schemeClr val="bg1"/>
              </a:solidFill>
              <a:latin typeface="+mn-lt"/>
            </a:endParaRPr>
          </a:p>
        </p:txBody>
      </p:sp>
      <p:sp>
        <p:nvSpPr>
          <p:cNvPr id="94214" name="Rectangle 6"/>
          <p:cNvSpPr>
            <a:spLocks noChangeArrowheads="1"/>
          </p:cNvSpPr>
          <p:nvPr/>
        </p:nvSpPr>
        <p:spPr bwMode="auto">
          <a:xfrm>
            <a:off x="4392613" y="1917700"/>
            <a:ext cx="3635375" cy="1655763"/>
          </a:xfrm>
          <a:prstGeom prst="rect">
            <a:avLst/>
          </a:prstGeom>
          <a:solidFill>
            <a:schemeClr val="hlink"/>
          </a:solidFill>
          <a:ln w="9525" algn="ctr">
            <a:solidFill>
              <a:schemeClr val="tx1"/>
            </a:solidFill>
            <a:miter lim="800000"/>
            <a:headEnd/>
            <a:tailEnd/>
          </a:ln>
          <a:effectLst/>
        </p:spPr>
        <p:txBody>
          <a:bodyPr/>
          <a:lstStyle/>
          <a:p>
            <a:pPr algn="ctr"/>
            <a:r>
              <a:rPr lang="fi-FI" dirty="0">
                <a:solidFill>
                  <a:schemeClr val="bg1"/>
                </a:solidFill>
                <a:latin typeface="+mn-lt"/>
              </a:rPr>
              <a:t>Muu </a:t>
            </a:r>
            <a:r>
              <a:rPr lang="fi-FI" dirty="0" smtClean="0">
                <a:solidFill>
                  <a:schemeClr val="bg1"/>
                </a:solidFill>
                <a:latin typeface="+mn-lt"/>
              </a:rPr>
              <a:t>hyväksymistestaus</a:t>
            </a:r>
            <a:endParaRPr lang="en-US" dirty="0">
              <a:solidFill>
                <a:schemeClr val="bg1"/>
              </a:solidFill>
              <a:latin typeface="+mn-lt"/>
            </a:endParaRPr>
          </a:p>
        </p:txBody>
      </p:sp>
      <p:sp>
        <p:nvSpPr>
          <p:cNvPr id="94215" name="Rectangle 7"/>
          <p:cNvSpPr>
            <a:spLocks noChangeArrowheads="1"/>
          </p:cNvSpPr>
          <p:nvPr/>
        </p:nvSpPr>
        <p:spPr bwMode="auto">
          <a:xfrm>
            <a:off x="539552" y="4292600"/>
            <a:ext cx="1944688" cy="1651000"/>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r>
              <a:rPr lang="fi-FI" dirty="0">
                <a:solidFill>
                  <a:schemeClr val="bg1"/>
                </a:solidFill>
              </a:rPr>
              <a:t>Omat syyt / tarpeet / odotukset </a:t>
            </a:r>
          </a:p>
          <a:p>
            <a:pPr algn="ctr"/>
            <a:r>
              <a:rPr lang="fi-FI" dirty="0">
                <a:solidFill>
                  <a:schemeClr val="bg1"/>
                </a:solidFill>
              </a:rPr>
              <a:t>”Hankkeen / projektin asettaminen”</a:t>
            </a:r>
            <a:endParaRPr lang="en-US" dirty="0">
              <a:solidFill>
                <a:schemeClr val="bg1"/>
              </a:solidFill>
            </a:endParaRPr>
          </a:p>
        </p:txBody>
      </p:sp>
      <p:sp>
        <p:nvSpPr>
          <p:cNvPr id="94216" name="Rectangle 8"/>
          <p:cNvSpPr>
            <a:spLocks noChangeArrowheads="1"/>
          </p:cNvSpPr>
          <p:nvPr/>
        </p:nvSpPr>
        <p:spPr bwMode="auto">
          <a:xfrm>
            <a:off x="2627115" y="4292600"/>
            <a:ext cx="1944687" cy="1651000"/>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r>
              <a:rPr lang="fi-FI">
                <a:solidFill>
                  <a:schemeClr val="bg1"/>
                </a:solidFill>
              </a:rPr>
              <a:t>Jaetut syyt / tarpeet / odotukset</a:t>
            </a:r>
          </a:p>
          <a:p>
            <a:pPr algn="ctr"/>
            <a:r>
              <a:rPr lang="fi-FI">
                <a:solidFill>
                  <a:schemeClr val="bg1"/>
                </a:solidFill>
              </a:rPr>
              <a:t>”Liiketoiminnan vaatimukset”</a:t>
            </a:r>
            <a:endParaRPr lang="en-US">
              <a:solidFill>
                <a:schemeClr val="bg1"/>
              </a:solidFill>
            </a:endParaRPr>
          </a:p>
        </p:txBody>
      </p:sp>
      <p:sp>
        <p:nvSpPr>
          <p:cNvPr id="94217" name="Rectangle 9"/>
          <p:cNvSpPr>
            <a:spLocks noChangeArrowheads="1"/>
          </p:cNvSpPr>
          <p:nvPr/>
        </p:nvSpPr>
        <p:spPr bwMode="auto">
          <a:xfrm>
            <a:off x="4716265" y="4292600"/>
            <a:ext cx="1944687" cy="1651000"/>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r>
              <a:rPr lang="fi-FI" dirty="0"/>
              <a:t>Kirjatut ja seuratut tarpeet ja rajaukset</a:t>
            </a:r>
          </a:p>
          <a:p>
            <a:pPr algn="ctr"/>
            <a:r>
              <a:rPr lang="fi-FI" dirty="0"/>
              <a:t>”Tarkennetut määrittelyt”</a:t>
            </a:r>
            <a:endParaRPr lang="en-US" dirty="0"/>
          </a:p>
        </p:txBody>
      </p:sp>
      <p:sp>
        <p:nvSpPr>
          <p:cNvPr id="94218" name="AutoShape 10"/>
          <p:cNvSpPr>
            <a:spLocks noChangeArrowheads="1"/>
          </p:cNvSpPr>
          <p:nvPr/>
        </p:nvSpPr>
        <p:spPr bwMode="auto">
          <a:xfrm>
            <a:off x="4500563" y="2422525"/>
            <a:ext cx="3455987" cy="431800"/>
          </a:xfrm>
          <a:prstGeom prst="roundRect">
            <a:avLst>
              <a:gd name="adj" fmla="val 16667"/>
            </a:avLst>
          </a:prstGeom>
          <a:ln>
            <a:headEnd/>
            <a:tailEnd/>
          </a:ln>
        </p:spPr>
        <p:style>
          <a:lnRef idx="2">
            <a:schemeClr val="accent2"/>
          </a:lnRef>
          <a:fillRef idx="1">
            <a:schemeClr val="lt1"/>
          </a:fillRef>
          <a:effectRef idx="0">
            <a:schemeClr val="accent2"/>
          </a:effectRef>
          <a:fontRef idx="minor">
            <a:schemeClr val="dk1"/>
          </a:fontRef>
        </p:style>
        <p:txBody>
          <a:bodyPr anchor="ctr"/>
          <a:lstStyle/>
          <a:p>
            <a:pPr algn="ctr"/>
            <a:r>
              <a:rPr lang="fi-FI" sz="1200"/>
              <a:t>Teknisluonteinen toiminnallisuuden laadunvarmistus</a:t>
            </a:r>
            <a:endParaRPr lang="en-US" sz="1200"/>
          </a:p>
        </p:txBody>
      </p:sp>
      <p:sp>
        <p:nvSpPr>
          <p:cNvPr id="94219" name="AutoShape 11"/>
          <p:cNvSpPr>
            <a:spLocks noChangeArrowheads="1"/>
          </p:cNvSpPr>
          <p:nvPr/>
        </p:nvSpPr>
        <p:spPr bwMode="auto">
          <a:xfrm>
            <a:off x="4500563" y="2925763"/>
            <a:ext cx="1655762" cy="431800"/>
          </a:xfrm>
          <a:prstGeom prst="roundRect">
            <a:avLst>
              <a:gd name="adj" fmla="val 16667"/>
            </a:avLst>
          </a:prstGeom>
          <a:ln>
            <a:headEnd/>
            <a:tailEnd/>
          </a:ln>
        </p:spPr>
        <p:style>
          <a:lnRef idx="2">
            <a:schemeClr val="accent2"/>
          </a:lnRef>
          <a:fillRef idx="1">
            <a:schemeClr val="lt1"/>
          </a:fillRef>
          <a:effectRef idx="0">
            <a:schemeClr val="accent2"/>
          </a:effectRef>
          <a:fontRef idx="minor">
            <a:schemeClr val="dk1"/>
          </a:fontRef>
        </p:style>
        <p:txBody>
          <a:bodyPr anchor="ctr"/>
          <a:lstStyle/>
          <a:p>
            <a:pPr algn="ctr"/>
            <a:r>
              <a:rPr lang="fi-FI" sz="1200"/>
              <a:t>Tuotannon tuen näkökulma</a:t>
            </a:r>
            <a:endParaRPr lang="en-US" sz="1200"/>
          </a:p>
        </p:txBody>
      </p:sp>
      <p:sp>
        <p:nvSpPr>
          <p:cNvPr id="94220" name="AutoShape 12"/>
          <p:cNvSpPr>
            <a:spLocks noChangeArrowheads="1"/>
          </p:cNvSpPr>
          <p:nvPr/>
        </p:nvSpPr>
        <p:spPr bwMode="auto">
          <a:xfrm>
            <a:off x="6299200" y="2925763"/>
            <a:ext cx="1655763" cy="431800"/>
          </a:xfrm>
          <a:prstGeom prst="roundRect">
            <a:avLst>
              <a:gd name="adj" fmla="val 16667"/>
            </a:avLst>
          </a:prstGeom>
          <a:ln>
            <a:headEnd/>
            <a:tailEnd/>
          </a:ln>
        </p:spPr>
        <p:style>
          <a:lnRef idx="2">
            <a:schemeClr val="accent2"/>
          </a:lnRef>
          <a:fillRef idx="1">
            <a:schemeClr val="lt1"/>
          </a:fillRef>
          <a:effectRef idx="0">
            <a:schemeClr val="accent2"/>
          </a:effectRef>
          <a:fontRef idx="minor">
            <a:schemeClr val="dk1"/>
          </a:fontRef>
        </p:style>
        <p:txBody>
          <a:bodyPr anchor="ctr"/>
          <a:lstStyle/>
          <a:p>
            <a:pPr algn="ctr"/>
            <a:r>
              <a:rPr lang="fi-FI" sz="1200"/>
              <a:t>Ei-toiminnallinen testaus</a:t>
            </a:r>
            <a:endParaRPr lang="en-US" sz="1200"/>
          </a:p>
        </p:txBody>
      </p:sp>
      <p:sp>
        <p:nvSpPr>
          <p:cNvPr id="94221" name="AutoShape 13"/>
          <p:cNvSpPr>
            <a:spLocks noChangeArrowheads="1"/>
          </p:cNvSpPr>
          <p:nvPr/>
        </p:nvSpPr>
        <p:spPr bwMode="auto">
          <a:xfrm>
            <a:off x="827088" y="2709168"/>
            <a:ext cx="3384550" cy="431800"/>
          </a:xfrm>
          <a:prstGeom prst="roundRect">
            <a:avLst>
              <a:gd name="adj" fmla="val 16667"/>
            </a:avLst>
          </a:prstGeom>
          <a:ln>
            <a:headEnd/>
            <a:tailEnd/>
          </a:ln>
        </p:spPr>
        <p:style>
          <a:lnRef idx="2">
            <a:schemeClr val="accent2"/>
          </a:lnRef>
          <a:fillRef idx="1">
            <a:schemeClr val="lt1"/>
          </a:fillRef>
          <a:effectRef idx="0">
            <a:schemeClr val="accent2"/>
          </a:effectRef>
          <a:fontRef idx="minor">
            <a:schemeClr val="dk1"/>
          </a:fontRef>
        </p:style>
        <p:txBody>
          <a:bodyPr anchor="ctr"/>
          <a:lstStyle/>
          <a:p>
            <a:pPr algn="ctr"/>
            <a:r>
              <a:rPr lang="fi-FI" sz="1200"/>
              <a:t>Käyttäjän näkökulma</a:t>
            </a:r>
            <a:endParaRPr lang="en-US" sz="1200"/>
          </a:p>
        </p:txBody>
      </p:sp>
      <p:sp>
        <p:nvSpPr>
          <p:cNvPr id="94222" name="Text Box 14"/>
          <p:cNvSpPr txBox="1">
            <a:spLocks noChangeArrowheads="1"/>
          </p:cNvSpPr>
          <p:nvPr/>
        </p:nvSpPr>
        <p:spPr bwMode="auto">
          <a:xfrm>
            <a:off x="468313" y="3860800"/>
            <a:ext cx="8142287" cy="366713"/>
          </a:xfrm>
          <a:prstGeom prst="rect">
            <a:avLst/>
          </a:prstGeom>
          <a:noFill/>
          <a:ln w="9525" algn="ctr">
            <a:noFill/>
            <a:miter lim="800000"/>
            <a:headEnd/>
            <a:tailEnd/>
          </a:ln>
          <a:effectLst/>
        </p:spPr>
        <p:txBody>
          <a:bodyPr wrap="square">
            <a:spAutoFit/>
          </a:bodyPr>
          <a:lstStyle/>
          <a:p>
            <a:pPr>
              <a:spcBef>
                <a:spcPct val="50000"/>
              </a:spcBef>
            </a:pPr>
            <a:r>
              <a:rPr lang="fi-FI" dirty="0"/>
              <a:t>MONENTASOISTA POHJAMATERIAALIA HYÖDYNNETTÄVÄNÄ</a:t>
            </a:r>
            <a:endParaRPr lang="en-US" dirty="0"/>
          </a:p>
        </p:txBody>
      </p:sp>
      <p:sp>
        <p:nvSpPr>
          <p:cNvPr id="94223" name="Text Box 15"/>
          <p:cNvSpPr txBox="1">
            <a:spLocks noChangeArrowheads="1"/>
          </p:cNvSpPr>
          <p:nvPr/>
        </p:nvSpPr>
        <p:spPr bwMode="auto">
          <a:xfrm>
            <a:off x="4499992" y="6019800"/>
            <a:ext cx="2471737" cy="307777"/>
          </a:xfrm>
          <a:prstGeom prst="rect">
            <a:avLst/>
          </a:prstGeom>
          <a:noFill/>
          <a:ln w="9525" algn="ctr">
            <a:noFill/>
            <a:miter lim="800000"/>
            <a:headEnd/>
            <a:tailEnd/>
          </a:ln>
          <a:effectLst/>
        </p:spPr>
        <p:txBody>
          <a:bodyPr wrap="square">
            <a:spAutoFit/>
          </a:bodyPr>
          <a:lstStyle/>
          <a:p>
            <a:pPr algn="ctr">
              <a:spcBef>
                <a:spcPct val="50000"/>
              </a:spcBef>
            </a:pPr>
            <a:r>
              <a:rPr lang="fi-FI" sz="1400" dirty="0"/>
              <a:t>Pienin merkitys </a:t>
            </a:r>
            <a:r>
              <a:rPr lang="fi-FI" sz="1400" u="sng" dirty="0"/>
              <a:t>hyväksynnässä</a:t>
            </a:r>
            <a:endParaRPr lang="en-US" sz="1400" u="sng" dirty="0"/>
          </a:p>
        </p:txBody>
      </p:sp>
      <p:sp>
        <p:nvSpPr>
          <p:cNvPr id="94224" name="Text Box 16"/>
          <p:cNvSpPr txBox="1">
            <a:spLocks noChangeArrowheads="1"/>
          </p:cNvSpPr>
          <p:nvPr/>
        </p:nvSpPr>
        <p:spPr bwMode="auto">
          <a:xfrm>
            <a:off x="468313" y="1485900"/>
            <a:ext cx="7704137" cy="366713"/>
          </a:xfrm>
          <a:prstGeom prst="rect">
            <a:avLst/>
          </a:prstGeom>
          <a:noFill/>
          <a:ln w="9525" algn="ctr">
            <a:noFill/>
            <a:miter lim="800000"/>
            <a:headEnd/>
            <a:tailEnd/>
          </a:ln>
          <a:effectLst/>
        </p:spPr>
        <p:txBody>
          <a:bodyPr>
            <a:spAutoFit/>
          </a:bodyPr>
          <a:lstStyle/>
          <a:p>
            <a:pPr>
              <a:spcBef>
                <a:spcPct val="50000"/>
              </a:spcBef>
            </a:pPr>
            <a:r>
              <a:rPr lang="fi-FI" dirty="0">
                <a:latin typeface="+mn-lt"/>
              </a:rPr>
              <a:t>HYVÄKSYMISTESTAUS </a:t>
            </a:r>
            <a:r>
              <a:rPr lang="fi-FI" dirty="0" smtClean="0">
                <a:latin typeface="+mn-lt"/>
              </a:rPr>
              <a:t>EI </a:t>
            </a:r>
            <a:r>
              <a:rPr lang="fi-FI" dirty="0">
                <a:latin typeface="+mn-lt"/>
              </a:rPr>
              <a:t>VAIN KÄYTTÄJÄTESTAUSTA</a:t>
            </a:r>
            <a:endParaRPr lang="en-US" dirty="0">
              <a:latin typeface="+mn-lt"/>
            </a:endParaRPr>
          </a:p>
        </p:txBody>
      </p:sp>
      <p:sp>
        <p:nvSpPr>
          <p:cNvPr id="17" name="Slide Number Placeholder 16"/>
          <p:cNvSpPr>
            <a:spLocks noGrp="1"/>
          </p:cNvSpPr>
          <p:nvPr>
            <p:ph type="sldNum" sz="quarter" idx="12"/>
          </p:nvPr>
        </p:nvSpPr>
        <p:spPr/>
        <p:txBody>
          <a:bodyPr/>
          <a:lstStyle/>
          <a:p>
            <a:fld id="{7A750B4A-325E-4AA4-BC07-A8C35B32A4F3}" type="slidenum">
              <a:rPr lang="fi-FI" smtClean="0"/>
              <a:pPr/>
              <a:t>22</a:t>
            </a:fld>
            <a:endParaRPr lang="fi-FI"/>
          </a:p>
        </p:txBody>
      </p:sp>
    </p:spTree>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Hyväksymistestaus</a:t>
            </a:r>
            <a:endParaRPr lang="fi-FI" dirty="0"/>
          </a:p>
        </p:txBody>
      </p:sp>
      <p:graphicFrame>
        <p:nvGraphicFramePr>
          <p:cNvPr id="4" name="Content Placeholder 3"/>
          <p:cNvGraphicFramePr>
            <a:graphicFrameLocks noGrp="1"/>
          </p:cNvGraphicFramePr>
          <p:nvPr>
            <p:ph idx="1"/>
          </p:nvPr>
        </p:nvGraphicFramePr>
        <p:xfrm>
          <a:off x="457200" y="1357298"/>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4"/>
          <p:cNvSpPr>
            <a:spLocks noGrp="1"/>
          </p:cNvSpPr>
          <p:nvPr>
            <p:ph type="sldNum" sz="quarter" idx="12"/>
          </p:nvPr>
        </p:nvSpPr>
        <p:spPr/>
        <p:txBody>
          <a:bodyPr/>
          <a:lstStyle/>
          <a:p>
            <a:fld id="{7A750B4A-325E-4AA4-BC07-A8C35B32A4F3}" type="slidenum">
              <a:rPr lang="fi-FI" smtClean="0"/>
              <a:pPr/>
              <a:t>23</a:t>
            </a:fld>
            <a:endParaRPr lang="fi-FI"/>
          </a:p>
        </p:txBody>
      </p:sp>
    </p:spTree>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fontScale="90000"/>
          </a:bodyPr>
          <a:lstStyle/>
          <a:p>
            <a:r>
              <a:rPr lang="en-US" dirty="0" smtClean="0"/>
              <a:t>WHY do testers look both ways when crossing a one-way street?</a:t>
            </a:r>
            <a:endParaRPr lang="fi-FI" dirty="0"/>
          </a:p>
        </p:txBody>
      </p:sp>
      <p:sp>
        <p:nvSpPr>
          <p:cNvPr id="8" name="Content Placeholder 7"/>
          <p:cNvSpPr>
            <a:spLocks noGrp="1"/>
          </p:cNvSpPr>
          <p:nvPr>
            <p:ph idx="1"/>
          </p:nvPr>
        </p:nvSpPr>
        <p:spPr/>
        <p:txBody>
          <a:bodyPr>
            <a:noAutofit/>
          </a:bodyPr>
          <a:lstStyle/>
          <a:p>
            <a:r>
              <a:rPr lang="en-US" sz="2800" dirty="0" smtClean="0"/>
              <a:t>It may be one-way on this corner, two ways on that corner.</a:t>
            </a:r>
          </a:p>
          <a:p>
            <a:r>
              <a:rPr lang="en-US" sz="2800" dirty="0" smtClean="0"/>
              <a:t>You may only *think* it's a one-way street.</a:t>
            </a:r>
          </a:p>
          <a:p>
            <a:r>
              <a:rPr lang="en-US" sz="2800" dirty="0" smtClean="0"/>
              <a:t>Someone might be backing up</a:t>
            </a:r>
          </a:p>
          <a:p>
            <a:r>
              <a:rPr lang="en-US" sz="2800" dirty="0" smtClean="0"/>
              <a:t>Ears don't warn you when a bicycle is coming the wrong way.</a:t>
            </a:r>
          </a:p>
          <a:p>
            <a:r>
              <a:rPr lang="en-US" sz="2800" dirty="0" smtClean="0"/>
              <a:t>They realize people can be fooled by preconceptions. </a:t>
            </a:r>
            <a:endParaRPr lang="fi-FI" dirty="0" smtClean="0"/>
          </a:p>
          <a:p>
            <a:r>
              <a:rPr lang="en-US" sz="2800" dirty="0" smtClean="0"/>
              <a:t>When helping someone, you've extra duty to seek </a:t>
            </a:r>
            <a:r>
              <a:rPr lang="en-US" sz="2800" dirty="0" err="1" smtClean="0"/>
              <a:t>improbables</a:t>
            </a:r>
            <a:r>
              <a:rPr lang="en-US" sz="2800" dirty="0" smtClean="0"/>
              <a:t>.</a:t>
            </a:r>
          </a:p>
        </p:txBody>
      </p:sp>
      <p:sp>
        <p:nvSpPr>
          <p:cNvPr id="9" name="TextBox 8"/>
          <p:cNvSpPr txBox="1"/>
          <p:nvPr/>
        </p:nvSpPr>
        <p:spPr>
          <a:xfrm>
            <a:off x="4139952" y="6372036"/>
            <a:ext cx="4968552" cy="369332"/>
          </a:xfrm>
          <a:prstGeom prst="rect">
            <a:avLst/>
          </a:prstGeom>
          <a:noFill/>
        </p:spPr>
        <p:txBody>
          <a:bodyPr wrap="square" rtlCol="0">
            <a:spAutoFit/>
          </a:bodyPr>
          <a:lstStyle/>
          <a:p>
            <a:pPr algn="r"/>
            <a:r>
              <a:rPr lang="fi-FI" dirty="0" smtClean="0"/>
              <a:t>Source: Various tweets by testers in 2010. </a:t>
            </a:r>
            <a:endParaRPr lang="fi-FI" dirty="0"/>
          </a:p>
        </p:txBody>
      </p:sp>
      <p:sp>
        <p:nvSpPr>
          <p:cNvPr id="5" name="Slide Number Placeholder 4"/>
          <p:cNvSpPr>
            <a:spLocks noGrp="1"/>
          </p:cNvSpPr>
          <p:nvPr>
            <p:ph type="sldNum" sz="quarter" idx="12"/>
          </p:nvPr>
        </p:nvSpPr>
        <p:spPr/>
        <p:txBody>
          <a:bodyPr/>
          <a:lstStyle/>
          <a:p>
            <a:fld id="{1FC54B03-E980-44E0-A0F1-6CAD9D10ECFB}" type="slidenum">
              <a:rPr lang="fi-FI" smtClean="0"/>
              <a:pPr/>
              <a:t>24</a:t>
            </a:fld>
            <a:endParaRPr lang="fi-FI"/>
          </a:p>
        </p:txBody>
      </p:sp>
    </p:spTree>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fi-FI" dirty="0" smtClean="0"/>
              <a:t>Hyväksymistestaus ketterissä menetelmissä</a:t>
            </a:r>
            <a:endParaRPr lang="fi-FI" dirty="0"/>
          </a:p>
        </p:txBody>
      </p:sp>
      <p:sp>
        <p:nvSpPr>
          <p:cNvPr id="6" name="Text Placeholder 5"/>
          <p:cNvSpPr>
            <a:spLocks noGrp="1"/>
          </p:cNvSpPr>
          <p:nvPr>
            <p:ph type="body" idx="1"/>
          </p:nvPr>
        </p:nvSpPr>
        <p:spPr/>
        <p:txBody>
          <a:bodyPr/>
          <a:lstStyle/>
          <a:p>
            <a:r>
              <a:rPr lang="fi-FI" dirty="0" smtClean="0"/>
              <a:t>Kun samoja sanoja käytetään hieman eri merkityksessä... </a:t>
            </a:r>
            <a:endParaRPr lang="fi-FI" dirty="0"/>
          </a:p>
        </p:txBody>
      </p:sp>
      <p:sp>
        <p:nvSpPr>
          <p:cNvPr id="4" name="Slide Number Placeholder 3"/>
          <p:cNvSpPr>
            <a:spLocks noGrp="1"/>
          </p:cNvSpPr>
          <p:nvPr>
            <p:ph type="sldNum" sz="quarter" idx="12"/>
          </p:nvPr>
        </p:nvSpPr>
        <p:spPr/>
        <p:txBody>
          <a:bodyPr/>
          <a:lstStyle/>
          <a:p>
            <a:fld id="{1FC54B03-E980-44E0-A0F1-6CAD9D10ECFB}" type="slidenum">
              <a:rPr lang="fi-FI" smtClean="0"/>
              <a:pPr/>
              <a:t>25</a:t>
            </a:fld>
            <a:endParaRPr lang="fi-FI"/>
          </a:p>
        </p:txBody>
      </p:sp>
    </p:spTree>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pPr lvl="0"/>
            <a:r>
              <a:rPr lang="fi-FI" dirty="0" smtClean="0"/>
              <a:t>Hyväksymistestauksen erilainen merkitys ketterissä menetelmissä</a:t>
            </a:r>
            <a:endParaRPr lang="fi-FI" dirty="0"/>
          </a:p>
        </p:txBody>
      </p:sp>
      <p:sp>
        <p:nvSpPr>
          <p:cNvPr id="4" name="Content Placeholder 3"/>
          <p:cNvSpPr>
            <a:spLocks noGrp="1"/>
          </p:cNvSpPr>
          <p:nvPr>
            <p:ph idx="1"/>
          </p:nvPr>
        </p:nvSpPr>
        <p:spPr/>
        <p:txBody>
          <a:bodyPr>
            <a:normAutofit fontScale="70000" lnSpcReduction="20000"/>
          </a:bodyPr>
          <a:lstStyle/>
          <a:p>
            <a:r>
              <a:rPr lang="fi-FI" dirty="0" smtClean="0"/>
              <a:t>Perinteisesti:</a:t>
            </a:r>
          </a:p>
          <a:p>
            <a:pPr lvl="1"/>
            <a:r>
              <a:rPr lang="fi-FI" dirty="0" smtClean="0"/>
              <a:t>Yksikkötestaus</a:t>
            </a:r>
          </a:p>
          <a:p>
            <a:pPr lvl="2"/>
            <a:r>
              <a:rPr lang="fi-FI" dirty="0" smtClean="0"/>
              <a:t>Koodi on yksikkö</a:t>
            </a:r>
          </a:p>
          <a:p>
            <a:pPr lvl="2"/>
            <a:r>
              <a:rPr lang="fi-FI" dirty="0" smtClean="0"/>
              <a:t>Jokaisella koodipalalla on omistaja, palan testaaminen muista irrallaan on yksikkötestausta</a:t>
            </a:r>
          </a:p>
          <a:p>
            <a:pPr lvl="1"/>
            <a:r>
              <a:rPr lang="fi-FI" dirty="0" smtClean="0"/>
              <a:t>Hyväksymistestaus</a:t>
            </a:r>
          </a:p>
          <a:p>
            <a:pPr lvl="2"/>
            <a:r>
              <a:rPr lang="fi-FI" dirty="0" smtClean="0"/>
              <a:t>Jotain mitä asiakas tekee projektin lopuksi</a:t>
            </a:r>
            <a:endParaRPr lang="fi-FI" dirty="0"/>
          </a:p>
          <a:p>
            <a:r>
              <a:rPr lang="fi-FI" dirty="0" smtClean="0"/>
              <a:t>Ketterissä menetelmissä:</a:t>
            </a:r>
          </a:p>
          <a:p>
            <a:pPr lvl="1"/>
            <a:r>
              <a:rPr lang="fi-FI" dirty="0" smtClean="0"/>
              <a:t>Yksikkötestaus</a:t>
            </a:r>
          </a:p>
          <a:p>
            <a:pPr lvl="2"/>
            <a:r>
              <a:rPr lang="fi-FI" dirty="0" smtClean="0"/>
              <a:t>Yksikkö on toiminnallisuus joka koodiin toteutetaan</a:t>
            </a:r>
          </a:p>
          <a:p>
            <a:pPr lvl="2"/>
            <a:r>
              <a:rPr lang="fi-FI" dirty="0" smtClean="0"/>
              <a:t>Yhteisen koodiomistajuuden mukaantulo mahdollistaa yksiköiden laajemman ajattelun</a:t>
            </a:r>
          </a:p>
          <a:p>
            <a:pPr lvl="1"/>
            <a:r>
              <a:rPr lang="fi-FI" dirty="0" smtClean="0"/>
              <a:t>Hyväksymistestaus</a:t>
            </a:r>
          </a:p>
          <a:p>
            <a:pPr lvl="2"/>
            <a:r>
              <a:rPr lang="fi-FI" dirty="0" smtClean="0"/>
              <a:t>Mikä tahansa korkeamman tason testi järjestelmälle</a:t>
            </a:r>
          </a:p>
          <a:p>
            <a:pPr lvl="2"/>
            <a:r>
              <a:rPr lang="fi-FI" dirty="0" smtClean="0"/>
              <a:t>Jatkuva hyväksyntä julkaisua varten ideana</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26</a:t>
            </a:fld>
            <a:endParaRPr lang="en-US"/>
          </a:p>
        </p:txBody>
      </p:sp>
      <p:sp>
        <p:nvSpPr>
          <p:cNvPr id="6" name="TextBox 5"/>
          <p:cNvSpPr txBox="1"/>
          <p:nvPr/>
        </p:nvSpPr>
        <p:spPr>
          <a:xfrm>
            <a:off x="6786578" y="4786322"/>
            <a:ext cx="2214578" cy="147732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lang="fi-FI" dirty="0" smtClean="0"/>
              <a:t>Asiakashyväksynnän voi rytmittää jokaiseen inkrementtiin tai sovituin väliajoin. </a:t>
            </a:r>
            <a:endParaRPr lang="fi-FI" dirty="0"/>
          </a:p>
        </p:txBody>
      </p:sp>
    </p:spTree>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Hyväksymistestiohjattu kehitystapa </a:t>
            </a:r>
            <a:br>
              <a:rPr lang="fi-FI" dirty="0" smtClean="0"/>
            </a:br>
            <a:r>
              <a:rPr lang="fi-FI" sz="2700" dirty="0" smtClean="0"/>
              <a:t>(ATDD = Acceptance Test –driven Development)</a:t>
            </a:r>
            <a:endParaRPr lang="fi-FI" sz="2700" dirty="0"/>
          </a:p>
        </p:txBody>
      </p:sp>
      <p:grpSp>
        <p:nvGrpSpPr>
          <p:cNvPr id="3" name="Group 24"/>
          <p:cNvGrpSpPr/>
          <p:nvPr/>
        </p:nvGrpSpPr>
        <p:grpSpPr>
          <a:xfrm>
            <a:off x="381000" y="1752600"/>
            <a:ext cx="5257800" cy="3505200"/>
            <a:chOff x="1330569" y="1905000"/>
            <a:chExt cx="6594231" cy="3505200"/>
          </a:xfrm>
        </p:grpSpPr>
        <p:sp>
          <p:nvSpPr>
            <p:cNvPr id="16" name="Freeform 15"/>
            <p:cNvSpPr/>
            <p:nvPr/>
          </p:nvSpPr>
          <p:spPr>
            <a:xfrm>
              <a:off x="1330569" y="1977292"/>
              <a:ext cx="6594231" cy="3432908"/>
            </a:xfrm>
            <a:custGeom>
              <a:avLst/>
              <a:gdLst>
                <a:gd name="connsiteX0" fmla="*/ 3077308 w 5169877"/>
                <a:gd name="connsiteY0" fmla="*/ 859693 h 3212124"/>
                <a:gd name="connsiteX1" fmla="*/ 1424354 w 5169877"/>
                <a:gd name="connsiteY1" fmla="*/ 50800 h 3212124"/>
                <a:gd name="connsiteX2" fmla="*/ 76200 w 5169877"/>
                <a:gd name="connsiteY2" fmla="*/ 1164493 h 3212124"/>
                <a:gd name="connsiteX3" fmla="*/ 967154 w 5169877"/>
                <a:gd name="connsiteY3" fmla="*/ 2993293 h 3212124"/>
                <a:gd name="connsiteX4" fmla="*/ 2397369 w 5169877"/>
                <a:gd name="connsiteY4" fmla="*/ 2477477 h 3212124"/>
                <a:gd name="connsiteX5" fmla="*/ 3311769 w 5169877"/>
                <a:gd name="connsiteY5" fmla="*/ 3098800 h 3212124"/>
                <a:gd name="connsiteX6" fmla="*/ 4273062 w 5169877"/>
                <a:gd name="connsiteY6" fmla="*/ 2512646 h 3212124"/>
                <a:gd name="connsiteX7" fmla="*/ 5105400 w 5169877"/>
                <a:gd name="connsiteY7" fmla="*/ 1762370 h 3212124"/>
                <a:gd name="connsiteX8" fmla="*/ 3886200 w 5169877"/>
                <a:gd name="connsiteY8" fmla="*/ 765908 h 3212124"/>
                <a:gd name="connsiteX9" fmla="*/ 3077308 w 5169877"/>
                <a:gd name="connsiteY9" fmla="*/ 859693 h 321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69877" h="3212124">
                  <a:moveTo>
                    <a:pt x="3077308" y="859693"/>
                  </a:moveTo>
                  <a:cubicBezTo>
                    <a:pt x="2667001" y="740508"/>
                    <a:pt x="1924539" y="0"/>
                    <a:pt x="1424354" y="50800"/>
                  </a:cubicBezTo>
                  <a:cubicBezTo>
                    <a:pt x="924169" y="101600"/>
                    <a:pt x="152400" y="674078"/>
                    <a:pt x="76200" y="1164493"/>
                  </a:cubicBezTo>
                  <a:cubicBezTo>
                    <a:pt x="0" y="1654909"/>
                    <a:pt x="580293" y="2774462"/>
                    <a:pt x="967154" y="2993293"/>
                  </a:cubicBezTo>
                  <a:cubicBezTo>
                    <a:pt x="1354015" y="3212124"/>
                    <a:pt x="2006600" y="2459893"/>
                    <a:pt x="2397369" y="2477477"/>
                  </a:cubicBezTo>
                  <a:cubicBezTo>
                    <a:pt x="2788138" y="2495061"/>
                    <a:pt x="2999154" y="3092939"/>
                    <a:pt x="3311769" y="3098800"/>
                  </a:cubicBezTo>
                  <a:cubicBezTo>
                    <a:pt x="3624384" y="3104661"/>
                    <a:pt x="3974124" y="2735384"/>
                    <a:pt x="4273062" y="2512646"/>
                  </a:cubicBezTo>
                  <a:cubicBezTo>
                    <a:pt x="4572000" y="2289908"/>
                    <a:pt x="5169877" y="2053493"/>
                    <a:pt x="5105400" y="1762370"/>
                  </a:cubicBezTo>
                  <a:cubicBezTo>
                    <a:pt x="5040923" y="1471247"/>
                    <a:pt x="4226169" y="916354"/>
                    <a:pt x="3886200" y="765908"/>
                  </a:cubicBezTo>
                  <a:cubicBezTo>
                    <a:pt x="3546231" y="615462"/>
                    <a:pt x="3487615" y="978878"/>
                    <a:pt x="3077308" y="859693"/>
                  </a:cubicBezTo>
                  <a:close/>
                </a:path>
              </a:pathLst>
            </a:custGeom>
            <a:ln w="76200">
              <a:prstDash val="sysDot"/>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fi-FI"/>
            </a:p>
          </p:txBody>
        </p:sp>
        <p:sp>
          <p:nvSpPr>
            <p:cNvPr id="4" name="Rectangle 3"/>
            <p:cNvSpPr/>
            <p:nvPr/>
          </p:nvSpPr>
          <p:spPr>
            <a:xfrm>
              <a:off x="1600200" y="2667000"/>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5" name="Rectangle 4"/>
            <p:cNvSpPr/>
            <p:nvPr/>
          </p:nvSpPr>
          <p:spPr>
            <a:xfrm>
              <a:off x="1371600" y="3581400"/>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6" name="Rectangle 5"/>
            <p:cNvSpPr/>
            <p:nvPr/>
          </p:nvSpPr>
          <p:spPr>
            <a:xfrm>
              <a:off x="2362200" y="2133600"/>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7" name="Rectangle 6"/>
            <p:cNvSpPr/>
            <p:nvPr/>
          </p:nvSpPr>
          <p:spPr>
            <a:xfrm>
              <a:off x="4038600" y="2209800"/>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8" name="Rectangle 7"/>
            <p:cNvSpPr/>
            <p:nvPr/>
          </p:nvSpPr>
          <p:spPr>
            <a:xfrm>
              <a:off x="1981200" y="4724400"/>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9" name="Rectangle 8"/>
            <p:cNvSpPr/>
            <p:nvPr/>
          </p:nvSpPr>
          <p:spPr>
            <a:xfrm>
              <a:off x="4800600" y="4800600"/>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10" name="Rectangle 9"/>
            <p:cNvSpPr/>
            <p:nvPr/>
          </p:nvSpPr>
          <p:spPr>
            <a:xfrm>
              <a:off x="3886200" y="4572000"/>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11" name="Rectangle 10"/>
            <p:cNvSpPr/>
            <p:nvPr/>
          </p:nvSpPr>
          <p:spPr>
            <a:xfrm>
              <a:off x="5029200" y="2743200"/>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12" name="Rectangle 11"/>
            <p:cNvSpPr/>
            <p:nvPr/>
          </p:nvSpPr>
          <p:spPr>
            <a:xfrm>
              <a:off x="7467600" y="3429000"/>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13" name="Rectangle 12"/>
            <p:cNvSpPr/>
            <p:nvPr/>
          </p:nvSpPr>
          <p:spPr>
            <a:xfrm>
              <a:off x="6705600" y="2971800"/>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14" name="Rectangle 13"/>
            <p:cNvSpPr/>
            <p:nvPr/>
          </p:nvSpPr>
          <p:spPr>
            <a:xfrm>
              <a:off x="7391400" y="4191000"/>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17" name="Rectangle 16"/>
            <p:cNvSpPr/>
            <p:nvPr/>
          </p:nvSpPr>
          <p:spPr>
            <a:xfrm>
              <a:off x="2667000" y="5105400"/>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18" name="Rectangle 17"/>
            <p:cNvSpPr/>
            <p:nvPr/>
          </p:nvSpPr>
          <p:spPr>
            <a:xfrm>
              <a:off x="6705600" y="4572000"/>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19" name="Rectangle 18"/>
            <p:cNvSpPr/>
            <p:nvPr/>
          </p:nvSpPr>
          <p:spPr>
            <a:xfrm>
              <a:off x="6172200" y="4876800"/>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20" name="Rectangle 19"/>
            <p:cNvSpPr/>
            <p:nvPr/>
          </p:nvSpPr>
          <p:spPr>
            <a:xfrm>
              <a:off x="5715000" y="5105400"/>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21" name="Rectangle 20"/>
            <p:cNvSpPr/>
            <p:nvPr/>
          </p:nvSpPr>
          <p:spPr>
            <a:xfrm>
              <a:off x="3276600" y="4953000"/>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22" name="Rectangle 21"/>
            <p:cNvSpPr/>
            <p:nvPr/>
          </p:nvSpPr>
          <p:spPr>
            <a:xfrm>
              <a:off x="1676400" y="4191000"/>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23" name="Rectangle 22"/>
            <p:cNvSpPr/>
            <p:nvPr/>
          </p:nvSpPr>
          <p:spPr>
            <a:xfrm>
              <a:off x="5943600" y="2667000"/>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24" name="Rectangle 23"/>
            <p:cNvSpPr/>
            <p:nvPr/>
          </p:nvSpPr>
          <p:spPr>
            <a:xfrm>
              <a:off x="3048000" y="1905000"/>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grpSp>
      <p:sp>
        <p:nvSpPr>
          <p:cNvPr id="26" name="Rectangle 25"/>
          <p:cNvSpPr/>
          <p:nvPr/>
        </p:nvSpPr>
        <p:spPr>
          <a:xfrm>
            <a:off x="3124200" y="1524000"/>
            <a:ext cx="18227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27" name="TextBox 26"/>
          <p:cNvSpPr txBox="1"/>
          <p:nvPr/>
        </p:nvSpPr>
        <p:spPr>
          <a:xfrm>
            <a:off x="3276600" y="1447800"/>
            <a:ext cx="1828800" cy="369332"/>
          </a:xfrm>
          <a:prstGeom prst="rect">
            <a:avLst/>
          </a:prstGeom>
          <a:noFill/>
        </p:spPr>
        <p:txBody>
          <a:bodyPr wrap="square" rtlCol="0">
            <a:spAutoFit/>
          </a:bodyPr>
          <a:lstStyle/>
          <a:p>
            <a:r>
              <a:rPr lang="fi-FI" dirty="0" smtClean="0"/>
              <a:t>Esimerkki</a:t>
            </a:r>
            <a:endParaRPr lang="fi-FI" dirty="0"/>
          </a:p>
        </p:txBody>
      </p:sp>
      <p:sp>
        <p:nvSpPr>
          <p:cNvPr id="28" name="TextBox 27"/>
          <p:cNvSpPr txBox="1"/>
          <p:nvPr/>
        </p:nvSpPr>
        <p:spPr>
          <a:xfrm>
            <a:off x="5791200" y="1676400"/>
            <a:ext cx="3276600" cy="4524315"/>
          </a:xfrm>
          <a:prstGeom prst="rect">
            <a:avLst/>
          </a:prstGeom>
          <a:noFill/>
        </p:spPr>
        <p:txBody>
          <a:bodyPr wrap="square" rtlCol="0">
            <a:spAutoFit/>
          </a:bodyPr>
          <a:lstStyle/>
          <a:p>
            <a:r>
              <a:rPr lang="fi-FI" dirty="0" smtClean="0"/>
              <a:t>Monta nimeä:</a:t>
            </a:r>
          </a:p>
          <a:p>
            <a:pPr>
              <a:buFont typeface="Arial" pitchFamily="34" charset="0"/>
              <a:buChar char="•"/>
            </a:pPr>
            <a:r>
              <a:rPr lang="fi-FI" dirty="0" smtClean="0"/>
              <a:t>Specification by Example</a:t>
            </a:r>
          </a:p>
          <a:p>
            <a:pPr>
              <a:buFont typeface="Arial" pitchFamily="34" charset="0"/>
              <a:buChar char="•"/>
            </a:pPr>
            <a:r>
              <a:rPr lang="fi-FI" dirty="0" smtClean="0"/>
              <a:t>Executable Requirements</a:t>
            </a:r>
          </a:p>
          <a:p>
            <a:pPr>
              <a:buFont typeface="Arial" pitchFamily="34" charset="0"/>
              <a:buChar char="•"/>
            </a:pPr>
            <a:r>
              <a:rPr lang="fi-FI" dirty="0" smtClean="0"/>
              <a:t>Behavior-Driven Development</a:t>
            </a:r>
          </a:p>
          <a:p>
            <a:endParaRPr lang="fi-FI" dirty="0" smtClean="0"/>
          </a:p>
          <a:p>
            <a:r>
              <a:rPr lang="fi-FI" dirty="0" smtClean="0"/>
              <a:t>Perusidea:</a:t>
            </a:r>
          </a:p>
          <a:p>
            <a:r>
              <a:rPr lang="fi-FI" dirty="0" smtClean="0"/>
              <a:t>Vaatimukset (tarinat) tarkennetaan määrämuotoisilla esimerkeillä, jotka automatisoidaan toteutuksen rinnalla. </a:t>
            </a:r>
          </a:p>
          <a:p>
            <a:endParaRPr lang="fi-FI" dirty="0" smtClean="0"/>
          </a:p>
          <a:p>
            <a:r>
              <a:rPr lang="fi-FI" dirty="0" smtClean="0"/>
              <a:t>Asiakas on kriittinen esimerkkien tuottamisessa. Sen sijaan niiden automatisointi testeiksi voi hoitua toimittajan puolesta. </a:t>
            </a:r>
            <a:endParaRPr lang="fi-FI" dirty="0"/>
          </a:p>
        </p:txBody>
      </p:sp>
      <p:sp>
        <p:nvSpPr>
          <p:cNvPr id="29" name="Slide Number Placeholder 28"/>
          <p:cNvSpPr>
            <a:spLocks noGrp="1"/>
          </p:cNvSpPr>
          <p:nvPr>
            <p:ph type="sldNum" sz="quarter" idx="12"/>
          </p:nvPr>
        </p:nvSpPr>
        <p:spPr/>
        <p:txBody>
          <a:bodyPr/>
          <a:lstStyle/>
          <a:p>
            <a:fld id="{1FC54B03-E980-44E0-A0F1-6CAD9D10ECFB}" type="slidenum">
              <a:rPr lang="fi-FI" smtClean="0"/>
              <a:pPr/>
              <a:t>27</a:t>
            </a:fld>
            <a:endParaRPr lang="fi-FI"/>
          </a:p>
        </p:txBody>
      </p:sp>
    </p:spTree>
  </p:cSld>
  <p:clrMapOvr>
    <a:masterClrMapping/>
  </p:clrMapOvr>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fi-FI" dirty="0" smtClean="0"/>
              <a:t>Hyväksymistestaus vs. toimittajan tekemä testaus</a:t>
            </a:r>
            <a:endParaRPr lang="fi-FI" dirty="0"/>
          </a:p>
        </p:txBody>
      </p:sp>
      <p:sp>
        <p:nvSpPr>
          <p:cNvPr id="6" name="Text Placeholder 5"/>
          <p:cNvSpPr>
            <a:spLocks noGrp="1"/>
          </p:cNvSpPr>
          <p:nvPr>
            <p:ph type="body" idx="1"/>
          </p:nvPr>
        </p:nvSpPr>
        <p:spPr/>
        <p:txBody>
          <a:bodyPr/>
          <a:lstStyle/>
          <a:p>
            <a:r>
              <a:rPr lang="fi-FI" dirty="0" smtClean="0"/>
              <a:t>Kokonaiskuva</a:t>
            </a:r>
            <a:endParaRPr lang="fi-FI" dirty="0"/>
          </a:p>
        </p:txBody>
      </p:sp>
      <p:sp>
        <p:nvSpPr>
          <p:cNvPr id="4" name="Slide Number Placeholder 3"/>
          <p:cNvSpPr>
            <a:spLocks noGrp="1"/>
          </p:cNvSpPr>
          <p:nvPr>
            <p:ph type="sldNum" sz="quarter" idx="12"/>
          </p:nvPr>
        </p:nvSpPr>
        <p:spPr/>
        <p:txBody>
          <a:bodyPr/>
          <a:lstStyle/>
          <a:p>
            <a:fld id="{1FC54B03-E980-44E0-A0F1-6CAD9D10ECFB}" type="slidenum">
              <a:rPr lang="fi-FI" smtClean="0"/>
              <a:pPr/>
              <a:t>28</a:t>
            </a:fld>
            <a:endParaRPr lang="fi-FI"/>
          </a:p>
        </p:txBody>
      </p:sp>
    </p:spTree>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Kun mukana on useita organisaatioita...</a:t>
            </a:r>
            <a:endParaRPr lang="en-US" dirty="0"/>
          </a:p>
        </p:txBody>
      </p:sp>
      <p:grpSp>
        <p:nvGrpSpPr>
          <p:cNvPr id="5" name="Group 4"/>
          <p:cNvGrpSpPr/>
          <p:nvPr/>
        </p:nvGrpSpPr>
        <p:grpSpPr>
          <a:xfrm>
            <a:off x="142844" y="2143116"/>
            <a:ext cx="6715172" cy="4000528"/>
            <a:chOff x="1500166" y="2500306"/>
            <a:chExt cx="4643470" cy="3286148"/>
          </a:xfrm>
        </p:grpSpPr>
        <p:sp>
          <p:nvSpPr>
            <p:cNvPr id="3" name="Right Triangle 2"/>
            <p:cNvSpPr/>
            <p:nvPr/>
          </p:nvSpPr>
          <p:spPr>
            <a:xfrm>
              <a:off x="1500166" y="2500306"/>
              <a:ext cx="4643470" cy="3286148"/>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ight Triangle 3"/>
            <p:cNvSpPr/>
            <p:nvPr/>
          </p:nvSpPr>
          <p:spPr>
            <a:xfrm flipH="1" flipV="1">
              <a:off x="1500166" y="2500306"/>
              <a:ext cx="4643470" cy="3286148"/>
            </a:xfrm>
            <a:prstGeom prst="rtTriangl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grpSp>
      <p:sp>
        <p:nvSpPr>
          <p:cNvPr id="6" name="TextBox 5"/>
          <p:cNvSpPr txBox="1"/>
          <p:nvPr/>
        </p:nvSpPr>
        <p:spPr>
          <a:xfrm>
            <a:off x="2571736" y="2214554"/>
            <a:ext cx="3357586" cy="923330"/>
          </a:xfrm>
          <a:prstGeom prst="rect">
            <a:avLst/>
          </a:prstGeom>
          <a:noFill/>
        </p:spPr>
        <p:txBody>
          <a:bodyPr wrap="square" rtlCol="0">
            <a:spAutoFit/>
          </a:bodyPr>
          <a:lstStyle/>
          <a:p>
            <a:r>
              <a:rPr lang="fi-FI" b="1" dirty="0" smtClean="0">
                <a:solidFill>
                  <a:schemeClr val="bg1"/>
                </a:solidFill>
              </a:rPr>
              <a:t>Järjestelmään ja palveluun julkisesti liitettävä organisaatio</a:t>
            </a:r>
          </a:p>
          <a:p>
            <a:r>
              <a:rPr lang="fi-FI" b="1" dirty="0" smtClean="0">
                <a:solidFill>
                  <a:schemeClr val="bg1"/>
                </a:solidFill>
              </a:rPr>
              <a:t>”Asiakas”</a:t>
            </a:r>
            <a:endParaRPr lang="en-US" b="1" dirty="0">
              <a:solidFill>
                <a:schemeClr val="bg1"/>
              </a:solidFill>
            </a:endParaRPr>
          </a:p>
        </p:txBody>
      </p:sp>
      <p:sp>
        <p:nvSpPr>
          <p:cNvPr id="7" name="TextBox 6"/>
          <p:cNvSpPr txBox="1"/>
          <p:nvPr/>
        </p:nvSpPr>
        <p:spPr>
          <a:xfrm>
            <a:off x="857224" y="4871877"/>
            <a:ext cx="3357586" cy="1200329"/>
          </a:xfrm>
          <a:prstGeom prst="rect">
            <a:avLst/>
          </a:prstGeom>
          <a:noFill/>
        </p:spPr>
        <p:txBody>
          <a:bodyPr wrap="square" rtlCol="0">
            <a:spAutoFit/>
          </a:bodyPr>
          <a:lstStyle/>
          <a:p>
            <a:r>
              <a:rPr lang="fi-FI" b="1" dirty="0" smtClean="0">
                <a:solidFill>
                  <a:schemeClr val="bg1"/>
                </a:solidFill>
              </a:rPr>
              <a:t>Järjestelmään ja palveluun taustalla toteutuksen osalta liittyvä organisaatio</a:t>
            </a:r>
          </a:p>
          <a:p>
            <a:r>
              <a:rPr lang="fi-FI" b="1" dirty="0" smtClean="0">
                <a:solidFill>
                  <a:schemeClr val="bg1"/>
                </a:solidFill>
              </a:rPr>
              <a:t>”Toimittaja”</a:t>
            </a:r>
            <a:endParaRPr lang="en-US" b="1" dirty="0">
              <a:solidFill>
                <a:schemeClr val="bg1"/>
              </a:solidFill>
            </a:endParaRPr>
          </a:p>
        </p:txBody>
      </p:sp>
      <p:sp>
        <p:nvSpPr>
          <p:cNvPr id="8" name="Rectangle 7"/>
          <p:cNvSpPr/>
          <p:nvPr/>
        </p:nvSpPr>
        <p:spPr>
          <a:xfrm>
            <a:off x="4929190" y="3357562"/>
            <a:ext cx="1643074" cy="142876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fi-FI" b="1" dirty="0" smtClean="0"/>
              <a:t>Roolina hyväksyntä</a:t>
            </a:r>
            <a:endParaRPr lang="en-US" b="1" dirty="0"/>
          </a:p>
        </p:txBody>
      </p:sp>
      <p:sp>
        <p:nvSpPr>
          <p:cNvPr id="9" name="Rectangle 8"/>
          <p:cNvSpPr/>
          <p:nvPr/>
        </p:nvSpPr>
        <p:spPr>
          <a:xfrm>
            <a:off x="357158" y="3357562"/>
            <a:ext cx="1643074" cy="142876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fi-FI" b="1" dirty="0" smtClean="0"/>
              <a:t>Roolina laadukas toteutus</a:t>
            </a:r>
            <a:endParaRPr lang="en-US" b="1" dirty="0"/>
          </a:p>
        </p:txBody>
      </p:sp>
      <p:sp>
        <p:nvSpPr>
          <p:cNvPr id="10" name="Rectangle 9"/>
          <p:cNvSpPr/>
          <p:nvPr/>
        </p:nvSpPr>
        <p:spPr>
          <a:xfrm>
            <a:off x="7072330" y="2571744"/>
            <a:ext cx="1928826" cy="3286148"/>
          </a:xfrm>
          <a:prstGeom prst="rect">
            <a:avLst/>
          </a:prstGeom>
          <a:effectLst>
            <a:innerShdw blurRad="63500" dist="50800" dir="16200000">
              <a:prstClr val="black">
                <a:alpha val="50000"/>
              </a:prstClr>
            </a:innerShdw>
          </a:effectLst>
        </p:spPr>
        <p:style>
          <a:lnRef idx="1">
            <a:schemeClr val="accent3"/>
          </a:lnRef>
          <a:fillRef idx="2">
            <a:schemeClr val="accent3"/>
          </a:fillRef>
          <a:effectRef idx="1">
            <a:schemeClr val="accent3"/>
          </a:effectRef>
          <a:fontRef idx="minor">
            <a:schemeClr val="dk1"/>
          </a:fontRef>
        </p:style>
        <p:txBody>
          <a:bodyPr rtlCol="0" anchor="ctr"/>
          <a:lstStyle/>
          <a:p>
            <a:pPr algn="ctr"/>
            <a:r>
              <a:rPr lang="fi-FI" b="1" dirty="0" smtClean="0"/>
              <a:t>Hyväksymis-testaus ja järjestelmä-testaus tekemisen kannalta vastaavia, mutta näkökulmiltaan eroavia. </a:t>
            </a:r>
            <a:endParaRPr lang="en-US" b="1" dirty="0"/>
          </a:p>
        </p:txBody>
      </p:sp>
      <p:sp>
        <p:nvSpPr>
          <p:cNvPr id="11" name="Slide Number Placeholder 10"/>
          <p:cNvSpPr>
            <a:spLocks noGrp="1"/>
          </p:cNvSpPr>
          <p:nvPr>
            <p:ph type="sldNum" sz="quarter" idx="12"/>
          </p:nvPr>
        </p:nvSpPr>
        <p:spPr/>
        <p:txBody>
          <a:bodyPr/>
          <a:lstStyle/>
          <a:p>
            <a:fld id="{6EC9AE22-300D-474E-8332-298EA3086E64}" type="slidenum">
              <a:rPr lang="en-US" smtClean="0"/>
              <a:pPr/>
              <a:t>29</a:t>
            </a:fld>
            <a:endParaRPr lang="en-US"/>
          </a:p>
        </p:txBody>
      </p:sp>
    </p:spTree>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Hyväksymistestauksen erityispiirteistä</a:t>
            </a:r>
            <a:br>
              <a:rPr lang="fi-FI" dirty="0" smtClean="0"/>
            </a:br>
            <a:r>
              <a:rPr lang="fi-FI" dirty="0" smtClean="0">
                <a:solidFill>
                  <a:srgbClr val="FF0000"/>
                </a:solidFill>
              </a:rPr>
              <a:t>Testaajien osaaminen ja saatavuus</a:t>
            </a:r>
            <a:endParaRPr lang="fi-FI" dirty="0">
              <a:solidFill>
                <a:srgbClr val="FF0000"/>
              </a:solidFill>
            </a:endParaRPr>
          </a:p>
        </p:txBody>
      </p:sp>
      <p:sp>
        <p:nvSpPr>
          <p:cNvPr id="3" name="Content Placeholder 2"/>
          <p:cNvSpPr>
            <a:spLocks noGrp="1"/>
          </p:cNvSpPr>
          <p:nvPr>
            <p:ph idx="1"/>
          </p:nvPr>
        </p:nvSpPr>
        <p:spPr/>
        <p:txBody>
          <a:bodyPr>
            <a:normAutofit fontScale="92500" lnSpcReduction="20000"/>
          </a:bodyPr>
          <a:lstStyle/>
          <a:p>
            <a:r>
              <a:rPr lang="fi-FI" dirty="0" smtClean="0"/>
              <a:t>Osaamisen hyödyntäminen työn optimoinnissa</a:t>
            </a:r>
          </a:p>
          <a:p>
            <a:pPr lvl="1"/>
            <a:r>
              <a:rPr lang="fi-FI" dirty="0" smtClean="0"/>
              <a:t>Toteutusorganisaatiossa usein puutteellinen liiketoimintaosaaminen</a:t>
            </a:r>
          </a:p>
          <a:p>
            <a:pPr lvl="1"/>
            <a:r>
              <a:rPr lang="fi-FI" dirty="0" smtClean="0"/>
              <a:t>Liiketoimintaosaajat eivät välttämättä tunne testausta ja joko testaavat liian vähän (yleisin) tai liikaa</a:t>
            </a:r>
          </a:p>
          <a:p>
            <a:pPr lvl="1"/>
            <a:r>
              <a:rPr lang="fi-FI" dirty="0" smtClean="0"/>
              <a:t>Ohjattava oikeat tehtävät molemmille puolille</a:t>
            </a:r>
          </a:p>
          <a:p>
            <a:r>
              <a:rPr lang="fi-FI" dirty="0" smtClean="0"/>
              <a:t>Saatavuusasioiden ratkominen</a:t>
            </a:r>
          </a:p>
          <a:p>
            <a:pPr lvl="1"/>
            <a:r>
              <a:rPr lang="fi-FI" dirty="0" smtClean="0"/>
              <a:t>Liiketoimintaosaajat ”lainassa” osapäiväisesti tekemisen ajan</a:t>
            </a:r>
          </a:p>
          <a:p>
            <a:pPr lvl="1"/>
            <a:r>
              <a:rPr lang="fi-FI" dirty="0" smtClean="0"/>
              <a:t>Rajallinen perehtymisaika ja rajallinen aika testien tekemiseen</a:t>
            </a:r>
          </a:p>
        </p:txBody>
      </p:sp>
      <p:sp>
        <p:nvSpPr>
          <p:cNvPr id="4" name="Slide Number Placeholder 3"/>
          <p:cNvSpPr>
            <a:spLocks noGrp="1"/>
          </p:cNvSpPr>
          <p:nvPr>
            <p:ph type="sldNum" sz="quarter" idx="12"/>
          </p:nvPr>
        </p:nvSpPr>
        <p:spPr/>
        <p:txBody>
          <a:bodyPr/>
          <a:lstStyle/>
          <a:p>
            <a:fld id="{7A750B4A-325E-4AA4-BC07-A8C35B32A4F3}" type="slidenum">
              <a:rPr lang="fi-FI" smtClean="0"/>
              <a:pPr/>
              <a:t>30</a:t>
            </a:fld>
            <a:endParaRPr lang="fi-FI"/>
          </a:p>
        </p:txBody>
      </p:sp>
    </p:spTree>
  </p:cSld>
  <p:clrMapOvr>
    <a:masterClrMapping/>
  </p:clrMapOvr>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Line 2"/>
          <p:cNvSpPr>
            <a:spLocks noChangeShapeType="1"/>
          </p:cNvSpPr>
          <p:nvPr/>
        </p:nvSpPr>
        <p:spPr bwMode="auto">
          <a:xfrm>
            <a:off x="1676400" y="2438400"/>
            <a:ext cx="2895600" cy="3429000"/>
          </a:xfrm>
          <a:prstGeom prst="line">
            <a:avLst/>
          </a:prstGeom>
          <a:noFill/>
          <a:ln w="76200">
            <a:solidFill>
              <a:schemeClr val="tx1"/>
            </a:solidFill>
            <a:round/>
            <a:headEnd/>
            <a:tailEnd/>
          </a:ln>
          <a:effectLst/>
        </p:spPr>
        <p:txBody>
          <a:bodyPr/>
          <a:lstStyle/>
          <a:p>
            <a:endParaRPr lang="en-US"/>
          </a:p>
        </p:txBody>
      </p:sp>
      <p:sp>
        <p:nvSpPr>
          <p:cNvPr id="123907" name="Line 3"/>
          <p:cNvSpPr>
            <a:spLocks noChangeShapeType="1"/>
          </p:cNvSpPr>
          <p:nvPr/>
        </p:nvSpPr>
        <p:spPr bwMode="auto">
          <a:xfrm flipV="1">
            <a:off x="4572000" y="1524000"/>
            <a:ext cx="3657600" cy="4343400"/>
          </a:xfrm>
          <a:prstGeom prst="line">
            <a:avLst/>
          </a:prstGeom>
          <a:noFill/>
          <a:ln w="76200">
            <a:solidFill>
              <a:schemeClr val="tx1"/>
            </a:solidFill>
            <a:round/>
            <a:headEnd/>
            <a:tailEnd type="triangle" w="med" len="med"/>
          </a:ln>
          <a:effectLst/>
        </p:spPr>
        <p:txBody>
          <a:bodyPr/>
          <a:lstStyle/>
          <a:p>
            <a:endParaRPr lang="en-US"/>
          </a:p>
        </p:txBody>
      </p:sp>
      <p:sp>
        <p:nvSpPr>
          <p:cNvPr id="123908" name="Rectangle 4"/>
          <p:cNvSpPr>
            <a:spLocks noGrp="1" noChangeArrowheads="1"/>
          </p:cNvSpPr>
          <p:nvPr>
            <p:ph type="title"/>
          </p:nvPr>
        </p:nvSpPr>
        <p:spPr/>
        <p:txBody>
          <a:bodyPr/>
          <a:lstStyle/>
          <a:p>
            <a:pPr defTabSz="762000"/>
            <a:r>
              <a:rPr lang="fi-FI"/>
              <a:t>V-malli – testauksen tasot</a:t>
            </a:r>
            <a:endParaRPr lang="en-GB"/>
          </a:p>
        </p:txBody>
      </p:sp>
      <p:sp>
        <p:nvSpPr>
          <p:cNvPr id="123909" name="Rectangle 5"/>
          <p:cNvSpPr>
            <a:spLocks noChangeArrowheads="1"/>
          </p:cNvSpPr>
          <p:nvPr/>
        </p:nvSpPr>
        <p:spPr bwMode="auto">
          <a:xfrm>
            <a:off x="4800600" y="4876800"/>
            <a:ext cx="2057400" cy="685800"/>
          </a:xfrm>
          <a:prstGeom prst="rect">
            <a:avLst/>
          </a:prstGeom>
          <a:gradFill rotWithShape="0">
            <a:gsLst>
              <a:gs pos="0">
                <a:schemeClr val="accent1"/>
              </a:gs>
              <a:gs pos="100000">
                <a:schemeClr val="bg1"/>
              </a:gs>
            </a:gsLst>
            <a:lin ang="5400000" scaled="1"/>
          </a:gradFill>
          <a:ln w="9525">
            <a:solidFill>
              <a:schemeClr val="tx1"/>
            </a:solidFill>
            <a:miter lim="800000"/>
            <a:headEnd/>
            <a:tailEnd/>
          </a:ln>
          <a:effectLst/>
        </p:spPr>
        <p:txBody>
          <a:bodyPr anchor="ctr"/>
          <a:lstStyle/>
          <a:p>
            <a:pPr algn="ctr"/>
            <a:r>
              <a:rPr lang="fi-FI" sz="2400">
                <a:cs typeface="Arial" charset="0"/>
              </a:rPr>
              <a:t>Yksikkö-testaus</a:t>
            </a:r>
            <a:endParaRPr lang="en-GB" sz="2400">
              <a:cs typeface="Arial" charset="0"/>
            </a:endParaRPr>
          </a:p>
        </p:txBody>
      </p:sp>
      <p:sp>
        <p:nvSpPr>
          <p:cNvPr id="123910" name="Rectangle 6"/>
          <p:cNvSpPr>
            <a:spLocks noChangeArrowheads="1"/>
          </p:cNvSpPr>
          <p:nvPr/>
        </p:nvSpPr>
        <p:spPr bwMode="auto">
          <a:xfrm>
            <a:off x="5181600" y="3886200"/>
            <a:ext cx="2057400" cy="685800"/>
          </a:xfrm>
          <a:prstGeom prst="rect">
            <a:avLst/>
          </a:prstGeom>
          <a:gradFill rotWithShape="0">
            <a:gsLst>
              <a:gs pos="0">
                <a:schemeClr val="accent1"/>
              </a:gs>
              <a:gs pos="100000">
                <a:schemeClr val="bg1"/>
              </a:gs>
            </a:gsLst>
            <a:lin ang="5400000" scaled="1"/>
          </a:gradFill>
          <a:ln w="9525">
            <a:solidFill>
              <a:schemeClr val="tx1"/>
            </a:solidFill>
            <a:miter lim="800000"/>
            <a:headEnd/>
            <a:tailEnd/>
          </a:ln>
          <a:effectLst/>
        </p:spPr>
        <p:txBody>
          <a:bodyPr anchor="ctr"/>
          <a:lstStyle/>
          <a:p>
            <a:pPr algn="ctr"/>
            <a:r>
              <a:rPr lang="fi-FI" sz="2400">
                <a:cs typeface="Arial" charset="0"/>
              </a:rPr>
              <a:t>Integrointi-testaus</a:t>
            </a:r>
            <a:endParaRPr lang="en-GB" sz="2400">
              <a:cs typeface="Arial" charset="0"/>
            </a:endParaRPr>
          </a:p>
        </p:txBody>
      </p:sp>
      <p:sp>
        <p:nvSpPr>
          <p:cNvPr id="123911" name="Rectangle 7"/>
          <p:cNvSpPr>
            <a:spLocks noChangeArrowheads="1"/>
          </p:cNvSpPr>
          <p:nvPr/>
        </p:nvSpPr>
        <p:spPr bwMode="auto">
          <a:xfrm>
            <a:off x="5791200" y="2819400"/>
            <a:ext cx="2057400" cy="685800"/>
          </a:xfrm>
          <a:prstGeom prst="rect">
            <a:avLst/>
          </a:prstGeom>
          <a:gradFill rotWithShape="0">
            <a:gsLst>
              <a:gs pos="0">
                <a:schemeClr val="accent1"/>
              </a:gs>
              <a:gs pos="100000">
                <a:schemeClr val="bg1"/>
              </a:gs>
            </a:gsLst>
            <a:lin ang="5400000" scaled="1"/>
          </a:gradFill>
          <a:ln w="9525">
            <a:solidFill>
              <a:schemeClr val="tx1"/>
            </a:solidFill>
            <a:miter lim="800000"/>
            <a:headEnd/>
            <a:tailEnd/>
          </a:ln>
          <a:effectLst/>
        </p:spPr>
        <p:txBody>
          <a:bodyPr anchor="ctr"/>
          <a:lstStyle/>
          <a:p>
            <a:pPr algn="ctr"/>
            <a:r>
              <a:rPr lang="fi-FI" sz="2400">
                <a:cs typeface="Arial" charset="0"/>
              </a:rPr>
              <a:t>Järjestelmä-testaus</a:t>
            </a:r>
            <a:endParaRPr lang="en-GB" sz="2400">
              <a:cs typeface="Arial" charset="0"/>
            </a:endParaRPr>
          </a:p>
        </p:txBody>
      </p:sp>
      <p:sp>
        <p:nvSpPr>
          <p:cNvPr id="123912" name="Rectangle 8"/>
          <p:cNvSpPr>
            <a:spLocks noChangeArrowheads="1"/>
          </p:cNvSpPr>
          <p:nvPr/>
        </p:nvSpPr>
        <p:spPr bwMode="auto">
          <a:xfrm>
            <a:off x="6477000" y="1828800"/>
            <a:ext cx="2057400" cy="685800"/>
          </a:xfrm>
          <a:prstGeom prst="rect">
            <a:avLst/>
          </a:prstGeom>
          <a:gradFill rotWithShape="0">
            <a:gsLst>
              <a:gs pos="0">
                <a:schemeClr val="accent1"/>
              </a:gs>
              <a:gs pos="100000">
                <a:schemeClr val="bg1"/>
              </a:gs>
            </a:gsLst>
            <a:lin ang="5400000" scaled="1"/>
          </a:gradFill>
          <a:ln w="9525">
            <a:solidFill>
              <a:schemeClr val="tx1"/>
            </a:solidFill>
            <a:miter lim="800000"/>
            <a:headEnd/>
            <a:tailEnd/>
          </a:ln>
          <a:effectLst/>
        </p:spPr>
        <p:txBody>
          <a:bodyPr anchor="ctr"/>
          <a:lstStyle/>
          <a:p>
            <a:pPr algn="ctr"/>
            <a:r>
              <a:rPr lang="fi-FI" sz="2400">
                <a:cs typeface="Arial" charset="0"/>
              </a:rPr>
              <a:t>Hyväksymis-testaus</a:t>
            </a:r>
            <a:endParaRPr lang="en-GB" sz="2400">
              <a:cs typeface="Arial" charset="0"/>
            </a:endParaRPr>
          </a:p>
        </p:txBody>
      </p:sp>
      <p:sp>
        <p:nvSpPr>
          <p:cNvPr id="123913" name="Line 9"/>
          <p:cNvSpPr>
            <a:spLocks noChangeShapeType="1"/>
          </p:cNvSpPr>
          <p:nvPr/>
        </p:nvSpPr>
        <p:spPr bwMode="auto">
          <a:xfrm>
            <a:off x="2667000" y="2209800"/>
            <a:ext cx="3810000" cy="0"/>
          </a:xfrm>
          <a:prstGeom prst="line">
            <a:avLst/>
          </a:prstGeom>
          <a:noFill/>
          <a:ln w="38100">
            <a:solidFill>
              <a:schemeClr val="bg2"/>
            </a:solidFill>
            <a:round/>
            <a:headEnd/>
            <a:tailEnd type="triangle" w="med" len="med"/>
          </a:ln>
          <a:effectLst/>
        </p:spPr>
        <p:txBody>
          <a:bodyPr/>
          <a:lstStyle/>
          <a:p>
            <a:endParaRPr lang="en-US"/>
          </a:p>
        </p:txBody>
      </p:sp>
      <p:sp>
        <p:nvSpPr>
          <p:cNvPr id="123914" name="Line 10"/>
          <p:cNvSpPr>
            <a:spLocks noChangeShapeType="1"/>
          </p:cNvSpPr>
          <p:nvPr/>
        </p:nvSpPr>
        <p:spPr bwMode="auto">
          <a:xfrm>
            <a:off x="3429000" y="3200400"/>
            <a:ext cx="2362200" cy="0"/>
          </a:xfrm>
          <a:prstGeom prst="line">
            <a:avLst/>
          </a:prstGeom>
          <a:noFill/>
          <a:ln w="38100">
            <a:solidFill>
              <a:schemeClr val="bg2"/>
            </a:solidFill>
            <a:round/>
            <a:headEnd/>
            <a:tailEnd type="triangle" w="med" len="med"/>
          </a:ln>
          <a:effectLst/>
        </p:spPr>
        <p:txBody>
          <a:bodyPr/>
          <a:lstStyle/>
          <a:p>
            <a:endParaRPr lang="en-US"/>
          </a:p>
        </p:txBody>
      </p:sp>
      <p:sp>
        <p:nvSpPr>
          <p:cNvPr id="123915" name="Line 11"/>
          <p:cNvSpPr>
            <a:spLocks noChangeShapeType="1"/>
          </p:cNvSpPr>
          <p:nvPr/>
        </p:nvSpPr>
        <p:spPr bwMode="auto">
          <a:xfrm>
            <a:off x="3962400" y="4267200"/>
            <a:ext cx="1219200" cy="0"/>
          </a:xfrm>
          <a:prstGeom prst="line">
            <a:avLst/>
          </a:prstGeom>
          <a:noFill/>
          <a:ln w="38100">
            <a:solidFill>
              <a:schemeClr val="bg2"/>
            </a:solidFill>
            <a:round/>
            <a:headEnd/>
            <a:tailEnd type="triangle" w="med" len="med"/>
          </a:ln>
          <a:effectLst/>
        </p:spPr>
        <p:txBody>
          <a:bodyPr/>
          <a:lstStyle/>
          <a:p>
            <a:endParaRPr lang="en-US"/>
          </a:p>
        </p:txBody>
      </p:sp>
      <p:sp>
        <p:nvSpPr>
          <p:cNvPr id="123916" name="Line 12"/>
          <p:cNvSpPr>
            <a:spLocks noChangeShapeType="1"/>
          </p:cNvSpPr>
          <p:nvPr/>
        </p:nvSpPr>
        <p:spPr bwMode="auto">
          <a:xfrm>
            <a:off x="4343400" y="5257800"/>
            <a:ext cx="457200" cy="0"/>
          </a:xfrm>
          <a:prstGeom prst="line">
            <a:avLst/>
          </a:prstGeom>
          <a:noFill/>
          <a:ln w="38100">
            <a:solidFill>
              <a:schemeClr val="bg2"/>
            </a:solidFill>
            <a:round/>
            <a:headEnd/>
            <a:tailEnd type="triangle" w="med" len="med"/>
          </a:ln>
          <a:effectLst/>
        </p:spPr>
        <p:txBody>
          <a:bodyPr/>
          <a:lstStyle/>
          <a:p>
            <a:endParaRPr lang="en-US"/>
          </a:p>
        </p:txBody>
      </p:sp>
      <p:sp>
        <p:nvSpPr>
          <p:cNvPr id="123917" name="Rectangle 13"/>
          <p:cNvSpPr>
            <a:spLocks noChangeArrowheads="1"/>
          </p:cNvSpPr>
          <p:nvPr/>
        </p:nvSpPr>
        <p:spPr bwMode="auto">
          <a:xfrm>
            <a:off x="2286000" y="4876800"/>
            <a:ext cx="2057400" cy="685800"/>
          </a:xfrm>
          <a:prstGeom prst="rect">
            <a:avLst/>
          </a:prstGeom>
          <a:gradFill rotWithShape="0">
            <a:gsLst>
              <a:gs pos="0">
                <a:schemeClr val="accent1"/>
              </a:gs>
              <a:gs pos="100000">
                <a:schemeClr val="bg1"/>
              </a:gs>
            </a:gsLst>
            <a:lin ang="5400000" scaled="1"/>
          </a:gradFill>
          <a:ln w="9525">
            <a:solidFill>
              <a:schemeClr val="tx1"/>
            </a:solidFill>
            <a:miter lim="800000"/>
            <a:headEnd/>
            <a:tailEnd/>
          </a:ln>
          <a:effectLst/>
        </p:spPr>
        <p:txBody>
          <a:bodyPr anchor="ctr"/>
          <a:lstStyle/>
          <a:p>
            <a:pPr algn="ctr"/>
            <a:r>
              <a:rPr lang="fi-FI" sz="2400">
                <a:cs typeface="Arial" charset="0"/>
              </a:rPr>
              <a:t>Ohjelmointi</a:t>
            </a:r>
            <a:endParaRPr lang="en-GB" sz="2400">
              <a:cs typeface="Arial" charset="0"/>
            </a:endParaRPr>
          </a:p>
        </p:txBody>
      </p:sp>
      <p:sp>
        <p:nvSpPr>
          <p:cNvPr id="123918" name="Rectangle 14"/>
          <p:cNvSpPr>
            <a:spLocks noChangeArrowheads="1"/>
          </p:cNvSpPr>
          <p:nvPr/>
        </p:nvSpPr>
        <p:spPr bwMode="auto">
          <a:xfrm>
            <a:off x="1905000" y="3886200"/>
            <a:ext cx="2057400" cy="685800"/>
          </a:xfrm>
          <a:prstGeom prst="rect">
            <a:avLst/>
          </a:prstGeom>
          <a:gradFill rotWithShape="0">
            <a:gsLst>
              <a:gs pos="0">
                <a:schemeClr val="accent1"/>
              </a:gs>
              <a:gs pos="100000">
                <a:schemeClr val="bg1"/>
              </a:gs>
            </a:gsLst>
            <a:lin ang="5400000" scaled="1"/>
          </a:gradFill>
          <a:ln w="9525">
            <a:solidFill>
              <a:schemeClr val="tx1"/>
            </a:solidFill>
            <a:miter lim="800000"/>
            <a:headEnd/>
            <a:tailEnd/>
          </a:ln>
          <a:effectLst/>
        </p:spPr>
        <p:txBody>
          <a:bodyPr anchor="ctr"/>
          <a:lstStyle/>
          <a:p>
            <a:pPr algn="ctr"/>
            <a:r>
              <a:rPr lang="fi-FI" sz="2400">
                <a:cs typeface="Arial" charset="0"/>
              </a:rPr>
              <a:t>Tekninen suunnittelu</a:t>
            </a:r>
            <a:endParaRPr lang="en-GB" sz="2400">
              <a:cs typeface="Arial" charset="0"/>
            </a:endParaRPr>
          </a:p>
        </p:txBody>
      </p:sp>
      <p:sp>
        <p:nvSpPr>
          <p:cNvPr id="123919" name="Rectangle 15"/>
          <p:cNvSpPr>
            <a:spLocks noChangeArrowheads="1"/>
          </p:cNvSpPr>
          <p:nvPr/>
        </p:nvSpPr>
        <p:spPr bwMode="auto">
          <a:xfrm>
            <a:off x="1371600" y="2819400"/>
            <a:ext cx="2057400" cy="685800"/>
          </a:xfrm>
          <a:prstGeom prst="rect">
            <a:avLst/>
          </a:prstGeom>
          <a:gradFill rotWithShape="0">
            <a:gsLst>
              <a:gs pos="0">
                <a:schemeClr val="accent1"/>
              </a:gs>
              <a:gs pos="100000">
                <a:schemeClr val="bg1"/>
              </a:gs>
            </a:gsLst>
            <a:lin ang="5400000" scaled="1"/>
          </a:gradFill>
          <a:ln w="9525">
            <a:solidFill>
              <a:schemeClr val="tx1"/>
            </a:solidFill>
            <a:miter lim="800000"/>
            <a:headEnd/>
            <a:tailEnd/>
          </a:ln>
          <a:effectLst/>
        </p:spPr>
        <p:txBody>
          <a:bodyPr anchor="ctr"/>
          <a:lstStyle/>
          <a:p>
            <a:pPr algn="ctr"/>
            <a:r>
              <a:rPr lang="fi-FI" sz="2400">
                <a:cs typeface="Arial" charset="0"/>
              </a:rPr>
              <a:t>Määrittely</a:t>
            </a:r>
            <a:endParaRPr lang="en-GB" sz="2400">
              <a:cs typeface="Arial" charset="0"/>
            </a:endParaRPr>
          </a:p>
        </p:txBody>
      </p:sp>
      <p:sp>
        <p:nvSpPr>
          <p:cNvPr id="123920" name="Rectangle 16"/>
          <p:cNvSpPr>
            <a:spLocks noChangeArrowheads="1"/>
          </p:cNvSpPr>
          <p:nvPr/>
        </p:nvSpPr>
        <p:spPr bwMode="auto">
          <a:xfrm>
            <a:off x="609600" y="1828800"/>
            <a:ext cx="2057400" cy="685800"/>
          </a:xfrm>
          <a:prstGeom prst="rect">
            <a:avLst/>
          </a:prstGeom>
          <a:gradFill rotWithShape="0">
            <a:gsLst>
              <a:gs pos="0">
                <a:schemeClr val="accent1"/>
              </a:gs>
              <a:gs pos="100000">
                <a:schemeClr val="bg1"/>
              </a:gs>
            </a:gsLst>
            <a:lin ang="5400000" scaled="1"/>
          </a:gradFill>
          <a:ln w="9525">
            <a:solidFill>
              <a:schemeClr val="tx1"/>
            </a:solidFill>
            <a:miter lim="800000"/>
            <a:headEnd/>
            <a:tailEnd/>
          </a:ln>
          <a:effectLst/>
        </p:spPr>
        <p:txBody>
          <a:bodyPr anchor="ctr"/>
          <a:lstStyle/>
          <a:p>
            <a:pPr algn="ctr"/>
            <a:r>
              <a:rPr lang="fi-FI" sz="2400">
                <a:cs typeface="Arial" charset="0"/>
              </a:rPr>
              <a:t>Vaatimukset</a:t>
            </a:r>
            <a:endParaRPr lang="en-GB" sz="2400">
              <a:cs typeface="Arial" charset="0"/>
            </a:endParaRPr>
          </a:p>
        </p:txBody>
      </p:sp>
      <p:sp>
        <p:nvSpPr>
          <p:cNvPr id="123921" name="Text Box 17"/>
          <p:cNvSpPr txBox="1">
            <a:spLocks noChangeArrowheads="1"/>
          </p:cNvSpPr>
          <p:nvPr/>
        </p:nvSpPr>
        <p:spPr bwMode="auto">
          <a:xfrm>
            <a:off x="7207250" y="4365625"/>
            <a:ext cx="1828800" cy="1187450"/>
          </a:xfrm>
          <a:prstGeom prst="rect">
            <a:avLst/>
          </a:prstGeom>
          <a:noFill/>
          <a:ln w="38100">
            <a:noFill/>
            <a:miter lim="800000"/>
            <a:headEnd/>
            <a:tailEnd/>
          </a:ln>
          <a:effectLst/>
        </p:spPr>
        <p:txBody>
          <a:bodyPr>
            <a:spAutoFit/>
          </a:bodyPr>
          <a:lstStyle/>
          <a:p>
            <a:pPr algn="ctr" eaLnBrk="1" hangingPunct="1">
              <a:spcBef>
                <a:spcPct val="50000"/>
              </a:spcBef>
            </a:pPr>
            <a:r>
              <a:rPr lang="fi-FI" sz="2400" dirty="0">
                <a:cs typeface="Arial" charset="0"/>
              </a:rPr>
              <a:t>Testien ajaminen ja korjaustyö</a:t>
            </a:r>
            <a:endParaRPr lang="en-GB" sz="2400" dirty="0">
              <a:cs typeface="Arial" charset="0"/>
            </a:endParaRPr>
          </a:p>
        </p:txBody>
      </p:sp>
      <p:grpSp>
        <p:nvGrpSpPr>
          <p:cNvPr id="2" name="Group 18"/>
          <p:cNvGrpSpPr>
            <a:grpSpLocks/>
          </p:cNvGrpSpPr>
          <p:nvPr/>
        </p:nvGrpSpPr>
        <p:grpSpPr bwMode="auto">
          <a:xfrm>
            <a:off x="6096000" y="1752600"/>
            <a:ext cx="2819400" cy="4343400"/>
            <a:chOff x="3840" y="1200"/>
            <a:chExt cx="1776" cy="2640"/>
          </a:xfrm>
        </p:grpSpPr>
        <p:sp>
          <p:nvSpPr>
            <p:cNvPr id="123923" name="Line 19"/>
            <p:cNvSpPr>
              <a:spLocks noChangeShapeType="1"/>
            </p:cNvSpPr>
            <p:nvPr/>
          </p:nvSpPr>
          <p:spPr bwMode="auto">
            <a:xfrm flipV="1">
              <a:off x="4128" y="1344"/>
              <a:ext cx="1488" cy="2496"/>
            </a:xfrm>
            <a:prstGeom prst="line">
              <a:avLst/>
            </a:prstGeom>
            <a:noFill/>
            <a:ln w="28575">
              <a:solidFill>
                <a:srgbClr val="3366FF"/>
              </a:solidFill>
              <a:round/>
              <a:headEnd/>
              <a:tailEnd/>
            </a:ln>
            <a:effectLst/>
          </p:spPr>
          <p:txBody>
            <a:bodyPr anchor="ctr"/>
            <a:lstStyle/>
            <a:p>
              <a:endParaRPr lang="en-US"/>
            </a:p>
          </p:txBody>
        </p:sp>
        <p:sp>
          <p:nvSpPr>
            <p:cNvPr id="123924" name="Line 20"/>
            <p:cNvSpPr>
              <a:spLocks noChangeShapeType="1"/>
            </p:cNvSpPr>
            <p:nvPr/>
          </p:nvSpPr>
          <p:spPr bwMode="auto">
            <a:xfrm flipH="1" flipV="1">
              <a:off x="5328" y="1200"/>
              <a:ext cx="288" cy="144"/>
            </a:xfrm>
            <a:prstGeom prst="line">
              <a:avLst/>
            </a:prstGeom>
            <a:noFill/>
            <a:ln w="28575">
              <a:solidFill>
                <a:srgbClr val="3366FF"/>
              </a:solidFill>
              <a:round/>
              <a:headEnd/>
              <a:tailEnd/>
            </a:ln>
            <a:effectLst/>
          </p:spPr>
          <p:txBody>
            <a:bodyPr anchor="ctr"/>
            <a:lstStyle/>
            <a:p>
              <a:endParaRPr lang="en-US"/>
            </a:p>
          </p:txBody>
        </p:sp>
        <p:sp>
          <p:nvSpPr>
            <p:cNvPr id="123925" name="Line 21"/>
            <p:cNvSpPr>
              <a:spLocks noChangeShapeType="1"/>
            </p:cNvSpPr>
            <p:nvPr/>
          </p:nvSpPr>
          <p:spPr bwMode="auto">
            <a:xfrm flipH="1" flipV="1">
              <a:off x="3840" y="3696"/>
              <a:ext cx="288" cy="144"/>
            </a:xfrm>
            <a:prstGeom prst="line">
              <a:avLst/>
            </a:prstGeom>
            <a:noFill/>
            <a:ln w="28575">
              <a:solidFill>
                <a:srgbClr val="3366FF"/>
              </a:solidFill>
              <a:round/>
              <a:headEnd/>
              <a:tailEnd/>
            </a:ln>
            <a:effectLst/>
          </p:spPr>
          <p:txBody>
            <a:bodyPr anchor="ctr"/>
            <a:lstStyle/>
            <a:p>
              <a:endParaRPr lang="en-US"/>
            </a:p>
          </p:txBody>
        </p:sp>
      </p:grpSp>
      <p:grpSp>
        <p:nvGrpSpPr>
          <p:cNvPr id="3" name="Group 22"/>
          <p:cNvGrpSpPr>
            <a:grpSpLocks/>
          </p:cNvGrpSpPr>
          <p:nvPr/>
        </p:nvGrpSpPr>
        <p:grpSpPr bwMode="auto">
          <a:xfrm rot="7123819">
            <a:off x="155575" y="1790700"/>
            <a:ext cx="2971800" cy="4267200"/>
            <a:chOff x="3840" y="1200"/>
            <a:chExt cx="1776" cy="2640"/>
          </a:xfrm>
        </p:grpSpPr>
        <p:sp>
          <p:nvSpPr>
            <p:cNvPr id="123927" name="Line 23"/>
            <p:cNvSpPr>
              <a:spLocks noChangeShapeType="1"/>
            </p:cNvSpPr>
            <p:nvPr/>
          </p:nvSpPr>
          <p:spPr bwMode="auto">
            <a:xfrm flipV="1">
              <a:off x="4128" y="1344"/>
              <a:ext cx="1488" cy="2496"/>
            </a:xfrm>
            <a:prstGeom prst="line">
              <a:avLst/>
            </a:prstGeom>
            <a:noFill/>
            <a:ln w="28575">
              <a:solidFill>
                <a:srgbClr val="FF0000"/>
              </a:solidFill>
              <a:round/>
              <a:headEnd/>
              <a:tailEnd/>
            </a:ln>
            <a:effectLst/>
          </p:spPr>
          <p:txBody>
            <a:bodyPr anchor="ctr"/>
            <a:lstStyle/>
            <a:p>
              <a:endParaRPr lang="en-US"/>
            </a:p>
          </p:txBody>
        </p:sp>
        <p:sp>
          <p:nvSpPr>
            <p:cNvPr id="123928" name="Line 24"/>
            <p:cNvSpPr>
              <a:spLocks noChangeShapeType="1"/>
            </p:cNvSpPr>
            <p:nvPr/>
          </p:nvSpPr>
          <p:spPr bwMode="auto">
            <a:xfrm flipH="1" flipV="1">
              <a:off x="5328" y="1200"/>
              <a:ext cx="288" cy="144"/>
            </a:xfrm>
            <a:prstGeom prst="line">
              <a:avLst/>
            </a:prstGeom>
            <a:noFill/>
            <a:ln w="28575">
              <a:solidFill>
                <a:srgbClr val="FF0000"/>
              </a:solidFill>
              <a:round/>
              <a:headEnd/>
              <a:tailEnd/>
            </a:ln>
            <a:effectLst/>
          </p:spPr>
          <p:txBody>
            <a:bodyPr anchor="ctr"/>
            <a:lstStyle/>
            <a:p>
              <a:endParaRPr lang="en-US"/>
            </a:p>
          </p:txBody>
        </p:sp>
        <p:sp>
          <p:nvSpPr>
            <p:cNvPr id="123929" name="Line 25"/>
            <p:cNvSpPr>
              <a:spLocks noChangeShapeType="1"/>
            </p:cNvSpPr>
            <p:nvPr/>
          </p:nvSpPr>
          <p:spPr bwMode="auto">
            <a:xfrm flipH="1" flipV="1">
              <a:off x="3840" y="3696"/>
              <a:ext cx="288" cy="144"/>
            </a:xfrm>
            <a:prstGeom prst="line">
              <a:avLst/>
            </a:prstGeom>
            <a:noFill/>
            <a:ln w="28575">
              <a:solidFill>
                <a:srgbClr val="FF0000"/>
              </a:solidFill>
              <a:round/>
              <a:headEnd/>
              <a:tailEnd/>
            </a:ln>
            <a:effectLst/>
          </p:spPr>
          <p:txBody>
            <a:bodyPr anchor="ctr"/>
            <a:lstStyle/>
            <a:p>
              <a:endParaRPr lang="en-US"/>
            </a:p>
          </p:txBody>
        </p:sp>
      </p:grpSp>
      <p:sp>
        <p:nvSpPr>
          <p:cNvPr id="123930" name="Text Box 26"/>
          <p:cNvSpPr txBox="1">
            <a:spLocks noChangeArrowheads="1"/>
          </p:cNvSpPr>
          <p:nvPr/>
        </p:nvSpPr>
        <p:spPr bwMode="auto">
          <a:xfrm>
            <a:off x="-36513" y="4365625"/>
            <a:ext cx="1828801" cy="822325"/>
          </a:xfrm>
          <a:prstGeom prst="rect">
            <a:avLst/>
          </a:prstGeom>
          <a:noFill/>
          <a:ln w="38100">
            <a:noFill/>
            <a:miter lim="800000"/>
            <a:headEnd/>
            <a:tailEnd/>
          </a:ln>
          <a:effectLst/>
        </p:spPr>
        <p:txBody>
          <a:bodyPr>
            <a:spAutoFit/>
          </a:bodyPr>
          <a:lstStyle/>
          <a:p>
            <a:pPr algn="ctr" eaLnBrk="1" hangingPunct="1">
              <a:spcBef>
                <a:spcPct val="50000"/>
              </a:spcBef>
            </a:pPr>
            <a:r>
              <a:rPr lang="fi-FI" sz="2400">
                <a:cs typeface="Arial" charset="0"/>
              </a:rPr>
              <a:t>Testien suunnittelu</a:t>
            </a:r>
            <a:endParaRPr lang="en-GB" sz="2400">
              <a:cs typeface="Arial" charset="0"/>
            </a:endParaRPr>
          </a:p>
        </p:txBody>
      </p:sp>
      <p:sp>
        <p:nvSpPr>
          <p:cNvPr id="123931" name="AutoShape 27"/>
          <p:cNvSpPr>
            <a:spLocks noChangeArrowheads="1"/>
          </p:cNvSpPr>
          <p:nvPr/>
        </p:nvSpPr>
        <p:spPr bwMode="auto">
          <a:xfrm>
            <a:off x="2362200" y="2209800"/>
            <a:ext cx="457200" cy="457200"/>
          </a:xfrm>
          <a:prstGeom prst="star5">
            <a:avLst/>
          </a:prstGeom>
          <a:solidFill>
            <a:srgbClr val="FF0000"/>
          </a:solidFill>
          <a:ln w="9525">
            <a:solidFill>
              <a:srgbClr val="000000"/>
            </a:solidFill>
            <a:miter lim="800000"/>
            <a:headEnd/>
            <a:tailEnd/>
          </a:ln>
          <a:effectLst/>
        </p:spPr>
        <p:txBody>
          <a:bodyPr wrap="none" anchor="ctr"/>
          <a:lstStyle/>
          <a:p>
            <a:endParaRPr lang="en-US"/>
          </a:p>
        </p:txBody>
      </p:sp>
      <p:sp>
        <p:nvSpPr>
          <p:cNvPr id="123932" name="AutoShape 28"/>
          <p:cNvSpPr>
            <a:spLocks noChangeArrowheads="1"/>
          </p:cNvSpPr>
          <p:nvPr/>
        </p:nvSpPr>
        <p:spPr bwMode="auto">
          <a:xfrm>
            <a:off x="3124200" y="3200400"/>
            <a:ext cx="457200" cy="457200"/>
          </a:xfrm>
          <a:prstGeom prst="star5">
            <a:avLst/>
          </a:prstGeom>
          <a:solidFill>
            <a:srgbClr val="FF0000"/>
          </a:solidFill>
          <a:ln w="9525">
            <a:solidFill>
              <a:srgbClr val="000000"/>
            </a:solidFill>
            <a:miter lim="800000"/>
            <a:headEnd/>
            <a:tailEnd/>
          </a:ln>
          <a:effectLst/>
        </p:spPr>
        <p:txBody>
          <a:bodyPr wrap="none" anchor="ctr"/>
          <a:lstStyle/>
          <a:p>
            <a:endParaRPr lang="en-US"/>
          </a:p>
        </p:txBody>
      </p:sp>
      <p:sp>
        <p:nvSpPr>
          <p:cNvPr id="123933" name="AutoShape 29"/>
          <p:cNvSpPr>
            <a:spLocks noChangeArrowheads="1"/>
          </p:cNvSpPr>
          <p:nvPr/>
        </p:nvSpPr>
        <p:spPr bwMode="auto">
          <a:xfrm>
            <a:off x="3733800" y="4267200"/>
            <a:ext cx="457200" cy="457200"/>
          </a:xfrm>
          <a:prstGeom prst="star5">
            <a:avLst/>
          </a:prstGeom>
          <a:solidFill>
            <a:srgbClr val="FF0000"/>
          </a:solidFill>
          <a:ln w="9525">
            <a:solidFill>
              <a:srgbClr val="000000"/>
            </a:solidFill>
            <a:miter lim="800000"/>
            <a:headEnd/>
            <a:tailEnd/>
          </a:ln>
          <a:effectLst/>
        </p:spPr>
        <p:txBody>
          <a:bodyPr wrap="none" anchor="ctr"/>
          <a:lstStyle/>
          <a:p>
            <a:endParaRPr lang="en-US"/>
          </a:p>
        </p:txBody>
      </p:sp>
      <p:sp>
        <p:nvSpPr>
          <p:cNvPr id="123934" name="AutoShape 30"/>
          <p:cNvSpPr>
            <a:spLocks noChangeArrowheads="1"/>
          </p:cNvSpPr>
          <p:nvPr/>
        </p:nvSpPr>
        <p:spPr bwMode="auto">
          <a:xfrm>
            <a:off x="4114800" y="5257800"/>
            <a:ext cx="457200" cy="457200"/>
          </a:xfrm>
          <a:prstGeom prst="star5">
            <a:avLst/>
          </a:prstGeom>
          <a:solidFill>
            <a:srgbClr val="FF0000"/>
          </a:solidFill>
          <a:ln w="9525">
            <a:solidFill>
              <a:srgbClr val="000000"/>
            </a:solidFill>
            <a:miter lim="800000"/>
            <a:headEnd/>
            <a:tailEnd/>
          </a:ln>
          <a:effectLst/>
        </p:spPr>
        <p:txBody>
          <a:bodyPr wrap="none" anchor="ctr"/>
          <a:lstStyle/>
          <a:p>
            <a:endParaRPr lang="en-US"/>
          </a:p>
        </p:txBody>
      </p:sp>
      <p:sp>
        <p:nvSpPr>
          <p:cNvPr id="31" name="Slide Number Placeholder 30"/>
          <p:cNvSpPr>
            <a:spLocks noGrp="1"/>
          </p:cNvSpPr>
          <p:nvPr>
            <p:ph type="sldNum" sz="quarter" idx="12"/>
          </p:nvPr>
        </p:nvSpPr>
        <p:spPr/>
        <p:txBody>
          <a:bodyPr/>
          <a:lstStyle/>
          <a:p>
            <a:fld id="{6EC9AE22-300D-474E-8332-298EA3086E64}" type="slidenum">
              <a:rPr lang="en-US" smtClean="0"/>
              <a:pPr/>
              <a:t>31</a:t>
            </a:fld>
            <a:endParaRPr lang="en-US"/>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p:cNvSpPr>
            <a:spLocks noGrp="1"/>
          </p:cNvSpPr>
          <p:nvPr>
            <p:ph type="title"/>
          </p:nvPr>
        </p:nvSpPr>
        <p:spPr/>
        <p:txBody>
          <a:bodyPr>
            <a:normAutofit fontScale="90000"/>
          </a:bodyPr>
          <a:lstStyle/>
          <a:p>
            <a:r>
              <a:rPr lang="fi-FI" dirty="0" smtClean="0"/>
              <a:t>Testaustasojen tyypilliset merkitykset</a:t>
            </a:r>
            <a:endParaRPr lang="fi-FI" dirty="0"/>
          </a:p>
        </p:txBody>
      </p:sp>
      <p:sp>
        <p:nvSpPr>
          <p:cNvPr id="70659" name="Line 3"/>
          <p:cNvSpPr>
            <a:spLocks noChangeShapeType="1"/>
          </p:cNvSpPr>
          <p:nvPr/>
        </p:nvSpPr>
        <p:spPr bwMode="auto">
          <a:xfrm flipV="1">
            <a:off x="1752600" y="1828800"/>
            <a:ext cx="0" cy="3505200"/>
          </a:xfrm>
          <a:prstGeom prst="line">
            <a:avLst/>
          </a:prstGeom>
          <a:noFill/>
          <a:ln w="9525">
            <a:solidFill>
              <a:schemeClr val="tx1"/>
            </a:solidFill>
            <a:round/>
            <a:headEnd/>
            <a:tailEnd type="triangle" w="med" len="med"/>
          </a:ln>
        </p:spPr>
        <p:txBody>
          <a:bodyPr/>
          <a:lstStyle/>
          <a:p>
            <a:endParaRPr lang="fi-FI"/>
          </a:p>
        </p:txBody>
      </p:sp>
      <p:sp>
        <p:nvSpPr>
          <p:cNvPr id="70660" name="Line 4"/>
          <p:cNvSpPr>
            <a:spLocks noChangeShapeType="1"/>
          </p:cNvSpPr>
          <p:nvPr/>
        </p:nvSpPr>
        <p:spPr bwMode="auto">
          <a:xfrm>
            <a:off x="1752600" y="5334000"/>
            <a:ext cx="6629400" cy="0"/>
          </a:xfrm>
          <a:prstGeom prst="line">
            <a:avLst/>
          </a:prstGeom>
          <a:noFill/>
          <a:ln w="9525">
            <a:solidFill>
              <a:schemeClr val="tx1"/>
            </a:solidFill>
            <a:round/>
            <a:headEnd/>
            <a:tailEnd type="triangle" w="med" len="med"/>
          </a:ln>
        </p:spPr>
        <p:txBody>
          <a:bodyPr/>
          <a:lstStyle/>
          <a:p>
            <a:endParaRPr lang="fi-FI"/>
          </a:p>
        </p:txBody>
      </p:sp>
      <p:sp>
        <p:nvSpPr>
          <p:cNvPr id="70661" name="Rectangle 5"/>
          <p:cNvSpPr>
            <a:spLocks noChangeArrowheads="1"/>
          </p:cNvSpPr>
          <p:nvPr/>
        </p:nvSpPr>
        <p:spPr bwMode="auto">
          <a:xfrm>
            <a:off x="1752600" y="4648200"/>
            <a:ext cx="3200400" cy="685800"/>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wrap="none" anchor="ctr"/>
          <a:lstStyle/>
          <a:p>
            <a:pPr algn="ctr"/>
            <a:r>
              <a:rPr lang="fi-FI" sz="2800"/>
              <a:t>Yksikkötestaus</a:t>
            </a:r>
            <a:endParaRPr lang="en-US" sz="2800"/>
          </a:p>
        </p:txBody>
      </p:sp>
      <p:sp>
        <p:nvSpPr>
          <p:cNvPr id="70662" name="Rectangle 6"/>
          <p:cNvSpPr>
            <a:spLocks noChangeArrowheads="1"/>
          </p:cNvSpPr>
          <p:nvPr/>
        </p:nvSpPr>
        <p:spPr bwMode="auto">
          <a:xfrm>
            <a:off x="2451100" y="3962400"/>
            <a:ext cx="3187700" cy="685800"/>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wrap="none" anchor="ctr"/>
          <a:lstStyle/>
          <a:p>
            <a:pPr algn="ctr"/>
            <a:r>
              <a:rPr lang="fi-FI" sz="2800"/>
              <a:t>Integrointitestaus</a:t>
            </a:r>
            <a:endParaRPr lang="en-US" sz="2800"/>
          </a:p>
        </p:txBody>
      </p:sp>
      <p:sp>
        <p:nvSpPr>
          <p:cNvPr id="70663" name="Rectangle 7"/>
          <p:cNvSpPr>
            <a:spLocks noChangeArrowheads="1"/>
          </p:cNvSpPr>
          <p:nvPr/>
        </p:nvSpPr>
        <p:spPr bwMode="auto">
          <a:xfrm>
            <a:off x="3035300" y="3276600"/>
            <a:ext cx="3289300" cy="685800"/>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wrap="none" anchor="ctr"/>
          <a:lstStyle/>
          <a:p>
            <a:pPr algn="ctr"/>
            <a:r>
              <a:rPr lang="fi-FI" sz="2800"/>
              <a:t>Järjestelmätestaus</a:t>
            </a:r>
            <a:endParaRPr lang="en-US" sz="2800"/>
          </a:p>
        </p:txBody>
      </p:sp>
      <p:sp>
        <p:nvSpPr>
          <p:cNvPr id="70664" name="Rectangle 8"/>
          <p:cNvSpPr>
            <a:spLocks noChangeArrowheads="1"/>
          </p:cNvSpPr>
          <p:nvPr/>
        </p:nvSpPr>
        <p:spPr bwMode="auto">
          <a:xfrm>
            <a:off x="3581400" y="2590800"/>
            <a:ext cx="3429000" cy="685800"/>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wrap="none" anchor="ctr"/>
          <a:lstStyle/>
          <a:p>
            <a:pPr algn="ctr"/>
            <a:r>
              <a:rPr lang="fi-FI" sz="2800" dirty="0"/>
              <a:t>Hyväksymistestaus</a:t>
            </a:r>
            <a:endParaRPr lang="en-US" sz="2800" dirty="0"/>
          </a:p>
        </p:txBody>
      </p:sp>
      <p:sp>
        <p:nvSpPr>
          <p:cNvPr id="70665" name="Text Box 9"/>
          <p:cNvSpPr txBox="1">
            <a:spLocks noChangeArrowheads="1"/>
          </p:cNvSpPr>
          <p:nvPr/>
        </p:nvSpPr>
        <p:spPr bwMode="auto">
          <a:xfrm>
            <a:off x="0" y="2971800"/>
            <a:ext cx="1828800" cy="1631216"/>
          </a:xfrm>
          <a:prstGeom prst="rect">
            <a:avLst/>
          </a:prstGeom>
          <a:noFill/>
          <a:ln w="9525">
            <a:noFill/>
            <a:miter lim="800000"/>
            <a:headEnd/>
            <a:tailEnd/>
          </a:ln>
        </p:spPr>
        <p:txBody>
          <a:bodyPr>
            <a:spAutoFit/>
          </a:bodyPr>
          <a:lstStyle/>
          <a:p>
            <a:pPr algn="ctr">
              <a:spcBef>
                <a:spcPct val="50000"/>
              </a:spcBef>
            </a:pPr>
            <a:r>
              <a:rPr lang="fi-FI" sz="2000" b="1">
                <a:solidFill>
                  <a:schemeClr val="tx2"/>
                </a:solidFill>
              </a:rPr>
              <a:t>Testauksen kohteena olevan kokoonpanon laajuus</a:t>
            </a:r>
            <a:endParaRPr lang="en-US" sz="2000" b="1">
              <a:solidFill>
                <a:schemeClr val="tx2"/>
              </a:solidFill>
            </a:endParaRPr>
          </a:p>
        </p:txBody>
      </p:sp>
      <p:sp>
        <p:nvSpPr>
          <p:cNvPr id="70666" name="Text Box 10"/>
          <p:cNvSpPr txBox="1">
            <a:spLocks noChangeArrowheads="1"/>
          </p:cNvSpPr>
          <p:nvPr/>
        </p:nvSpPr>
        <p:spPr bwMode="auto">
          <a:xfrm>
            <a:off x="179388" y="4800600"/>
            <a:ext cx="1333500" cy="396875"/>
          </a:xfrm>
          <a:prstGeom prst="rect">
            <a:avLst/>
          </a:prstGeom>
          <a:noFill/>
          <a:ln w="9525">
            <a:noFill/>
            <a:miter lim="800000"/>
            <a:headEnd/>
            <a:tailEnd/>
          </a:ln>
        </p:spPr>
        <p:txBody>
          <a:bodyPr>
            <a:spAutoFit/>
          </a:bodyPr>
          <a:lstStyle/>
          <a:p>
            <a:pPr algn="ctr">
              <a:spcBef>
                <a:spcPct val="50000"/>
              </a:spcBef>
            </a:pPr>
            <a:r>
              <a:rPr lang="fi-FI" sz="2000">
                <a:solidFill>
                  <a:schemeClr val="hlink"/>
                </a:solidFill>
              </a:rPr>
              <a:t>osa</a:t>
            </a:r>
            <a:endParaRPr lang="en-US" sz="2000">
              <a:solidFill>
                <a:schemeClr val="hlink"/>
              </a:solidFill>
            </a:endParaRPr>
          </a:p>
        </p:txBody>
      </p:sp>
      <p:sp>
        <p:nvSpPr>
          <p:cNvPr id="70667" name="Text Box 11"/>
          <p:cNvSpPr txBox="1">
            <a:spLocks noChangeArrowheads="1"/>
          </p:cNvSpPr>
          <p:nvPr/>
        </p:nvSpPr>
        <p:spPr bwMode="auto">
          <a:xfrm>
            <a:off x="0" y="2286000"/>
            <a:ext cx="1689100" cy="396875"/>
          </a:xfrm>
          <a:prstGeom prst="rect">
            <a:avLst/>
          </a:prstGeom>
          <a:noFill/>
          <a:ln w="9525">
            <a:noFill/>
            <a:miter lim="800000"/>
            <a:headEnd/>
            <a:tailEnd/>
          </a:ln>
        </p:spPr>
        <p:txBody>
          <a:bodyPr>
            <a:spAutoFit/>
          </a:bodyPr>
          <a:lstStyle/>
          <a:p>
            <a:pPr algn="ctr">
              <a:spcBef>
                <a:spcPct val="50000"/>
              </a:spcBef>
            </a:pPr>
            <a:r>
              <a:rPr lang="fi-FI" sz="2000">
                <a:solidFill>
                  <a:schemeClr val="hlink"/>
                </a:solidFill>
              </a:rPr>
              <a:t>kokonaisuus</a:t>
            </a:r>
            <a:endParaRPr lang="en-US" sz="2000">
              <a:solidFill>
                <a:schemeClr val="hlink"/>
              </a:solidFill>
            </a:endParaRPr>
          </a:p>
        </p:txBody>
      </p:sp>
      <p:sp>
        <p:nvSpPr>
          <p:cNvPr id="70668" name="Text Box 12"/>
          <p:cNvSpPr txBox="1">
            <a:spLocks noChangeArrowheads="1"/>
          </p:cNvSpPr>
          <p:nvPr/>
        </p:nvSpPr>
        <p:spPr bwMode="auto">
          <a:xfrm>
            <a:off x="3505200" y="5318125"/>
            <a:ext cx="1828800" cy="701675"/>
          </a:xfrm>
          <a:prstGeom prst="rect">
            <a:avLst/>
          </a:prstGeom>
          <a:noFill/>
          <a:ln w="9525">
            <a:noFill/>
            <a:miter lim="800000"/>
            <a:headEnd/>
            <a:tailEnd/>
          </a:ln>
        </p:spPr>
        <p:txBody>
          <a:bodyPr>
            <a:spAutoFit/>
          </a:bodyPr>
          <a:lstStyle/>
          <a:p>
            <a:pPr algn="ctr">
              <a:spcBef>
                <a:spcPct val="50000"/>
              </a:spcBef>
            </a:pPr>
            <a:r>
              <a:rPr lang="fi-FI" sz="2000" b="1">
                <a:solidFill>
                  <a:schemeClr val="tx2"/>
                </a:solidFill>
              </a:rPr>
              <a:t>Ympäristöjen edustavuus</a:t>
            </a:r>
            <a:endParaRPr lang="en-US" sz="2000" b="1">
              <a:solidFill>
                <a:schemeClr val="tx2"/>
              </a:solidFill>
            </a:endParaRPr>
          </a:p>
        </p:txBody>
      </p:sp>
      <p:sp>
        <p:nvSpPr>
          <p:cNvPr id="70669" name="Text Box 13"/>
          <p:cNvSpPr txBox="1">
            <a:spLocks noChangeArrowheads="1"/>
          </p:cNvSpPr>
          <p:nvPr/>
        </p:nvSpPr>
        <p:spPr bwMode="auto">
          <a:xfrm>
            <a:off x="6324600" y="5500688"/>
            <a:ext cx="1333500" cy="396875"/>
          </a:xfrm>
          <a:prstGeom prst="rect">
            <a:avLst/>
          </a:prstGeom>
          <a:noFill/>
          <a:ln w="9525">
            <a:noFill/>
            <a:miter lim="800000"/>
            <a:headEnd/>
            <a:tailEnd/>
          </a:ln>
        </p:spPr>
        <p:txBody>
          <a:bodyPr>
            <a:spAutoFit/>
          </a:bodyPr>
          <a:lstStyle/>
          <a:p>
            <a:pPr>
              <a:spcBef>
                <a:spcPct val="50000"/>
              </a:spcBef>
            </a:pPr>
            <a:r>
              <a:rPr lang="fi-FI" sz="2000">
                <a:solidFill>
                  <a:schemeClr val="hlink"/>
                </a:solidFill>
              </a:rPr>
              <a:t>kaikki</a:t>
            </a:r>
            <a:endParaRPr lang="en-US" sz="2000">
              <a:solidFill>
                <a:schemeClr val="hlink"/>
              </a:solidFill>
            </a:endParaRPr>
          </a:p>
        </p:txBody>
      </p:sp>
      <p:sp>
        <p:nvSpPr>
          <p:cNvPr id="70670" name="Text Box 14"/>
          <p:cNvSpPr txBox="1">
            <a:spLocks noChangeArrowheads="1"/>
          </p:cNvSpPr>
          <p:nvPr/>
        </p:nvSpPr>
        <p:spPr bwMode="auto">
          <a:xfrm>
            <a:off x="1835150" y="5486400"/>
            <a:ext cx="1333500" cy="396875"/>
          </a:xfrm>
          <a:prstGeom prst="rect">
            <a:avLst/>
          </a:prstGeom>
          <a:noFill/>
          <a:ln w="9525">
            <a:noFill/>
            <a:miter lim="800000"/>
            <a:headEnd/>
            <a:tailEnd/>
          </a:ln>
        </p:spPr>
        <p:txBody>
          <a:bodyPr>
            <a:spAutoFit/>
          </a:bodyPr>
          <a:lstStyle/>
          <a:p>
            <a:pPr>
              <a:spcBef>
                <a:spcPct val="50000"/>
              </a:spcBef>
            </a:pPr>
            <a:r>
              <a:rPr lang="fi-FI" sz="2000">
                <a:solidFill>
                  <a:schemeClr val="hlink"/>
                </a:solidFill>
              </a:rPr>
              <a:t>osa</a:t>
            </a:r>
            <a:endParaRPr lang="en-US" sz="2000">
              <a:solidFill>
                <a:schemeClr val="hlink"/>
              </a:solidFill>
            </a:endParaRPr>
          </a:p>
        </p:txBody>
      </p:sp>
      <p:sp>
        <p:nvSpPr>
          <p:cNvPr id="70671" name="Text Box 15"/>
          <p:cNvSpPr txBox="1">
            <a:spLocks noChangeArrowheads="1"/>
          </p:cNvSpPr>
          <p:nvPr/>
        </p:nvSpPr>
        <p:spPr bwMode="auto">
          <a:xfrm>
            <a:off x="7010400" y="1752600"/>
            <a:ext cx="1828800" cy="701675"/>
          </a:xfrm>
          <a:prstGeom prst="rect">
            <a:avLst/>
          </a:prstGeom>
          <a:noFill/>
          <a:ln w="9525">
            <a:noFill/>
            <a:miter lim="800000"/>
            <a:headEnd/>
            <a:tailEnd/>
          </a:ln>
        </p:spPr>
        <p:txBody>
          <a:bodyPr>
            <a:spAutoFit/>
          </a:bodyPr>
          <a:lstStyle/>
          <a:p>
            <a:pPr algn="ctr">
              <a:spcBef>
                <a:spcPct val="50000"/>
              </a:spcBef>
            </a:pPr>
            <a:r>
              <a:rPr lang="fi-FI" sz="2000" b="1">
                <a:solidFill>
                  <a:schemeClr val="tx2"/>
                </a:solidFill>
              </a:rPr>
              <a:t>Tyypillinen organisointi</a:t>
            </a:r>
            <a:endParaRPr lang="en-US" sz="2000" b="1">
              <a:solidFill>
                <a:schemeClr val="tx2"/>
              </a:solidFill>
            </a:endParaRPr>
          </a:p>
        </p:txBody>
      </p:sp>
      <p:sp>
        <p:nvSpPr>
          <p:cNvPr id="70672" name="Text Box 16"/>
          <p:cNvSpPr txBox="1">
            <a:spLocks noChangeArrowheads="1"/>
          </p:cNvSpPr>
          <p:nvPr/>
        </p:nvSpPr>
        <p:spPr bwMode="auto">
          <a:xfrm>
            <a:off x="6858000" y="2590800"/>
            <a:ext cx="2133600" cy="701675"/>
          </a:xfrm>
          <a:prstGeom prst="rect">
            <a:avLst/>
          </a:prstGeom>
          <a:noFill/>
          <a:ln w="9525">
            <a:noFill/>
            <a:miter lim="800000"/>
            <a:headEnd/>
            <a:tailEnd/>
          </a:ln>
        </p:spPr>
        <p:txBody>
          <a:bodyPr>
            <a:spAutoFit/>
          </a:bodyPr>
          <a:lstStyle/>
          <a:p>
            <a:pPr algn="ctr">
              <a:spcBef>
                <a:spcPct val="50000"/>
              </a:spcBef>
            </a:pPr>
            <a:r>
              <a:rPr lang="fi-FI" sz="2000"/>
              <a:t>Asiakas/</a:t>
            </a:r>
            <a:br>
              <a:rPr lang="fi-FI" sz="2000"/>
            </a:br>
            <a:r>
              <a:rPr lang="fi-FI" sz="2000"/>
              <a:t>käyttäjä</a:t>
            </a:r>
            <a:endParaRPr lang="en-US" sz="2000"/>
          </a:p>
        </p:txBody>
      </p:sp>
      <p:sp>
        <p:nvSpPr>
          <p:cNvPr id="70673" name="Text Box 17"/>
          <p:cNvSpPr txBox="1">
            <a:spLocks noChangeArrowheads="1"/>
          </p:cNvSpPr>
          <p:nvPr/>
        </p:nvSpPr>
        <p:spPr bwMode="auto">
          <a:xfrm>
            <a:off x="7239000" y="3429000"/>
            <a:ext cx="1333500" cy="396875"/>
          </a:xfrm>
          <a:prstGeom prst="rect">
            <a:avLst/>
          </a:prstGeom>
          <a:noFill/>
          <a:ln w="9525">
            <a:noFill/>
            <a:miter lim="800000"/>
            <a:headEnd/>
            <a:tailEnd/>
          </a:ln>
        </p:spPr>
        <p:txBody>
          <a:bodyPr>
            <a:spAutoFit/>
          </a:bodyPr>
          <a:lstStyle/>
          <a:p>
            <a:pPr algn="ctr">
              <a:spcBef>
                <a:spcPct val="50000"/>
              </a:spcBef>
            </a:pPr>
            <a:r>
              <a:rPr lang="fi-FI" sz="2000"/>
              <a:t>Testaaja</a:t>
            </a:r>
            <a:endParaRPr lang="en-US" sz="2000"/>
          </a:p>
        </p:txBody>
      </p:sp>
      <p:sp>
        <p:nvSpPr>
          <p:cNvPr id="70674" name="Text Box 18"/>
          <p:cNvSpPr txBox="1">
            <a:spLocks noChangeArrowheads="1"/>
          </p:cNvSpPr>
          <p:nvPr/>
        </p:nvSpPr>
        <p:spPr bwMode="auto">
          <a:xfrm>
            <a:off x="7010400" y="3962400"/>
            <a:ext cx="1778000" cy="701675"/>
          </a:xfrm>
          <a:prstGeom prst="rect">
            <a:avLst/>
          </a:prstGeom>
          <a:noFill/>
          <a:ln w="9525">
            <a:noFill/>
            <a:miter lim="800000"/>
            <a:headEnd/>
            <a:tailEnd/>
          </a:ln>
        </p:spPr>
        <p:txBody>
          <a:bodyPr>
            <a:spAutoFit/>
          </a:bodyPr>
          <a:lstStyle/>
          <a:p>
            <a:pPr algn="ctr">
              <a:spcBef>
                <a:spcPct val="50000"/>
              </a:spcBef>
            </a:pPr>
            <a:r>
              <a:rPr lang="fi-FI" sz="2000"/>
              <a:t>Toteuttajat yhdessä</a:t>
            </a:r>
            <a:endParaRPr lang="en-US" sz="2000"/>
          </a:p>
        </p:txBody>
      </p:sp>
      <p:sp>
        <p:nvSpPr>
          <p:cNvPr id="70675" name="Text Box 19"/>
          <p:cNvSpPr txBox="1">
            <a:spLocks noChangeArrowheads="1"/>
          </p:cNvSpPr>
          <p:nvPr/>
        </p:nvSpPr>
        <p:spPr bwMode="auto">
          <a:xfrm>
            <a:off x="7010400" y="4648200"/>
            <a:ext cx="1778000" cy="707886"/>
          </a:xfrm>
          <a:prstGeom prst="rect">
            <a:avLst/>
          </a:prstGeom>
          <a:noFill/>
          <a:ln w="9525">
            <a:noFill/>
            <a:miter lim="800000"/>
            <a:headEnd/>
            <a:tailEnd/>
          </a:ln>
        </p:spPr>
        <p:txBody>
          <a:bodyPr>
            <a:spAutoFit/>
          </a:bodyPr>
          <a:lstStyle/>
          <a:p>
            <a:pPr algn="ctr">
              <a:spcBef>
                <a:spcPct val="50000"/>
              </a:spcBef>
            </a:pPr>
            <a:r>
              <a:rPr lang="fi-FI" sz="2000"/>
              <a:t>Kukin toteuttaja</a:t>
            </a:r>
            <a:endParaRPr lang="en-US" sz="2000"/>
          </a:p>
        </p:txBody>
      </p:sp>
      <p:sp>
        <p:nvSpPr>
          <p:cNvPr id="21" name="Slide Number Placeholder 20"/>
          <p:cNvSpPr>
            <a:spLocks noGrp="1"/>
          </p:cNvSpPr>
          <p:nvPr>
            <p:ph type="sldNum" sz="quarter" idx="12"/>
          </p:nvPr>
        </p:nvSpPr>
        <p:spPr/>
        <p:txBody>
          <a:bodyPr/>
          <a:lstStyle/>
          <a:p>
            <a:fld id="{7A750B4A-325E-4AA4-BC07-A8C35B32A4F3}" type="slidenum">
              <a:rPr lang="fi-FI" smtClean="0"/>
              <a:pPr/>
              <a:t>32</a:t>
            </a:fld>
            <a:endParaRPr lang="fi-FI"/>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fi-FI" dirty="0" smtClean="0"/>
              <a:t>Todelliset erot tasoissa</a:t>
            </a:r>
            <a:endParaRPr lang="fi-FI" dirty="0"/>
          </a:p>
        </p:txBody>
      </p:sp>
      <p:sp>
        <p:nvSpPr>
          <p:cNvPr id="4" name="Content Placeholder 3"/>
          <p:cNvSpPr>
            <a:spLocks noGrp="1"/>
          </p:cNvSpPr>
          <p:nvPr>
            <p:ph idx="1"/>
          </p:nvPr>
        </p:nvSpPr>
        <p:spPr>
          <a:xfrm>
            <a:off x="457200" y="1600200"/>
            <a:ext cx="5867400" cy="4525963"/>
          </a:xfrm>
        </p:spPr>
        <p:txBody>
          <a:bodyPr>
            <a:normAutofit fontScale="77500" lnSpcReduction="20000"/>
          </a:bodyPr>
          <a:lstStyle/>
          <a:p>
            <a:r>
              <a:rPr lang="fi-FI" dirty="0" smtClean="0"/>
              <a:t>Ympäristö &amp; aineisto</a:t>
            </a:r>
          </a:p>
          <a:p>
            <a:pPr lvl="1"/>
            <a:r>
              <a:rPr lang="fi-FI" dirty="0" smtClean="0"/>
              <a:t>Ehkä vain toisella on oikeasti käytettävissään realistinen ympäristö ja tuotannon kaltainen aineisto</a:t>
            </a:r>
          </a:p>
          <a:p>
            <a:pPr lvl="1"/>
            <a:r>
              <a:rPr lang="fi-FI" dirty="0" smtClean="0"/>
              <a:t>Ehkä vain toisen sovitaan katsovan realistisessa ympäristössä</a:t>
            </a:r>
          </a:p>
          <a:p>
            <a:r>
              <a:rPr lang="fi-FI" dirty="0" smtClean="0"/>
              <a:t>Ihmiset &amp; osaaminen</a:t>
            </a:r>
          </a:p>
          <a:p>
            <a:pPr lvl="1"/>
            <a:r>
              <a:rPr lang="fi-FI" dirty="0" smtClean="0"/>
              <a:t>Ehkä vain toisella on käytettävissään liiketoimintaosaamista jolla tärkeitä virheitä todella löydetään</a:t>
            </a:r>
          </a:p>
          <a:p>
            <a:r>
              <a:rPr lang="fi-FI" dirty="0" smtClean="0"/>
              <a:t>Sopimiskysymys</a:t>
            </a:r>
          </a:p>
          <a:p>
            <a:pPr lvl="1"/>
            <a:r>
              <a:rPr lang="fi-FI" dirty="0" smtClean="0"/>
              <a:t>Ehkä toimittaja vapautetaan ajattelemasta kelpuutusta ja keskittymään todentamiseen suhteessa näkyviin vaatimuksiin</a:t>
            </a:r>
            <a:endParaRPr lang="fi-FI" dirty="0"/>
          </a:p>
        </p:txBody>
      </p:sp>
      <p:sp>
        <p:nvSpPr>
          <p:cNvPr id="5" name="Rectangle 4"/>
          <p:cNvSpPr/>
          <p:nvPr/>
        </p:nvSpPr>
        <p:spPr>
          <a:xfrm>
            <a:off x="6629400" y="1571685"/>
            <a:ext cx="2133600" cy="4524315"/>
          </a:xfrm>
          <a:prstGeom prst="rect">
            <a:avLst/>
          </a:prstGeom>
          <a:ln/>
        </p:spPr>
        <p:style>
          <a:lnRef idx="3">
            <a:schemeClr val="lt1"/>
          </a:lnRef>
          <a:fillRef idx="1">
            <a:schemeClr val="accent1"/>
          </a:fillRef>
          <a:effectRef idx="1">
            <a:schemeClr val="accent1"/>
          </a:effectRef>
          <a:fontRef idx="minor">
            <a:schemeClr val="lt1"/>
          </a:fontRef>
        </p:style>
        <p:txBody>
          <a:bodyPr wrap="square">
            <a:spAutoFit/>
          </a:bodyPr>
          <a:lstStyle/>
          <a:p>
            <a:pPr algn="ctr"/>
            <a:r>
              <a:rPr lang="fi-FI" sz="1600" b="1" dirty="0" smtClean="0"/>
              <a:t>Asiakaskohtaisia järjestelmiä kehitettäessä järjestelmän laatuun liittyvät ongelmat ovat yleensä asiakkaan riski, ja siten pelkästään toimittajan tekemä testaus ei yleensä riitä asiakkaalle</a:t>
            </a:r>
          </a:p>
          <a:p>
            <a:pPr algn="ctr"/>
            <a:endParaRPr lang="fi-FI" sz="1600" dirty="0" smtClean="0"/>
          </a:p>
          <a:p>
            <a:pPr algn="ctr"/>
            <a:r>
              <a:rPr lang="fi-FI" sz="1600" dirty="0" smtClean="0"/>
              <a:t>Hyväksymistestausta suunniteltaessa asiakkaan tulisikin aina miettiä, mitä riskejä ja seurauksia ohjelmiston virheillä voi olla. </a:t>
            </a:r>
            <a:endParaRPr lang="fi-FI" sz="1600" dirty="0"/>
          </a:p>
        </p:txBody>
      </p:sp>
      <p:sp>
        <p:nvSpPr>
          <p:cNvPr id="6" name="Slide Number Placeholder 5"/>
          <p:cNvSpPr>
            <a:spLocks noGrp="1"/>
          </p:cNvSpPr>
          <p:nvPr>
            <p:ph type="sldNum" sz="quarter" idx="12"/>
          </p:nvPr>
        </p:nvSpPr>
        <p:spPr/>
        <p:txBody>
          <a:bodyPr/>
          <a:lstStyle/>
          <a:p>
            <a:fld id="{7A750B4A-325E-4AA4-BC07-A8C35B32A4F3}" type="slidenum">
              <a:rPr lang="fi-FI" smtClean="0"/>
              <a:pPr/>
              <a:t>33</a:t>
            </a:fld>
            <a:endParaRPr lang="fi-FI"/>
          </a:p>
        </p:txBody>
      </p:sp>
    </p:spTree>
  </p:cSld>
  <p:clrMapOvr>
    <a:masterClrMapping/>
  </p:clrMapOvr>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fi-FI"/>
              <a:t>Termistö</a:t>
            </a:r>
            <a:endParaRPr lang="en-US"/>
          </a:p>
        </p:txBody>
      </p:sp>
      <p:sp>
        <p:nvSpPr>
          <p:cNvPr id="13315" name="Rectangle 3"/>
          <p:cNvSpPr>
            <a:spLocks noGrp="1" noChangeArrowheads="1"/>
          </p:cNvSpPr>
          <p:nvPr>
            <p:ph type="body" idx="1"/>
          </p:nvPr>
        </p:nvSpPr>
        <p:spPr/>
        <p:txBody>
          <a:bodyPr>
            <a:noAutofit/>
          </a:bodyPr>
          <a:lstStyle/>
          <a:p>
            <a:pPr>
              <a:lnSpc>
                <a:spcPct val="80000"/>
              </a:lnSpc>
            </a:pPr>
            <a:r>
              <a:rPr lang="fi-FI" sz="1800" dirty="0"/>
              <a:t>Testaustaso tarkoittaa testausta yhdistävää tarpeellista ja muista tasoista eroavaa näkökulmaa, joka jatkuu projektin läpi</a:t>
            </a:r>
          </a:p>
          <a:p>
            <a:pPr lvl="1">
              <a:lnSpc>
                <a:spcPct val="80000"/>
              </a:lnSpc>
            </a:pPr>
            <a:r>
              <a:rPr lang="fi-FI" sz="1800" dirty="0"/>
              <a:t>Hyväksymistestaus: tilaavan organisaation näkökulma</a:t>
            </a:r>
          </a:p>
          <a:p>
            <a:pPr lvl="1">
              <a:lnSpc>
                <a:spcPct val="80000"/>
              </a:lnSpc>
            </a:pPr>
            <a:r>
              <a:rPr lang="fi-FI" sz="1800" dirty="0"/>
              <a:t>Järjestelmätestaus: toimittavan organisaation näkökulma kokonaisuuden toimivuuteen</a:t>
            </a:r>
          </a:p>
          <a:p>
            <a:pPr lvl="1">
              <a:lnSpc>
                <a:spcPct val="80000"/>
              </a:lnSpc>
            </a:pPr>
            <a:r>
              <a:rPr lang="fi-FI" sz="1800" dirty="0"/>
              <a:t>Integrointitestaus: toimittavan organisaation näkökulma tarvittavien palojen yhdistämisen onnistumiseen</a:t>
            </a:r>
          </a:p>
          <a:p>
            <a:pPr lvl="1">
              <a:lnSpc>
                <a:spcPct val="80000"/>
              </a:lnSpc>
            </a:pPr>
            <a:r>
              <a:rPr lang="fi-FI" sz="1800" dirty="0"/>
              <a:t>Yksikkötestaus: toimittavan organisaation näkökulma jokaiseen tekemäänsä muutokseen</a:t>
            </a:r>
          </a:p>
          <a:p>
            <a:pPr>
              <a:lnSpc>
                <a:spcPct val="80000"/>
              </a:lnSpc>
            </a:pPr>
            <a:r>
              <a:rPr lang="fi-FI" sz="1800" dirty="0"/>
              <a:t>Testausvaihe</a:t>
            </a:r>
          </a:p>
          <a:p>
            <a:pPr lvl="1">
              <a:lnSpc>
                <a:spcPct val="80000"/>
              </a:lnSpc>
            </a:pPr>
            <a:r>
              <a:rPr lang="fi-FI" sz="1800" dirty="0"/>
              <a:t>Ajallisesti rajattu ja organisoitu testausponnistus</a:t>
            </a:r>
          </a:p>
          <a:p>
            <a:pPr lvl="1">
              <a:lnSpc>
                <a:spcPct val="80000"/>
              </a:lnSpc>
            </a:pPr>
            <a:r>
              <a:rPr lang="fi-FI" sz="1800" dirty="0"/>
              <a:t>Voi </a:t>
            </a:r>
          </a:p>
          <a:p>
            <a:pPr lvl="2">
              <a:lnSpc>
                <a:spcPct val="80000"/>
              </a:lnSpc>
            </a:pPr>
            <a:r>
              <a:rPr lang="fi-FI" sz="1800" dirty="0"/>
              <a:t>leikata useita tasoja sekä </a:t>
            </a:r>
          </a:p>
          <a:p>
            <a:pPr lvl="2">
              <a:lnSpc>
                <a:spcPct val="80000"/>
              </a:lnSpc>
            </a:pPr>
            <a:r>
              <a:rPr lang="fi-FI" sz="1800" dirty="0"/>
              <a:t>olla useita tasolla</a:t>
            </a:r>
          </a:p>
          <a:p>
            <a:pPr>
              <a:lnSpc>
                <a:spcPct val="80000"/>
              </a:lnSpc>
            </a:pPr>
            <a:r>
              <a:rPr lang="fi-FI" sz="1800" dirty="0"/>
              <a:t>Testaustyyppi</a:t>
            </a:r>
          </a:p>
          <a:p>
            <a:pPr lvl="1">
              <a:lnSpc>
                <a:spcPct val="80000"/>
              </a:lnSpc>
            </a:pPr>
            <a:r>
              <a:rPr lang="fi-FI" sz="1800" dirty="0"/>
              <a:t>Ryhmä testausaktiviteetteja, joilla yhteisiä ominaisuuksia</a:t>
            </a:r>
          </a:p>
          <a:p>
            <a:pPr lvl="2">
              <a:lnSpc>
                <a:spcPct val="80000"/>
              </a:lnSpc>
            </a:pPr>
            <a:r>
              <a:rPr lang="fi-FI" sz="1800" dirty="0"/>
              <a:t>voi sijoittua yhdelle tai useammalle tasolle, </a:t>
            </a:r>
          </a:p>
          <a:p>
            <a:pPr lvl="2">
              <a:lnSpc>
                <a:spcPct val="80000"/>
              </a:lnSpc>
            </a:pPr>
            <a:r>
              <a:rPr lang="fi-FI" sz="1800" dirty="0"/>
              <a:t>olla oma vaiheensa tai osa jotain vaihetta</a:t>
            </a:r>
          </a:p>
          <a:p>
            <a:pPr lvl="2">
              <a:lnSpc>
                <a:spcPct val="80000"/>
              </a:lnSpc>
            </a:pPr>
            <a:r>
              <a:rPr lang="fi-FI" sz="1800" dirty="0"/>
              <a:t>Testaustyyppien tarpeellisuus järjestelmätyyppiin perustuvaa</a:t>
            </a:r>
            <a:endParaRPr lang="en-US" sz="1800" dirty="0"/>
          </a:p>
        </p:txBody>
      </p:sp>
      <p:sp>
        <p:nvSpPr>
          <p:cNvPr id="13319" name="Text Box 7"/>
          <p:cNvSpPr txBox="1">
            <a:spLocks noChangeArrowheads="1"/>
          </p:cNvSpPr>
          <p:nvPr/>
        </p:nvSpPr>
        <p:spPr bwMode="auto">
          <a:xfrm>
            <a:off x="6732240" y="5232102"/>
            <a:ext cx="2304255" cy="1077218"/>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pPr algn="ctr">
              <a:spcBef>
                <a:spcPct val="50000"/>
              </a:spcBef>
            </a:pPr>
            <a:r>
              <a:rPr lang="fi-FI" sz="1600" dirty="0">
                <a:solidFill>
                  <a:schemeClr val="bg1"/>
                </a:solidFill>
              </a:rPr>
              <a:t>Testaustoiminnasta tekee jatkuvaa (taso) tarve regressiotestaukseen ko. näkökulmassa</a:t>
            </a:r>
            <a:endParaRPr lang="en-US" sz="1600" dirty="0">
              <a:solidFill>
                <a:schemeClr val="bg1"/>
              </a:solidFill>
            </a:endParaRPr>
          </a:p>
        </p:txBody>
      </p:sp>
      <p:sp>
        <p:nvSpPr>
          <p:cNvPr id="13320" name="Text Box 8"/>
          <p:cNvSpPr txBox="1">
            <a:spLocks noChangeArrowheads="1"/>
          </p:cNvSpPr>
          <p:nvPr/>
        </p:nvSpPr>
        <p:spPr bwMode="auto">
          <a:xfrm>
            <a:off x="6011863" y="3717032"/>
            <a:ext cx="2916237" cy="131445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lgn="ctr">
              <a:spcBef>
                <a:spcPct val="50000"/>
              </a:spcBef>
            </a:pPr>
            <a:r>
              <a:rPr lang="fi-FI" sz="1600" dirty="0">
                <a:solidFill>
                  <a:schemeClr val="bg1"/>
                </a:solidFill>
              </a:rPr>
              <a:t>Testausvaiheiden sisältö eroaa, joten se on tyypiltään kertaluonteinen eikä jatkuva. Jokainen vaihe suunnitellaan sisällöllisesti erillisenä. </a:t>
            </a:r>
            <a:endParaRPr lang="en-US" sz="1600" dirty="0">
              <a:solidFill>
                <a:schemeClr val="bg1"/>
              </a:solidFill>
            </a:endParaRPr>
          </a:p>
        </p:txBody>
      </p:sp>
      <p:sp>
        <p:nvSpPr>
          <p:cNvPr id="6" name="Slide Number Placeholder 5"/>
          <p:cNvSpPr>
            <a:spLocks noGrp="1"/>
          </p:cNvSpPr>
          <p:nvPr>
            <p:ph type="sldNum" sz="quarter" idx="12"/>
          </p:nvPr>
        </p:nvSpPr>
        <p:spPr/>
        <p:txBody>
          <a:bodyPr/>
          <a:lstStyle/>
          <a:p>
            <a:fld id="{7A750B4A-325E-4AA4-BC07-A8C35B32A4F3}" type="slidenum">
              <a:rPr lang="fi-FI" smtClean="0"/>
              <a:pPr/>
              <a:t>34</a:t>
            </a:fld>
            <a:endParaRPr lang="fi-FI"/>
          </a:p>
        </p:txBody>
      </p:sp>
    </p:spTree>
  </p:cSld>
  <p:clrMapOvr>
    <a:masterClrMapping/>
  </p:clrMapOvr>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21"/>
          <p:cNvSpPr>
            <a:spLocks noGrp="1"/>
          </p:cNvSpPr>
          <p:nvPr>
            <p:ph type="title"/>
          </p:nvPr>
        </p:nvSpPr>
        <p:spPr/>
        <p:txBody>
          <a:bodyPr>
            <a:normAutofit fontScale="90000"/>
          </a:bodyPr>
          <a:lstStyle/>
          <a:p>
            <a:r>
              <a:rPr lang="fi-FI" dirty="0" smtClean="0"/>
              <a:t>Tasot, vaiheet ja tyypit, yksi rytmitys</a:t>
            </a:r>
            <a:endParaRPr lang="fi-FI" dirty="0"/>
          </a:p>
        </p:txBody>
      </p:sp>
      <p:sp>
        <p:nvSpPr>
          <p:cNvPr id="80899" name="Rectangle 3"/>
          <p:cNvSpPr>
            <a:spLocks noChangeArrowheads="1"/>
          </p:cNvSpPr>
          <p:nvPr/>
        </p:nvSpPr>
        <p:spPr bwMode="auto">
          <a:xfrm>
            <a:off x="1295400" y="1752600"/>
            <a:ext cx="6934200" cy="990600"/>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wrap="none"/>
          <a:lstStyle/>
          <a:p>
            <a:r>
              <a:rPr lang="fi-FI" b="1" dirty="0"/>
              <a:t>Hyväksymistestaus</a:t>
            </a:r>
            <a:endParaRPr lang="en-GB" b="1" dirty="0"/>
          </a:p>
        </p:txBody>
      </p:sp>
      <p:sp>
        <p:nvSpPr>
          <p:cNvPr id="80900" name="Rectangle 4"/>
          <p:cNvSpPr>
            <a:spLocks noChangeArrowheads="1"/>
          </p:cNvSpPr>
          <p:nvPr/>
        </p:nvSpPr>
        <p:spPr bwMode="auto">
          <a:xfrm>
            <a:off x="1295400" y="2819400"/>
            <a:ext cx="6934200" cy="990600"/>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wrap="none"/>
          <a:lstStyle/>
          <a:p>
            <a:r>
              <a:rPr lang="fi-FI" b="1"/>
              <a:t>Järjestelmätestaus</a:t>
            </a:r>
            <a:endParaRPr lang="en-GB" b="1"/>
          </a:p>
        </p:txBody>
      </p:sp>
      <p:sp>
        <p:nvSpPr>
          <p:cNvPr id="80901" name="Rectangle 5"/>
          <p:cNvSpPr>
            <a:spLocks noChangeArrowheads="1"/>
          </p:cNvSpPr>
          <p:nvPr/>
        </p:nvSpPr>
        <p:spPr bwMode="auto">
          <a:xfrm>
            <a:off x="1295400" y="3886200"/>
            <a:ext cx="6934200" cy="990600"/>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wrap="none"/>
          <a:lstStyle/>
          <a:p>
            <a:r>
              <a:rPr lang="fi-FI" b="1" dirty="0"/>
              <a:t>Integrointitestaus</a:t>
            </a:r>
            <a:endParaRPr lang="en-GB" b="1" dirty="0"/>
          </a:p>
        </p:txBody>
      </p:sp>
      <p:sp>
        <p:nvSpPr>
          <p:cNvPr id="80902" name="Rectangle 6"/>
          <p:cNvSpPr>
            <a:spLocks noChangeArrowheads="1"/>
          </p:cNvSpPr>
          <p:nvPr/>
        </p:nvSpPr>
        <p:spPr bwMode="auto">
          <a:xfrm>
            <a:off x="1295400" y="4953000"/>
            <a:ext cx="6934200" cy="990600"/>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wrap="none"/>
          <a:lstStyle/>
          <a:p>
            <a:r>
              <a:rPr lang="fi-FI" b="1" dirty="0"/>
              <a:t>Yksikkötestaus</a:t>
            </a:r>
            <a:endParaRPr lang="en-GB" b="1" dirty="0"/>
          </a:p>
        </p:txBody>
      </p:sp>
      <p:sp>
        <p:nvSpPr>
          <p:cNvPr id="80903" name="Rectangle 7"/>
          <p:cNvSpPr>
            <a:spLocks noChangeArrowheads="1"/>
          </p:cNvSpPr>
          <p:nvPr/>
        </p:nvSpPr>
        <p:spPr bwMode="auto">
          <a:xfrm>
            <a:off x="6781800" y="1828800"/>
            <a:ext cx="533400" cy="1905000"/>
          </a:xfrm>
          <a:prstGeom prst="rect">
            <a:avLst/>
          </a:prstGeom>
          <a:solidFill>
            <a:schemeClr val="folHlink">
              <a:alpha val="50195"/>
            </a:schemeClr>
          </a:solidFill>
          <a:ln w="9525">
            <a:solidFill>
              <a:schemeClr val="tx1"/>
            </a:solidFill>
            <a:miter lim="800000"/>
            <a:headEnd/>
            <a:tailEnd/>
          </a:ln>
        </p:spPr>
        <p:txBody>
          <a:bodyPr wrap="none" anchor="ctr"/>
          <a:lstStyle/>
          <a:p>
            <a:endParaRPr lang="fi-FI"/>
          </a:p>
        </p:txBody>
      </p:sp>
      <p:sp>
        <p:nvSpPr>
          <p:cNvPr id="80904" name="Rectangle 8"/>
          <p:cNvSpPr>
            <a:spLocks noChangeArrowheads="1"/>
          </p:cNvSpPr>
          <p:nvPr/>
        </p:nvSpPr>
        <p:spPr bwMode="auto">
          <a:xfrm>
            <a:off x="3505200" y="1828800"/>
            <a:ext cx="533400" cy="4038600"/>
          </a:xfrm>
          <a:prstGeom prst="rect">
            <a:avLst/>
          </a:prstGeom>
          <a:solidFill>
            <a:schemeClr val="folHlink">
              <a:alpha val="50195"/>
            </a:schemeClr>
          </a:solidFill>
          <a:ln w="9525">
            <a:solidFill>
              <a:schemeClr val="tx1"/>
            </a:solidFill>
            <a:miter lim="800000"/>
            <a:headEnd/>
            <a:tailEnd/>
          </a:ln>
        </p:spPr>
        <p:txBody>
          <a:bodyPr wrap="none" anchor="ctr"/>
          <a:lstStyle/>
          <a:p>
            <a:endParaRPr lang="fi-FI"/>
          </a:p>
        </p:txBody>
      </p:sp>
      <p:sp>
        <p:nvSpPr>
          <p:cNvPr id="80905" name="Rectangle 9"/>
          <p:cNvSpPr>
            <a:spLocks noChangeArrowheads="1"/>
          </p:cNvSpPr>
          <p:nvPr/>
        </p:nvSpPr>
        <p:spPr bwMode="auto">
          <a:xfrm>
            <a:off x="5334000" y="2895600"/>
            <a:ext cx="533400" cy="2971800"/>
          </a:xfrm>
          <a:prstGeom prst="rect">
            <a:avLst/>
          </a:prstGeom>
          <a:solidFill>
            <a:schemeClr val="folHlink">
              <a:alpha val="50195"/>
            </a:schemeClr>
          </a:solidFill>
          <a:ln w="9525">
            <a:solidFill>
              <a:schemeClr val="tx1"/>
            </a:solidFill>
            <a:miter lim="800000"/>
            <a:headEnd/>
            <a:tailEnd/>
          </a:ln>
        </p:spPr>
        <p:txBody>
          <a:bodyPr wrap="none" anchor="ctr"/>
          <a:lstStyle/>
          <a:p>
            <a:endParaRPr lang="fi-FI"/>
          </a:p>
        </p:txBody>
      </p:sp>
      <p:sp>
        <p:nvSpPr>
          <p:cNvPr id="80906" name="Oval 10"/>
          <p:cNvSpPr>
            <a:spLocks noChangeArrowheads="1"/>
          </p:cNvSpPr>
          <p:nvPr/>
        </p:nvSpPr>
        <p:spPr bwMode="auto">
          <a:xfrm>
            <a:off x="4343400" y="3048000"/>
            <a:ext cx="609600" cy="609600"/>
          </a:xfrm>
          <a:prstGeom prst="ellipse">
            <a:avLst/>
          </a:prstGeom>
          <a:solidFill>
            <a:schemeClr val="hlink"/>
          </a:solidFill>
          <a:ln w="9525">
            <a:solidFill>
              <a:schemeClr val="tx1"/>
            </a:solidFill>
            <a:miter lim="800000"/>
            <a:headEnd/>
            <a:tailEnd/>
          </a:ln>
        </p:spPr>
        <p:txBody>
          <a:bodyPr wrap="none" anchor="ctr"/>
          <a:lstStyle/>
          <a:p>
            <a:endParaRPr lang="fi-FI"/>
          </a:p>
        </p:txBody>
      </p:sp>
      <p:sp>
        <p:nvSpPr>
          <p:cNvPr id="80907" name="Rectangle 11"/>
          <p:cNvSpPr>
            <a:spLocks noChangeArrowheads="1"/>
          </p:cNvSpPr>
          <p:nvPr/>
        </p:nvSpPr>
        <p:spPr bwMode="auto">
          <a:xfrm>
            <a:off x="6019800" y="3048000"/>
            <a:ext cx="609600" cy="609600"/>
          </a:xfrm>
          <a:prstGeom prst="rect">
            <a:avLst/>
          </a:prstGeom>
          <a:solidFill>
            <a:schemeClr val="hlink"/>
          </a:solidFill>
          <a:ln w="9525">
            <a:solidFill>
              <a:schemeClr val="tx1"/>
            </a:solidFill>
            <a:miter lim="800000"/>
            <a:headEnd/>
            <a:tailEnd/>
          </a:ln>
        </p:spPr>
        <p:txBody>
          <a:bodyPr wrap="none" anchor="ctr"/>
          <a:lstStyle/>
          <a:p>
            <a:endParaRPr lang="fi-FI"/>
          </a:p>
        </p:txBody>
      </p:sp>
      <p:sp>
        <p:nvSpPr>
          <p:cNvPr id="80908" name="Rectangle 12"/>
          <p:cNvSpPr>
            <a:spLocks noChangeArrowheads="1"/>
          </p:cNvSpPr>
          <p:nvPr/>
        </p:nvSpPr>
        <p:spPr bwMode="auto">
          <a:xfrm>
            <a:off x="4343400" y="4038600"/>
            <a:ext cx="609600" cy="609600"/>
          </a:xfrm>
          <a:prstGeom prst="rect">
            <a:avLst/>
          </a:prstGeom>
          <a:solidFill>
            <a:schemeClr val="hlink"/>
          </a:solidFill>
          <a:ln w="9525">
            <a:solidFill>
              <a:schemeClr val="tx1"/>
            </a:solidFill>
            <a:miter lim="800000"/>
            <a:headEnd/>
            <a:tailEnd/>
          </a:ln>
        </p:spPr>
        <p:txBody>
          <a:bodyPr wrap="none" anchor="ctr"/>
          <a:lstStyle/>
          <a:p>
            <a:endParaRPr lang="fi-FI"/>
          </a:p>
        </p:txBody>
      </p:sp>
      <p:sp>
        <p:nvSpPr>
          <p:cNvPr id="80909" name="Rectangle 13"/>
          <p:cNvSpPr>
            <a:spLocks noChangeArrowheads="1"/>
          </p:cNvSpPr>
          <p:nvPr/>
        </p:nvSpPr>
        <p:spPr bwMode="auto">
          <a:xfrm>
            <a:off x="4343400" y="5105400"/>
            <a:ext cx="609600" cy="609600"/>
          </a:xfrm>
          <a:prstGeom prst="rect">
            <a:avLst/>
          </a:prstGeom>
          <a:solidFill>
            <a:schemeClr val="hlink"/>
          </a:solidFill>
          <a:ln w="9525">
            <a:solidFill>
              <a:schemeClr val="tx1"/>
            </a:solidFill>
            <a:miter lim="800000"/>
            <a:headEnd/>
            <a:tailEnd/>
          </a:ln>
        </p:spPr>
        <p:txBody>
          <a:bodyPr wrap="none" anchor="ctr"/>
          <a:lstStyle/>
          <a:p>
            <a:endParaRPr lang="fi-FI"/>
          </a:p>
        </p:txBody>
      </p:sp>
      <p:sp>
        <p:nvSpPr>
          <p:cNvPr id="80910" name="Rectangle 14"/>
          <p:cNvSpPr>
            <a:spLocks noChangeArrowheads="1"/>
          </p:cNvSpPr>
          <p:nvPr/>
        </p:nvSpPr>
        <p:spPr bwMode="auto">
          <a:xfrm>
            <a:off x="6019800" y="4038600"/>
            <a:ext cx="1981200" cy="609600"/>
          </a:xfrm>
          <a:prstGeom prst="rect">
            <a:avLst/>
          </a:prstGeom>
          <a:solidFill>
            <a:schemeClr val="hlink"/>
          </a:solidFill>
          <a:ln w="28575">
            <a:solidFill>
              <a:schemeClr val="tx1"/>
            </a:solidFill>
            <a:prstDash val="sysDot"/>
            <a:miter lim="800000"/>
            <a:headEnd/>
            <a:tailEnd/>
          </a:ln>
        </p:spPr>
        <p:txBody>
          <a:bodyPr wrap="none" anchor="ctr"/>
          <a:lstStyle/>
          <a:p>
            <a:pPr algn="ctr"/>
            <a:r>
              <a:rPr lang="fi-FI" sz="2000" i="1" dirty="0"/>
              <a:t>regressio</a:t>
            </a:r>
            <a:endParaRPr lang="en-US" sz="2000" i="1" dirty="0"/>
          </a:p>
        </p:txBody>
      </p:sp>
      <p:sp>
        <p:nvSpPr>
          <p:cNvPr id="80911" name="Rectangle 15"/>
          <p:cNvSpPr>
            <a:spLocks noChangeArrowheads="1"/>
          </p:cNvSpPr>
          <p:nvPr/>
        </p:nvSpPr>
        <p:spPr bwMode="auto">
          <a:xfrm>
            <a:off x="6019800" y="5105400"/>
            <a:ext cx="1981200" cy="609600"/>
          </a:xfrm>
          <a:prstGeom prst="rect">
            <a:avLst/>
          </a:prstGeom>
          <a:solidFill>
            <a:schemeClr val="hlink"/>
          </a:solidFill>
          <a:ln w="28575">
            <a:solidFill>
              <a:schemeClr val="tx1"/>
            </a:solidFill>
            <a:prstDash val="sysDot"/>
            <a:miter lim="800000"/>
            <a:headEnd/>
            <a:tailEnd/>
          </a:ln>
        </p:spPr>
        <p:txBody>
          <a:bodyPr wrap="none" anchor="ctr"/>
          <a:lstStyle/>
          <a:p>
            <a:pPr algn="ctr"/>
            <a:r>
              <a:rPr lang="fi-FI" sz="2000" i="1"/>
              <a:t>regressio</a:t>
            </a:r>
            <a:endParaRPr lang="en-US" sz="2000" i="1"/>
          </a:p>
        </p:txBody>
      </p:sp>
      <p:sp>
        <p:nvSpPr>
          <p:cNvPr id="80912" name="Rectangle 16"/>
          <p:cNvSpPr>
            <a:spLocks noChangeArrowheads="1"/>
          </p:cNvSpPr>
          <p:nvPr/>
        </p:nvSpPr>
        <p:spPr bwMode="auto">
          <a:xfrm>
            <a:off x="7391400" y="1981200"/>
            <a:ext cx="609600" cy="609600"/>
          </a:xfrm>
          <a:prstGeom prst="rect">
            <a:avLst/>
          </a:prstGeom>
          <a:solidFill>
            <a:schemeClr val="hlink"/>
          </a:solidFill>
          <a:ln w="9525">
            <a:solidFill>
              <a:schemeClr val="tx1"/>
            </a:solidFill>
            <a:miter lim="800000"/>
            <a:headEnd/>
            <a:tailEnd/>
          </a:ln>
        </p:spPr>
        <p:txBody>
          <a:bodyPr wrap="none" anchor="ctr"/>
          <a:lstStyle/>
          <a:p>
            <a:endParaRPr lang="fi-FI"/>
          </a:p>
        </p:txBody>
      </p:sp>
      <p:sp>
        <p:nvSpPr>
          <p:cNvPr id="930833" name="AutoShape 17"/>
          <p:cNvSpPr>
            <a:spLocks noChangeArrowheads="1"/>
          </p:cNvSpPr>
          <p:nvPr/>
        </p:nvSpPr>
        <p:spPr bwMode="auto">
          <a:xfrm>
            <a:off x="4724400" y="4972050"/>
            <a:ext cx="381000" cy="381000"/>
          </a:xfrm>
          <a:prstGeom prst="star5">
            <a:avLst/>
          </a:prstGeom>
          <a:solidFill>
            <a:schemeClr val="tx2"/>
          </a:solidFill>
          <a:ln w="9525">
            <a:solidFill>
              <a:schemeClr val="tx1"/>
            </a:solidFill>
            <a:miter lim="800000"/>
            <a:headEnd/>
            <a:tailEnd/>
          </a:ln>
          <a:effectLst/>
        </p:spPr>
        <p:txBody>
          <a:bodyPr wrap="none" anchor="ctr"/>
          <a:lstStyle/>
          <a:p>
            <a:pPr fontAlgn="auto">
              <a:spcBef>
                <a:spcPts val="0"/>
              </a:spcBef>
              <a:spcAft>
                <a:spcPts val="0"/>
              </a:spcAft>
              <a:defRPr/>
            </a:pPr>
            <a:endParaRPr lang="fi-FI"/>
          </a:p>
        </p:txBody>
      </p:sp>
      <p:sp>
        <p:nvSpPr>
          <p:cNvPr id="930834" name="AutoShape 18"/>
          <p:cNvSpPr>
            <a:spLocks noChangeArrowheads="1"/>
          </p:cNvSpPr>
          <p:nvPr/>
        </p:nvSpPr>
        <p:spPr bwMode="auto">
          <a:xfrm>
            <a:off x="7772400" y="1905000"/>
            <a:ext cx="381000" cy="381000"/>
          </a:xfrm>
          <a:prstGeom prst="star5">
            <a:avLst/>
          </a:prstGeom>
          <a:solidFill>
            <a:schemeClr val="tx2"/>
          </a:solidFill>
          <a:ln w="9525">
            <a:solidFill>
              <a:schemeClr val="tx1"/>
            </a:solidFill>
            <a:miter lim="800000"/>
            <a:headEnd/>
            <a:tailEnd/>
          </a:ln>
          <a:effectLst/>
        </p:spPr>
        <p:txBody>
          <a:bodyPr wrap="none" anchor="ctr"/>
          <a:lstStyle/>
          <a:p>
            <a:pPr fontAlgn="auto">
              <a:spcBef>
                <a:spcPts val="0"/>
              </a:spcBef>
              <a:spcAft>
                <a:spcPts val="0"/>
              </a:spcAft>
              <a:defRPr/>
            </a:pPr>
            <a:endParaRPr lang="fi-FI"/>
          </a:p>
        </p:txBody>
      </p:sp>
      <p:sp>
        <p:nvSpPr>
          <p:cNvPr id="80915" name="Oval 19"/>
          <p:cNvSpPr>
            <a:spLocks noChangeArrowheads="1"/>
          </p:cNvSpPr>
          <p:nvPr/>
        </p:nvSpPr>
        <p:spPr bwMode="auto">
          <a:xfrm>
            <a:off x="4356100" y="4024312"/>
            <a:ext cx="609600" cy="609600"/>
          </a:xfrm>
          <a:prstGeom prst="ellipse">
            <a:avLst/>
          </a:prstGeom>
          <a:solidFill>
            <a:schemeClr val="hlink"/>
          </a:solidFill>
          <a:ln w="9525">
            <a:solidFill>
              <a:schemeClr val="tx1"/>
            </a:solidFill>
            <a:miter lim="800000"/>
            <a:headEnd/>
            <a:tailEnd/>
          </a:ln>
        </p:spPr>
        <p:txBody>
          <a:bodyPr wrap="none" anchor="ctr"/>
          <a:lstStyle/>
          <a:p>
            <a:endParaRPr lang="fi-FI"/>
          </a:p>
        </p:txBody>
      </p:sp>
      <p:sp>
        <p:nvSpPr>
          <p:cNvPr id="20" name="Slide Number Placeholder 19"/>
          <p:cNvSpPr>
            <a:spLocks noGrp="1"/>
          </p:cNvSpPr>
          <p:nvPr>
            <p:ph type="sldNum" sz="quarter" idx="12"/>
          </p:nvPr>
        </p:nvSpPr>
        <p:spPr/>
        <p:txBody>
          <a:bodyPr/>
          <a:lstStyle/>
          <a:p>
            <a:fld id="{7A750B4A-325E-4AA4-BC07-A8C35B32A4F3}" type="slidenum">
              <a:rPr lang="fi-FI" smtClean="0"/>
              <a:pPr/>
              <a:t>35</a:t>
            </a:fld>
            <a:endParaRPr lang="fi-FI"/>
          </a:p>
        </p:txBody>
      </p:sp>
    </p:spTree>
  </p:cSld>
  <p:clrMapOvr>
    <a:masterClrMapping/>
  </p:clrMapOvr>
  <p:timing>
    <p:tnLst>
      <p:par>
        <p:cTn xmlns:p14="http://schemas.microsoft.com/office/powerpoint/2010/mai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p:cNvSpPr>
            <a:spLocks noGrp="1"/>
          </p:cNvSpPr>
          <p:nvPr>
            <p:ph type="title"/>
          </p:nvPr>
        </p:nvSpPr>
        <p:spPr/>
        <p:txBody>
          <a:bodyPr>
            <a:normAutofit fontScale="90000"/>
          </a:bodyPr>
          <a:lstStyle/>
          <a:p>
            <a:r>
              <a:rPr lang="fi-FI" dirty="0" smtClean="0"/>
              <a:t>Testaustasot ja –vaiheet, eroja projekteissa</a:t>
            </a:r>
            <a:endParaRPr lang="fi-FI" dirty="0"/>
          </a:p>
        </p:txBody>
      </p:sp>
      <p:sp>
        <p:nvSpPr>
          <p:cNvPr id="10245" name="Rectangle 5"/>
          <p:cNvSpPr>
            <a:spLocks noChangeArrowheads="1"/>
          </p:cNvSpPr>
          <p:nvPr/>
        </p:nvSpPr>
        <p:spPr bwMode="auto">
          <a:xfrm>
            <a:off x="323850" y="1628775"/>
            <a:ext cx="8569325" cy="1295400"/>
          </a:xfrm>
          <a:prstGeom prst="rect">
            <a:avLst/>
          </a:prstGeom>
          <a:solidFill>
            <a:schemeClr val="accent1"/>
          </a:solidFill>
          <a:ln w="9525" algn="ctr">
            <a:solidFill>
              <a:schemeClr val="tx1"/>
            </a:solidFill>
            <a:miter lim="800000"/>
            <a:headEnd/>
            <a:tailEnd/>
          </a:ln>
          <a:effectLst/>
        </p:spPr>
        <p:txBody>
          <a:bodyPr/>
          <a:lstStyle/>
          <a:p>
            <a:r>
              <a:rPr lang="fi-FI">
                <a:latin typeface="Arial Narrow" pitchFamily="34" charset="0"/>
              </a:rPr>
              <a:t>Järjestelmän tilaajien testaus (TASO: HYVÄKSYMISTESTAUS)</a:t>
            </a:r>
            <a:endParaRPr lang="en-US">
              <a:latin typeface="Arial Narrow" pitchFamily="34" charset="0"/>
            </a:endParaRPr>
          </a:p>
        </p:txBody>
      </p:sp>
      <p:sp>
        <p:nvSpPr>
          <p:cNvPr id="10246" name="Rectangle 6"/>
          <p:cNvSpPr>
            <a:spLocks noChangeArrowheads="1"/>
          </p:cNvSpPr>
          <p:nvPr/>
        </p:nvSpPr>
        <p:spPr bwMode="auto">
          <a:xfrm>
            <a:off x="323850" y="2997200"/>
            <a:ext cx="8569325" cy="3168650"/>
          </a:xfrm>
          <a:prstGeom prst="rect">
            <a:avLst/>
          </a:prstGeom>
          <a:solidFill>
            <a:srgbClr val="FFCC66"/>
          </a:solidFill>
          <a:ln w="9525" algn="ctr">
            <a:solidFill>
              <a:schemeClr val="tx1"/>
            </a:solidFill>
            <a:miter lim="800000"/>
            <a:headEnd/>
            <a:tailEnd/>
          </a:ln>
          <a:effectLst/>
        </p:spPr>
        <p:txBody>
          <a:bodyPr/>
          <a:lstStyle/>
          <a:p>
            <a:r>
              <a:rPr lang="fi-FI">
                <a:latin typeface="Arial Narrow" pitchFamily="34" charset="0"/>
              </a:rPr>
              <a:t>Järjestelmän toimittajien testaus</a:t>
            </a:r>
            <a:endParaRPr lang="en-US">
              <a:latin typeface="Arial Narrow" pitchFamily="34" charset="0"/>
            </a:endParaRPr>
          </a:p>
        </p:txBody>
      </p:sp>
      <p:sp>
        <p:nvSpPr>
          <p:cNvPr id="10247" name="Rectangle 7"/>
          <p:cNvSpPr>
            <a:spLocks noChangeArrowheads="1"/>
          </p:cNvSpPr>
          <p:nvPr/>
        </p:nvSpPr>
        <p:spPr bwMode="auto">
          <a:xfrm>
            <a:off x="611188" y="2060575"/>
            <a:ext cx="2952750" cy="647700"/>
          </a:xfrm>
          <a:prstGeom prst="rect">
            <a:avLst/>
          </a:prstGeom>
          <a:solidFill>
            <a:schemeClr val="bg1"/>
          </a:solidFill>
          <a:ln w="9525" algn="ctr">
            <a:solidFill>
              <a:schemeClr val="tx1"/>
            </a:solidFill>
            <a:miter lim="800000"/>
            <a:headEnd/>
            <a:tailEnd/>
          </a:ln>
          <a:effectLst/>
        </p:spPr>
        <p:txBody>
          <a:bodyPr anchor="ctr"/>
          <a:lstStyle/>
          <a:p>
            <a:pPr algn="ctr"/>
            <a:r>
              <a:rPr lang="fi-FI">
                <a:latin typeface="Arial Narrow" pitchFamily="34" charset="0"/>
              </a:rPr>
              <a:t>Asiakastestaus</a:t>
            </a:r>
            <a:br>
              <a:rPr lang="fi-FI">
                <a:latin typeface="Arial Narrow" pitchFamily="34" charset="0"/>
              </a:rPr>
            </a:br>
            <a:r>
              <a:rPr lang="fi-FI" sz="1600">
                <a:latin typeface="Arial Narrow" pitchFamily="34" charset="0"/>
              </a:rPr>
              <a:t>(VAIHE)</a:t>
            </a:r>
            <a:endParaRPr lang="en-US" sz="1600">
              <a:latin typeface="Arial Narrow" pitchFamily="34" charset="0"/>
            </a:endParaRPr>
          </a:p>
        </p:txBody>
      </p:sp>
      <p:sp>
        <p:nvSpPr>
          <p:cNvPr id="10248" name="Rectangle 8"/>
          <p:cNvSpPr>
            <a:spLocks noChangeArrowheads="1"/>
          </p:cNvSpPr>
          <p:nvPr/>
        </p:nvSpPr>
        <p:spPr bwMode="auto">
          <a:xfrm>
            <a:off x="3635375" y="2060575"/>
            <a:ext cx="1943100" cy="647700"/>
          </a:xfrm>
          <a:prstGeom prst="rect">
            <a:avLst/>
          </a:prstGeom>
          <a:solidFill>
            <a:schemeClr val="bg1"/>
          </a:solidFill>
          <a:ln w="38100" algn="ctr">
            <a:solidFill>
              <a:schemeClr val="accent2"/>
            </a:solidFill>
            <a:miter lim="800000"/>
            <a:headEnd/>
            <a:tailEnd/>
          </a:ln>
          <a:effectLst/>
        </p:spPr>
        <p:txBody>
          <a:bodyPr anchor="ctr"/>
          <a:lstStyle/>
          <a:p>
            <a:pPr algn="ctr"/>
            <a:r>
              <a:rPr lang="fi-FI">
                <a:latin typeface="Arial Narrow" pitchFamily="34" charset="0"/>
              </a:rPr>
              <a:t>Hyväksymistestaus</a:t>
            </a:r>
          </a:p>
          <a:p>
            <a:pPr algn="ctr"/>
            <a:r>
              <a:rPr lang="fi-FI" sz="1600">
                <a:latin typeface="Arial Narrow" pitchFamily="34" charset="0"/>
              </a:rPr>
              <a:t>(VAIHE)</a:t>
            </a:r>
            <a:endParaRPr lang="en-US" sz="1600">
              <a:latin typeface="Arial Narrow" pitchFamily="34" charset="0"/>
            </a:endParaRPr>
          </a:p>
        </p:txBody>
      </p:sp>
      <p:sp>
        <p:nvSpPr>
          <p:cNvPr id="10249" name="Rectangle 9"/>
          <p:cNvSpPr>
            <a:spLocks noChangeArrowheads="1"/>
          </p:cNvSpPr>
          <p:nvPr/>
        </p:nvSpPr>
        <p:spPr bwMode="auto">
          <a:xfrm>
            <a:off x="5651500" y="2060575"/>
            <a:ext cx="2952750" cy="647700"/>
          </a:xfrm>
          <a:prstGeom prst="rect">
            <a:avLst/>
          </a:prstGeom>
          <a:solidFill>
            <a:schemeClr val="bg1"/>
          </a:solidFill>
          <a:ln w="9525" algn="ctr">
            <a:solidFill>
              <a:schemeClr val="tx1"/>
            </a:solidFill>
            <a:miter lim="800000"/>
            <a:headEnd/>
            <a:tailEnd/>
          </a:ln>
          <a:effectLst/>
        </p:spPr>
        <p:txBody>
          <a:bodyPr anchor="ctr"/>
          <a:lstStyle/>
          <a:p>
            <a:pPr algn="ctr"/>
            <a:r>
              <a:rPr lang="fi-FI">
                <a:latin typeface="Arial Narrow" pitchFamily="34" charset="0"/>
              </a:rPr>
              <a:t>Asiakastestaus</a:t>
            </a:r>
          </a:p>
          <a:p>
            <a:pPr algn="ctr"/>
            <a:r>
              <a:rPr lang="fi-FI" sz="1600">
                <a:latin typeface="Arial Narrow" pitchFamily="34" charset="0"/>
              </a:rPr>
              <a:t>(VAIHE)</a:t>
            </a:r>
            <a:endParaRPr lang="en-US" sz="1600">
              <a:latin typeface="Arial Narrow" pitchFamily="34" charset="0"/>
            </a:endParaRPr>
          </a:p>
        </p:txBody>
      </p:sp>
      <p:sp>
        <p:nvSpPr>
          <p:cNvPr id="10250" name="Rectangle 10"/>
          <p:cNvSpPr>
            <a:spLocks noChangeArrowheads="1"/>
          </p:cNvSpPr>
          <p:nvPr/>
        </p:nvSpPr>
        <p:spPr bwMode="auto">
          <a:xfrm>
            <a:off x="395288" y="3429000"/>
            <a:ext cx="8424862" cy="1296988"/>
          </a:xfrm>
          <a:prstGeom prst="rect">
            <a:avLst/>
          </a:prstGeom>
          <a:solidFill>
            <a:schemeClr val="accent1"/>
          </a:solidFill>
          <a:ln w="9525" algn="ctr">
            <a:solidFill>
              <a:schemeClr val="tx1"/>
            </a:solidFill>
            <a:miter lim="800000"/>
            <a:headEnd/>
            <a:tailEnd/>
          </a:ln>
          <a:effectLst/>
        </p:spPr>
        <p:txBody>
          <a:bodyPr/>
          <a:lstStyle/>
          <a:p>
            <a:r>
              <a:rPr lang="fi-FI">
                <a:latin typeface="Arial Narrow" pitchFamily="34" charset="0"/>
              </a:rPr>
              <a:t>Järjestelmätestaus (TASO)</a:t>
            </a:r>
            <a:endParaRPr lang="en-US">
              <a:latin typeface="Arial Narrow" pitchFamily="34" charset="0"/>
            </a:endParaRPr>
          </a:p>
        </p:txBody>
      </p:sp>
      <p:sp>
        <p:nvSpPr>
          <p:cNvPr id="10251" name="Rectangle 11"/>
          <p:cNvSpPr>
            <a:spLocks noChangeArrowheads="1"/>
          </p:cNvSpPr>
          <p:nvPr/>
        </p:nvSpPr>
        <p:spPr bwMode="auto">
          <a:xfrm>
            <a:off x="395288" y="4797425"/>
            <a:ext cx="8424862" cy="1296988"/>
          </a:xfrm>
          <a:prstGeom prst="rect">
            <a:avLst/>
          </a:prstGeom>
          <a:solidFill>
            <a:schemeClr val="accent1"/>
          </a:solidFill>
          <a:ln w="9525" algn="ctr">
            <a:solidFill>
              <a:schemeClr val="tx1"/>
            </a:solidFill>
            <a:miter lim="800000"/>
            <a:headEnd/>
            <a:tailEnd/>
          </a:ln>
          <a:effectLst/>
        </p:spPr>
        <p:txBody>
          <a:bodyPr/>
          <a:lstStyle/>
          <a:p>
            <a:r>
              <a:rPr lang="fi-FI">
                <a:latin typeface="Arial Narrow" pitchFamily="34" charset="0"/>
              </a:rPr>
              <a:t>Yksikkö- ja integrointitestaus (TASOT)</a:t>
            </a:r>
            <a:endParaRPr lang="en-US">
              <a:latin typeface="Arial Narrow" pitchFamily="34" charset="0"/>
            </a:endParaRPr>
          </a:p>
        </p:txBody>
      </p:sp>
      <p:sp>
        <p:nvSpPr>
          <p:cNvPr id="10252" name="Rectangle 12"/>
          <p:cNvSpPr>
            <a:spLocks noChangeArrowheads="1"/>
          </p:cNvSpPr>
          <p:nvPr/>
        </p:nvSpPr>
        <p:spPr bwMode="auto">
          <a:xfrm>
            <a:off x="3571868" y="3860800"/>
            <a:ext cx="2376487" cy="647700"/>
          </a:xfrm>
          <a:prstGeom prst="rect">
            <a:avLst/>
          </a:prstGeom>
          <a:solidFill>
            <a:schemeClr val="bg1"/>
          </a:solidFill>
          <a:ln w="9525" algn="ctr">
            <a:solidFill>
              <a:schemeClr val="tx1"/>
            </a:solidFill>
            <a:miter lim="800000"/>
            <a:headEnd/>
            <a:tailEnd/>
          </a:ln>
          <a:effectLst/>
        </p:spPr>
        <p:txBody>
          <a:bodyPr anchor="ctr"/>
          <a:lstStyle/>
          <a:p>
            <a:pPr algn="ctr"/>
            <a:r>
              <a:rPr lang="fi-FI" sz="1600">
                <a:latin typeface="Arial Narrow" pitchFamily="34" charset="0"/>
              </a:rPr>
              <a:t>Järjestelmätestaus</a:t>
            </a:r>
            <a:br>
              <a:rPr lang="fi-FI" sz="1600">
                <a:latin typeface="Arial Narrow" pitchFamily="34" charset="0"/>
              </a:rPr>
            </a:br>
            <a:r>
              <a:rPr lang="fi-FI" sz="1400">
                <a:latin typeface="Arial Narrow" pitchFamily="34" charset="0"/>
              </a:rPr>
              <a:t>(VAIHE)</a:t>
            </a:r>
            <a:endParaRPr lang="en-US" sz="1400">
              <a:latin typeface="Arial Narrow" pitchFamily="34" charset="0"/>
            </a:endParaRPr>
          </a:p>
        </p:txBody>
      </p:sp>
      <p:sp>
        <p:nvSpPr>
          <p:cNvPr id="10253" name="Rectangle 13"/>
          <p:cNvSpPr>
            <a:spLocks noChangeArrowheads="1"/>
          </p:cNvSpPr>
          <p:nvPr/>
        </p:nvSpPr>
        <p:spPr bwMode="auto">
          <a:xfrm>
            <a:off x="539750" y="3860800"/>
            <a:ext cx="2952750" cy="647700"/>
          </a:xfrm>
          <a:prstGeom prst="rect">
            <a:avLst/>
          </a:prstGeom>
          <a:solidFill>
            <a:schemeClr val="bg1"/>
          </a:solidFill>
          <a:ln w="9525" algn="ctr">
            <a:solidFill>
              <a:schemeClr val="tx1"/>
            </a:solidFill>
            <a:miter lim="800000"/>
            <a:headEnd/>
            <a:tailEnd/>
          </a:ln>
          <a:effectLst/>
        </p:spPr>
        <p:txBody>
          <a:bodyPr anchor="ctr"/>
          <a:lstStyle/>
          <a:p>
            <a:pPr algn="ctr"/>
            <a:r>
              <a:rPr lang="fi-FI" sz="1600" dirty="0">
                <a:latin typeface="Arial Narrow" pitchFamily="34" charset="0"/>
              </a:rPr>
              <a:t>Inkrementaalinen järjestelmätestaus</a:t>
            </a:r>
            <a:br>
              <a:rPr lang="fi-FI" sz="1600" dirty="0">
                <a:latin typeface="Arial Narrow" pitchFamily="34" charset="0"/>
              </a:rPr>
            </a:br>
            <a:r>
              <a:rPr lang="fi-FI" sz="1400" dirty="0">
                <a:latin typeface="Arial Narrow" pitchFamily="34" charset="0"/>
              </a:rPr>
              <a:t>(VAIHE)</a:t>
            </a:r>
            <a:endParaRPr lang="en-US" sz="1400" dirty="0">
              <a:latin typeface="Arial Narrow" pitchFamily="34" charset="0"/>
            </a:endParaRPr>
          </a:p>
        </p:txBody>
      </p:sp>
      <p:sp>
        <p:nvSpPr>
          <p:cNvPr id="10254" name="Rectangle 14"/>
          <p:cNvSpPr>
            <a:spLocks noChangeArrowheads="1"/>
          </p:cNvSpPr>
          <p:nvPr/>
        </p:nvSpPr>
        <p:spPr bwMode="auto">
          <a:xfrm>
            <a:off x="6000760" y="3857628"/>
            <a:ext cx="2592387" cy="647700"/>
          </a:xfrm>
          <a:prstGeom prst="rect">
            <a:avLst/>
          </a:prstGeom>
          <a:solidFill>
            <a:schemeClr val="bg1"/>
          </a:solidFill>
          <a:ln w="9525" algn="ctr">
            <a:solidFill>
              <a:schemeClr val="tx1"/>
            </a:solidFill>
            <a:miter lim="800000"/>
            <a:headEnd/>
            <a:tailEnd/>
          </a:ln>
          <a:effectLst/>
        </p:spPr>
        <p:txBody>
          <a:bodyPr anchor="ctr"/>
          <a:lstStyle/>
          <a:p>
            <a:pPr algn="ctr"/>
            <a:r>
              <a:rPr lang="fi-FI" sz="1600" dirty="0" smtClean="0">
                <a:latin typeface="Arial Narrow" pitchFamily="34" charset="0"/>
              </a:rPr>
              <a:t>Kokoava järjestelmätestaus</a:t>
            </a:r>
            <a:r>
              <a:rPr lang="fi-FI" sz="1600" dirty="0">
                <a:latin typeface="Arial Narrow" pitchFamily="34" charset="0"/>
              </a:rPr>
              <a:t/>
            </a:r>
            <a:br>
              <a:rPr lang="fi-FI" sz="1600" dirty="0">
                <a:latin typeface="Arial Narrow" pitchFamily="34" charset="0"/>
              </a:rPr>
            </a:br>
            <a:r>
              <a:rPr lang="fi-FI" sz="1400" dirty="0">
                <a:latin typeface="Arial Narrow" pitchFamily="34" charset="0"/>
              </a:rPr>
              <a:t>(VAIHE)</a:t>
            </a:r>
            <a:endParaRPr lang="en-US" sz="1400" dirty="0">
              <a:latin typeface="Arial Narrow" pitchFamily="34" charset="0"/>
            </a:endParaRPr>
          </a:p>
        </p:txBody>
      </p:sp>
      <p:sp>
        <p:nvSpPr>
          <p:cNvPr id="10255" name="Rectangle 15"/>
          <p:cNvSpPr>
            <a:spLocks noChangeArrowheads="1"/>
          </p:cNvSpPr>
          <p:nvPr/>
        </p:nvSpPr>
        <p:spPr bwMode="auto">
          <a:xfrm>
            <a:off x="539750" y="5229225"/>
            <a:ext cx="2663825" cy="647700"/>
          </a:xfrm>
          <a:prstGeom prst="rect">
            <a:avLst/>
          </a:prstGeom>
          <a:solidFill>
            <a:schemeClr val="bg1"/>
          </a:solidFill>
          <a:ln w="9525" algn="ctr">
            <a:solidFill>
              <a:schemeClr val="tx1"/>
            </a:solidFill>
            <a:miter lim="800000"/>
            <a:headEnd/>
            <a:tailEnd/>
          </a:ln>
          <a:effectLst/>
        </p:spPr>
        <p:txBody>
          <a:bodyPr anchor="ctr"/>
          <a:lstStyle/>
          <a:p>
            <a:pPr algn="ctr"/>
            <a:r>
              <a:rPr lang="fi-FI" sz="1600">
                <a:latin typeface="Arial Narrow" pitchFamily="34" charset="0"/>
              </a:rPr>
              <a:t>Yksikkötestaus - uuskehitys </a:t>
            </a:r>
            <a:r>
              <a:rPr lang="fi-FI" sz="1400">
                <a:latin typeface="Arial Narrow" pitchFamily="34" charset="0"/>
              </a:rPr>
              <a:t>(VAIHE)</a:t>
            </a:r>
            <a:endParaRPr lang="en-US" sz="1400">
              <a:latin typeface="Arial Narrow" pitchFamily="34" charset="0"/>
            </a:endParaRPr>
          </a:p>
        </p:txBody>
      </p:sp>
      <p:sp>
        <p:nvSpPr>
          <p:cNvPr id="10256" name="Rectangle 16"/>
          <p:cNvSpPr>
            <a:spLocks noChangeArrowheads="1"/>
          </p:cNvSpPr>
          <p:nvPr/>
        </p:nvSpPr>
        <p:spPr bwMode="auto">
          <a:xfrm>
            <a:off x="5940425" y="5229225"/>
            <a:ext cx="2663825" cy="647700"/>
          </a:xfrm>
          <a:prstGeom prst="rect">
            <a:avLst/>
          </a:prstGeom>
          <a:solidFill>
            <a:schemeClr val="bg1"/>
          </a:solidFill>
          <a:ln w="9525" algn="ctr">
            <a:solidFill>
              <a:schemeClr val="tx1"/>
            </a:solidFill>
            <a:miter lim="800000"/>
            <a:headEnd/>
            <a:tailEnd/>
          </a:ln>
          <a:effectLst/>
        </p:spPr>
        <p:txBody>
          <a:bodyPr anchor="ctr"/>
          <a:lstStyle/>
          <a:p>
            <a:pPr algn="ctr"/>
            <a:r>
              <a:rPr lang="fi-FI" sz="1600">
                <a:latin typeface="Arial Narrow" pitchFamily="34" charset="0"/>
              </a:rPr>
              <a:t>Yksikkötestaus - virhekorjaus</a:t>
            </a:r>
            <a:br>
              <a:rPr lang="fi-FI" sz="1600">
                <a:latin typeface="Arial Narrow" pitchFamily="34" charset="0"/>
              </a:rPr>
            </a:br>
            <a:r>
              <a:rPr lang="fi-FI" sz="1400">
                <a:latin typeface="Arial Narrow" pitchFamily="34" charset="0"/>
              </a:rPr>
              <a:t>(VAIHE)</a:t>
            </a:r>
            <a:endParaRPr lang="en-US" sz="1400">
              <a:latin typeface="Arial Narrow" pitchFamily="34" charset="0"/>
            </a:endParaRPr>
          </a:p>
        </p:txBody>
      </p:sp>
      <p:sp>
        <p:nvSpPr>
          <p:cNvPr id="10257" name="Rectangle 17"/>
          <p:cNvSpPr>
            <a:spLocks noChangeArrowheads="1"/>
          </p:cNvSpPr>
          <p:nvPr/>
        </p:nvSpPr>
        <p:spPr bwMode="auto">
          <a:xfrm>
            <a:off x="3275013" y="5229225"/>
            <a:ext cx="2592387" cy="647700"/>
          </a:xfrm>
          <a:prstGeom prst="rect">
            <a:avLst/>
          </a:prstGeom>
          <a:solidFill>
            <a:schemeClr val="bg1"/>
          </a:solidFill>
          <a:ln w="9525" algn="ctr">
            <a:solidFill>
              <a:schemeClr val="tx1"/>
            </a:solidFill>
            <a:miter lim="800000"/>
            <a:headEnd/>
            <a:tailEnd/>
          </a:ln>
          <a:effectLst/>
        </p:spPr>
        <p:txBody>
          <a:bodyPr anchor="ctr"/>
          <a:lstStyle/>
          <a:p>
            <a:pPr algn="ctr"/>
            <a:r>
              <a:rPr lang="fi-FI" sz="1600">
                <a:latin typeface="Arial Narrow" pitchFamily="34" charset="0"/>
              </a:rPr>
              <a:t>Integrointitestaus</a:t>
            </a:r>
            <a:br>
              <a:rPr lang="fi-FI" sz="1600">
                <a:latin typeface="Arial Narrow" pitchFamily="34" charset="0"/>
              </a:rPr>
            </a:br>
            <a:r>
              <a:rPr lang="fi-FI" sz="1400">
                <a:latin typeface="Arial Narrow" pitchFamily="34" charset="0"/>
              </a:rPr>
              <a:t>(VAIHE)</a:t>
            </a:r>
            <a:endParaRPr lang="en-US" sz="1400">
              <a:latin typeface="Arial Narrow" pitchFamily="34" charset="0"/>
            </a:endParaRPr>
          </a:p>
        </p:txBody>
      </p:sp>
      <p:sp>
        <p:nvSpPr>
          <p:cNvPr id="17" name="Slide Number Placeholder 16"/>
          <p:cNvSpPr>
            <a:spLocks noGrp="1"/>
          </p:cNvSpPr>
          <p:nvPr>
            <p:ph type="sldNum" sz="quarter" idx="12"/>
          </p:nvPr>
        </p:nvSpPr>
        <p:spPr/>
        <p:txBody>
          <a:bodyPr/>
          <a:lstStyle/>
          <a:p>
            <a:fld id="{7A750B4A-325E-4AA4-BC07-A8C35B32A4F3}" type="slidenum">
              <a:rPr lang="fi-FI" smtClean="0"/>
              <a:pPr/>
              <a:t>36</a:t>
            </a:fld>
            <a:endParaRPr lang="fi-FI"/>
          </a:p>
        </p:txBody>
      </p:sp>
    </p:spTree>
  </p:cSld>
  <p:clrMapOvr>
    <a:masterClrMapping/>
  </p:clrMapOvr>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fi-FI"/>
              <a:t>Huomioita tasoista ja vaiheista</a:t>
            </a:r>
            <a:endParaRPr lang="en-US"/>
          </a:p>
        </p:txBody>
      </p:sp>
      <p:sp>
        <p:nvSpPr>
          <p:cNvPr id="12291" name="Rectangle 3"/>
          <p:cNvSpPr>
            <a:spLocks noGrp="1" noChangeArrowheads="1"/>
          </p:cNvSpPr>
          <p:nvPr>
            <p:ph type="body" idx="1"/>
          </p:nvPr>
        </p:nvSpPr>
        <p:spPr/>
        <p:txBody>
          <a:bodyPr>
            <a:noAutofit/>
          </a:bodyPr>
          <a:lstStyle/>
          <a:p>
            <a:pPr>
              <a:lnSpc>
                <a:spcPct val="80000"/>
              </a:lnSpc>
            </a:pPr>
            <a:r>
              <a:rPr lang="fi-FI" sz="2400" dirty="0"/>
              <a:t>Toimintatavassa voi olla asiakkaan ja toimittajan yhteisiä vaiheita (yhdistävät järjestelmä- ja hyväksymistestaustasoja) </a:t>
            </a:r>
          </a:p>
          <a:p>
            <a:pPr>
              <a:lnSpc>
                <a:spcPct val="80000"/>
              </a:lnSpc>
            </a:pPr>
            <a:r>
              <a:rPr lang="fi-FI" sz="2400" dirty="0"/>
              <a:t>Monitoimittajaympäristöissä on useiden toimittajien yhteisiä vaiheita osana samaa testaustasoa</a:t>
            </a:r>
          </a:p>
          <a:p>
            <a:pPr lvl="1">
              <a:lnSpc>
                <a:spcPct val="80000"/>
              </a:lnSpc>
            </a:pPr>
            <a:r>
              <a:rPr lang="fi-FI" sz="2400" dirty="0"/>
              <a:t>Vrt. </a:t>
            </a:r>
            <a:r>
              <a:rPr lang="fi-FI" sz="2400" dirty="0" smtClean="0"/>
              <a:t>kokoava </a:t>
            </a:r>
            <a:r>
              <a:rPr lang="fi-FI" sz="2400" dirty="0"/>
              <a:t>järjestelmätestaus ennen hyväksymistestausta</a:t>
            </a:r>
          </a:p>
          <a:p>
            <a:pPr>
              <a:lnSpc>
                <a:spcPct val="80000"/>
              </a:lnSpc>
            </a:pPr>
            <a:r>
              <a:rPr lang="fi-FI" sz="2400" dirty="0"/>
              <a:t>Vaiheiden organisointi on </a:t>
            </a:r>
            <a:r>
              <a:rPr lang="fi-FI" sz="2400" dirty="0" smtClean="0"/>
              <a:t>projektikohtaista </a:t>
            </a:r>
            <a:r>
              <a:rPr lang="fi-FI" sz="2400" dirty="0"/>
              <a:t>perusperiaatteiden puitteissa</a:t>
            </a:r>
          </a:p>
          <a:p>
            <a:pPr>
              <a:lnSpc>
                <a:spcPct val="80000"/>
              </a:lnSpc>
            </a:pPr>
            <a:r>
              <a:rPr lang="fi-FI" sz="2400" dirty="0"/>
              <a:t>Joskus asiakas maksaa </a:t>
            </a:r>
            <a:r>
              <a:rPr lang="fi-FI" sz="2400" dirty="0" smtClean="0"/>
              <a:t>korjaukset löytämistään havainnoista. </a:t>
            </a:r>
            <a:r>
              <a:rPr lang="fi-FI" sz="2400" dirty="0"/>
              <a:t>Joskus toimittaja maksaa </a:t>
            </a:r>
            <a:r>
              <a:rPr lang="fi-FI" sz="2400" dirty="0" smtClean="0"/>
              <a:t>korjaukset asiakkaan </a:t>
            </a:r>
            <a:r>
              <a:rPr lang="fi-FI" sz="2400" dirty="0"/>
              <a:t>löytämistä </a:t>
            </a:r>
            <a:r>
              <a:rPr lang="fi-FI" sz="2400" dirty="0" smtClean="0"/>
              <a:t>havainnoista, jopa korvauksia asiakkaan käyttämästä testausajasta (harvoin). </a:t>
            </a:r>
          </a:p>
        </p:txBody>
      </p:sp>
      <p:sp>
        <p:nvSpPr>
          <p:cNvPr id="4" name="Slide Number Placeholder 3"/>
          <p:cNvSpPr>
            <a:spLocks noGrp="1"/>
          </p:cNvSpPr>
          <p:nvPr>
            <p:ph type="sldNum" sz="quarter" idx="12"/>
          </p:nvPr>
        </p:nvSpPr>
        <p:spPr/>
        <p:txBody>
          <a:bodyPr/>
          <a:lstStyle/>
          <a:p>
            <a:fld id="{7A750B4A-325E-4AA4-BC07-A8C35B32A4F3}" type="slidenum">
              <a:rPr lang="fi-FI" smtClean="0"/>
              <a:pPr/>
              <a:t>37</a:t>
            </a:fld>
            <a:endParaRPr lang="fi-FI"/>
          </a:p>
        </p:txBody>
      </p:sp>
    </p:spTree>
  </p:cSld>
  <p:clrMapOvr>
    <a:masterClrMapping/>
  </p:clrMapOvr>
  <p:timing>
    <p:tnLst>
      <p:par>
        <p:cTn xmlns:p14="http://schemas.microsoft.com/office/powerpoint/2010/mai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fi-FI" sz="2800" dirty="0" smtClean="0"/>
              <a:t>Hyväksymistestauksen erot laskunmaksuun ja tuotantoonsiirtoon liittyen</a:t>
            </a:r>
            <a:endParaRPr lang="fi-FI" sz="2800" dirty="0"/>
          </a:p>
        </p:txBody>
      </p:sp>
      <p:sp>
        <p:nvSpPr>
          <p:cNvPr id="6" name="Rectangle 5"/>
          <p:cNvSpPr/>
          <p:nvPr/>
        </p:nvSpPr>
        <p:spPr>
          <a:xfrm>
            <a:off x="1219200" y="1752600"/>
            <a:ext cx="3810000" cy="1447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2400" dirty="0" smtClean="0"/>
              <a:t>Sopimushyväksymistestaus</a:t>
            </a:r>
            <a:endParaRPr lang="fi-FI" sz="2400" dirty="0"/>
          </a:p>
        </p:txBody>
      </p:sp>
      <p:sp>
        <p:nvSpPr>
          <p:cNvPr id="7" name="Rectangle 6"/>
          <p:cNvSpPr/>
          <p:nvPr/>
        </p:nvSpPr>
        <p:spPr>
          <a:xfrm>
            <a:off x="1219200" y="3352800"/>
            <a:ext cx="3810000" cy="1447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2400" dirty="0" smtClean="0"/>
              <a:t>Tuotantoonhyväksymis-testaus</a:t>
            </a:r>
            <a:endParaRPr lang="fi-FI" sz="2400" dirty="0"/>
          </a:p>
        </p:txBody>
      </p:sp>
      <p:sp>
        <p:nvSpPr>
          <p:cNvPr id="13" name="Right Arrow 12"/>
          <p:cNvSpPr/>
          <p:nvPr/>
        </p:nvSpPr>
        <p:spPr>
          <a:xfrm>
            <a:off x="5181600" y="2971800"/>
            <a:ext cx="304800" cy="685800"/>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i-FI"/>
          </a:p>
        </p:txBody>
      </p:sp>
      <p:sp>
        <p:nvSpPr>
          <p:cNvPr id="14" name="Oval 13"/>
          <p:cNvSpPr/>
          <p:nvPr/>
        </p:nvSpPr>
        <p:spPr>
          <a:xfrm>
            <a:off x="5638800" y="2819400"/>
            <a:ext cx="1676400" cy="10668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i-FI" dirty="0" smtClean="0"/>
              <a:t>Havainnot</a:t>
            </a:r>
            <a:endParaRPr lang="fi-FI" dirty="0"/>
          </a:p>
        </p:txBody>
      </p:sp>
      <p:sp>
        <p:nvSpPr>
          <p:cNvPr id="15" name="TextBox 14"/>
          <p:cNvSpPr txBox="1"/>
          <p:nvPr/>
        </p:nvSpPr>
        <p:spPr>
          <a:xfrm>
            <a:off x="5410200" y="1752600"/>
            <a:ext cx="2362200" cy="923330"/>
          </a:xfrm>
          <a:prstGeom prst="rect">
            <a:avLst/>
          </a:prstGeom>
          <a:noFill/>
        </p:spPr>
        <p:txBody>
          <a:bodyPr wrap="square" rtlCol="0">
            <a:spAutoFit/>
          </a:bodyPr>
          <a:lstStyle/>
          <a:p>
            <a:r>
              <a:rPr lang="fi-FI" smtClean="0"/>
              <a:t>Alunperin asetetut ja muutoshallinnalla muutetut </a:t>
            </a:r>
            <a:r>
              <a:rPr lang="fi-FI" dirty="0" smtClean="0"/>
              <a:t>vaatimukset</a:t>
            </a:r>
            <a:endParaRPr lang="fi-FI" dirty="0"/>
          </a:p>
        </p:txBody>
      </p:sp>
      <p:sp>
        <p:nvSpPr>
          <p:cNvPr id="16" name="TextBox 15"/>
          <p:cNvSpPr txBox="1"/>
          <p:nvPr/>
        </p:nvSpPr>
        <p:spPr>
          <a:xfrm>
            <a:off x="5410200" y="4038600"/>
            <a:ext cx="2590800" cy="646331"/>
          </a:xfrm>
          <a:prstGeom prst="rect">
            <a:avLst/>
          </a:prstGeom>
          <a:noFill/>
        </p:spPr>
        <p:txBody>
          <a:bodyPr wrap="square" rtlCol="0">
            <a:spAutoFit/>
          </a:bodyPr>
          <a:lstStyle/>
          <a:p>
            <a:r>
              <a:rPr lang="fi-FI" dirty="0" smtClean="0"/>
              <a:t>Odotettu lisäarvo, ei esteitä tuotantokäytölle</a:t>
            </a:r>
            <a:endParaRPr lang="fi-FI" dirty="0"/>
          </a:p>
        </p:txBody>
      </p:sp>
      <p:sp>
        <p:nvSpPr>
          <p:cNvPr id="17" name="Cloud 16"/>
          <p:cNvSpPr/>
          <p:nvPr/>
        </p:nvSpPr>
        <p:spPr>
          <a:xfrm>
            <a:off x="2667000" y="5105400"/>
            <a:ext cx="1905000" cy="1219200"/>
          </a:xfrm>
          <a:prstGeom prst="cloud">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fi-FI" dirty="0" smtClean="0"/>
              <a:t>Takuu-korjaukset</a:t>
            </a:r>
            <a:endParaRPr lang="fi-FI" dirty="0"/>
          </a:p>
        </p:txBody>
      </p:sp>
      <p:sp>
        <p:nvSpPr>
          <p:cNvPr id="18" name="Cloud 17"/>
          <p:cNvSpPr/>
          <p:nvPr/>
        </p:nvSpPr>
        <p:spPr>
          <a:xfrm>
            <a:off x="685800" y="5105400"/>
            <a:ext cx="1905000" cy="1219200"/>
          </a:xfrm>
          <a:prstGeom prst="cloud">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fi-FI" dirty="0" smtClean="0"/>
              <a:t>Hyte-korjaukset</a:t>
            </a:r>
            <a:endParaRPr lang="fi-FI" dirty="0"/>
          </a:p>
        </p:txBody>
      </p:sp>
      <p:sp>
        <p:nvSpPr>
          <p:cNvPr id="19" name="Rectangle 18"/>
          <p:cNvSpPr/>
          <p:nvPr/>
        </p:nvSpPr>
        <p:spPr>
          <a:xfrm>
            <a:off x="6705600" y="4848761"/>
            <a:ext cx="2286000" cy="1323439"/>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pPr algn="ctr"/>
            <a:r>
              <a:rPr lang="fi-FI" sz="2000" dirty="0" smtClean="0"/>
              <a:t>Mitä velvotteita ja vastuunsiirtoja hyväksymiseen tässä kohden liittyy? </a:t>
            </a:r>
          </a:p>
        </p:txBody>
      </p:sp>
      <p:sp>
        <p:nvSpPr>
          <p:cNvPr id="20" name="Cloud 19"/>
          <p:cNvSpPr/>
          <p:nvPr/>
        </p:nvSpPr>
        <p:spPr>
          <a:xfrm>
            <a:off x="4648200" y="5105400"/>
            <a:ext cx="1905000" cy="1219200"/>
          </a:xfrm>
          <a:prstGeom prst="cloud">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fi-FI" dirty="0" smtClean="0"/>
              <a:t>Ylläpito-korjaukset</a:t>
            </a:r>
            <a:endParaRPr lang="fi-FI" dirty="0"/>
          </a:p>
        </p:txBody>
      </p:sp>
      <p:sp>
        <p:nvSpPr>
          <p:cNvPr id="21" name="Slide Number Placeholder 20"/>
          <p:cNvSpPr>
            <a:spLocks noGrp="1"/>
          </p:cNvSpPr>
          <p:nvPr>
            <p:ph type="sldNum" sz="quarter" idx="12"/>
          </p:nvPr>
        </p:nvSpPr>
        <p:spPr/>
        <p:txBody>
          <a:bodyPr/>
          <a:lstStyle/>
          <a:p>
            <a:fld id="{7A750B4A-325E-4AA4-BC07-A8C35B32A4F3}" type="slidenum">
              <a:rPr lang="fi-FI" smtClean="0"/>
              <a:pPr/>
              <a:t>38</a:t>
            </a:fld>
            <a:endParaRPr lang="fi-FI"/>
          </a:p>
        </p:txBody>
      </p:sp>
    </p:spTree>
  </p:cSld>
  <p:clrMapOvr>
    <a:masterClrMapping/>
  </p:clrMapOvr>
  <p:timing>
    <p:tnLst>
      <p:par>
        <p:cTn xmlns:p14="http://schemas.microsoft.com/office/powerpoint/2010/mai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fi-FI" dirty="0" smtClean="0"/>
              <a:t>Dokumentaation katselmointien rooli hyväksymistestauksessa</a:t>
            </a:r>
            <a:endParaRPr lang="fi-FI" dirty="0"/>
          </a:p>
        </p:txBody>
      </p:sp>
      <p:graphicFrame>
        <p:nvGraphicFramePr>
          <p:cNvPr id="72707" name="Object 3"/>
          <p:cNvGraphicFramePr>
            <a:graphicFrameLocks noChangeAspect="1"/>
          </p:cNvGraphicFramePr>
          <p:nvPr/>
        </p:nvGraphicFramePr>
        <p:xfrm>
          <a:off x="163513" y="1635146"/>
          <a:ext cx="5840412" cy="4772025"/>
        </p:xfrm>
        <a:graphic>
          <a:graphicData uri="http://schemas.openxmlformats.org/presentationml/2006/ole">
            <mc:AlternateContent xmlns:mc="http://schemas.openxmlformats.org/markup-compatibility/2006">
              <mc:Choice xmlns:v="urn:schemas-microsoft-com:vml" Requires="v">
                <p:oleObj spid="_x0000_s8197" name="Visio" r:id="rId4" imgW="4024440" imgH="3288240" progId="">
                  <p:embed/>
                </p:oleObj>
              </mc:Choice>
              <mc:Fallback>
                <p:oleObj name="Visio" r:id="rId4" imgW="4024440" imgH="3288240" progId="">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3513" y="1635146"/>
                        <a:ext cx="5840412" cy="477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920580" name="Text Box 4"/>
          <p:cNvSpPr txBox="1">
            <a:spLocks noChangeArrowheads="1"/>
          </p:cNvSpPr>
          <p:nvPr/>
        </p:nvSpPr>
        <p:spPr bwMode="auto">
          <a:xfrm>
            <a:off x="6146800" y="1519259"/>
            <a:ext cx="2727325" cy="4910137"/>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lgn="ctr">
              <a:spcBef>
                <a:spcPct val="50000"/>
              </a:spcBef>
            </a:pPr>
            <a:r>
              <a:rPr lang="fi-FI" dirty="0">
                <a:latin typeface="Arial Narrow" pitchFamily="34" charset="0"/>
              </a:rPr>
              <a:t>Katselmoi, mieluummin kuin määrittele testitapauksia virheellisiin vaatimuksiin pohjaten.</a:t>
            </a:r>
          </a:p>
          <a:p>
            <a:pPr algn="ctr">
              <a:spcBef>
                <a:spcPct val="50000"/>
              </a:spcBef>
            </a:pPr>
            <a:r>
              <a:rPr lang="fi-FI" dirty="0">
                <a:latin typeface="Arial Narrow" pitchFamily="34" charset="0"/>
              </a:rPr>
              <a:t>Vertaiskatselmointien virheenpoistoteho 60 % Perspektiivipohjaisesti suunnattujen teho 35 % enemmän.</a:t>
            </a:r>
          </a:p>
          <a:p>
            <a:pPr algn="ctr">
              <a:spcBef>
                <a:spcPct val="50000"/>
              </a:spcBef>
            </a:pPr>
            <a:r>
              <a:rPr lang="fi-FI" b="1" dirty="0">
                <a:latin typeface="Arial Narrow" pitchFamily="34" charset="0"/>
                <a:sym typeface="Wingdings" pitchFamily="2" charset="2"/>
              </a:rPr>
              <a:t>parhailla katselmoijilla 20 % virheistä menee läpi testaukseen saakka.</a:t>
            </a:r>
          </a:p>
          <a:p>
            <a:pPr algn="ctr">
              <a:spcBef>
                <a:spcPct val="50000"/>
              </a:spcBef>
            </a:pPr>
            <a:r>
              <a:rPr lang="fi-FI" dirty="0">
                <a:latin typeface="Arial Narrow" pitchFamily="34" charset="0"/>
                <a:sym typeface="Wingdings" pitchFamily="2" charset="2"/>
              </a:rPr>
              <a:t>Virheet eivät ole tasa-arvoisia. 80 % vältettävissä olevasta korjaustyöstä tulee 20 %:sta koodia. </a:t>
            </a:r>
            <a:endParaRPr lang="en-GB" dirty="0">
              <a:latin typeface="Arial Narrow" pitchFamily="34" charset="0"/>
            </a:endParaRPr>
          </a:p>
        </p:txBody>
      </p:sp>
      <p:sp>
        <p:nvSpPr>
          <p:cNvPr id="6" name="Slide Number Placeholder 5"/>
          <p:cNvSpPr>
            <a:spLocks noGrp="1"/>
          </p:cNvSpPr>
          <p:nvPr>
            <p:ph type="sldNum" sz="quarter" idx="12"/>
          </p:nvPr>
        </p:nvSpPr>
        <p:spPr/>
        <p:txBody>
          <a:bodyPr/>
          <a:lstStyle/>
          <a:p>
            <a:fld id="{7A750B4A-325E-4AA4-BC07-A8C35B32A4F3}" type="slidenum">
              <a:rPr lang="fi-FI" smtClean="0"/>
              <a:pPr/>
              <a:t>39</a:t>
            </a:fld>
            <a:endParaRPr lang="fi-FI"/>
          </a:p>
        </p:txBody>
      </p:sp>
    </p:spTree>
  </p:cSld>
  <p:clrMapOvr>
    <a:masterClrMapping/>
  </p:clrMapOvr>
  <p:timing>
    <p:tnLst>
      <p:par>
        <p:cTn xmlns:p14="http://schemas.microsoft.com/office/powerpoint/2010/mai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114" name="Line 18"/>
          <p:cNvSpPr>
            <a:spLocks noChangeShapeType="1"/>
          </p:cNvSpPr>
          <p:nvPr/>
        </p:nvSpPr>
        <p:spPr bwMode="auto">
          <a:xfrm>
            <a:off x="197619" y="3868755"/>
            <a:ext cx="8478837" cy="0"/>
          </a:xfrm>
          <a:prstGeom prst="line">
            <a:avLst/>
          </a:prstGeom>
          <a:noFill/>
          <a:ln w="9525">
            <a:solidFill>
              <a:schemeClr val="bg2"/>
            </a:solidFill>
            <a:prstDash val="dash"/>
            <a:round/>
            <a:headEnd/>
            <a:tailEnd/>
          </a:ln>
          <a:effectLst/>
        </p:spPr>
        <p:txBody>
          <a:bodyPr wrap="none" lIns="90000" tIns="46800" rIns="90000" bIns="46800" anchor="ctr"/>
          <a:lstStyle/>
          <a:p>
            <a:endParaRPr lang="fi-FI"/>
          </a:p>
        </p:txBody>
      </p:sp>
      <p:sp>
        <p:nvSpPr>
          <p:cNvPr id="900098" name="Rectangle 2"/>
          <p:cNvSpPr>
            <a:spLocks noGrp="1" noChangeArrowheads="1"/>
          </p:cNvSpPr>
          <p:nvPr>
            <p:ph type="title"/>
          </p:nvPr>
        </p:nvSpPr>
        <p:spPr/>
        <p:txBody>
          <a:bodyPr>
            <a:normAutofit fontScale="90000"/>
          </a:bodyPr>
          <a:lstStyle/>
          <a:p>
            <a:r>
              <a:rPr lang="en-GB" dirty="0" err="1" smtClean="0"/>
              <a:t>Järjestelmätestauksen</a:t>
            </a:r>
            <a:r>
              <a:rPr lang="en-GB" dirty="0" smtClean="0"/>
              <a:t> </a:t>
            </a:r>
            <a:r>
              <a:rPr lang="en-GB" dirty="0" err="1" smtClean="0"/>
              <a:t>ja</a:t>
            </a:r>
            <a:r>
              <a:rPr lang="en-GB" dirty="0" smtClean="0"/>
              <a:t> </a:t>
            </a:r>
            <a:r>
              <a:rPr lang="en-GB" dirty="0" err="1" smtClean="0"/>
              <a:t>hyväksymistestauksen</a:t>
            </a:r>
            <a:r>
              <a:rPr lang="en-GB" dirty="0" smtClean="0"/>
              <a:t> </a:t>
            </a:r>
            <a:r>
              <a:rPr lang="en-GB" dirty="0" err="1" smtClean="0"/>
              <a:t>ero</a:t>
            </a:r>
            <a:endParaRPr lang="en-GB" dirty="0"/>
          </a:p>
        </p:txBody>
      </p:sp>
      <p:grpSp>
        <p:nvGrpSpPr>
          <p:cNvPr id="2" name="Group 10"/>
          <p:cNvGrpSpPr>
            <a:grpSpLocks/>
          </p:cNvGrpSpPr>
          <p:nvPr/>
        </p:nvGrpSpPr>
        <p:grpSpPr bwMode="auto">
          <a:xfrm>
            <a:off x="492125" y="3490930"/>
            <a:ext cx="4564063" cy="752475"/>
            <a:chOff x="1084" y="1762"/>
            <a:chExt cx="2875" cy="474"/>
          </a:xfrm>
        </p:grpSpPr>
        <p:sp>
          <p:nvSpPr>
            <p:cNvPr id="900100" name="Line 4"/>
            <p:cNvSpPr>
              <a:spLocks noChangeShapeType="1"/>
            </p:cNvSpPr>
            <p:nvPr/>
          </p:nvSpPr>
          <p:spPr bwMode="auto">
            <a:xfrm>
              <a:off x="1084" y="1762"/>
              <a:ext cx="587" cy="0"/>
            </a:xfrm>
            <a:prstGeom prst="line">
              <a:avLst/>
            </a:prstGeom>
            <a:noFill/>
            <a:ln w="57150">
              <a:solidFill>
                <a:schemeClr val="accent1"/>
              </a:solidFill>
              <a:round/>
              <a:headEnd type="triangle" w="med" len="med"/>
              <a:tailEnd type="triangle" w="med" len="med"/>
            </a:ln>
            <a:effectLst/>
          </p:spPr>
          <p:txBody>
            <a:bodyPr wrap="none" lIns="90000" tIns="46800" rIns="90000" bIns="46800" anchor="ctr"/>
            <a:lstStyle/>
            <a:p>
              <a:endParaRPr lang="fi-FI">
                <a:solidFill>
                  <a:schemeClr val="bg1"/>
                </a:solidFill>
              </a:endParaRPr>
            </a:p>
          </p:txBody>
        </p:sp>
        <p:sp>
          <p:nvSpPr>
            <p:cNvPr id="900101" name="Line 5"/>
            <p:cNvSpPr>
              <a:spLocks noChangeShapeType="1"/>
            </p:cNvSpPr>
            <p:nvPr/>
          </p:nvSpPr>
          <p:spPr bwMode="auto">
            <a:xfrm>
              <a:off x="1661" y="1762"/>
              <a:ext cx="2298" cy="0"/>
            </a:xfrm>
            <a:prstGeom prst="line">
              <a:avLst/>
            </a:prstGeom>
            <a:noFill/>
            <a:ln w="57150">
              <a:solidFill>
                <a:srgbClr val="333399"/>
              </a:solidFill>
              <a:round/>
              <a:headEnd type="triangle" w="med" len="med"/>
              <a:tailEnd type="triangle" w="med" len="med"/>
            </a:ln>
            <a:effectLst/>
          </p:spPr>
          <p:txBody>
            <a:bodyPr wrap="none" lIns="90000" tIns="46800" rIns="90000" bIns="46800" anchor="ctr"/>
            <a:lstStyle/>
            <a:p>
              <a:endParaRPr lang="fi-FI">
                <a:solidFill>
                  <a:schemeClr val="bg1"/>
                </a:solidFill>
              </a:endParaRPr>
            </a:p>
          </p:txBody>
        </p:sp>
        <p:sp>
          <p:nvSpPr>
            <p:cNvPr id="900102" name="Line 6"/>
            <p:cNvSpPr>
              <a:spLocks noChangeShapeType="1"/>
            </p:cNvSpPr>
            <p:nvPr/>
          </p:nvSpPr>
          <p:spPr bwMode="auto">
            <a:xfrm flipH="1">
              <a:off x="3372" y="2236"/>
              <a:ext cx="587" cy="0"/>
            </a:xfrm>
            <a:prstGeom prst="line">
              <a:avLst/>
            </a:prstGeom>
            <a:noFill/>
            <a:ln w="57150">
              <a:solidFill>
                <a:srgbClr val="333399"/>
              </a:solidFill>
              <a:round/>
              <a:headEnd type="triangle" w="med" len="med"/>
              <a:tailEnd type="triangle" w="med" len="med"/>
            </a:ln>
            <a:effectLst/>
          </p:spPr>
          <p:txBody>
            <a:bodyPr wrap="none" lIns="90000" tIns="46800" rIns="90000" bIns="46800" anchor="ctr"/>
            <a:lstStyle/>
            <a:p>
              <a:endParaRPr lang="fi-FI">
                <a:solidFill>
                  <a:schemeClr val="bg1"/>
                </a:solidFill>
              </a:endParaRPr>
            </a:p>
          </p:txBody>
        </p:sp>
        <p:sp>
          <p:nvSpPr>
            <p:cNvPr id="900103" name="Line 7"/>
            <p:cNvSpPr>
              <a:spLocks noChangeShapeType="1"/>
            </p:cNvSpPr>
            <p:nvPr/>
          </p:nvSpPr>
          <p:spPr bwMode="auto">
            <a:xfrm flipH="1">
              <a:off x="1084" y="2236"/>
              <a:ext cx="2298" cy="0"/>
            </a:xfrm>
            <a:prstGeom prst="line">
              <a:avLst/>
            </a:prstGeom>
            <a:noFill/>
            <a:ln w="57150">
              <a:solidFill>
                <a:schemeClr val="accent1"/>
              </a:solidFill>
              <a:round/>
              <a:headEnd type="triangle" w="med" len="med"/>
              <a:tailEnd type="triangle" w="med" len="med"/>
            </a:ln>
            <a:effectLst/>
          </p:spPr>
          <p:txBody>
            <a:bodyPr wrap="none" lIns="90000" tIns="46800" rIns="90000" bIns="46800" anchor="ctr"/>
            <a:lstStyle/>
            <a:p>
              <a:endParaRPr lang="fi-FI">
                <a:solidFill>
                  <a:schemeClr val="bg1"/>
                </a:solidFill>
              </a:endParaRPr>
            </a:p>
          </p:txBody>
        </p:sp>
        <p:sp>
          <p:nvSpPr>
            <p:cNvPr id="900105" name="Text Box 9"/>
            <p:cNvSpPr txBox="1">
              <a:spLocks noChangeArrowheads="1"/>
            </p:cNvSpPr>
            <p:nvPr/>
          </p:nvSpPr>
          <p:spPr bwMode="auto">
            <a:xfrm>
              <a:off x="1084" y="1881"/>
              <a:ext cx="2841" cy="237"/>
            </a:xfrm>
            <a:prstGeom prst="rect">
              <a:avLst/>
            </a:prstGeom>
            <a:solidFill>
              <a:schemeClr val="folHlink"/>
            </a:solidFill>
            <a:ln w="9525">
              <a:solidFill>
                <a:schemeClr val="bg2"/>
              </a:solidFill>
              <a:miter lim="800000"/>
              <a:headEnd/>
              <a:tailEnd/>
            </a:ln>
            <a:effectLst/>
          </p:spPr>
          <p:txBody>
            <a:bodyPr lIns="90000" tIns="46800" rIns="90000" bIns="46800">
              <a:spAutoFit/>
            </a:bodyPr>
            <a:lstStyle/>
            <a:p>
              <a:pPr algn="ctr">
                <a:spcBef>
                  <a:spcPct val="50000"/>
                </a:spcBef>
              </a:pPr>
              <a:r>
                <a:rPr lang="en-GB" dirty="0" err="1" smtClean="0">
                  <a:solidFill>
                    <a:schemeClr val="bg1"/>
                  </a:solidFill>
                </a:rPr>
                <a:t>Testattava</a:t>
              </a:r>
              <a:r>
                <a:rPr lang="en-GB" dirty="0" smtClean="0">
                  <a:solidFill>
                    <a:schemeClr val="bg1"/>
                  </a:solidFill>
                </a:rPr>
                <a:t> </a:t>
              </a:r>
              <a:r>
                <a:rPr lang="en-GB" dirty="0" err="1" smtClean="0">
                  <a:solidFill>
                    <a:schemeClr val="bg1"/>
                  </a:solidFill>
                </a:rPr>
                <a:t>järjestelmä</a:t>
              </a:r>
              <a:endParaRPr lang="en-GB" dirty="0">
                <a:solidFill>
                  <a:schemeClr val="bg1"/>
                </a:solidFill>
              </a:endParaRPr>
            </a:p>
          </p:txBody>
        </p:sp>
      </p:grpSp>
      <p:sp>
        <p:nvSpPr>
          <p:cNvPr id="900109" name="Rectangle 13"/>
          <p:cNvSpPr>
            <a:spLocks noChangeArrowheads="1"/>
          </p:cNvSpPr>
          <p:nvPr/>
        </p:nvSpPr>
        <p:spPr bwMode="auto">
          <a:xfrm>
            <a:off x="5230813" y="4175143"/>
            <a:ext cx="3455987" cy="1703387"/>
          </a:xfrm>
          <a:prstGeom prst="rect">
            <a:avLst/>
          </a:prstGeom>
          <a:noFill/>
          <a:ln w="9525">
            <a:noFill/>
            <a:miter lim="800000"/>
            <a:headEnd/>
            <a:tailEnd/>
          </a:ln>
          <a:effectLst/>
        </p:spPr>
        <p:txBody>
          <a:bodyPr lIns="0" tIns="0" rIns="0" bIns="0"/>
          <a:lstStyle/>
          <a:p>
            <a:pPr marL="284163" indent="-284163">
              <a:spcAft>
                <a:spcPct val="20000"/>
              </a:spcAft>
              <a:buClr>
                <a:schemeClr val="accent1"/>
              </a:buClr>
              <a:buFont typeface="Wingdings" pitchFamily="2" charset="2"/>
              <a:buChar char="§"/>
            </a:pPr>
            <a:r>
              <a:rPr lang="en-GB" b="1" i="1" dirty="0" err="1" smtClean="0"/>
              <a:t>Hyväksymistestaus</a:t>
            </a:r>
            <a:r>
              <a:rPr lang="en-GB" b="1" i="1" dirty="0" smtClean="0"/>
              <a:t> </a:t>
            </a:r>
            <a:r>
              <a:rPr lang="en-GB" dirty="0" err="1" smtClean="0"/>
              <a:t>keskittyy</a:t>
            </a:r>
            <a:r>
              <a:rPr lang="en-GB" dirty="0" smtClean="0"/>
              <a:t> </a:t>
            </a:r>
            <a:r>
              <a:rPr lang="en-GB" dirty="0" err="1" smtClean="0"/>
              <a:t>todelliseen</a:t>
            </a:r>
            <a:r>
              <a:rPr lang="en-GB" dirty="0" smtClean="0"/>
              <a:t> </a:t>
            </a:r>
            <a:r>
              <a:rPr lang="en-GB" dirty="0" err="1" smtClean="0"/>
              <a:t>liiketoimintaprosessiin</a:t>
            </a:r>
            <a:r>
              <a:rPr lang="en-GB" dirty="0" smtClean="0"/>
              <a:t> </a:t>
            </a:r>
            <a:r>
              <a:rPr lang="en-GB" dirty="0" err="1" smtClean="0"/>
              <a:t>ja</a:t>
            </a:r>
            <a:r>
              <a:rPr lang="en-GB" dirty="0" smtClean="0"/>
              <a:t> </a:t>
            </a:r>
            <a:r>
              <a:rPr lang="en-GB" dirty="0" err="1" smtClean="0"/>
              <a:t>järjestelmän</a:t>
            </a:r>
            <a:r>
              <a:rPr lang="en-GB" dirty="0" smtClean="0"/>
              <a:t> </a:t>
            </a:r>
            <a:r>
              <a:rPr lang="en-GB" dirty="0" err="1" smtClean="0"/>
              <a:t>soveltuvuuteen</a:t>
            </a:r>
            <a:r>
              <a:rPr lang="en-GB" dirty="0" smtClean="0"/>
              <a:t> </a:t>
            </a:r>
            <a:r>
              <a:rPr lang="en-GB" dirty="0" err="1" smtClean="0"/>
              <a:t>todellisiin</a:t>
            </a:r>
            <a:r>
              <a:rPr lang="en-GB" dirty="0" smtClean="0"/>
              <a:t> </a:t>
            </a:r>
            <a:r>
              <a:rPr lang="en-GB" dirty="0" err="1" smtClean="0"/>
              <a:t>käyttötilanteisiin</a:t>
            </a:r>
            <a:r>
              <a:rPr lang="en-GB" dirty="0" smtClean="0"/>
              <a:t>. </a:t>
            </a:r>
            <a:endParaRPr lang="en-GB" b="1" i="1" dirty="0" smtClean="0"/>
          </a:p>
        </p:txBody>
      </p:sp>
      <p:sp>
        <p:nvSpPr>
          <p:cNvPr id="900110" name="AutoShape 14"/>
          <p:cNvSpPr>
            <a:spLocks/>
          </p:cNvSpPr>
          <p:nvPr/>
        </p:nvSpPr>
        <p:spPr bwMode="auto">
          <a:xfrm rot="5400000">
            <a:off x="3136900" y="1474805"/>
            <a:ext cx="169863" cy="3579813"/>
          </a:xfrm>
          <a:prstGeom prst="leftBrace">
            <a:avLst>
              <a:gd name="adj1" fmla="val 175623"/>
              <a:gd name="adj2" fmla="val 50000"/>
            </a:avLst>
          </a:prstGeom>
          <a:ln>
            <a:headEnd/>
            <a:tailEnd/>
          </a:ln>
        </p:spPr>
        <p:style>
          <a:lnRef idx="2">
            <a:schemeClr val="dk1"/>
          </a:lnRef>
          <a:fillRef idx="0">
            <a:schemeClr val="dk1"/>
          </a:fillRef>
          <a:effectRef idx="1">
            <a:schemeClr val="dk1"/>
          </a:effectRef>
          <a:fontRef idx="minor">
            <a:schemeClr val="tx1"/>
          </a:fontRef>
        </p:style>
        <p:txBody>
          <a:bodyPr rot="10800000" vert="eaVert" wrap="none" lIns="90000" tIns="46800" rIns="90000" bIns="46800" anchor="ctr"/>
          <a:lstStyle/>
          <a:p>
            <a:pPr algn="ctr"/>
            <a:endParaRPr lang="fi-FI"/>
          </a:p>
        </p:txBody>
      </p:sp>
      <p:sp>
        <p:nvSpPr>
          <p:cNvPr id="900111" name="Text Box 15"/>
          <p:cNvSpPr txBox="1">
            <a:spLocks noChangeArrowheads="1"/>
          </p:cNvSpPr>
          <p:nvPr/>
        </p:nvSpPr>
        <p:spPr bwMode="auto">
          <a:xfrm>
            <a:off x="1411288" y="1747855"/>
            <a:ext cx="3557587" cy="1394870"/>
          </a:xfrm>
          <a:prstGeom prst="rect">
            <a:avLst/>
          </a:prstGeom>
          <a:solidFill>
            <a:schemeClr val="accent2"/>
          </a:solidFill>
          <a:ln w="9525">
            <a:noFill/>
            <a:miter lim="800000"/>
            <a:headEnd/>
            <a:tailEnd/>
          </a:ln>
          <a:effectLst/>
        </p:spPr>
        <p:txBody>
          <a:bodyPr wrap="square" lIns="90000" tIns="46800" rIns="90000" bIns="46800">
            <a:spAutoFit/>
          </a:bodyPr>
          <a:lstStyle/>
          <a:p>
            <a:pPr>
              <a:spcBef>
                <a:spcPct val="50000"/>
              </a:spcBef>
            </a:pPr>
            <a:r>
              <a:rPr lang="en-GB" sz="1000" dirty="0">
                <a:solidFill>
                  <a:schemeClr val="bg1"/>
                </a:solidFill>
              </a:rPr>
              <a:t/>
            </a:r>
            <a:br>
              <a:rPr lang="en-GB" sz="1000" dirty="0">
                <a:solidFill>
                  <a:schemeClr val="bg1"/>
                </a:solidFill>
              </a:rPr>
            </a:br>
            <a:r>
              <a:rPr lang="en-GB" sz="1600" dirty="0" err="1" smtClean="0">
                <a:solidFill>
                  <a:schemeClr val="bg1"/>
                </a:solidFill>
              </a:rPr>
              <a:t>Merkittävä</a:t>
            </a:r>
            <a:r>
              <a:rPr lang="en-GB" sz="1600" dirty="0" smtClean="0">
                <a:solidFill>
                  <a:schemeClr val="bg1"/>
                </a:solidFill>
              </a:rPr>
              <a:t> </a:t>
            </a:r>
            <a:r>
              <a:rPr lang="en-GB" sz="1600" dirty="0" err="1" smtClean="0">
                <a:solidFill>
                  <a:schemeClr val="bg1"/>
                </a:solidFill>
              </a:rPr>
              <a:t>osuus</a:t>
            </a:r>
            <a:r>
              <a:rPr lang="en-GB" sz="1600" dirty="0" smtClean="0">
                <a:solidFill>
                  <a:schemeClr val="bg1"/>
                </a:solidFill>
              </a:rPr>
              <a:t> </a:t>
            </a:r>
            <a:r>
              <a:rPr lang="en-GB" sz="1600" dirty="0" err="1" smtClean="0">
                <a:solidFill>
                  <a:schemeClr val="bg1"/>
                </a:solidFill>
              </a:rPr>
              <a:t>työmääristä</a:t>
            </a:r>
            <a:r>
              <a:rPr lang="en-GB" sz="1600" dirty="0" smtClean="0">
                <a:solidFill>
                  <a:schemeClr val="bg1"/>
                </a:solidFill>
              </a:rPr>
              <a:t> </a:t>
            </a:r>
            <a:r>
              <a:rPr lang="en-GB" sz="1600" dirty="0" err="1" smtClean="0">
                <a:solidFill>
                  <a:schemeClr val="bg1"/>
                </a:solidFill>
              </a:rPr>
              <a:t>kehityksen</a:t>
            </a:r>
            <a:r>
              <a:rPr lang="en-GB" sz="1600" dirty="0" smtClean="0">
                <a:solidFill>
                  <a:schemeClr val="bg1"/>
                </a:solidFill>
              </a:rPr>
              <a:t> </a:t>
            </a:r>
            <a:r>
              <a:rPr lang="en-GB" sz="1600" dirty="0" err="1" smtClean="0">
                <a:solidFill>
                  <a:schemeClr val="bg1"/>
                </a:solidFill>
              </a:rPr>
              <a:t>ja</a:t>
            </a:r>
            <a:r>
              <a:rPr lang="en-GB" sz="1600" dirty="0" smtClean="0">
                <a:solidFill>
                  <a:schemeClr val="bg1"/>
                </a:solidFill>
              </a:rPr>
              <a:t> </a:t>
            </a:r>
            <a:r>
              <a:rPr lang="en-GB" sz="1600" dirty="0" err="1" smtClean="0">
                <a:solidFill>
                  <a:schemeClr val="bg1"/>
                </a:solidFill>
              </a:rPr>
              <a:t>järjestelmätestauksen</a:t>
            </a:r>
            <a:r>
              <a:rPr lang="en-GB" sz="1600" dirty="0" smtClean="0">
                <a:solidFill>
                  <a:schemeClr val="bg1"/>
                </a:solidFill>
              </a:rPr>
              <a:t> </a:t>
            </a:r>
            <a:r>
              <a:rPr lang="en-GB" sz="1600" dirty="0" err="1" smtClean="0">
                <a:solidFill>
                  <a:schemeClr val="bg1"/>
                </a:solidFill>
              </a:rPr>
              <a:t>aikana</a:t>
            </a:r>
            <a:r>
              <a:rPr lang="en-GB" sz="1600" dirty="0" smtClean="0">
                <a:solidFill>
                  <a:schemeClr val="bg1"/>
                </a:solidFill>
              </a:rPr>
              <a:t> </a:t>
            </a:r>
            <a:r>
              <a:rPr lang="en-GB" sz="1600" dirty="0" err="1" smtClean="0">
                <a:solidFill>
                  <a:schemeClr val="bg1"/>
                </a:solidFill>
              </a:rPr>
              <a:t>käytettään</a:t>
            </a:r>
            <a:r>
              <a:rPr lang="en-GB" sz="1600" dirty="0" smtClean="0">
                <a:solidFill>
                  <a:schemeClr val="bg1"/>
                </a:solidFill>
              </a:rPr>
              <a:t> </a:t>
            </a:r>
            <a:r>
              <a:rPr lang="en-GB" sz="1600" dirty="0" err="1" smtClean="0">
                <a:solidFill>
                  <a:schemeClr val="bg1"/>
                </a:solidFill>
              </a:rPr>
              <a:t>vähemmän</a:t>
            </a:r>
            <a:r>
              <a:rPr lang="en-GB" sz="1600" dirty="0" smtClean="0">
                <a:solidFill>
                  <a:schemeClr val="bg1"/>
                </a:solidFill>
              </a:rPr>
              <a:t> </a:t>
            </a:r>
            <a:r>
              <a:rPr lang="en-GB" sz="1600" dirty="0" err="1" smtClean="0">
                <a:solidFill>
                  <a:schemeClr val="bg1"/>
                </a:solidFill>
              </a:rPr>
              <a:t>yleisiin</a:t>
            </a:r>
            <a:r>
              <a:rPr lang="en-GB" sz="1600" dirty="0" smtClean="0">
                <a:solidFill>
                  <a:schemeClr val="bg1"/>
                </a:solidFill>
              </a:rPr>
              <a:t> </a:t>
            </a:r>
            <a:r>
              <a:rPr lang="en-GB" sz="1600" dirty="0" err="1" smtClean="0">
                <a:solidFill>
                  <a:schemeClr val="bg1"/>
                </a:solidFill>
              </a:rPr>
              <a:t>toimintoihin</a:t>
            </a:r>
            <a:r>
              <a:rPr lang="en-GB" sz="1600" dirty="0" smtClean="0">
                <a:solidFill>
                  <a:schemeClr val="bg1"/>
                </a:solidFill>
              </a:rPr>
              <a:t> </a:t>
            </a:r>
            <a:r>
              <a:rPr lang="en-GB" sz="1600" dirty="0" err="1" smtClean="0">
                <a:solidFill>
                  <a:schemeClr val="bg1"/>
                </a:solidFill>
              </a:rPr>
              <a:t>ja</a:t>
            </a:r>
            <a:r>
              <a:rPr lang="en-GB" sz="1600" dirty="0" smtClean="0">
                <a:solidFill>
                  <a:schemeClr val="bg1"/>
                </a:solidFill>
              </a:rPr>
              <a:t> </a:t>
            </a:r>
            <a:r>
              <a:rPr lang="en-GB" sz="1600" dirty="0" err="1" smtClean="0">
                <a:solidFill>
                  <a:schemeClr val="bg1"/>
                </a:solidFill>
              </a:rPr>
              <a:t>virhekäsittelyyn</a:t>
            </a:r>
            <a:r>
              <a:rPr lang="en-GB" sz="1600" dirty="0" smtClean="0">
                <a:solidFill>
                  <a:schemeClr val="bg1"/>
                </a:solidFill>
              </a:rPr>
              <a:t>. </a:t>
            </a:r>
            <a:endParaRPr lang="en-GB" sz="1000" dirty="0" smtClean="0">
              <a:solidFill>
                <a:schemeClr val="bg1"/>
              </a:solidFill>
            </a:endParaRPr>
          </a:p>
          <a:p>
            <a:pPr>
              <a:spcBef>
                <a:spcPct val="50000"/>
              </a:spcBef>
            </a:pPr>
            <a:endParaRPr lang="en-GB" sz="500" dirty="0">
              <a:solidFill>
                <a:schemeClr val="bg1"/>
              </a:solidFill>
            </a:endParaRPr>
          </a:p>
        </p:txBody>
      </p:sp>
      <p:sp>
        <p:nvSpPr>
          <p:cNvPr id="900112" name="AutoShape 16"/>
          <p:cNvSpPr>
            <a:spLocks/>
          </p:cNvSpPr>
          <p:nvPr/>
        </p:nvSpPr>
        <p:spPr bwMode="auto">
          <a:xfrm rot="16200000" flipV="1">
            <a:off x="2244726" y="2670192"/>
            <a:ext cx="169862" cy="3579813"/>
          </a:xfrm>
          <a:prstGeom prst="leftBrace">
            <a:avLst>
              <a:gd name="adj1" fmla="val 175624"/>
              <a:gd name="adj2" fmla="val 50000"/>
            </a:avLst>
          </a:prstGeom>
          <a:ln>
            <a:headEnd/>
            <a:tailEnd/>
          </a:ln>
        </p:spPr>
        <p:style>
          <a:lnRef idx="2">
            <a:schemeClr val="dk1"/>
          </a:lnRef>
          <a:fillRef idx="0">
            <a:schemeClr val="dk1"/>
          </a:fillRef>
          <a:effectRef idx="1">
            <a:schemeClr val="dk1"/>
          </a:effectRef>
          <a:fontRef idx="minor">
            <a:schemeClr val="tx1"/>
          </a:fontRef>
        </p:style>
        <p:txBody>
          <a:bodyPr rot="10800000" vert="eaVert" wrap="none" lIns="90000" tIns="46800" rIns="90000" bIns="46800" anchor="ctr"/>
          <a:lstStyle/>
          <a:p>
            <a:pPr algn="ctr"/>
            <a:endParaRPr lang="fi-FI"/>
          </a:p>
        </p:txBody>
      </p:sp>
      <p:sp>
        <p:nvSpPr>
          <p:cNvPr id="900113" name="Text Box 17"/>
          <p:cNvSpPr txBox="1">
            <a:spLocks noChangeArrowheads="1"/>
          </p:cNvSpPr>
          <p:nvPr/>
        </p:nvSpPr>
        <p:spPr bwMode="auto">
          <a:xfrm>
            <a:off x="519113" y="4614880"/>
            <a:ext cx="3557587" cy="1264065"/>
          </a:xfrm>
          <a:prstGeom prst="rect">
            <a:avLst/>
          </a:prstGeom>
          <a:solidFill>
            <a:schemeClr val="accent2"/>
          </a:solidFill>
          <a:ln w="9525">
            <a:noFill/>
            <a:miter lim="800000"/>
            <a:headEnd/>
            <a:tailEnd/>
          </a:ln>
          <a:effectLst/>
        </p:spPr>
        <p:txBody>
          <a:bodyPr lIns="90000" tIns="46800" rIns="90000" bIns="46800">
            <a:spAutoFit/>
          </a:bodyPr>
          <a:lstStyle/>
          <a:p>
            <a:pPr>
              <a:spcBef>
                <a:spcPct val="50000"/>
              </a:spcBef>
            </a:pPr>
            <a:r>
              <a:rPr lang="en-GB" sz="1600" dirty="0">
                <a:solidFill>
                  <a:schemeClr val="bg1"/>
                </a:solidFill>
              </a:rPr>
              <a:t/>
            </a:r>
            <a:br>
              <a:rPr lang="en-GB" sz="1600" dirty="0">
                <a:solidFill>
                  <a:schemeClr val="bg1"/>
                </a:solidFill>
              </a:rPr>
            </a:br>
            <a:r>
              <a:rPr lang="en-GB" sz="1600" dirty="0" err="1" smtClean="0">
                <a:solidFill>
                  <a:schemeClr val="bg1"/>
                </a:solidFill>
              </a:rPr>
              <a:t>Käyttäjien</a:t>
            </a:r>
            <a:r>
              <a:rPr lang="en-GB" sz="1600" dirty="0" smtClean="0">
                <a:solidFill>
                  <a:schemeClr val="bg1"/>
                </a:solidFill>
              </a:rPr>
              <a:t> </a:t>
            </a:r>
            <a:r>
              <a:rPr lang="en-GB" sz="1600" dirty="0" err="1" smtClean="0">
                <a:solidFill>
                  <a:schemeClr val="bg1"/>
                </a:solidFill>
              </a:rPr>
              <a:t>enemmistö</a:t>
            </a:r>
            <a:r>
              <a:rPr lang="en-GB" sz="1600" dirty="0" smtClean="0">
                <a:solidFill>
                  <a:schemeClr val="bg1"/>
                </a:solidFill>
              </a:rPr>
              <a:t> </a:t>
            </a:r>
            <a:r>
              <a:rPr lang="en-GB" sz="1600" dirty="0" err="1" smtClean="0">
                <a:solidFill>
                  <a:schemeClr val="bg1"/>
                </a:solidFill>
              </a:rPr>
              <a:t>tarvitsee</a:t>
            </a:r>
            <a:r>
              <a:rPr lang="en-GB" sz="1600" dirty="0" smtClean="0">
                <a:solidFill>
                  <a:schemeClr val="bg1"/>
                </a:solidFill>
              </a:rPr>
              <a:t> vain </a:t>
            </a:r>
            <a:r>
              <a:rPr lang="en-GB" sz="1600" dirty="0" err="1" smtClean="0">
                <a:solidFill>
                  <a:schemeClr val="bg1"/>
                </a:solidFill>
              </a:rPr>
              <a:t>osajoukkoa</a:t>
            </a:r>
            <a:r>
              <a:rPr lang="en-GB" sz="1600" dirty="0" smtClean="0">
                <a:solidFill>
                  <a:schemeClr val="bg1"/>
                </a:solidFill>
              </a:rPr>
              <a:t> </a:t>
            </a:r>
            <a:r>
              <a:rPr lang="en-GB" sz="1600" dirty="0" err="1" smtClean="0">
                <a:solidFill>
                  <a:schemeClr val="bg1"/>
                </a:solidFill>
              </a:rPr>
              <a:t>kaikesta</a:t>
            </a:r>
            <a:r>
              <a:rPr lang="en-GB" sz="1600" dirty="0" smtClean="0">
                <a:solidFill>
                  <a:schemeClr val="bg1"/>
                </a:solidFill>
              </a:rPr>
              <a:t> </a:t>
            </a:r>
            <a:r>
              <a:rPr lang="en-GB" sz="1600" dirty="0" err="1" smtClean="0">
                <a:solidFill>
                  <a:schemeClr val="bg1"/>
                </a:solidFill>
              </a:rPr>
              <a:t>toteutetusta</a:t>
            </a:r>
            <a:r>
              <a:rPr lang="en-GB" sz="1600" dirty="0" smtClean="0">
                <a:solidFill>
                  <a:schemeClr val="bg1"/>
                </a:solidFill>
              </a:rPr>
              <a:t> </a:t>
            </a:r>
            <a:r>
              <a:rPr lang="en-GB" sz="1600" dirty="0" err="1" smtClean="0">
                <a:solidFill>
                  <a:schemeClr val="bg1"/>
                </a:solidFill>
              </a:rPr>
              <a:t>normaalitilanteissa</a:t>
            </a:r>
            <a:r>
              <a:rPr lang="en-GB" sz="1600" dirty="0" smtClean="0">
                <a:solidFill>
                  <a:schemeClr val="bg1"/>
                </a:solidFill>
              </a:rPr>
              <a:t>. </a:t>
            </a:r>
            <a:r>
              <a:rPr lang="en-GB" sz="900" dirty="0">
                <a:solidFill>
                  <a:schemeClr val="bg1"/>
                </a:solidFill>
              </a:rPr>
              <a:t/>
            </a:r>
            <a:br>
              <a:rPr lang="en-GB" sz="900" dirty="0">
                <a:solidFill>
                  <a:schemeClr val="bg1"/>
                </a:solidFill>
              </a:rPr>
            </a:br>
            <a:endParaRPr lang="en-GB" sz="900" dirty="0">
              <a:solidFill>
                <a:schemeClr val="bg1"/>
              </a:solidFill>
            </a:endParaRPr>
          </a:p>
        </p:txBody>
      </p:sp>
      <p:sp>
        <p:nvSpPr>
          <p:cNvPr id="16" name="TextBox 15"/>
          <p:cNvSpPr txBox="1"/>
          <p:nvPr/>
        </p:nvSpPr>
        <p:spPr>
          <a:xfrm>
            <a:off x="4267200" y="5581471"/>
            <a:ext cx="4786346" cy="120032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r>
              <a:rPr lang="fi-FI" sz="1200" dirty="0" smtClean="0"/>
              <a:t>Hyväksymistestauksen ja järjestelmätestauksen keskinäisen suhteen määrittämisessä olennainen kysymys onkin:</a:t>
            </a:r>
          </a:p>
          <a:p>
            <a:pPr algn="ctr"/>
            <a:r>
              <a:rPr lang="fi-FI" sz="1200" b="1" dirty="0" smtClean="0"/>
              <a:t>Mitä odottamattomista ongelmista voi uskoa, ja millaisilla perusteilla, toisten löytäneen. </a:t>
            </a:r>
          </a:p>
          <a:p>
            <a:pPr algn="ctr"/>
            <a:r>
              <a:rPr lang="fi-FI" sz="1200" dirty="0" smtClean="0"/>
              <a:t>Viime kädessä hyväksymistestauksen tekevä organisaatio on se jonka nimi tahraantuu, vaikka toimittajalta jotain vahingonkorvauksia voisi saadakin.</a:t>
            </a:r>
            <a:endParaRPr lang="fi-FI" sz="1200" dirty="0"/>
          </a:p>
        </p:txBody>
      </p:sp>
      <p:sp>
        <p:nvSpPr>
          <p:cNvPr id="17" name="Rectangle 13"/>
          <p:cNvSpPr>
            <a:spLocks noChangeArrowheads="1"/>
          </p:cNvSpPr>
          <p:nvPr/>
        </p:nvSpPr>
        <p:spPr bwMode="auto">
          <a:xfrm>
            <a:off x="5334000" y="1752600"/>
            <a:ext cx="3455987" cy="1703387"/>
          </a:xfrm>
          <a:prstGeom prst="rect">
            <a:avLst/>
          </a:prstGeom>
          <a:noFill/>
          <a:ln w="9525">
            <a:noFill/>
            <a:miter lim="800000"/>
            <a:headEnd/>
            <a:tailEnd/>
          </a:ln>
          <a:effectLst/>
        </p:spPr>
        <p:txBody>
          <a:bodyPr lIns="0" tIns="0" rIns="0" bIns="0"/>
          <a:lstStyle/>
          <a:p>
            <a:pPr marL="284163" indent="-284163">
              <a:spcAft>
                <a:spcPct val="20000"/>
              </a:spcAft>
              <a:buClr>
                <a:schemeClr val="accent1"/>
              </a:buClr>
              <a:buFont typeface="Wingdings" pitchFamily="2" charset="2"/>
              <a:buChar char="§"/>
            </a:pPr>
            <a:r>
              <a:rPr lang="en-GB" b="1" i="1" dirty="0" err="1" smtClean="0"/>
              <a:t>Järjestelmätestaus</a:t>
            </a:r>
            <a:r>
              <a:rPr lang="en-GB" b="1" i="1" dirty="0" smtClean="0"/>
              <a:t> </a:t>
            </a:r>
            <a:r>
              <a:rPr lang="en-GB" dirty="0" err="1" smtClean="0"/>
              <a:t>keskittyy</a:t>
            </a:r>
            <a:r>
              <a:rPr lang="en-GB" dirty="0" smtClean="0"/>
              <a:t> </a:t>
            </a:r>
            <a:r>
              <a:rPr lang="en-GB" dirty="0" err="1" smtClean="0"/>
              <a:t>järjestelmään</a:t>
            </a:r>
            <a:r>
              <a:rPr lang="en-GB" dirty="0" smtClean="0"/>
              <a:t> </a:t>
            </a:r>
            <a:r>
              <a:rPr lang="en-GB" dirty="0" err="1" smtClean="0"/>
              <a:t>toteutuskoko-naisuutena</a:t>
            </a:r>
            <a:r>
              <a:rPr lang="en-GB" dirty="0" smtClean="0"/>
              <a:t> </a:t>
            </a:r>
            <a:r>
              <a:rPr lang="en-GB" dirty="0" err="1" smtClean="0"/>
              <a:t>ja</a:t>
            </a:r>
            <a:r>
              <a:rPr lang="en-GB" dirty="0" smtClean="0"/>
              <a:t> </a:t>
            </a:r>
            <a:r>
              <a:rPr lang="en-GB" dirty="0" err="1" smtClean="0"/>
              <a:t>pyrkii</a:t>
            </a:r>
            <a:r>
              <a:rPr lang="en-GB" dirty="0" smtClean="0"/>
              <a:t> </a:t>
            </a:r>
            <a:r>
              <a:rPr lang="en-GB" dirty="0" err="1" smtClean="0"/>
              <a:t>varmista-maan</a:t>
            </a:r>
            <a:r>
              <a:rPr lang="en-GB" dirty="0" smtClean="0"/>
              <a:t> </a:t>
            </a:r>
            <a:r>
              <a:rPr lang="en-GB" dirty="0" err="1" smtClean="0"/>
              <a:t>kaiken</a:t>
            </a:r>
            <a:r>
              <a:rPr lang="en-GB" dirty="0" smtClean="0"/>
              <a:t> </a:t>
            </a:r>
            <a:r>
              <a:rPr lang="en-GB" dirty="0" err="1" smtClean="0"/>
              <a:t>kehityksen</a:t>
            </a:r>
            <a:r>
              <a:rPr lang="en-GB" dirty="0" smtClean="0"/>
              <a:t> </a:t>
            </a:r>
            <a:r>
              <a:rPr lang="en-GB" dirty="0" err="1" smtClean="0"/>
              <a:t>aikana</a:t>
            </a:r>
            <a:r>
              <a:rPr lang="en-GB" dirty="0" smtClean="0"/>
              <a:t> </a:t>
            </a:r>
            <a:r>
              <a:rPr lang="en-GB" dirty="0" err="1" smtClean="0"/>
              <a:t>tehdyn</a:t>
            </a:r>
            <a:r>
              <a:rPr lang="en-GB" dirty="0" smtClean="0"/>
              <a:t> </a:t>
            </a:r>
            <a:r>
              <a:rPr lang="en-GB" dirty="0" err="1" smtClean="0"/>
              <a:t>työn</a:t>
            </a:r>
            <a:r>
              <a:rPr lang="en-GB" dirty="0" smtClean="0"/>
              <a:t> </a:t>
            </a:r>
            <a:r>
              <a:rPr lang="en-GB" dirty="0" err="1" smtClean="0"/>
              <a:t>lopputuloksen</a:t>
            </a:r>
            <a:r>
              <a:rPr lang="en-GB" dirty="0" smtClean="0"/>
              <a:t>. </a:t>
            </a:r>
          </a:p>
          <a:p>
            <a:pPr marL="284163" indent="-284163">
              <a:spcAft>
                <a:spcPct val="20000"/>
              </a:spcAft>
              <a:buClr>
                <a:schemeClr val="accent1"/>
              </a:buClr>
              <a:buFont typeface="Wingdings" pitchFamily="2" charset="2"/>
              <a:buChar char="§"/>
            </a:pPr>
            <a:endParaRPr lang="en-GB" b="1" i="1" dirty="0" smtClean="0"/>
          </a:p>
        </p:txBody>
      </p:sp>
      <p:sp>
        <p:nvSpPr>
          <p:cNvPr id="18" name="Slide Number Placeholder 17"/>
          <p:cNvSpPr>
            <a:spLocks noGrp="1"/>
          </p:cNvSpPr>
          <p:nvPr>
            <p:ph type="sldNum" sz="quarter" idx="12"/>
          </p:nvPr>
        </p:nvSpPr>
        <p:spPr/>
        <p:txBody>
          <a:bodyPr/>
          <a:lstStyle/>
          <a:p>
            <a:fld id="{7A750B4A-325E-4AA4-BC07-A8C35B32A4F3}" type="slidenum">
              <a:rPr lang="fi-FI" smtClean="0"/>
              <a:pPr/>
              <a:t>40</a:t>
            </a:fld>
            <a:endParaRPr lang="fi-FI"/>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fi-FI" dirty="0" smtClean="0"/>
              <a:t>Käytännössä sovitaan Asiakkaan osallistuminen</a:t>
            </a:r>
            <a:endParaRPr lang="fi-FI" dirty="0"/>
          </a:p>
        </p:txBody>
      </p:sp>
      <p:sp>
        <p:nvSpPr>
          <p:cNvPr id="6" name="Content Placeholder 5"/>
          <p:cNvSpPr>
            <a:spLocks noGrp="1"/>
          </p:cNvSpPr>
          <p:nvPr>
            <p:ph sz="half" idx="1"/>
          </p:nvPr>
        </p:nvSpPr>
        <p:spPr/>
        <p:txBody>
          <a:bodyPr>
            <a:noAutofit/>
          </a:bodyPr>
          <a:lstStyle/>
          <a:p>
            <a:r>
              <a:rPr lang="fi-FI" sz="1800" dirty="0" smtClean="0"/>
              <a:t>Hyväksymistestaus</a:t>
            </a:r>
          </a:p>
          <a:p>
            <a:pPr lvl="1"/>
            <a:r>
              <a:rPr lang="fi-FI" sz="1400" dirty="0" smtClean="0"/>
              <a:t>Sopimuksen mukainen ja tuotantoonsiirtoa edeltävä tarkastelu, joka asiakkaan vastuulla</a:t>
            </a:r>
          </a:p>
          <a:p>
            <a:pPr lvl="1"/>
            <a:r>
              <a:rPr lang="fi-FI" sz="1400" dirty="0" smtClean="0"/>
              <a:t>Tuki toimittajalta usein sisältyy sovittuun</a:t>
            </a:r>
          </a:p>
          <a:p>
            <a:r>
              <a:rPr lang="fi-FI" sz="1800" dirty="0" smtClean="0"/>
              <a:t>Asiakastestaus</a:t>
            </a:r>
          </a:p>
          <a:p>
            <a:pPr lvl="1"/>
            <a:r>
              <a:rPr lang="fi-FI" sz="1400" dirty="0" smtClean="0"/>
              <a:t>Asiakkaalle erikseen järjestetty mahdollisuus testata ennen tai jälkeen hyväksymistestauksen, toimittajan testausten ulkopuolella</a:t>
            </a:r>
          </a:p>
          <a:p>
            <a:pPr lvl="1"/>
            <a:r>
              <a:rPr lang="fi-FI" sz="1400" dirty="0" smtClean="0"/>
              <a:t>Tuesta laskutetaan yleensä erikseen</a:t>
            </a:r>
          </a:p>
          <a:p>
            <a:r>
              <a:rPr lang="fi-FI" sz="1800" dirty="0" smtClean="0"/>
              <a:t>Järjestelmätestauksen tuki </a:t>
            </a:r>
          </a:p>
          <a:p>
            <a:pPr lvl="1"/>
            <a:r>
              <a:rPr lang="fi-FI" sz="1400" dirty="0" smtClean="0"/>
              <a:t>Osallistutaan toimittajan vastuulla oleviin testausvaiheisiin</a:t>
            </a:r>
          </a:p>
          <a:p>
            <a:pPr lvl="1"/>
            <a:r>
              <a:rPr lang="fi-FI" sz="1400" dirty="0" smtClean="0"/>
              <a:t>Erinomainen tilaisuus vaikuttaa laatuun vaiheessa jossa korjauksiin voi vaikuttaa enemmän</a:t>
            </a:r>
          </a:p>
          <a:p>
            <a:endParaRPr lang="fi-FI" sz="1800" dirty="0"/>
          </a:p>
        </p:txBody>
      </p:sp>
      <p:sp>
        <p:nvSpPr>
          <p:cNvPr id="7" name="Content Placeholder 6"/>
          <p:cNvSpPr>
            <a:spLocks noGrp="1"/>
          </p:cNvSpPr>
          <p:nvPr>
            <p:ph sz="half" idx="2"/>
          </p:nvPr>
        </p:nvSpPr>
        <p:spPr/>
        <p:txBody>
          <a:bodyPr/>
          <a:lstStyle/>
          <a:p>
            <a:r>
              <a:rPr lang="fi-FI" sz="1800" dirty="0" smtClean="0"/>
              <a:t>Luovutuskoe</a:t>
            </a:r>
          </a:p>
          <a:p>
            <a:pPr lvl="1"/>
            <a:r>
              <a:rPr lang="fi-FI" sz="1400" dirty="0" smtClean="0"/>
              <a:t>Sopimuksen tarkistuspiste ennen hyväksymistestauksen alkua. Sovituin säännöin tarkistetaan kelvollisuus hyväksymistestaukseen</a:t>
            </a:r>
          </a:p>
          <a:p>
            <a:r>
              <a:rPr lang="fi-FI" sz="1800" dirty="0" smtClean="0"/>
              <a:t>Aloitustesti</a:t>
            </a:r>
          </a:p>
          <a:p>
            <a:pPr lvl="1"/>
            <a:r>
              <a:rPr lang="fi-FI" sz="1400" dirty="0" smtClean="0"/>
              <a:t>Vastaava kuin luovutuskoe, tehdään yleensä aina kun testattavasta ohjelmistosta saadaan muuttunut versio</a:t>
            </a:r>
          </a:p>
          <a:p>
            <a:pPr lvl="1"/>
            <a:r>
              <a:rPr lang="fi-FI" sz="1400" dirty="0" smtClean="0"/>
              <a:t>Seremonian määrä luovutuskoetta pienempi</a:t>
            </a:r>
          </a:p>
          <a:p>
            <a:endParaRPr lang="fi-FI" dirty="0"/>
          </a:p>
        </p:txBody>
      </p:sp>
      <p:sp>
        <p:nvSpPr>
          <p:cNvPr id="8" name="TextBox 7"/>
          <p:cNvSpPr txBox="1"/>
          <p:nvPr/>
        </p:nvSpPr>
        <p:spPr>
          <a:xfrm>
            <a:off x="5257800" y="4778514"/>
            <a:ext cx="3048000" cy="707886"/>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pPr algn="ctr"/>
            <a:r>
              <a:rPr lang="fi-FI" sz="2000" dirty="0" smtClean="0"/>
              <a:t>Merkittäviä eroja projektien välillä! </a:t>
            </a:r>
            <a:endParaRPr lang="fi-FI" sz="2000" dirty="0"/>
          </a:p>
        </p:txBody>
      </p:sp>
      <p:sp>
        <p:nvSpPr>
          <p:cNvPr id="9" name="Slide Number Placeholder 8"/>
          <p:cNvSpPr>
            <a:spLocks noGrp="1"/>
          </p:cNvSpPr>
          <p:nvPr>
            <p:ph type="sldNum" sz="quarter" idx="12"/>
          </p:nvPr>
        </p:nvSpPr>
        <p:spPr/>
        <p:txBody>
          <a:bodyPr/>
          <a:lstStyle/>
          <a:p>
            <a:fld id="{7A750B4A-325E-4AA4-BC07-A8C35B32A4F3}" type="slidenum">
              <a:rPr lang="fi-FI" smtClean="0"/>
              <a:pPr/>
              <a:t>41</a:t>
            </a:fld>
            <a:endParaRPr lang="fi-FI"/>
          </a:p>
        </p:txBody>
      </p:sp>
    </p:spTree>
  </p:cSld>
  <p:clrMapOvr>
    <a:masterClrMapping/>
  </p:clrMapOvr>
  <p:timing>
    <p:tnLst>
      <p:par>
        <p:cTn xmlns:p14="http://schemas.microsoft.com/office/powerpoint/2010/mai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Hyväksymistestauksen laajuus</a:t>
            </a:r>
            <a:endParaRPr lang="fi-FI" dirty="0"/>
          </a:p>
        </p:txBody>
      </p:sp>
      <p:sp>
        <p:nvSpPr>
          <p:cNvPr id="4" name="TextBox 3"/>
          <p:cNvSpPr txBox="1"/>
          <p:nvPr/>
        </p:nvSpPr>
        <p:spPr>
          <a:xfrm>
            <a:off x="500034" y="4800439"/>
            <a:ext cx="2928958" cy="1200329"/>
          </a:xfrm>
          <a:prstGeom prst="rect">
            <a:avLst/>
          </a:prstGeom>
          <a:noFill/>
        </p:spPr>
        <p:txBody>
          <a:bodyPr wrap="square" rtlCol="0">
            <a:spAutoFit/>
          </a:bodyPr>
          <a:lstStyle/>
          <a:p>
            <a:r>
              <a:rPr lang="fi-FI" b="1" dirty="0" smtClean="0"/>
              <a:t>PIENIMMILLÄÄN</a:t>
            </a:r>
          </a:p>
          <a:p>
            <a:r>
              <a:rPr lang="fi-FI" dirty="0" smtClean="0"/>
              <a:t>”parin päivän viimeinen tarkistus ennen tuotantoonsiirtoa”</a:t>
            </a:r>
            <a:endParaRPr lang="fi-FI" dirty="0"/>
          </a:p>
        </p:txBody>
      </p:sp>
      <p:sp>
        <p:nvSpPr>
          <p:cNvPr id="5" name="TextBox 4"/>
          <p:cNvSpPr txBox="1"/>
          <p:nvPr/>
        </p:nvSpPr>
        <p:spPr>
          <a:xfrm>
            <a:off x="5857884" y="4871877"/>
            <a:ext cx="2928958" cy="1200329"/>
          </a:xfrm>
          <a:prstGeom prst="rect">
            <a:avLst/>
          </a:prstGeom>
          <a:noFill/>
        </p:spPr>
        <p:txBody>
          <a:bodyPr wrap="square" rtlCol="0">
            <a:spAutoFit/>
          </a:bodyPr>
          <a:lstStyle/>
          <a:p>
            <a:pPr algn="r"/>
            <a:r>
              <a:rPr lang="fi-FI" b="1" dirty="0" smtClean="0"/>
              <a:t>SUURIMMILLAAN</a:t>
            </a:r>
          </a:p>
          <a:p>
            <a:pPr algn="r"/>
            <a:r>
              <a:rPr lang="fi-FI" dirty="0" smtClean="0"/>
              <a:t>”järjestelmäkokonaisuuden monipuolinen testaaminen välttäen otosnäkökulmaa”</a:t>
            </a:r>
            <a:endParaRPr lang="fi-FI" dirty="0"/>
          </a:p>
        </p:txBody>
      </p:sp>
      <p:cxnSp>
        <p:nvCxnSpPr>
          <p:cNvPr id="10" name="Straight Connector 9"/>
          <p:cNvCxnSpPr>
            <a:stCxn id="6" idx="0"/>
          </p:cNvCxnSpPr>
          <p:nvPr/>
        </p:nvCxnSpPr>
        <p:spPr>
          <a:xfrm rot="5400000" flipH="1" flipV="1">
            <a:off x="3303975" y="603457"/>
            <a:ext cx="2500330" cy="5322131"/>
          </a:xfrm>
          <a:prstGeom prst="line">
            <a:avLst/>
          </a:prstGeom>
          <a:ln>
            <a:prstDash val="sysDash"/>
          </a:ln>
        </p:spPr>
        <p:style>
          <a:lnRef idx="2">
            <a:schemeClr val="accent4"/>
          </a:lnRef>
          <a:fillRef idx="0">
            <a:schemeClr val="accent4"/>
          </a:fillRef>
          <a:effectRef idx="1">
            <a:schemeClr val="accent4"/>
          </a:effectRef>
          <a:fontRef idx="minor">
            <a:schemeClr val="tx1"/>
          </a:fontRef>
        </p:style>
      </p:cxnSp>
      <p:cxnSp>
        <p:nvCxnSpPr>
          <p:cNvPr id="12" name="Straight Connector 11"/>
          <p:cNvCxnSpPr/>
          <p:nvPr/>
        </p:nvCxnSpPr>
        <p:spPr>
          <a:xfrm>
            <a:off x="2000232" y="4714253"/>
            <a:ext cx="5357850" cy="0"/>
          </a:xfrm>
          <a:prstGeom prst="line">
            <a:avLst/>
          </a:prstGeom>
          <a:ln>
            <a:prstDash val="sysDash"/>
          </a:ln>
        </p:spPr>
        <p:style>
          <a:lnRef idx="2">
            <a:schemeClr val="accent4"/>
          </a:lnRef>
          <a:fillRef idx="0">
            <a:schemeClr val="accent4"/>
          </a:fillRef>
          <a:effectRef idx="1">
            <a:schemeClr val="accent4"/>
          </a:effectRef>
          <a:fontRef idx="minor">
            <a:schemeClr val="tx1"/>
          </a:fontRef>
        </p:style>
      </p:cxnSp>
      <p:sp>
        <p:nvSpPr>
          <p:cNvPr id="14" name="TextBox 13"/>
          <p:cNvSpPr txBox="1"/>
          <p:nvPr/>
        </p:nvSpPr>
        <p:spPr>
          <a:xfrm>
            <a:off x="285720" y="1643050"/>
            <a:ext cx="3643338" cy="2308324"/>
          </a:xfrm>
          <a:prstGeom prst="rect">
            <a:avLst/>
          </a:prstGeom>
          <a:noFill/>
        </p:spPr>
        <p:txBody>
          <a:bodyPr wrap="square" rtlCol="0">
            <a:spAutoFit/>
          </a:bodyPr>
          <a:lstStyle/>
          <a:p>
            <a:pPr marL="176213" indent="-176213"/>
            <a:r>
              <a:rPr lang="fi-FI" b="1" dirty="0" smtClean="0">
                <a:solidFill>
                  <a:schemeClr val="accent3"/>
                </a:solidFill>
              </a:rPr>
              <a:t>Laajuuden tekijät:</a:t>
            </a:r>
          </a:p>
          <a:p>
            <a:pPr marL="176213" indent="-176213">
              <a:buFont typeface="Arial" pitchFamily="34" charset="0"/>
              <a:buChar char="•"/>
            </a:pPr>
            <a:r>
              <a:rPr lang="fi-FI" dirty="0" smtClean="0">
                <a:solidFill>
                  <a:schemeClr val="accent3"/>
                </a:solidFill>
              </a:rPr>
              <a:t>Luottamus toimittajaan / tekijöihin</a:t>
            </a:r>
          </a:p>
          <a:p>
            <a:pPr marL="176213" indent="-176213">
              <a:buFont typeface="Arial" pitchFamily="34" charset="0"/>
              <a:buChar char="•"/>
            </a:pPr>
            <a:r>
              <a:rPr lang="fi-FI" dirty="0" smtClean="0">
                <a:solidFill>
                  <a:schemeClr val="accent3"/>
                </a:solidFill>
              </a:rPr>
              <a:t>Inkrementaalinen toimitustapa</a:t>
            </a:r>
          </a:p>
          <a:p>
            <a:pPr marL="176213" indent="-176213">
              <a:buFont typeface="Arial" pitchFamily="34" charset="0"/>
              <a:buChar char="•"/>
            </a:pPr>
            <a:r>
              <a:rPr lang="fi-FI" dirty="0" smtClean="0">
                <a:solidFill>
                  <a:schemeClr val="accent3"/>
                </a:solidFill>
              </a:rPr>
              <a:t>Oma mukanaolo ennen hyväksymistestausta</a:t>
            </a:r>
          </a:p>
          <a:p>
            <a:pPr marL="176213" indent="-176213">
              <a:buFont typeface="Arial" pitchFamily="34" charset="0"/>
              <a:buChar char="•"/>
            </a:pPr>
            <a:r>
              <a:rPr lang="fi-FI" dirty="0" smtClean="0">
                <a:solidFill>
                  <a:schemeClr val="accent3"/>
                </a:solidFill>
              </a:rPr>
              <a:t>Pieni järjestelmä, vähän liittymiä</a:t>
            </a:r>
          </a:p>
          <a:p>
            <a:pPr marL="176213" indent="-176213">
              <a:buFont typeface="Arial" pitchFamily="34" charset="0"/>
              <a:buChar char="•"/>
            </a:pPr>
            <a:r>
              <a:rPr lang="fi-FI" dirty="0" smtClean="0">
                <a:solidFill>
                  <a:schemeClr val="accent3"/>
                </a:solidFill>
              </a:rPr>
              <a:t>Pienet riskit laadun puutteista käyttöönottotilanteessa</a:t>
            </a:r>
          </a:p>
        </p:txBody>
      </p:sp>
      <p:sp>
        <p:nvSpPr>
          <p:cNvPr id="11" name="Slide Number Placeholder 10"/>
          <p:cNvSpPr>
            <a:spLocks noGrp="1"/>
          </p:cNvSpPr>
          <p:nvPr>
            <p:ph type="sldNum" sz="quarter" idx="12"/>
          </p:nvPr>
        </p:nvSpPr>
        <p:spPr/>
        <p:txBody>
          <a:bodyPr/>
          <a:lstStyle/>
          <a:p>
            <a:fld id="{7A750B4A-325E-4AA4-BC07-A8C35B32A4F3}" type="slidenum">
              <a:rPr lang="fi-FI" smtClean="0"/>
              <a:pPr/>
              <a:t>42</a:t>
            </a:fld>
            <a:endParaRPr lang="fi-FI"/>
          </a:p>
        </p:txBody>
      </p:sp>
      <p:sp>
        <p:nvSpPr>
          <p:cNvPr id="6" name="Rectangle 5"/>
          <p:cNvSpPr/>
          <p:nvPr/>
        </p:nvSpPr>
        <p:spPr>
          <a:xfrm>
            <a:off x="1785918" y="4514687"/>
            <a:ext cx="214314" cy="2143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7" name="Rectangle 6"/>
          <p:cNvSpPr/>
          <p:nvPr/>
        </p:nvSpPr>
        <p:spPr>
          <a:xfrm>
            <a:off x="7215206" y="2014357"/>
            <a:ext cx="214314" cy="27146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Tree>
  </p:cSld>
  <p:clrMapOvr>
    <a:masterClrMapping/>
  </p:clrMapOvr>
  <p:timing>
    <p:tnLst>
      <p:par>
        <p:cTn xmlns:p14="http://schemas.microsoft.com/office/powerpoint/2010/mai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r>
              <a:rPr lang="fi-FI" dirty="0" smtClean="0"/>
              <a:t>Esimerkki: Toimintamalli 1</a:t>
            </a:r>
            <a:endParaRPr lang="en-US" dirty="0"/>
          </a:p>
        </p:txBody>
      </p:sp>
      <p:sp>
        <p:nvSpPr>
          <p:cNvPr id="96259" name="Line 3"/>
          <p:cNvSpPr>
            <a:spLocks noChangeShapeType="1"/>
          </p:cNvSpPr>
          <p:nvPr/>
        </p:nvSpPr>
        <p:spPr bwMode="auto">
          <a:xfrm>
            <a:off x="4140200" y="1628775"/>
            <a:ext cx="0" cy="4248150"/>
          </a:xfrm>
          <a:prstGeom prst="line">
            <a:avLst/>
          </a:prstGeom>
          <a:noFill/>
          <a:ln w="38100">
            <a:solidFill>
              <a:schemeClr val="hlink"/>
            </a:solidFill>
            <a:round/>
            <a:headEnd/>
            <a:tailEnd/>
          </a:ln>
          <a:effectLst/>
        </p:spPr>
        <p:txBody>
          <a:bodyPr wrap="none" anchor="ctr"/>
          <a:lstStyle/>
          <a:p>
            <a:endParaRPr lang="fi-FI"/>
          </a:p>
        </p:txBody>
      </p:sp>
      <p:sp>
        <p:nvSpPr>
          <p:cNvPr id="96260" name="Text Box 4"/>
          <p:cNvSpPr txBox="1">
            <a:spLocks noChangeArrowheads="1"/>
          </p:cNvSpPr>
          <p:nvPr/>
        </p:nvSpPr>
        <p:spPr bwMode="auto">
          <a:xfrm>
            <a:off x="1042988" y="1628775"/>
            <a:ext cx="2376487" cy="366713"/>
          </a:xfrm>
          <a:prstGeom prst="rect">
            <a:avLst/>
          </a:prstGeom>
          <a:noFill/>
          <a:ln w="9525" algn="ctr">
            <a:noFill/>
            <a:miter lim="800000"/>
            <a:headEnd/>
            <a:tailEnd/>
          </a:ln>
          <a:effectLst/>
        </p:spPr>
        <p:txBody>
          <a:bodyPr>
            <a:spAutoFit/>
          </a:bodyPr>
          <a:lstStyle/>
          <a:p>
            <a:pPr algn="ctr">
              <a:spcBef>
                <a:spcPct val="50000"/>
              </a:spcBef>
            </a:pPr>
            <a:r>
              <a:rPr lang="fi-FI">
                <a:latin typeface="Arial Narrow" pitchFamily="34" charset="0"/>
              </a:rPr>
              <a:t>Toimittaja</a:t>
            </a:r>
            <a:endParaRPr lang="en-US">
              <a:latin typeface="Arial Narrow" pitchFamily="34" charset="0"/>
            </a:endParaRPr>
          </a:p>
        </p:txBody>
      </p:sp>
      <p:sp>
        <p:nvSpPr>
          <p:cNvPr id="96261" name="Text Box 5"/>
          <p:cNvSpPr txBox="1">
            <a:spLocks noChangeArrowheads="1"/>
          </p:cNvSpPr>
          <p:nvPr/>
        </p:nvSpPr>
        <p:spPr bwMode="auto">
          <a:xfrm>
            <a:off x="4859338" y="1628775"/>
            <a:ext cx="2376487" cy="366713"/>
          </a:xfrm>
          <a:prstGeom prst="rect">
            <a:avLst/>
          </a:prstGeom>
          <a:noFill/>
          <a:ln w="9525" algn="ctr">
            <a:noFill/>
            <a:miter lim="800000"/>
            <a:headEnd/>
            <a:tailEnd/>
          </a:ln>
          <a:effectLst/>
        </p:spPr>
        <p:txBody>
          <a:bodyPr>
            <a:spAutoFit/>
          </a:bodyPr>
          <a:lstStyle/>
          <a:p>
            <a:pPr algn="ctr">
              <a:spcBef>
                <a:spcPct val="50000"/>
              </a:spcBef>
            </a:pPr>
            <a:r>
              <a:rPr lang="fi-FI">
                <a:latin typeface="Arial Narrow" pitchFamily="34" charset="0"/>
              </a:rPr>
              <a:t>Asiakkaat</a:t>
            </a:r>
            <a:endParaRPr lang="en-US">
              <a:latin typeface="Arial Narrow" pitchFamily="34" charset="0"/>
            </a:endParaRPr>
          </a:p>
        </p:txBody>
      </p:sp>
      <p:sp>
        <p:nvSpPr>
          <p:cNvPr id="96262" name="Rectangle 6"/>
          <p:cNvSpPr>
            <a:spLocks noChangeArrowheads="1"/>
          </p:cNvSpPr>
          <p:nvPr/>
        </p:nvSpPr>
        <p:spPr bwMode="auto">
          <a:xfrm>
            <a:off x="684213" y="2205038"/>
            <a:ext cx="2449512" cy="936625"/>
          </a:xfrm>
          <a:prstGeom prst="rect">
            <a:avLst/>
          </a:prstGeom>
          <a:solidFill>
            <a:schemeClr val="accent1"/>
          </a:solidFill>
          <a:ln w="9525" algn="ctr">
            <a:solidFill>
              <a:schemeClr val="tx1"/>
            </a:solidFill>
            <a:miter lim="800000"/>
            <a:headEnd/>
            <a:tailEnd/>
          </a:ln>
          <a:effectLst/>
        </p:spPr>
        <p:txBody>
          <a:bodyPr anchor="ctr"/>
          <a:lstStyle/>
          <a:p>
            <a:pPr algn="ctr"/>
            <a:r>
              <a:rPr lang="fi-FI">
                <a:latin typeface="Arial Narrow" pitchFamily="34" charset="0"/>
              </a:rPr>
              <a:t>Testaussuunnittelu toimituserittäin</a:t>
            </a:r>
            <a:endParaRPr lang="en-US">
              <a:latin typeface="Arial Narrow" pitchFamily="34" charset="0"/>
            </a:endParaRPr>
          </a:p>
        </p:txBody>
      </p:sp>
      <p:sp>
        <p:nvSpPr>
          <p:cNvPr id="96263" name="Oval 7"/>
          <p:cNvSpPr>
            <a:spLocks noChangeArrowheads="1"/>
          </p:cNvSpPr>
          <p:nvPr/>
        </p:nvSpPr>
        <p:spPr bwMode="auto">
          <a:xfrm>
            <a:off x="2195513" y="3213100"/>
            <a:ext cx="431800" cy="431800"/>
          </a:xfrm>
          <a:prstGeom prst="ellipse">
            <a:avLst/>
          </a:prstGeom>
          <a:solidFill>
            <a:schemeClr val="accent1"/>
          </a:solidFill>
          <a:ln w="9525" algn="ctr">
            <a:solidFill>
              <a:schemeClr val="tx1"/>
            </a:solidFill>
            <a:round/>
            <a:headEnd/>
            <a:tailEnd/>
          </a:ln>
          <a:effectLst/>
        </p:spPr>
        <p:txBody>
          <a:bodyPr wrap="none" anchor="ctr"/>
          <a:lstStyle/>
          <a:p>
            <a:pPr algn="ctr"/>
            <a:r>
              <a:rPr lang="fi-FI">
                <a:latin typeface="Arial Narrow" pitchFamily="34" charset="0"/>
              </a:rPr>
              <a:t>v.1</a:t>
            </a:r>
            <a:endParaRPr lang="en-US">
              <a:latin typeface="Arial Narrow" pitchFamily="34" charset="0"/>
            </a:endParaRPr>
          </a:p>
        </p:txBody>
      </p:sp>
      <p:sp>
        <p:nvSpPr>
          <p:cNvPr id="96264" name="Oval 8"/>
          <p:cNvSpPr>
            <a:spLocks noChangeArrowheads="1"/>
          </p:cNvSpPr>
          <p:nvPr/>
        </p:nvSpPr>
        <p:spPr bwMode="auto">
          <a:xfrm>
            <a:off x="2770188" y="3213100"/>
            <a:ext cx="431800" cy="431800"/>
          </a:xfrm>
          <a:prstGeom prst="ellipse">
            <a:avLst/>
          </a:prstGeom>
          <a:solidFill>
            <a:schemeClr val="accent1"/>
          </a:solidFill>
          <a:ln w="9525" algn="ctr">
            <a:solidFill>
              <a:schemeClr val="tx1"/>
            </a:solidFill>
            <a:round/>
            <a:headEnd/>
            <a:tailEnd/>
          </a:ln>
          <a:effectLst/>
        </p:spPr>
        <p:txBody>
          <a:bodyPr wrap="none" anchor="ctr"/>
          <a:lstStyle/>
          <a:p>
            <a:pPr algn="ctr"/>
            <a:r>
              <a:rPr lang="fi-FI">
                <a:latin typeface="Arial Narrow" pitchFamily="34" charset="0"/>
              </a:rPr>
              <a:t>v.2</a:t>
            </a:r>
            <a:endParaRPr lang="en-US">
              <a:latin typeface="Arial Narrow" pitchFamily="34" charset="0"/>
            </a:endParaRPr>
          </a:p>
        </p:txBody>
      </p:sp>
      <p:sp>
        <p:nvSpPr>
          <p:cNvPr id="96265" name="Text Box 9"/>
          <p:cNvSpPr txBox="1">
            <a:spLocks noChangeArrowheads="1"/>
          </p:cNvSpPr>
          <p:nvPr/>
        </p:nvSpPr>
        <p:spPr bwMode="auto">
          <a:xfrm>
            <a:off x="71438" y="5321300"/>
            <a:ext cx="3995737" cy="915988"/>
          </a:xfrm>
          <a:prstGeom prst="rect">
            <a:avLst/>
          </a:prstGeom>
          <a:noFill/>
          <a:ln w="9525" algn="ctr">
            <a:noFill/>
            <a:miter lim="800000"/>
            <a:headEnd/>
            <a:tailEnd/>
          </a:ln>
          <a:effectLst/>
        </p:spPr>
        <p:txBody>
          <a:bodyPr>
            <a:spAutoFit/>
          </a:bodyPr>
          <a:lstStyle/>
          <a:p>
            <a:pPr algn="ctr">
              <a:spcBef>
                <a:spcPct val="50000"/>
              </a:spcBef>
            </a:pPr>
            <a:r>
              <a:rPr lang="fi-FI">
                <a:latin typeface="Arial Narrow" pitchFamily="34" charset="0"/>
              </a:rPr>
              <a:t>Huom! Ei kokonaisuuden suunnittelua, vaan mukautuen vaiheen sovittuun sisältöön, regressiotestaus vanhalle tarpeen mukaan</a:t>
            </a:r>
            <a:endParaRPr lang="en-US">
              <a:latin typeface="Arial Narrow" pitchFamily="34" charset="0"/>
            </a:endParaRPr>
          </a:p>
        </p:txBody>
      </p:sp>
      <p:sp>
        <p:nvSpPr>
          <p:cNvPr id="96266" name="AutoShape 10"/>
          <p:cNvSpPr>
            <a:spLocks noChangeArrowheads="1"/>
          </p:cNvSpPr>
          <p:nvPr/>
        </p:nvSpPr>
        <p:spPr bwMode="auto">
          <a:xfrm>
            <a:off x="3492500" y="4581525"/>
            <a:ext cx="1295400" cy="503238"/>
          </a:xfrm>
          <a:prstGeom prst="roundRect">
            <a:avLst>
              <a:gd name="adj" fmla="val 16667"/>
            </a:avLst>
          </a:prstGeom>
          <a:solidFill>
            <a:schemeClr val="accent1"/>
          </a:solidFill>
          <a:ln w="9525" algn="ctr">
            <a:solidFill>
              <a:schemeClr val="tx1"/>
            </a:solidFill>
            <a:round/>
            <a:headEnd/>
            <a:tailEnd/>
          </a:ln>
          <a:effectLst/>
        </p:spPr>
        <p:txBody>
          <a:bodyPr wrap="none" anchor="ctr"/>
          <a:lstStyle/>
          <a:p>
            <a:pPr algn="ctr"/>
            <a:r>
              <a:rPr lang="fi-FI">
                <a:latin typeface="Arial Narrow" pitchFamily="34" charset="0"/>
              </a:rPr>
              <a:t>Katselmointi</a:t>
            </a:r>
            <a:endParaRPr lang="en-US">
              <a:latin typeface="Arial Narrow" pitchFamily="34" charset="0"/>
            </a:endParaRPr>
          </a:p>
        </p:txBody>
      </p:sp>
      <p:cxnSp>
        <p:nvCxnSpPr>
          <p:cNvPr id="96267" name="AutoShape 11"/>
          <p:cNvCxnSpPr>
            <a:cxnSpLocks noChangeShapeType="1"/>
            <a:stCxn id="96266" idx="1"/>
            <a:endCxn id="96262" idx="2"/>
          </p:cNvCxnSpPr>
          <p:nvPr/>
        </p:nvCxnSpPr>
        <p:spPr bwMode="auto">
          <a:xfrm rot="10800000">
            <a:off x="1909763" y="3141663"/>
            <a:ext cx="1582737" cy="1692275"/>
          </a:xfrm>
          <a:prstGeom prst="bentConnector2">
            <a:avLst/>
          </a:prstGeom>
          <a:noFill/>
          <a:ln w="9525">
            <a:solidFill>
              <a:schemeClr val="tx1"/>
            </a:solidFill>
            <a:miter lim="800000"/>
            <a:headEnd/>
            <a:tailEnd type="triangle" w="med" len="med"/>
          </a:ln>
          <a:effectLst/>
        </p:spPr>
      </p:cxnSp>
      <p:sp>
        <p:nvSpPr>
          <p:cNvPr id="96268" name="Rectangle 12"/>
          <p:cNvSpPr>
            <a:spLocks noChangeArrowheads="1"/>
          </p:cNvSpPr>
          <p:nvPr/>
        </p:nvSpPr>
        <p:spPr bwMode="auto">
          <a:xfrm>
            <a:off x="4859338" y="2205038"/>
            <a:ext cx="2449512" cy="936625"/>
          </a:xfrm>
          <a:prstGeom prst="rect">
            <a:avLst/>
          </a:prstGeom>
          <a:solidFill>
            <a:schemeClr val="accent1"/>
          </a:solidFill>
          <a:ln w="9525" algn="ctr">
            <a:solidFill>
              <a:schemeClr val="tx1"/>
            </a:solidFill>
            <a:miter lim="800000"/>
            <a:headEnd/>
            <a:tailEnd/>
          </a:ln>
          <a:effectLst/>
        </p:spPr>
        <p:txBody>
          <a:bodyPr anchor="ctr"/>
          <a:lstStyle/>
          <a:p>
            <a:pPr algn="ctr"/>
            <a:r>
              <a:rPr lang="fi-FI" dirty="0">
                <a:latin typeface="Arial Narrow" pitchFamily="34" charset="0"/>
              </a:rPr>
              <a:t>Hyväksymistestauksen suunnittelu</a:t>
            </a:r>
            <a:endParaRPr lang="en-US" dirty="0">
              <a:latin typeface="Arial Narrow" pitchFamily="34" charset="0"/>
            </a:endParaRPr>
          </a:p>
        </p:txBody>
      </p:sp>
      <p:sp>
        <p:nvSpPr>
          <p:cNvPr id="96269" name="Rectangle 13"/>
          <p:cNvSpPr>
            <a:spLocks noChangeArrowheads="1"/>
          </p:cNvSpPr>
          <p:nvPr/>
        </p:nvSpPr>
        <p:spPr bwMode="auto">
          <a:xfrm>
            <a:off x="6299200" y="4005263"/>
            <a:ext cx="2449513" cy="936625"/>
          </a:xfrm>
          <a:prstGeom prst="rect">
            <a:avLst/>
          </a:prstGeom>
          <a:solidFill>
            <a:schemeClr val="accent1"/>
          </a:solidFill>
          <a:ln w="9525" algn="ctr">
            <a:solidFill>
              <a:schemeClr val="tx1"/>
            </a:solidFill>
            <a:miter lim="800000"/>
            <a:headEnd/>
            <a:tailEnd/>
          </a:ln>
          <a:effectLst/>
        </p:spPr>
        <p:txBody>
          <a:bodyPr anchor="ctr"/>
          <a:lstStyle/>
          <a:p>
            <a:pPr algn="ctr"/>
            <a:r>
              <a:rPr lang="fi-FI">
                <a:latin typeface="Arial Narrow" pitchFamily="34" charset="0"/>
              </a:rPr>
              <a:t>Valmistelua asiakastestaamalla toimituseriä</a:t>
            </a:r>
            <a:endParaRPr lang="en-US">
              <a:latin typeface="Arial Narrow" pitchFamily="34" charset="0"/>
            </a:endParaRPr>
          </a:p>
        </p:txBody>
      </p:sp>
      <p:sp>
        <p:nvSpPr>
          <p:cNvPr id="96270" name="AutoShape 14"/>
          <p:cNvSpPr>
            <a:spLocks noChangeArrowheads="1"/>
          </p:cNvSpPr>
          <p:nvPr/>
        </p:nvSpPr>
        <p:spPr bwMode="auto">
          <a:xfrm>
            <a:off x="3214678" y="1928803"/>
            <a:ext cx="1857388" cy="1068398"/>
          </a:xfrm>
          <a:prstGeom prst="irregularSeal2">
            <a:avLst/>
          </a:prstGeom>
          <a:solidFill>
            <a:schemeClr val="accent1"/>
          </a:solidFill>
          <a:ln w="9525" algn="ctr">
            <a:solidFill>
              <a:schemeClr val="tx1"/>
            </a:solidFill>
            <a:miter lim="800000"/>
            <a:headEnd/>
            <a:tailEnd/>
          </a:ln>
          <a:effectLst/>
        </p:spPr>
        <p:txBody>
          <a:bodyPr anchor="ctr"/>
          <a:lstStyle/>
          <a:p>
            <a:pPr algn="ctr"/>
            <a:r>
              <a:rPr lang="fi-FI" sz="1200">
                <a:latin typeface="Arial Narrow" pitchFamily="34" charset="0"/>
              </a:rPr>
              <a:t>Keskustelu sisällöistä</a:t>
            </a:r>
            <a:endParaRPr lang="en-US" sz="1200">
              <a:latin typeface="Arial Narrow" pitchFamily="34" charset="0"/>
            </a:endParaRPr>
          </a:p>
        </p:txBody>
      </p:sp>
      <p:cxnSp>
        <p:nvCxnSpPr>
          <p:cNvPr id="96271" name="AutoShape 15"/>
          <p:cNvCxnSpPr>
            <a:cxnSpLocks noChangeShapeType="1"/>
            <a:stCxn id="96270" idx="2"/>
            <a:endCxn id="96268" idx="2"/>
          </p:cNvCxnSpPr>
          <p:nvPr/>
        </p:nvCxnSpPr>
        <p:spPr bwMode="auto">
          <a:xfrm rot="16200000" flipH="1">
            <a:off x="5008205" y="2065773"/>
            <a:ext cx="280881" cy="1870898"/>
          </a:xfrm>
          <a:prstGeom prst="bentConnector3">
            <a:avLst>
              <a:gd name="adj1" fmla="val 204640"/>
            </a:avLst>
          </a:prstGeom>
          <a:noFill/>
          <a:ln w="9525">
            <a:solidFill>
              <a:schemeClr val="tx1"/>
            </a:solidFill>
            <a:miter lim="800000"/>
            <a:headEnd/>
            <a:tailEnd type="triangle" w="med" len="med"/>
          </a:ln>
          <a:effectLst/>
        </p:spPr>
      </p:cxnSp>
      <p:cxnSp>
        <p:nvCxnSpPr>
          <p:cNvPr id="96272" name="AutoShape 16"/>
          <p:cNvCxnSpPr>
            <a:cxnSpLocks noChangeShapeType="1"/>
            <a:stCxn id="96270" idx="2"/>
            <a:endCxn id="96269" idx="0"/>
          </p:cNvCxnSpPr>
          <p:nvPr/>
        </p:nvCxnSpPr>
        <p:spPr bwMode="auto">
          <a:xfrm rot="16200000" flipH="1">
            <a:off x="5296336" y="1777641"/>
            <a:ext cx="1144481" cy="3310761"/>
          </a:xfrm>
          <a:prstGeom prst="bentConnector3">
            <a:avLst>
              <a:gd name="adj1" fmla="val 50000"/>
            </a:avLst>
          </a:prstGeom>
          <a:noFill/>
          <a:ln w="9525">
            <a:solidFill>
              <a:schemeClr val="tx1"/>
            </a:solidFill>
            <a:miter lim="800000"/>
            <a:headEnd/>
            <a:tailEnd type="triangle" w="med" len="med"/>
          </a:ln>
          <a:effectLst/>
        </p:spPr>
      </p:cxnSp>
      <p:sp>
        <p:nvSpPr>
          <p:cNvPr id="96273" name="AutoShape 17"/>
          <p:cNvSpPr>
            <a:spLocks noChangeArrowheads="1"/>
          </p:cNvSpPr>
          <p:nvPr/>
        </p:nvSpPr>
        <p:spPr bwMode="auto">
          <a:xfrm>
            <a:off x="4213225" y="3789363"/>
            <a:ext cx="1295400" cy="647700"/>
          </a:xfrm>
          <a:prstGeom prst="roundRect">
            <a:avLst>
              <a:gd name="adj" fmla="val 16667"/>
            </a:avLst>
          </a:prstGeom>
          <a:solidFill>
            <a:schemeClr val="accent1"/>
          </a:solidFill>
          <a:ln w="9525" algn="ctr">
            <a:noFill/>
            <a:round/>
            <a:headEnd/>
            <a:tailEnd/>
          </a:ln>
          <a:effectLst/>
        </p:spPr>
        <p:txBody>
          <a:bodyPr wrap="none" anchor="ctr"/>
          <a:lstStyle/>
          <a:p>
            <a:pPr algn="ctr"/>
            <a:r>
              <a:rPr lang="fi-FI">
                <a:latin typeface="Arial Narrow" pitchFamily="34" charset="0"/>
              </a:rPr>
              <a:t>Luovutuskoe-</a:t>
            </a:r>
            <a:br>
              <a:rPr lang="fi-FI">
                <a:latin typeface="Arial Narrow" pitchFamily="34" charset="0"/>
              </a:rPr>
            </a:br>
            <a:r>
              <a:rPr lang="fi-FI">
                <a:latin typeface="Arial Narrow" pitchFamily="34" charset="0"/>
              </a:rPr>
              <a:t>testit</a:t>
            </a:r>
            <a:endParaRPr lang="en-US">
              <a:latin typeface="Arial Narrow" pitchFamily="34" charset="0"/>
            </a:endParaRPr>
          </a:p>
        </p:txBody>
      </p:sp>
      <p:sp>
        <p:nvSpPr>
          <p:cNvPr id="96274" name="AutoShape 18"/>
          <p:cNvSpPr>
            <a:spLocks noChangeArrowheads="1"/>
          </p:cNvSpPr>
          <p:nvPr/>
        </p:nvSpPr>
        <p:spPr bwMode="auto">
          <a:xfrm>
            <a:off x="3706813" y="3862388"/>
            <a:ext cx="504825" cy="503237"/>
          </a:xfrm>
          <a:prstGeom prst="leftArrow">
            <a:avLst>
              <a:gd name="adj1" fmla="val 50000"/>
              <a:gd name="adj2" fmla="val 25079"/>
            </a:avLst>
          </a:prstGeom>
          <a:solidFill>
            <a:schemeClr val="accent1"/>
          </a:solidFill>
          <a:ln w="9525" algn="ctr">
            <a:noFill/>
            <a:miter lim="800000"/>
            <a:headEnd/>
            <a:tailEnd/>
          </a:ln>
          <a:effectLst/>
        </p:spPr>
        <p:txBody>
          <a:bodyPr wrap="none" anchor="ctr"/>
          <a:lstStyle/>
          <a:p>
            <a:endParaRPr lang="fi-FI"/>
          </a:p>
        </p:txBody>
      </p:sp>
      <p:sp>
        <p:nvSpPr>
          <p:cNvPr id="19" name="Slide Number Placeholder 18"/>
          <p:cNvSpPr>
            <a:spLocks noGrp="1"/>
          </p:cNvSpPr>
          <p:nvPr>
            <p:ph type="sldNum" sz="quarter" idx="12"/>
          </p:nvPr>
        </p:nvSpPr>
        <p:spPr/>
        <p:txBody>
          <a:bodyPr/>
          <a:lstStyle/>
          <a:p>
            <a:fld id="{7A750B4A-325E-4AA4-BC07-A8C35B32A4F3}" type="slidenum">
              <a:rPr lang="fi-FI" smtClean="0"/>
              <a:pPr/>
              <a:t>43</a:t>
            </a:fld>
            <a:endParaRPr lang="fi-FI"/>
          </a:p>
        </p:txBody>
      </p:sp>
    </p:spTree>
  </p:cSld>
  <p:clrMapOvr>
    <a:masterClrMapping/>
  </p:clrMapOvr>
  <p:timing>
    <p:tnLst>
      <p:par>
        <p:cTn xmlns:p14="http://schemas.microsoft.com/office/powerpoint/2010/mai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normAutofit/>
          </a:bodyPr>
          <a:lstStyle/>
          <a:p>
            <a:r>
              <a:rPr lang="fi-FI" dirty="0" smtClean="0"/>
              <a:t>Esimerkki: Toimintamalli 2</a:t>
            </a:r>
            <a:endParaRPr lang="en-US" dirty="0"/>
          </a:p>
        </p:txBody>
      </p:sp>
      <p:sp>
        <p:nvSpPr>
          <p:cNvPr id="97283" name="Line 3"/>
          <p:cNvSpPr>
            <a:spLocks noChangeShapeType="1"/>
          </p:cNvSpPr>
          <p:nvPr/>
        </p:nvSpPr>
        <p:spPr bwMode="auto">
          <a:xfrm>
            <a:off x="4211638" y="1628775"/>
            <a:ext cx="0" cy="4752975"/>
          </a:xfrm>
          <a:prstGeom prst="line">
            <a:avLst/>
          </a:prstGeom>
          <a:noFill/>
          <a:ln w="38100">
            <a:solidFill>
              <a:schemeClr val="hlink"/>
            </a:solidFill>
            <a:round/>
            <a:headEnd/>
            <a:tailEnd/>
          </a:ln>
          <a:effectLst/>
        </p:spPr>
        <p:txBody>
          <a:bodyPr wrap="none" anchor="ctr"/>
          <a:lstStyle/>
          <a:p>
            <a:endParaRPr lang="fi-FI"/>
          </a:p>
        </p:txBody>
      </p:sp>
      <p:sp>
        <p:nvSpPr>
          <p:cNvPr id="97284" name="Text Box 4"/>
          <p:cNvSpPr txBox="1">
            <a:spLocks noChangeArrowheads="1"/>
          </p:cNvSpPr>
          <p:nvPr/>
        </p:nvSpPr>
        <p:spPr bwMode="auto">
          <a:xfrm>
            <a:off x="1042988" y="1628775"/>
            <a:ext cx="2376487" cy="366713"/>
          </a:xfrm>
          <a:prstGeom prst="rect">
            <a:avLst/>
          </a:prstGeom>
          <a:noFill/>
          <a:ln w="9525" algn="ctr">
            <a:noFill/>
            <a:miter lim="800000"/>
            <a:headEnd/>
            <a:tailEnd/>
          </a:ln>
          <a:effectLst/>
        </p:spPr>
        <p:txBody>
          <a:bodyPr>
            <a:spAutoFit/>
          </a:bodyPr>
          <a:lstStyle/>
          <a:p>
            <a:pPr algn="ctr">
              <a:spcBef>
                <a:spcPct val="50000"/>
              </a:spcBef>
            </a:pPr>
            <a:r>
              <a:rPr lang="fi-FI">
                <a:latin typeface="Arial Narrow" pitchFamily="34" charset="0"/>
              </a:rPr>
              <a:t>Toimittaja</a:t>
            </a:r>
            <a:endParaRPr lang="en-US">
              <a:latin typeface="Arial Narrow" pitchFamily="34" charset="0"/>
            </a:endParaRPr>
          </a:p>
        </p:txBody>
      </p:sp>
      <p:sp>
        <p:nvSpPr>
          <p:cNvPr id="97285" name="Text Box 5"/>
          <p:cNvSpPr txBox="1">
            <a:spLocks noChangeArrowheads="1"/>
          </p:cNvSpPr>
          <p:nvPr/>
        </p:nvSpPr>
        <p:spPr bwMode="auto">
          <a:xfrm>
            <a:off x="4859338" y="1628775"/>
            <a:ext cx="2376487" cy="366713"/>
          </a:xfrm>
          <a:prstGeom prst="rect">
            <a:avLst/>
          </a:prstGeom>
          <a:noFill/>
          <a:ln w="9525" algn="ctr">
            <a:noFill/>
            <a:miter lim="800000"/>
            <a:headEnd/>
            <a:tailEnd/>
          </a:ln>
          <a:effectLst/>
        </p:spPr>
        <p:txBody>
          <a:bodyPr>
            <a:spAutoFit/>
          </a:bodyPr>
          <a:lstStyle/>
          <a:p>
            <a:pPr algn="ctr">
              <a:spcBef>
                <a:spcPct val="50000"/>
              </a:spcBef>
            </a:pPr>
            <a:r>
              <a:rPr lang="fi-FI">
                <a:latin typeface="Arial Narrow" pitchFamily="34" charset="0"/>
              </a:rPr>
              <a:t>Asiakkaat</a:t>
            </a:r>
            <a:endParaRPr lang="en-US">
              <a:latin typeface="Arial Narrow" pitchFamily="34" charset="0"/>
            </a:endParaRPr>
          </a:p>
        </p:txBody>
      </p:sp>
      <p:sp>
        <p:nvSpPr>
          <p:cNvPr id="97286" name="Rectangle 6"/>
          <p:cNvSpPr>
            <a:spLocks noChangeArrowheads="1"/>
          </p:cNvSpPr>
          <p:nvPr/>
        </p:nvSpPr>
        <p:spPr bwMode="auto">
          <a:xfrm>
            <a:off x="2987675" y="2060575"/>
            <a:ext cx="2449513" cy="936625"/>
          </a:xfrm>
          <a:prstGeom prst="rect">
            <a:avLst/>
          </a:prstGeom>
          <a:solidFill>
            <a:schemeClr val="accent1"/>
          </a:solidFill>
          <a:ln w="9525" algn="ctr">
            <a:solidFill>
              <a:schemeClr val="tx1"/>
            </a:solidFill>
            <a:miter lim="800000"/>
            <a:headEnd/>
            <a:tailEnd/>
          </a:ln>
          <a:effectLst/>
        </p:spPr>
        <p:txBody>
          <a:bodyPr anchor="ctr"/>
          <a:lstStyle/>
          <a:p>
            <a:pPr algn="ctr"/>
            <a:r>
              <a:rPr lang="fi-FI">
                <a:latin typeface="Arial Narrow" pitchFamily="34" charset="0"/>
              </a:rPr>
              <a:t>Kokonaistestaus-suunnittelu</a:t>
            </a:r>
            <a:endParaRPr lang="en-US">
              <a:latin typeface="Arial Narrow" pitchFamily="34" charset="0"/>
            </a:endParaRPr>
          </a:p>
        </p:txBody>
      </p:sp>
      <p:sp>
        <p:nvSpPr>
          <p:cNvPr id="97287" name="AutoShape 7"/>
          <p:cNvSpPr>
            <a:spLocks noChangeArrowheads="1"/>
          </p:cNvSpPr>
          <p:nvPr/>
        </p:nvSpPr>
        <p:spPr bwMode="auto">
          <a:xfrm>
            <a:off x="3563938" y="3141663"/>
            <a:ext cx="1295400" cy="503237"/>
          </a:xfrm>
          <a:prstGeom prst="roundRect">
            <a:avLst>
              <a:gd name="adj" fmla="val 16667"/>
            </a:avLst>
          </a:prstGeom>
          <a:solidFill>
            <a:schemeClr val="accent1"/>
          </a:solidFill>
          <a:ln w="9525" algn="ctr">
            <a:solidFill>
              <a:schemeClr val="tx1"/>
            </a:solidFill>
            <a:round/>
            <a:headEnd/>
            <a:tailEnd/>
          </a:ln>
          <a:effectLst/>
        </p:spPr>
        <p:txBody>
          <a:bodyPr wrap="none" anchor="ctr"/>
          <a:lstStyle/>
          <a:p>
            <a:pPr algn="ctr"/>
            <a:r>
              <a:rPr lang="fi-FI">
                <a:latin typeface="Arial Narrow" pitchFamily="34" charset="0"/>
              </a:rPr>
              <a:t>Katselmointi</a:t>
            </a:r>
            <a:endParaRPr lang="en-US">
              <a:latin typeface="Arial Narrow" pitchFamily="34" charset="0"/>
            </a:endParaRPr>
          </a:p>
        </p:txBody>
      </p:sp>
      <p:grpSp>
        <p:nvGrpSpPr>
          <p:cNvPr id="2" name="Group 8"/>
          <p:cNvGrpSpPr>
            <a:grpSpLocks/>
          </p:cNvGrpSpPr>
          <p:nvPr/>
        </p:nvGrpSpPr>
        <p:grpSpPr bwMode="auto">
          <a:xfrm>
            <a:off x="3778250" y="4510088"/>
            <a:ext cx="1801813" cy="647700"/>
            <a:chOff x="2335" y="2387"/>
            <a:chExt cx="1135" cy="408"/>
          </a:xfrm>
        </p:grpSpPr>
        <p:sp>
          <p:nvSpPr>
            <p:cNvPr id="97289" name="AutoShape 9"/>
            <p:cNvSpPr>
              <a:spLocks noChangeArrowheads="1"/>
            </p:cNvSpPr>
            <p:nvPr/>
          </p:nvSpPr>
          <p:spPr bwMode="auto">
            <a:xfrm>
              <a:off x="2654" y="2387"/>
              <a:ext cx="816" cy="408"/>
            </a:xfrm>
            <a:prstGeom prst="roundRect">
              <a:avLst>
                <a:gd name="adj" fmla="val 16667"/>
              </a:avLst>
            </a:prstGeom>
            <a:solidFill>
              <a:schemeClr val="accent1"/>
            </a:solidFill>
            <a:ln w="9525" algn="ctr">
              <a:noFill/>
              <a:round/>
              <a:headEnd/>
              <a:tailEnd/>
            </a:ln>
            <a:effectLst/>
          </p:spPr>
          <p:txBody>
            <a:bodyPr wrap="none" anchor="ctr"/>
            <a:lstStyle/>
            <a:p>
              <a:pPr algn="ctr"/>
              <a:r>
                <a:rPr lang="fi-FI">
                  <a:latin typeface="Arial Narrow" pitchFamily="34" charset="0"/>
                </a:rPr>
                <a:t>Luovutuskoe-</a:t>
              </a:r>
              <a:br>
                <a:rPr lang="fi-FI">
                  <a:latin typeface="Arial Narrow" pitchFamily="34" charset="0"/>
                </a:rPr>
              </a:br>
              <a:r>
                <a:rPr lang="fi-FI">
                  <a:latin typeface="Arial Narrow" pitchFamily="34" charset="0"/>
                </a:rPr>
                <a:t>testit</a:t>
              </a:r>
              <a:endParaRPr lang="en-US">
                <a:latin typeface="Arial Narrow" pitchFamily="34" charset="0"/>
              </a:endParaRPr>
            </a:p>
          </p:txBody>
        </p:sp>
        <p:sp>
          <p:nvSpPr>
            <p:cNvPr id="97290" name="AutoShape 10"/>
            <p:cNvSpPr>
              <a:spLocks noChangeArrowheads="1"/>
            </p:cNvSpPr>
            <p:nvPr/>
          </p:nvSpPr>
          <p:spPr bwMode="auto">
            <a:xfrm>
              <a:off x="2335" y="2433"/>
              <a:ext cx="318" cy="317"/>
            </a:xfrm>
            <a:prstGeom prst="leftArrow">
              <a:avLst>
                <a:gd name="adj1" fmla="val 50000"/>
                <a:gd name="adj2" fmla="val 25079"/>
              </a:avLst>
            </a:prstGeom>
            <a:solidFill>
              <a:schemeClr val="accent1"/>
            </a:solidFill>
            <a:ln w="9525" algn="ctr">
              <a:noFill/>
              <a:miter lim="800000"/>
              <a:headEnd/>
              <a:tailEnd/>
            </a:ln>
            <a:effectLst/>
          </p:spPr>
          <p:txBody>
            <a:bodyPr wrap="none" anchor="ctr"/>
            <a:lstStyle/>
            <a:p>
              <a:endParaRPr lang="fi-FI"/>
            </a:p>
          </p:txBody>
        </p:sp>
      </p:grpSp>
      <p:cxnSp>
        <p:nvCxnSpPr>
          <p:cNvPr id="97291" name="AutoShape 11"/>
          <p:cNvCxnSpPr>
            <a:cxnSpLocks noChangeShapeType="1"/>
            <a:stCxn id="97287" idx="1"/>
            <a:endCxn id="97286" idx="1"/>
          </p:cNvCxnSpPr>
          <p:nvPr/>
        </p:nvCxnSpPr>
        <p:spPr bwMode="auto">
          <a:xfrm rot="10800000">
            <a:off x="2987675" y="2528888"/>
            <a:ext cx="576263" cy="865187"/>
          </a:xfrm>
          <a:prstGeom prst="bentConnector3">
            <a:avLst>
              <a:gd name="adj1" fmla="val 139671"/>
            </a:avLst>
          </a:prstGeom>
          <a:noFill/>
          <a:ln w="9525">
            <a:solidFill>
              <a:schemeClr val="tx1"/>
            </a:solidFill>
            <a:miter lim="800000"/>
            <a:headEnd/>
            <a:tailEnd type="triangle" w="med" len="med"/>
          </a:ln>
          <a:effectLst/>
        </p:spPr>
      </p:cxnSp>
      <p:cxnSp>
        <p:nvCxnSpPr>
          <p:cNvPr id="97292" name="AutoShape 12"/>
          <p:cNvCxnSpPr>
            <a:cxnSpLocks noChangeShapeType="1"/>
            <a:stCxn id="97287" idx="3"/>
            <a:endCxn id="97286" idx="3"/>
          </p:cNvCxnSpPr>
          <p:nvPr/>
        </p:nvCxnSpPr>
        <p:spPr bwMode="auto">
          <a:xfrm flipV="1">
            <a:off x="4859338" y="2528888"/>
            <a:ext cx="577850" cy="865187"/>
          </a:xfrm>
          <a:prstGeom prst="bentConnector3">
            <a:avLst>
              <a:gd name="adj1" fmla="val 139287"/>
            </a:avLst>
          </a:prstGeom>
          <a:noFill/>
          <a:ln w="9525">
            <a:solidFill>
              <a:schemeClr val="tx1"/>
            </a:solidFill>
            <a:miter lim="800000"/>
            <a:headEnd/>
            <a:tailEnd type="triangle" w="med" len="med"/>
          </a:ln>
          <a:effectLst/>
        </p:spPr>
      </p:cxnSp>
      <p:sp>
        <p:nvSpPr>
          <p:cNvPr id="97293" name="Rectangle 13"/>
          <p:cNvSpPr>
            <a:spLocks noChangeArrowheads="1"/>
          </p:cNvSpPr>
          <p:nvPr/>
        </p:nvSpPr>
        <p:spPr bwMode="auto">
          <a:xfrm>
            <a:off x="6156325" y="2997200"/>
            <a:ext cx="2160588" cy="936625"/>
          </a:xfrm>
          <a:prstGeom prst="rect">
            <a:avLst/>
          </a:prstGeom>
          <a:solidFill>
            <a:schemeClr val="accent1"/>
          </a:solidFill>
          <a:ln w="9525" algn="ctr">
            <a:solidFill>
              <a:schemeClr val="tx1"/>
            </a:solidFill>
            <a:miter lim="800000"/>
            <a:headEnd/>
            <a:tailEnd/>
          </a:ln>
          <a:effectLst/>
        </p:spPr>
        <p:txBody>
          <a:bodyPr anchor="ctr"/>
          <a:lstStyle/>
          <a:p>
            <a:pPr algn="ctr"/>
            <a:r>
              <a:rPr lang="fi-FI">
                <a:latin typeface="Arial Narrow" pitchFamily="34" charset="0"/>
              </a:rPr>
              <a:t>Hyväksymistestauksen suunnittelu</a:t>
            </a:r>
            <a:endParaRPr lang="en-US">
              <a:latin typeface="Arial Narrow" pitchFamily="34" charset="0"/>
            </a:endParaRPr>
          </a:p>
        </p:txBody>
      </p:sp>
      <p:sp>
        <p:nvSpPr>
          <p:cNvPr id="97294" name="Rectangle 14"/>
          <p:cNvSpPr>
            <a:spLocks noChangeArrowheads="1"/>
          </p:cNvSpPr>
          <p:nvPr/>
        </p:nvSpPr>
        <p:spPr bwMode="auto">
          <a:xfrm>
            <a:off x="3059113" y="5300663"/>
            <a:ext cx="2449512" cy="936625"/>
          </a:xfrm>
          <a:prstGeom prst="rect">
            <a:avLst/>
          </a:prstGeom>
          <a:solidFill>
            <a:schemeClr val="accent1"/>
          </a:solidFill>
          <a:ln w="9525" algn="ctr">
            <a:solidFill>
              <a:schemeClr val="tx1"/>
            </a:solidFill>
            <a:miter lim="800000"/>
            <a:headEnd/>
            <a:tailEnd/>
          </a:ln>
          <a:effectLst/>
        </p:spPr>
        <p:txBody>
          <a:bodyPr anchor="ctr"/>
          <a:lstStyle/>
          <a:p>
            <a:pPr algn="ctr"/>
            <a:r>
              <a:rPr lang="fi-FI">
                <a:latin typeface="Arial Narrow" pitchFamily="34" charset="0"/>
              </a:rPr>
              <a:t>Yhteinen järjestelmätestaus</a:t>
            </a:r>
            <a:endParaRPr lang="en-US">
              <a:latin typeface="Arial Narrow" pitchFamily="34" charset="0"/>
            </a:endParaRPr>
          </a:p>
        </p:txBody>
      </p:sp>
      <p:sp>
        <p:nvSpPr>
          <p:cNvPr id="97295" name="AutoShape 15"/>
          <p:cNvSpPr>
            <a:spLocks noChangeArrowheads="1"/>
          </p:cNvSpPr>
          <p:nvPr/>
        </p:nvSpPr>
        <p:spPr bwMode="auto">
          <a:xfrm>
            <a:off x="3563938" y="3789363"/>
            <a:ext cx="1295400" cy="503237"/>
          </a:xfrm>
          <a:prstGeom prst="roundRect">
            <a:avLst>
              <a:gd name="adj" fmla="val 16667"/>
            </a:avLst>
          </a:prstGeom>
          <a:solidFill>
            <a:schemeClr val="accent1"/>
          </a:solidFill>
          <a:ln w="9525" algn="ctr">
            <a:solidFill>
              <a:schemeClr val="tx1"/>
            </a:solidFill>
            <a:round/>
            <a:headEnd/>
            <a:tailEnd/>
          </a:ln>
          <a:effectLst/>
        </p:spPr>
        <p:txBody>
          <a:bodyPr wrap="none" anchor="ctr"/>
          <a:lstStyle/>
          <a:p>
            <a:pPr algn="ctr"/>
            <a:r>
              <a:rPr lang="fi-FI">
                <a:latin typeface="Arial Narrow" pitchFamily="34" charset="0"/>
              </a:rPr>
              <a:t>Katselmointi</a:t>
            </a:r>
            <a:endParaRPr lang="en-US">
              <a:latin typeface="Arial Narrow" pitchFamily="34" charset="0"/>
            </a:endParaRPr>
          </a:p>
        </p:txBody>
      </p:sp>
      <p:cxnSp>
        <p:nvCxnSpPr>
          <p:cNvPr id="97296" name="AutoShape 16"/>
          <p:cNvCxnSpPr>
            <a:cxnSpLocks noChangeShapeType="1"/>
            <a:stCxn id="97295" idx="3"/>
            <a:endCxn id="97293" idx="1"/>
          </p:cNvCxnSpPr>
          <p:nvPr/>
        </p:nvCxnSpPr>
        <p:spPr bwMode="auto">
          <a:xfrm flipV="1">
            <a:off x="4859338" y="3465513"/>
            <a:ext cx="1296987" cy="576262"/>
          </a:xfrm>
          <a:prstGeom prst="bentConnector3">
            <a:avLst>
              <a:gd name="adj1" fmla="val 75639"/>
            </a:avLst>
          </a:prstGeom>
          <a:noFill/>
          <a:ln w="9525">
            <a:solidFill>
              <a:schemeClr val="tx1"/>
            </a:solidFill>
            <a:miter lim="800000"/>
            <a:headEnd/>
            <a:tailEnd type="triangle" w="med" len="med"/>
          </a:ln>
          <a:effectLst/>
        </p:spPr>
      </p:cxnSp>
      <p:sp>
        <p:nvSpPr>
          <p:cNvPr id="97297" name="Rectangle 17"/>
          <p:cNvSpPr>
            <a:spLocks noChangeArrowheads="1"/>
          </p:cNvSpPr>
          <p:nvPr/>
        </p:nvSpPr>
        <p:spPr bwMode="auto">
          <a:xfrm>
            <a:off x="179388" y="2997200"/>
            <a:ext cx="2160587" cy="936625"/>
          </a:xfrm>
          <a:prstGeom prst="rect">
            <a:avLst/>
          </a:prstGeom>
          <a:solidFill>
            <a:schemeClr val="accent1"/>
          </a:solidFill>
          <a:ln w="9525" algn="ctr">
            <a:solidFill>
              <a:schemeClr val="tx1"/>
            </a:solidFill>
            <a:miter lim="800000"/>
            <a:headEnd/>
            <a:tailEnd/>
          </a:ln>
          <a:effectLst/>
        </p:spPr>
        <p:txBody>
          <a:bodyPr anchor="ctr"/>
          <a:lstStyle/>
          <a:p>
            <a:pPr algn="ctr"/>
            <a:r>
              <a:rPr lang="fi-FI" dirty="0">
                <a:latin typeface="Arial Narrow" pitchFamily="34" charset="0"/>
              </a:rPr>
              <a:t>Toimittajan testauksen suunnittelu</a:t>
            </a:r>
            <a:endParaRPr lang="en-US" dirty="0">
              <a:latin typeface="Arial Narrow" pitchFamily="34" charset="0"/>
            </a:endParaRPr>
          </a:p>
        </p:txBody>
      </p:sp>
      <p:cxnSp>
        <p:nvCxnSpPr>
          <p:cNvPr id="97298" name="AutoShape 18"/>
          <p:cNvCxnSpPr>
            <a:cxnSpLocks noChangeShapeType="1"/>
            <a:stCxn id="97295" idx="1"/>
            <a:endCxn id="97297" idx="3"/>
          </p:cNvCxnSpPr>
          <p:nvPr/>
        </p:nvCxnSpPr>
        <p:spPr bwMode="auto">
          <a:xfrm rot="10800000">
            <a:off x="2339975" y="3465513"/>
            <a:ext cx="1223963" cy="576262"/>
          </a:xfrm>
          <a:prstGeom prst="bentConnector3">
            <a:avLst>
              <a:gd name="adj1" fmla="val 80671"/>
            </a:avLst>
          </a:prstGeom>
          <a:noFill/>
          <a:ln w="9525">
            <a:solidFill>
              <a:schemeClr val="tx1"/>
            </a:solidFill>
            <a:miter lim="800000"/>
            <a:headEnd/>
            <a:tailEnd type="triangle" w="med" len="med"/>
          </a:ln>
          <a:effectLst/>
        </p:spPr>
      </p:cxnSp>
      <p:sp>
        <p:nvSpPr>
          <p:cNvPr id="97299" name="Rectangle 19"/>
          <p:cNvSpPr>
            <a:spLocks noChangeArrowheads="1"/>
          </p:cNvSpPr>
          <p:nvPr/>
        </p:nvSpPr>
        <p:spPr bwMode="auto">
          <a:xfrm>
            <a:off x="323850" y="4437063"/>
            <a:ext cx="2449513" cy="936625"/>
          </a:xfrm>
          <a:prstGeom prst="rect">
            <a:avLst/>
          </a:prstGeom>
          <a:solidFill>
            <a:schemeClr val="accent1"/>
          </a:solidFill>
          <a:ln w="9525" algn="ctr">
            <a:solidFill>
              <a:schemeClr val="tx1"/>
            </a:solidFill>
            <a:miter lim="800000"/>
            <a:headEnd/>
            <a:tailEnd/>
          </a:ln>
          <a:effectLst/>
        </p:spPr>
        <p:txBody>
          <a:bodyPr anchor="ctr"/>
          <a:lstStyle/>
          <a:p>
            <a:pPr algn="ctr"/>
            <a:r>
              <a:rPr lang="fi-FI" dirty="0">
                <a:latin typeface="Arial Narrow" pitchFamily="34" charset="0"/>
              </a:rPr>
              <a:t>Toimittajan omat testausvaiheet </a:t>
            </a:r>
            <a:br>
              <a:rPr lang="fi-FI" dirty="0">
                <a:latin typeface="Arial Narrow" pitchFamily="34" charset="0"/>
              </a:rPr>
            </a:br>
            <a:r>
              <a:rPr lang="fi-FI" sz="1200" dirty="0">
                <a:latin typeface="Arial Narrow" pitchFamily="34" charset="0"/>
              </a:rPr>
              <a:t>(yksikkö, rajapinta, </a:t>
            </a:r>
            <a:r>
              <a:rPr lang="fi-FI" sz="1200" dirty="0" err="1">
                <a:latin typeface="Arial Narrow" pitchFamily="34" charset="0"/>
              </a:rPr>
              <a:t>inkrementaalinen</a:t>
            </a:r>
            <a:r>
              <a:rPr lang="fi-FI" sz="1200" dirty="0">
                <a:latin typeface="Arial Narrow" pitchFamily="34" charset="0"/>
              </a:rPr>
              <a:t> </a:t>
            </a:r>
            <a:r>
              <a:rPr lang="fi-FI" sz="1200" dirty="0" smtClean="0">
                <a:latin typeface="Arial Narrow" pitchFamily="34" charset="0"/>
              </a:rPr>
              <a:t>järjestelmätestaus)</a:t>
            </a:r>
            <a:endParaRPr lang="en-US" sz="1200" dirty="0">
              <a:latin typeface="Arial Narrow" pitchFamily="34" charset="0"/>
            </a:endParaRPr>
          </a:p>
        </p:txBody>
      </p:sp>
      <p:sp>
        <p:nvSpPr>
          <p:cNvPr id="97300" name="Text Box 20"/>
          <p:cNvSpPr txBox="1">
            <a:spLocks noChangeArrowheads="1"/>
          </p:cNvSpPr>
          <p:nvPr/>
        </p:nvSpPr>
        <p:spPr bwMode="auto">
          <a:xfrm>
            <a:off x="5724525" y="5321300"/>
            <a:ext cx="3348038" cy="915988"/>
          </a:xfrm>
          <a:prstGeom prst="rect">
            <a:avLst/>
          </a:prstGeom>
          <a:noFill/>
          <a:ln w="9525" algn="ctr">
            <a:noFill/>
            <a:miter lim="800000"/>
            <a:headEnd/>
            <a:tailEnd/>
          </a:ln>
          <a:effectLst/>
        </p:spPr>
        <p:txBody>
          <a:bodyPr>
            <a:spAutoFit/>
          </a:bodyPr>
          <a:lstStyle/>
          <a:p>
            <a:pPr algn="ctr">
              <a:spcBef>
                <a:spcPct val="50000"/>
              </a:spcBef>
            </a:pPr>
            <a:r>
              <a:rPr lang="fi-FI" dirty="0" err="1">
                <a:latin typeface="Arial Narrow" pitchFamily="34" charset="0"/>
              </a:rPr>
              <a:t>Huom</a:t>
            </a:r>
            <a:r>
              <a:rPr lang="fi-FI" dirty="0">
                <a:latin typeface="Arial Narrow" pitchFamily="34" charset="0"/>
              </a:rPr>
              <a:t>! Haasteena rajaus toimittajan omiin ja asiakas-toimittaja yhteiseen testausvaiheeseen.</a:t>
            </a:r>
            <a:endParaRPr lang="en-US" dirty="0">
              <a:latin typeface="Arial Narrow" pitchFamily="34" charset="0"/>
            </a:endParaRPr>
          </a:p>
        </p:txBody>
      </p:sp>
      <p:sp>
        <p:nvSpPr>
          <p:cNvPr id="21" name="Slide Number Placeholder 20"/>
          <p:cNvSpPr>
            <a:spLocks noGrp="1"/>
          </p:cNvSpPr>
          <p:nvPr>
            <p:ph type="sldNum" sz="quarter" idx="12"/>
          </p:nvPr>
        </p:nvSpPr>
        <p:spPr/>
        <p:txBody>
          <a:bodyPr/>
          <a:lstStyle/>
          <a:p>
            <a:fld id="{7A750B4A-325E-4AA4-BC07-A8C35B32A4F3}" type="slidenum">
              <a:rPr lang="fi-FI" smtClean="0"/>
              <a:pPr/>
              <a:t>44</a:t>
            </a:fld>
            <a:endParaRPr lang="fi-FI"/>
          </a:p>
        </p:txBody>
      </p:sp>
    </p:spTree>
  </p:cSld>
  <p:clrMapOvr>
    <a:masterClrMapping/>
  </p:clrMapOvr>
  <p:timing>
    <p:tnLst>
      <p:par>
        <p:cTn xmlns:p14="http://schemas.microsoft.com/office/powerpoint/2010/mai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dirty="0" smtClean="0"/>
              <a:t>Testauksen tuki</a:t>
            </a:r>
            <a:endParaRPr lang="en-US" dirty="0"/>
          </a:p>
        </p:txBody>
      </p:sp>
      <p:sp>
        <p:nvSpPr>
          <p:cNvPr id="5" name="Tekstin paikkamerkki 4"/>
          <p:cNvSpPr>
            <a:spLocks noGrp="1"/>
          </p:cNvSpPr>
          <p:nvPr>
            <p:ph type="body" idx="1"/>
          </p:nvPr>
        </p:nvSpPr>
        <p:spPr/>
        <p:txBody>
          <a:bodyPr/>
          <a:lstStyle/>
          <a:p>
            <a:r>
              <a:rPr lang="fi-FI" dirty="0" smtClean="0"/>
              <a:t>Hyväksymistestauksen tuki</a:t>
            </a:r>
            <a:endParaRPr lang="en-US" dirty="0"/>
          </a:p>
        </p:txBody>
      </p:sp>
      <p:sp>
        <p:nvSpPr>
          <p:cNvPr id="6" name="Sisällön paikkamerkki 5"/>
          <p:cNvSpPr>
            <a:spLocks noGrp="1"/>
          </p:cNvSpPr>
          <p:nvPr>
            <p:ph sz="half" idx="2"/>
          </p:nvPr>
        </p:nvSpPr>
        <p:spPr>
          <a:xfrm>
            <a:off x="457200" y="2174875"/>
            <a:ext cx="4040188" cy="2910309"/>
          </a:xfrm>
        </p:spPr>
        <p:txBody>
          <a:bodyPr/>
          <a:lstStyle/>
          <a:p>
            <a:r>
              <a:rPr lang="fi-FI" dirty="0" smtClean="0"/>
              <a:t>Asiakas usein tarvitsee teknistä selvittelytyötä hyväksymistestauksen kanssa</a:t>
            </a:r>
          </a:p>
          <a:p>
            <a:r>
              <a:rPr lang="fi-FI" dirty="0" smtClean="0"/>
              <a:t>Esim. havainnot: virhe, muutospyyntö vai väärä hälytys</a:t>
            </a:r>
            <a:endParaRPr lang="en-US" dirty="0"/>
          </a:p>
        </p:txBody>
      </p:sp>
      <p:sp>
        <p:nvSpPr>
          <p:cNvPr id="7" name="Tekstin paikkamerkki 6"/>
          <p:cNvSpPr>
            <a:spLocks noGrp="1"/>
          </p:cNvSpPr>
          <p:nvPr>
            <p:ph type="body" sz="quarter" idx="3"/>
          </p:nvPr>
        </p:nvSpPr>
        <p:spPr/>
        <p:txBody>
          <a:bodyPr/>
          <a:lstStyle/>
          <a:p>
            <a:r>
              <a:rPr lang="fi-FI" dirty="0" smtClean="0"/>
              <a:t>Järjestelmätestauksen tuki</a:t>
            </a:r>
            <a:endParaRPr lang="en-US" dirty="0"/>
          </a:p>
        </p:txBody>
      </p:sp>
      <p:sp>
        <p:nvSpPr>
          <p:cNvPr id="8" name="Sisällön paikkamerkki 7"/>
          <p:cNvSpPr>
            <a:spLocks noGrp="1"/>
          </p:cNvSpPr>
          <p:nvPr>
            <p:ph sz="quarter" idx="4"/>
          </p:nvPr>
        </p:nvSpPr>
        <p:spPr>
          <a:xfrm>
            <a:off x="4645025" y="2174875"/>
            <a:ext cx="4041775" cy="2910309"/>
          </a:xfrm>
        </p:spPr>
        <p:txBody>
          <a:bodyPr/>
          <a:lstStyle/>
          <a:p>
            <a:r>
              <a:rPr lang="fi-FI" dirty="0" smtClean="0"/>
              <a:t>Toimittaja ei usein pysty oman sovellusalue-osaamisen puitteissa testaamaan kattavasti virheiden / muutostarpeiden tunnistamiseksi</a:t>
            </a:r>
            <a:endParaRPr lang="en-US" dirty="0"/>
          </a:p>
        </p:txBody>
      </p:sp>
      <p:sp>
        <p:nvSpPr>
          <p:cNvPr id="9" name="Suorakulmio 8"/>
          <p:cNvSpPr/>
          <p:nvPr/>
        </p:nvSpPr>
        <p:spPr>
          <a:xfrm>
            <a:off x="899592" y="5229200"/>
            <a:ext cx="7488832" cy="10081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2400" dirty="0" smtClean="0"/>
              <a:t>Vastuiden pitäminen erillään: toinen osapuoli vastaa, toinen osapuoli tukee. </a:t>
            </a:r>
            <a:endParaRPr lang="en-US" sz="2400" dirty="0"/>
          </a:p>
        </p:txBody>
      </p:sp>
    </p:spTree>
  </p:cSld>
  <p:clrMapOvr>
    <a:masterClrMapping/>
  </p:clrMapOvr>
  <p:timing>
    <p:tnLst>
      <p:par>
        <p:cTn xmlns:p14="http://schemas.microsoft.com/office/powerpoint/2010/mai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Ryhmä 10"/>
          <p:cNvGrpSpPr/>
          <p:nvPr/>
        </p:nvGrpSpPr>
        <p:grpSpPr>
          <a:xfrm>
            <a:off x="323528" y="1700808"/>
            <a:ext cx="4608513" cy="4464496"/>
            <a:chOff x="1475655" y="1700808"/>
            <a:chExt cx="5976665" cy="4464496"/>
          </a:xfrm>
        </p:grpSpPr>
        <p:sp>
          <p:nvSpPr>
            <p:cNvPr id="4" name="Suorakulmio 3"/>
            <p:cNvSpPr/>
            <p:nvPr/>
          </p:nvSpPr>
          <p:spPr>
            <a:xfrm>
              <a:off x="1475656" y="2924944"/>
              <a:ext cx="5976664" cy="792088"/>
            </a:xfrm>
            <a:prstGeom prst="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fi-FI" dirty="0" smtClean="0"/>
                <a:t>Toimittajan projektinhallinta</a:t>
              </a:r>
              <a:endParaRPr lang="fi-FI" dirty="0"/>
            </a:p>
          </p:txBody>
        </p:sp>
        <p:sp>
          <p:nvSpPr>
            <p:cNvPr id="5" name="Suorakulmio 4"/>
            <p:cNvSpPr/>
            <p:nvPr/>
          </p:nvSpPr>
          <p:spPr>
            <a:xfrm rot="16200000">
              <a:off x="1115616" y="4149080"/>
              <a:ext cx="1800200" cy="1080120"/>
            </a:xfrm>
            <a:prstGeom prst="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fi-FI" dirty="0" smtClean="0"/>
                <a:t>Määrittely</a:t>
              </a:r>
              <a:endParaRPr lang="fi-FI" dirty="0"/>
            </a:p>
          </p:txBody>
        </p:sp>
        <p:sp>
          <p:nvSpPr>
            <p:cNvPr id="6" name="Suorakulmio 5"/>
            <p:cNvSpPr/>
            <p:nvPr/>
          </p:nvSpPr>
          <p:spPr>
            <a:xfrm rot="16200000">
              <a:off x="3635896" y="4149080"/>
              <a:ext cx="1800200" cy="1080120"/>
            </a:xfrm>
            <a:prstGeom prst="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fi-FI" dirty="0" err="1" smtClean="0"/>
                <a:t>Arkkitehtruuri</a:t>
              </a:r>
              <a:r>
                <a:rPr lang="fi-FI" dirty="0" smtClean="0"/>
                <a:t> &amp; toteutus</a:t>
              </a:r>
              <a:endParaRPr lang="fi-FI" dirty="0"/>
            </a:p>
          </p:txBody>
        </p:sp>
        <p:sp>
          <p:nvSpPr>
            <p:cNvPr id="7" name="Suorakulmio 6"/>
            <p:cNvSpPr/>
            <p:nvPr/>
          </p:nvSpPr>
          <p:spPr>
            <a:xfrm rot="16200000">
              <a:off x="6012160" y="4149080"/>
              <a:ext cx="1800200" cy="1080120"/>
            </a:xfrm>
            <a:prstGeom prst="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fi-FI" dirty="0" smtClean="0"/>
                <a:t>Testaus</a:t>
              </a:r>
              <a:endParaRPr lang="fi-FI" dirty="0"/>
            </a:p>
          </p:txBody>
        </p:sp>
        <p:sp>
          <p:nvSpPr>
            <p:cNvPr id="8" name="Tasakylkinen kolmio 7"/>
            <p:cNvSpPr/>
            <p:nvPr/>
          </p:nvSpPr>
          <p:spPr>
            <a:xfrm>
              <a:off x="1475656" y="1700808"/>
              <a:ext cx="5976664" cy="1080120"/>
            </a:xfrm>
            <a:prstGeom prst="triangle">
              <a:avLst>
                <a:gd name="adj" fmla="val 49845"/>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Asiakkaan valvonta &amp; tuki</a:t>
              </a:r>
              <a:endParaRPr lang="fi-FI" dirty="0"/>
            </a:p>
          </p:txBody>
        </p:sp>
        <p:sp>
          <p:nvSpPr>
            <p:cNvPr id="9" name="Suorakulmio 8"/>
            <p:cNvSpPr/>
            <p:nvPr/>
          </p:nvSpPr>
          <p:spPr>
            <a:xfrm>
              <a:off x="1475655" y="5661248"/>
              <a:ext cx="5976665" cy="5040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Asiakkaan tarpeiden kuvaus</a:t>
              </a:r>
              <a:endParaRPr lang="fi-FI" dirty="0"/>
            </a:p>
          </p:txBody>
        </p:sp>
      </p:grpSp>
      <p:sp>
        <p:nvSpPr>
          <p:cNvPr id="10" name="Otsikko 9"/>
          <p:cNvSpPr>
            <a:spLocks noGrp="1"/>
          </p:cNvSpPr>
          <p:nvPr>
            <p:ph type="title"/>
          </p:nvPr>
        </p:nvSpPr>
        <p:spPr/>
        <p:txBody>
          <a:bodyPr>
            <a:normAutofit fontScale="90000"/>
          </a:bodyPr>
          <a:lstStyle/>
          <a:p>
            <a:r>
              <a:rPr lang="fi-FI" dirty="0" smtClean="0"/>
              <a:t>Asiakas-toimittaja rajapinnan käytännöt</a:t>
            </a:r>
            <a:endParaRPr lang="fi-FI" dirty="0"/>
          </a:p>
        </p:txBody>
      </p:sp>
      <p:sp>
        <p:nvSpPr>
          <p:cNvPr id="12" name="Pyöristetty suorakulmio 11"/>
          <p:cNvSpPr/>
          <p:nvPr/>
        </p:nvSpPr>
        <p:spPr>
          <a:xfrm>
            <a:off x="6012160" y="2204864"/>
            <a:ext cx="2448272" cy="3814936"/>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i-FI" sz="1600" dirty="0" smtClean="0"/>
              <a:t>Toimittaja tekee </a:t>
            </a:r>
            <a:r>
              <a:rPr lang="fi-FI" sz="1600" u="sng" dirty="0" smtClean="0"/>
              <a:t>omilla menetelmillään</a:t>
            </a:r>
            <a:r>
              <a:rPr lang="fi-FI" sz="1600" dirty="0" smtClean="0"/>
              <a:t> projektin vaatimusten mukaisen toimituksen. </a:t>
            </a:r>
          </a:p>
          <a:p>
            <a:pPr algn="ctr"/>
            <a:r>
              <a:rPr lang="fi-FI" sz="1600" dirty="0" smtClean="0"/>
              <a:t>Asiakkaan kyky auttaa onnistumisessa riippuu merkittävässä määrin </a:t>
            </a:r>
            <a:r>
              <a:rPr lang="fi-FI" sz="1600" u="sng" dirty="0" smtClean="0"/>
              <a:t>näkyvyydestä toimittajan tekemisiin ja oletuksiin</a:t>
            </a:r>
            <a:r>
              <a:rPr lang="fi-FI" sz="1600" dirty="0" smtClean="0"/>
              <a:t>. </a:t>
            </a:r>
          </a:p>
          <a:p>
            <a:pPr algn="ctr"/>
            <a:r>
              <a:rPr lang="fi-FI" sz="1600" dirty="0" smtClean="0"/>
              <a:t>Asiakas-toimittaja –rajapinnoissa on toimintatapoja, jotka on sovittava yhdessä. </a:t>
            </a:r>
            <a:endParaRPr lang="fi-FI" sz="1600" dirty="0"/>
          </a:p>
        </p:txBody>
      </p:sp>
      <p:sp>
        <p:nvSpPr>
          <p:cNvPr id="11" name="Slide Number Placeholder 10"/>
          <p:cNvSpPr>
            <a:spLocks noGrp="1"/>
          </p:cNvSpPr>
          <p:nvPr>
            <p:ph type="sldNum" sz="quarter" idx="12"/>
          </p:nvPr>
        </p:nvSpPr>
        <p:spPr/>
        <p:txBody>
          <a:bodyPr/>
          <a:lstStyle/>
          <a:p>
            <a:fld id="{1FC54B03-E980-44E0-A0F1-6CAD9D10ECFB}" type="slidenum">
              <a:rPr lang="fi-FI" smtClean="0"/>
              <a:pPr/>
              <a:t>46</a:t>
            </a:fld>
            <a:endParaRPr lang="fi-FI"/>
          </a:p>
        </p:txBody>
      </p:sp>
    </p:spTree>
    <p:extLst>
      <p:ext uri="{BB962C8B-B14F-4D97-AF65-F5344CB8AC3E}">
        <p14:creationId xmlns:p14="http://schemas.microsoft.com/office/powerpoint/2010/main" val="4185442334"/>
      </p:ext>
    </p:extLst>
  </p:cSld>
  <p:clrMapOvr>
    <a:masterClrMapping/>
  </p:clrMapOvr>
  <p:timing>
    <p:tnLst>
      <p:par>
        <p:cTn xmlns:p14="http://schemas.microsoft.com/office/powerpoint/2010/mai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fi-FI" dirty="0" smtClean="0"/>
              <a:t>Monitoimittajaympäristöt ja hyväksymistestaus</a:t>
            </a:r>
            <a:endParaRPr lang="fi-FI" dirty="0"/>
          </a:p>
        </p:txBody>
      </p:sp>
      <p:sp>
        <p:nvSpPr>
          <p:cNvPr id="6" name="Text Placeholder 5"/>
          <p:cNvSpPr>
            <a:spLocks noGrp="1"/>
          </p:cNvSpPr>
          <p:nvPr>
            <p:ph type="body" idx="1"/>
          </p:nvPr>
        </p:nvSpPr>
        <p:spPr/>
        <p:txBody>
          <a:bodyPr/>
          <a:lstStyle/>
          <a:p>
            <a:r>
              <a:rPr lang="fi-FI" dirty="0" smtClean="0"/>
              <a:t>Laatutieto palasille ja kokonaisuudelle, mitä ollaan hyväksymässä (laskunmaksu vs. tuotantoonsiirto)</a:t>
            </a:r>
            <a:endParaRPr lang="fi-FI" dirty="0"/>
          </a:p>
        </p:txBody>
      </p:sp>
      <p:sp>
        <p:nvSpPr>
          <p:cNvPr id="4" name="Slide Number Placeholder 3"/>
          <p:cNvSpPr>
            <a:spLocks noGrp="1"/>
          </p:cNvSpPr>
          <p:nvPr>
            <p:ph type="sldNum" sz="quarter" idx="12"/>
          </p:nvPr>
        </p:nvSpPr>
        <p:spPr/>
        <p:txBody>
          <a:bodyPr/>
          <a:lstStyle/>
          <a:p>
            <a:fld id="{1FC54B03-E980-44E0-A0F1-6CAD9D10ECFB}" type="slidenum">
              <a:rPr lang="fi-FI" smtClean="0"/>
              <a:pPr/>
              <a:t>47</a:t>
            </a:fld>
            <a:endParaRPr lang="fi-FI"/>
          </a:p>
        </p:txBody>
      </p:sp>
    </p:spTree>
  </p:cSld>
  <p:clrMapOvr>
    <a:masterClrMapping/>
  </p:clrMapOvr>
  <p:timing>
    <p:tnLst>
      <p:par>
        <p:cTn xmlns:p14="http://schemas.microsoft.com/office/powerpoint/2010/mai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700" name="Rectangle 4"/>
          <p:cNvSpPr>
            <a:spLocks noGrp="1" noChangeArrowheads="1"/>
          </p:cNvSpPr>
          <p:nvPr>
            <p:ph type="title"/>
          </p:nvPr>
        </p:nvSpPr>
        <p:spPr/>
        <p:txBody>
          <a:bodyPr>
            <a:normAutofit fontScale="90000"/>
          </a:bodyPr>
          <a:lstStyle/>
          <a:p>
            <a:r>
              <a:rPr lang="fi-FI" smtClean="0"/>
              <a:t>Vallitsevia monitoimittajahankkeen projektinäkemyksiä</a:t>
            </a:r>
            <a:endParaRPr lang="fi-FI" dirty="0"/>
          </a:p>
        </p:txBody>
      </p:sp>
      <p:sp>
        <p:nvSpPr>
          <p:cNvPr id="46" name="Slide Number Placeholder 5"/>
          <p:cNvSpPr>
            <a:spLocks noGrp="1"/>
          </p:cNvSpPr>
          <p:nvPr>
            <p:ph type="sldNum" sz="quarter" idx="11"/>
          </p:nvPr>
        </p:nvSpPr>
        <p:spPr/>
        <p:txBody>
          <a:bodyPr/>
          <a:lstStyle/>
          <a:p>
            <a:fld id="{7377949B-F812-4551-95E5-4B48892E632E}" type="slidenum">
              <a:rPr lang="en-GB" smtClean="0"/>
              <a:pPr/>
              <a:t>48</a:t>
            </a:fld>
            <a:endParaRPr lang="en-GB"/>
          </a:p>
        </p:txBody>
      </p:sp>
      <p:sp>
        <p:nvSpPr>
          <p:cNvPr id="157701" name="Rectangle 5"/>
          <p:cNvSpPr>
            <a:spLocks noGrp="1"/>
          </p:cNvSpPr>
          <p:nvPr>
            <p:ph type="body" sz="half" idx="1"/>
          </p:nvPr>
        </p:nvSpPr>
        <p:spPr/>
        <p:txBody>
          <a:bodyPr/>
          <a:lstStyle/>
          <a:p>
            <a:r>
              <a:rPr lang="fi-FI" sz="1800" b="1" dirty="0" smtClean="0"/>
              <a:t>Perinteinen malli </a:t>
            </a:r>
            <a:r>
              <a:rPr lang="fi-FI" sz="1800" dirty="0" smtClean="0"/>
              <a:t>on hierarkinen ”hajoita ja hallitse”-muoto, missä kukin vastaa omasta tontistaan ja siitä alaspäin</a:t>
            </a:r>
          </a:p>
          <a:p>
            <a:r>
              <a:rPr lang="fi-FI" sz="1800" dirty="0" smtClean="0"/>
              <a:t>Käytännössä sanelee vesiputousmallisen käytännön, koska muutokset ja koordinointi ristiin voi tulle työlääksi</a:t>
            </a:r>
            <a:endParaRPr lang="fi-FI" sz="1800" dirty="0"/>
          </a:p>
        </p:txBody>
      </p:sp>
      <p:sp>
        <p:nvSpPr>
          <p:cNvPr id="157702" name="Rectangle 6"/>
          <p:cNvSpPr>
            <a:spLocks noGrp="1"/>
          </p:cNvSpPr>
          <p:nvPr>
            <p:ph type="body" sz="half" idx="2"/>
          </p:nvPr>
        </p:nvSpPr>
        <p:spPr/>
        <p:txBody>
          <a:bodyPr>
            <a:normAutofit/>
          </a:bodyPr>
          <a:lstStyle/>
          <a:p>
            <a:r>
              <a:rPr lang="fi-FI" sz="1800" b="1" dirty="0" smtClean="0"/>
              <a:t>Verkottunut tuotekehitys </a:t>
            </a:r>
            <a:r>
              <a:rPr lang="fi-FI" sz="1800" dirty="0" smtClean="0"/>
              <a:t>lähtee siitä, että rinnakkaiset projektit tuottavat synergioita, mutta kullakin voi olla omia tavoitteita</a:t>
            </a:r>
          </a:p>
          <a:p>
            <a:r>
              <a:rPr lang="fi-FI" sz="1800" dirty="0" smtClean="0"/>
              <a:t>Koordinointi tapahtuu jatkuvassa tärkeiden asioiden koordinoinnilla, joka vaatii suuren panostuksen yhteistyöhön ja jatkuvan ja avoimen tiedon jakamisen</a:t>
            </a:r>
            <a:endParaRPr lang="fi-FI" sz="1800" dirty="0"/>
          </a:p>
        </p:txBody>
      </p:sp>
      <p:grpSp>
        <p:nvGrpSpPr>
          <p:cNvPr id="2" name="Group 10"/>
          <p:cNvGrpSpPr>
            <a:grpSpLocks/>
          </p:cNvGrpSpPr>
          <p:nvPr/>
        </p:nvGrpSpPr>
        <p:grpSpPr bwMode="auto">
          <a:xfrm>
            <a:off x="539750" y="3789511"/>
            <a:ext cx="2640013" cy="2663825"/>
            <a:chOff x="1665" y="2076"/>
            <a:chExt cx="1328" cy="992"/>
          </a:xfrm>
        </p:grpSpPr>
        <p:sp>
          <p:nvSpPr>
            <p:cNvPr id="157707" name="Line 11"/>
            <p:cNvSpPr>
              <a:spLocks noChangeShapeType="1"/>
            </p:cNvSpPr>
            <p:nvPr/>
          </p:nvSpPr>
          <p:spPr bwMode="auto">
            <a:xfrm>
              <a:off x="1665" y="2076"/>
              <a:ext cx="671" cy="992"/>
            </a:xfrm>
            <a:prstGeom prst="line">
              <a:avLst/>
            </a:prstGeom>
            <a:noFill/>
            <a:ln w="76200" cmpd="tri">
              <a:solidFill>
                <a:srgbClr val="FF0000"/>
              </a:solidFill>
              <a:round/>
              <a:headEnd/>
              <a:tailEnd/>
            </a:ln>
            <a:effectLst/>
          </p:spPr>
          <p:txBody>
            <a:bodyPr/>
            <a:lstStyle/>
            <a:p>
              <a:endParaRPr lang="en-GB"/>
            </a:p>
          </p:txBody>
        </p:sp>
        <p:sp>
          <p:nvSpPr>
            <p:cNvPr id="157708" name="Line 12"/>
            <p:cNvSpPr>
              <a:spLocks noChangeShapeType="1"/>
            </p:cNvSpPr>
            <p:nvPr/>
          </p:nvSpPr>
          <p:spPr bwMode="auto">
            <a:xfrm flipH="1">
              <a:off x="2322" y="2076"/>
              <a:ext cx="671" cy="992"/>
            </a:xfrm>
            <a:prstGeom prst="line">
              <a:avLst/>
            </a:prstGeom>
            <a:noFill/>
            <a:ln w="76200" cmpd="tri">
              <a:solidFill>
                <a:srgbClr val="FF0000"/>
              </a:solidFill>
              <a:round/>
              <a:headEnd/>
              <a:tailEnd/>
            </a:ln>
            <a:effectLst/>
          </p:spPr>
          <p:txBody>
            <a:bodyPr/>
            <a:lstStyle/>
            <a:p>
              <a:endParaRPr lang="en-GB"/>
            </a:p>
          </p:txBody>
        </p:sp>
      </p:grpSp>
      <p:sp>
        <p:nvSpPr>
          <p:cNvPr id="157710" name="Line 14"/>
          <p:cNvSpPr>
            <a:spLocks noChangeShapeType="1"/>
          </p:cNvSpPr>
          <p:nvPr/>
        </p:nvSpPr>
        <p:spPr bwMode="auto">
          <a:xfrm flipH="1">
            <a:off x="427038" y="4653111"/>
            <a:ext cx="2792412" cy="1588"/>
          </a:xfrm>
          <a:prstGeom prst="line">
            <a:avLst/>
          </a:prstGeom>
          <a:noFill/>
          <a:ln w="38100">
            <a:solidFill>
              <a:srgbClr val="FF9900"/>
            </a:solidFill>
            <a:round/>
            <a:headEnd/>
            <a:tailEnd/>
          </a:ln>
          <a:effectLst/>
        </p:spPr>
        <p:txBody>
          <a:bodyPr/>
          <a:lstStyle/>
          <a:p>
            <a:endParaRPr lang="en-GB"/>
          </a:p>
        </p:txBody>
      </p:sp>
      <p:sp>
        <p:nvSpPr>
          <p:cNvPr id="157711" name="Line 15"/>
          <p:cNvSpPr>
            <a:spLocks noChangeShapeType="1"/>
          </p:cNvSpPr>
          <p:nvPr/>
        </p:nvSpPr>
        <p:spPr bwMode="auto">
          <a:xfrm flipH="1">
            <a:off x="427038" y="5188099"/>
            <a:ext cx="2792412" cy="1587"/>
          </a:xfrm>
          <a:prstGeom prst="line">
            <a:avLst/>
          </a:prstGeom>
          <a:noFill/>
          <a:ln w="38100">
            <a:solidFill>
              <a:srgbClr val="FF9900"/>
            </a:solidFill>
            <a:round/>
            <a:headEnd/>
            <a:tailEnd/>
          </a:ln>
          <a:effectLst/>
        </p:spPr>
        <p:txBody>
          <a:bodyPr/>
          <a:lstStyle/>
          <a:p>
            <a:endParaRPr lang="en-GB"/>
          </a:p>
        </p:txBody>
      </p:sp>
      <p:sp>
        <p:nvSpPr>
          <p:cNvPr id="157712" name="Line 16"/>
          <p:cNvSpPr>
            <a:spLocks noChangeShapeType="1"/>
          </p:cNvSpPr>
          <p:nvPr/>
        </p:nvSpPr>
        <p:spPr bwMode="auto">
          <a:xfrm flipH="1">
            <a:off x="427038" y="5726261"/>
            <a:ext cx="2792412" cy="1588"/>
          </a:xfrm>
          <a:prstGeom prst="line">
            <a:avLst/>
          </a:prstGeom>
          <a:noFill/>
          <a:ln w="38100">
            <a:solidFill>
              <a:srgbClr val="FF9900"/>
            </a:solidFill>
            <a:round/>
            <a:headEnd/>
            <a:tailEnd/>
          </a:ln>
          <a:effectLst/>
        </p:spPr>
        <p:txBody>
          <a:bodyPr/>
          <a:lstStyle/>
          <a:p>
            <a:endParaRPr lang="en-GB"/>
          </a:p>
        </p:txBody>
      </p:sp>
      <p:sp>
        <p:nvSpPr>
          <p:cNvPr id="157713" name="Line 17"/>
          <p:cNvSpPr>
            <a:spLocks noChangeShapeType="1"/>
          </p:cNvSpPr>
          <p:nvPr/>
        </p:nvSpPr>
        <p:spPr bwMode="auto">
          <a:xfrm>
            <a:off x="395288" y="4942036"/>
            <a:ext cx="4176712" cy="0"/>
          </a:xfrm>
          <a:prstGeom prst="line">
            <a:avLst/>
          </a:prstGeom>
          <a:noFill/>
          <a:ln w="76200">
            <a:solidFill>
              <a:schemeClr val="tx1"/>
            </a:solidFill>
            <a:prstDash val="sysDot"/>
            <a:round/>
            <a:headEnd/>
            <a:tailEnd/>
          </a:ln>
          <a:effectLst/>
        </p:spPr>
        <p:txBody>
          <a:bodyPr/>
          <a:lstStyle/>
          <a:p>
            <a:endParaRPr lang="en-GB"/>
          </a:p>
        </p:txBody>
      </p:sp>
      <p:sp>
        <p:nvSpPr>
          <p:cNvPr id="157714" name="Text Box 18"/>
          <p:cNvSpPr txBox="1">
            <a:spLocks noChangeArrowheads="1"/>
          </p:cNvSpPr>
          <p:nvPr/>
        </p:nvSpPr>
        <p:spPr bwMode="auto">
          <a:xfrm>
            <a:off x="3400425" y="4026049"/>
            <a:ext cx="963613" cy="366712"/>
          </a:xfrm>
          <a:prstGeom prst="rect">
            <a:avLst/>
          </a:prstGeom>
          <a:noFill/>
          <a:ln w="9525">
            <a:noFill/>
            <a:miter lim="800000"/>
            <a:headEnd/>
            <a:tailEnd/>
          </a:ln>
          <a:effectLst/>
        </p:spPr>
        <p:txBody>
          <a:bodyPr wrap="none">
            <a:spAutoFit/>
          </a:bodyPr>
          <a:lstStyle/>
          <a:p>
            <a:r>
              <a:rPr lang="fi-FI" sz="1800" b="1"/>
              <a:t>Asiakas</a:t>
            </a:r>
          </a:p>
        </p:txBody>
      </p:sp>
      <p:sp>
        <p:nvSpPr>
          <p:cNvPr id="157715" name="Text Box 19"/>
          <p:cNvSpPr txBox="1">
            <a:spLocks noChangeArrowheads="1"/>
          </p:cNvSpPr>
          <p:nvPr/>
        </p:nvSpPr>
        <p:spPr bwMode="auto">
          <a:xfrm>
            <a:off x="3400425" y="5350024"/>
            <a:ext cx="1385888" cy="366712"/>
          </a:xfrm>
          <a:prstGeom prst="rect">
            <a:avLst/>
          </a:prstGeom>
          <a:noFill/>
          <a:ln w="9525">
            <a:noFill/>
            <a:miter lim="800000"/>
            <a:headEnd/>
            <a:tailEnd/>
          </a:ln>
          <a:effectLst/>
        </p:spPr>
        <p:txBody>
          <a:bodyPr wrap="none">
            <a:spAutoFit/>
          </a:bodyPr>
          <a:lstStyle/>
          <a:p>
            <a:r>
              <a:rPr lang="fi-FI" sz="1800" b="1"/>
              <a:t>Toimittajat</a:t>
            </a:r>
          </a:p>
        </p:txBody>
      </p:sp>
      <p:grpSp>
        <p:nvGrpSpPr>
          <p:cNvPr id="3" name="Group 50"/>
          <p:cNvGrpSpPr>
            <a:grpSpLocks/>
          </p:cNvGrpSpPr>
          <p:nvPr/>
        </p:nvGrpSpPr>
        <p:grpSpPr bwMode="auto">
          <a:xfrm>
            <a:off x="5148263" y="4221187"/>
            <a:ext cx="2736850" cy="2016125"/>
            <a:chOff x="3379" y="2387"/>
            <a:chExt cx="1588" cy="1088"/>
          </a:xfrm>
        </p:grpSpPr>
        <p:sp>
          <p:nvSpPr>
            <p:cNvPr id="157716" name="Line 20"/>
            <p:cNvSpPr>
              <a:spLocks noChangeShapeType="1"/>
            </p:cNvSpPr>
            <p:nvPr/>
          </p:nvSpPr>
          <p:spPr bwMode="auto">
            <a:xfrm>
              <a:off x="3379" y="2478"/>
              <a:ext cx="1043" cy="0"/>
            </a:xfrm>
            <a:prstGeom prst="line">
              <a:avLst/>
            </a:prstGeom>
            <a:noFill/>
            <a:ln w="76200">
              <a:solidFill>
                <a:schemeClr val="tx2"/>
              </a:solidFill>
              <a:round/>
              <a:headEnd/>
              <a:tailEnd/>
            </a:ln>
            <a:effectLst/>
          </p:spPr>
          <p:txBody>
            <a:bodyPr/>
            <a:lstStyle/>
            <a:p>
              <a:endParaRPr lang="en-GB"/>
            </a:p>
          </p:txBody>
        </p:sp>
        <p:sp>
          <p:nvSpPr>
            <p:cNvPr id="157717" name="Line 21"/>
            <p:cNvSpPr>
              <a:spLocks noChangeShapeType="1"/>
            </p:cNvSpPr>
            <p:nvPr/>
          </p:nvSpPr>
          <p:spPr bwMode="auto">
            <a:xfrm>
              <a:off x="3515" y="2704"/>
              <a:ext cx="1043" cy="0"/>
            </a:xfrm>
            <a:prstGeom prst="line">
              <a:avLst/>
            </a:prstGeom>
            <a:noFill/>
            <a:ln w="76200">
              <a:solidFill>
                <a:schemeClr val="tx2"/>
              </a:solidFill>
              <a:round/>
              <a:headEnd/>
              <a:tailEnd/>
            </a:ln>
            <a:effectLst/>
          </p:spPr>
          <p:txBody>
            <a:bodyPr/>
            <a:lstStyle/>
            <a:p>
              <a:endParaRPr lang="en-GB"/>
            </a:p>
          </p:txBody>
        </p:sp>
        <p:sp>
          <p:nvSpPr>
            <p:cNvPr id="157718" name="Line 22"/>
            <p:cNvSpPr>
              <a:spLocks noChangeShapeType="1"/>
            </p:cNvSpPr>
            <p:nvPr/>
          </p:nvSpPr>
          <p:spPr bwMode="auto">
            <a:xfrm>
              <a:off x="3742" y="3203"/>
              <a:ext cx="1043" cy="0"/>
            </a:xfrm>
            <a:prstGeom prst="line">
              <a:avLst/>
            </a:prstGeom>
            <a:noFill/>
            <a:ln w="76200">
              <a:solidFill>
                <a:schemeClr val="tx2"/>
              </a:solidFill>
              <a:round/>
              <a:headEnd/>
              <a:tailEnd/>
            </a:ln>
            <a:effectLst/>
          </p:spPr>
          <p:txBody>
            <a:bodyPr/>
            <a:lstStyle/>
            <a:p>
              <a:endParaRPr lang="en-GB"/>
            </a:p>
          </p:txBody>
        </p:sp>
        <p:sp>
          <p:nvSpPr>
            <p:cNvPr id="157719" name="Line 23"/>
            <p:cNvSpPr>
              <a:spLocks noChangeShapeType="1"/>
            </p:cNvSpPr>
            <p:nvPr/>
          </p:nvSpPr>
          <p:spPr bwMode="auto">
            <a:xfrm>
              <a:off x="3379" y="2886"/>
              <a:ext cx="1043" cy="0"/>
            </a:xfrm>
            <a:prstGeom prst="line">
              <a:avLst/>
            </a:prstGeom>
            <a:noFill/>
            <a:ln w="76200">
              <a:solidFill>
                <a:schemeClr val="tx2"/>
              </a:solidFill>
              <a:round/>
              <a:headEnd/>
              <a:tailEnd/>
            </a:ln>
            <a:effectLst/>
          </p:spPr>
          <p:txBody>
            <a:bodyPr/>
            <a:lstStyle/>
            <a:p>
              <a:endParaRPr lang="en-GB"/>
            </a:p>
          </p:txBody>
        </p:sp>
        <p:sp>
          <p:nvSpPr>
            <p:cNvPr id="157720" name="Line 24"/>
            <p:cNvSpPr>
              <a:spLocks noChangeShapeType="1"/>
            </p:cNvSpPr>
            <p:nvPr/>
          </p:nvSpPr>
          <p:spPr bwMode="auto">
            <a:xfrm>
              <a:off x="3606" y="3385"/>
              <a:ext cx="1043" cy="0"/>
            </a:xfrm>
            <a:prstGeom prst="line">
              <a:avLst/>
            </a:prstGeom>
            <a:noFill/>
            <a:ln w="76200">
              <a:solidFill>
                <a:schemeClr val="tx2"/>
              </a:solidFill>
              <a:round/>
              <a:headEnd/>
              <a:tailEnd/>
            </a:ln>
            <a:effectLst/>
          </p:spPr>
          <p:txBody>
            <a:bodyPr/>
            <a:lstStyle/>
            <a:p>
              <a:endParaRPr lang="en-GB"/>
            </a:p>
          </p:txBody>
        </p:sp>
        <p:sp>
          <p:nvSpPr>
            <p:cNvPr id="157721" name="Line 25"/>
            <p:cNvSpPr>
              <a:spLocks noChangeShapeType="1"/>
            </p:cNvSpPr>
            <p:nvPr/>
          </p:nvSpPr>
          <p:spPr bwMode="auto">
            <a:xfrm>
              <a:off x="3606" y="2478"/>
              <a:ext cx="45" cy="181"/>
            </a:xfrm>
            <a:prstGeom prst="line">
              <a:avLst/>
            </a:prstGeom>
            <a:noFill/>
            <a:ln w="9525">
              <a:solidFill>
                <a:schemeClr val="tx1"/>
              </a:solidFill>
              <a:round/>
              <a:headEnd/>
              <a:tailEnd type="triangle" w="med" len="med"/>
            </a:ln>
            <a:effectLst/>
          </p:spPr>
          <p:txBody>
            <a:bodyPr/>
            <a:lstStyle/>
            <a:p>
              <a:endParaRPr lang="en-GB"/>
            </a:p>
          </p:txBody>
        </p:sp>
        <p:sp>
          <p:nvSpPr>
            <p:cNvPr id="157722" name="Line 26"/>
            <p:cNvSpPr>
              <a:spLocks noChangeShapeType="1"/>
            </p:cNvSpPr>
            <p:nvPr/>
          </p:nvSpPr>
          <p:spPr bwMode="auto">
            <a:xfrm>
              <a:off x="3560" y="2704"/>
              <a:ext cx="45" cy="181"/>
            </a:xfrm>
            <a:prstGeom prst="line">
              <a:avLst/>
            </a:prstGeom>
            <a:noFill/>
            <a:ln w="9525">
              <a:solidFill>
                <a:schemeClr val="tx1"/>
              </a:solidFill>
              <a:round/>
              <a:headEnd/>
              <a:tailEnd type="triangle" w="med" len="med"/>
            </a:ln>
            <a:effectLst/>
          </p:spPr>
          <p:txBody>
            <a:bodyPr/>
            <a:lstStyle/>
            <a:p>
              <a:endParaRPr lang="en-GB"/>
            </a:p>
          </p:txBody>
        </p:sp>
        <p:sp>
          <p:nvSpPr>
            <p:cNvPr id="157723" name="Line 27"/>
            <p:cNvSpPr>
              <a:spLocks noChangeShapeType="1"/>
            </p:cNvSpPr>
            <p:nvPr/>
          </p:nvSpPr>
          <p:spPr bwMode="auto">
            <a:xfrm>
              <a:off x="3923" y="2886"/>
              <a:ext cx="91" cy="499"/>
            </a:xfrm>
            <a:prstGeom prst="line">
              <a:avLst/>
            </a:prstGeom>
            <a:noFill/>
            <a:ln w="9525">
              <a:solidFill>
                <a:schemeClr val="tx1"/>
              </a:solidFill>
              <a:round/>
              <a:headEnd/>
              <a:tailEnd type="triangle" w="med" len="med"/>
            </a:ln>
            <a:effectLst/>
          </p:spPr>
          <p:txBody>
            <a:bodyPr/>
            <a:lstStyle/>
            <a:p>
              <a:endParaRPr lang="en-GB"/>
            </a:p>
          </p:txBody>
        </p:sp>
        <p:sp>
          <p:nvSpPr>
            <p:cNvPr id="157724" name="Line 28"/>
            <p:cNvSpPr>
              <a:spLocks noChangeShapeType="1"/>
            </p:cNvSpPr>
            <p:nvPr/>
          </p:nvSpPr>
          <p:spPr bwMode="auto">
            <a:xfrm>
              <a:off x="4014" y="2478"/>
              <a:ext cx="45" cy="181"/>
            </a:xfrm>
            <a:prstGeom prst="line">
              <a:avLst/>
            </a:prstGeom>
            <a:noFill/>
            <a:ln w="9525">
              <a:solidFill>
                <a:schemeClr val="tx1"/>
              </a:solidFill>
              <a:round/>
              <a:headEnd/>
              <a:tailEnd type="triangle" w="med" len="med"/>
            </a:ln>
            <a:effectLst/>
          </p:spPr>
          <p:txBody>
            <a:bodyPr/>
            <a:lstStyle/>
            <a:p>
              <a:endParaRPr lang="en-GB"/>
            </a:p>
          </p:txBody>
        </p:sp>
        <p:sp>
          <p:nvSpPr>
            <p:cNvPr id="157725" name="Line 29"/>
            <p:cNvSpPr>
              <a:spLocks noChangeShapeType="1"/>
            </p:cNvSpPr>
            <p:nvPr/>
          </p:nvSpPr>
          <p:spPr bwMode="auto">
            <a:xfrm>
              <a:off x="3833" y="3203"/>
              <a:ext cx="45" cy="181"/>
            </a:xfrm>
            <a:prstGeom prst="line">
              <a:avLst/>
            </a:prstGeom>
            <a:noFill/>
            <a:ln w="9525">
              <a:solidFill>
                <a:schemeClr val="tx1"/>
              </a:solidFill>
              <a:round/>
              <a:headEnd/>
              <a:tailEnd type="triangle" w="med" len="med"/>
            </a:ln>
            <a:effectLst/>
          </p:spPr>
          <p:txBody>
            <a:bodyPr/>
            <a:lstStyle/>
            <a:p>
              <a:endParaRPr lang="en-GB"/>
            </a:p>
          </p:txBody>
        </p:sp>
        <p:sp>
          <p:nvSpPr>
            <p:cNvPr id="157726" name="Line 30"/>
            <p:cNvSpPr>
              <a:spLocks noChangeShapeType="1"/>
            </p:cNvSpPr>
            <p:nvPr/>
          </p:nvSpPr>
          <p:spPr bwMode="auto">
            <a:xfrm flipH="1">
              <a:off x="3878" y="2886"/>
              <a:ext cx="1" cy="317"/>
            </a:xfrm>
            <a:prstGeom prst="line">
              <a:avLst/>
            </a:prstGeom>
            <a:noFill/>
            <a:ln w="9525">
              <a:solidFill>
                <a:schemeClr val="tx1"/>
              </a:solidFill>
              <a:round/>
              <a:headEnd/>
              <a:tailEnd type="triangle" w="med" len="med"/>
            </a:ln>
            <a:effectLst/>
          </p:spPr>
          <p:txBody>
            <a:bodyPr/>
            <a:lstStyle/>
            <a:p>
              <a:endParaRPr lang="en-GB"/>
            </a:p>
          </p:txBody>
        </p:sp>
        <p:sp>
          <p:nvSpPr>
            <p:cNvPr id="157727" name="Line 31"/>
            <p:cNvSpPr>
              <a:spLocks noChangeShapeType="1"/>
            </p:cNvSpPr>
            <p:nvPr/>
          </p:nvSpPr>
          <p:spPr bwMode="auto">
            <a:xfrm flipV="1">
              <a:off x="3742" y="2704"/>
              <a:ext cx="45" cy="181"/>
            </a:xfrm>
            <a:prstGeom prst="line">
              <a:avLst/>
            </a:prstGeom>
            <a:noFill/>
            <a:ln w="9525">
              <a:solidFill>
                <a:schemeClr val="tx1"/>
              </a:solidFill>
              <a:round/>
              <a:headEnd/>
              <a:tailEnd type="triangle" w="med" len="med"/>
            </a:ln>
            <a:effectLst/>
          </p:spPr>
          <p:txBody>
            <a:bodyPr/>
            <a:lstStyle/>
            <a:p>
              <a:endParaRPr lang="en-GB"/>
            </a:p>
          </p:txBody>
        </p:sp>
        <p:sp>
          <p:nvSpPr>
            <p:cNvPr id="157728" name="Line 32"/>
            <p:cNvSpPr>
              <a:spLocks noChangeShapeType="1"/>
            </p:cNvSpPr>
            <p:nvPr/>
          </p:nvSpPr>
          <p:spPr bwMode="auto">
            <a:xfrm flipV="1">
              <a:off x="3741" y="2522"/>
              <a:ext cx="45" cy="181"/>
            </a:xfrm>
            <a:prstGeom prst="line">
              <a:avLst/>
            </a:prstGeom>
            <a:noFill/>
            <a:ln w="9525">
              <a:solidFill>
                <a:schemeClr val="tx1"/>
              </a:solidFill>
              <a:round/>
              <a:headEnd/>
              <a:tailEnd type="triangle" w="med" len="med"/>
            </a:ln>
            <a:effectLst/>
          </p:spPr>
          <p:txBody>
            <a:bodyPr/>
            <a:lstStyle/>
            <a:p>
              <a:endParaRPr lang="en-GB"/>
            </a:p>
          </p:txBody>
        </p:sp>
        <p:sp>
          <p:nvSpPr>
            <p:cNvPr id="157729" name="Line 33"/>
            <p:cNvSpPr>
              <a:spLocks noChangeShapeType="1"/>
            </p:cNvSpPr>
            <p:nvPr/>
          </p:nvSpPr>
          <p:spPr bwMode="auto">
            <a:xfrm flipV="1">
              <a:off x="4195" y="2704"/>
              <a:ext cx="91" cy="499"/>
            </a:xfrm>
            <a:prstGeom prst="line">
              <a:avLst/>
            </a:prstGeom>
            <a:noFill/>
            <a:ln w="9525">
              <a:solidFill>
                <a:schemeClr val="tx1"/>
              </a:solidFill>
              <a:round/>
              <a:headEnd/>
              <a:tailEnd type="triangle" w="med" len="med"/>
            </a:ln>
            <a:effectLst/>
          </p:spPr>
          <p:txBody>
            <a:bodyPr/>
            <a:lstStyle/>
            <a:p>
              <a:endParaRPr lang="en-GB"/>
            </a:p>
          </p:txBody>
        </p:sp>
        <p:sp>
          <p:nvSpPr>
            <p:cNvPr id="157730" name="Line 34"/>
            <p:cNvSpPr>
              <a:spLocks noChangeShapeType="1"/>
            </p:cNvSpPr>
            <p:nvPr/>
          </p:nvSpPr>
          <p:spPr bwMode="auto">
            <a:xfrm flipV="1">
              <a:off x="4286" y="3203"/>
              <a:ext cx="45" cy="181"/>
            </a:xfrm>
            <a:prstGeom prst="line">
              <a:avLst/>
            </a:prstGeom>
            <a:noFill/>
            <a:ln w="9525">
              <a:solidFill>
                <a:schemeClr val="tx1"/>
              </a:solidFill>
              <a:round/>
              <a:headEnd/>
              <a:tailEnd type="triangle" w="med" len="med"/>
            </a:ln>
            <a:effectLst/>
          </p:spPr>
          <p:txBody>
            <a:bodyPr/>
            <a:lstStyle/>
            <a:p>
              <a:endParaRPr lang="en-GB"/>
            </a:p>
          </p:txBody>
        </p:sp>
        <p:sp>
          <p:nvSpPr>
            <p:cNvPr id="157731" name="Line 35"/>
            <p:cNvSpPr>
              <a:spLocks noChangeShapeType="1"/>
            </p:cNvSpPr>
            <p:nvPr/>
          </p:nvSpPr>
          <p:spPr bwMode="auto">
            <a:xfrm flipV="1">
              <a:off x="4014" y="2931"/>
              <a:ext cx="91" cy="271"/>
            </a:xfrm>
            <a:prstGeom prst="line">
              <a:avLst/>
            </a:prstGeom>
            <a:noFill/>
            <a:ln w="9525">
              <a:solidFill>
                <a:schemeClr val="tx1"/>
              </a:solidFill>
              <a:round/>
              <a:headEnd/>
              <a:tailEnd type="triangle" w="med" len="med"/>
            </a:ln>
            <a:effectLst/>
          </p:spPr>
          <p:txBody>
            <a:bodyPr/>
            <a:lstStyle/>
            <a:p>
              <a:endParaRPr lang="en-GB"/>
            </a:p>
          </p:txBody>
        </p:sp>
        <p:sp>
          <p:nvSpPr>
            <p:cNvPr id="157732" name="Line 36"/>
            <p:cNvSpPr>
              <a:spLocks noChangeShapeType="1"/>
            </p:cNvSpPr>
            <p:nvPr/>
          </p:nvSpPr>
          <p:spPr bwMode="auto">
            <a:xfrm flipV="1">
              <a:off x="4014" y="2704"/>
              <a:ext cx="45" cy="182"/>
            </a:xfrm>
            <a:prstGeom prst="line">
              <a:avLst/>
            </a:prstGeom>
            <a:noFill/>
            <a:ln w="9525">
              <a:solidFill>
                <a:schemeClr val="tx1"/>
              </a:solidFill>
              <a:round/>
              <a:headEnd/>
              <a:tailEnd type="triangle" w="med" len="med"/>
            </a:ln>
            <a:effectLst/>
          </p:spPr>
          <p:txBody>
            <a:bodyPr/>
            <a:lstStyle/>
            <a:p>
              <a:endParaRPr lang="en-GB"/>
            </a:p>
          </p:txBody>
        </p:sp>
        <p:sp>
          <p:nvSpPr>
            <p:cNvPr id="157733" name="AutoShape 37"/>
            <p:cNvSpPr>
              <a:spLocks/>
            </p:cNvSpPr>
            <p:nvPr/>
          </p:nvSpPr>
          <p:spPr bwMode="auto">
            <a:xfrm>
              <a:off x="4740" y="2387"/>
              <a:ext cx="227" cy="1088"/>
            </a:xfrm>
            <a:prstGeom prst="rightBrace">
              <a:avLst>
                <a:gd name="adj1" fmla="val 13647"/>
                <a:gd name="adj2" fmla="val 50366"/>
              </a:avLst>
            </a:prstGeom>
            <a:noFill/>
            <a:ln w="38100">
              <a:solidFill>
                <a:schemeClr val="hlink"/>
              </a:solidFill>
              <a:round/>
              <a:headEnd/>
              <a:tailEnd/>
            </a:ln>
            <a:effectLst/>
          </p:spPr>
          <p:txBody>
            <a:bodyPr wrap="none" anchor="ctr"/>
            <a:lstStyle/>
            <a:p>
              <a:endParaRPr lang="en-GB"/>
            </a:p>
          </p:txBody>
        </p:sp>
      </p:grpSp>
      <p:grpSp>
        <p:nvGrpSpPr>
          <p:cNvPr id="4" name="Group 38"/>
          <p:cNvGrpSpPr>
            <a:grpSpLocks/>
          </p:cNvGrpSpPr>
          <p:nvPr/>
        </p:nvGrpSpPr>
        <p:grpSpPr bwMode="auto">
          <a:xfrm>
            <a:off x="1187450" y="4942036"/>
            <a:ext cx="1512888" cy="1511300"/>
            <a:chOff x="1665" y="2076"/>
            <a:chExt cx="1328" cy="992"/>
          </a:xfrm>
        </p:grpSpPr>
        <p:sp>
          <p:nvSpPr>
            <p:cNvPr id="157735" name="Line 39"/>
            <p:cNvSpPr>
              <a:spLocks noChangeShapeType="1"/>
            </p:cNvSpPr>
            <p:nvPr/>
          </p:nvSpPr>
          <p:spPr bwMode="auto">
            <a:xfrm>
              <a:off x="1665" y="2076"/>
              <a:ext cx="671" cy="992"/>
            </a:xfrm>
            <a:prstGeom prst="line">
              <a:avLst/>
            </a:prstGeom>
            <a:noFill/>
            <a:ln w="57150">
              <a:solidFill>
                <a:schemeClr val="hlink"/>
              </a:solidFill>
              <a:round/>
              <a:headEnd/>
              <a:tailEnd/>
            </a:ln>
            <a:effectLst/>
          </p:spPr>
          <p:txBody>
            <a:bodyPr/>
            <a:lstStyle/>
            <a:p>
              <a:endParaRPr lang="en-GB"/>
            </a:p>
          </p:txBody>
        </p:sp>
        <p:sp>
          <p:nvSpPr>
            <p:cNvPr id="157736" name="Line 40"/>
            <p:cNvSpPr>
              <a:spLocks noChangeShapeType="1"/>
            </p:cNvSpPr>
            <p:nvPr/>
          </p:nvSpPr>
          <p:spPr bwMode="auto">
            <a:xfrm flipH="1">
              <a:off x="2322" y="2076"/>
              <a:ext cx="671" cy="992"/>
            </a:xfrm>
            <a:prstGeom prst="line">
              <a:avLst/>
            </a:prstGeom>
            <a:noFill/>
            <a:ln w="57150">
              <a:solidFill>
                <a:schemeClr val="hlink"/>
              </a:solidFill>
              <a:round/>
              <a:headEnd/>
              <a:tailEnd/>
            </a:ln>
            <a:effectLst/>
          </p:spPr>
          <p:txBody>
            <a:bodyPr/>
            <a:lstStyle/>
            <a:p>
              <a:endParaRPr lang="en-GB"/>
            </a:p>
          </p:txBody>
        </p:sp>
      </p:grpSp>
      <p:grpSp>
        <p:nvGrpSpPr>
          <p:cNvPr id="5" name="Group 41"/>
          <p:cNvGrpSpPr>
            <a:grpSpLocks/>
          </p:cNvGrpSpPr>
          <p:nvPr/>
        </p:nvGrpSpPr>
        <p:grpSpPr bwMode="auto">
          <a:xfrm>
            <a:off x="1258888" y="4942036"/>
            <a:ext cx="1512887" cy="1511300"/>
            <a:chOff x="1665" y="2076"/>
            <a:chExt cx="1328" cy="992"/>
          </a:xfrm>
        </p:grpSpPr>
        <p:sp>
          <p:nvSpPr>
            <p:cNvPr id="157738" name="Line 42"/>
            <p:cNvSpPr>
              <a:spLocks noChangeShapeType="1"/>
            </p:cNvSpPr>
            <p:nvPr/>
          </p:nvSpPr>
          <p:spPr bwMode="auto">
            <a:xfrm>
              <a:off x="1665" y="2076"/>
              <a:ext cx="671" cy="992"/>
            </a:xfrm>
            <a:prstGeom prst="line">
              <a:avLst/>
            </a:prstGeom>
            <a:noFill/>
            <a:ln w="57150">
              <a:solidFill>
                <a:schemeClr val="hlink"/>
              </a:solidFill>
              <a:round/>
              <a:headEnd/>
              <a:tailEnd/>
            </a:ln>
            <a:effectLst/>
          </p:spPr>
          <p:txBody>
            <a:bodyPr/>
            <a:lstStyle/>
            <a:p>
              <a:endParaRPr lang="en-GB"/>
            </a:p>
          </p:txBody>
        </p:sp>
        <p:sp>
          <p:nvSpPr>
            <p:cNvPr id="157739" name="Line 43"/>
            <p:cNvSpPr>
              <a:spLocks noChangeShapeType="1"/>
            </p:cNvSpPr>
            <p:nvPr/>
          </p:nvSpPr>
          <p:spPr bwMode="auto">
            <a:xfrm flipH="1">
              <a:off x="2322" y="2076"/>
              <a:ext cx="671" cy="992"/>
            </a:xfrm>
            <a:prstGeom prst="line">
              <a:avLst/>
            </a:prstGeom>
            <a:noFill/>
            <a:ln w="57150">
              <a:solidFill>
                <a:schemeClr val="hlink"/>
              </a:solidFill>
              <a:round/>
              <a:headEnd/>
              <a:tailEnd/>
            </a:ln>
            <a:effectLst/>
          </p:spPr>
          <p:txBody>
            <a:bodyPr/>
            <a:lstStyle/>
            <a:p>
              <a:endParaRPr lang="en-GB"/>
            </a:p>
          </p:txBody>
        </p:sp>
      </p:grpSp>
      <p:grpSp>
        <p:nvGrpSpPr>
          <p:cNvPr id="6" name="Group 44"/>
          <p:cNvGrpSpPr>
            <a:grpSpLocks/>
          </p:cNvGrpSpPr>
          <p:nvPr/>
        </p:nvGrpSpPr>
        <p:grpSpPr bwMode="auto">
          <a:xfrm>
            <a:off x="1331913" y="4942036"/>
            <a:ext cx="1512887" cy="1511300"/>
            <a:chOff x="1665" y="2076"/>
            <a:chExt cx="1328" cy="992"/>
          </a:xfrm>
        </p:grpSpPr>
        <p:sp>
          <p:nvSpPr>
            <p:cNvPr id="157741" name="Line 45"/>
            <p:cNvSpPr>
              <a:spLocks noChangeShapeType="1"/>
            </p:cNvSpPr>
            <p:nvPr/>
          </p:nvSpPr>
          <p:spPr bwMode="auto">
            <a:xfrm>
              <a:off x="1665" y="2076"/>
              <a:ext cx="671" cy="992"/>
            </a:xfrm>
            <a:prstGeom prst="line">
              <a:avLst/>
            </a:prstGeom>
            <a:noFill/>
            <a:ln w="57150">
              <a:solidFill>
                <a:schemeClr val="hlink"/>
              </a:solidFill>
              <a:round/>
              <a:headEnd/>
              <a:tailEnd/>
            </a:ln>
            <a:effectLst/>
          </p:spPr>
          <p:txBody>
            <a:bodyPr/>
            <a:lstStyle/>
            <a:p>
              <a:endParaRPr lang="en-GB"/>
            </a:p>
          </p:txBody>
        </p:sp>
        <p:sp>
          <p:nvSpPr>
            <p:cNvPr id="157742" name="Line 46"/>
            <p:cNvSpPr>
              <a:spLocks noChangeShapeType="1"/>
            </p:cNvSpPr>
            <p:nvPr/>
          </p:nvSpPr>
          <p:spPr bwMode="auto">
            <a:xfrm flipH="1">
              <a:off x="2322" y="2076"/>
              <a:ext cx="671" cy="992"/>
            </a:xfrm>
            <a:prstGeom prst="line">
              <a:avLst/>
            </a:prstGeom>
            <a:noFill/>
            <a:ln w="57150">
              <a:solidFill>
                <a:schemeClr val="hlink"/>
              </a:solidFill>
              <a:round/>
              <a:headEnd/>
              <a:tailEnd/>
            </a:ln>
            <a:effectLst/>
          </p:spPr>
          <p:txBody>
            <a:bodyPr/>
            <a:lstStyle/>
            <a:p>
              <a:endParaRPr lang="en-GB"/>
            </a:p>
          </p:txBody>
        </p:sp>
      </p:grpSp>
      <p:grpSp>
        <p:nvGrpSpPr>
          <p:cNvPr id="7" name="Group 47"/>
          <p:cNvGrpSpPr>
            <a:grpSpLocks/>
          </p:cNvGrpSpPr>
          <p:nvPr/>
        </p:nvGrpSpPr>
        <p:grpSpPr bwMode="auto">
          <a:xfrm>
            <a:off x="1403350" y="4942036"/>
            <a:ext cx="1512888" cy="1511300"/>
            <a:chOff x="1665" y="2076"/>
            <a:chExt cx="1328" cy="992"/>
          </a:xfrm>
        </p:grpSpPr>
        <p:sp>
          <p:nvSpPr>
            <p:cNvPr id="157744" name="Line 48"/>
            <p:cNvSpPr>
              <a:spLocks noChangeShapeType="1"/>
            </p:cNvSpPr>
            <p:nvPr/>
          </p:nvSpPr>
          <p:spPr bwMode="auto">
            <a:xfrm>
              <a:off x="1665" y="2076"/>
              <a:ext cx="671" cy="992"/>
            </a:xfrm>
            <a:prstGeom prst="line">
              <a:avLst/>
            </a:prstGeom>
            <a:noFill/>
            <a:ln w="57150">
              <a:solidFill>
                <a:schemeClr val="hlink"/>
              </a:solidFill>
              <a:round/>
              <a:headEnd/>
              <a:tailEnd/>
            </a:ln>
            <a:effectLst/>
          </p:spPr>
          <p:txBody>
            <a:bodyPr/>
            <a:lstStyle/>
            <a:p>
              <a:endParaRPr lang="en-GB"/>
            </a:p>
          </p:txBody>
        </p:sp>
        <p:sp>
          <p:nvSpPr>
            <p:cNvPr id="157745" name="Line 49"/>
            <p:cNvSpPr>
              <a:spLocks noChangeShapeType="1"/>
            </p:cNvSpPr>
            <p:nvPr/>
          </p:nvSpPr>
          <p:spPr bwMode="auto">
            <a:xfrm flipH="1">
              <a:off x="2322" y="2076"/>
              <a:ext cx="671" cy="992"/>
            </a:xfrm>
            <a:prstGeom prst="line">
              <a:avLst/>
            </a:prstGeom>
            <a:noFill/>
            <a:ln w="57150">
              <a:solidFill>
                <a:schemeClr val="hlink"/>
              </a:solidFill>
              <a:round/>
              <a:headEnd/>
              <a:tailEnd/>
            </a:ln>
            <a:effectLst/>
          </p:spPr>
          <p:txBody>
            <a:bodyPr/>
            <a:lstStyle/>
            <a:p>
              <a:endParaRPr lang="en-GB"/>
            </a:p>
          </p:txBody>
        </p:sp>
      </p:grpSp>
    </p:spTree>
  </p:cSld>
  <p:clrMapOvr>
    <a:masterClrMapping/>
  </p:clrMapOvr>
  <p:timing>
    <p:tnLst>
      <p:par>
        <p:cTn xmlns:p14="http://schemas.microsoft.com/office/powerpoint/2010/mai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16" name="AutoShape 24"/>
          <p:cNvSpPr>
            <a:spLocks noChangeArrowheads="1"/>
          </p:cNvSpPr>
          <p:nvPr/>
        </p:nvSpPr>
        <p:spPr bwMode="auto">
          <a:xfrm>
            <a:off x="0" y="3716338"/>
            <a:ext cx="9144000" cy="2592387"/>
          </a:xfrm>
          <a:prstGeom prst="roundRect">
            <a:avLst>
              <a:gd name="adj" fmla="val 16667"/>
            </a:avLst>
          </a:prstGeom>
          <a:solidFill>
            <a:schemeClr val="bg1"/>
          </a:solidFill>
          <a:ln w="38100" algn="ctr">
            <a:solidFill>
              <a:schemeClr val="accent2"/>
            </a:solidFill>
            <a:prstDash val="dashDot"/>
            <a:round/>
            <a:headEnd/>
            <a:tailEnd/>
          </a:ln>
          <a:effectLst/>
        </p:spPr>
        <p:txBody>
          <a:bodyPr wrap="none" anchor="b"/>
          <a:lstStyle/>
          <a:p>
            <a:r>
              <a:rPr lang="fi-FI">
                <a:latin typeface="Arial Narrow" pitchFamily="34" charset="0"/>
              </a:rPr>
              <a:t>Järjestelmä</a:t>
            </a:r>
            <a:endParaRPr lang="en-US">
              <a:latin typeface="Arial Narrow" pitchFamily="34" charset="0"/>
            </a:endParaRPr>
          </a:p>
        </p:txBody>
      </p:sp>
      <p:sp>
        <p:nvSpPr>
          <p:cNvPr id="8194" name="Rectangle 2"/>
          <p:cNvSpPr>
            <a:spLocks noGrp="1" noChangeArrowheads="1"/>
          </p:cNvSpPr>
          <p:nvPr>
            <p:ph type="title"/>
          </p:nvPr>
        </p:nvSpPr>
        <p:spPr>
          <a:xfrm>
            <a:off x="457200" y="76200"/>
            <a:ext cx="5972188" cy="1143000"/>
          </a:xfrm>
        </p:spPr>
        <p:txBody>
          <a:bodyPr>
            <a:normAutofit fontScale="90000"/>
          </a:bodyPr>
          <a:lstStyle/>
          <a:p>
            <a:r>
              <a:rPr lang="fi-FI" dirty="0"/>
              <a:t>Projektit ja </a:t>
            </a:r>
            <a:r>
              <a:rPr lang="fi-FI" dirty="0" smtClean="0"/>
              <a:t>testauksen</a:t>
            </a:r>
            <a:br>
              <a:rPr lang="fi-FI" dirty="0" smtClean="0"/>
            </a:br>
            <a:r>
              <a:rPr lang="fi-FI" dirty="0" smtClean="0"/>
              <a:t> laajuus</a:t>
            </a:r>
            <a:endParaRPr lang="en-US" dirty="0"/>
          </a:p>
        </p:txBody>
      </p:sp>
      <p:sp>
        <p:nvSpPr>
          <p:cNvPr id="8196" name="AutoShape 4"/>
          <p:cNvSpPr>
            <a:spLocks noChangeArrowheads="1"/>
          </p:cNvSpPr>
          <p:nvPr/>
        </p:nvSpPr>
        <p:spPr bwMode="auto">
          <a:xfrm>
            <a:off x="1906588" y="3859213"/>
            <a:ext cx="1728787" cy="1152525"/>
          </a:xfrm>
          <a:prstGeom prst="flowChartAlternateProcess">
            <a:avLst/>
          </a:prstGeom>
          <a:solidFill>
            <a:schemeClr val="accent1"/>
          </a:solidFill>
          <a:ln w="9525" algn="ctr">
            <a:solidFill>
              <a:schemeClr val="tx1"/>
            </a:solidFill>
            <a:miter lim="800000"/>
            <a:headEnd/>
            <a:tailEnd/>
          </a:ln>
          <a:effectLst/>
        </p:spPr>
        <p:txBody>
          <a:bodyPr anchor="ctr"/>
          <a:lstStyle/>
          <a:p>
            <a:pPr algn="ctr"/>
            <a:r>
              <a:rPr lang="fi-FI">
                <a:latin typeface="Arial Narrow" pitchFamily="34" charset="0"/>
              </a:rPr>
              <a:t>Osajärjestelmä:</a:t>
            </a:r>
          </a:p>
          <a:p>
            <a:pPr algn="ctr"/>
            <a:r>
              <a:rPr lang="fi-FI">
                <a:latin typeface="Arial Narrow" pitchFamily="34" charset="0"/>
              </a:rPr>
              <a:t>tekninen</a:t>
            </a:r>
            <a:endParaRPr lang="en-US">
              <a:latin typeface="Arial Narrow" pitchFamily="34" charset="0"/>
            </a:endParaRPr>
          </a:p>
        </p:txBody>
      </p:sp>
      <p:sp>
        <p:nvSpPr>
          <p:cNvPr id="8197" name="AutoShape 5"/>
          <p:cNvSpPr>
            <a:spLocks noChangeArrowheads="1"/>
          </p:cNvSpPr>
          <p:nvPr/>
        </p:nvSpPr>
        <p:spPr bwMode="auto">
          <a:xfrm>
            <a:off x="3706813" y="3859213"/>
            <a:ext cx="1728787" cy="1152525"/>
          </a:xfrm>
          <a:prstGeom prst="flowChartAlternateProcess">
            <a:avLst/>
          </a:prstGeom>
          <a:solidFill>
            <a:schemeClr val="accent1"/>
          </a:solidFill>
          <a:ln w="9525" algn="ctr">
            <a:solidFill>
              <a:schemeClr val="tx1"/>
            </a:solidFill>
            <a:miter lim="800000"/>
            <a:headEnd/>
            <a:tailEnd/>
          </a:ln>
          <a:effectLst/>
        </p:spPr>
        <p:txBody>
          <a:bodyPr anchor="ctr"/>
          <a:lstStyle/>
          <a:p>
            <a:pPr algn="ctr"/>
            <a:r>
              <a:rPr lang="fi-FI">
                <a:latin typeface="Arial Narrow" pitchFamily="34" charset="0"/>
              </a:rPr>
              <a:t>Osajärjestelmä:</a:t>
            </a:r>
          </a:p>
          <a:p>
            <a:pPr algn="ctr"/>
            <a:r>
              <a:rPr lang="fi-FI">
                <a:latin typeface="Arial Narrow" pitchFamily="34" charset="0"/>
              </a:rPr>
              <a:t>oma käyttöliittymä</a:t>
            </a:r>
            <a:endParaRPr lang="en-US">
              <a:latin typeface="Arial Narrow" pitchFamily="34" charset="0"/>
            </a:endParaRPr>
          </a:p>
        </p:txBody>
      </p:sp>
      <p:sp>
        <p:nvSpPr>
          <p:cNvPr id="8198" name="Oval 6"/>
          <p:cNvSpPr>
            <a:spLocks noChangeArrowheads="1"/>
          </p:cNvSpPr>
          <p:nvPr/>
        </p:nvSpPr>
        <p:spPr bwMode="auto">
          <a:xfrm>
            <a:off x="1979613" y="2565400"/>
            <a:ext cx="1584325" cy="792163"/>
          </a:xfrm>
          <a:prstGeom prst="ellipse">
            <a:avLst/>
          </a:prstGeom>
          <a:solidFill>
            <a:schemeClr val="accent1"/>
          </a:solidFill>
          <a:ln w="9525" algn="ctr">
            <a:solidFill>
              <a:schemeClr val="tx1"/>
            </a:solidFill>
            <a:round/>
            <a:headEnd/>
            <a:tailEnd/>
          </a:ln>
          <a:effectLst/>
        </p:spPr>
        <p:txBody>
          <a:bodyPr wrap="none" anchor="ctr"/>
          <a:lstStyle/>
          <a:p>
            <a:pPr algn="ctr"/>
            <a:r>
              <a:rPr lang="fi-FI">
                <a:latin typeface="Arial Narrow" pitchFamily="34" charset="0"/>
              </a:rPr>
              <a:t>Projekti</a:t>
            </a:r>
            <a:endParaRPr lang="en-US">
              <a:latin typeface="Arial Narrow" pitchFamily="34" charset="0"/>
            </a:endParaRPr>
          </a:p>
        </p:txBody>
      </p:sp>
      <p:sp>
        <p:nvSpPr>
          <p:cNvPr id="8199" name="Oval 7"/>
          <p:cNvSpPr>
            <a:spLocks noChangeArrowheads="1"/>
          </p:cNvSpPr>
          <p:nvPr/>
        </p:nvSpPr>
        <p:spPr bwMode="auto">
          <a:xfrm>
            <a:off x="3779838" y="2565400"/>
            <a:ext cx="1584325" cy="792163"/>
          </a:xfrm>
          <a:prstGeom prst="ellipse">
            <a:avLst/>
          </a:prstGeom>
          <a:solidFill>
            <a:schemeClr val="accent1"/>
          </a:solidFill>
          <a:ln w="9525" algn="ctr">
            <a:solidFill>
              <a:schemeClr val="tx1"/>
            </a:solidFill>
            <a:round/>
            <a:headEnd/>
            <a:tailEnd/>
          </a:ln>
          <a:effectLst/>
        </p:spPr>
        <p:txBody>
          <a:bodyPr wrap="none" anchor="ctr"/>
          <a:lstStyle/>
          <a:p>
            <a:pPr algn="ctr"/>
            <a:r>
              <a:rPr lang="fi-FI">
                <a:latin typeface="Arial Narrow" pitchFamily="34" charset="0"/>
              </a:rPr>
              <a:t>Projekti</a:t>
            </a:r>
            <a:endParaRPr lang="en-US">
              <a:latin typeface="Arial Narrow" pitchFamily="34" charset="0"/>
            </a:endParaRPr>
          </a:p>
        </p:txBody>
      </p:sp>
      <p:sp>
        <p:nvSpPr>
          <p:cNvPr id="8200" name="AutoShape 8"/>
          <p:cNvSpPr>
            <a:spLocks noChangeArrowheads="1"/>
          </p:cNvSpPr>
          <p:nvPr/>
        </p:nvSpPr>
        <p:spPr bwMode="auto">
          <a:xfrm>
            <a:off x="5507038" y="3859213"/>
            <a:ext cx="1728787" cy="1152525"/>
          </a:xfrm>
          <a:prstGeom prst="flowChartAlternateProcess">
            <a:avLst/>
          </a:prstGeom>
          <a:solidFill>
            <a:schemeClr val="folHlink"/>
          </a:solidFill>
          <a:ln w="9525" algn="ctr">
            <a:solidFill>
              <a:schemeClr val="tx1"/>
            </a:solidFill>
            <a:miter lim="800000"/>
            <a:headEnd/>
            <a:tailEnd/>
          </a:ln>
          <a:effectLst/>
        </p:spPr>
        <p:txBody>
          <a:bodyPr anchor="ctr"/>
          <a:lstStyle/>
          <a:p>
            <a:pPr algn="ctr"/>
            <a:r>
              <a:rPr lang="fi-FI">
                <a:solidFill>
                  <a:schemeClr val="bg1"/>
                </a:solidFill>
                <a:latin typeface="Arial Narrow" pitchFamily="34" charset="0"/>
              </a:rPr>
              <a:t>Osajärjestelmä:</a:t>
            </a:r>
          </a:p>
          <a:p>
            <a:pPr algn="ctr"/>
            <a:r>
              <a:rPr lang="fi-FI">
                <a:solidFill>
                  <a:schemeClr val="bg1"/>
                </a:solidFill>
                <a:latin typeface="Arial Narrow" pitchFamily="34" charset="0"/>
              </a:rPr>
              <a:t>liittymä</a:t>
            </a:r>
            <a:endParaRPr lang="en-US">
              <a:solidFill>
                <a:schemeClr val="bg1"/>
              </a:solidFill>
              <a:latin typeface="Arial Narrow" pitchFamily="34" charset="0"/>
            </a:endParaRPr>
          </a:p>
        </p:txBody>
      </p:sp>
      <p:sp>
        <p:nvSpPr>
          <p:cNvPr id="8201" name="AutoShape 9"/>
          <p:cNvSpPr>
            <a:spLocks noChangeArrowheads="1"/>
          </p:cNvSpPr>
          <p:nvPr/>
        </p:nvSpPr>
        <p:spPr bwMode="auto">
          <a:xfrm>
            <a:off x="7307263" y="3859213"/>
            <a:ext cx="1728787" cy="1152525"/>
          </a:xfrm>
          <a:prstGeom prst="flowChartAlternateProcess">
            <a:avLst/>
          </a:prstGeom>
          <a:solidFill>
            <a:schemeClr val="folHlink"/>
          </a:solidFill>
          <a:ln w="9525" algn="ctr">
            <a:solidFill>
              <a:schemeClr val="tx1"/>
            </a:solidFill>
            <a:miter lim="800000"/>
            <a:headEnd/>
            <a:tailEnd/>
          </a:ln>
          <a:effectLst/>
        </p:spPr>
        <p:txBody>
          <a:bodyPr anchor="ctr"/>
          <a:lstStyle/>
          <a:p>
            <a:pPr algn="ctr"/>
            <a:r>
              <a:rPr lang="fi-FI">
                <a:solidFill>
                  <a:schemeClr val="bg1"/>
                </a:solidFill>
                <a:latin typeface="Arial Narrow" pitchFamily="34" charset="0"/>
              </a:rPr>
              <a:t>Osajärjestelmä:</a:t>
            </a:r>
          </a:p>
          <a:p>
            <a:pPr algn="ctr"/>
            <a:r>
              <a:rPr lang="fi-FI" sz="1400">
                <a:solidFill>
                  <a:schemeClr val="bg1"/>
                </a:solidFill>
                <a:latin typeface="Arial Narrow" pitchFamily="34" charset="0"/>
              </a:rPr>
              <a:t>yhteinen aineisto kannoissa / kokonaisprosessissa</a:t>
            </a:r>
            <a:endParaRPr lang="en-US" sz="1400">
              <a:solidFill>
                <a:schemeClr val="bg1"/>
              </a:solidFill>
              <a:latin typeface="Arial Narrow" pitchFamily="34" charset="0"/>
            </a:endParaRPr>
          </a:p>
        </p:txBody>
      </p:sp>
      <p:sp>
        <p:nvSpPr>
          <p:cNvPr id="8202" name="AutoShape 10"/>
          <p:cNvSpPr>
            <a:spLocks noChangeArrowheads="1"/>
          </p:cNvSpPr>
          <p:nvPr/>
        </p:nvSpPr>
        <p:spPr bwMode="auto">
          <a:xfrm>
            <a:off x="6370638" y="5084763"/>
            <a:ext cx="1728787" cy="1152525"/>
          </a:xfrm>
          <a:prstGeom prst="flowChartAlternateProcess">
            <a:avLst/>
          </a:prstGeom>
          <a:solidFill>
            <a:schemeClr val="folHlink"/>
          </a:solidFill>
          <a:ln w="9525" algn="ctr">
            <a:solidFill>
              <a:schemeClr val="tx1"/>
            </a:solidFill>
            <a:miter lim="800000"/>
            <a:headEnd/>
            <a:tailEnd/>
          </a:ln>
          <a:effectLst/>
        </p:spPr>
        <p:txBody>
          <a:bodyPr anchor="ctr"/>
          <a:lstStyle/>
          <a:p>
            <a:pPr algn="ctr"/>
            <a:r>
              <a:rPr lang="fi-FI">
                <a:solidFill>
                  <a:schemeClr val="bg1"/>
                </a:solidFill>
                <a:latin typeface="Arial Narrow" pitchFamily="34" charset="0"/>
              </a:rPr>
              <a:t>Osajärjestelmä:</a:t>
            </a:r>
          </a:p>
          <a:p>
            <a:pPr algn="ctr"/>
            <a:r>
              <a:rPr lang="fi-FI">
                <a:solidFill>
                  <a:schemeClr val="bg1"/>
                </a:solidFill>
                <a:latin typeface="Arial Narrow" pitchFamily="34" charset="0"/>
              </a:rPr>
              <a:t>omia jaettuja teknisiä osia</a:t>
            </a:r>
            <a:endParaRPr lang="en-US">
              <a:solidFill>
                <a:schemeClr val="bg1"/>
              </a:solidFill>
              <a:latin typeface="Arial Narrow" pitchFamily="34" charset="0"/>
            </a:endParaRPr>
          </a:p>
        </p:txBody>
      </p:sp>
      <p:sp>
        <p:nvSpPr>
          <p:cNvPr id="8203" name="AutoShape 11"/>
          <p:cNvSpPr>
            <a:spLocks noChangeArrowheads="1"/>
          </p:cNvSpPr>
          <p:nvPr/>
        </p:nvSpPr>
        <p:spPr bwMode="auto">
          <a:xfrm>
            <a:off x="106363" y="3859213"/>
            <a:ext cx="1728787" cy="1152525"/>
          </a:xfrm>
          <a:prstGeom prst="flowChartAlternateProcess">
            <a:avLst/>
          </a:prstGeom>
          <a:solidFill>
            <a:schemeClr val="accent1"/>
          </a:solidFill>
          <a:ln w="9525" algn="ctr">
            <a:solidFill>
              <a:schemeClr val="tx1"/>
            </a:solidFill>
            <a:miter lim="800000"/>
            <a:headEnd/>
            <a:tailEnd/>
          </a:ln>
          <a:effectLst/>
        </p:spPr>
        <p:txBody>
          <a:bodyPr anchor="ctr"/>
          <a:lstStyle/>
          <a:p>
            <a:pPr algn="ctr"/>
            <a:r>
              <a:rPr lang="fi-FI">
                <a:latin typeface="Arial Narrow" pitchFamily="34" charset="0"/>
              </a:rPr>
              <a:t>Osajärjestelmä:</a:t>
            </a:r>
          </a:p>
          <a:p>
            <a:pPr algn="ctr"/>
            <a:r>
              <a:rPr lang="fi-FI">
                <a:latin typeface="Arial Narrow" pitchFamily="34" charset="0"/>
              </a:rPr>
              <a:t>tekninen</a:t>
            </a:r>
            <a:endParaRPr lang="en-US">
              <a:latin typeface="Arial Narrow" pitchFamily="34" charset="0"/>
            </a:endParaRPr>
          </a:p>
        </p:txBody>
      </p:sp>
      <p:sp>
        <p:nvSpPr>
          <p:cNvPr id="8204" name="Oval 12"/>
          <p:cNvSpPr>
            <a:spLocks noChangeArrowheads="1"/>
          </p:cNvSpPr>
          <p:nvPr/>
        </p:nvSpPr>
        <p:spPr bwMode="auto">
          <a:xfrm>
            <a:off x="179388" y="2565400"/>
            <a:ext cx="1584325" cy="792163"/>
          </a:xfrm>
          <a:prstGeom prst="ellipse">
            <a:avLst/>
          </a:prstGeom>
          <a:solidFill>
            <a:schemeClr val="accent1"/>
          </a:solidFill>
          <a:ln w="9525" algn="ctr">
            <a:solidFill>
              <a:schemeClr val="tx1"/>
            </a:solidFill>
            <a:round/>
            <a:headEnd/>
            <a:tailEnd/>
          </a:ln>
          <a:effectLst/>
        </p:spPr>
        <p:txBody>
          <a:bodyPr wrap="none" anchor="ctr"/>
          <a:lstStyle/>
          <a:p>
            <a:pPr algn="ctr"/>
            <a:r>
              <a:rPr lang="fi-FI">
                <a:latin typeface="Arial Narrow" pitchFamily="34" charset="0"/>
              </a:rPr>
              <a:t>Projekti</a:t>
            </a:r>
            <a:endParaRPr lang="en-US">
              <a:latin typeface="Arial Narrow" pitchFamily="34" charset="0"/>
            </a:endParaRPr>
          </a:p>
        </p:txBody>
      </p:sp>
      <p:cxnSp>
        <p:nvCxnSpPr>
          <p:cNvPr id="8205" name="AutoShape 13"/>
          <p:cNvCxnSpPr>
            <a:cxnSpLocks noChangeShapeType="1"/>
            <a:stCxn id="8204" idx="4"/>
            <a:endCxn id="8203" idx="0"/>
          </p:cNvCxnSpPr>
          <p:nvPr/>
        </p:nvCxnSpPr>
        <p:spPr bwMode="auto">
          <a:xfrm rot="5400000">
            <a:off x="720725" y="3608388"/>
            <a:ext cx="501650" cy="0"/>
          </a:xfrm>
          <a:prstGeom prst="straightConnector1">
            <a:avLst/>
          </a:prstGeom>
          <a:noFill/>
          <a:ln w="9525">
            <a:solidFill>
              <a:schemeClr val="tx1"/>
            </a:solidFill>
            <a:round/>
            <a:headEnd/>
            <a:tailEnd type="triangle" w="med" len="med"/>
          </a:ln>
          <a:effectLst/>
        </p:spPr>
      </p:cxnSp>
      <p:cxnSp>
        <p:nvCxnSpPr>
          <p:cNvPr id="8206" name="AutoShape 14"/>
          <p:cNvCxnSpPr>
            <a:cxnSpLocks noChangeShapeType="1"/>
            <a:stCxn id="8198" idx="4"/>
            <a:endCxn id="8196" idx="0"/>
          </p:cNvCxnSpPr>
          <p:nvPr/>
        </p:nvCxnSpPr>
        <p:spPr bwMode="auto">
          <a:xfrm rot="5400000">
            <a:off x="2520950" y="3608388"/>
            <a:ext cx="501650" cy="0"/>
          </a:xfrm>
          <a:prstGeom prst="straightConnector1">
            <a:avLst/>
          </a:prstGeom>
          <a:noFill/>
          <a:ln w="9525">
            <a:solidFill>
              <a:schemeClr val="tx1"/>
            </a:solidFill>
            <a:round/>
            <a:headEnd/>
            <a:tailEnd type="triangle" w="med" len="med"/>
          </a:ln>
          <a:effectLst/>
        </p:spPr>
      </p:cxnSp>
      <p:cxnSp>
        <p:nvCxnSpPr>
          <p:cNvPr id="8207" name="AutoShape 15"/>
          <p:cNvCxnSpPr>
            <a:cxnSpLocks noChangeShapeType="1"/>
            <a:stCxn id="8199" idx="4"/>
            <a:endCxn id="8197" idx="0"/>
          </p:cNvCxnSpPr>
          <p:nvPr/>
        </p:nvCxnSpPr>
        <p:spPr bwMode="auto">
          <a:xfrm rot="5400000">
            <a:off x="4321175" y="3608388"/>
            <a:ext cx="501650" cy="0"/>
          </a:xfrm>
          <a:prstGeom prst="straightConnector1">
            <a:avLst/>
          </a:prstGeom>
          <a:noFill/>
          <a:ln w="9525">
            <a:solidFill>
              <a:schemeClr val="tx1"/>
            </a:solidFill>
            <a:round/>
            <a:headEnd/>
            <a:tailEnd type="triangle" w="med" len="med"/>
          </a:ln>
          <a:effectLst/>
        </p:spPr>
      </p:cxnSp>
      <p:sp>
        <p:nvSpPr>
          <p:cNvPr id="8208" name="Rectangle 16"/>
          <p:cNvSpPr>
            <a:spLocks noChangeArrowheads="1"/>
          </p:cNvSpPr>
          <p:nvPr/>
        </p:nvSpPr>
        <p:spPr bwMode="auto">
          <a:xfrm>
            <a:off x="179388" y="1341438"/>
            <a:ext cx="5184775" cy="576262"/>
          </a:xfrm>
          <a:prstGeom prst="rect">
            <a:avLst/>
          </a:prstGeom>
          <a:solidFill>
            <a:srgbClr val="FFCC66"/>
          </a:solidFill>
          <a:ln w="9525" algn="ctr">
            <a:solidFill>
              <a:schemeClr val="tx1"/>
            </a:solidFill>
            <a:miter lim="800000"/>
            <a:headEnd/>
            <a:tailEnd/>
          </a:ln>
          <a:effectLst/>
        </p:spPr>
        <p:txBody>
          <a:bodyPr wrap="none" anchor="ctr"/>
          <a:lstStyle/>
          <a:p>
            <a:pPr algn="ctr"/>
            <a:r>
              <a:rPr lang="fi-FI">
                <a:latin typeface="Arial Narrow" pitchFamily="34" charset="0"/>
              </a:rPr>
              <a:t>Hanke</a:t>
            </a:r>
            <a:endParaRPr lang="en-US">
              <a:latin typeface="Arial Narrow" pitchFamily="34" charset="0"/>
            </a:endParaRPr>
          </a:p>
        </p:txBody>
      </p:sp>
      <p:sp>
        <p:nvSpPr>
          <p:cNvPr id="8210" name="Rectangle 18"/>
          <p:cNvSpPr>
            <a:spLocks noChangeArrowheads="1"/>
          </p:cNvSpPr>
          <p:nvPr/>
        </p:nvSpPr>
        <p:spPr bwMode="auto">
          <a:xfrm>
            <a:off x="179388" y="2060575"/>
            <a:ext cx="3384550" cy="288925"/>
          </a:xfrm>
          <a:prstGeom prst="rect">
            <a:avLst/>
          </a:prstGeom>
          <a:solidFill>
            <a:srgbClr val="FFCC66"/>
          </a:solidFill>
          <a:ln w="9525" algn="ctr">
            <a:solidFill>
              <a:schemeClr val="tx1"/>
            </a:solidFill>
            <a:miter lim="800000"/>
            <a:headEnd/>
            <a:tailEnd/>
          </a:ln>
          <a:effectLst/>
        </p:spPr>
        <p:txBody>
          <a:bodyPr wrap="none" anchor="ctr"/>
          <a:lstStyle/>
          <a:p>
            <a:pPr algn="ctr"/>
            <a:r>
              <a:rPr lang="fi-FI">
                <a:latin typeface="Arial Narrow" pitchFamily="34" charset="0"/>
              </a:rPr>
              <a:t>Projekti</a:t>
            </a:r>
            <a:endParaRPr lang="en-US">
              <a:latin typeface="Arial Narrow" pitchFamily="34" charset="0"/>
            </a:endParaRPr>
          </a:p>
        </p:txBody>
      </p:sp>
      <p:sp>
        <p:nvSpPr>
          <p:cNvPr id="8211" name="Rectangle 19"/>
          <p:cNvSpPr>
            <a:spLocks noChangeArrowheads="1"/>
          </p:cNvSpPr>
          <p:nvPr/>
        </p:nvSpPr>
        <p:spPr bwMode="auto">
          <a:xfrm>
            <a:off x="3708400" y="2060575"/>
            <a:ext cx="792163" cy="288925"/>
          </a:xfrm>
          <a:prstGeom prst="rect">
            <a:avLst/>
          </a:prstGeom>
          <a:solidFill>
            <a:srgbClr val="FFCC66"/>
          </a:solidFill>
          <a:ln w="9525" algn="ctr">
            <a:solidFill>
              <a:schemeClr val="tx1"/>
            </a:solidFill>
            <a:miter lim="800000"/>
            <a:headEnd/>
            <a:tailEnd/>
          </a:ln>
          <a:effectLst/>
        </p:spPr>
        <p:txBody>
          <a:bodyPr wrap="none" anchor="ctr"/>
          <a:lstStyle/>
          <a:p>
            <a:pPr algn="ctr"/>
            <a:r>
              <a:rPr lang="fi-FI">
                <a:latin typeface="Arial Narrow" pitchFamily="34" charset="0"/>
              </a:rPr>
              <a:t>Projekti</a:t>
            </a:r>
            <a:endParaRPr lang="en-US">
              <a:latin typeface="Arial Narrow" pitchFamily="34" charset="0"/>
            </a:endParaRPr>
          </a:p>
        </p:txBody>
      </p:sp>
      <p:sp>
        <p:nvSpPr>
          <p:cNvPr id="8212" name="Rectangle 20"/>
          <p:cNvSpPr>
            <a:spLocks noChangeArrowheads="1"/>
          </p:cNvSpPr>
          <p:nvPr/>
        </p:nvSpPr>
        <p:spPr bwMode="auto">
          <a:xfrm>
            <a:off x="4572000" y="2060575"/>
            <a:ext cx="792163" cy="288925"/>
          </a:xfrm>
          <a:prstGeom prst="rect">
            <a:avLst/>
          </a:prstGeom>
          <a:solidFill>
            <a:srgbClr val="FFCC66"/>
          </a:solidFill>
          <a:ln w="9525" algn="ctr">
            <a:solidFill>
              <a:schemeClr val="tx1"/>
            </a:solidFill>
            <a:miter lim="800000"/>
            <a:headEnd/>
            <a:tailEnd/>
          </a:ln>
          <a:effectLst/>
        </p:spPr>
        <p:txBody>
          <a:bodyPr wrap="none" anchor="ctr"/>
          <a:lstStyle/>
          <a:p>
            <a:pPr algn="ctr"/>
            <a:r>
              <a:rPr lang="fi-FI">
                <a:latin typeface="Arial Narrow" pitchFamily="34" charset="0"/>
              </a:rPr>
              <a:t>Projekti</a:t>
            </a:r>
            <a:endParaRPr lang="en-US">
              <a:latin typeface="Arial Narrow" pitchFamily="34" charset="0"/>
            </a:endParaRPr>
          </a:p>
        </p:txBody>
      </p:sp>
      <p:sp>
        <p:nvSpPr>
          <p:cNvPr id="8213" name="Text Box 21"/>
          <p:cNvSpPr txBox="1">
            <a:spLocks noChangeArrowheads="1"/>
          </p:cNvSpPr>
          <p:nvPr/>
        </p:nvSpPr>
        <p:spPr bwMode="auto">
          <a:xfrm>
            <a:off x="5580063" y="1557338"/>
            <a:ext cx="1657350" cy="641350"/>
          </a:xfrm>
          <a:prstGeom prst="rect">
            <a:avLst/>
          </a:prstGeom>
          <a:noFill/>
          <a:ln w="9525" algn="ctr">
            <a:noFill/>
            <a:miter lim="800000"/>
            <a:headEnd/>
            <a:tailEnd/>
          </a:ln>
          <a:effectLst/>
        </p:spPr>
        <p:txBody>
          <a:bodyPr>
            <a:spAutoFit/>
          </a:bodyPr>
          <a:lstStyle/>
          <a:p>
            <a:pPr algn="ctr">
              <a:spcBef>
                <a:spcPct val="50000"/>
              </a:spcBef>
            </a:pPr>
            <a:r>
              <a:rPr lang="fi-FI" dirty="0" smtClean="0">
                <a:latin typeface="Arial Narrow" pitchFamily="34" charset="0"/>
              </a:rPr>
              <a:t>Asiakkaan organisoituminen</a:t>
            </a:r>
            <a:endParaRPr lang="en-US" dirty="0">
              <a:latin typeface="Arial Narrow" pitchFamily="34" charset="0"/>
            </a:endParaRPr>
          </a:p>
        </p:txBody>
      </p:sp>
      <p:sp>
        <p:nvSpPr>
          <p:cNvPr id="8214" name="Text Box 22"/>
          <p:cNvSpPr txBox="1">
            <a:spLocks noChangeArrowheads="1"/>
          </p:cNvSpPr>
          <p:nvPr/>
        </p:nvSpPr>
        <p:spPr bwMode="auto">
          <a:xfrm>
            <a:off x="5651500" y="2643188"/>
            <a:ext cx="1657350" cy="641350"/>
          </a:xfrm>
          <a:prstGeom prst="rect">
            <a:avLst/>
          </a:prstGeom>
          <a:noFill/>
          <a:ln w="9525" algn="ctr">
            <a:noFill/>
            <a:miter lim="800000"/>
            <a:headEnd/>
            <a:tailEnd/>
          </a:ln>
          <a:effectLst/>
        </p:spPr>
        <p:txBody>
          <a:bodyPr>
            <a:spAutoFit/>
          </a:bodyPr>
          <a:lstStyle/>
          <a:p>
            <a:pPr algn="ctr">
              <a:spcBef>
                <a:spcPct val="50000"/>
              </a:spcBef>
            </a:pPr>
            <a:r>
              <a:rPr lang="fi-FI">
                <a:latin typeface="Arial Narrow" pitchFamily="34" charset="0"/>
              </a:rPr>
              <a:t>Toimittajien organisoituminen</a:t>
            </a:r>
            <a:endParaRPr lang="en-US">
              <a:latin typeface="Arial Narrow" pitchFamily="34" charset="0"/>
            </a:endParaRPr>
          </a:p>
        </p:txBody>
      </p:sp>
      <p:sp>
        <p:nvSpPr>
          <p:cNvPr id="8215" name="Text Box 23"/>
          <p:cNvSpPr txBox="1">
            <a:spLocks noChangeArrowheads="1"/>
          </p:cNvSpPr>
          <p:nvPr/>
        </p:nvSpPr>
        <p:spPr bwMode="auto">
          <a:xfrm>
            <a:off x="6372225" y="188913"/>
            <a:ext cx="2663825" cy="1190625"/>
          </a:xfrm>
          <a:prstGeom prst="rect">
            <a:avLst/>
          </a:prstGeom>
          <a:solidFill>
            <a:schemeClr val="hlink"/>
          </a:solidFill>
          <a:ln w="9525" algn="ctr">
            <a:noFill/>
            <a:miter lim="800000"/>
            <a:headEnd/>
            <a:tailEnd/>
          </a:ln>
          <a:effectLst>
            <a:outerShdw dist="107763" dir="18900000" algn="ctr" rotWithShape="0">
              <a:srgbClr val="808080">
                <a:alpha val="50000"/>
              </a:srgbClr>
            </a:outerShdw>
          </a:effectLst>
        </p:spPr>
        <p:txBody>
          <a:bodyPr>
            <a:spAutoFit/>
          </a:bodyPr>
          <a:lstStyle/>
          <a:p>
            <a:pPr algn="ctr">
              <a:spcBef>
                <a:spcPct val="50000"/>
              </a:spcBef>
            </a:pPr>
            <a:r>
              <a:rPr lang="fi-FI" dirty="0">
                <a:solidFill>
                  <a:schemeClr val="bg1"/>
                </a:solidFill>
                <a:latin typeface="Arial Narrow" pitchFamily="34" charset="0"/>
              </a:rPr>
              <a:t>Käytön ja järjestelmän laatutiedon (testaus) kannalta </a:t>
            </a:r>
            <a:r>
              <a:rPr lang="fi-FI" dirty="0" smtClean="0">
                <a:solidFill>
                  <a:schemeClr val="bg1"/>
                </a:solidFill>
                <a:latin typeface="Arial Narrow" pitchFamily="34" charset="0"/>
              </a:rPr>
              <a:t>merkityksellinen </a:t>
            </a:r>
            <a:r>
              <a:rPr lang="fi-FI" dirty="0">
                <a:solidFill>
                  <a:schemeClr val="bg1"/>
                </a:solidFill>
                <a:latin typeface="Arial Narrow" pitchFamily="34" charset="0"/>
              </a:rPr>
              <a:t>on kaikkien osajärjestelmien yhdistelmä</a:t>
            </a:r>
            <a:endParaRPr lang="en-US" dirty="0">
              <a:solidFill>
                <a:schemeClr val="bg1"/>
              </a:solidFill>
              <a:latin typeface="Arial Narrow" pitchFamily="34" charset="0"/>
            </a:endParaRPr>
          </a:p>
        </p:txBody>
      </p:sp>
      <p:sp>
        <p:nvSpPr>
          <p:cNvPr id="8217" name="AutoShape 25"/>
          <p:cNvSpPr>
            <a:spLocks noChangeArrowheads="1"/>
          </p:cNvSpPr>
          <p:nvPr/>
        </p:nvSpPr>
        <p:spPr bwMode="auto">
          <a:xfrm>
            <a:off x="4572000" y="5084763"/>
            <a:ext cx="1728788" cy="1152525"/>
          </a:xfrm>
          <a:prstGeom prst="flowChartAlternateProcess">
            <a:avLst/>
          </a:prstGeom>
          <a:solidFill>
            <a:schemeClr val="folHlink"/>
          </a:solidFill>
          <a:ln w="9525" algn="ctr">
            <a:solidFill>
              <a:schemeClr val="tx1"/>
            </a:solidFill>
            <a:miter lim="800000"/>
            <a:headEnd/>
            <a:tailEnd/>
          </a:ln>
          <a:effectLst/>
        </p:spPr>
        <p:txBody>
          <a:bodyPr anchor="ctr"/>
          <a:lstStyle/>
          <a:p>
            <a:pPr algn="ctr"/>
            <a:r>
              <a:rPr lang="fi-FI">
                <a:solidFill>
                  <a:schemeClr val="bg1"/>
                </a:solidFill>
                <a:latin typeface="Arial Narrow" pitchFamily="34" charset="0"/>
              </a:rPr>
              <a:t>Osajärjestelmä:</a:t>
            </a:r>
          </a:p>
          <a:p>
            <a:pPr algn="ctr"/>
            <a:r>
              <a:rPr lang="fi-FI">
                <a:solidFill>
                  <a:schemeClr val="bg1"/>
                </a:solidFill>
                <a:latin typeface="Arial Narrow" pitchFamily="34" charset="0"/>
              </a:rPr>
              <a:t>kolmannen osapuolen osat</a:t>
            </a:r>
            <a:endParaRPr lang="en-US">
              <a:solidFill>
                <a:schemeClr val="bg1"/>
              </a:solidFill>
              <a:latin typeface="Arial Narrow" pitchFamily="34" charset="0"/>
            </a:endParaRPr>
          </a:p>
        </p:txBody>
      </p:sp>
      <p:sp>
        <p:nvSpPr>
          <p:cNvPr id="24" name="Explosion 1 23"/>
          <p:cNvSpPr/>
          <p:nvPr/>
        </p:nvSpPr>
        <p:spPr>
          <a:xfrm>
            <a:off x="2285984" y="5357826"/>
            <a:ext cx="1928826" cy="857256"/>
          </a:xfrm>
          <a:prstGeom prst="irregularSeal1">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fi-FI" dirty="0" smtClean="0"/>
              <a:t>Ylläpito</a:t>
            </a:r>
            <a:endParaRPr lang="fi-FI" dirty="0"/>
          </a:p>
        </p:txBody>
      </p:sp>
      <p:sp>
        <p:nvSpPr>
          <p:cNvPr id="25" name="Slide Number Placeholder 24"/>
          <p:cNvSpPr>
            <a:spLocks noGrp="1"/>
          </p:cNvSpPr>
          <p:nvPr>
            <p:ph type="sldNum" sz="quarter" idx="12"/>
          </p:nvPr>
        </p:nvSpPr>
        <p:spPr/>
        <p:txBody>
          <a:bodyPr/>
          <a:lstStyle/>
          <a:p>
            <a:fld id="{7A750B4A-325E-4AA4-BC07-A8C35B32A4F3}" type="slidenum">
              <a:rPr lang="fi-FI" smtClean="0"/>
              <a:pPr/>
              <a:t>49</a:t>
            </a:fld>
            <a:endParaRPr lang="fi-FI"/>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20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2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2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2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2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19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19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2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2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2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19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19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20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20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20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820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21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16" grpId="0" animBg="1"/>
      <p:bldP spid="8196" grpId="0" animBg="1"/>
      <p:bldP spid="8197" grpId="0" animBg="1"/>
      <p:bldP spid="8198" grpId="0" animBg="1"/>
      <p:bldP spid="8199" grpId="0" animBg="1"/>
      <p:bldP spid="8200" grpId="0" animBg="1"/>
      <p:bldP spid="8201" grpId="0" animBg="1"/>
      <p:bldP spid="8202" grpId="0" animBg="1"/>
      <p:bldP spid="8203" grpId="0" animBg="1"/>
      <p:bldP spid="8204" grpId="0" animBg="1"/>
      <p:bldP spid="8208" grpId="0" animBg="1"/>
      <p:bldP spid="8210" grpId="0" animBg="1"/>
      <p:bldP spid="8211" grpId="0" animBg="1"/>
      <p:bldP spid="8212" grpId="0" animBg="1"/>
      <p:bldP spid="8213" grpId="0"/>
      <p:bldP spid="8214" grpId="0"/>
      <p:bldP spid="8217" grpId="0" animBg="1"/>
      <p:bldP spid="24"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normAutofit fontScale="90000"/>
          </a:bodyPr>
          <a:lstStyle/>
          <a:p>
            <a:r>
              <a:rPr lang="fi-FI" dirty="0"/>
              <a:t>Keskeinen näkökulmaero: </a:t>
            </a:r>
            <a:r>
              <a:rPr lang="fi-FI" dirty="0" smtClean="0"/>
              <a:t/>
            </a:r>
            <a:br>
              <a:rPr lang="fi-FI" dirty="0" smtClean="0"/>
            </a:br>
            <a:r>
              <a:rPr lang="fi-FI" dirty="0" smtClean="0"/>
              <a:t>testaus </a:t>
            </a:r>
            <a:r>
              <a:rPr lang="fi-FI" dirty="0"/>
              <a:t>vs. projekti</a:t>
            </a:r>
            <a:endParaRPr lang="en-US" dirty="0"/>
          </a:p>
        </p:txBody>
      </p:sp>
      <p:sp>
        <p:nvSpPr>
          <p:cNvPr id="46083" name="Rectangle 3"/>
          <p:cNvSpPr>
            <a:spLocks noGrp="1" noChangeArrowheads="1"/>
          </p:cNvSpPr>
          <p:nvPr>
            <p:ph type="body" idx="1"/>
          </p:nvPr>
        </p:nvSpPr>
        <p:spPr/>
        <p:txBody>
          <a:bodyPr/>
          <a:lstStyle/>
          <a:p>
            <a:r>
              <a:rPr lang="fi-FI" sz="2400" dirty="0"/>
              <a:t>Projekti on työkokonaisuus: ”näitä tehtäviä näihin tarkoituksiin”</a:t>
            </a:r>
          </a:p>
          <a:p>
            <a:r>
              <a:rPr lang="fi-FI" sz="2400" dirty="0"/>
              <a:t>Testaus katsoo projektin </a:t>
            </a:r>
            <a:r>
              <a:rPr lang="fi-FI" sz="2400" dirty="0" err="1" smtClean="0"/>
              <a:t>tuotantoonsiirtyvää</a:t>
            </a:r>
            <a:r>
              <a:rPr lang="fi-FI" sz="2400" dirty="0" smtClean="0"/>
              <a:t> lopputulosta </a:t>
            </a:r>
            <a:r>
              <a:rPr lang="fi-FI" sz="2400" dirty="0"/>
              <a:t>riippumatta mistä työkokonaisuudesta ne ovat peräisin</a:t>
            </a:r>
          </a:p>
          <a:p>
            <a:pPr marL="692150" lvl="1" indent="-347663"/>
            <a:r>
              <a:rPr lang="fi-FI" sz="2000" dirty="0"/>
              <a:t>Toimitushetken tarkoituksenmukainen tila ohjaa testausta</a:t>
            </a:r>
          </a:p>
          <a:p>
            <a:pPr marL="692150" lvl="1" indent="-347663"/>
            <a:r>
              <a:rPr lang="fi-FI" sz="2000" dirty="0"/>
              <a:t>Askel askeleelta varmistutaan ja rakennetaan lopputilaa ja tietoa sen laadusta</a:t>
            </a:r>
            <a:endParaRPr lang="en-US" sz="2000" b="1" dirty="0"/>
          </a:p>
        </p:txBody>
      </p:sp>
      <p:sp>
        <p:nvSpPr>
          <p:cNvPr id="46084" name="Rectangle 4"/>
          <p:cNvSpPr>
            <a:spLocks noChangeArrowheads="1"/>
          </p:cNvSpPr>
          <p:nvPr/>
        </p:nvSpPr>
        <p:spPr bwMode="auto">
          <a:xfrm>
            <a:off x="539553" y="4284248"/>
            <a:ext cx="8064698" cy="2097080"/>
          </a:xfrm>
          <a:prstGeom prst="rect">
            <a:avLst/>
          </a:prstGeom>
          <a:solidFill>
            <a:schemeClr val="bg2"/>
          </a:solidFill>
          <a:ln w="9525">
            <a:solidFill>
              <a:schemeClr val="tx1"/>
            </a:solidFill>
            <a:miter lim="800000"/>
            <a:headEnd/>
            <a:tailEnd/>
          </a:ln>
          <a:effectLst/>
        </p:spPr>
        <p:txBody>
          <a:bodyPr anchor="ctr"/>
          <a:lstStyle/>
          <a:p>
            <a:pPr algn="ctr" eaLnBrk="1" hangingPunct="1"/>
            <a:r>
              <a:rPr lang="fi-FI" b="1"/>
              <a:t>Projektinhallinnan näkökulmasta voidaan sanoa että ”muutos X tehdään rinnakkaisessa projektissa, ei kuulu meidän töihin”. Testauksen kannalta rinnakkaisen projektin tuotoksen on oltava saatavilla toimitushetkellä ja laatutiedon on oltava kokonaisuuden laadusta. Toisen projektin tuloksia saa ja pitää käyttää hyödyksi, mutta ajoitukset (kumpi on ”valmis” ensin) muuttavat vastuun kantamista testausmielessä.</a:t>
            </a:r>
            <a:endParaRPr lang="en-US" b="1"/>
          </a:p>
        </p:txBody>
      </p:sp>
      <p:sp>
        <p:nvSpPr>
          <p:cNvPr id="5" name="Slide Number Placeholder 4"/>
          <p:cNvSpPr>
            <a:spLocks noGrp="1"/>
          </p:cNvSpPr>
          <p:nvPr>
            <p:ph type="sldNum" sz="quarter" idx="12"/>
          </p:nvPr>
        </p:nvSpPr>
        <p:spPr/>
        <p:txBody>
          <a:bodyPr/>
          <a:lstStyle/>
          <a:p>
            <a:fld id="{7A750B4A-325E-4AA4-BC07-A8C35B32A4F3}" type="slidenum">
              <a:rPr lang="fi-FI" smtClean="0"/>
              <a:pPr/>
              <a:t>50</a:t>
            </a:fld>
            <a:endParaRPr lang="fi-FI"/>
          </a:p>
        </p:txBody>
      </p:sp>
    </p:spTree>
  </p:cSld>
  <p:clrMapOvr>
    <a:masterClrMapping/>
  </p:clrMapOvr>
  <p:timing>
    <p:tnLst>
      <p:par>
        <p:cTn xmlns:p14="http://schemas.microsoft.com/office/powerpoint/2010/mai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Huomaa: monentasoista hyväksyntää</a:t>
            </a:r>
            <a:endParaRPr lang="fi-FI" dirty="0"/>
          </a:p>
        </p:txBody>
      </p:sp>
      <p:sp>
        <p:nvSpPr>
          <p:cNvPr id="3" name="Content Placeholder 2"/>
          <p:cNvSpPr>
            <a:spLocks noGrp="1"/>
          </p:cNvSpPr>
          <p:nvPr>
            <p:ph idx="1"/>
          </p:nvPr>
        </p:nvSpPr>
        <p:spPr/>
        <p:txBody>
          <a:bodyPr>
            <a:normAutofit fontScale="92500" lnSpcReduction="10000"/>
          </a:bodyPr>
          <a:lstStyle/>
          <a:p>
            <a:r>
              <a:rPr lang="fi-FI" dirty="0" smtClean="0"/>
              <a:t>Ostokomponentit – niiden hyväksyntä osaksi järjestelmää</a:t>
            </a:r>
          </a:p>
          <a:p>
            <a:pPr lvl="1">
              <a:buNone/>
            </a:pPr>
            <a:r>
              <a:rPr lang="fi-FI" dirty="0" smtClean="0">
                <a:sym typeface="Wingdings" pitchFamily="2" charset="2"/>
              </a:rPr>
              <a:t> osa integrointitestaustasoa</a:t>
            </a:r>
          </a:p>
          <a:p>
            <a:r>
              <a:rPr lang="fi-FI" dirty="0" smtClean="0">
                <a:sym typeface="Wingdings" pitchFamily="2" charset="2"/>
              </a:rPr>
              <a:t>Ostosovellukset / räätälöidyt sovellukset – niiden hyväksyntä osaksi järjestelmää ja käyttöympäristöä</a:t>
            </a:r>
          </a:p>
          <a:p>
            <a:pPr lvl="1">
              <a:buNone/>
            </a:pPr>
            <a:r>
              <a:rPr lang="fi-FI" dirty="0" smtClean="0">
                <a:sym typeface="Wingdings" pitchFamily="2" charset="2"/>
              </a:rPr>
              <a:t> osa järjestelmätestaustasoa</a:t>
            </a:r>
          </a:p>
          <a:p>
            <a:r>
              <a:rPr lang="fi-FI" dirty="0" smtClean="0">
                <a:sym typeface="Wingdings" pitchFamily="2" charset="2"/>
              </a:rPr>
              <a:t>Käytettävän kokonaisuuden hyväksyntä tuotantoon</a:t>
            </a:r>
          </a:p>
          <a:p>
            <a:pPr lvl="1">
              <a:buNone/>
            </a:pPr>
            <a:r>
              <a:rPr lang="fi-FI" dirty="0" smtClean="0">
                <a:sym typeface="Wingdings" pitchFamily="2" charset="2"/>
              </a:rPr>
              <a:t> perinteinen hyväksymistestaustaso</a:t>
            </a:r>
            <a:endParaRPr lang="fi-FI"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51</a:t>
            </a:fld>
            <a:endParaRPr lang="fi-FI"/>
          </a:p>
        </p:txBody>
      </p:sp>
    </p:spTree>
  </p:cSld>
  <p:clrMapOvr>
    <a:masterClrMapping/>
  </p:clrMapOvr>
  <p:timing>
    <p:tnLst>
      <p:par>
        <p:cTn xmlns:p14="http://schemas.microsoft.com/office/powerpoint/2010/mai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p:cNvSpPr>
            <a:spLocks noGrp="1"/>
          </p:cNvSpPr>
          <p:nvPr>
            <p:ph type="title"/>
          </p:nvPr>
        </p:nvSpPr>
        <p:spPr/>
        <p:txBody>
          <a:bodyPr>
            <a:normAutofit fontScale="90000"/>
          </a:bodyPr>
          <a:lstStyle/>
          <a:p>
            <a:r>
              <a:rPr lang="fi-FI" dirty="0" smtClean="0"/>
              <a:t>Kokonaisvastuu järjestelmästä saattaa olla asiakkaalla itsellään</a:t>
            </a:r>
            <a:endParaRPr lang="fi-FI" dirty="0"/>
          </a:p>
        </p:txBody>
      </p:sp>
      <p:grpSp>
        <p:nvGrpSpPr>
          <p:cNvPr id="3" name="Ryhmä 2"/>
          <p:cNvGrpSpPr/>
          <p:nvPr/>
        </p:nvGrpSpPr>
        <p:grpSpPr>
          <a:xfrm>
            <a:off x="205556" y="1504056"/>
            <a:ext cx="6234112" cy="1484783"/>
            <a:chOff x="526728" y="2190074"/>
            <a:chExt cx="6234112" cy="1836204"/>
          </a:xfrm>
        </p:grpSpPr>
        <p:sp>
          <p:nvSpPr>
            <p:cNvPr id="4" name="Suorakulmio 3"/>
            <p:cNvSpPr/>
            <p:nvPr/>
          </p:nvSpPr>
          <p:spPr>
            <a:xfrm>
              <a:off x="526728" y="2190074"/>
              <a:ext cx="6234112" cy="1836204"/>
            </a:xfrm>
            <a:prstGeom prst="rect">
              <a:avLst/>
            </a:prstGeom>
          </p:spPr>
          <p:style>
            <a:lnRef idx="2">
              <a:schemeClr val="dk1"/>
            </a:lnRef>
            <a:fillRef idx="1">
              <a:schemeClr val="lt1"/>
            </a:fillRef>
            <a:effectRef idx="0">
              <a:schemeClr val="dk1"/>
            </a:effectRef>
            <a:fontRef idx="minor">
              <a:schemeClr val="dk1"/>
            </a:fontRef>
          </p:style>
          <p:txBody>
            <a:bodyPr rtlCol="0" anchor="b" anchorCtr="0"/>
            <a:lstStyle/>
            <a:p>
              <a:r>
                <a:rPr lang="fi-FI" sz="1600" b="1" i="1" dirty="0" smtClean="0"/>
                <a:t>Tavoiteltu kokonaisuus </a:t>
              </a:r>
              <a:endParaRPr lang="fi-FI" sz="1600" b="1" i="1" dirty="0"/>
            </a:p>
          </p:txBody>
        </p:sp>
        <p:sp>
          <p:nvSpPr>
            <p:cNvPr id="5" name="Tekstiruutu 4"/>
            <p:cNvSpPr txBox="1"/>
            <p:nvPr/>
          </p:nvSpPr>
          <p:spPr>
            <a:xfrm>
              <a:off x="2920008" y="2418674"/>
              <a:ext cx="3459832" cy="954107"/>
            </a:xfrm>
            <a:prstGeom prst="rect">
              <a:avLst/>
            </a:prstGeom>
            <a:noFill/>
          </p:spPr>
          <p:txBody>
            <a:bodyPr wrap="square" rtlCol="0">
              <a:spAutoFit/>
            </a:bodyPr>
            <a:lstStyle/>
            <a:p>
              <a:pPr algn="ctr"/>
              <a:r>
                <a:rPr lang="fi-FI" sz="2800" b="1" dirty="0" smtClean="0">
                  <a:solidFill>
                    <a:schemeClr val="tx2"/>
                  </a:solidFill>
                </a:rPr>
                <a:t>”Tarjouspyynnön kohde”</a:t>
              </a:r>
              <a:endParaRPr lang="fi-FI" sz="2800" b="1" dirty="0">
                <a:solidFill>
                  <a:schemeClr val="tx2"/>
                </a:solidFill>
              </a:endParaRPr>
            </a:p>
          </p:txBody>
        </p:sp>
      </p:grpSp>
      <p:grpSp>
        <p:nvGrpSpPr>
          <p:cNvPr id="6" name="Ryhmä 5"/>
          <p:cNvGrpSpPr/>
          <p:nvPr/>
        </p:nvGrpSpPr>
        <p:grpSpPr>
          <a:xfrm>
            <a:off x="218380" y="3911984"/>
            <a:ext cx="6234112" cy="731182"/>
            <a:chOff x="545608" y="2288619"/>
            <a:chExt cx="6234112" cy="1836204"/>
          </a:xfrm>
        </p:grpSpPr>
        <p:sp>
          <p:nvSpPr>
            <p:cNvPr id="7" name="Suorakulmio 6"/>
            <p:cNvSpPr/>
            <p:nvPr/>
          </p:nvSpPr>
          <p:spPr>
            <a:xfrm>
              <a:off x="545608" y="2288619"/>
              <a:ext cx="6234112" cy="1836204"/>
            </a:xfrm>
            <a:prstGeom prst="rect">
              <a:avLst/>
            </a:prstGeom>
          </p:spPr>
          <p:style>
            <a:lnRef idx="2">
              <a:schemeClr val="accent3"/>
            </a:lnRef>
            <a:fillRef idx="1">
              <a:schemeClr val="lt1"/>
            </a:fillRef>
            <a:effectRef idx="0">
              <a:schemeClr val="accent3"/>
            </a:effectRef>
            <a:fontRef idx="minor">
              <a:schemeClr val="dk1"/>
            </a:fontRef>
          </p:style>
          <p:txBody>
            <a:bodyPr rtlCol="0" anchor="b" anchorCtr="0"/>
            <a:lstStyle/>
            <a:p>
              <a:r>
                <a:rPr lang="fi-FI" sz="1600" b="1" i="1" dirty="0" smtClean="0"/>
                <a:t>Taustat palveluväylälle</a:t>
              </a:r>
              <a:endParaRPr lang="fi-FI" sz="1600" b="1" i="1" dirty="0"/>
            </a:p>
          </p:txBody>
        </p:sp>
        <p:sp>
          <p:nvSpPr>
            <p:cNvPr id="8" name="Tekstiruutu 7"/>
            <p:cNvSpPr txBox="1"/>
            <p:nvPr/>
          </p:nvSpPr>
          <p:spPr>
            <a:xfrm>
              <a:off x="3642696" y="2289413"/>
              <a:ext cx="3023592" cy="1313953"/>
            </a:xfrm>
            <a:prstGeom prst="rect">
              <a:avLst/>
            </a:prstGeom>
            <a:noFill/>
          </p:spPr>
          <p:txBody>
            <a:bodyPr wrap="square" rtlCol="0">
              <a:spAutoFit/>
            </a:bodyPr>
            <a:lstStyle/>
            <a:p>
              <a:pPr algn="ctr"/>
              <a:r>
                <a:rPr lang="fi-FI" sz="2800" b="1" dirty="0" smtClean="0">
                  <a:solidFill>
                    <a:schemeClr val="tx2"/>
                  </a:solidFill>
                </a:rPr>
                <a:t>”Integraatiot”</a:t>
              </a:r>
              <a:endParaRPr lang="fi-FI" sz="2800" b="1" dirty="0">
                <a:solidFill>
                  <a:schemeClr val="tx2"/>
                </a:solidFill>
              </a:endParaRPr>
            </a:p>
          </p:txBody>
        </p:sp>
      </p:grpSp>
      <p:grpSp>
        <p:nvGrpSpPr>
          <p:cNvPr id="9" name="Ryhmä 8"/>
          <p:cNvGrpSpPr/>
          <p:nvPr/>
        </p:nvGrpSpPr>
        <p:grpSpPr>
          <a:xfrm>
            <a:off x="218380" y="4711351"/>
            <a:ext cx="6500860" cy="792088"/>
            <a:chOff x="545608" y="2135667"/>
            <a:chExt cx="6500860" cy="1989156"/>
          </a:xfrm>
        </p:grpSpPr>
        <p:sp>
          <p:nvSpPr>
            <p:cNvPr id="10" name="Suorakulmio 9"/>
            <p:cNvSpPr/>
            <p:nvPr/>
          </p:nvSpPr>
          <p:spPr>
            <a:xfrm>
              <a:off x="545608" y="2288619"/>
              <a:ext cx="6234112" cy="1836204"/>
            </a:xfrm>
            <a:prstGeom prst="rect">
              <a:avLst/>
            </a:prstGeom>
          </p:spPr>
          <p:style>
            <a:lnRef idx="2">
              <a:schemeClr val="accent3"/>
            </a:lnRef>
            <a:fillRef idx="1">
              <a:schemeClr val="lt1"/>
            </a:fillRef>
            <a:effectRef idx="0">
              <a:schemeClr val="accent3"/>
            </a:effectRef>
            <a:fontRef idx="minor">
              <a:schemeClr val="dk1"/>
            </a:fontRef>
          </p:style>
          <p:txBody>
            <a:bodyPr rtlCol="0" anchor="b" anchorCtr="0"/>
            <a:lstStyle/>
            <a:p>
              <a:r>
                <a:rPr lang="fi-FI" sz="1600" b="1" i="1" dirty="0" smtClean="0"/>
                <a:t>Tuominen muiden palveluiden taustalle</a:t>
              </a:r>
              <a:endParaRPr lang="fi-FI" sz="1600" b="1" i="1" dirty="0"/>
            </a:p>
          </p:txBody>
        </p:sp>
        <p:sp>
          <p:nvSpPr>
            <p:cNvPr id="11" name="Tekstiruutu 10"/>
            <p:cNvSpPr txBox="1"/>
            <p:nvPr/>
          </p:nvSpPr>
          <p:spPr>
            <a:xfrm>
              <a:off x="4506048" y="2135667"/>
              <a:ext cx="2540420" cy="1313953"/>
            </a:xfrm>
            <a:prstGeom prst="rect">
              <a:avLst/>
            </a:prstGeom>
            <a:noFill/>
          </p:spPr>
          <p:txBody>
            <a:bodyPr wrap="square" rtlCol="0">
              <a:spAutoFit/>
            </a:bodyPr>
            <a:lstStyle/>
            <a:p>
              <a:pPr algn="ctr"/>
              <a:r>
                <a:rPr lang="fi-FI" sz="2800" b="1" dirty="0" smtClean="0">
                  <a:solidFill>
                    <a:schemeClr val="tx2"/>
                  </a:solidFill>
                </a:rPr>
                <a:t>”Palvelut”</a:t>
              </a:r>
              <a:endParaRPr lang="fi-FI" sz="2800" b="1" dirty="0">
                <a:solidFill>
                  <a:schemeClr val="tx2"/>
                </a:solidFill>
              </a:endParaRPr>
            </a:p>
          </p:txBody>
        </p:sp>
      </p:grpSp>
      <p:grpSp>
        <p:nvGrpSpPr>
          <p:cNvPr id="12" name="Ryhmä 11"/>
          <p:cNvGrpSpPr/>
          <p:nvPr/>
        </p:nvGrpSpPr>
        <p:grpSpPr>
          <a:xfrm>
            <a:off x="218380" y="5646225"/>
            <a:ext cx="6234112" cy="731182"/>
            <a:chOff x="545608" y="2288619"/>
            <a:chExt cx="6234112" cy="1836204"/>
          </a:xfrm>
        </p:grpSpPr>
        <p:sp>
          <p:nvSpPr>
            <p:cNvPr id="13" name="Suorakulmio 12"/>
            <p:cNvSpPr/>
            <p:nvPr/>
          </p:nvSpPr>
          <p:spPr>
            <a:xfrm>
              <a:off x="545608" y="2288619"/>
              <a:ext cx="6234112" cy="1836204"/>
            </a:xfrm>
            <a:prstGeom prst="rect">
              <a:avLst/>
            </a:prstGeom>
          </p:spPr>
          <p:style>
            <a:lnRef idx="2">
              <a:schemeClr val="accent3"/>
            </a:lnRef>
            <a:fillRef idx="1">
              <a:schemeClr val="lt1"/>
            </a:fillRef>
            <a:effectRef idx="0">
              <a:schemeClr val="accent3"/>
            </a:effectRef>
            <a:fontRef idx="minor">
              <a:schemeClr val="dk1"/>
            </a:fontRef>
          </p:style>
          <p:txBody>
            <a:bodyPr rtlCol="0" anchor="b" anchorCtr="0"/>
            <a:lstStyle/>
            <a:p>
              <a:r>
                <a:rPr lang="fi-FI" sz="1600" b="1" i="1" dirty="0" smtClean="0"/>
                <a:t>Tietojen migraatio</a:t>
              </a:r>
              <a:endParaRPr lang="fi-FI" sz="1600" b="1" i="1" dirty="0"/>
            </a:p>
          </p:txBody>
        </p:sp>
        <p:sp>
          <p:nvSpPr>
            <p:cNvPr id="14" name="Tekstiruutu 13"/>
            <p:cNvSpPr txBox="1"/>
            <p:nvPr/>
          </p:nvSpPr>
          <p:spPr>
            <a:xfrm>
              <a:off x="4218016" y="2294623"/>
              <a:ext cx="2540420" cy="1313953"/>
            </a:xfrm>
            <a:prstGeom prst="rect">
              <a:avLst/>
            </a:prstGeom>
            <a:noFill/>
          </p:spPr>
          <p:txBody>
            <a:bodyPr wrap="square" rtlCol="0">
              <a:spAutoFit/>
            </a:bodyPr>
            <a:lstStyle/>
            <a:p>
              <a:pPr algn="ctr"/>
              <a:r>
                <a:rPr lang="fi-FI" sz="2800" b="1" dirty="0" smtClean="0">
                  <a:solidFill>
                    <a:schemeClr val="tx2"/>
                  </a:solidFill>
                </a:rPr>
                <a:t>”Migraatio”</a:t>
              </a:r>
              <a:endParaRPr lang="fi-FI" sz="2800" b="1" dirty="0">
                <a:solidFill>
                  <a:schemeClr val="tx2"/>
                </a:solidFill>
              </a:endParaRPr>
            </a:p>
          </p:txBody>
        </p:sp>
      </p:grpSp>
      <p:sp>
        <p:nvSpPr>
          <p:cNvPr id="15" name="Suorakulmio 14"/>
          <p:cNvSpPr/>
          <p:nvPr/>
        </p:nvSpPr>
        <p:spPr>
          <a:xfrm>
            <a:off x="6555084" y="1464839"/>
            <a:ext cx="2131716" cy="3124200"/>
          </a:xfrm>
          <a:prstGeom prst="rect">
            <a:avLst/>
          </a:prstGeom>
        </p:spPr>
        <p:style>
          <a:lnRef idx="2">
            <a:schemeClr val="dk1"/>
          </a:lnRef>
          <a:fillRef idx="1">
            <a:schemeClr val="lt1"/>
          </a:fillRef>
          <a:effectRef idx="0">
            <a:schemeClr val="dk1"/>
          </a:effectRef>
          <a:fontRef idx="minor">
            <a:schemeClr val="dk1"/>
          </a:fontRef>
        </p:style>
        <p:txBody>
          <a:bodyPr rtlCol="0" anchor="b" anchorCtr="0"/>
          <a:lstStyle/>
          <a:p>
            <a:r>
              <a:rPr lang="fi-FI" b="1" i="1" dirty="0" smtClean="0"/>
              <a:t>Tukipalvelut</a:t>
            </a:r>
            <a:endParaRPr lang="fi-FI" b="1" i="1" dirty="0"/>
          </a:p>
        </p:txBody>
      </p:sp>
      <p:sp>
        <p:nvSpPr>
          <p:cNvPr id="16" name="Tekstiruutu 15"/>
          <p:cNvSpPr txBox="1"/>
          <p:nvPr/>
        </p:nvSpPr>
        <p:spPr>
          <a:xfrm>
            <a:off x="6822976" y="1608856"/>
            <a:ext cx="1696380" cy="707886"/>
          </a:xfrm>
          <a:prstGeom prst="rect">
            <a:avLst/>
          </a:prstGeom>
          <a:noFill/>
        </p:spPr>
        <p:txBody>
          <a:bodyPr wrap="square" rtlCol="0">
            <a:spAutoFit/>
          </a:bodyPr>
          <a:lstStyle/>
          <a:p>
            <a:pPr algn="ctr"/>
            <a:r>
              <a:rPr lang="fi-FI" sz="2000" b="1" dirty="0" smtClean="0">
                <a:solidFill>
                  <a:schemeClr val="tx2"/>
                </a:solidFill>
              </a:rPr>
              <a:t>Ohjaus-palvelut</a:t>
            </a:r>
            <a:endParaRPr lang="fi-FI" sz="2000" b="1" dirty="0">
              <a:solidFill>
                <a:schemeClr val="tx2"/>
              </a:solidFill>
            </a:endParaRPr>
          </a:p>
        </p:txBody>
      </p:sp>
      <p:sp>
        <p:nvSpPr>
          <p:cNvPr id="17" name="Tekstiruutu 16"/>
          <p:cNvSpPr txBox="1"/>
          <p:nvPr/>
        </p:nvSpPr>
        <p:spPr>
          <a:xfrm>
            <a:off x="6699100" y="2303039"/>
            <a:ext cx="1872208" cy="707886"/>
          </a:xfrm>
          <a:prstGeom prst="rect">
            <a:avLst/>
          </a:prstGeom>
          <a:noFill/>
        </p:spPr>
        <p:txBody>
          <a:bodyPr wrap="square" rtlCol="0">
            <a:spAutoFit/>
          </a:bodyPr>
          <a:lstStyle/>
          <a:p>
            <a:pPr algn="ctr"/>
            <a:r>
              <a:rPr lang="fi-FI" sz="2000" b="1" dirty="0" err="1" smtClean="0">
                <a:solidFill>
                  <a:schemeClr val="tx2"/>
                </a:solidFill>
              </a:rPr>
              <a:t>Laadunvarmis-tuspalvelut</a:t>
            </a:r>
            <a:endParaRPr lang="fi-FI" sz="2000" b="1" dirty="0">
              <a:solidFill>
                <a:schemeClr val="tx2"/>
              </a:solidFill>
            </a:endParaRPr>
          </a:p>
        </p:txBody>
      </p:sp>
      <p:sp>
        <p:nvSpPr>
          <p:cNvPr id="18" name="Tekstiruutu 17"/>
          <p:cNvSpPr txBox="1"/>
          <p:nvPr/>
        </p:nvSpPr>
        <p:spPr>
          <a:xfrm>
            <a:off x="6782780" y="3065039"/>
            <a:ext cx="1696380" cy="707886"/>
          </a:xfrm>
          <a:prstGeom prst="rect">
            <a:avLst/>
          </a:prstGeom>
          <a:noFill/>
        </p:spPr>
        <p:txBody>
          <a:bodyPr wrap="square" rtlCol="0">
            <a:spAutoFit/>
          </a:bodyPr>
          <a:lstStyle/>
          <a:p>
            <a:pPr algn="ctr"/>
            <a:r>
              <a:rPr lang="fi-FI" sz="2000" b="1" dirty="0" smtClean="0">
                <a:solidFill>
                  <a:schemeClr val="tx2"/>
                </a:solidFill>
              </a:rPr>
              <a:t>Ympäristöt ja edellytykset</a:t>
            </a:r>
            <a:endParaRPr lang="fi-FI" sz="2000" b="1" dirty="0">
              <a:solidFill>
                <a:schemeClr val="tx2"/>
              </a:solidFill>
            </a:endParaRPr>
          </a:p>
        </p:txBody>
      </p:sp>
      <p:sp>
        <p:nvSpPr>
          <p:cNvPr id="19" name="Suorakulmio 18"/>
          <p:cNvSpPr/>
          <p:nvPr/>
        </p:nvSpPr>
        <p:spPr>
          <a:xfrm>
            <a:off x="6555084" y="4741439"/>
            <a:ext cx="2131716" cy="1639889"/>
          </a:xfrm>
          <a:prstGeom prst="rect">
            <a:avLst/>
          </a:prstGeom>
        </p:spPr>
        <p:style>
          <a:lnRef idx="2">
            <a:schemeClr val="dk1"/>
          </a:lnRef>
          <a:fillRef idx="1">
            <a:schemeClr val="lt1"/>
          </a:fillRef>
          <a:effectRef idx="0">
            <a:schemeClr val="dk1"/>
          </a:effectRef>
          <a:fontRef idx="minor">
            <a:schemeClr val="dk1"/>
          </a:fontRef>
        </p:style>
        <p:txBody>
          <a:bodyPr rtlCol="0" anchor="b" anchorCtr="0"/>
          <a:lstStyle/>
          <a:p>
            <a:r>
              <a:rPr lang="fi-FI" b="1" i="1" dirty="0" smtClean="0"/>
              <a:t>Riippuvuudet </a:t>
            </a:r>
            <a:r>
              <a:rPr lang="fi-FI" sz="1400" b="1" i="1" dirty="0" smtClean="0"/>
              <a:t>(suorat)</a:t>
            </a:r>
            <a:endParaRPr lang="fi-FI" b="1" i="1" dirty="0"/>
          </a:p>
        </p:txBody>
      </p:sp>
      <p:sp>
        <p:nvSpPr>
          <p:cNvPr id="20" name="Tekstiruutu 19"/>
          <p:cNvSpPr txBox="1"/>
          <p:nvPr/>
        </p:nvSpPr>
        <p:spPr>
          <a:xfrm>
            <a:off x="6618708" y="4825641"/>
            <a:ext cx="1954560" cy="400110"/>
          </a:xfrm>
          <a:prstGeom prst="rect">
            <a:avLst/>
          </a:prstGeom>
          <a:noFill/>
        </p:spPr>
        <p:txBody>
          <a:bodyPr wrap="square" rtlCol="0">
            <a:spAutoFit/>
          </a:bodyPr>
          <a:lstStyle/>
          <a:p>
            <a:pPr algn="ctr"/>
            <a:r>
              <a:rPr lang="fi-FI" sz="2000" b="1" dirty="0" smtClean="0">
                <a:solidFill>
                  <a:schemeClr val="tx2"/>
                </a:solidFill>
              </a:rPr>
              <a:t>Komponentit</a:t>
            </a:r>
            <a:endParaRPr lang="fi-FI" sz="2000" b="1" dirty="0">
              <a:solidFill>
                <a:schemeClr val="tx2"/>
              </a:solidFill>
            </a:endParaRPr>
          </a:p>
        </p:txBody>
      </p:sp>
      <p:sp>
        <p:nvSpPr>
          <p:cNvPr id="21" name="Tekstiruutu 20"/>
          <p:cNvSpPr txBox="1"/>
          <p:nvPr/>
        </p:nvSpPr>
        <p:spPr>
          <a:xfrm>
            <a:off x="6771108" y="5354960"/>
            <a:ext cx="1696380" cy="400110"/>
          </a:xfrm>
          <a:prstGeom prst="rect">
            <a:avLst/>
          </a:prstGeom>
          <a:noFill/>
        </p:spPr>
        <p:txBody>
          <a:bodyPr wrap="square" rtlCol="0">
            <a:spAutoFit/>
          </a:bodyPr>
          <a:lstStyle/>
          <a:p>
            <a:pPr algn="ctr"/>
            <a:r>
              <a:rPr lang="fi-FI" sz="2000" b="1" dirty="0" smtClean="0">
                <a:solidFill>
                  <a:schemeClr val="tx2"/>
                </a:solidFill>
              </a:rPr>
              <a:t>Teknologiat</a:t>
            </a:r>
            <a:endParaRPr lang="fi-FI" sz="2000" b="1" dirty="0">
              <a:solidFill>
                <a:schemeClr val="tx2"/>
              </a:solidFill>
            </a:endParaRPr>
          </a:p>
        </p:txBody>
      </p:sp>
      <p:grpSp>
        <p:nvGrpSpPr>
          <p:cNvPr id="22" name="Ryhmä 21"/>
          <p:cNvGrpSpPr/>
          <p:nvPr/>
        </p:nvGrpSpPr>
        <p:grpSpPr>
          <a:xfrm>
            <a:off x="218380" y="3065039"/>
            <a:ext cx="6234112" cy="731182"/>
            <a:chOff x="545608" y="2288619"/>
            <a:chExt cx="6234112" cy="1836204"/>
          </a:xfrm>
        </p:grpSpPr>
        <p:sp>
          <p:nvSpPr>
            <p:cNvPr id="23" name="Suorakulmio 22"/>
            <p:cNvSpPr/>
            <p:nvPr/>
          </p:nvSpPr>
          <p:spPr>
            <a:xfrm>
              <a:off x="545608" y="2288619"/>
              <a:ext cx="6234112" cy="1836204"/>
            </a:xfrm>
            <a:prstGeom prst="rect">
              <a:avLst/>
            </a:prstGeom>
          </p:spPr>
          <p:style>
            <a:lnRef idx="2">
              <a:schemeClr val="accent2"/>
            </a:lnRef>
            <a:fillRef idx="1">
              <a:schemeClr val="lt1"/>
            </a:fillRef>
            <a:effectRef idx="0">
              <a:schemeClr val="accent2"/>
            </a:effectRef>
            <a:fontRef idx="minor">
              <a:schemeClr val="dk1"/>
            </a:fontRef>
          </p:style>
          <p:txBody>
            <a:bodyPr rtlCol="0" anchor="b" anchorCtr="0"/>
            <a:lstStyle/>
            <a:p>
              <a:r>
                <a:rPr lang="fi-FI" sz="1600" b="1" i="1" dirty="0" smtClean="0"/>
                <a:t>Rajaukset</a:t>
              </a:r>
              <a:endParaRPr lang="fi-FI" sz="1600" b="1" i="1" dirty="0"/>
            </a:p>
          </p:txBody>
        </p:sp>
        <p:sp>
          <p:nvSpPr>
            <p:cNvPr id="24" name="Tekstiruutu 23"/>
            <p:cNvSpPr txBox="1"/>
            <p:nvPr/>
          </p:nvSpPr>
          <p:spPr>
            <a:xfrm>
              <a:off x="4125868" y="2289413"/>
              <a:ext cx="2540420" cy="1313953"/>
            </a:xfrm>
            <a:prstGeom prst="rect">
              <a:avLst/>
            </a:prstGeom>
            <a:noFill/>
          </p:spPr>
          <p:txBody>
            <a:bodyPr wrap="square" rtlCol="0">
              <a:spAutoFit/>
            </a:bodyPr>
            <a:lstStyle/>
            <a:p>
              <a:pPr algn="ctr"/>
              <a:r>
                <a:rPr lang="fi-FI" sz="2800" b="1" dirty="0" smtClean="0">
                  <a:solidFill>
                    <a:schemeClr val="tx2"/>
                  </a:solidFill>
                </a:rPr>
                <a:t>”Rajatut”</a:t>
              </a:r>
              <a:endParaRPr lang="fi-FI" sz="2800" b="1" dirty="0">
                <a:solidFill>
                  <a:schemeClr val="tx2"/>
                </a:solidFill>
              </a:endParaRPr>
            </a:p>
          </p:txBody>
        </p:sp>
      </p:grpSp>
      <p:sp>
        <p:nvSpPr>
          <p:cNvPr id="36" name="Tekstiruutu 35"/>
          <p:cNvSpPr txBox="1"/>
          <p:nvPr/>
        </p:nvSpPr>
        <p:spPr>
          <a:xfrm>
            <a:off x="362396" y="1580256"/>
            <a:ext cx="2191072" cy="830997"/>
          </a:xfrm>
          <a:prstGeom prst="rect">
            <a:avLst/>
          </a:prstGeom>
          <a:noFill/>
        </p:spPr>
        <p:txBody>
          <a:bodyPr wrap="square" rtlCol="0">
            <a:spAutoFit/>
          </a:bodyPr>
          <a:lstStyle/>
          <a:p>
            <a:pPr algn="ctr"/>
            <a:r>
              <a:rPr lang="fi-FI" sz="1200" dirty="0" smtClean="0"/>
              <a:t>Huom! Toimittaja tuottaa usein osa-ratkaisun, joka ei pääse tuotantoon ilman muita palasia.  Kokonaisvastuu on asiakkaalla. </a:t>
            </a:r>
            <a:endParaRPr lang="fi-FI" sz="1200" dirty="0"/>
          </a:p>
        </p:txBody>
      </p:sp>
      <p:sp>
        <p:nvSpPr>
          <p:cNvPr id="39" name="Tekstiruutu 38"/>
          <p:cNvSpPr txBox="1"/>
          <p:nvPr/>
        </p:nvSpPr>
        <p:spPr>
          <a:xfrm>
            <a:off x="290388" y="3065039"/>
            <a:ext cx="3384376" cy="461665"/>
          </a:xfrm>
          <a:prstGeom prst="rect">
            <a:avLst/>
          </a:prstGeom>
          <a:noFill/>
        </p:spPr>
        <p:txBody>
          <a:bodyPr wrap="square" rtlCol="0">
            <a:spAutoFit/>
          </a:bodyPr>
          <a:lstStyle/>
          <a:p>
            <a:pPr algn="ctr"/>
            <a:r>
              <a:rPr lang="fi-FI" sz="1200" dirty="0" smtClean="0"/>
              <a:t>Tarjouksissa on osia joita toimittaja ei tarjoa pyynnöstä huolimatta. </a:t>
            </a:r>
            <a:endParaRPr lang="fi-FI" sz="1200" dirty="0"/>
          </a:p>
        </p:txBody>
      </p:sp>
      <p:sp>
        <p:nvSpPr>
          <p:cNvPr id="27" name="Slide Number Placeholder 26"/>
          <p:cNvSpPr>
            <a:spLocks noGrp="1"/>
          </p:cNvSpPr>
          <p:nvPr>
            <p:ph type="sldNum" sz="quarter" idx="12"/>
          </p:nvPr>
        </p:nvSpPr>
        <p:spPr/>
        <p:txBody>
          <a:bodyPr/>
          <a:lstStyle/>
          <a:p>
            <a:fld id="{1FC54B03-E980-44E0-A0F1-6CAD9D10ECFB}" type="slidenum">
              <a:rPr lang="fi-FI" smtClean="0"/>
              <a:pPr/>
              <a:t>52</a:t>
            </a:fld>
            <a:endParaRPr lang="fi-FI"/>
          </a:p>
        </p:txBody>
      </p:sp>
    </p:spTree>
    <p:extLst>
      <p:ext uri="{BB962C8B-B14F-4D97-AF65-F5344CB8AC3E}">
        <p14:creationId xmlns:p14="http://schemas.microsoft.com/office/powerpoint/2010/main" val="2855520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p:cNvSpPr/>
          <p:nvPr/>
        </p:nvSpPr>
        <p:spPr>
          <a:xfrm>
            <a:off x="4067944" y="3429000"/>
            <a:ext cx="792088" cy="1224136"/>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i-FI" sz="1400" dirty="0" smtClean="0"/>
              <a:t>Toimi-tuksen HT</a:t>
            </a:r>
            <a:endParaRPr lang="fi-FI" sz="1400" dirty="0"/>
          </a:p>
        </p:txBody>
      </p:sp>
      <p:sp>
        <p:nvSpPr>
          <p:cNvPr id="2" name="Title 1"/>
          <p:cNvSpPr>
            <a:spLocks noGrp="1"/>
          </p:cNvSpPr>
          <p:nvPr>
            <p:ph type="title"/>
          </p:nvPr>
        </p:nvSpPr>
        <p:spPr/>
        <p:txBody>
          <a:bodyPr>
            <a:normAutofit fontScale="90000"/>
          </a:bodyPr>
          <a:lstStyle/>
          <a:p>
            <a:r>
              <a:rPr lang="fi-FI" dirty="0" smtClean="0"/>
              <a:t>Osatoimituksista tuotantoonsiirtyvään kokonaisuuteen</a:t>
            </a:r>
            <a:endParaRPr lang="fi-FI" dirty="0"/>
          </a:p>
        </p:txBody>
      </p:sp>
      <p:grpSp>
        <p:nvGrpSpPr>
          <p:cNvPr id="6" name="Group 26"/>
          <p:cNvGrpSpPr/>
          <p:nvPr/>
        </p:nvGrpSpPr>
        <p:grpSpPr>
          <a:xfrm>
            <a:off x="539552" y="1988840"/>
            <a:ext cx="3384376" cy="1224136"/>
            <a:chOff x="683568" y="1988840"/>
            <a:chExt cx="3384376" cy="1224136"/>
          </a:xfrm>
        </p:grpSpPr>
        <p:sp>
          <p:nvSpPr>
            <p:cNvPr id="9" name="Rectangle 8"/>
            <p:cNvSpPr/>
            <p:nvPr/>
          </p:nvSpPr>
          <p:spPr>
            <a:xfrm>
              <a:off x="683568" y="1988840"/>
              <a:ext cx="3384376" cy="1224136"/>
            </a:xfrm>
            <a:prstGeom prst="rect">
              <a:avLst/>
            </a:prstGeom>
          </p:spPr>
          <p:style>
            <a:lnRef idx="2">
              <a:schemeClr val="accent3"/>
            </a:lnRef>
            <a:fillRef idx="1">
              <a:schemeClr val="lt1"/>
            </a:fillRef>
            <a:effectRef idx="0">
              <a:schemeClr val="accent3"/>
            </a:effectRef>
            <a:fontRef idx="minor">
              <a:schemeClr val="dk1"/>
            </a:fontRef>
          </p:style>
          <p:txBody>
            <a:bodyPr rtlCol="0" anchor="t" anchorCtr="0"/>
            <a:lstStyle/>
            <a:p>
              <a:r>
                <a:rPr lang="fi-FI" sz="1600" b="1" dirty="0" smtClean="0"/>
                <a:t>Toimittaja</a:t>
              </a:r>
              <a:endParaRPr lang="fi-FI" sz="1600" b="1" dirty="0"/>
            </a:p>
          </p:txBody>
        </p:sp>
        <p:sp>
          <p:nvSpPr>
            <p:cNvPr id="3" name="Rectangle 2"/>
            <p:cNvSpPr/>
            <p:nvPr/>
          </p:nvSpPr>
          <p:spPr>
            <a:xfrm>
              <a:off x="755576" y="2420888"/>
              <a:ext cx="1224136" cy="5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Toteutus</a:t>
              </a:r>
              <a:endParaRPr lang="fi-FI" dirty="0"/>
            </a:p>
          </p:txBody>
        </p:sp>
        <p:sp>
          <p:nvSpPr>
            <p:cNvPr id="4" name="Rectangle 3"/>
            <p:cNvSpPr/>
            <p:nvPr/>
          </p:nvSpPr>
          <p:spPr>
            <a:xfrm>
              <a:off x="2123728" y="2420888"/>
              <a:ext cx="1224136" cy="5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Testaukset</a:t>
              </a:r>
              <a:endParaRPr lang="fi-FI" dirty="0"/>
            </a:p>
          </p:txBody>
        </p:sp>
        <p:sp>
          <p:nvSpPr>
            <p:cNvPr id="5" name="Oval 4"/>
            <p:cNvSpPr/>
            <p:nvPr/>
          </p:nvSpPr>
          <p:spPr>
            <a:xfrm>
              <a:off x="3491880" y="2420888"/>
              <a:ext cx="504056" cy="5040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L</a:t>
              </a:r>
              <a:endParaRPr lang="fi-FI" dirty="0"/>
            </a:p>
          </p:txBody>
        </p:sp>
      </p:grpSp>
      <p:grpSp>
        <p:nvGrpSpPr>
          <p:cNvPr id="7" name="Group 10"/>
          <p:cNvGrpSpPr/>
          <p:nvPr/>
        </p:nvGrpSpPr>
        <p:grpSpPr>
          <a:xfrm>
            <a:off x="539552" y="3429000"/>
            <a:ext cx="3384376" cy="1224136"/>
            <a:chOff x="683568" y="1988840"/>
            <a:chExt cx="3384376" cy="1224136"/>
          </a:xfrm>
        </p:grpSpPr>
        <p:sp>
          <p:nvSpPr>
            <p:cNvPr id="12" name="Rectangle 11"/>
            <p:cNvSpPr/>
            <p:nvPr/>
          </p:nvSpPr>
          <p:spPr>
            <a:xfrm>
              <a:off x="683568" y="1988840"/>
              <a:ext cx="3384376" cy="1224136"/>
            </a:xfrm>
            <a:prstGeom prst="rect">
              <a:avLst/>
            </a:prstGeom>
          </p:spPr>
          <p:style>
            <a:lnRef idx="2">
              <a:schemeClr val="accent2"/>
            </a:lnRef>
            <a:fillRef idx="1">
              <a:schemeClr val="lt1"/>
            </a:fillRef>
            <a:effectRef idx="0">
              <a:schemeClr val="accent2"/>
            </a:effectRef>
            <a:fontRef idx="minor">
              <a:schemeClr val="dk1"/>
            </a:fontRef>
          </p:style>
          <p:txBody>
            <a:bodyPr rtlCol="0" anchor="t" anchorCtr="0"/>
            <a:lstStyle/>
            <a:p>
              <a:r>
                <a:rPr lang="fi-FI" sz="1600" b="1" dirty="0" smtClean="0"/>
                <a:t>Toimittaja</a:t>
              </a:r>
              <a:endParaRPr lang="fi-FI" sz="1600" b="1" dirty="0"/>
            </a:p>
          </p:txBody>
        </p:sp>
        <p:sp>
          <p:nvSpPr>
            <p:cNvPr id="13" name="Rectangle 12"/>
            <p:cNvSpPr/>
            <p:nvPr/>
          </p:nvSpPr>
          <p:spPr>
            <a:xfrm>
              <a:off x="755576" y="2420888"/>
              <a:ext cx="1224136" cy="5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Toteutus</a:t>
              </a:r>
              <a:endParaRPr lang="fi-FI" dirty="0"/>
            </a:p>
          </p:txBody>
        </p:sp>
        <p:sp>
          <p:nvSpPr>
            <p:cNvPr id="14" name="Rectangle 13"/>
            <p:cNvSpPr/>
            <p:nvPr/>
          </p:nvSpPr>
          <p:spPr>
            <a:xfrm>
              <a:off x="2123728" y="2420888"/>
              <a:ext cx="1224136" cy="5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Testaukset</a:t>
              </a:r>
              <a:endParaRPr lang="fi-FI" dirty="0"/>
            </a:p>
          </p:txBody>
        </p:sp>
        <p:sp>
          <p:nvSpPr>
            <p:cNvPr id="15" name="Oval 14"/>
            <p:cNvSpPr/>
            <p:nvPr/>
          </p:nvSpPr>
          <p:spPr>
            <a:xfrm>
              <a:off x="3491880" y="2420888"/>
              <a:ext cx="504056" cy="5040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L</a:t>
              </a:r>
              <a:endParaRPr lang="fi-FI" dirty="0"/>
            </a:p>
          </p:txBody>
        </p:sp>
      </p:grpSp>
      <p:grpSp>
        <p:nvGrpSpPr>
          <p:cNvPr id="8" name="Group 25"/>
          <p:cNvGrpSpPr/>
          <p:nvPr/>
        </p:nvGrpSpPr>
        <p:grpSpPr>
          <a:xfrm>
            <a:off x="539552" y="5085184"/>
            <a:ext cx="3384376" cy="1224136"/>
            <a:chOff x="683568" y="5085184"/>
            <a:chExt cx="3384376" cy="1224136"/>
          </a:xfrm>
        </p:grpSpPr>
        <p:sp>
          <p:nvSpPr>
            <p:cNvPr id="17" name="Rectangle 16"/>
            <p:cNvSpPr/>
            <p:nvPr/>
          </p:nvSpPr>
          <p:spPr>
            <a:xfrm>
              <a:off x="683568" y="5085184"/>
              <a:ext cx="3384376" cy="1224136"/>
            </a:xfrm>
            <a:prstGeom prst="rect">
              <a:avLst/>
            </a:prstGeom>
          </p:spPr>
          <p:style>
            <a:lnRef idx="2">
              <a:schemeClr val="accent4"/>
            </a:lnRef>
            <a:fillRef idx="1">
              <a:schemeClr val="lt1"/>
            </a:fillRef>
            <a:effectRef idx="0">
              <a:schemeClr val="accent4"/>
            </a:effectRef>
            <a:fontRef idx="minor">
              <a:schemeClr val="dk1"/>
            </a:fontRef>
          </p:style>
          <p:txBody>
            <a:bodyPr rtlCol="0" anchor="t" anchorCtr="0"/>
            <a:lstStyle/>
            <a:p>
              <a:r>
                <a:rPr lang="fi-FI" sz="1600" b="1" dirty="0" smtClean="0"/>
                <a:t>Toimittaja</a:t>
              </a:r>
              <a:endParaRPr lang="fi-FI" sz="1600" b="1" dirty="0"/>
            </a:p>
          </p:txBody>
        </p:sp>
        <p:sp>
          <p:nvSpPr>
            <p:cNvPr id="18" name="Rectangle 17"/>
            <p:cNvSpPr/>
            <p:nvPr/>
          </p:nvSpPr>
          <p:spPr>
            <a:xfrm>
              <a:off x="755576" y="5517232"/>
              <a:ext cx="1224136" cy="5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Toteutus</a:t>
              </a:r>
              <a:endParaRPr lang="fi-FI" dirty="0"/>
            </a:p>
          </p:txBody>
        </p:sp>
        <p:sp>
          <p:nvSpPr>
            <p:cNvPr id="19" name="Rectangle 18"/>
            <p:cNvSpPr/>
            <p:nvPr/>
          </p:nvSpPr>
          <p:spPr>
            <a:xfrm>
              <a:off x="2123728" y="5517232"/>
              <a:ext cx="1224136" cy="5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Testaukset</a:t>
              </a:r>
              <a:endParaRPr lang="fi-FI" dirty="0"/>
            </a:p>
          </p:txBody>
        </p:sp>
        <p:sp>
          <p:nvSpPr>
            <p:cNvPr id="20" name="Oval 19"/>
            <p:cNvSpPr/>
            <p:nvPr/>
          </p:nvSpPr>
          <p:spPr>
            <a:xfrm>
              <a:off x="3491880" y="5517232"/>
              <a:ext cx="504056" cy="5040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L</a:t>
              </a:r>
              <a:endParaRPr lang="fi-FI" dirty="0"/>
            </a:p>
          </p:txBody>
        </p:sp>
      </p:grpSp>
      <p:grpSp>
        <p:nvGrpSpPr>
          <p:cNvPr id="10" name="Group 20"/>
          <p:cNvGrpSpPr/>
          <p:nvPr/>
        </p:nvGrpSpPr>
        <p:grpSpPr>
          <a:xfrm>
            <a:off x="1907704" y="3645024"/>
            <a:ext cx="3384376" cy="1224136"/>
            <a:chOff x="683568" y="1988840"/>
            <a:chExt cx="3384376" cy="1224136"/>
          </a:xfrm>
        </p:grpSpPr>
        <p:sp>
          <p:nvSpPr>
            <p:cNvPr id="22" name="Rectangle 21"/>
            <p:cNvSpPr/>
            <p:nvPr/>
          </p:nvSpPr>
          <p:spPr>
            <a:xfrm>
              <a:off x="683568" y="1988840"/>
              <a:ext cx="3384376" cy="1224136"/>
            </a:xfrm>
            <a:prstGeom prst="rect">
              <a:avLst/>
            </a:prstGeom>
          </p:spPr>
          <p:style>
            <a:lnRef idx="2">
              <a:schemeClr val="accent2"/>
            </a:lnRef>
            <a:fillRef idx="1">
              <a:schemeClr val="lt1"/>
            </a:fillRef>
            <a:effectRef idx="0">
              <a:schemeClr val="accent2"/>
            </a:effectRef>
            <a:fontRef idx="minor">
              <a:schemeClr val="dk1"/>
            </a:fontRef>
          </p:style>
          <p:txBody>
            <a:bodyPr rtlCol="0" anchor="t" anchorCtr="0"/>
            <a:lstStyle/>
            <a:p>
              <a:r>
                <a:rPr lang="fi-FI" sz="1600" b="1" dirty="0" smtClean="0"/>
                <a:t>Toimittaja</a:t>
              </a:r>
              <a:endParaRPr lang="fi-FI" sz="1600" b="1" dirty="0"/>
            </a:p>
          </p:txBody>
        </p:sp>
        <p:sp>
          <p:nvSpPr>
            <p:cNvPr id="23" name="Rectangle 22"/>
            <p:cNvSpPr/>
            <p:nvPr/>
          </p:nvSpPr>
          <p:spPr>
            <a:xfrm>
              <a:off x="755576" y="2420888"/>
              <a:ext cx="1224136" cy="5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Toteutus</a:t>
              </a:r>
              <a:endParaRPr lang="fi-FI" dirty="0"/>
            </a:p>
          </p:txBody>
        </p:sp>
        <p:sp>
          <p:nvSpPr>
            <p:cNvPr id="24" name="Rectangle 23"/>
            <p:cNvSpPr/>
            <p:nvPr/>
          </p:nvSpPr>
          <p:spPr>
            <a:xfrm>
              <a:off x="2123728" y="2420888"/>
              <a:ext cx="1224136" cy="5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Testaukset</a:t>
              </a:r>
              <a:endParaRPr lang="fi-FI" dirty="0"/>
            </a:p>
          </p:txBody>
        </p:sp>
        <p:sp>
          <p:nvSpPr>
            <p:cNvPr id="25" name="Oval 24"/>
            <p:cNvSpPr/>
            <p:nvPr/>
          </p:nvSpPr>
          <p:spPr>
            <a:xfrm>
              <a:off x="3491880" y="2420888"/>
              <a:ext cx="504056" cy="5040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L</a:t>
              </a:r>
              <a:endParaRPr lang="fi-FI" dirty="0"/>
            </a:p>
          </p:txBody>
        </p:sp>
      </p:grpSp>
      <p:sp>
        <p:nvSpPr>
          <p:cNvPr id="28" name="Rectangle 27"/>
          <p:cNvSpPr/>
          <p:nvPr/>
        </p:nvSpPr>
        <p:spPr>
          <a:xfrm rot="16200000">
            <a:off x="4355976" y="3933056"/>
            <a:ext cx="4464496"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Kokoava järjestelmätestaus</a:t>
            </a:r>
            <a:endParaRPr lang="fi-FI" dirty="0"/>
          </a:p>
        </p:txBody>
      </p:sp>
      <p:sp>
        <p:nvSpPr>
          <p:cNvPr id="30" name="Rectangle 29"/>
          <p:cNvSpPr/>
          <p:nvPr/>
        </p:nvSpPr>
        <p:spPr>
          <a:xfrm>
            <a:off x="6948264" y="1844824"/>
            <a:ext cx="2016224" cy="4536504"/>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fi-FI" dirty="0" smtClean="0"/>
              <a:t>Tuotannon-kaltainen hyväksymis-</a:t>
            </a:r>
            <a:br>
              <a:rPr lang="fi-FI" dirty="0" smtClean="0"/>
            </a:br>
            <a:r>
              <a:rPr lang="fi-FI" dirty="0" smtClean="0"/>
              <a:t>testaus</a:t>
            </a:r>
          </a:p>
        </p:txBody>
      </p:sp>
      <p:sp>
        <p:nvSpPr>
          <p:cNvPr id="31" name="Rectangle 30"/>
          <p:cNvSpPr/>
          <p:nvPr/>
        </p:nvSpPr>
        <p:spPr>
          <a:xfrm>
            <a:off x="4067944" y="1988840"/>
            <a:ext cx="792088" cy="1224136"/>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i-FI" sz="1400" dirty="0" smtClean="0"/>
              <a:t>Toimi-tuksen HT</a:t>
            </a:r>
            <a:endParaRPr lang="fi-FI" sz="1400" dirty="0"/>
          </a:p>
        </p:txBody>
      </p:sp>
      <p:sp>
        <p:nvSpPr>
          <p:cNvPr id="33" name="Rectangle 32"/>
          <p:cNvSpPr/>
          <p:nvPr/>
        </p:nvSpPr>
        <p:spPr>
          <a:xfrm>
            <a:off x="5364088" y="3645024"/>
            <a:ext cx="792088" cy="1224136"/>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i-FI" sz="1400" dirty="0" smtClean="0"/>
              <a:t>Toimi-tuksen HT</a:t>
            </a:r>
            <a:endParaRPr lang="fi-FI" sz="1400" dirty="0"/>
          </a:p>
        </p:txBody>
      </p:sp>
      <p:sp>
        <p:nvSpPr>
          <p:cNvPr id="34" name="Rectangle 33"/>
          <p:cNvSpPr/>
          <p:nvPr/>
        </p:nvSpPr>
        <p:spPr>
          <a:xfrm>
            <a:off x="4067944" y="5085184"/>
            <a:ext cx="792088" cy="1224136"/>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i-FI" sz="1400" dirty="0" smtClean="0"/>
              <a:t>Toimi-tuksen HT</a:t>
            </a:r>
            <a:endParaRPr lang="fi-FI" sz="1400" dirty="0"/>
          </a:p>
        </p:txBody>
      </p:sp>
      <p:sp>
        <p:nvSpPr>
          <p:cNvPr id="29" name="Slide Number Placeholder 28"/>
          <p:cNvSpPr>
            <a:spLocks noGrp="1"/>
          </p:cNvSpPr>
          <p:nvPr>
            <p:ph type="sldNum" sz="quarter" idx="12"/>
          </p:nvPr>
        </p:nvSpPr>
        <p:spPr/>
        <p:txBody>
          <a:bodyPr/>
          <a:lstStyle/>
          <a:p>
            <a:fld id="{1FC54B03-E980-44E0-A0F1-6CAD9D10ECFB}" type="slidenum">
              <a:rPr lang="fi-FI" smtClean="0"/>
              <a:pPr/>
              <a:t>53</a:t>
            </a:fld>
            <a:endParaRPr lang="fi-FI"/>
          </a:p>
        </p:txBody>
      </p:sp>
    </p:spTree>
  </p:cSld>
  <p:clrMapOvr>
    <a:masterClrMapping/>
  </p:clrMapOvr>
  <p:timing>
    <p:tnLst>
      <p:par>
        <p:cTn xmlns:p14="http://schemas.microsoft.com/office/powerpoint/2010/mai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normAutofit fontScale="90000"/>
          </a:bodyPr>
          <a:lstStyle/>
          <a:p>
            <a:r>
              <a:rPr lang="fi-FI"/>
              <a:t>Hyväksymistestaus Totta-projektissa</a:t>
            </a:r>
            <a:endParaRPr lang="en-US"/>
          </a:p>
        </p:txBody>
      </p:sp>
      <p:sp>
        <p:nvSpPr>
          <p:cNvPr id="10243" name="Rectangle 3"/>
          <p:cNvSpPr>
            <a:spLocks noChangeArrowheads="1"/>
          </p:cNvSpPr>
          <p:nvPr/>
        </p:nvSpPr>
        <p:spPr bwMode="auto">
          <a:xfrm>
            <a:off x="107950" y="2274888"/>
            <a:ext cx="792163" cy="719137"/>
          </a:xfrm>
          <a:prstGeom prst="rect">
            <a:avLst/>
          </a:prstGeom>
          <a:solidFill>
            <a:srgbClr val="FFCCFF"/>
          </a:solidFill>
          <a:ln w="9525" algn="ctr">
            <a:solidFill>
              <a:schemeClr val="tx1"/>
            </a:solidFill>
            <a:miter lim="800000"/>
            <a:headEnd/>
            <a:tailEnd/>
          </a:ln>
          <a:effectLst/>
        </p:spPr>
        <p:txBody>
          <a:bodyPr wrap="none" anchor="ctr"/>
          <a:lstStyle/>
          <a:p>
            <a:pPr algn="ctr"/>
            <a:r>
              <a:rPr lang="fi-FI" sz="1200" b="0">
                <a:latin typeface="Arial Narrow" pitchFamily="34" charset="0"/>
              </a:rPr>
              <a:t>hetutiedosto</a:t>
            </a:r>
          </a:p>
          <a:p>
            <a:pPr algn="ctr"/>
            <a:r>
              <a:rPr lang="fi-FI" sz="1200" b="0" u="sng">
                <a:latin typeface="Arial Narrow" pitchFamily="34" charset="0"/>
              </a:rPr>
              <a:t>ETK</a:t>
            </a:r>
            <a:endParaRPr lang="en-US" sz="1200" b="0" u="sng">
              <a:latin typeface="Arial Narrow" pitchFamily="34" charset="0"/>
            </a:endParaRPr>
          </a:p>
        </p:txBody>
      </p:sp>
      <p:sp>
        <p:nvSpPr>
          <p:cNvPr id="10244" name="Rectangle 4"/>
          <p:cNvSpPr>
            <a:spLocks noChangeArrowheads="1"/>
          </p:cNvSpPr>
          <p:nvPr/>
        </p:nvSpPr>
        <p:spPr bwMode="auto">
          <a:xfrm>
            <a:off x="1258888" y="2274888"/>
            <a:ext cx="792162" cy="719137"/>
          </a:xfrm>
          <a:prstGeom prst="rect">
            <a:avLst/>
          </a:prstGeom>
          <a:solidFill>
            <a:srgbClr val="CCFF99"/>
          </a:solidFill>
          <a:ln w="9525" algn="ctr">
            <a:solidFill>
              <a:schemeClr val="tx1"/>
            </a:solidFill>
            <a:miter lim="800000"/>
            <a:headEnd/>
            <a:tailEnd/>
          </a:ln>
          <a:effectLst/>
        </p:spPr>
        <p:txBody>
          <a:bodyPr wrap="none" anchor="ctr"/>
          <a:lstStyle/>
          <a:p>
            <a:pPr algn="ctr"/>
            <a:r>
              <a:rPr lang="fi-FI" sz="1200" b="0">
                <a:latin typeface="Arial Narrow" pitchFamily="34" charset="0"/>
              </a:rPr>
              <a:t>erien </a:t>
            </a:r>
            <a:br>
              <a:rPr lang="fi-FI" sz="1200" b="0">
                <a:latin typeface="Arial Narrow" pitchFamily="34" charset="0"/>
              </a:rPr>
            </a:br>
            <a:r>
              <a:rPr lang="fi-FI" sz="1200" b="0">
                <a:latin typeface="Arial Narrow" pitchFamily="34" charset="0"/>
              </a:rPr>
              <a:t>rajaus</a:t>
            </a:r>
          </a:p>
          <a:p>
            <a:pPr algn="ctr"/>
            <a:r>
              <a:rPr lang="fi-FI" sz="1200" b="0" u="sng">
                <a:latin typeface="Arial Narrow" pitchFamily="34" charset="0"/>
              </a:rPr>
              <a:t>TI</a:t>
            </a:r>
            <a:endParaRPr lang="en-US" sz="1200" b="0" u="sng">
              <a:latin typeface="Arial Narrow" pitchFamily="34" charset="0"/>
            </a:endParaRPr>
          </a:p>
        </p:txBody>
      </p:sp>
      <p:sp>
        <p:nvSpPr>
          <p:cNvPr id="10245" name="Rectangle 5"/>
          <p:cNvSpPr>
            <a:spLocks noChangeArrowheads="1"/>
          </p:cNvSpPr>
          <p:nvPr/>
        </p:nvSpPr>
        <p:spPr bwMode="auto">
          <a:xfrm>
            <a:off x="3563938" y="2274888"/>
            <a:ext cx="792162" cy="719137"/>
          </a:xfrm>
          <a:prstGeom prst="rect">
            <a:avLst/>
          </a:prstGeom>
          <a:solidFill>
            <a:srgbClr val="FFCCFF"/>
          </a:solidFill>
          <a:ln w="9525" algn="ctr">
            <a:solidFill>
              <a:schemeClr val="tx1"/>
            </a:solidFill>
            <a:miter lim="800000"/>
            <a:headEnd/>
            <a:tailEnd/>
          </a:ln>
          <a:effectLst/>
        </p:spPr>
        <p:txBody>
          <a:bodyPr wrap="none" anchor="ctr"/>
          <a:lstStyle/>
          <a:p>
            <a:pPr algn="ctr"/>
            <a:r>
              <a:rPr lang="fi-FI" sz="1200" b="0">
                <a:latin typeface="Arial Narrow" pitchFamily="34" charset="0"/>
              </a:rPr>
              <a:t>ts-ote</a:t>
            </a:r>
            <a:br>
              <a:rPr lang="fi-FI" sz="1200" b="0">
                <a:latin typeface="Arial Narrow" pitchFamily="34" charset="0"/>
              </a:rPr>
            </a:br>
            <a:r>
              <a:rPr lang="fi-FI" sz="1200" b="0" u="sng">
                <a:latin typeface="Arial Narrow" pitchFamily="34" charset="0"/>
              </a:rPr>
              <a:t>Arek</a:t>
            </a:r>
            <a:endParaRPr lang="en-US" sz="1200" b="0" u="sng">
              <a:latin typeface="Arial Narrow" pitchFamily="34" charset="0"/>
            </a:endParaRPr>
          </a:p>
        </p:txBody>
      </p:sp>
      <p:sp>
        <p:nvSpPr>
          <p:cNvPr id="10246" name="Rectangle 6"/>
          <p:cNvSpPr>
            <a:spLocks noChangeArrowheads="1"/>
          </p:cNvSpPr>
          <p:nvPr/>
        </p:nvSpPr>
        <p:spPr bwMode="auto">
          <a:xfrm>
            <a:off x="7019925" y="2274888"/>
            <a:ext cx="792163" cy="719137"/>
          </a:xfrm>
          <a:prstGeom prst="rect">
            <a:avLst/>
          </a:prstGeom>
          <a:solidFill>
            <a:srgbClr val="FFCCFF"/>
          </a:solidFill>
          <a:ln w="9525" algn="ctr">
            <a:solidFill>
              <a:schemeClr val="tx1"/>
            </a:solidFill>
            <a:miter lim="800000"/>
            <a:headEnd/>
            <a:tailEnd/>
          </a:ln>
          <a:effectLst/>
        </p:spPr>
        <p:txBody>
          <a:bodyPr wrap="none" anchor="ctr"/>
          <a:lstStyle/>
          <a:p>
            <a:pPr algn="ctr"/>
            <a:r>
              <a:rPr lang="fi-FI" sz="1200" b="0">
                <a:latin typeface="Arial Narrow" pitchFamily="34" charset="0"/>
              </a:rPr>
              <a:t>Tulostus</a:t>
            </a:r>
            <a:br>
              <a:rPr lang="fi-FI" sz="1200" b="0">
                <a:latin typeface="Arial Narrow" pitchFamily="34" charset="0"/>
              </a:rPr>
            </a:br>
            <a:r>
              <a:rPr lang="fi-FI" sz="1200" b="0" u="sng">
                <a:latin typeface="Arial Narrow" pitchFamily="34" charset="0"/>
              </a:rPr>
              <a:t>Itella</a:t>
            </a:r>
            <a:endParaRPr lang="en-US" sz="1200" b="0" u="sng">
              <a:latin typeface="Arial Narrow" pitchFamily="34" charset="0"/>
            </a:endParaRPr>
          </a:p>
        </p:txBody>
      </p:sp>
      <p:sp>
        <p:nvSpPr>
          <p:cNvPr id="10247" name="Rectangle 7"/>
          <p:cNvSpPr>
            <a:spLocks noChangeArrowheads="1"/>
          </p:cNvSpPr>
          <p:nvPr/>
        </p:nvSpPr>
        <p:spPr bwMode="auto">
          <a:xfrm>
            <a:off x="1258888" y="1412875"/>
            <a:ext cx="793750" cy="719138"/>
          </a:xfrm>
          <a:prstGeom prst="rect">
            <a:avLst/>
          </a:prstGeom>
          <a:solidFill>
            <a:srgbClr val="CCFF99"/>
          </a:solidFill>
          <a:ln w="9525" algn="ctr">
            <a:solidFill>
              <a:schemeClr val="tx1"/>
            </a:solidFill>
            <a:miter lim="800000"/>
            <a:headEnd/>
            <a:tailEnd/>
          </a:ln>
          <a:effectLst/>
        </p:spPr>
        <p:txBody>
          <a:bodyPr wrap="none" anchor="ctr"/>
          <a:lstStyle/>
          <a:p>
            <a:pPr algn="ctr"/>
            <a:r>
              <a:rPr lang="fi-FI" sz="1200" b="0">
                <a:latin typeface="Arial Narrow" pitchFamily="34" charset="0"/>
              </a:rPr>
              <a:t>Verkko-ote</a:t>
            </a:r>
          </a:p>
          <a:p>
            <a:pPr algn="ctr"/>
            <a:r>
              <a:rPr lang="fi-FI" sz="1200" b="0" u="sng">
                <a:latin typeface="Arial Narrow" pitchFamily="34" charset="0"/>
              </a:rPr>
              <a:t>TI</a:t>
            </a:r>
            <a:endParaRPr lang="en-US" sz="1200" b="0" u="sng">
              <a:latin typeface="Arial Narrow" pitchFamily="34" charset="0"/>
            </a:endParaRPr>
          </a:p>
        </p:txBody>
      </p:sp>
      <p:sp>
        <p:nvSpPr>
          <p:cNvPr id="10248" name="AutoShape 8"/>
          <p:cNvSpPr>
            <a:spLocks noChangeArrowheads="1"/>
          </p:cNvSpPr>
          <p:nvPr/>
        </p:nvSpPr>
        <p:spPr bwMode="auto">
          <a:xfrm>
            <a:off x="971550" y="2347913"/>
            <a:ext cx="217488" cy="576262"/>
          </a:xfrm>
          <a:prstGeom prst="rightArrow">
            <a:avLst>
              <a:gd name="adj1" fmla="val 50000"/>
              <a:gd name="adj2" fmla="val 25000"/>
            </a:avLst>
          </a:prstGeom>
          <a:solidFill>
            <a:schemeClr val="folHlink"/>
          </a:solidFill>
          <a:ln w="9525" algn="ctr">
            <a:solidFill>
              <a:schemeClr val="tx1"/>
            </a:solidFill>
            <a:miter lim="800000"/>
            <a:headEnd/>
            <a:tailEnd/>
          </a:ln>
          <a:effectLst/>
        </p:spPr>
        <p:txBody>
          <a:bodyPr wrap="none" anchor="ctr"/>
          <a:lstStyle/>
          <a:p>
            <a:endParaRPr lang="fi-FI"/>
          </a:p>
        </p:txBody>
      </p:sp>
      <p:sp>
        <p:nvSpPr>
          <p:cNvPr id="10249" name="AutoShape 9"/>
          <p:cNvSpPr>
            <a:spLocks noChangeArrowheads="1"/>
          </p:cNvSpPr>
          <p:nvPr/>
        </p:nvSpPr>
        <p:spPr bwMode="auto">
          <a:xfrm>
            <a:off x="2124075" y="2347913"/>
            <a:ext cx="217488" cy="576262"/>
          </a:xfrm>
          <a:prstGeom prst="rightArrow">
            <a:avLst>
              <a:gd name="adj1" fmla="val 50000"/>
              <a:gd name="adj2" fmla="val 25000"/>
            </a:avLst>
          </a:prstGeom>
          <a:solidFill>
            <a:schemeClr val="folHlink"/>
          </a:solidFill>
          <a:ln w="9525" algn="ctr">
            <a:solidFill>
              <a:schemeClr val="tx1"/>
            </a:solidFill>
            <a:miter lim="800000"/>
            <a:headEnd/>
            <a:tailEnd/>
          </a:ln>
          <a:effectLst/>
        </p:spPr>
        <p:txBody>
          <a:bodyPr wrap="none" anchor="ctr"/>
          <a:lstStyle/>
          <a:p>
            <a:endParaRPr lang="fi-FI"/>
          </a:p>
        </p:txBody>
      </p:sp>
      <p:sp>
        <p:nvSpPr>
          <p:cNvPr id="10250" name="AutoShape 10"/>
          <p:cNvSpPr>
            <a:spLocks noChangeArrowheads="1"/>
          </p:cNvSpPr>
          <p:nvPr/>
        </p:nvSpPr>
        <p:spPr bwMode="auto">
          <a:xfrm>
            <a:off x="4427538" y="2349500"/>
            <a:ext cx="217487" cy="576263"/>
          </a:xfrm>
          <a:prstGeom prst="rightArrow">
            <a:avLst>
              <a:gd name="adj1" fmla="val 50000"/>
              <a:gd name="adj2" fmla="val 25000"/>
            </a:avLst>
          </a:prstGeom>
          <a:solidFill>
            <a:schemeClr val="folHlink"/>
          </a:solidFill>
          <a:ln w="9525" algn="ctr">
            <a:solidFill>
              <a:schemeClr val="tx1"/>
            </a:solidFill>
            <a:miter lim="800000"/>
            <a:headEnd/>
            <a:tailEnd/>
          </a:ln>
          <a:effectLst/>
        </p:spPr>
        <p:txBody>
          <a:bodyPr wrap="none" anchor="ctr"/>
          <a:lstStyle/>
          <a:p>
            <a:endParaRPr lang="fi-FI"/>
          </a:p>
        </p:txBody>
      </p:sp>
      <p:sp>
        <p:nvSpPr>
          <p:cNvPr id="10251" name="Rectangle 11"/>
          <p:cNvSpPr>
            <a:spLocks noChangeArrowheads="1"/>
          </p:cNvSpPr>
          <p:nvPr/>
        </p:nvSpPr>
        <p:spPr bwMode="auto">
          <a:xfrm>
            <a:off x="107950" y="3573463"/>
            <a:ext cx="8856663" cy="503237"/>
          </a:xfrm>
          <a:prstGeom prst="rect">
            <a:avLst/>
          </a:prstGeom>
          <a:solidFill>
            <a:srgbClr val="FFFFCC"/>
          </a:solidFill>
          <a:ln w="9525" algn="ctr">
            <a:solidFill>
              <a:schemeClr val="tx1"/>
            </a:solidFill>
            <a:miter lim="800000"/>
            <a:headEnd/>
            <a:tailEnd/>
          </a:ln>
          <a:effectLst/>
        </p:spPr>
        <p:txBody>
          <a:bodyPr wrap="none" anchor="ctr"/>
          <a:lstStyle/>
          <a:p>
            <a:pPr algn="ctr"/>
            <a:r>
              <a:rPr lang="fi-FI" b="0">
                <a:latin typeface="Arial Narrow" pitchFamily="34" charset="0"/>
              </a:rPr>
              <a:t>Ilmarisen hyväksymistestaus Totta-projektille</a:t>
            </a:r>
            <a:endParaRPr lang="en-US" b="0">
              <a:latin typeface="Arial Narrow" pitchFamily="34" charset="0"/>
            </a:endParaRPr>
          </a:p>
        </p:txBody>
      </p:sp>
      <p:sp>
        <p:nvSpPr>
          <p:cNvPr id="10261" name="Rectangle 21"/>
          <p:cNvSpPr>
            <a:spLocks noChangeArrowheads="1"/>
          </p:cNvSpPr>
          <p:nvPr/>
        </p:nvSpPr>
        <p:spPr bwMode="auto">
          <a:xfrm>
            <a:off x="5867400" y="2278063"/>
            <a:ext cx="792163" cy="719137"/>
          </a:xfrm>
          <a:prstGeom prst="rect">
            <a:avLst/>
          </a:prstGeom>
          <a:solidFill>
            <a:srgbClr val="FFCCFF"/>
          </a:solidFill>
          <a:ln w="9525" algn="ctr">
            <a:solidFill>
              <a:schemeClr val="tx1"/>
            </a:solidFill>
            <a:miter lim="800000"/>
            <a:headEnd/>
            <a:tailEnd/>
          </a:ln>
          <a:effectLst/>
        </p:spPr>
        <p:txBody>
          <a:bodyPr wrap="none" anchor="ctr"/>
          <a:lstStyle/>
          <a:p>
            <a:pPr algn="ctr"/>
            <a:r>
              <a:rPr lang="fi-FI" sz="1200" b="0">
                <a:latin typeface="Arial Narrow" pitchFamily="34" charset="0"/>
              </a:rPr>
              <a:t>ts-ote</a:t>
            </a:r>
            <a:br>
              <a:rPr lang="fi-FI" sz="1200" b="0">
                <a:latin typeface="Arial Narrow" pitchFamily="34" charset="0"/>
              </a:rPr>
            </a:br>
            <a:r>
              <a:rPr lang="fi-FI" sz="1200" b="0" u="sng">
                <a:latin typeface="Arial Narrow" pitchFamily="34" charset="0"/>
              </a:rPr>
              <a:t>Arek</a:t>
            </a:r>
            <a:endParaRPr lang="en-US" sz="1200" b="0" u="sng">
              <a:latin typeface="Arial Narrow" pitchFamily="34" charset="0"/>
            </a:endParaRPr>
          </a:p>
        </p:txBody>
      </p:sp>
      <p:sp>
        <p:nvSpPr>
          <p:cNvPr id="10262" name="Rectangle 22"/>
          <p:cNvSpPr>
            <a:spLocks noChangeArrowheads="1"/>
          </p:cNvSpPr>
          <p:nvPr/>
        </p:nvSpPr>
        <p:spPr bwMode="auto">
          <a:xfrm>
            <a:off x="4716463" y="2278063"/>
            <a:ext cx="792162" cy="719137"/>
          </a:xfrm>
          <a:prstGeom prst="rect">
            <a:avLst/>
          </a:prstGeom>
          <a:solidFill>
            <a:srgbClr val="CCFF99"/>
          </a:solidFill>
          <a:ln w="9525" algn="ctr">
            <a:solidFill>
              <a:schemeClr val="tx1"/>
            </a:solidFill>
            <a:miter lim="800000"/>
            <a:headEnd/>
            <a:tailEnd/>
          </a:ln>
          <a:effectLst/>
        </p:spPr>
        <p:txBody>
          <a:bodyPr wrap="none" anchor="ctr"/>
          <a:lstStyle/>
          <a:p>
            <a:pPr algn="ctr"/>
            <a:r>
              <a:rPr lang="fi-FI" sz="1200" b="0">
                <a:latin typeface="Arial Narrow" pitchFamily="34" charset="0"/>
              </a:rPr>
              <a:t>yel</a:t>
            </a:r>
            <a:br>
              <a:rPr lang="fi-FI" sz="1200" b="0">
                <a:latin typeface="Arial Narrow" pitchFamily="34" charset="0"/>
              </a:rPr>
            </a:br>
            <a:r>
              <a:rPr lang="fi-FI" sz="1200" b="0" u="sng">
                <a:latin typeface="Arial Narrow" pitchFamily="34" charset="0"/>
              </a:rPr>
              <a:t>TI</a:t>
            </a:r>
            <a:endParaRPr lang="en-US" sz="1200" b="0" u="sng">
              <a:latin typeface="Arial Narrow" pitchFamily="34" charset="0"/>
            </a:endParaRPr>
          </a:p>
        </p:txBody>
      </p:sp>
      <p:sp>
        <p:nvSpPr>
          <p:cNvPr id="10263" name="AutoShape 23"/>
          <p:cNvSpPr>
            <a:spLocks noChangeArrowheads="1"/>
          </p:cNvSpPr>
          <p:nvPr/>
        </p:nvSpPr>
        <p:spPr bwMode="auto">
          <a:xfrm>
            <a:off x="5580063" y="2349500"/>
            <a:ext cx="217487" cy="576263"/>
          </a:xfrm>
          <a:prstGeom prst="rightArrow">
            <a:avLst>
              <a:gd name="adj1" fmla="val 50000"/>
              <a:gd name="adj2" fmla="val 25000"/>
            </a:avLst>
          </a:prstGeom>
          <a:solidFill>
            <a:schemeClr val="folHlink"/>
          </a:solidFill>
          <a:ln w="9525" algn="ctr">
            <a:solidFill>
              <a:schemeClr val="tx1"/>
            </a:solidFill>
            <a:miter lim="800000"/>
            <a:headEnd/>
            <a:tailEnd/>
          </a:ln>
          <a:effectLst/>
        </p:spPr>
        <p:txBody>
          <a:bodyPr wrap="none" anchor="ctr"/>
          <a:lstStyle/>
          <a:p>
            <a:endParaRPr lang="fi-FI"/>
          </a:p>
        </p:txBody>
      </p:sp>
      <p:sp>
        <p:nvSpPr>
          <p:cNvPr id="10264" name="AutoShape 24"/>
          <p:cNvSpPr>
            <a:spLocks noChangeArrowheads="1"/>
          </p:cNvSpPr>
          <p:nvPr/>
        </p:nvSpPr>
        <p:spPr bwMode="auto">
          <a:xfrm>
            <a:off x="6732588" y="2349500"/>
            <a:ext cx="217487" cy="576263"/>
          </a:xfrm>
          <a:prstGeom prst="rightArrow">
            <a:avLst>
              <a:gd name="adj1" fmla="val 50000"/>
              <a:gd name="adj2" fmla="val 25000"/>
            </a:avLst>
          </a:prstGeom>
          <a:solidFill>
            <a:schemeClr val="folHlink"/>
          </a:solidFill>
          <a:ln w="9525" algn="ctr">
            <a:solidFill>
              <a:schemeClr val="tx1"/>
            </a:solidFill>
            <a:miter lim="800000"/>
            <a:headEnd/>
            <a:tailEnd/>
          </a:ln>
          <a:effectLst/>
        </p:spPr>
        <p:txBody>
          <a:bodyPr wrap="none" anchor="ctr"/>
          <a:lstStyle/>
          <a:p>
            <a:endParaRPr lang="fi-FI"/>
          </a:p>
        </p:txBody>
      </p:sp>
      <p:sp>
        <p:nvSpPr>
          <p:cNvPr id="10266" name="Text Box 26"/>
          <p:cNvSpPr txBox="1">
            <a:spLocks noChangeArrowheads="1"/>
          </p:cNvSpPr>
          <p:nvPr/>
        </p:nvSpPr>
        <p:spPr bwMode="auto">
          <a:xfrm>
            <a:off x="395288" y="3068638"/>
            <a:ext cx="7272337" cy="304800"/>
          </a:xfrm>
          <a:prstGeom prst="rect">
            <a:avLst/>
          </a:prstGeom>
          <a:noFill/>
          <a:ln w="9525" algn="ctr">
            <a:noFill/>
            <a:miter lim="800000"/>
            <a:headEnd/>
            <a:tailEnd/>
          </a:ln>
          <a:effectLst/>
        </p:spPr>
        <p:txBody>
          <a:bodyPr>
            <a:spAutoFit/>
          </a:bodyPr>
          <a:lstStyle/>
          <a:p>
            <a:pPr>
              <a:spcBef>
                <a:spcPct val="50000"/>
              </a:spcBef>
            </a:pPr>
            <a:r>
              <a:rPr lang="fi-FI" sz="1400" b="0">
                <a:latin typeface="Arial Narrow" pitchFamily="34" charset="0"/>
              </a:rPr>
              <a:t>OSAJÄRJESTELMIEN KETJU TYÖELÄKEOTTEEN AIKAANSAAMISEKSI</a:t>
            </a:r>
            <a:endParaRPr lang="en-US" sz="1400" b="0">
              <a:latin typeface="Arial Narrow" pitchFamily="34" charset="0"/>
            </a:endParaRPr>
          </a:p>
        </p:txBody>
      </p:sp>
      <p:sp>
        <p:nvSpPr>
          <p:cNvPr id="10267" name="AutoShape 27"/>
          <p:cNvSpPr>
            <a:spLocks noChangeArrowheads="1"/>
          </p:cNvSpPr>
          <p:nvPr/>
        </p:nvSpPr>
        <p:spPr bwMode="auto">
          <a:xfrm>
            <a:off x="7885113" y="2349500"/>
            <a:ext cx="217487" cy="576263"/>
          </a:xfrm>
          <a:prstGeom prst="rightArrow">
            <a:avLst>
              <a:gd name="adj1" fmla="val 50000"/>
              <a:gd name="adj2" fmla="val 25000"/>
            </a:avLst>
          </a:prstGeom>
          <a:solidFill>
            <a:schemeClr val="folHlink"/>
          </a:solidFill>
          <a:ln w="9525" algn="ctr">
            <a:solidFill>
              <a:schemeClr val="tx1"/>
            </a:solidFill>
            <a:miter lim="800000"/>
            <a:headEnd/>
            <a:tailEnd/>
          </a:ln>
          <a:effectLst/>
        </p:spPr>
        <p:txBody>
          <a:bodyPr wrap="none" anchor="ctr"/>
          <a:lstStyle/>
          <a:p>
            <a:endParaRPr lang="fi-FI"/>
          </a:p>
        </p:txBody>
      </p:sp>
      <p:sp>
        <p:nvSpPr>
          <p:cNvPr id="10268" name="Rectangle 28"/>
          <p:cNvSpPr>
            <a:spLocks noChangeArrowheads="1"/>
          </p:cNvSpPr>
          <p:nvPr/>
        </p:nvSpPr>
        <p:spPr bwMode="auto">
          <a:xfrm>
            <a:off x="8172450" y="2276475"/>
            <a:ext cx="792163" cy="719138"/>
          </a:xfrm>
          <a:prstGeom prst="rect">
            <a:avLst/>
          </a:prstGeom>
          <a:solidFill>
            <a:srgbClr val="FFCCFF"/>
          </a:solidFill>
          <a:ln w="9525" algn="ctr">
            <a:solidFill>
              <a:schemeClr val="tx1"/>
            </a:solidFill>
            <a:miter lim="800000"/>
            <a:headEnd/>
            <a:tailEnd/>
          </a:ln>
          <a:effectLst/>
        </p:spPr>
        <p:txBody>
          <a:bodyPr wrap="none" anchor="ctr"/>
          <a:lstStyle/>
          <a:p>
            <a:pPr algn="ctr"/>
            <a:r>
              <a:rPr lang="fi-FI" sz="1200" b="0">
                <a:latin typeface="Arial Narrow" pitchFamily="34" charset="0"/>
              </a:rPr>
              <a:t>Paluutiedot</a:t>
            </a:r>
            <a:br>
              <a:rPr lang="fi-FI" sz="1200" b="0">
                <a:latin typeface="Arial Narrow" pitchFamily="34" charset="0"/>
              </a:rPr>
            </a:br>
            <a:r>
              <a:rPr lang="fi-FI" sz="1200" b="0" u="sng">
                <a:latin typeface="Arial Narrow" pitchFamily="34" charset="0"/>
              </a:rPr>
              <a:t>Ilmarinen</a:t>
            </a:r>
            <a:endParaRPr lang="en-US" sz="1200" b="0" u="sng">
              <a:latin typeface="Arial Narrow" pitchFamily="34" charset="0"/>
            </a:endParaRPr>
          </a:p>
        </p:txBody>
      </p:sp>
      <p:sp>
        <p:nvSpPr>
          <p:cNvPr id="10269" name="Rectangle 29"/>
          <p:cNvSpPr>
            <a:spLocks noChangeArrowheads="1"/>
          </p:cNvSpPr>
          <p:nvPr/>
        </p:nvSpPr>
        <p:spPr bwMode="auto">
          <a:xfrm>
            <a:off x="107950" y="4005263"/>
            <a:ext cx="8856663" cy="71437"/>
          </a:xfrm>
          <a:prstGeom prst="rect">
            <a:avLst/>
          </a:prstGeom>
          <a:solidFill>
            <a:srgbClr val="CCFF99"/>
          </a:solidFill>
          <a:ln w="9525" algn="ctr">
            <a:solidFill>
              <a:schemeClr val="tx1"/>
            </a:solidFill>
            <a:miter lim="800000"/>
            <a:headEnd/>
            <a:tailEnd/>
          </a:ln>
          <a:effectLst/>
        </p:spPr>
        <p:txBody>
          <a:bodyPr wrap="none" anchor="ctr"/>
          <a:lstStyle/>
          <a:p>
            <a:pPr algn="ctr"/>
            <a:endParaRPr lang="fi-FI" b="0">
              <a:latin typeface="Arial Narrow" pitchFamily="34" charset="0"/>
            </a:endParaRPr>
          </a:p>
        </p:txBody>
      </p:sp>
      <p:sp>
        <p:nvSpPr>
          <p:cNvPr id="10270" name="Rectangle 30"/>
          <p:cNvSpPr>
            <a:spLocks noChangeArrowheads="1"/>
          </p:cNvSpPr>
          <p:nvPr/>
        </p:nvSpPr>
        <p:spPr bwMode="auto">
          <a:xfrm>
            <a:off x="2411413" y="2278063"/>
            <a:ext cx="792162" cy="719137"/>
          </a:xfrm>
          <a:prstGeom prst="rect">
            <a:avLst/>
          </a:prstGeom>
          <a:solidFill>
            <a:schemeClr val="accent1"/>
          </a:solidFill>
          <a:ln w="9525" algn="ctr">
            <a:solidFill>
              <a:schemeClr val="tx1"/>
            </a:solidFill>
            <a:miter lim="800000"/>
            <a:headEnd/>
            <a:tailEnd/>
          </a:ln>
          <a:effectLst/>
        </p:spPr>
        <p:txBody>
          <a:bodyPr wrap="none" anchor="ctr"/>
          <a:lstStyle/>
          <a:p>
            <a:pPr algn="ctr"/>
            <a:r>
              <a:rPr lang="fi-FI" sz="1200" b="0">
                <a:latin typeface="Arial Narrow" pitchFamily="34" charset="0"/>
              </a:rPr>
              <a:t>SVP</a:t>
            </a:r>
          </a:p>
          <a:p>
            <a:pPr algn="ctr"/>
            <a:r>
              <a:rPr lang="fi-FI" sz="1200" b="0" u="sng">
                <a:latin typeface="Arial Narrow" pitchFamily="34" charset="0"/>
              </a:rPr>
              <a:t>FD</a:t>
            </a:r>
            <a:endParaRPr lang="en-US" sz="1200" b="0" u="sng">
              <a:latin typeface="Arial Narrow" pitchFamily="34" charset="0"/>
            </a:endParaRPr>
          </a:p>
        </p:txBody>
      </p:sp>
      <p:sp>
        <p:nvSpPr>
          <p:cNvPr id="10271" name="AutoShape 31"/>
          <p:cNvSpPr>
            <a:spLocks noChangeArrowheads="1"/>
          </p:cNvSpPr>
          <p:nvPr/>
        </p:nvSpPr>
        <p:spPr bwMode="auto">
          <a:xfrm>
            <a:off x="3275013" y="2349500"/>
            <a:ext cx="217487" cy="576263"/>
          </a:xfrm>
          <a:prstGeom prst="rightArrow">
            <a:avLst>
              <a:gd name="adj1" fmla="val 50000"/>
              <a:gd name="adj2" fmla="val 25000"/>
            </a:avLst>
          </a:prstGeom>
          <a:solidFill>
            <a:schemeClr val="folHlink"/>
          </a:solidFill>
          <a:ln w="9525" algn="ctr">
            <a:solidFill>
              <a:schemeClr val="tx1"/>
            </a:solidFill>
            <a:miter lim="800000"/>
            <a:headEnd/>
            <a:tailEnd/>
          </a:ln>
          <a:effectLst/>
        </p:spPr>
        <p:txBody>
          <a:bodyPr wrap="none" anchor="ctr"/>
          <a:lstStyle/>
          <a:p>
            <a:endParaRPr lang="fi-FI"/>
          </a:p>
        </p:txBody>
      </p:sp>
      <p:sp>
        <p:nvSpPr>
          <p:cNvPr id="10273" name="Text Box 33"/>
          <p:cNvSpPr txBox="1">
            <a:spLocks noChangeArrowheads="1"/>
          </p:cNvSpPr>
          <p:nvPr/>
        </p:nvSpPr>
        <p:spPr bwMode="auto">
          <a:xfrm>
            <a:off x="2484438" y="4437063"/>
            <a:ext cx="1943100" cy="1754326"/>
          </a:xfrm>
          <a:prstGeom prst="rect">
            <a:avLst/>
          </a:prstGeom>
          <a:noFill/>
          <a:ln w="9525" algn="ctr">
            <a:noFill/>
            <a:miter lim="800000"/>
            <a:headEnd/>
            <a:tailEnd/>
          </a:ln>
          <a:effectLst/>
        </p:spPr>
        <p:txBody>
          <a:bodyPr>
            <a:spAutoFit/>
          </a:bodyPr>
          <a:lstStyle/>
          <a:p>
            <a:pPr>
              <a:spcBef>
                <a:spcPct val="50000"/>
              </a:spcBef>
            </a:pPr>
            <a:r>
              <a:rPr lang="fi-FI" sz="1200" dirty="0">
                <a:latin typeface="Arial Narrow" pitchFamily="34" charset="0"/>
              </a:rPr>
              <a:t>Valmisteluvaiheen järjestelmätestauksen tuki:</a:t>
            </a:r>
          </a:p>
          <a:p>
            <a:pPr>
              <a:spcBef>
                <a:spcPct val="50000"/>
              </a:spcBef>
              <a:buFontTx/>
              <a:buChar char="•"/>
            </a:pPr>
            <a:r>
              <a:rPr lang="fi-FI" sz="1200" dirty="0">
                <a:latin typeface="Arial Narrow" pitchFamily="34" charset="0"/>
              </a:rPr>
              <a:t> </a:t>
            </a:r>
            <a:r>
              <a:rPr lang="fi-FI" sz="1200" b="0" dirty="0" smtClean="0">
                <a:latin typeface="Arial Narrow" pitchFamily="34" charset="0"/>
              </a:rPr>
              <a:t>TyEL-vakuutettujen </a:t>
            </a:r>
            <a:r>
              <a:rPr lang="fi-FI" sz="1200" b="0" dirty="0">
                <a:latin typeface="Arial Narrow" pitchFamily="34" charset="0"/>
              </a:rPr>
              <a:t>otteita Arekin järjestelmätestistä – sisällön oikeellisuus</a:t>
            </a:r>
          </a:p>
          <a:p>
            <a:pPr>
              <a:spcBef>
                <a:spcPct val="50000"/>
              </a:spcBef>
              <a:buFontTx/>
              <a:buChar char="•"/>
            </a:pPr>
            <a:r>
              <a:rPr lang="fi-FI" sz="1200" b="0" dirty="0">
                <a:latin typeface="Arial Narrow" pitchFamily="34" charset="0"/>
              </a:rPr>
              <a:t>YEL-vakuutettujen otteita järjestelmätestistä – sisällön oikeellisuus</a:t>
            </a:r>
            <a:endParaRPr lang="en-US" sz="1200" b="0" dirty="0">
              <a:latin typeface="Arial Narrow" pitchFamily="34" charset="0"/>
            </a:endParaRPr>
          </a:p>
        </p:txBody>
      </p:sp>
      <p:sp>
        <p:nvSpPr>
          <p:cNvPr id="10274" name="Text Box 34"/>
          <p:cNvSpPr txBox="1">
            <a:spLocks noChangeArrowheads="1"/>
          </p:cNvSpPr>
          <p:nvPr/>
        </p:nvSpPr>
        <p:spPr bwMode="auto">
          <a:xfrm>
            <a:off x="4716463" y="4464050"/>
            <a:ext cx="4176712" cy="1373188"/>
          </a:xfrm>
          <a:prstGeom prst="rect">
            <a:avLst/>
          </a:prstGeom>
          <a:noFill/>
          <a:ln w="9525" algn="ctr">
            <a:noFill/>
            <a:miter lim="800000"/>
            <a:headEnd/>
            <a:tailEnd/>
          </a:ln>
          <a:effectLst/>
        </p:spPr>
        <p:txBody>
          <a:bodyPr>
            <a:spAutoFit/>
          </a:bodyPr>
          <a:lstStyle/>
          <a:p>
            <a:pPr>
              <a:spcBef>
                <a:spcPct val="50000"/>
              </a:spcBef>
            </a:pPr>
            <a:r>
              <a:rPr lang="fi-FI" sz="1200" dirty="0">
                <a:latin typeface="Arial Narrow" pitchFamily="34" charset="0"/>
              </a:rPr>
              <a:t>Hyväksymistestausvaihe</a:t>
            </a:r>
          </a:p>
          <a:p>
            <a:pPr>
              <a:spcBef>
                <a:spcPct val="50000"/>
              </a:spcBef>
              <a:buFontTx/>
              <a:buChar char="•"/>
            </a:pPr>
            <a:r>
              <a:rPr lang="fi-FI" sz="1200" dirty="0">
                <a:latin typeface="Arial Narrow" pitchFamily="34" charset="0"/>
              </a:rPr>
              <a:t> </a:t>
            </a:r>
            <a:r>
              <a:rPr lang="fi-FI" sz="1200" b="0" dirty="0">
                <a:latin typeface="Arial Narrow" pitchFamily="34" charset="0"/>
              </a:rPr>
              <a:t>Erien rakentaminen ja lähettäminen tuotannonkaltaisesti</a:t>
            </a:r>
            <a:endParaRPr lang="fi-FI" sz="1200" dirty="0">
              <a:latin typeface="Arial Narrow" pitchFamily="34" charset="0"/>
            </a:endParaRPr>
          </a:p>
          <a:p>
            <a:pPr>
              <a:spcBef>
                <a:spcPct val="50000"/>
              </a:spcBef>
              <a:buFontTx/>
              <a:buChar char="•"/>
            </a:pPr>
            <a:r>
              <a:rPr lang="fi-FI" sz="1200" b="0" dirty="0">
                <a:latin typeface="Arial Narrow" pitchFamily="34" charset="0"/>
              </a:rPr>
              <a:t> Yksittäiset otesisällöt – liiketoiminnallinen kattavuus</a:t>
            </a:r>
          </a:p>
          <a:p>
            <a:pPr>
              <a:spcBef>
                <a:spcPct val="50000"/>
              </a:spcBef>
              <a:buFontTx/>
              <a:buChar char="•"/>
            </a:pPr>
            <a:r>
              <a:rPr lang="fi-FI" sz="1200" b="0" dirty="0">
                <a:latin typeface="Arial Narrow" pitchFamily="34" charset="0"/>
              </a:rPr>
              <a:t> Tulosteen oikeellisuus – pieni otos </a:t>
            </a:r>
            <a:r>
              <a:rPr lang="fi-FI" sz="1200" b="0" dirty="0" smtClean="0">
                <a:latin typeface="Arial Narrow" pitchFamily="34" charset="0"/>
              </a:rPr>
              <a:t>Itellasta</a:t>
            </a:r>
            <a:endParaRPr lang="fi-FI" sz="1200" b="0" dirty="0">
              <a:latin typeface="Arial Narrow" pitchFamily="34" charset="0"/>
            </a:endParaRPr>
          </a:p>
          <a:p>
            <a:pPr>
              <a:spcBef>
                <a:spcPct val="50000"/>
              </a:spcBef>
              <a:buFontTx/>
              <a:buChar char="•"/>
            </a:pPr>
            <a:r>
              <a:rPr lang="fi-FI" sz="1200" b="0" dirty="0">
                <a:latin typeface="Arial Narrow" pitchFamily="34" charset="0"/>
              </a:rPr>
              <a:t> Käsittelyn keskeytyminen virheeseen</a:t>
            </a:r>
            <a:endParaRPr lang="en-US" sz="1200" b="0" dirty="0">
              <a:latin typeface="Arial Narrow" pitchFamily="34" charset="0"/>
            </a:endParaRPr>
          </a:p>
        </p:txBody>
      </p:sp>
      <p:sp>
        <p:nvSpPr>
          <p:cNvPr id="10275" name="Text Box 35"/>
          <p:cNvSpPr txBox="1">
            <a:spLocks noChangeArrowheads="1"/>
          </p:cNvSpPr>
          <p:nvPr/>
        </p:nvSpPr>
        <p:spPr bwMode="auto">
          <a:xfrm>
            <a:off x="179388" y="4437063"/>
            <a:ext cx="2160587" cy="1920875"/>
          </a:xfrm>
          <a:prstGeom prst="rect">
            <a:avLst/>
          </a:prstGeom>
          <a:noFill/>
          <a:ln w="9525" algn="ctr">
            <a:noFill/>
            <a:miter lim="800000"/>
            <a:headEnd/>
            <a:tailEnd/>
          </a:ln>
          <a:effectLst/>
        </p:spPr>
        <p:txBody>
          <a:bodyPr>
            <a:spAutoFit/>
          </a:bodyPr>
          <a:lstStyle/>
          <a:p>
            <a:pPr>
              <a:spcBef>
                <a:spcPct val="50000"/>
              </a:spcBef>
            </a:pPr>
            <a:r>
              <a:rPr lang="fi-FI" sz="1200">
                <a:latin typeface="Arial Narrow" pitchFamily="34" charset="0"/>
              </a:rPr>
              <a:t>Testisuunnittelu: </a:t>
            </a:r>
          </a:p>
          <a:p>
            <a:pPr>
              <a:spcBef>
                <a:spcPct val="50000"/>
              </a:spcBef>
              <a:buFontTx/>
              <a:buChar char="•"/>
            </a:pPr>
            <a:r>
              <a:rPr lang="fi-FI" sz="1200">
                <a:latin typeface="Arial Narrow" pitchFamily="34" charset="0"/>
              </a:rPr>
              <a:t> </a:t>
            </a:r>
            <a:r>
              <a:rPr lang="fi-FI" sz="1200" b="0">
                <a:latin typeface="Arial Narrow" pitchFamily="34" charset="0"/>
              </a:rPr>
              <a:t>järjestelmätestauksen tuen hetulistat, ei-YEL ja YEL</a:t>
            </a:r>
          </a:p>
          <a:p>
            <a:pPr>
              <a:spcBef>
                <a:spcPct val="50000"/>
              </a:spcBef>
              <a:buFontTx/>
              <a:buChar char="•"/>
            </a:pPr>
            <a:r>
              <a:rPr lang="fi-FI" sz="1200" b="0">
                <a:latin typeface="Arial Narrow" pitchFamily="34" charset="0"/>
              </a:rPr>
              <a:t> kokoavan järjestelmätestauksen testitapaukset</a:t>
            </a:r>
          </a:p>
          <a:p>
            <a:pPr>
              <a:spcBef>
                <a:spcPct val="50000"/>
              </a:spcBef>
              <a:buFontTx/>
              <a:buChar char="•"/>
            </a:pPr>
            <a:r>
              <a:rPr lang="fi-FI" sz="1200" b="0">
                <a:latin typeface="Arial Narrow" pitchFamily="34" charset="0"/>
              </a:rPr>
              <a:t> Ilmarisen hyväksymistestitapaukset</a:t>
            </a:r>
          </a:p>
          <a:p>
            <a:pPr>
              <a:spcBef>
                <a:spcPct val="50000"/>
              </a:spcBef>
              <a:buFontTx/>
              <a:buChar char="•"/>
            </a:pPr>
            <a:endParaRPr lang="en-US" sz="1200" b="0">
              <a:latin typeface="Arial Narrow" pitchFamily="34" charset="0"/>
            </a:endParaRPr>
          </a:p>
        </p:txBody>
      </p:sp>
      <p:sp>
        <p:nvSpPr>
          <p:cNvPr id="10276" name="Line 36"/>
          <p:cNvSpPr>
            <a:spLocks noChangeShapeType="1"/>
          </p:cNvSpPr>
          <p:nvPr/>
        </p:nvSpPr>
        <p:spPr bwMode="auto">
          <a:xfrm>
            <a:off x="2268538" y="4508500"/>
            <a:ext cx="0" cy="1584325"/>
          </a:xfrm>
          <a:prstGeom prst="line">
            <a:avLst/>
          </a:prstGeom>
          <a:noFill/>
          <a:ln w="9525">
            <a:solidFill>
              <a:schemeClr val="tx1"/>
            </a:solidFill>
            <a:round/>
            <a:headEnd/>
            <a:tailEnd/>
          </a:ln>
          <a:effectLst/>
        </p:spPr>
        <p:txBody>
          <a:bodyPr wrap="none" anchor="ctr"/>
          <a:lstStyle/>
          <a:p>
            <a:endParaRPr lang="fi-FI"/>
          </a:p>
        </p:txBody>
      </p:sp>
      <p:sp>
        <p:nvSpPr>
          <p:cNvPr id="10277" name="Line 37"/>
          <p:cNvSpPr>
            <a:spLocks noChangeShapeType="1"/>
          </p:cNvSpPr>
          <p:nvPr/>
        </p:nvSpPr>
        <p:spPr bwMode="auto">
          <a:xfrm>
            <a:off x="4572000" y="4508500"/>
            <a:ext cx="0" cy="1584325"/>
          </a:xfrm>
          <a:prstGeom prst="line">
            <a:avLst/>
          </a:prstGeom>
          <a:noFill/>
          <a:ln w="9525">
            <a:solidFill>
              <a:schemeClr val="tx1"/>
            </a:solidFill>
            <a:round/>
            <a:headEnd/>
            <a:tailEnd/>
          </a:ln>
          <a:effectLst/>
        </p:spPr>
        <p:txBody>
          <a:bodyPr wrap="none" anchor="ctr"/>
          <a:lstStyle/>
          <a:p>
            <a:endParaRPr lang="fi-FI"/>
          </a:p>
        </p:txBody>
      </p:sp>
      <p:sp>
        <p:nvSpPr>
          <p:cNvPr id="27" name="Slide Number Placeholder 26"/>
          <p:cNvSpPr>
            <a:spLocks noGrp="1"/>
          </p:cNvSpPr>
          <p:nvPr>
            <p:ph type="sldNum" sz="quarter" idx="12"/>
          </p:nvPr>
        </p:nvSpPr>
        <p:spPr/>
        <p:txBody>
          <a:bodyPr/>
          <a:lstStyle/>
          <a:p>
            <a:fld id="{1FC54B03-E980-44E0-A0F1-6CAD9D10ECFB}" type="slidenum">
              <a:rPr lang="fi-FI" smtClean="0"/>
              <a:pPr/>
              <a:t>54</a:t>
            </a:fld>
            <a:endParaRPr lang="fi-FI"/>
          </a:p>
        </p:txBody>
      </p:sp>
    </p:spTree>
  </p:cSld>
  <p:clrMapOvr>
    <a:masterClrMapping/>
  </p:clrMapOvr>
  <p:timing>
    <p:tnLst>
      <p:par>
        <p:cTn xmlns:p14="http://schemas.microsoft.com/office/powerpoint/2010/mai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fi-FI" dirty="0" smtClean="0"/>
              <a:t>Laadun ja testauskohteiden monet näkökulmat</a:t>
            </a:r>
            <a:endParaRPr lang="fi-FI" dirty="0"/>
          </a:p>
        </p:txBody>
      </p:sp>
      <p:sp>
        <p:nvSpPr>
          <p:cNvPr id="6" name="Text Placeholder 5"/>
          <p:cNvSpPr>
            <a:spLocks noGrp="1"/>
          </p:cNvSpPr>
          <p:nvPr>
            <p:ph type="body" idx="1"/>
          </p:nvPr>
        </p:nvSpPr>
        <p:spPr/>
        <p:txBody>
          <a:bodyPr/>
          <a:lstStyle/>
          <a:p>
            <a:endParaRPr lang="fi-FI" dirty="0"/>
          </a:p>
        </p:txBody>
      </p:sp>
      <p:sp>
        <p:nvSpPr>
          <p:cNvPr id="4" name="Slide Number Placeholder 3"/>
          <p:cNvSpPr>
            <a:spLocks noGrp="1"/>
          </p:cNvSpPr>
          <p:nvPr>
            <p:ph type="sldNum" sz="quarter" idx="12"/>
          </p:nvPr>
        </p:nvSpPr>
        <p:spPr/>
        <p:txBody>
          <a:bodyPr/>
          <a:lstStyle/>
          <a:p>
            <a:fld id="{1FC54B03-E980-44E0-A0F1-6CAD9D10ECFB}" type="slidenum">
              <a:rPr lang="fi-FI" smtClean="0"/>
              <a:pPr/>
              <a:t>55</a:t>
            </a:fld>
            <a:endParaRPr lang="fi-FI"/>
          </a:p>
        </p:txBody>
      </p:sp>
    </p:spTree>
  </p:cSld>
  <p:clrMapOvr>
    <a:masterClrMapping/>
  </p:clrMapOvr>
  <p:timing>
    <p:tnLst>
      <p:par>
        <p:cTn xmlns:p14="http://schemas.microsoft.com/office/powerpoint/2010/mai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tsikko 3"/>
          <p:cNvSpPr>
            <a:spLocks noGrp="1"/>
          </p:cNvSpPr>
          <p:nvPr>
            <p:ph type="title"/>
          </p:nvPr>
        </p:nvSpPr>
        <p:spPr/>
        <p:txBody>
          <a:bodyPr/>
          <a:lstStyle/>
          <a:p>
            <a:r>
              <a:rPr lang="fi-FI" dirty="0" smtClean="0"/>
              <a:t>Laatuhierarkia</a:t>
            </a:r>
            <a:br>
              <a:rPr lang="fi-FI" dirty="0" smtClean="0"/>
            </a:br>
            <a:r>
              <a:rPr lang="fi-FI" sz="2000" dirty="0" smtClean="0"/>
              <a:t>Lähde: Muokattu </a:t>
            </a:r>
            <a:r>
              <a:rPr lang="fi-FI" sz="2000" dirty="0" err="1" smtClean="0"/>
              <a:t>Gojko</a:t>
            </a:r>
            <a:r>
              <a:rPr lang="fi-FI" sz="2000" dirty="0" smtClean="0"/>
              <a:t> </a:t>
            </a:r>
            <a:r>
              <a:rPr lang="fi-FI" sz="2000" dirty="0" err="1" smtClean="0"/>
              <a:t>Adjicin</a:t>
            </a:r>
            <a:r>
              <a:rPr lang="fi-FI" sz="2000" dirty="0" smtClean="0"/>
              <a:t> ideasta</a:t>
            </a:r>
            <a:endParaRPr lang="en-US" dirty="0"/>
          </a:p>
        </p:txBody>
      </p:sp>
      <p:sp>
        <p:nvSpPr>
          <p:cNvPr id="5" name="Tasakylkinen kolmio 4"/>
          <p:cNvSpPr/>
          <p:nvPr/>
        </p:nvSpPr>
        <p:spPr>
          <a:xfrm>
            <a:off x="323528" y="1556792"/>
            <a:ext cx="8568952" cy="4824536"/>
          </a:xfrm>
          <a:prstGeom prst="triangle">
            <a:avLst/>
          </a:prstGeom>
          <a:gradFill flip="none"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5400000" scaled="1"/>
            <a:tileRect/>
          </a:gradFill>
          <a:ln w="57150"/>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6" name="Tekstikehys 5"/>
          <p:cNvSpPr txBox="1"/>
          <p:nvPr/>
        </p:nvSpPr>
        <p:spPr>
          <a:xfrm>
            <a:off x="1259632" y="5445224"/>
            <a:ext cx="6768752" cy="954107"/>
          </a:xfrm>
          <a:prstGeom prst="rect">
            <a:avLst/>
          </a:prstGeom>
          <a:noFill/>
        </p:spPr>
        <p:txBody>
          <a:bodyPr wrap="square" rtlCol="0">
            <a:spAutoFit/>
          </a:bodyPr>
          <a:lstStyle/>
          <a:p>
            <a:pPr algn="ctr"/>
            <a:r>
              <a:rPr lang="fi-FI" sz="2800" dirty="0" smtClean="0">
                <a:latin typeface="+mn-lt"/>
              </a:rPr>
              <a:t>Otettavissa käyttöön</a:t>
            </a:r>
          </a:p>
          <a:p>
            <a:pPr algn="ctr"/>
            <a:r>
              <a:rPr lang="fi-FI" sz="2800" dirty="0" smtClean="0">
                <a:latin typeface="+mn-lt"/>
              </a:rPr>
              <a:t>Toimiva monipuolisella aineistolla</a:t>
            </a:r>
            <a:endParaRPr lang="en-US" sz="2800" dirty="0">
              <a:latin typeface="+mn-lt"/>
            </a:endParaRPr>
          </a:p>
        </p:txBody>
      </p:sp>
      <p:cxnSp>
        <p:nvCxnSpPr>
          <p:cNvPr id="8" name="Suora yhdysviiva 7"/>
          <p:cNvCxnSpPr/>
          <p:nvPr/>
        </p:nvCxnSpPr>
        <p:spPr>
          <a:xfrm>
            <a:off x="1115616" y="5445224"/>
            <a:ext cx="6912768" cy="0"/>
          </a:xfrm>
          <a:prstGeom prst="line">
            <a:avLst/>
          </a:prstGeom>
        </p:spPr>
        <p:style>
          <a:lnRef idx="3">
            <a:schemeClr val="accent5"/>
          </a:lnRef>
          <a:fillRef idx="0">
            <a:schemeClr val="accent5"/>
          </a:fillRef>
          <a:effectRef idx="2">
            <a:schemeClr val="accent5"/>
          </a:effectRef>
          <a:fontRef idx="minor">
            <a:schemeClr val="tx1"/>
          </a:fontRef>
        </p:style>
      </p:cxnSp>
      <p:sp>
        <p:nvSpPr>
          <p:cNvPr id="11" name="Tekstikehys 10"/>
          <p:cNvSpPr txBox="1"/>
          <p:nvPr/>
        </p:nvSpPr>
        <p:spPr>
          <a:xfrm>
            <a:off x="1259632" y="4509120"/>
            <a:ext cx="6768752" cy="954107"/>
          </a:xfrm>
          <a:prstGeom prst="rect">
            <a:avLst/>
          </a:prstGeom>
          <a:noFill/>
        </p:spPr>
        <p:txBody>
          <a:bodyPr wrap="square" rtlCol="0">
            <a:spAutoFit/>
          </a:bodyPr>
          <a:lstStyle/>
          <a:p>
            <a:pPr algn="ctr"/>
            <a:r>
              <a:rPr lang="fi-FI" sz="2800" dirty="0" smtClean="0">
                <a:latin typeface="+mn-lt"/>
              </a:rPr>
              <a:t>Suorituskykyinen</a:t>
            </a:r>
          </a:p>
          <a:p>
            <a:pPr algn="ctr"/>
            <a:r>
              <a:rPr lang="fi-FI" sz="2800" dirty="0" smtClean="0">
                <a:latin typeface="+mn-lt"/>
              </a:rPr>
              <a:t>Turvallinen</a:t>
            </a:r>
            <a:endParaRPr lang="en-US" sz="2800" dirty="0">
              <a:latin typeface="+mn-lt"/>
            </a:endParaRPr>
          </a:p>
        </p:txBody>
      </p:sp>
      <p:cxnSp>
        <p:nvCxnSpPr>
          <p:cNvPr id="13" name="Suora yhdysviiva 12"/>
          <p:cNvCxnSpPr/>
          <p:nvPr/>
        </p:nvCxnSpPr>
        <p:spPr>
          <a:xfrm>
            <a:off x="1979712" y="4509120"/>
            <a:ext cx="5256584" cy="0"/>
          </a:xfrm>
          <a:prstGeom prst="line">
            <a:avLst/>
          </a:prstGeom>
        </p:spPr>
        <p:style>
          <a:lnRef idx="3">
            <a:schemeClr val="accent4"/>
          </a:lnRef>
          <a:fillRef idx="0">
            <a:schemeClr val="accent4"/>
          </a:fillRef>
          <a:effectRef idx="2">
            <a:schemeClr val="accent4"/>
          </a:effectRef>
          <a:fontRef idx="minor">
            <a:schemeClr val="tx1"/>
          </a:fontRef>
        </p:style>
      </p:cxnSp>
      <p:sp>
        <p:nvSpPr>
          <p:cNvPr id="14" name="Tekstikehys 13"/>
          <p:cNvSpPr txBox="1"/>
          <p:nvPr/>
        </p:nvSpPr>
        <p:spPr>
          <a:xfrm>
            <a:off x="1259632" y="3933056"/>
            <a:ext cx="6768752" cy="523220"/>
          </a:xfrm>
          <a:prstGeom prst="rect">
            <a:avLst/>
          </a:prstGeom>
          <a:noFill/>
        </p:spPr>
        <p:txBody>
          <a:bodyPr wrap="square" rtlCol="0">
            <a:spAutoFit/>
          </a:bodyPr>
          <a:lstStyle/>
          <a:p>
            <a:pPr algn="ctr"/>
            <a:r>
              <a:rPr lang="fi-FI" sz="2800" dirty="0" smtClean="0">
                <a:latin typeface="+mn-lt"/>
              </a:rPr>
              <a:t>Käytettävä</a:t>
            </a:r>
            <a:endParaRPr lang="en-US" sz="2800" dirty="0">
              <a:latin typeface="+mn-lt"/>
            </a:endParaRPr>
          </a:p>
        </p:txBody>
      </p:sp>
      <p:sp>
        <p:nvSpPr>
          <p:cNvPr id="15" name="Tekstikehys 14"/>
          <p:cNvSpPr txBox="1"/>
          <p:nvPr/>
        </p:nvSpPr>
        <p:spPr>
          <a:xfrm>
            <a:off x="1259632" y="3212976"/>
            <a:ext cx="6768752" cy="523220"/>
          </a:xfrm>
          <a:prstGeom prst="rect">
            <a:avLst/>
          </a:prstGeom>
          <a:noFill/>
        </p:spPr>
        <p:txBody>
          <a:bodyPr wrap="square" rtlCol="0">
            <a:spAutoFit/>
          </a:bodyPr>
          <a:lstStyle/>
          <a:p>
            <a:pPr algn="ctr"/>
            <a:r>
              <a:rPr lang="fi-FI" sz="2800" dirty="0" smtClean="0">
                <a:latin typeface="+mn-lt"/>
              </a:rPr>
              <a:t>Hyödyllinen</a:t>
            </a:r>
            <a:endParaRPr lang="en-US" sz="2800" dirty="0">
              <a:latin typeface="+mn-lt"/>
            </a:endParaRPr>
          </a:p>
        </p:txBody>
      </p:sp>
      <p:sp>
        <p:nvSpPr>
          <p:cNvPr id="16" name="Tekstikehys 15"/>
          <p:cNvSpPr txBox="1"/>
          <p:nvPr/>
        </p:nvSpPr>
        <p:spPr>
          <a:xfrm>
            <a:off x="1228100" y="2473732"/>
            <a:ext cx="6768752" cy="523220"/>
          </a:xfrm>
          <a:prstGeom prst="rect">
            <a:avLst/>
          </a:prstGeom>
          <a:noFill/>
        </p:spPr>
        <p:txBody>
          <a:bodyPr wrap="square" rtlCol="0">
            <a:spAutoFit/>
          </a:bodyPr>
          <a:lstStyle/>
          <a:p>
            <a:pPr algn="ctr"/>
            <a:r>
              <a:rPr lang="fi-FI" sz="2800" dirty="0" smtClean="0">
                <a:latin typeface="+mn-lt"/>
              </a:rPr>
              <a:t>Onnistunut</a:t>
            </a:r>
            <a:endParaRPr lang="en-US" sz="2800" dirty="0">
              <a:latin typeface="+mn-lt"/>
            </a:endParaRPr>
          </a:p>
        </p:txBody>
      </p:sp>
      <p:cxnSp>
        <p:nvCxnSpPr>
          <p:cNvPr id="18" name="Suora yhdysviiva 17"/>
          <p:cNvCxnSpPr/>
          <p:nvPr/>
        </p:nvCxnSpPr>
        <p:spPr>
          <a:xfrm>
            <a:off x="3275856" y="3068960"/>
            <a:ext cx="2664296" cy="0"/>
          </a:xfrm>
          <a:prstGeom prst="line">
            <a:avLst/>
          </a:prstGeom>
        </p:spPr>
        <p:style>
          <a:lnRef idx="3">
            <a:schemeClr val="accent6"/>
          </a:lnRef>
          <a:fillRef idx="0">
            <a:schemeClr val="accent6"/>
          </a:fillRef>
          <a:effectRef idx="2">
            <a:schemeClr val="accent6"/>
          </a:effectRef>
          <a:fontRef idx="minor">
            <a:schemeClr val="tx1"/>
          </a:fontRef>
        </p:style>
      </p:cxnSp>
      <p:cxnSp>
        <p:nvCxnSpPr>
          <p:cNvPr id="20" name="Suora yhdysviiva 19"/>
          <p:cNvCxnSpPr/>
          <p:nvPr/>
        </p:nvCxnSpPr>
        <p:spPr>
          <a:xfrm>
            <a:off x="2627784" y="3789040"/>
            <a:ext cx="3960440" cy="0"/>
          </a:xfrm>
          <a:prstGeom prst="line">
            <a:avLst/>
          </a:prstGeom>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xmlns:p14="http://schemas.microsoft.com/office/powerpoint/2010/mai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6" name="Rectangle 2"/>
          <p:cNvSpPr>
            <a:spLocks noGrp="1" noChangeArrowheads="1"/>
          </p:cNvSpPr>
          <p:nvPr>
            <p:ph type="title"/>
          </p:nvPr>
        </p:nvSpPr>
        <p:spPr/>
        <p:txBody>
          <a:bodyPr>
            <a:normAutofit fontScale="90000"/>
          </a:bodyPr>
          <a:lstStyle/>
          <a:p>
            <a:r>
              <a:rPr lang="fi-FI" smtClean="0"/>
              <a:t>Toiminnallisen testauksen testaustyyppejä</a:t>
            </a:r>
            <a:endParaRPr lang="fi-FI"/>
          </a:p>
        </p:txBody>
      </p:sp>
      <p:sp>
        <p:nvSpPr>
          <p:cNvPr id="6" name="Slide Number Placeholder 5"/>
          <p:cNvSpPr>
            <a:spLocks noGrp="1"/>
          </p:cNvSpPr>
          <p:nvPr>
            <p:ph type="sldNum" sz="quarter" idx="12"/>
          </p:nvPr>
        </p:nvSpPr>
        <p:spPr/>
        <p:txBody>
          <a:bodyPr/>
          <a:lstStyle/>
          <a:p>
            <a:fld id="{6EC9AE22-300D-474E-8332-298EA3086E64}" type="slidenum">
              <a:rPr lang="en-US" smtClean="0"/>
              <a:pPr/>
              <a:t>57</a:t>
            </a:fld>
            <a:endParaRPr lang="en-US"/>
          </a:p>
        </p:txBody>
      </p:sp>
      <p:sp>
        <p:nvSpPr>
          <p:cNvPr id="584707" name="Rectangle 3"/>
          <p:cNvSpPr>
            <a:spLocks noGrp="1" noChangeArrowheads="1"/>
          </p:cNvSpPr>
          <p:nvPr>
            <p:ph type="body" sz="half" idx="1"/>
          </p:nvPr>
        </p:nvSpPr>
        <p:spPr/>
        <p:txBody>
          <a:bodyPr>
            <a:normAutofit fontScale="62500" lnSpcReduction="20000"/>
          </a:bodyPr>
          <a:lstStyle/>
          <a:p>
            <a:r>
              <a:rPr lang="fi-FI" dirty="0" smtClean="0"/>
              <a:t>Toiminnallisuustestaus (</a:t>
            </a:r>
            <a:r>
              <a:rPr lang="fi-FI" dirty="0" err="1" smtClean="0"/>
              <a:t>functionality</a:t>
            </a:r>
            <a:r>
              <a:rPr lang="fi-FI" dirty="0" smtClean="0"/>
              <a:t> </a:t>
            </a:r>
            <a:r>
              <a:rPr lang="fi-FI" dirty="0" err="1" smtClean="0"/>
              <a:t>testing</a:t>
            </a:r>
            <a:r>
              <a:rPr lang="fi-FI" dirty="0" smtClean="0"/>
              <a:t>, feature </a:t>
            </a:r>
            <a:r>
              <a:rPr lang="fi-FI" dirty="0" err="1" smtClean="0"/>
              <a:t>testing</a:t>
            </a:r>
            <a:r>
              <a:rPr lang="fi-FI" dirty="0" smtClean="0"/>
              <a:t>) </a:t>
            </a:r>
          </a:p>
          <a:p>
            <a:r>
              <a:rPr lang="fi-FI" dirty="0" smtClean="0"/>
              <a:t>Yhtäaikaisuustestaus </a:t>
            </a:r>
            <a:br>
              <a:rPr lang="fi-FI" dirty="0" smtClean="0"/>
            </a:br>
            <a:r>
              <a:rPr lang="fi-FI" dirty="0" smtClean="0"/>
              <a:t>(</a:t>
            </a:r>
            <a:r>
              <a:rPr lang="fi-FI" dirty="0" err="1" smtClean="0"/>
              <a:t>concurrency</a:t>
            </a:r>
            <a:r>
              <a:rPr lang="fi-FI" dirty="0" smtClean="0"/>
              <a:t> </a:t>
            </a:r>
            <a:r>
              <a:rPr lang="fi-FI" dirty="0" err="1" smtClean="0"/>
              <a:t>testing</a:t>
            </a:r>
            <a:r>
              <a:rPr lang="fi-FI" dirty="0" smtClean="0"/>
              <a:t>) </a:t>
            </a:r>
          </a:p>
          <a:p>
            <a:r>
              <a:rPr lang="fi-FI" dirty="0" smtClean="0"/>
              <a:t>Asennustestaus (</a:t>
            </a:r>
            <a:r>
              <a:rPr lang="fi-FI" dirty="0" err="1" smtClean="0"/>
              <a:t>installation</a:t>
            </a:r>
            <a:r>
              <a:rPr lang="fi-FI" dirty="0" smtClean="0"/>
              <a:t> </a:t>
            </a:r>
            <a:r>
              <a:rPr lang="fi-FI" dirty="0" err="1" smtClean="0"/>
              <a:t>testing</a:t>
            </a:r>
            <a:r>
              <a:rPr lang="fi-FI" dirty="0" smtClean="0"/>
              <a:t>)</a:t>
            </a:r>
          </a:p>
          <a:p>
            <a:r>
              <a:rPr lang="fi-FI" dirty="0" smtClean="0"/>
              <a:t>Alustatestaus (</a:t>
            </a:r>
            <a:r>
              <a:rPr lang="fi-FI" dirty="0" err="1" smtClean="0"/>
              <a:t>platform</a:t>
            </a:r>
            <a:r>
              <a:rPr lang="fi-FI" dirty="0" smtClean="0"/>
              <a:t> </a:t>
            </a:r>
            <a:r>
              <a:rPr lang="fi-FI" dirty="0" err="1" smtClean="0"/>
              <a:t>testing</a:t>
            </a:r>
            <a:r>
              <a:rPr lang="fi-FI" dirty="0" smtClean="0"/>
              <a:t>) </a:t>
            </a:r>
          </a:p>
          <a:p>
            <a:r>
              <a:rPr lang="fi-FI" dirty="0" smtClean="0"/>
              <a:t>Aloitustestaus (</a:t>
            </a:r>
            <a:r>
              <a:rPr lang="fi-FI" dirty="0" err="1" smtClean="0"/>
              <a:t>build</a:t>
            </a:r>
            <a:r>
              <a:rPr lang="fi-FI" dirty="0" smtClean="0"/>
              <a:t> </a:t>
            </a:r>
            <a:r>
              <a:rPr lang="fi-FI" dirty="0" err="1" smtClean="0"/>
              <a:t>verification</a:t>
            </a:r>
            <a:r>
              <a:rPr lang="fi-FI" dirty="0" smtClean="0"/>
              <a:t> </a:t>
            </a:r>
            <a:r>
              <a:rPr lang="fi-FI" dirty="0" err="1" smtClean="0"/>
              <a:t>testing</a:t>
            </a:r>
            <a:r>
              <a:rPr lang="fi-FI" dirty="0" smtClean="0"/>
              <a:t>, </a:t>
            </a:r>
            <a:r>
              <a:rPr lang="fi-FI" dirty="0" err="1" smtClean="0"/>
              <a:t>smoke</a:t>
            </a:r>
            <a:r>
              <a:rPr lang="fi-FI" dirty="0" smtClean="0"/>
              <a:t> </a:t>
            </a:r>
            <a:r>
              <a:rPr lang="fi-FI" dirty="0" err="1" smtClean="0"/>
              <a:t>testing</a:t>
            </a:r>
            <a:r>
              <a:rPr lang="fi-FI" dirty="0" smtClean="0"/>
              <a:t>)</a:t>
            </a:r>
          </a:p>
          <a:p>
            <a:r>
              <a:rPr lang="fi-FI" dirty="0" err="1" smtClean="0"/>
              <a:t>Konfiguraatiotestaus</a:t>
            </a:r>
            <a:r>
              <a:rPr lang="fi-FI" dirty="0" smtClean="0"/>
              <a:t> </a:t>
            </a:r>
            <a:br>
              <a:rPr lang="fi-FI" dirty="0" smtClean="0"/>
            </a:br>
            <a:r>
              <a:rPr lang="fi-FI" dirty="0" smtClean="0"/>
              <a:t>(</a:t>
            </a:r>
            <a:r>
              <a:rPr lang="fi-FI" dirty="0" err="1" smtClean="0"/>
              <a:t>configuration</a:t>
            </a:r>
            <a:r>
              <a:rPr lang="fi-FI" dirty="0" smtClean="0"/>
              <a:t> </a:t>
            </a:r>
            <a:r>
              <a:rPr lang="fi-FI" dirty="0" err="1" smtClean="0"/>
              <a:t>testing</a:t>
            </a:r>
            <a:r>
              <a:rPr lang="fi-FI" dirty="0" smtClean="0"/>
              <a:t>) </a:t>
            </a:r>
          </a:p>
          <a:p>
            <a:r>
              <a:rPr lang="fi-FI" dirty="0" smtClean="0"/>
              <a:t>Yhteensopivuustestaus (</a:t>
            </a:r>
            <a:r>
              <a:rPr lang="fi-FI" dirty="0" err="1" smtClean="0"/>
              <a:t>compatibility</a:t>
            </a:r>
            <a:r>
              <a:rPr lang="fi-FI" dirty="0" smtClean="0"/>
              <a:t> </a:t>
            </a:r>
            <a:r>
              <a:rPr lang="fi-FI" dirty="0" err="1" smtClean="0"/>
              <a:t>testing</a:t>
            </a:r>
            <a:r>
              <a:rPr lang="fi-FI" dirty="0" smtClean="0"/>
              <a:t>) </a:t>
            </a:r>
          </a:p>
          <a:p>
            <a:r>
              <a:rPr lang="fi-FI" dirty="0" smtClean="0"/>
              <a:t>Prosessitestaus (</a:t>
            </a:r>
            <a:r>
              <a:rPr lang="fi-FI" dirty="0" err="1" smtClean="0"/>
              <a:t>end-to-end</a:t>
            </a:r>
            <a:r>
              <a:rPr lang="fi-FI" dirty="0" smtClean="0"/>
              <a:t> </a:t>
            </a:r>
            <a:r>
              <a:rPr lang="fi-FI" dirty="0" err="1" smtClean="0"/>
              <a:t>testing</a:t>
            </a:r>
            <a:r>
              <a:rPr lang="fi-FI" dirty="0" smtClean="0"/>
              <a:t>) </a:t>
            </a:r>
          </a:p>
          <a:p>
            <a:r>
              <a:rPr lang="fi-FI" dirty="0" smtClean="0"/>
              <a:t>Rinnakkaistestaus</a:t>
            </a:r>
          </a:p>
          <a:p>
            <a:r>
              <a:rPr lang="fi-FI" dirty="0" smtClean="0"/>
              <a:t>Rajapintatestaus (</a:t>
            </a:r>
            <a:r>
              <a:rPr lang="fi-FI" dirty="0" err="1" smtClean="0"/>
              <a:t>interface</a:t>
            </a:r>
            <a:r>
              <a:rPr lang="fi-FI" dirty="0" smtClean="0"/>
              <a:t> </a:t>
            </a:r>
            <a:r>
              <a:rPr lang="fi-FI" dirty="0" err="1" smtClean="0"/>
              <a:t>testing</a:t>
            </a:r>
            <a:r>
              <a:rPr lang="fi-FI" dirty="0" smtClean="0"/>
              <a:t>) </a:t>
            </a:r>
            <a:endParaRPr lang="fi-FI" dirty="0"/>
          </a:p>
        </p:txBody>
      </p:sp>
      <p:sp>
        <p:nvSpPr>
          <p:cNvPr id="584708" name="Rectangle 4"/>
          <p:cNvSpPr>
            <a:spLocks noGrp="1" noChangeArrowheads="1"/>
          </p:cNvSpPr>
          <p:nvPr>
            <p:ph type="body" sz="half" idx="2"/>
          </p:nvPr>
        </p:nvSpPr>
        <p:spPr/>
        <p:txBody>
          <a:bodyPr>
            <a:normAutofit fontScale="70000" lnSpcReduction="20000"/>
          </a:bodyPr>
          <a:lstStyle/>
          <a:p>
            <a:r>
              <a:rPr lang="fi-FI" dirty="0" smtClean="0"/>
              <a:t>Poikkeustilannetestaus </a:t>
            </a:r>
            <a:br>
              <a:rPr lang="fi-FI" dirty="0" smtClean="0"/>
            </a:br>
            <a:r>
              <a:rPr lang="fi-FI" dirty="0" smtClean="0"/>
              <a:t>(</a:t>
            </a:r>
            <a:r>
              <a:rPr lang="fi-FI" dirty="0" err="1" smtClean="0"/>
              <a:t>recovery</a:t>
            </a:r>
            <a:r>
              <a:rPr lang="fi-FI" dirty="0" smtClean="0"/>
              <a:t> </a:t>
            </a:r>
            <a:r>
              <a:rPr lang="fi-FI" dirty="0" err="1" smtClean="0"/>
              <a:t>testing</a:t>
            </a:r>
            <a:r>
              <a:rPr lang="fi-FI" dirty="0" smtClean="0"/>
              <a:t>) </a:t>
            </a:r>
          </a:p>
          <a:p>
            <a:r>
              <a:rPr lang="fi-FI" dirty="0" smtClean="0"/>
              <a:t>Lokalisointitestaus </a:t>
            </a:r>
            <a:br>
              <a:rPr lang="fi-FI" dirty="0" smtClean="0"/>
            </a:br>
            <a:r>
              <a:rPr lang="fi-FI" dirty="0" smtClean="0"/>
              <a:t>(</a:t>
            </a:r>
            <a:r>
              <a:rPr lang="fi-FI" dirty="0" err="1" smtClean="0"/>
              <a:t>localization</a:t>
            </a:r>
            <a:r>
              <a:rPr lang="fi-FI" dirty="0" smtClean="0"/>
              <a:t> </a:t>
            </a:r>
            <a:r>
              <a:rPr lang="fi-FI" dirty="0" err="1" smtClean="0"/>
              <a:t>testing</a:t>
            </a:r>
            <a:r>
              <a:rPr lang="fi-FI" dirty="0" smtClean="0"/>
              <a:t>) </a:t>
            </a:r>
          </a:p>
          <a:p>
            <a:r>
              <a:rPr lang="fi-FI" dirty="0" smtClean="0"/>
              <a:t>Dokumentaation testaus (</a:t>
            </a:r>
            <a:r>
              <a:rPr lang="fi-FI" dirty="0" err="1" smtClean="0"/>
              <a:t>documentation</a:t>
            </a:r>
            <a:r>
              <a:rPr lang="fi-FI" dirty="0" smtClean="0"/>
              <a:t> </a:t>
            </a:r>
            <a:r>
              <a:rPr lang="fi-FI" dirty="0" err="1" smtClean="0"/>
              <a:t>testing</a:t>
            </a:r>
            <a:r>
              <a:rPr lang="fi-FI" dirty="0" smtClean="0"/>
              <a:t>) </a:t>
            </a:r>
          </a:p>
          <a:p>
            <a:r>
              <a:rPr lang="fi-FI" dirty="0" smtClean="0"/>
              <a:t>Aineiston laadun testaus </a:t>
            </a:r>
            <a:br>
              <a:rPr lang="fi-FI" dirty="0" smtClean="0"/>
            </a:br>
            <a:r>
              <a:rPr lang="fi-FI" dirty="0" smtClean="0"/>
              <a:t>(data </a:t>
            </a:r>
            <a:r>
              <a:rPr lang="fi-FI" dirty="0" err="1" smtClean="0"/>
              <a:t>quality</a:t>
            </a:r>
            <a:r>
              <a:rPr lang="fi-FI" dirty="0" smtClean="0"/>
              <a:t> </a:t>
            </a:r>
            <a:r>
              <a:rPr lang="fi-FI" dirty="0" err="1" smtClean="0"/>
              <a:t>testing</a:t>
            </a:r>
            <a:r>
              <a:rPr lang="fi-FI" dirty="0" smtClean="0"/>
              <a:t>) </a:t>
            </a:r>
          </a:p>
          <a:p>
            <a:r>
              <a:rPr lang="fi-FI" dirty="0" smtClean="0"/>
              <a:t>Alfatestaus (alpha </a:t>
            </a:r>
            <a:r>
              <a:rPr lang="fi-FI" dirty="0" err="1" smtClean="0"/>
              <a:t>testing</a:t>
            </a:r>
            <a:r>
              <a:rPr lang="fi-FI" dirty="0" smtClean="0"/>
              <a:t>) </a:t>
            </a:r>
          </a:p>
          <a:p>
            <a:r>
              <a:rPr lang="fi-FI" dirty="0" err="1" smtClean="0"/>
              <a:t>Betatestaus</a:t>
            </a:r>
            <a:r>
              <a:rPr lang="fi-FI" dirty="0" smtClean="0"/>
              <a:t> (</a:t>
            </a:r>
            <a:r>
              <a:rPr lang="fi-FI" dirty="0" err="1" smtClean="0"/>
              <a:t>beta</a:t>
            </a:r>
            <a:r>
              <a:rPr lang="fi-FI" dirty="0" smtClean="0"/>
              <a:t> </a:t>
            </a:r>
            <a:r>
              <a:rPr lang="fi-FI" dirty="0" err="1" smtClean="0"/>
              <a:t>testing</a:t>
            </a:r>
            <a:r>
              <a:rPr lang="fi-FI" dirty="0" smtClean="0"/>
              <a:t>) </a:t>
            </a:r>
          </a:p>
          <a:p>
            <a:r>
              <a:rPr lang="fi-FI" dirty="0" smtClean="0"/>
              <a:t>Muuntotestaus (</a:t>
            </a:r>
            <a:r>
              <a:rPr lang="fi-FI" dirty="0" err="1" smtClean="0"/>
              <a:t>conversion</a:t>
            </a:r>
            <a:r>
              <a:rPr lang="fi-FI" dirty="0" smtClean="0"/>
              <a:t> </a:t>
            </a:r>
            <a:r>
              <a:rPr lang="fi-FI" dirty="0" err="1" smtClean="0"/>
              <a:t>testing</a:t>
            </a:r>
            <a:r>
              <a:rPr lang="fi-FI" dirty="0" smtClean="0"/>
              <a:t>)</a:t>
            </a:r>
          </a:p>
          <a:p>
            <a:r>
              <a:rPr lang="fi-FI" dirty="0" smtClean="0"/>
              <a:t>Tuotantotestaus (</a:t>
            </a:r>
            <a:r>
              <a:rPr lang="fi-FI" dirty="0" err="1" smtClean="0"/>
              <a:t>production</a:t>
            </a:r>
            <a:r>
              <a:rPr lang="fi-FI" dirty="0" smtClean="0"/>
              <a:t> </a:t>
            </a:r>
            <a:r>
              <a:rPr lang="fi-FI" dirty="0" err="1" smtClean="0"/>
              <a:t>testing</a:t>
            </a:r>
            <a:r>
              <a:rPr lang="fi-FI" dirty="0" smtClean="0"/>
              <a:t>, </a:t>
            </a:r>
            <a:r>
              <a:rPr lang="fi-FI" dirty="0" err="1" smtClean="0"/>
              <a:t>operational</a:t>
            </a:r>
            <a:r>
              <a:rPr lang="fi-FI" dirty="0" smtClean="0"/>
              <a:t> </a:t>
            </a:r>
            <a:r>
              <a:rPr lang="fi-FI" dirty="0" err="1" smtClean="0"/>
              <a:t>testing</a:t>
            </a:r>
            <a:r>
              <a:rPr lang="fi-FI" dirty="0" smtClean="0"/>
              <a:t>) </a:t>
            </a:r>
          </a:p>
          <a:p>
            <a:r>
              <a:rPr lang="fi-FI" dirty="0" smtClean="0"/>
              <a:t>Standardien testaus </a:t>
            </a:r>
            <a:br>
              <a:rPr lang="fi-FI" dirty="0" smtClean="0"/>
            </a:br>
            <a:r>
              <a:rPr lang="fi-FI" dirty="0" smtClean="0"/>
              <a:t>(</a:t>
            </a:r>
            <a:r>
              <a:rPr lang="fi-FI" dirty="0" err="1" smtClean="0"/>
              <a:t>standards</a:t>
            </a:r>
            <a:r>
              <a:rPr lang="fi-FI" dirty="0" smtClean="0"/>
              <a:t> </a:t>
            </a:r>
            <a:r>
              <a:rPr lang="fi-FI" dirty="0" err="1" smtClean="0"/>
              <a:t>testing</a:t>
            </a:r>
            <a:r>
              <a:rPr lang="fi-FI" dirty="0" smtClean="0"/>
              <a:t>)	  </a:t>
            </a:r>
            <a:endParaRPr lang="fi-FI" dirty="0"/>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730" name="Rectangle 2"/>
          <p:cNvSpPr>
            <a:spLocks noGrp="1" noChangeArrowheads="1"/>
          </p:cNvSpPr>
          <p:nvPr>
            <p:ph type="title"/>
          </p:nvPr>
        </p:nvSpPr>
        <p:spPr/>
        <p:txBody>
          <a:bodyPr>
            <a:normAutofit fontScale="90000"/>
          </a:bodyPr>
          <a:lstStyle/>
          <a:p>
            <a:r>
              <a:rPr lang="fi-FI" smtClean="0"/>
              <a:t>Ei-toiminnallisen testauksen testaustyyppejä</a:t>
            </a:r>
            <a:endParaRPr lang="fi-FI"/>
          </a:p>
        </p:txBody>
      </p:sp>
      <p:sp>
        <p:nvSpPr>
          <p:cNvPr id="6" name="Slide Number Placeholder 5"/>
          <p:cNvSpPr>
            <a:spLocks noGrp="1"/>
          </p:cNvSpPr>
          <p:nvPr>
            <p:ph type="sldNum" sz="quarter" idx="12"/>
          </p:nvPr>
        </p:nvSpPr>
        <p:spPr/>
        <p:txBody>
          <a:bodyPr/>
          <a:lstStyle/>
          <a:p>
            <a:fld id="{6EC9AE22-300D-474E-8332-298EA3086E64}" type="slidenum">
              <a:rPr lang="en-US" smtClean="0"/>
              <a:pPr/>
              <a:t>58</a:t>
            </a:fld>
            <a:endParaRPr lang="en-US"/>
          </a:p>
        </p:txBody>
      </p:sp>
      <p:sp>
        <p:nvSpPr>
          <p:cNvPr id="585731" name="Rectangle 3"/>
          <p:cNvSpPr>
            <a:spLocks noGrp="1" noChangeArrowheads="1"/>
          </p:cNvSpPr>
          <p:nvPr>
            <p:ph type="body" sz="half" idx="1"/>
          </p:nvPr>
        </p:nvSpPr>
        <p:spPr/>
        <p:txBody>
          <a:bodyPr>
            <a:normAutofit fontScale="70000" lnSpcReduction="20000"/>
          </a:bodyPr>
          <a:lstStyle/>
          <a:p>
            <a:r>
              <a:rPr lang="fi-FI" dirty="0" smtClean="0"/>
              <a:t>Luotettavuustestaus </a:t>
            </a:r>
            <a:br>
              <a:rPr lang="fi-FI" dirty="0" smtClean="0"/>
            </a:br>
            <a:r>
              <a:rPr lang="fi-FI" dirty="0" smtClean="0"/>
              <a:t>(reliability testing) </a:t>
            </a:r>
          </a:p>
          <a:p>
            <a:r>
              <a:rPr lang="fi-FI" dirty="0" smtClean="0"/>
              <a:t>Suorituskykytestaus </a:t>
            </a:r>
            <a:br>
              <a:rPr lang="fi-FI" dirty="0" smtClean="0"/>
            </a:br>
            <a:r>
              <a:rPr lang="fi-FI" dirty="0" smtClean="0"/>
              <a:t>(performance testing) </a:t>
            </a:r>
          </a:p>
          <a:p>
            <a:r>
              <a:rPr lang="fi-FI" dirty="0" smtClean="0"/>
              <a:t>Kuormitustestaus (load testing) </a:t>
            </a:r>
          </a:p>
          <a:p>
            <a:r>
              <a:rPr lang="fi-FI" dirty="0" smtClean="0"/>
              <a:t>Rasitustestaus (stress testing) </a:t>
            </a:r>
          </a:p>
          <a:p>
            <a:r>
              <a:rPr lang="fi-FI" dirty="0" smtClean="0"/>
              <a:t>Paljoustestaus (volume testing) </a:t>
            </a:r>
          </a:p>
          <a:p>
            <a:r>
              <a:rPr lang="fi-FI" dirty="0" smtClean="0"/>
              <a:t>Kestävyystestaus </a:t>
            </a:r>
            <a:br>
              <a:rPr lang="fi-FI" dirty="0" smtClean="0"/>
            </a:br>
            <a:r>
              <a:rPr lang="fi-FI" dirty="0" smtClean="0"/>
              <a:t>(endurance testing) </a:t>
            </a:r>
          </a:p>
          <a:p>
            <a:r>
              <a:rPr lang="fi-FI" dirty="0" smtClean="0"/>
              <a:t>Tietoturvatestaus (security testing) </a:t>
            </a:r>
          </a:p>
          <a:p>
            <a:r>
              <a:rPr lang="fi-FI" dirty="0" smtClean="0"/>
              <a:t>Käyttöturvallisuuden testaus </a:t>
            </a:r>
            <a:br>
              <a:rPr lang="fi-FI" dirty="0" smtClean="0"/>
            </a:br>
            <a:r>
              <a:rPr lang="fi-FI" dirty="0" smtClean="0"/>
              <a:t>(safety testing) </a:t>
            </a:r>
          </a:p>
          <a:p>
            <a:r>
              <a:rPr lang="fi-FI" dirty="0" smtClean="0"/>
              <a:t>Käytettävyystestaus </a:t>
            </a:r>
            <a:br>
              <a:rPr lang="fi-FI" dirty="0" smtClean="0"/>
            </a:br>
            <a:r>
              <a:rPr lang="fi-FI" dirty="0" smtClean="0"/>
              <a:t>(usability testing) </a:t>
            </a:r>
            <a:endParaRPr lang="fi-FI" dirty="0"/>
          </a:p>
        </p:txBody>
      </p:sp>
      <p:sp>
        <p:nvSpPr>
          <p:cNvPr id="585732" name="Rectangle 4"/>
          <p:cNvSpPr>
            <a:spLocks noGrp="1" noChangeArrowheads="1"/>
          </p:cNvSpPr>
          <p:nvPr>
            <p:ph type="body" sz="half" idx="2"/>
          </p:nvPr>
        </p:nvSpPr>
        <p:spPr/>
        <p:txBody>
          <a:bodyPr>
            <a:normAutofit/>
          </a:bodyPr>
          <a:lstStyle/>
          <a:p>
            <a:r>
              <a:rPr lang="fi-FI" sz="2200" dirty="0" smtClean="0"/>
              <a:t>Esteettömyystestaus </a:t>
            </a:r>
            <a:br>
              <a:rPr lang="fi-FI" sz="2200" dirty="0" smtClean="0"/>
            </a:br>
            <a:r>
              <a:rPr lang="fi-FI" sz="2200" dirty="0" smtClean="0"/>
              <a:t>(accessibility testing) </a:t>
            </a:r>
          </a:p>
          <a:p>
            <a:r>
              <a:rPr lang="fi-FI" sz="2200" dirty="0" smtClean="0"/>
              <a:t>Palautettavuustestaus (recoverability testing) </a:t>
            </a:r>
          </a:p>
          <a:p>
            <a:r>
              <a:rPr lang="fi-FI" sz="2200" dirty="0" smtClean="0"/>
              <a:t>Tuettavuustestaus </a:t>
            </a:r>
            <a:br>
              <a:rPr lang="fi-FI" sz="2200" dirty="0" smtClean="0"/>
            </a:br>
            <a:r>
              <a:rPr lang="fi-FI" sz="2200" dirty="0" smtClean="0"/>
              <a:t>(supportability testing)</a:t>
            </a:r>
          </a:p>
          <a:p>
            <a:r>
              <a:rPr lang="fi-FI" sz="2200" dirty="0" smtClean="0"/>
              <a:t>Ylläpidettävyystestaus (maintainability testing) </a:t>
            </a:r>
          </a:p>
          <a:p>
            <a:r>
              <a:rPr lang="fi-FI" sz="2200" dirty="0" smtClean="0"/>
              <a:t>Siirrettävyystestaus </a:t>
            </a:r>
            <a:br>
              <a:rPr lang="fi-FI" sz="2200" dirty="0" smtClean="0"/>
            </a:br>
            <a:r>
              <a:rPr lang="fi-FI" sz="2200" dirty="0" smtClean="0"/>
              <a:t>(portability testing)</a:t>
            </a:r>
          </a:p>
          <a:p>
            <a:r>
              <a:rPr lang="fi-FI" sz="2200" dirty="0" smtClean="0"/>
              <a:t>Koodin laadun testaus </a:t>
            </a:r>
            <a:br>
              <a:rPr lang="fi-FI" sz="2200" dirty="0" smtClean="0"/>
            </a:br>
            <a:r>
              <a:rPr lang="fi-FI" sz="2200" dirty="0" smtClean="0"/>
              <a:t>(code quality testing) </a:t>
            </a:r>
            <a:endParaRPr lang="fi-FI" sz="2200" dirty="0"/>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p:cNvSpPr>
            <a:spLocks noGrp="1" noChangeArrowheads="1"/>
          </p:cNvSpPr>
          <p:nvPr>
            <p:ph type="title"/>
          </p:nvPr>
        </p:nvSpPr>
        <p:spPr>
          <a:xfrm>
            <a:off x="457200" y="304800"/>
            <a:ext cx="8229600" cy="838200"/>
          </a:xfrm>
        </p:spPr>
        <p:txBody>
          <a:bodyPr>
            <a:normAutofit fontScale="90000"/>
          </a:bodyPr>
          <a:lstStyle/>
          <a:p>
            <a:r>
              <a:rPr lang="fi-FI" dirty="0" smtClean="0"/>
              <a:t>Laadun monet näkökulmat</a:t>
            </a:r>
            <a:br>
              <a:rPr lang="fi-FI" dirty="0" smtClean="0"/>
            </a:br>
            <a:r>
              <a:rPr lang="fi-FI" sz="2200" dirty="0" smtClean="0"/>
              <a:t> [ISO 9126-1:2001 standardi]</a:t>
            </a:r>
            <a:endParaRPr lang="fi-FI" dirty="0" smtClean="0"/>
          </a:p>
        </p:txBody>
      </p:sp>
      <p:graphicFrame>
        <p:nvGraphicFramePr>
          <p:cNvPr id="2050" name="Object 3"/>
          <p:cNvGraphicFramePr>
            <a:graphicFrameLocks noGrp="1" noChangeAspect="1"/>
          </p:cNvGraphicFramePr>
          <p:nvPr>
            <p:ph type="dgm" idx="1"/>
          </p:nvPr>
        </p:nvGraphicFramePr>
        <p:xfrm>
          <a:off x="457200" y="1371600"/>
          <a:ext cx="8229600" cy="1858108"/>
        </p:xfrm>
        <a:graphic>
          <a:graphicData uri="http://schemas.openxmlformats.org/presentationml/2006/ole">
            <mc:AlternateContent xmlns:mc="http://schemas.openxmlformats.org/markup-compatibility/2006">
              <mc:Choice xmlns:v="urn:schemas-microsoft-com:vml" Requires="v">
                <p:oleObj spid="_x0000_s10245" name="MS Org Chart" r:id="rId4" imgW="8915400" imgH="2012760" progId="">
                  <p:embed followColorScheme="full"/>
                </p:oleObj>
              </mc:Choice>
              <mc:Fallback>
                <p:oleObj name="MS Org Chart" r:id="rId4" imgW="8915400" imgH="2012760" progId="">
                  <p:embed followColorScheme="full"/>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1371600"/>
                        <a:ext cx="8229600" cy="185810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1" name="Slide Number Placeholder 3"/>
          <p:cNvSpPr>
            <a:spLocks noGrp="1"/>
          </p:cNvSpPr>
          <p:nvPr>
            <p:ph type="sldNum" sz="quarter" idx="10"/>
          </p:nvPr>
        </p:nvSpPr>
        <p:spPr/>
        <p:txBody>
          <a:bodyPr/>
          <a:lstStyle/>
          <a:p>
            <a:r>
              <a:rPr lang="en-GB" smtClean="0"/>
              <a:t>Page </a:t>
            </a:r>
            <a:fld id="{A27C10DE-31EC-4278-B72A-74E87833AEA4}" type="slidenum">
              <a:rPr lang="en-GB" smtClean="0"/>
              <a:pPr/>
              <a:t>59</a:t>
            </a:fld>
            <a:endParaRPr lang="en-GB"/>
          </a:p>
        </p:txBody>
      </p:sp>
      <p:sp>
        <p:nvSpPr>
          <p:cNvPr id="2053" name="Rectangle 4"/>
          <p:cNvSpPr>
            <a:spLocks noChangeArrowheads="1"/>
          </p:cNvSpPr>
          <p:nvPr/>
        </p:nvSpPr>
        <p:spPr bwMode="auto">
          <a:xfrm>
            <a:off x="422275" y="3535363"/>
            <a:ext cx="8299450" cy="2514600"/>
          </a:xfrm>
          <a:prstGeom prst="rect">
            <a:avLst/>
          </a:prstGeom>
          <a:noFill/>
          <a:ln w="12700">
            <a:noFill/>
            <a:miter lim="800000"/>
            <a:headEnd/>
            <a:tailEnd/>
          </a:ln>
        </p:spPr>
        <p:txBody>
          <a:bodyPr lIns="90488" tIns="44450" rIns="90488" bIns="44450"/>
          <a:lstStyle/>
          <a:p>
            <a:pPr marL="284163" indent="-284163">
              <a:spcBef>
                <a:spcPct val="20000"/>
              </a:spcBef>
              <a:spcAft>
                <a:spcPct val="20000"/>
              </a:spcAft>
              <a:buClr>
                <a:schemeClr val="accent1"/>
              </a:buClr>
              <a:buFont typeface="Wingdings" pitchFamily="2" charset="2"/>
              <a:buChar char="§"/>
            </a:pPr>
            <a:r>
              <a:rPr lang="fi-FI" sz="2000" b="0" dirty="0"/>
              <a:t>Erilaisia laatuja on valtava määrä, tässä päällimmäiset</a:t>
            </a:r>
          </a:p>
          <a:p>
            <a:pPr marL="284163" indent="-284163">
              <a:spcBef>
                <a:spcPct val="20000"/>
              </a:spcBef>
              <a:spcAft>
                <a:spcPct val="20000"/>
              </a:spcAft>
              <a:buClr>
                <a:schemeClr val="accent1"/>
              </a:buClr>
              <a:buFont typeface="Wingdings" pitchFamily="2" charset="2"/>
              <a:buChar char="§"/>
            </a:pPr>
            <a:r>
              <a:rPr lang="fi-FI" sz="2000" b="0" dirty="0"/>
              <a:t>Ongelmana on, mihin keskittyä</a:t>
            </a:r>
          </a:p>
          <a:p>
            <a:pPr marL="284163" indent="-284163">
              <a:spcBef>
                <a:spcPct val="20000"/>
              </a:spcBef>
              <a:spcAft>
                <a:spcPct val="20000"/>
              </a:spcAft>
              <a:buClr>
                <a:schemeClr val="accent1"/>
              </a:buClr>
              <a:buFont typeface="Wingdings" pitchFamily="2" charset="2"/>
              <a:buChar char="§"/>
            </a:pPr>
            <a:r>
              <a:rPr lang="fi-FI" sz="2000" b="0" dirty="0"/>
              <a:t>Eri testaustasojen ja testaustyyppien merkitys on puuttua oikeisiin laatuihin oikeaan aikaan</a:t>
            </a:r>
          </a:p>
          <a:p>
            <a:pPr marL="760413" lvl="1" indent="-285750">
              <a:spcBef>
                <a:spcPct val="20000"/>
              </a:spcBef>
              <a:spcAft>
                <a:spcPct val="15000"/>
              </a:spcAft>
              <a:buClr>
                <a:schemeClr val="accent1"/>
              </a:buClr>
              <a:buFontTx/>
              <a:buChar char="–"/>
            </a:pPr>
            <a:r>
              <a:rPr lang="fi-FI" sz="2000" b="0" dirty="0"/>
              <a:t>Asioihin joilla on merkitystä, liiketoimintariski</a:t>
            </a:r>
          </a:p>
          <a:p>
            <a:pPr marL="760413" lvl="1" indent="-285750">
              <a:spcBef>
                <a:spcPct val="20000"/>
              </a:spcBef>
              <a:spcAft>
                <a:spcPct val="15000"/>
              </a:spcAft>
              <a:buClr>
                <a:schemeClr val="accent1"/>
              </a:buClr>
              <a:buFontTx/>
              <a:buChar char="–"/>
            </a:pPr>
            <a:r>
              <a:rPr lang="fi-FI" sz="2000" b="0" dirty="0"/>
              <a:t>Mahdollisimman aikaisin</a:t>
            </a: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456426" y="1500174"/>
            <a:ext cx="2071702" cy="471490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i-FI"/>
          </a:p>
        </p:txBody>
      </p:sp>
      <p:sp>
        <p:nvSpPr>
          <p:cNvPr id="4" name="Title 3"/>
          <p:cNvSpPr>
            <a:spLocks noGrp="1"/>
          </p:cNvSpPr>
          <p:nvPr>
            <p:ph type="title"/>
          </p:nvPr>
        </p:nvSpPr>
        <p:spPr/>
        <p:txBody>
          <a:bodyPr/>
          <a:lstStyle/>
          <a:p>
            <a:r>
              <a:rPr lang="fi-FI" dirty="0" smtClean="0"/>
              <a:t>Sisältö</a:t>
            </a:r>
            <a:endParaRPr lang="fi-FI" dirty="0"/>
          </a:p>
        </p:txBody>
      </p:sp>
      <p:graphicFrame>
        <p:nvGraphicFramePr>
          <p:cNvPr id="6" name="Content Placeholder 5"/>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Content Placeholder 4"/>
          <p:cNvSpPr>
            <a:spLocks noGrp="1"/>
          </p:cNvSpPr>
          <p:nvPr>
            <p:ph sz="half" idx="4294967295"/>
          </p:nvPr>
        </p:nvSpPr>
        <p:spPr>
          <a:xfrm>
            <a:off x="5105400" y="1600200"/>
            <a:ext cx="4038600" cy="4525963"/>
          </a:xfrm>
        </p:spPr>
        <p:txBody>
          <a:bodyPr>
            <a:normAutofit/>
          </a:bodyPr>
          <a:lstStyle/>
          <a:p>
            <a:endParaRPr lang="fi-FI" dirty="0" smtClean="0"/>
          </a:p>
          <a:p>
            <a:endParaRPr lang="fi-FI" dirty="0" smtClean="0"/>
          </a:p>
          <a:p>
            <a:pPr>
              <a:buNone/>
            </a:pPr>
            <a:endParaRPr lang="fi-FI" dirty="0"/>
          </a:p>
        </p:txBody>
      </p:sp>
      <p:sp>
        <p:nvSpPr>
          <p:cNvPr id="8" name="Up Arrow 7"/>
          <p:cNvSpPr/>
          <p:nvPr/>
        </p:nvSpPr>
        <p:spPr>
          <a:xfrm>
            <a:off x="3143240" y="6286520"/>
            <a:ext cx="785818" cy="28575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9" name="Up Arrow 8"/>
          <p:cNvSpPr/>
          <p:nvPr/>
        </p:nvSpPr>
        <p:spPr>
          <a:xfrm rot="10800000">
            <a:off x="3143240" y="1142984"/>
            <a:ext cx="785818" cy="28575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10" name="Slide Number Placeholder 9"/>
          <p:cNvSpPr>
            <a:spLocks noGrp="1"/>
          </p:cNvSpPr>
          <p:nvPr>
            <p:ph type="sldNum" sz="quarter" idx="12"/>
          </p:nvPr>
        </p:nvSpPr>
        <p:spPr/>
        <p:txBody>
          <a:bodyPr/>
          <a:lstStyle/>
          <a:p>
            <a:fld id="{7A750B4A-325E-4AA4-BC07-A8C35B32A4F3}" type="slidenum">
              <a:rPr lang="fi-FI" smtClean="0"/>
              <a:pPr/>
              <a:t>60</a:t>
            </a:fld>
            <a:endParaRPr lang="fi-FI"/>
          </a:p>
        </p:txBody>
      </p:sp>
    </p:spTree>
  </p:cSld>
  <p:clrMapOvr>
    <a:masterClrMapping/>
  </p:clrMapOvr>
  <p:timing>
    <p:tnLst>
      <p:par>
        <p:cTn xmlns:p14="http://schemas.microsoft.com/office/powerpoint/2010/mai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Onnistuneen hyväksymistestauksen edellytykset</a:t>
            </a:r>
            <a:endParaRPr lang="fi-FI" dirty="0"/>
          </a:p>
        </p:txBody>
      </p:sp>
      <p:sp>
        <p:nvSpPr>
          <p:cNvPr id="3" name="Content Placeholder 2"/>
          <p:cNvSpPr>
            <a:spLocks noGrp="1"/>
          </p:cNvSpPr>
          <p:nvPr>
            <p:ph sz="half" idx="1"/>
          </p:nvPr>
        </p:nvSpPr>
        <p:spPr/>
        <p:txBody>
          <a:bodyPr>
            <a:normAutofit fontScale="77500" lnSpcReduction="20000"/>
          </a:bodyPr>
          <a:lstStyle/>
          <a:p>
            <a:pPr lvl="0"/>
            <a:r>
              <a:rPr lang="fi-FI" dirty="0" smtClean="0"/>
              <a:t>Edellytykset ovat hyväksymistestauksen tekemisen kannalta ulkoisia huolenaiheita</a:t>
            </a:r>
          </a:p>
          <a:p>
            <a:pPr lvl="0"/>
            <a:r>
              <a:rPr lang="fi-FI" dirty="0" smtClean="0"/>
              <a:t>Ulkoisia = eivät yleensä osa hyväksymistestauksen suunnittelua vaan annettuja puitteita</a:t>
            </a:r>
          </a:p>
          <a:p>
            <a:pPr lvl="0"/>
            <a:r>
              <a:rPr lang="fi-FI" dirty="0" smtClean="0"/>
              <a:t>Useimmiten sopimus ja projektit syntyvät ennen kuin testausta aletaan miettimään</a:t>
            </a:r>
          </a:p>
          <a:p>
            <a:pPr lvl="0"/>
            <a:r>
              <a:rPr lang="fi-FI" dirty="0" smtClean="0"/>
              <a:t>Edellytyksien huomioimisella voidaan merkittävästi vaikuttaa hyväksymistestaukseen </a:t>
            </a:r>
          </a:p>
          <a:p>
            <a:endParaRPr lang="fi-FI" dirty="0"/>
          </a:p>
        </p:txBody>
      </p:sp>
      <p:sp>
        <p:nvSpPr>
          <p:cNvPr id="4" name="Content Placeholder 3"/>
          <p:cNvSpPr>
            <a:spLocks noGrp="1"/>
          </p:cNvSpPr>
          <p:nvPr>
            <p:ph sz="half" idx="2"/>
          </p:nvPr>
        </p:nvSpPr>
        <p:spPr/>
        <p:txBody>
          <a:bodyPr>
            <a:normAutofit fontScale="77500" lnSpcReduction="20000"/>
          </a:bodyPr>
          <a:lstStyle/>
          <a:p>
            <a:pPr lvl="0"/>
            <a:r>
              <a:rPr lang="fi-FI" dirty="0" smtClean="0">
                <a:solidFill>
                  <a:schemeClr val="accent1"/>
                </a:solidFill>
              </a:rPr>
              <a:t>Toimituskokonaisuuksien määrittely ja projektointi</a:t>
            </a:r>
          </a:p>
          <a:p>
            <a:pPr lvl="0"/>
            <a:r>
              <a:rPr lang="fi-FI" dirty="0" smtClean="0">
                <a:solidFill>
                  <a:schemeClr val="accent1"/>
                </a:solidFill>
              </a:rPr>
              <a:t>Toimittajan valinta ja sopimukset</a:t>
            </a:r>
          </a:p>
          <a:p>
            <a:pPr lvl="0"/>
            <a:r>
              <a:rPr lang="fi-FI" dirty="0" smtClean="0">
                <a:solidFill>
                  <a:schemeClr val="accent1"/>
                </a:solidFill>
              </a:rPr>
              <a:t>Vaatimusten ja odotusten hallinta</a:t>
            </a:r>
          </a:p>
          <a:p>
            <a:pPr lvl="0"/>
            <a:r>
              <a:rPr lang="fi-FI" dirty="0" smtClean="0">
                <a:solidFill>
                  <a:schemeClr val="accent1"/>
                </a:solidFill>
              </a:rPr>
              <a:t>Toimittajayhteistyö</a:t>
            </a:r>
          </a:p>
          <a:p>
            <a:pPr lvl="0"/>
            <a:r>
              <a:rPr lang="fi-FI" dirty="0" smtClean="0">
                <a:solidFill>
                  <a:schemeClr val="accent1"/>
                </a:solidFill>
              </a:rPr>
              <a:t>Kokonaisjärjestelmän ja osajärjestelmien tunnistaminen</a:t>
            </a:r>
          </a:p>
        </p:txBody>
      </p:sp>
      <p:sp>
        <p:nvSpPr>
          <p:cNvPr id="5" name="TextBox 4"/>
          <p:cNvSpPr txBox="1"/>
          <p:nvPr/>
        </p:nvSpPr>
        <p:spPr>
          <a:xfrm>
            <a:off x="5791200" y="5181600"/>
            <a:ext cx="2000264" cy="646331"/>
          </a:xfrm>
          <a:prstGeom prst="rect">
            <a:avLst/>
          </a:prstGeom>
        </p:spPr>
        <p:style>
          <a:lnRef idx="3">
            <a:schemeClr val="lt1"/>
          </a:lnRef>
          <a:fillRef idx="1">
            <a:schemeClr val="accent4"/>
          </a:fillRef>
          <a:effectRef idx="1">
            <a:schemeClr val="accent4"/>
          </a:effectRef>
          <a:fontRef idx="minor">
            <a:schemeClr val="lt1"/>
          </a:fontRef>
        </p:style>
        <p:txBody>
          <a:bodyPr wrap="square" rtlCol="0">
            <a:spAutoFit/>
          </a:bodyPr>
          <a:lstStyle/>
          <a:p>
            <a:pPr algn="ctr"/>
            <a:r>
              <a:rPr lang="fi-FI" sz="3600" dirty="0" smtClean="0">
                <a:latin typeface="Elephant" pitchFamily="18" charset="0"/>
              </a:rPr>
              <a:t>Muita? </a:t>
            </a:r>
            <a:endParaRPr lang="fi-FI" sz="3600" dirty="0">
              <a:latin typeface="Elephant" pitchFamily="18" charset="0"/>
            </a:endParaRPr>
          </a:p>
        </p:txBody>
      </p:sp>
      <p:sp>
        <p:nvSpPr>
          <p:cNvPr id="6" name="Slide Number Placeholder 5"/>
          <p:cNvSpPr>
            <a:spLocks noGrp="1"/>
          </p:cNvSpPr>
          <p:nvPr>
            <p:ph type="sldNum" sz="quarter" idx="12"/>
          </p:nvPr>
        </p:nvSpPr>
        <p:spPr/>
        <p:txBody>
          <a:bodyPr/>
          <a:lstStyle/>
          <a:p>
            <a:fld id="{7A750B4A-325E-4AA4-BC07-A8C35B32A4F3}" type="slidenum">
              <a:rPr lang="fi-FI" smtClean="0"/>
              <a:pPr/>
              <a:t>61</a:t>
            </a:fld>
            <a:endParaRPr lang="fi-FI"/>
          </a:p>
        </p:txBody>
      </p:sp>
    </p:spTree>
  </p:cSld>
  <p:clrMapOvr>
    <a:masterClrMapping/>
  </p:clrMapOvr>
  <p:timing>
    <p:tnLst>
      <p:par>
        <p:cTn xmlns:p14="http://schemas.microsoft.com/office/powerpoint/2010/mai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Hyväksymistestauksen prosessi</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840147114"/>
              </p:ext>
            </p:extLst>
          </p:nvPr>
        </p:nvGraphicFramePr>
        <p:xfrm>
          <a:off x="457200" y="836712"/>
          <a:ext cx="8229600" cy="27691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3" name="Group 26"/>
          <p:cNvGrpSpPr/>
          <p:nvPr/>
        </p:nvGrpSpPr>
        <p:grpSpPr>
          <a:xfrm>
            <a:off x="72370" y="4426496"/>
            <a:ext cx="8172038" cy="2736304"/>
            <a:chOff x="72370" y="4282480"/>
            <a:chExt cx="8172038" cy="2736304"/>
          </a:xfrm>
        </p:grpSpPr>
        <p:sp>
          <p:nvSpPr>
            <p:cNvPr id="6" name="TextBox 5"/>
            <p:cNvSpPr txBox="1"/>
            <p:nvPr/>
          </p:nvSpPr>
          <p:spPr>
            <a:xfrm rot="16200000">
              <a:off x="-1141893" y="5496743"/>
              <a:ext cx="2736304" cy="307777"/>
            </a:xfrm>
            <a:prstGeom prst="rect">
              <a:avLst/>
            </a:prstGeom>
            <a:noFill/>
          </p:spPr>
          <p:txBody>
            <a:bodyPr wrap="square" rtlCol="0">
              <a:spAutoFit/>
            </a:bodyPr>
            <a:lstStyle/>
            <a:p>
              <a:pPr algn="ctr"/>
              <a:r>
                <a:rPr lang="fi-FI" sz="1400" b="1" dirty="0" smtClean="0"/>
                <a:t>TULOSMATERIAALIT</a:t>
              </a:r>
              <a:endParaRPr lang="en-US" sz="1400" b="1" dirty="0"/>
            </a:p>
          </p:txBody>
        </p:sp>
        <p:sp>
          <p:nvSpPr>
            <p:cNvPr id="8" name="Folded Corner 7"/>
            <p:cNvSpPr/>
            <p:nvPr/>
          </p:nvSpPr>
          <p:spPr>
            <a:xfrm>
              <a:off x="467544" y="4797152"/>
              <a:ext cx="720080" cy="432048"/>
            </a:xfrm>
            <a:prstGeom prst="foldedCorner">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i-FI" sz="800" dirty="0" smtClean="0"/>
                <a:t>Projekti-suunnitelmarunko</a:t>
              </a:r>
              <a:endParaRPr lang="en-US" sz="800" dirty="0"/>
            </a:p>
          </p:txBody>
        </p:sp>
        <p:sp>
          <p:nvSpPr>
            <p:cNvPr id="12" name="Folded Corner 11"/>
            <p:cNvSpPr/>
            <p:nvPr/>
          </p:nvSpPr>
          <p:spPr>
            <a:xfrm>
              <a:off x="481884" y="5301208"/>
              <a:ext cx="720080" cy="432048"/>
            </a:xfrm>
            <a:prstGeom prst="foldedCorner">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i-FI" sz="800" dirty="0" smtClean="0"/>
                <a:t>Riskit ja hyödyt</a:t>
              </a:r>
              <a:endParaRPr lang="en-US" sz="800" dirty="0"/>
            </a:p>
          </p:txBody>
        </p:sp>
        <p:sp>
          <p:nvSpPr>
            <p:cNvPr id="14" name="Folded Corner 13"/>
            <p:cNvSpPr/>
            <p:nvPr/>
          </p:nvSpPr>
          <p:spPr>
            <a:xfrm>
              <a:off x="3275856" y="4795734"/>
              <a:ext cx="720080" cy="432048"/>
            </a:xfrm>
            <a:prstGeom prst="foldedCorner">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i-FI" sz="800" dirty="0" smtClean="0"/>
                <a:t>Projekti-suunnitelma</a:t>
              </a:r>
              <a:endParaRPr lang="en-US" sz="800" dirty="0"/>
            </a:p>
          </p:txBody>
        </p:sp>
        <p:sp>
          <p:nvSpPr>
            <p:cNvPr id="15" name="Folded Corner 14"/>
            <p:cNvSpPr/>
            <p:nvPr/>
          </p:nvSpPr>
          <p:spPr>
            <a:xfrm>
              <a:off x="3275856" y="5301208"/>
              <a:ext cx="720080" cy="432048"/>
            </a:xfrm>
            <a:prstGeom prst="foldedCorner">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i-FI" sz="800" dirty="0" smtClean="0"/>
                <a:t>Testaus-liitteet</a:t>
              </a:r>
              <a:endParaRPr lang="en-US" sz="800" dirty="0"/>
            </a:p>
          </p:txBody>
        </p:sp>
        <p:sp>
          <p:nvSpPr>
            <p:cNvPr id="16" name="Folded Corner 15"/>
            <p:cNvSpPr/>
            <p:nvPr/>
          </p:nvSpPr>
          <p:spPr>
            <a:xfrm>
              <a:off x="4788024" y="4797152"/>
              <a:ext cx="720080" cy="432048"/>
            </a:xfrm>
            <a:prstGeom prst="foldedCorner">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i-FI" sz="800" dirty="0" smtClean="0"/>
                <a:t>Testi-tapaukset </a:t>
              </a:r>
              <a:endParaRPr lang="en-US" sz="800" dirty="0"/>
            </a:p>
          </p:txBody>
        </p:sp>
        <p:sp>
          <p:nvSpPr>
            <p:cNvPr id="17" name="Folded Corner 16"/>
            <p:cNvSpPr/>
            <p:nvPr/>
          </p:nvSpPr>
          <p:spPr>
            <a:xfrm>
              <a:off x="4788024" y="5301208"/>
              <a:ext cx="720080" cy="432048"/>
            </a:xfrm>
            <a:prstGeom prst="foldedCorner">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i-FI" sz="800" dirty="0" smtClean="0"/>
                <a:t>Testi-aineistot</a:t>
              </a:r>
              <a:endParaRPr lang="en-US" sz="800" dirty="0"/>
            </a:p>
          </p:txBody>
        </p:sp>
        <p:sp>
          <p:nvSpPr>
            <p:cNvPr id="18" name="Folded Corner 17"/>
            <p:cNvSpPr/>
            <p:nvPr/>
          </p:nvSpPr>
          <p:spPr>
            <a:xfrm>
              <a:off x="4788024" y="5805264"/>
              <a:ext cx="720080" cy="432048"/>
            </a:xfrm>
            <a:prstGeom prst="foldedCorner">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i-FI" sz="800" dirty="0" smtClean="0"/>
                <a:t>Kattavuus-näkökulma-listat</a:t>
              </a:r>
              <a:endParaRPr lang="en-US" sz="800" dirty="0"/>
            </a:p>
          </p:txBody>
        </p:sp>
        <p:sp>
          <p:nvSpPr>
            <p:cNvPr id="19" name="Folded Corner 18"/>
            <p:cNvSpPr/>
            <p:nvPr/>
          </p:nvSpPr>
          <p:spPr>
            <a:xfrm>
              <a:off x="7515371" y="5805264"/>
              <a:ext cx="720080" cy="432048"/>
            </a:xfrm>
            <a:prstGeom prst="foldedCorner">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i-FI" sz="800" dirty="0" smtClean="0"/>
                <a:t>Testaus-raportti</a:t>
              </a:r>
              <a:endParaRPr lang="en-US" sz="800" dirty="0"/>
            </a:p>
          </p:txBody>
        </p:sp>
        <p:sp>
          <p:nvSpPr>
            <p:cNvPr id="20" name="Folded Corner 19"/>
            <p:cNvSpPr/>
            <p:nvPr/>
          </p:nvSpPr>
          <p:spPr>
            <a:xfrm>
              <a:off x="7524328" y="4797152"/>
              <a:ext cx="720080" cy="432048"/>
            </a:xfrm>
            <a:prstGeom prst="foldedCorner">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i-FI" sz="800" dirty="0" smtClean="0"/>
                <a:t>Testipäivä-kirja</a:t>
              </a:r>
              <a:endParaRPr lang="en-US" sz="800" dirty="0"/>
            </a:p>
          </p:txBody>
        </p:sp>
        <p:sp>
          <p:nvSpPr>
            <p:cNvPr id="21" name="Folded Corner 20"/>
            <p:cNvSpPr/>
            <p:nvPr/>
          </p:nvSpPr>
          <p:spPr>
            <a:xfrm>
              <a:off x="7524328" y="5301208"/>
              <a:ext cx="720080" cy="432048"/>
            </a:xfrm>
            <a:prstGeom prst="foldedCorner">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i-FI" sz="800" dirty="0" smtClean="0"/>
                <a:t>Havainnot</a:t>
              </a:r>
              <a:endParaRPr lang="en-US" sz="800" dirty="0"/>
            </a:p>
          </p:txBody>
        </p:sp>
        <p:sp>
          <p:nvSpPr>
            <p:cNvPr id="22" name="Folded Corner 21"/>
            <p:cNvSpPr/>
            <p:nvPr/>
          </p:nvSpPr>
          <p:spPr>
            <a:xfrm>
              <a:off x="6156176" y="4797152"/>
              <a:ext cx="720080" cy="432048"/>
            </a:xfrm>
            <a:prstGeom prst="foldedCorner">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i-FI" sz="800" dirty="0" smtClean="0"/>
                <a:t>Täydennetyt </a:t>
              </a:r>
              <a:r>
                <a:rPr lang="fi-FI" sz="800" dirty="0" err="1" smtClean="0"/>
                <a:t>testimate-riaalit</a:t>
              </a:r>
              <a:endParaRPr lang="en-US" sz="800" dirty="0"/>
            </a:p>
          </p:txBody>
        </p:sp>
      </p:grpSp>
      <p:grpSp>
        <p:nvGrpSpPr>
          <p:cNvPr id="7" name="Group 25"/>
          <p:cNvGrpSpPr/>
          <p:nvPr/>
        </p:nvGrpSpPr>
        <p:grpSpPr>
          <a:xfrm>
            <a:off x="72370" y="2369096"/>
            <a:ext cx="8610182" cy="2736304"/>
            <a:chOff x="66274" y="784920"/>
            <a:chExt cx="8610182" cy="2736304"/>
          </a:xfrm>
        </p:grpSpPr>
        <p:sp>
          <p:nvSpPr>
            <p:cNvPr id="5" name="TextBox 4"/>
            <p:cNvSpPr txBox="1"/>
            <p:nvPr/>
          </p:nvSpPr>
          <p:spPr>
            <a:xfrm rot="16200000">
              <a:off x="-1147989" y="1999183"/>
              <a:ext cx="2736304" cy="307777"/>
            </a:xfrm>
            <a:prstGeom prst="rect">
              <a:avLst/>
            </a:prstGeom>
            <a:noFill/>
          </p:spPr>
          <p:txBody>
            <a:bodyPr wrap="square" rtlCol="0">
              <a:spAutoFit/>
            </a:bodyPr>
            <a:lstStyle/>
            <a:p>
              <a:pPr algn="ctr"/>
              <a:r>
                <a:rPr lang="fi-FI" sz="1400" b="1" dirty="0" smtClean="0"/>
                <a:t>TUKIMATERIAALIT</a:t>
              </a:r>
              <a:endParaRPr lang="en-US" sz="1400" b="1" dirty="0"/>
            </a:p>
          </p:txBody>
        </p:sp>
        <p:grpSp>
          <p:nvGrpSpPr>
            <p:cNvPr id="24" name="Group 24"/>
            <p:cNvGrpSpPr/>
            <p:nvPr/>
          </p:nvGrpSpPr>
          <p:grpSpPr>
            <a:xfrm>
              <a:off x="467544" y="1628800"/>
              <a:ext cx="8208912" cy="1440160"/>
              <a:chOff x="467544" y="1628800"/>
              <a:chExt cx="8208912" cy="1440160"/>
            </a:xfrm>
          </p:grpSpPr>
          <p:sp>
            <p:nvSpPr>
              <p:cNvPr id="9" name="Folded Corner 8"/>
              <p:cNvSpPr/>
              <p:nvPr/>
            </p:nvSpPr>
            <p:spPr>
              <a:xfrm>
                <a:off x="467544" y="1628800"/>
                <a:ext cx="720080" cy="432048"/>
              </a:xfrm>
              <a:prstGeom prst="foldedCorner">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fi-FI" sz="800" smtClean="0"/>
                  <a:t>Laadunhal-linnan</a:t>
                </a:r>
                <a:r>
                  <a:rPr lang="fi-FI" sz="800" dirty="0" smtClean="0"/>
                  <a:t> vaatimukset</a:t>
                </a:r>
                <a:endParaRPr lang="en-US" sz="800" dirty="0"/>
              </a:p>
            </p:txBody>
          </p:sp>
          <p:sp>
            <p:nvSpPr>
              <p:cNvPr id="10" name="Folded Corner 9"/>
              <p:cNvSpPr/>
              <p:nvPr/>
            </p:nvSpPr>
            <p:spPr>
              <a:xfrm>
                <a:off x="475788" y="2636912"/>
                <a:ext cx="720080" cy="432048"/>
              </a:xfrm>
              <a:prstGeom prst="foldedCorner">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fi-FI" sz="800" dirty="0" smtClean="0"/>
                  <a:t>Tarjousten pisteytys-taulukko</a:t>
                </a:r>
                <a:endParaRPr lang="en-US" sz="800" dirty="0"/>
              </a:p>
            </p:txBody>
          </p:sp>
          <p:sp>
            <p:nvSpPr>
              <p:cNvPr id="11" name="Folded Corner 10"/>
              <p:cNvSpPr/>
              <p:nvPr/>
            </p:nvSpPr>
            <p:spPr>
              <a:xfrm>
                <a:off x="467544" y="2132856"/>
                <a:ext cx="720080" cy="432048"/>
              </a:xfrm>
              <a:prstGeom prst="foldedCorner">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fi-FI" sz="800" dirty="0" smtClean="0"/>
                  <a:t>Tarjouksessa kuvattavat asiat</a:t>
                </a:r>
                <a:endParaRPr lang="en-US" sz="800" dirty="0"/>
              </a:p>
            </p:txBody>
          </p:sp>
          <p:sp>
            <p:nvSpPr>
              <p:cNvPr id="13" name="Folded Corner 12"/>
              <p:cNvSpPr/>
              <p:nvPr/>
            </p:nvSpPr>
            <p:spPr>
              <a:xfrm>
                <a:off x="1835696" y="1628800"/>
                <a:ext cx="720080" cy="432048"/>
              </a:xfrm>
              <a:prstGeom prst="foldedCorner">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fi-FI" sz="800" dirty="0" smtClean="0"/>
                  <a:t>Sopimus-liitteiden tarkistuslista</a:t>
                </a:r>
                <a:endParaRPr lang="en-US" sz="800" dirty="0"/>
              </a:p>
            </p:txBody>
          </p:sp>
          <p:sp>
            <p:nvSpPr>
              <p:cNvPr id="23" name="Folded Corner 22"/>
              <p:cNvSpPr/>
              <p:nvPr/>
            </p:nvSpPr>
            <p:spPr>
              <a:xfrm>
                <a:off x="4572000" y="1640670"/>
                <a:ext cx="4104456" cy="420178"/>
              </a:xfrm>
              <a:prstGeom prst="foldedCorner">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fi-FI" sz="800" dirty="0" smtClean="0"/>
                  <a:t>Roolit ja tehtävät, osaamiset</a:t>
                </a:r>
              </a:p>
            </p:txBody>
          </p:sp>
        </p:grpSp>
      </p:grpSp>
      <p:cxnSp>
        <p:nvCxnSpPr>
          <p:cNvPr id="29" name="Straight Connector 28"/>
          <p:cNvCxnSpPr/>
          <p:nvPr/>
        </p:nvCxnSpPr>
        <p:spPr>
          <a:xfrm>
            <a:off x="107504" y="4797152"/>
            <a:ext cx="8575048" cy="0"/>
          </a:xfrm>
          <a:prstGeom prst="line">
            <a:avLst/>
          </a:prstGeom>
        </p:spPr>
        <p:style>
          <a:lnRef idx="2">
            <a:schemeClr val="accent6"/>
          </a:lnRef>
          <a:fillRef idx="0">
            <a:schemeClr val="accent6"/>
          </a:fillRef>
          <a:effectRef idx="1">
            <a:schemeClr val="accent6"/>
          </a:effectRef>
          <a:fontRef idx="minor">
            <a:schemeClr val="tx1"/>
          </a:fontRef>
        </p:style>
      </p:cxnSp>
      <p:sp>
        <p:nvSpPr>
          <p:cNvPr id="26" name="Slide Number Placeholder 25"/>
          <p:cNvSpPr>
            <a:spLocks noGrp="1"/>
          </p:cNvSpPr>
          <p:nvPr>
            <p:ph type="sldNum" sz="quarter" idx="12"/>
          </p:nvPr>
        </p:nvSpPr>
        <p:spPr/>
        <p:txBody>
          <a:bodyPr/>
          <a:lstStyle/>
          <a:p>
            <a:fld id="{1FC54B03-E980-44E0-A0F1-6CAD9D10ECFB}" type="slidenum">
              <a:rPr lang="fi-FI" smtClean="0"/>
              <a:pPr/>
              <a:t>62</a:t>
            </a:fld>
            <a:endParaRPr lang="fi-FI"/>
          </a:p>
        </p:txBody>
      </p:sp>
    </p:spTree>
    <p:extLst>
      <p:ext uri="{BB962C8B-B14F-4D97-AF65-F5344CB8AC3E}">
        <p14:creationId xmlns:p14="http://schemas.microsoft.com/office/powerpoint/2010/main" val="2808869644"/>
      </p:ext>
    </p:extLst>
  </p:cSld>
  <p:clrMapOvr>
    <a:masterClrMapping/>
  </p:clrMapOvr>
  <p:timing>
    <p:tnLst>
      <p:par>
        <p:cTn xmlns:p14="http://schemas.microsoft.com/office/powerpoint/2010/mai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fi-FI" dirty="0" smtClean="0"/>
              <a:t>Toimituskokonaisuuksien määrittely ja projektointi</a:t>
            </a:r>
            <a:endParaRPr lang="fi-FI" dirty="0"/>
          </a:p>
        </p:txBody>
      </p:sp>
      <p:sp>
        <p:nvSpPr>
          <p:cNvPr id="8" name="Content Placeholder 7"/>
          <p:cNvSpPr>
            <a:spLocks noGrp="1"/>
          </p:cNvSpPr>
          <p:nvPr>
            <p:ph idx="1"/>
          </p:nvPr>
        </p:nvSpPr>
        <p:spPr/>
        <p:txBody>
          <a:bodyPr>
            <a:normAutofit fontScale="85000" lnSpcReduction="10000"/>
          </a:bodyPr>
          <a:lstStyle/>
          <a:p>
            <a:r>
              <a:rPr lang="fi-FI" dirty="0" smtClean="0"/>
              <a:t>Jokaisella projektilla ei tarvitse olla omaa hyväksymistestausta – hyväksyminen kokonaisuudelle jonka useat projektit tuottavat</a:t>
            </a:r>
          </a:p>
          <a:p>
            <a:r>
              <a:rPr lang="fi-FI" dirty="0" smtClean="0"/>
              <a:t>Hallintaa ja viestintää helpottaa mikäli tiedetään mikä osa hyväksyttävästä kokonaisuudesta tulee miltäkin projektilta – osien hyväksyntä selkeästi omina kokonaisuuksinaan</a:t>
            </a:r>
          </a:p>
          <a:p>
            <a:r>
              <a:rPr lang="fi-FI" dirty="0" smtClean="0"/>
              <a:t>Tärkeää sopia kuka ottaa pallon jos ei suoraan osata sanoa mille projektille korjaus kuuluu</a:t>
            </a:r>
          </a:p>
          <a:p>
            <a:r>
              <a:rPr lang="fi-FI" dirty="0" smtClean="0"/>
              <a:t>Osatoimitukset projekteissa: pyydetään säännöllisesti jotain mitä voi halutessaan testata asiakkaalla</a:t>
            </a:r>
          </a:p>
        </p:txBody>
      </p:sp>
      <p:sp>
        <p:nvSpPr>
          <p:cNvPr id="4" name="Slide Number Placeholder 3"/>
          <p:cNvSpPr>
            <a:spLocks noGrp="1"/>
          </p:cNvSpPr>
          <p:nvPr>
            <p:ph type="sldNum" sz="quarter" idx="12"/>
          </p:nvPr>
        </p:nvSpPr>
        <p:spPr/>
        <p:txBody>
          <a:bodyPr/>
          <a:lstStyle/>
          <a:p>
            <a:fld id="{7A750B4A-325E-4AA4-BC07-A8C35B32A4F3}" type="slidenum">
              <a:rPr lang="fi-FI" smtClean="0"/>
              <a:pPr/>
              <a:t>63</a:t>
            </a:fld>
            <a:endParaRPr lang="fi-FI"/>
          </a:p>
        </p:txBody>
      </p:sp>
    </p:spTree>
  </p:cSld>
  <p:clrMapOvr>
    <a:masterClrMapping/>
  </p:clrMapOvr>
  <p:timing>
    <p:tnLst>
      <p:par>
        <p:cTn xmlns:p14="http://schemas.microsoft.com/office/powerpoint/2010/mai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a:xfrm>
            <a:off x="971550" y="692150"/>
            <a:ext cx="7272338" cy="768350"/>
          </a:xfrm>
        </p:spPr>
        <p:txBody>
          <a:bodyPr>
            <a:normAutofit fontScale="90000"/>
          </a:bodyPr>
          <a:lstStyle/>
          <a:p>
            <a:r>
              <a:rPr lang="en-US"/>
              <a:t>Laatuperuste inkrementaaliselle kehitykselle</a:t>
            </a:r>
            <a:endParaRPr lang="en-GB"/>
          </a:p>
        </p:txBody>
      </p:sp>
      <p:grpSp>
        <p:nvGrpSpPr>
          <p:cNvPr id="2" name="Group 3"/>
          <p:cNvGrpSpPr>
            <a:grpSpLocks/>
          </p:cNvGrpSpPr>
          <p:nvPr/>
        </p:nvGrpSpPr>
        <p:grpSpPr bwMode="auto">
          <a:xfrm>
            <a:off x="1620838" y="1376363"/>
            <a:ext cx="7127875" cy="4537075"/>
            <a:chOff x="749" y="890"/>
            <a:chExt cx="4490" cy="2858"/>
          </a:xfrm>
        </p:grpSpPr>
        <p:sp>
          <p:nvSpPr>
            <p:cNvPr id="176132" name="Line 4"/>
            <p:cNvSpPr>
              <a:spLocks noChangeShapeType="1"/>
            </p:cNvSpPr>
            <p:nvPr/>
          </p:nvSpPr>
          <p:spPr bwMode="black">
            <a:xfrm flipV="1">
              <a:off x="749" y="890"/>
              <a:ext cx="0" cy="2858"/>
            </a:xfrm>
            <a:prstGeom prst="line">
              <a:avLst/>
            </a:prstGeom>
            <a:noFill/>
            <a:ln w="38100">
              <a:solidFill>
                <a:schemeClr val="tx1"/>
              </a:solidFill>
              <a:round/>
              <a:headEnd/>
              <a:tailEnd type="triangle" w="med" len="med"/>
            </a:ln>
            <a:effectLst/>
          </p:spPr>
          <p:txBody>
            <a:bodyPr lIns="0" tIns="0" rIns="90000" bIns="46800">
              <a:spAutoFit/>
            </a:bodyPr>
            <a:lstStyle/>
            <a:p>
              <a:endParaRPr lang="fi-FI"/>
            </a:p>
          </p:txBody>
        </p:sp>
        <p:sp>
          <p:nvSpPr>
            <p:cNvPr id="176133" name="Line 5"/>
            <p:cNvSpPr>
              <a:spLocks noChangeShapeType="1"/>
            </p:cNvSpPr>
            <p:nvPr/>
          </p:nvSpPr>
          <p:spPr bwMode="black">
            <a:xfrm>
              <a:off x="749" y="3748"/>
              <a:ext cx="4490" cy="0"/>
            </a:xfrm>
            <a:prstGeom prst="line">
              <a:avLst/>
            </a:prstGeom>
            <a:noFill/>
            <a:ln w="38100">
              <a:solidFill>
                <a:schemeClr val="tx1"/>
              </a:solidFill>
              <a:round/>
              <a:headEnd/>
              <a:tailEnd type="triangle" w="med" len="med"/>
            </a:ln>
            <a:effectLst/>
          </p:spPr>
          <p:txBody>
            <a:bodyPr lIns="0" tIns="0" rIns="90000" bIns="46800">
              <a:spAutoFit/>
            </a:bodyPr>
            <a:lstStyle/>
            <a:p>
              <a:endParaRPr lang="fi-FI"/>
            </a:p>
          </p:txBody>
        </p:sp>
      </p:grpSp>
      <p:sp>
        <p:nvSpPr>
          <p:cNvPr id="176134" name="Freeform 6"/>
          <p:cNvSpPr>
            <a:spLocks/>
          </p:cNvSpPr>
          <p:nvPr/>
        </p:nvSpPr>
        <p:spPr bwMode="black">
          <a:xfrm>
            <a:off x="1619250" y="1449388"/>
            <a:ext cx="6937375" cy="4464050"/>
          </a:xfrm>
          <a:custGeom>
            <a:avLst/>
            <a:gdLst/>
            <a:ahLst/>
            <a:cxnLst>
              <a:cxn ang="0">
                <a:pos x="0" y="2812"/>
              </a:cxn>
              <a:cxn ang="0">
                <a:pos x="408" y="2676"/>
              </a:cxn>
              <a:cxn ang="0">
                <a:pos x="1452" y="2495"/>
              </a:cxn>
              <a:cxn ang="0">
                <a:pos x="2359" y="2449"/>
              </a:cxn>
              <a:cxn ang="0">
                <a:pos x="3221" y="2404"/>
              </a:cxn>
              <a:cxn ang="0">
                <a:pos x="3720" y="2268"/>
              </a:cxn>
              <a:cxn ang="0">
                <a:pos x="3946" y="1769"/>
              </a:cxn>
              <a:cxn ang="0">
                <a:pos x="4128" y="1134"/>
              </a:cxn>
              <a:cxn ang="0">
                <a:pos x="4309" y="318"/>
              </a:cxn>
              <a:cxn ang="0">
                <a:pos x="4355" y="0"/>
              </a:cxn>
            </a:cxnLst>
            <a:rect l="0" t="0" r="r" b="b"/>
            <a:pathLst>
              <a:path w="4370" h="2812">
                <a:moveTo>
                  <a:pt x="0" y="2812"/>
                </a:moveTo>
                <a:cubicBezTo>
                  <a:pt x="83" y="2770"/>
                  <a:pt x="166" y="2729"/>
                  <a:pt x="408" y="2676"/>
                </a:cubicBezTo>
                <a:cubicBezTo>
                  <a:pt x="650" y="2623"/>
                  <a:pt x="1127" y="2533"/>
                  <a:pt x="1452" y="2495"/>
                </a:cubicBezTo>
                <a:cubicBezTo>
                  <a:pt x="1777" y="2457"/>
                  <a:pt x="2064" y="2464"/>
                  <a:pt x="2359" y="2449"/>
                </a:cubicBezTo>
                <a:cubicBezTo>
                  <a:pt x="2654" y="2434"/>
                  <a:pt x="2994" y="2434"/>
                  <a:pt x="3221" y="2404"/>
                </a:cubicBezTo>
                <a:cubicBezTo>
                  <a:pt x="3448" y="2374"/>
                  <a:pt x="3599" y="2374"/>
                  <a:pt x="3720" y="2268"/>
                </a:cubicBezTo>
                <a:cubicBezTo>
                  <a:pt x="3841" y="2162"/>
                  <a:pt x="3878" y="1958"/>
                  <a:pt x="3946" y="1769"/>
                </a:cubicBezTo>
                <a:cubicBezTo>
                  <a:pt x="4014" y="1580"/>
                  <a:pt x="4068" y="1376"/>
                  <a:pt x="4128" y="1134"/>
                </a:cubicBezTo>
                <a:cubicBezTo>
                  <a:pt x="4188" y="892"/>
                  <a:pt x="4271" y="507"/>
                  <a:pt x="4309" y="318"/>
                </a:cubicBezTo>
                <a:cubicBezTo>
                  <a:pt x="4347" y="129"/>
                  <a:pt x="4370" y="91"/>
                  <a:pt x="4355" y="0"/>
                </a:cubicBezTo>
              </a:path>
            </a:pathLst>
          </a:custGeom>
          <a:noFill/>
          <a:ln w="38100" cap="flat" cmpd="sng">
            <a:solidFill>
              <a:srgbClr val="FF0000"/>
            </a:solidFill>
            <a:prstDash val="solid"/>
            <a:round/>
            <a:headEnd/>
            <a:tailEnd/>
          </a:ln>
          <a:effectLst/>
        </p:spPr>
        <p:txBody>
          <a:bodyPr lIns="0" tIns="0" rIns="90000" bIns="46800">
            <a:spAutoFit/>
          </a:bodyPr>
          <a:lstStyle/>
          <a:p>
            <a:endParaRPr lang="fi-FI"/>
          </a:p>
        </p:txBody>
      </p:sp>
      <p:sp>
        <p:nvSpPr>
          <p:cNvPr id="176135" name="Freeform 7"/>
          <p:cNvSpPr>
            <a:spLocks/>
          </p:cNvSpPr>
          <p:nvPr/>
        </p:nvSpPr>
        <p:spPr bwMode="black">
          <a:xfrm>
            <a:off x="1619250" y="1449388"/>
            <a:ext cx="6840538" cy="4464050"/>
          </a:xfrm>
          <a:custGeom>
            <a:avLst/>
            <a:gdLst/>
            <a:ahLst/>
            <a:cxnLst>
              <a:cxn ang="0">
                <a:pos x="0" y="2812"/>
              </a:cxn>
              <a:cxn ang="0">
                <a:pos x="182" y="2132"/>
              </a:cxn>
              <a:cxn ang="0">
                <a:pos x="408" y="907"/>
              </a:cxn>
              <a:cxn ang="0">
                <a:pos x="1043" y="363"/>
              </a:cxn>
              <a:cxn ang="0">
                <a:pos x="2722" y="136"/>
              </a:cxn>
              <a:cxn ang="0">
                <a:pos x="4309" y="0"/>
              </a:cxn>
            </a:cxnLst>
            <a:rect l="0" t="0" r="r" b="b"/>
            <a:pathLst>
              <a:path w="4309" h="2812">
                <a:moveTo>
                  <a:pt x="0" y="2812"/>
                </a:moveTo>
                <a:cubicBezTo>
                  <a:pt x="57" y="2630"/>
                  <a:pt x="114" y="2449"/>
                  <a:pt x="182" y="2132"/>
                </a:cubicBezTo>
                <a:cubicBezTo>
                  <a:pt x="250" y="1815"/>
                  <a:pt x="265" y="1202"/>
                  <a:pt x="408" y="907"/>
                </a:cubicBezTo>
                <a:cubicBezTo>
                  <a:pt x="551" y="612"/>
                  <a:pt x="657" y="491"/>
                  <a:pt x="1043" y="363"/>
                </a:cubicBezTo>
                <a:cubicBezTo>
                  <a:pt x="1429" y="235"/>
                  <a:pt x="2178" y="196"/>
                  <a:pt x="2722" y="136"/>
                </a:cubicBezTo>
                <a:cubicBezTo>
                  <a:pt x="3266" y="76"/>
                  <a:pt x="3992" y="45"/>
                  <a:pt x="4309" y="0"/>
                </a:cubicBezTo>
              </a:path>
            </a:pathLst>
          </a:custGeom>
          <a:noFill/>
          <a:ln w="38100" cap="flat" cmpd="sng">
            <a:solidFill>
              <a:schemeClr val="accent2"/>
            </a:solidFill>
            <a:prstDash val="solid"/>
            <a:round/>
            <a:headEnd/>
            <a:tailEnd/>
          </a:ln>
          <a:effectLst/>
        </p:spPr>
        <p:txBody>
          <a:bodyPr lIns="0" tIns="0" rIns="90000" bIns="46800">
            <a:spAutoFit/>
          </a:bodyPr>
          <a:lstStyle/>
          <a:p>
            <a:endParaRPr lang="fi-FI"/>
          </a:p>
        </p:txBody>
      </p:sp>
      <p:sp>
        <p:nvSpPr>
          <p:cNvPr id="176136" name="Text Box 8"/>
          <p:cNvSpPr txBox="1">
            <a:spLocks noChangeArrowheads="1"/>
          </p:cNvSpPr>
          <p:nvPr/>
        </p:nvSpPr>
        <p:spPr bwMode="black">
          <a:xfrm>
            <a:off x="4211638" y="4854575"/>
            <a:ext cx="2376487" cy="411163"/>
          </a:xfrm>
          <a:prstGeom prst="rect">
            <a:avLst/>
          </a:prstGeom>
          <a:noFill/>
          <a:ln w="12700">
            <a:noFill/>
            <a:miter lim="800000"/>
            <a:headEnd/>
            <a:tailEnd/>
          </a:ln>
          <a:effectLst/>
        </p:spPr>
        <p:txBody>
          <a:bodyPr lIns="0" tIns="0" rIns="90000" bIns="46800">
            <a:spAutoFit/>
          </a:bodyPr>
          <a:lstStyle/>
          <a:p>
            <a:pPr algn="ctr">
              <a:spcBef>
                <a:spcPct val="50000"/>
              </a:spcBef>
            </a:pPr>
            <a:r>
              <a:rPr lang="fi-FI" sz="2400">
                <a:solidFill>
                  <a:srgbClr val="FF0000"/>
                </a:solidFill>
                <a:latin typeface="Arial Unicode MS" pitchFamily="34" charset="-128"/>
              </a:rPr>
              <a:t>vesiputous</a:t>
            </a:r>
            <a:endParaRPr lang="en-US" sz="2400">
              <a:solidFill>
                <a:srgbClr val="FF0000"/>
              </a:solidFill>
              <a:latin typeface="Arial Unicode MS" pitchFamily="34" charset="-128"/>
            </a:endParaRPr>
          </a:p>
        </p:txBody>
      </p:sp>
      <p:sp>
        <p:nvSpPr>
          <p:cNvPr id="176137" name="Text Box 9"/>
          <p:cNvSpPr txBox="1">
            <a:spLocks noChangeArrowheads="1"/>
          </p:cNvSpPr>
          <p:nvPr/>
        </p:nvSpPr>
        <p:spPr bwMode="black">
          <a:xfrm>
            <a:off x="3635375" y="1974850"/>
            <a:ext cx="2736850" cy="411163"/>
          </a:xfrm>
          <a:prstGeom prst="rect">
            <a:avLst/>
          </a:prstGeom>
          <a:noFill/>
          <a:ln w="12700">
            <a:noFill/>
            <a:miter lim="800000"/>
            <a:headEnd/>
            <a:tailEnd/>
          </a:ln>
          <a:effectLst/>
        </p:spPr>
        <p:txBody>
          <a:bodyPr lIns="0" tIns="0" rIns="90000" bIns="46800">
            <a:spAutoFit/>
          </a:bodyPr>
          <a:lstStyle/>
          <a:p>
            <a:pPr algn="ctr">
              <a:spcBef>
                <a:spcPct val="50000"/>
              </a:spcBef>
            </a:pPr>
            <a:r>
              <a:rPr lang="fi-FI" sz="2400" dirty="0" err="1">
                <a:solidFill>
                  <a:schemeClr val="accent2"/>
                </a:solidFill>
                <a:latin typeface="Arial Unicode MS" pitchFamily="34" charset="-128"/>
              </a:rPr>
              <a:t>inkrementaalinen</a:t>
            </a:r>
            <a:endParaRPr lang="en-US" sz="2400" dirty="0">
              <a:solidFill>
                <a:schemeClr val="accent2"/>
              </a:solidFill>
              <a:latin typeface="Arial Unicode MS" pitchFamily="34" charset="-128"/>
            </a:endParaRPr>
          </a:p>
        </p:txBody>
      </p:sp>
      <p:sp>
        <p:nvSpPr>
          <p:cNvPr id="176138" name="Text Box 10"/>
          <p:cNvSpPr txBox="1">
            <a:spLocks noChangeArrowheads="1"/>
          </p:cNvSpPr>
          <p:nvPr/>
        </p:nvSpPr>
        <p:spPr bwMode="black">
          <a:xfrm>
            <a:off x="6588125" y="5913438"/>
            <a:ext cx="2808288" cy="595312"/>
          </a:xfrm>
          <a:prstGeom prst="rect">
            <a:avLst/>
          </a:prstGeom>
          <a:noFill/>
          <a:ln w="12700">
            <a:noFill/>
            <a:miter lim="800000"/>
            <a:headEnd/>
            <a:tailEnd/>
          </a:ln>
          <a:effectLst/>
        </p:spPr>
        <p:txBody>
          <a:bodyPr lIns="0" tIns="0" rIns="90000" bIns="46800">
            <a:spAutoFit/>
          </a:bodyPr>
          <a:lstStyle/>
          <a:p>
            <a:pPr algn="l">
              <a:spcBef>
                <a:spcPct val="50000"/>
              </a:spcBef>
            </a:pPr>
            <a:r>
              <a:rPr lang="fi-FI">
                <a:latin typeface="Arial Unicode MS" pitchFamily="34" charset="-128"/>
              </a:rPr>
              <a:t>toiminnalliset ominaisuudet</a:t>
            </a:r>
            <a:endParaRPr lang="en-US">
              <a:latin typeface="Arial Unicode MS" pitchFamily="34" charset="-128"/>
            </a:endParaRPr>
          </a:p>
        </p:txBody>
      </p:sp>
      <p:sp>
        <p:nvSpPr>
          <p:cNvPr id="176139" name="Text Box 11"/>
          <p:cNvSpPr txBox="1">
            <a:spLocks noChangeArrowheads="1"/>
          </p:cNvSpPr>
          <p:nvPr/>
        </p:nvSpPr>
        <p:spPr bwMode="black">
          <a:xfrm>
            <a:off x="250825" y="1676400"/>
            <a:ext cx="1730375" cy="869950"/>
          </a:xfrm>
          <a:prstGeom prst="rect">
            <a:avLst/>
          </a:prstGeom>
          <a:noFill/>
          <a:ln w="12700">
            <a:noFill/>
            <a:miter lim="800000"/>
            <a:headEnd/>
            <a:tailEnd/>
          </a:ln>
          <a:effectLst/>
        </p:spPr>
        <p:txBody>
          <a:bodyPr lIns="0" tIns="0" rIns="90000" bIns="46800">
            <a:spAutoFit/>
          </a:bodyPr>
          <a:lstStyle/>
          <a:p>
            <a:pPr algn="l">
              <a:spcBef>
                <a:spcPct val="50000"/>
              </a:spcBef>
            </a:pPr>
            <a:r>
              <a:rPr lang="fi-FI">
                <a:latin typeface="Arial Unicode MS" pitchFamily="34" charset="-128"/>
              </a:rPr>
              <a:t>ei-toiminnal-liset ominai-suudet</a:t>
            </a:r>
            <a:endParaRPr lang="en-US">
              <a:latin typeface="Arial Unicode MS" pitchFamily="34" charset="-128"/>
            </a:endParaRPr>
          </a:p>
        </p:txBody>
      </p:sp>
      <p:sp>
        <p:nvSpPr>
          <p:cNvPr id="176140" name="Line 12"/>
          <p:cNvSpPr>
            <a:spLocks noChangeShapeType="1"/>
          </p:cNvSpPr>
          <p:nvPr/>
        </p:nvSpPr>
        <p:spPr bwMode="black">
          <a:xfrm>
            <a:off x="7812088" y="1233488"/>
            <a:ext cx="0" cy="4681537"/>
          </a:xfrm>
          <a:prstGeom prst="line">
            <a:avLst/>
          </a:prstGeom>
          <a:noFill/>
          <a:ln w="38100">
            <a:solidFill>
              <a:schemeClr val="tx1"/>
            </a:solidFill>
            <a:prstDash val="dash"/>
            <a:round/>
            <a:headEnd/>
            <a:tailEnd/>
          </a:ln>
          <a:effectLst/>
        </p:spPr>
        <p:txBody>
          <a:bodyPr lIns="0" tIns="0" rIns="90000" bIns="46800">
            <a:spAutoFit/>
          </a:bodyPr>
          <a:lstStyle/>
          <a:p>
            <a:endParaRPr lang="fi-FI"/>
          </a:p>
        </p:txBody>
      </p:sp>
      <p:sp>
        <p:nvSpPr>
          <p:cNvPr id="176141" name="Line 13"/>
          <p:cNvSpPr>
            <a:spLocks noChangeShapeType="1"/>
          </p:cNvSpPr>
          <p:nvPr/>
        </p:nvSpPr>
        <p:spPr bwMode="black">
          <a:xfrm flipH="1">
            <a:off x="7235825" y="3465513"/>
            <a:ext cx="433388" cy="0"/>
          </a:xfrm>
          <a:prstGeom prst="line">
            <a:avLst/>
          </a:prstGeom>
          <a:noFill/>
          <a:ln w="12700">
            <a:solidFill>
              <a:schemeClr val="tx1"/>
            </a:solidFill>
            <a:round/>
            <a:headEnd/>
            <a:tailEnd type="triangle" w="med" len="med"/>
          </a:ln>
          <a:effectLst/>
        </p:spPr>
        <p:txBody>
          <a:bodyPr lIns="0" tIns="0" rIns="90000" bIns="46800">
            <a:spAutoFit/>
          </a:bodyPr>
          <a:lstStyle/>
          <a:p>
            <a:endParaRPr lang="fi-FI"/>
          </a:p>
        </p:txBody>
      </p:sp>
      <p:sp>
        <p:nvSpPr>
          <p:cNvPr id="176142" name="Line 14"/>
          <p:cNvSpPr>
            <a:spLocks noChangeShapeType="1"/>
          </p:cNvSpPr>
          <p:nvPr/>
        </p:nvSpPr>
        <p:spPr bwMode="black">
          <a:xfrm>
            <a:off x="7956550" y="3465513"/>
            <a:ext cx="431800" cy="0"/>
          </a:xfrm>
          <a:prstGeom prst="line">
            <a:avLst/>
          </a:prstGeom>
          <a:noFill/>
          <a:ln w="12700">
            <a:solidFill>
              <a:schemeClr val="tx1"/>
            </a:solidFill>
            <a:round/>
            <a:headEnd/>
            <a:tailEnd type="triangle" w="med" len="med"/>
          </a:ln>
          <a:effectLst/>
        </p:spPr>
        <p:txBody>
          <a:bodyPr lIns="0" tIns="0" rIns="90000" bIns="46800">
            <a:spAutoFit/>
          </a:bodyPr>
          <a:lstStyle/>
          <a:p>
            <a:endParaRPr lang="fi-FI"/>
          </a:p>
        </p:txBody>
      </p:sp>
      <p:sp>
        <p:nvSpPr>
          <p:cNvPr id="176143" name="Text Box 15"/>
          <p:cNvSpPr txBox="1">
            <a:spLocks noChangeArrowheads="1"/>
          </p:cNvSpPr>
          <p:nvPr/>
        </p:nvSpPr>
        <p:spPr bwMode="black">
          <a:xfrm>
            <a:off x="6659563" y="2962275"/>
            <a:ext cx="2305050" cy="411163"/>
          </a:xfrm>
          <a:prstGeom prst="rect">
            <a:avLst/>
          </a:prstGeom>
          <a:noFill/>
          <a:ln w="12700">
            <a:noFill/>
            <a:miter lim="800000"/>
            <a:headEnd/>
            <a:tailEnd/>
          </a:ln>
          <a:effectLst/>
        </p:spPr>
        <p:txBody>
          <a:bodyPr lIns="0" tIns="0" rIns="90000" bIns="46800">
            <a:spAutoFit/>
          </a:bodyPr>
          <a:lstStyle/>
          <a:p>
            <a:pPr algn="l">
              <a:spcBef>
                <a:spcPct val="50000"/>
              </a:spcBef>
            </a:pPr>
            <a:r>
              <a:rPr lang="fi-FI" sz="2400">
                <a:latin typeface="Arial Unicode MS" pitchFamily="34" charset="-128"/>
              </a:rPr>
              <a:t>julkaisu</a:t>
            </a:r>
            <a:endParaRPr lang="en-US" sz="2400">
              <a:latin typeface="Arial Unicode MS" pitchFamily="34" charset="-128"/>
            </a:endParaRPr>
          </a:p>
        </p:txBody>
      </p:sp>
      <p:sp>
        <p:nvSpPr>
          <p:cNvPr id="17" name="Slide Number Placeholder 16"/>
          <p:cNvSpPr>
            <a:spLocks noGrp="1"/>
          </p:cNvSpPr>
          <p:nvPr>
            <p:ph type="sldNum" sz="quarter" idx="12"/>
          </p:nvPr>
        </p:nvSpPr>
        <p:spPr/>
        <p:txBody>
          <a:bodyPr/>
          <a:lstStyle/>
          <a:p>
            <a:fld id="{7A750B4A-325E-4AA4-BC07-A8C35B32A4F3}" type="slidenum">
              <a:rPr lang="fi-FI" smtClean="0"/>
              <a:pPr/>
              <a:t>64</a:t>
            </a:fld>
            <a:endParaRPr lang="fi-FI"/>
          </a:p>
        </p:txBody>
      </p:sp>
    </p:spTree>
  </p:cSld>
  <p:clrMapOvr>
    <a:masterClrMapping/>
  </p:clrMapOvr>
  <p:timing>
    <p:tnLst>
      <p:par>
        <p:cTn xmlns:p14="http://schemas.microsoft.com/office/powerpoint/2010/mai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lvl="0"/>
            <a:r>
              <a:rPr lang="fi-FI" dirty="0" smtClean="0"/>
              <a:t>Toimittajan valinta ja sopimukset</a:t>
            </a:r>
            <a:endParaRPr lang="fi-FI" dirty="0"/>
          </a:p>
        </p:txBody>
      </p:sp>
      <p:sp>
        <p:nvSpPr>
          <p:cNvPr id="8" name="Content Placeholder 7"/>
          <p:cNvSpPr>
            <a:spLocks noGrp="1"/>
          </p:cNvSpPr>
          <p:nvPr>
            <p:ph idx="1"/>
          </p:nvPr>
        </p:nvSpPr>
        <p:spPr/>
        <p:txBody>
          <a:bodyPr>
            <a:normAutofit fontScale="62500" lnSpcReduction="20000"/>
          </a:bodyPr>
          <a:lstStyle/>
          <a:p>
            <a:r>
              <a:rPr lang="fi-FI" dirty="0" smtClean="0"/>
              <a:t>Toimittajan testauskyvykkyyden arviointi erityinen haaste toimittajan valinnassa</a:t>
            </a:r>
          </a:p>
          <a:p>
            <a:r>
              <a:rPr lang="fi-FI" dirty="0" smtClean="0"/>
              <a:t>Kohtuullinen osuus testausta projektissa vaihtelee</a:t>
            </a:r>
          </a:p>
          <a:p>
            <a:pPr lvl="1"/>
            <a:r>
              <a:rPr lang="fi-FI" dirty="0" smtClean="0"/>
              <a:t>Uuskehitys, näkyvä erillinen testaus 20 %</a:t>
            </a:r>
          </a:p>
          <a:p>
            <a:pPr lvl="1"/>
            <a:r>
              <a:rPr lang="fi-FI" dirty="0" smtClean="0"/>
              <a:t>Pienkehitys, näkyvä erillinen testaus moninkertainen kehitykseen verrattuna</a:t>
            </a:r>
          </a:p>
          <a:p>
            <a:pPr lvl="1"/>
            <a:r>
              <a:rPr lang="fi-FI" dirty="0" smtClean="0"/>
              <a:t>Ylläpitoprojektit, näkyvä erillinen testaus voi olla puolet työmääristä</a:t>
            </a:r>
          </a:p>
          <a:p>
            <a:r>
              <a:rPr lang="fi-FI" dirty="0" smtClean="0"/>
              <a:t>Sopimusten osalta keskeisiä</a:t>
            </a:r>
          </a:p>
          <a:p>
            <a:pPr lvl="1"/>
            <a:r>
              <a:rPr lang="fi-FI" dirty="0" smtClean="0"/>
              <a:t>Vaatimusten ja vastuiden määritelmät</a:t>
            </a:r>
          </a:p>
          <a:p>
            <a:pPr lvl="1"/>
            <a:r>
              <a:rPr lang="fi-FI" dirty="0" smtClean="0"/>
              <a:t>Virheen määritelmä</a:t>
            </a:r>
          </a:p>
          <a:p>
            <a:pPr lvl="1"/>
            <a:r>
              <a:rPr lang="fi-FI" dirty="0" smtClean="0"/>
              <a:t>Hyväksymistestauksen kesto ja keskeytyminen</a:t>
            </a:r>
          </a:p>
          <a:p>
            <a:pPr lvl="1"/>
            <a:r>
              <a:rPr lang="fi-FI" dirty="0" smtClean="0"/>
              <a:t>Ulkoiset riippuvuudet, esim. toiset toimittajat, testausympäristö</a:t>
            </a:r>
          </a:p>
          <a:p>
            <a:pPr lvl="1"/>
            <a:r>
              <a:rPr lang="fi-FI" dirty="0" smtClean="0"/>
              <a:t>Virheiden korjaus hyväksymistestauksen aikana ja takuuaikana</a:t>
            </a:r>
          </a:p>
          <a:p>
            <a:pPr lvl="1"/>
            <a:r>
              <a:rPr lang="fi-FI" dirty="0" smtClean="0"/>
              <a:t>Toimittajan testauksen puutteiden vaikutus osana hyväksyntää</a:t>
            </a:r>
          </a:p>
          <a:p>
            <a:pPr lvl="1"/>
            <a:r>
              <a:rPr lang="fi-FI" dirty="0" smtClean="0"/>
              <a:t>Hyväksymistestauksen materiaalien toimitusvelvoitteet</a:t>
            </a:r>
          </a:p>
          <a:p>
            <a:pPr lvl="1"/>
            <a:r>
              <a:rPr lang="fi-FI" b="1" dirty="0" smtClean="0"/>
              <a:t>Projektisuunnitelma sopimuksen liitteenä</a:t>
            </a:r>
            <a:r>
              <a:rPr lang="fi-FI" dirty="0" smtClean="0"/>
              <a:t>: tarjoaako mahdollisuudet testauksen tekemiselle</a:t>
            </a:r>
          </a:p>
        </p:txBody>
      </p:sp>
      <p:sp>
        <p:nvSpPr>
          <p:cNvPr id="4" name="Slide Number Placeholder 3"/>
          <p:cNvSpPr>
            <a:spLocks noGrp="1"/>
          </p:cNvSpPr>
          <p:nvPr>
            <p:ph type="sldNum" sz="quarter" idx="12"/>
          </p:nvPr>
        </p:nvSpPr>
        <p:spPr/>
        <p:txBody>
          <a:bodyPr/>
          <a:lstStyle/>
          <a:p>
            <a:fld id="{7A750B4A-325E-4AA4-BC07-A8C35B32A4F3}" type="slidenum">
              <a:rPr lang="fi-FI" smtClean="0"/>
              <a:pPr/>
              <a:t>65</a:t>
            </a:fld>
            <a:endParaRPr lang="fi-FI"/>
          </a:p>
        </p:txBody>
      </p:sp>
    </p:spTree>
  </p:cSld>
  <p:clrMapOvr>
    <a:masterClrMapping/>
  </p:clrMapOvr>
  <p:timing>
    <p:tnLst>
      <p:par>
        <p:cTn xmlns:p14="http://schemas.microsoft.com/office/powerpoint/2010/mai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fi-FI" dirty="0" smtClean="0"/>
              <a:t>Vaatimusten ja odotusten hallinta</a:t>
            </a:r>
            <a:endParaRPr lang="fi-FI" dirty="0"/>
          </a:p>
        </p:txBody>
      </p:sp>
      <p:sp>
        <p:nvSpPr>
          <p:cNvPr id="5" name="Content Placeholder 4"/>
          <p:cNvSpPr>
            <a:spLocks noGrp="1"/>
          </p:cNvSpPr>
          <p:nvPr>
            <p:ph idx="1"/>
          </p:nvPr>
        </p:nvSpPr>
        <p:spPr/>
        <p:txBody>
          <a:bodyPr>
            <a:normAutofit fontScale="85000" lnSpcReduction="20000"/>
          </a:bodyPr>
          <a:lstStyle/>
          <a:p>
            <a:r>
              <a:rPr lang="fi-FI" dirty="0" smtClean="0"/>
              <a:t>Vaatimukset ja määritykset ovat yleisin sopimisen pohja</a:t>
            </a:r>
          </a:p>
          <a:p>
            <a:pPr lvl="1"/>
            <a:r>
              <a:rPr lang="fi-FI" dirty="0" smtClean="0"/>
              <a:t>Kiinteähintainen / tavoitehintainen kokonaisuus</a:t>
            </a:r>
          </a:p>
          <a:p>
            <a:r>
              <a:rPr lang="fi-FI" dirty="0" smtClean="0"/>
              <a:t>Muutosten hallinta</a:t>
            </a:r>
          </a:p>
          <a:p>
            <a:pPr lvl="1"/>
            <a:r>
              <a:rPr lang="fi-FI" dirty="0" smtClean="0"/>
              <a:t>Uudet vaatimukset – kasvattaa hintaa</a:t>
            </a:r>
          </a:p>
          <a:p>
            <a:pPr lvl="1"/>
            <a:r>
              <a:rPr lang="fi-FI" dirty="0" smtClean="0"/>
              <a:t>Poikkeamat – todellisuus vaatii suuremman työn asian aikaansaamiseksi kuin suunniteltu</a:t>
            </a:r>
          </a:p>
          <a:p>
            <a:pPr lvl="1"/>
            <a:r>
              <a:rPr lang="fi-FI" dirty="0" smtClean="0"/>
              <a:t>Haasteena muutosten monet tasot: sovittava selkeästi kuka vastaa minkätyyppisistä muutoksista</a:t>
            </a:r>
          </a:p>
          <a:p>
            <a:r>
              <a:rPr lang="fi-FI" dirty="0" smtClean="0"/>
              <a:t>Vaatimusten ja määritysten laatiminen on oppimiskokemus – tarpeen hallita odotuksia ymmärtämällä projektille sovitut rajaukset</a:t>
            </a:r>
            <a:endParaRPr lang="fi-FI"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66</a:t>
            </a:fld>
            <a:endParaRPr lang="fi-FI"/>
          </a:p>
        </p:txBody>
      </p:sp>
    </p:spTree>
  </p:cSld>
  <p:clrMapOvr>
    <a:masterClrMapping/>
  </p:clrMapOvr>
  <p:timing>
    <p:tnLst>
      <p:par>
        <p:cTn xmlns:p14="http://schemas.microsoft.com/office/powerpoint/2010/mai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fi-FI" dirty="0" smtClean="0"/>
              <a:t>Puitteiden varmistaminen: toimittajayhteistyö</a:t>
            </a:r>
            <a:endParaRPr lang="fi-FI" dirty="0"/>
          </a:p>
        </p:txBody>
      </p:sp>
      <p:sp>
        <p:nvSpPr>
          <p:cNvPr id="6" name="Content Placeholder 5"/>
          <p:cNvSpPr>
            <a:spLocks noGrp="1"/>
          </p:cNvSpPr>
          <p:nvPr>
            <p:ph idx="1"/>
          </p:nvPr>
        </p:nvSpPr>
        <p:spPr/>
        <p:txBody>
          <a:bodyPr>
            <a:normAutofit fontScale="77500" lnSpcReduction="20000"/>
          </a:bodyPr>
          <a:lstStyle/>
          <a:p>
            <a:r>
              <a:rPr lang="fi-FI" dirty="0" smtClean="0"/>
              <a:t>Näkyvyys toimittajan testauksiin keskeistä hyväksymistestauksen valmistelulle</a:t>
            </a:r>
          </a:p>
          <a:p>
            <a:r>
              <a:rPr lang="fi-FI" dirty="0" smtClean="0"/>
              <a:t>Suositeltava käytäntö on mahdollistaa testaajille käytön kautta oppiminen jo ennen hyväksymistestausvaihetta</a:t>
            </a:r>
          </a:p>
          <a:p>
            <a:pPr lvl="1"/>
            <a:r>
              <a:rPr lang="fi-FI" dirty="0" smtClean="0"/>
              <a:t>”Järjestelmätestauksen tuki” – tarjotaan loppukäyttäjänäkökulmaa avuksi toimittajan testauksiin</a:t>
            </a:r>
          </a:p>
          <a:p>
            <a:pPr lvl="1"/>
            <a:r>
              <a:rPr lang="fi-FI" dirty="0" smtClean="0"/>
              <a:t>”Asiakastestaus” – saadaan väliversioita epäviralliseen hyväksymistestin kaltaiseen vapaaehtoiseen valmistelutestaukseen</a:t>
            </a:r>
          </a:p>
          <a:p>
            <a:r>
              <a:rPr lang="fi-FI" dirty="0" smtClean="0"/>
              <a:t>Toimittajayhteistyön muotoja</a:t>
            </a:r>
          </a:p>
          <a:p>
            <a:pPr lvl="1"/>
            <a:r>
              <a:rPr lang="fi-FI" dirty="0" smtClean="0"/>
              <a:t>Järjestelmätestitapausten suunnitteluun osallistuminen: ideat, katselmoinnit</a:t>
            </a:r>
          </a:p>
          <a:p>
            <a:pPr lvl="1"/>
            <a:r>
              <a:rPr lang="fi-FI" dirty="0" smtClean="0"/>
              <a:t>Toimittajan testauksen raportoinnin seuranta</a:t>
            </a:r>
          </a:p>
          <a:p>
            <a:pPr lvl="1"/>
            <a:r>
              <a:rPr lang="fi-FI" dirty="0" smtClean="0"/>
              <a:t>Hyväksymistestitapauksista viestiminen, katselmoinnit</a:t>
            </a:r>
            <a:endParaRPr lang="fi-FI"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67</a:t>
            </a:fld>
            <a:endParaRPr lang="fi-FI"/>
          </a:p>
        </p:txBody>
      </p:sp>
    </p:spTree>
  </p:cSld>
  <p:clrMapOvr>
    <a:masterClrMapping/>
  </p:clrMapOvr>
  <p:timing>
    <p:tnLst>
      <p:par>
        <p:cTn xmlns:p14="http://schemas.microsoft.com/office/powerpoint/2010/mai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fi-FI" dirty="0" smtClean="0"/>
              <a:t>Kokonaisjärjestelmän ja osajärjestelmien tunnistaminen</a:t>
            </a:r>
            <a:endParaRPr lang="fi-FI" dirty="0"/>
          </a:p>
        </p:txBody>
      </p:sp>
      <p:sp>
        <p:nvSpPr>
          <p:cNvPr id="5" name="Content Placeholder 4"/>
          <p:cNvSpPr>
            <a:spLocks noGrp="1"/>
          </p:cNvSpPr>
          <p:nvPr>
            <p:ph idx="1"/>
          </p:nvPr>
        </p:nvSpPr>
        <p:spPr/>
        <p:txBody>
          <a:bodyPr>
            <a:normAutofit fontScale="92500" lnSpcReduction="10000"/>
          </a:bodyPr>
          <a:lstStyle/>
          <a:p>
            <a:r>
              <a:rPr lang="fi-FI" dirty="0" smtClean="0"/>
              <a:t>Näkyvät erityisesti projektisuunnitelmien rajauksissa</a:t>
            </a:r>
          </a:p>
          <a:p>
            <a:pPr lvl="1"/>
            <a:r>
              <a:rPr lang="fi-FI" dirty="0" smtClean="0"/>
              <a:t>Tätä me muutamme</a:t>
            </a:r>
          </a:p>
          <a:p>
            <a:pPr lvl="1"/>
            <a:r>
              <a:rPr lang="fi-FI" dirty="0" smtClean="0"/>
              <a:t>Tätä emme muuta mutta katsomme että se toimii edelleen ja on saatavilla osaksi järjestelmää</a:t>
            </a:r>
          </a:p>
          <a:p>
            <a:pPr lvl="1"/>
            <a:r>
              <a:rPr lang="fi-FI" dirty="0" smtClean="0"/>
              <a:t>Tätä joku muu muuttaa ja me katsomme tässä laajuudessa että se toimii osana kokonaisuutta</a:t>
            </a:r>
          </a:p>
          <a:p>
            <a:r>
              <a:rPr lang="fi-FI" dirty="0" smtClean="0"/>
              <a:t>Komponentit, moduulit, sovellukset,  osajärjestelmät, tietovarastot, järjestelmät, toimintaympäristö...</a:t>
            </a:r>
            <a:endParaRPr lang="fi-FI"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68</a:t>
            </a:fld>
            <a:endParaRPr lang="fi-FI"/>
          </a:p>
        </p:txBody>
      </p:sp>
    </p:spTree>
  </p:cSld>
  <p:clrMapOvr>
    <a:masterClrMapping/>
  </p:clrMapOvr>
  <p:timing>
    <p:tnLst>
      <p:par>
        <p:cTn xmlns:p14="http://schemas.microsoft.com/office/powerpoint/2010/mai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fi-FI" dirty="0" smtClean="0"/>
              <a:t>Aika ei yleensä ole hyväksymistestauksen puolella...</a:t>
            </a:r>
            <a:endParaRPr lang="fi-FI" dirty="0"/>
          </a:p>
        </p:txBody>
      </p:sp>
      <p:sp>
        <p:nvSpPr>
          <p:cNvPr id="5" name="Content Placeholder 4"/>
          <p:cNvSpPr>
            <a:spLocks noGrp="1"/>
          </p:cNvSpPr>
          <p:nvPr>
            <p:ph idx="1"/>
          </p:nvPr>
        </p:nvSpPr>
        <p:spPr/>
        <p:txBody>
          <a:bodyPr>
            <a:normAutofit lnSpcReduction="10000"/>
          </a:bodyPr>
          <a:lstStyle/>
          <a:p>
            <a:r>
              <a:rPr lang="fi-FI" dirty="0" smtClean="0"/>
              <a:t>Hyväksymistestaukselle varattu aikaväli usein antaa odottaa lähes valmista laatua</a:t>
            </a:r>
          </a:p>
          <a:p>
            <a:pPr lvl="1"/>
            <a:r>
              <a:rPr lang="fi-FI" dirty="0" smtClean="0"/>
              <a:t>Ainoa testausvaihe jonka ei olisi tarkoitus olla korjausvaihe!</a:t>
            </a:r>
          </a:p>
          <a:p>
            <a:r>
              <a:rPr lang="fi-FI" dirty="0" smtClean="0"/>
              <a:t>Tuotantoonsiirron / julkaisun ajankohta on kiinnitetty merkittävässä määrin</a:t>
            </a:r>
          </a:p>
          <a:p>
            <a:endParaRPr lang="fi-FI" dirty="0" smtClean="0"/>
          </a:p>
          <a:p>
            <a:r>
              <a:rPr lang="fi-FI" dirty="0" smtClean="0">
                <a:solidFill>
                  <a:schemeClr val="accent1"/>
                </a:solidFill>
              </a:rPr>
              <a:t>Tehokas läpivienti korostaen valmiusastetta sekä havaintojen käsittelyä on tarpeellista</a:t>
            </a:r>
            <a:endParaRPr lang="fi-FI" dirty="0">
              <a:solidFill>
                <a:schemeClr val="accent1"/>
              </a:solidFill>
            </a:endParaRPr>
          </a:p>
        </p:txBody>
      </p:sp>
      <p:sp>
        <p:nvSpPr>
          <p:cNvPr id="6" name="Slide Number Placeholder 5"/>
          <p:cNvSpPr>
            <a:spLocks noGrp="1"/>
          </p:cNvSpPr>
          <p:nvPr>
            <p:ph type="sldNum" sz="quarter" idx="12"/>
          </p:nvPr>
        </p:nvSpPr>
        <p:spPr/>
        <p:txBody>
          <a:bodyPr/>
          <a:lstStyle/>
          <a:p>
            <a:fld id="{7A750B4A-325E-4AA4-BC07-A8C35B32A4F3}" type="slidenum">
              <a:rPr lang="fi-FI" smtClean="0"/>
              <a:pPr/>
              <a:t>69</a:t>
            </a:fld>
            <a:endParaRPr lang="fi-FI"/>
          </a:p>
        </p:txBody>
      </p:sp>
    </p:spTree>
  </p:cSld>
  <p:clrMapOvr>
    <a:masterClrMapping/>
  </p:clrMapOvr>
  <p:timing>
    <p:tnLst>
      <p:par>
        <p:cTn xmlns:p14="http://schemas.microsoft.com/office/powerpoint/2010/mai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Rectangle 2"/>
          <p:cNvSpPr>
            <a:spLocks noGrp="1" noChangeArrowheads="1"/>
          </p:cNvSpPr>
          <p:nvPr>
            <p:ph type="title"/>
          </p:nvPr>
        </p:nvSpPr>
        <p:spPr/>
        <p:txBody>
          <a:bodyPr/>
          <a:lstStyle/>
          <a:p>
            <a:r>
              <a:rPr lang="fi-FI"/>
              <a:t>Testaus aikataulupuristuksessa</a:t>
            </a:r>
            <a:endParaRPr lang="en-GB"/>
          </a:p>
        </p:txBody>
      </p:sp>
      <p:grpSp>
        <p:nvGrpSpPr>
          <p:cNvPr id="2" name="Group 3"/>
          <p:cNvGrpSpPr>
            <a:grpSpLocks/>
          </p:cNvGrpSpPr>
          <p:nvPr/>
        </p:nvGrpSpPr>
        <p:grpSpPr bwMode="auto">
          <a:xfrm>
            <a:off x="3200400" y="3717925"/>
            <a:ext cx="3352800" cy="304800"/>
            <a:chOff x="2064" y="2448"/>
            <a:chExt cx="2112" cy="192"/>
          </a:xfrm>
        </p:grpSpPr>
        <p:sp>
          <p:nvSpPr>
            <p:cNvPr id="434180" name="Line 4"/>
            <p:cNvSpPr>
              <a:spLocks noChangeShapeType="1"/>
            </p:cNvSpPr>
            <p:nvPr/>
          </p:nvSpPr>
          <p:spPr bwMode="auto">
            <a:xfrm>
              <a:off x="2064" y="2544"/>
              <a:ext cx="2112" cy="0"/>
            </a:xfrm>
            <a:prstGeom prst="line">
              <a:avLst/>
            </a:prstGeom>
            <a:noFill/>
            <a:ln w="57150">
              <a:solidFill>
                <a:schemeClr val="tx2"/>
              </a:solidFill>
              <a:miter lim="800000"/>
              <a:headEnd/>
              <a:tailEnd/>
            </a:ln>
            <a:effectLst/>
          </p:spPr>
          <p:txBody>
            <a:bodyPr wrap="none"/>
            <a:lstStyle/>
            <a:p>
              <a:endParaRPr lang="en-US"/>
            </a:p>
          </p:txBody>
        </p:sp>
        <p:sp>
          <p:nvSpPr>
            <p:cNvPr id="434181" name="Line 5"/>
            <p:cNvSpPr>
              <a:spLocks noChangeShapeType="1"/>
            </p:cNvSpPr>
            <p:nvPr/>
          </p:nvSpPr>
          <p:spPr bwMode="auto">
            <a:xfrm>
              <a:off x="2064" y="2448"/>
              <a:ext cx="0" cy="192"/>
            </a:xfrm>
            <a:prstGeom prst="line">
              <a:avLst/>
            </a:prstGeom>
            <a:noFill/>
            <a:ln w="57150">
              <a:solidFill>
                <a:schemeClr val="tx2"/>
              </a:solidFill>
              <a:miter lim="800000"/>
              <a:headEnd/>
              <a:tailEnd/>
            </a:ln>
            <a:effectLst/>
          </p:spPr>
          <p:txBody>
            <a:bodyPr wrap="none"/>
            <a:lstStyle/>
            <a:p>
              <a:endParaRPr lang="en-US"/>
            </a:p>
          </p:txBody>
        </p:sp>
        <p:sp>
          <p:nvSpPr>
            <p:cNvPr id="434182" name="Line 6"/>
            <p:cNvSpPr>
              <a:spLocks noChangeShapeType="1"/>
            </p:cNvSpPr>
            <p:nvPr/>
          </p:nvSpPr>
          <p:spPr bwMode="auto">
            <a:xfrm>
              <a:off x="4176" y="2448"/>
              <a:ext cx="0" cy="192"/>
            </a:xfrm>
            <a:prstGeom prst="line">
              <a:avLst/>
            </a:prstGeom>
            <a:noFill/>
            <a:ln w="57150">
              <a:solidFill>
                <a:schemeClr val="tx2"/>
              </a:solidFill>
              <a:miter lim="800000"/>
              <a:headEnd/>
              <a:tailEnd/>
            </a:ln>
            <a:effectLst/>
          </p:spPr>
          <p:txBody>
            <a:bodyPr wrap="none"/>
            <a:lstStyle/>
            <a:p>
              <a:endParaRPr lang="en-US"/>
            </a:p>
          </p:txBody>
        </p:sp>
      </p:grpSp>
      <p:sp>
        <p:nvSpPr>
          <p:cNvPr id="434183" name="Text Box 7"/>
          <p:cNvSpPr txBox="1">
            <a:spLocks noChangeArrowheads="1"/>
          </p:cNvSpPr>
          <p:nvPr/>
        </p:nvSpPr>
        <p:spPr bwMode="auto">
          <a:xfrm>
            <a:off x="3352800" y="3946525"/>
            <a:ext cx="3048000" cy="457200"/>
          </a:xfrm>
          <a:prstGeom prst="rect">
            <a:avLst/>
          </a:prstGeom>
          <a:noFill/>
          <a:ln w="9525">
            <a:noFill/>
            <a:miter lim="800000"/>
            <a:headEnd/>
            <a:tailEnd/>
          </a:ln>
          <a:effectLst/>
        </p:spPr>
        <p:txBody>
          <a:bodyPr>
            <a:spAutoFit/>
          </a:bodyPr>
          <a:lstStyle/>
          <a:p>
            <a:pPr algn="ctr">
              <a:spcBef>
                <a:spcPct val="50000"/>
              </a:spcBef>
            </a:pPr>
            <a:r>
              <a:rPr lang="fi-FI" sz="2400"/>
              <a:t>Testausaika</a:t>
            </a:r>
            <a:endParaRPr lang="en-GB" sz="2400"/>
          </a:p>
        </p:txBody>
      </p:sp>
      <p:sp>
        <p:nvSpPr>
          <p:cNvPr id="434184" name="Oval 8"/>
          <p:cNvSpPr>
            <a:spLocks noChangeArrowheads="1"/>
          </p:cNvSpPr>
          <p:nvPr/>
        </p:nvSpPr>
        <p:spPr bwMode="auto">
          <a:xfrm>
            <a:off x="1143000" y="3108325"/>
            <a:ext cx="1600200" cy="1524000"/>
          </a:xfrm>
          <a:prstGeom prst="ellipse">
            <a:avLst/>
          </a:prstGeom>
          <a:gradFill rotWithShape="0">
            <a:gsLst>
              <a:gs pos="0">
                <a:schemeClr val="bg1"/>
              </a:gs>
              <a:gs pos="100000">
                <a:srgbClr val="FFFF00"/>
              </a:gs>
            </a:gsLst>
            <a:path path="shape">
              <a:fillToRect l="50000" t="50000" r="50000" b="50000"/>
            </a:path>
          </a:gradFill>
          <a:ln w="9525">
            <a:noFill/>
            <a:miter lim="800000"/>
            <a:headEnd/>
            <a:tailEnd/>
          </a:ln>
          <a:effectLst/>
        </p:spPr>
        <p:txBody>
          <a:bodyPr wrap="none" anchor="ctr"/>
          <a:lstStyle/>
          <a:p>
            <a:endParaRPr lang="en-US"/>
          </a:p>
        </p:txBody>
      </p:sp>
      <p:sp>
        <p:nvSpPr>
          <p:cNvPr id="434185" name="Oval 9"/>
          <p:cNvSpPr>
            <a:spLocks noChangeArrowheads="1"/>
          </p:cNvSpPr>
          <p:nvPr/>
        </p:nvSpPr>
        <p:spPr bwMode="auto">
          <a:xfrm>
            <a:off x="7010400" y="3108325"/>
            <a:ext cx="1600200" cy="1524000"/>
          </a:xfrm>
          <a:prstGeom prst="ellipse">
            <a:avLst/>
          </a:prstGeom>
          <a:gradFill rotWithShape="0">
            <a:gsLst>
              <a:gs pos="0">
                <a:schemeClr val="bg1"/>
              </a:gs>
              <a:gs pos="100000">
                <a:srgbClr val="00CC00"/>
              </a:gs>
            </a:gsLst>
            <a:path path="shape">
              <a:fillToRect l="50000" t="50000" r="50000" b="50000"/>
            </a:path>
          </a:gradFill>
          <a:ln w="9525">
            <a:noFill/>
            <a:miter lim="800000"/>
            <a:headEnd/>
            <a:tailEnd/>
          </a:ln>
          <a:effectLst/>
        </p:spPr>
        <p:txBody>
          <a:bodyPr wrap="none" anchor="ctr"/>
          <a:lstStyle/>
          <a:p>
            <a:endParaRPr lang="en-US"/>
          </a:p>
        </p:txBody>
      </p:sp>
      <p:sp>
        <p:nvSpPr>
          <p:cNvPr id="434186" name="Line 10"/>
          <p:cNvSpPr>
            <a:spLocks noChangeShapeType="1"/>
          </p:cNvSpPr>
          <p:nvPr/>
        </p:nvSpPr>
        <p:spPr bwMode="auto">
          <a:xfrm>
            <a:off x="2743200" y="3870325"/>
            <a:ext cx="304800" cy="0"/>
          </a:xfrm>
          <a:prstGeom prst="line">
            <a:avLst/>
          </a:prstGeom>
          <a:noFill/>
          <a:ln w="38100">
            <a:solidFill>
              <a:schemeClr val="tx1"/>
            </a:solidFill>
            <a:miter lim="800000"/>
            <a:headEnd/>
            <a:tailEnd type="triangle" w="med" len="med"/>
          </a:ln>
          <a:effectLst/>
        </p:spPr>
        <p:txBody>
          <a:bodyPr wrap="none"/>
          <a:lstStyle/>
          <a:p>
            <a:endParaRPr lang="en-US"/>
          </a:p>
        </p:txBody>
      </p:sp>
      <p:sp>
        <p:nvSpPr>
          <p:cNvPr id="434187" name="Line 11"/>
          <p:cNvSpPr>
            <a:spLocks noChangeShapeType="1"/>
          </p:cNvSpPr>
          <p:nvPr/>
        </p:nvSpPr>
        <p:spPr bwMode="auto">
          <a:xfrm flipH="1">
            <a:off x="6705600" y="3870325"/>
            <a:ext cx="304800" cy="0"/>
          </a:xfrm>
          <a:prstGeom prst="line">
            <a:avLst/>
          </a:prstGeom>
          <a:noFill/>
          <a:ln w="38100">
            <a:solidFill>
              <a:schemeClr val="tx1"/>
            </a:solidFill>
            <a:miter lim="800000"/>
            <a:headEnd/>
            <a:tailEnd type="triangle" w="med" len="med"/>
          </a:ln>
          <a:effectLst/>
        </p:spPr>
        <p:txBody>
          <a:bodyPr wrap="none"/>
          <a:lstStyle/>
          <a:p>
            <a:endParaRPr lang="en-US"/>
          </a:p>
        </p:txBody>
      </p:sp>
      <p:sp>
        <p:nvSpPr>
          <p:cNvPr id="434188" name="Line 12"/>
          <p:cNvSpPr>
            <a:spLocks noChangeShapeType="1"/>
          </p:cNvSpPr>
          <p:nvPr/>
        </p:nvSpPr>
        <p:spPr bwMode="auto">
          <a:xfrm>
            <a:off x="7620000" y="4022725"/>
            <a:ext cx="0" cy="914400"/>
          </a:xfrm>
          <a:prstGeom prst="line">
            <a:avLst/>
          </a:prstGeom>
          <a:noFill/>
          <a:ln w="9525">
            <a:solidFill>
              <a:schemeClr val="tx1"/>
            </a:solidFill>
            <a:miter lim="800000"/>
            <a:headEnd/>
            <a:tailEnd type="triangle" w="med" len="med"/>
          </a:ln>
          <a:effectLst/>
        </p:spPr>
        <p:txBody>
          <a:bodyPr wrap="none"/>
          <a:lstStyle/>
          <a:p>
            <a:endParaRPr lang="en-US"/>
          </a:p>
        </p:txBody>
      </p:sp>
      <p:sp>
        <p:nvSpPr>
          <p:cNvPr id="434189" name="Line 13"/>
          <p:cNvSpPr>
            <a:spLocks noChangeShapeType="1"/>
          </p:cNvSpPr>
          <p:nvPr/>
        </p:nvSpPr>
        <p:spPr bwMode="auto">
          <a:xfrm>
            <a:off x="1676400" y="4022725"/>
            <a:ext cx="0" cy="914400"/>
          </a:xfrm>
          <a:prstGeom prst="line">
            <a:avLst/>
          </a:prstGeom>
          <a:noFill/>
          <a:ln w="9525">
            <a:solidFill>
              <a:schemeClr val="tx1"/>
            </a:solidFill>
            <a:miter lim="800000"/>
            <a:headEnd/>
            <a:tailEnd type="triangle" w="med" len="med"/>
          </a:ln>
          <a:effectLst/>
        </p:spPr>
        <p:txBody>
          <a:bodyPr wrap="none"/>
          <a:lstStyle/>
          <a:p>
            <a:endParaRPr lang="en-US"/>
          </a:p>
        </p:txBody>
      </p:sp>
      <p:sp>
        <p:nvSpPr>
          <p:cNvPr id="434190" name="Text Box 14"/>
          <p:cNvSpPr txBox="1">
            <a:spLocks noChangeArrowheads="1"/>
          </p:cNvSpPr>
          <p:nvPr/>
        </p:nvSpPr>
        <p:spPr bwMode="auto">
          <a:xfrm>
            <a:off x="533400" y="4937125"/>
            <a:ext cx="3962400" cy="1187450"/>
          </a:xfrm>
          <a:prstGeom prst="rect">
            <a:avLst/>
          </a:prstGeom>
          <a:noFill/>
          <a:ln w="9525">
            <a:noFill/>
            <a:miter lim="800000"/>
            <a:headEnd/>
            <a:tailEnd/>
          </a:ln>
          <a:effectLst/>
        </p:spPr>
        <p:txBody>
          <a:bodyPr>
            <a:spAutoFit/>
          </a:bodyPr>
          <a:lstStyle/>
          <a:p>
            <a:pPr algn="ctr">
              <a:spcBef>
                <a:spcPct val="50000"/>
              </a:spcBef>
            </a:pPr>
            <a:r>
              <a:rPr lang="fi-FI" sz="2400"/>
              <a:t>”Ei ihan vielä aleta testata, kun minäkin tiedän että tämä ei toimi”</a:t>
            </a:r>
            <a:endParaRPr lang="en-GB" sz="2400"/>
          </a:p>
        </p:txBody>
      </p:sp>
      <p:sp>
        <p:nvSpPr>
          <p:cNvPr id="434191" name="Text Box 15"/>
          <p:cNvSpPr txBox="1">
            <a:spLocks noChangeArrowheads="1"/>
          </p:cNvSpPr>
          <p:nvPr/>
        </p:nvSpPr>
        <p:spPr bwMode="auto">
          <a:xfrm>
            <a:off x="914400" y="2362200"/>
            <a:ext cx="2133600" cy="822325"/>
          </a:xfrm>
          <a:prstGeom prst="rect">
            <a:avLst/>
          </a:prstGeom>
          <a:noFill/>
          <a:ln w="9525">
            <a:noFill/>
            <a:miter lim="800000"/>
            <a:headEnd/>
            <a:tailEnd/>
          </a:ln>
          <a:effectLst/>
        </p:spPr>
        <p:txBody>
          <a:bodyPr>
            <a:spAutoFit/>
          </a:bodyPr>
          <a:lstStyle/>
          <a:p>
            <a:pPr algn="ctr">
              <a:spcBef>
                <a:spcPct val="50000"/>
              </a:spcBef>
            </a:pPr>
            <a:r>
              <a:rPr lang="fi-FI" sz="2400"/>
              <a:t>Myöhäinen aloitus</a:t>
            </a:r>
            <a:endParaRPr lang="en-GB" sz="2400"/>
          </a:p>
        </p:txBody>
      </p:sp>
      <p:sp>
        <p:nvSpPr>
          <p:cNvPr id="434192" name="Text Box 16"/>
          <p:cNvSpPr txBox="1">
            <a:spLocks noChangeArrowheads="1"/>
          </p:cNvSpPr>
          <p:nvPr/>
        </p:nvSpPr>
        <p:spPr bwMode="auto">
          <a:xfrm>
            <a:off x="6643702" y="2286000"/>
            <a:ext cx="2271698" cy="830997"/>
          </a:xfrm>
          <a:prstGeom prst="rect">
            <a:avLst/>
          </a:prstGeom>
          <a:noFill/>
          <a:ln w="9525">
            <a:noFill/>
            <a:miter lim="800000"/>
            <a:headEnd/>
            <a:tailEnd/>
          </a:ln>
          <a:effectLst/>
        </p:spPr>
        <p:txBody>
          <a:bodyPr wrap="square">
            <a:spAutoFit/>
          </a:bodyPr>
          <a:lstStyle/>
          <a:p>
            <a:pPr algn="ctr">
              <a:spcBef>
                <a:spcPct val="50000"/>
              </a:spcBef>
            </a:pPr>
            <a:r>
              <a:rPr lang="fi-FI" sz="2400" dirty="0"/>
              <a:t>Lopettaminen ajoissa</a:t>
            </a:r>
            <a:endParaRPr lang="en-GB" sz="2400" dirty="0"/>
          </a:p>
        </p:txBody>
      </p:sp>
      <p:sp>
        <p:nvSpPr>
          <p:cNvPr id="434193" name="Text Box 17"/>
          <p:cNvSpPr txBox="1">
            <a:spLocks noChangeArrowheads="1"/>
          </p:cNvSpPr>
          <p:nvPr/>
        </p:nvSpPr>
        <p:spPr bwMode="auto">
          <a:xfrm>
            <a:off x="5181600" y="4860925"/>
            <a:ext cx="3962400" cy="830997"/>
          </a:xfrm>
          <a:prstGeom prst="rect">
            <a:avLst/>
          </a:prstGeom>
          <a:noFill/>
          <a:ln w="9525">
            <a:noFill/>
            <a:miter lim="800000"/>
            <a:headEnd/>
            <a:tailEnd/>
          </a:ln>
          <a:effectLst/>
        </p:spPr>
        <p:txBody>
          <a:bodyPr>
            <a:spAutoFit/>
          </a:bodyPr>
          <a:lstStyle/>
          <a:p>
            <a:pPr algn="ctr">
              <a:spcBef>
                <a:spcPct val="50000"/>
              </a:spcBef>
            </a:pPr>
            <a:r>
              <a:rPr lang="fi-FI" sz="2400" dirty="0"/>
              <a:t>”Tämä luvattiin </a:t>
            </a:r>
            <a:r>
              <a:rPr lang="fi-FI" sz="2400" dirty="0" smtClean="0"/>
              <a:t>julkaistavaksi tänä </a:t>
            </a:r>
            <a:r>
              <a:rPr lang="fi-FI" sz="2400" dirty="0"/>
              <a:t>päivänä”</a:t>
            </a:r>
            <a:endParaRPr lang="en-GB" sz="2400" dirty="0"/>
          </a:p>
        </p:txBody>
      </p:sp>
      <p:sp>
        <p:nvSpPr>
          <p:cNvPr id="434194" name="Oval 18"/>
          <p:cNvSpPr>
            <a:spLocks noChangeArrowheads="1"/>
          </p:cNvSpPr>
          <p:nvPr/>
        </p:nvSpPr>
        <p:spPr bwMode="auto">
          <a:xfrm>
            <a:off x="4267200" y="2270125"/>
            <a:ext cx="1219200" cy="1143000"/>
          </a:xfrm>
          <a:prstGeom prst="ellipse">
            <a:avLst/>
          </a:prstGeom>
          <a:gradFill rotWithShape="0">
            <a:gsLst>
              <a:gs pos="0">
                <a:schemeClr val="bg1"/>
              </a:gs>
              <a:gs pos="100000">
                <a:srgbClr val="6699FF"/>
              </a:gs>
            </a:gsLst>
            <a:path path="shape">
              <a:fillToRect l="50000" t="50000" r="50000" b="50000"/>
            </a:path>
          </a:gradFill>
          <a:ln w="9525">
            <a:noFill/>
            <a:miter lim="800000"/>
            <a:headEnd/>
            <a:tailEnd/>
          </a:ln>
          <a:effectLst/>
        </p:spPr>
        <p:txBody>
          <a:bodyPr wrap="none" anchor="ctr"/>
          <a:lstStyle/>
          <a:p>
            <a:endParaRPr lang="en-US"/>
          </a:p>
        </p:txBody>
      </p:sp>
      <p:sp>
        <p:nvSpPr>
          <p:cNvPr id="434195" name="Line 19"/>
          <p:cNvSpPr>
            <a:spLocks noChangeShapeType="1"/>
          </p:cNvSpPr>
          <p:nvPr/>
        </p:nvSpPr>
        <p:spPr bwMode="auto">
          <a:xfrm rot="16200000" flipH="1">
            <a:off x="4724400" y="3565525"/>
            <a:ext cx="304800" cy="0"/>
          </a:xfrm>
          <a:prstGeom prst="line">
            <a:avLst/>
          </a:prstGeom>
          <a:noFill/>
          <a:ln w="38100">
            <a:solidFill>
              <a:schemeClr val="tx1"/>
            </a:solidFill>
            <a:miter lim="800000"/>
            <a:headEnd/>
            <a:tailEnd type="triangle" w="med" len="med"/>
          </a:ln>
          <a:effectLst/>
        </p:spPr>
        <p:txBody>
          <a:bodyPr wrap="none"/>
          <a:lstStyle/>
          <a:p>
            <a:endParaRPr lang="en-US"/>
          </a:p>
        </p:txBody>
      </p:sp>
      <p:sp>
        <p:nvSpPr>
          <p:cNvPr id="434196" name="Text Box 20"/>
          <p:cNvSpPr txBox="1">
            <a:spLocks noChangeArrowheads="1"/>
          </p:cNvSpPr>
          <p:nvPr/>
        </p:nvSpPr>
        <p:spPr bwMode="auto">
          <a:xfrm>
            <a:off x="3505200" y="1447800"/>
            <a:ext cx="2995626" cy="830997"/>
          </a:xfrm>
          <a:prstGeom prst="rect">
            <a:avLst/>
          </a:prstGeom>
          <a:noFill/>
          <a:ln w="9525">
            <a:noFill/>
            <a:miter lim="800000"/>
            <a:headEnd/>
            <a:tailEnd/>
          </a:ln>
          <a:effectLst/>
        </p:spPr>
        <p:txBody>
          <a:bodyPr wrap="square">
            <a:spAutoFit/>
          </a:bodyPr>
          <a:lstStyle/>
          <a:p>
            <a:pPr algn="ctr">
              <a:spcBef>
                <a:spcPct val="50000"/>
              </a:spcBef>
            </a:pPr>
            <a:r>
              <a:rPr lang="fi-FI" sz="2400" dirty="0"/>
              <a:t>Odottamattomat tehtävät</a:t>
            </a:r>
            <a:endParaRPr lang="en-GB" sz="2400" dirty="0"/>
          </a:p>
        </p:txBody>
      </p:sp>
      <p:sp>
        <p:nvSpPr>
          <p:cNvPr id="22" name="Slide Number Placeholder 21"/>
          <p:cNvSpPr>
            <a:spLocks noGrp="1"/>
          </p:cNvSpPr>
          <p:nvPr>
            <p:ph type="sldNum" sz="quarter" idx="12"/>
          </p:nvPr>
        </p:nvSpPr>
        <p:spPr/>
        <p:txBody>
          <a:bodyPr/>
          <a:lstStyle/>
          <a:p>
            <a:fld id="{6EC9AE22-300D-474E-8332-298EA3086E64}" type="slidenum">
              <a:rPr lang="en-US" smtClean="0"/>
              <a:pPr/>
              <a:t>70</a:t>
            </a:fld>
            <a:endParaRPr lang="en-US"/>
          </a:p>
        </p:txBody>
      </p:sp>
    </p:spTree>
  </p:cSld>
  <p:clrMapOvr>
    <a:masterClrMapping/>
  </p:clrMapOvr>
  <p:timing>
    <p:tnLst>
      <p:par>
        <p:cTn xmlns:p14="http://schemas.microsoft.com/office/powerpoint/2010/mai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2" name="Rectangle 2"/>
          <p:cNvSpPr>
            <a:spLocks noGrp="1" noChangeArrowheads="1"/>
          </p:cNvSpPr>
          <p:nvPr>
            <p:ph type="title"/>
          </p:nvPr>
        </p:nvSpPr>
        <p:spPr/>
        <p:txBody>
          <a:bodyPr/>
          <a:lstStyle/>
          <a:p>
            <a:r>
              <a:rPr lang="fi-FI"/>
              <a:t>Testaus laatupaineessa</a:t>
            </a:r>
            <a:endParaRPr lang="en-GB"/>
          </a:p>
        </p:txBody>
      </p:sp>
      <p:grpSp>
        <p:nvGrpSpPr>
          <p:cNvPr id="2" name="Group 3"/>
          <p:cNvGrpSpPr>
            <a:grpSpLocks/>
          </p:cNvGrpSpPr>
          <p:nvPr/>
        </p:nvGrpSpPr>
        <p:grpSpPr bwMode="auto">
          <a:xfrm>
            <a:off x="2971800" y="4098925"/>
            <a:ext cx="3352800" cy="304800"/>
            <a:chOff x="2064" y="2448"/>
            <a:chExt cx="2112" cy="192"/>
          </a:xfrm>
        </p:grpSpPr>
        <p:sp>
          <p:nvSpPr>
            <p:cNvPr id="435204" name="Line 4"/>
            <p:cNvSpPr>
              <a:spLocks noChangeShapeType="1"/>
            </p:cNvSpPr>
            <p:nvPr/>
          </p:nvSpPr>
          <p:spPr bwMode="auto">
            <a:xfrm>
              <a:off x="2064" y="2544"/>
              <a:ext cx="2112" cy="0"/>
            </a:xfrm>
            <a:prstGeom prst="line">
              <a:avLst/>
            </a:prstGeom>
            <a:noFill/>
            <a:ln w="57150">
              <a:solidFill>
                <a:schemeClr val="tx2"/>
              </a:solidFill>
              <a:miter lim="800000"/>
              <a:headEnd/>
              <a:tailEnd/>
            </a:ln>
            <a:effectLst/>
          </p:spPr>
          <p:txBody>
            <a:bodyPr wrap="none"/>
            <a:lstStyle/>
            <a:p>
              <a:endParaRPr lang="en-US"/>
            </a:p>
          </p:txBody>
        </p:sp>
        <p:sp>
          <p:nvSpPr>
            <p:cNvPr id="435205" name="Line 5"/>
            <p:cNvSpPr>
              <a:spLocks noChangeShapeType="1"/>
            </p:cNvSpPr>
            <p:nvPr/>
          </p:nvSpPr>
          <p:spPr bwMode="auto">
            <a:xfrm>
              <a:off x="2064" y="2448"/>
              <a:ext cx="0" cy="192"/>
            </a:xfrm>
            <a:prstGeom prst="line">
              <a:avLst/>
            </a:prstGeom>
            <a:noFill/>
            <a:ln w="57150">
              <a:solidFill>
                <a:schemeClr val="tx2"/>
              </a:solidFill>
              <a:miter lim="800000"/>
              <a:headEnd/>
              <a:tailEnd/>
            </a:ln>
            <a:effectLst/>
          </p:spPr>
          <p:txBody>
            <a:bodyPr wrap="none"/>
            <a:lstStyle/>
            <a:p>
              <a:endParaRPr lang="en-US"/>
            </a:p>
          </p:txBody>
        </p:sp>
        <p:sp>
          <p:nvSpPr>
            <p:cNvPr id="435206" name="Line 6"/>
            <p:cNvSpPr>
              <a:spLocks noChangeShapeType="1"/>
            </p:cNvSpPr>
            <p:nvPr/>
          </p:nvSpPr>
          <p:spPr bwMode="auto">
            <a:xfrm>
              <a:off x="4176" y="2448"/>
              <a:ext cx="0" cy="192"/>
            </a:xfrm>
            <a:prstGeom prst="line">
              <a:avLst/>
            </a:prstGeom>
            <a:noFill/>
            <a:ln w="57150">
              <a:solidFill>
                <a:schemeClr val="tx2"/>
              </a:solidFill>
              <a:miter lim="800000"/>
              <a:headEnd/>
              <a:tailEnd/>
            </a:ln>
            <a:effectLst/>
          </p:spPr>
          <p:txBody>
            <a:bodyPr wrap="none"/>
            <a:lstStyle/>
            <a:p>
              <a:endParaRPr lang="en-US"/>
            </a:p>
          </p:txBody>
        </p:sp>
      </p:grpSp>
      <p:sp>
        <p:nvSpPr>
          <p:cNvPr id="435207" name="Text Box 7"/>
          <p:cNvSpPr txBox="1">
            <a:spLocks noChangeArrowheads="1"/>
          </p:cNvSpPr>
          <p:nvPr/>
        </p:nvSpPr>
        <p:spPr bwMode="auto">
          <a:xfrm>
            <a:off x="3124200" y="4327525"/>
            <a:ext cx="3048000" cy="457200"/>
          </a:xfrm>
          <a:prstGeom prst="rect">
            <a:avLst/>
          </a:prstGeom>
          <a:noFill/>
          <a:ln w="9525">
            <a:noFill/>
            <a:miter lim="800000"/>
            <a:headEnd/>
            <a:tailEnd/>
          </a:ln>
          <a:effectLst/>
        </p:spPr>
        <p:txBody>
          <a:bodyPr>
            <a:spAutoFit/>
          </a:bodyPr>
          <a:lstStyle/>
          <a:p>
            <a:pPr algn="ctr">
              <a:spcBef>
                <a:spcPct val="50000"/>
              </a:spcBef>
            </a:pPr>
            <a:r>
              <a:rPr lang="fi-FI" sz="2400"/>
              <a:t>Testausaika</a:t>
            </a:r>
            <a:endParaRPr lang="en-GB" sz="2400"/>
          </a:p>
        </p:txBody>
      </p:sp>
      <p:sp>
        <p:nvSpPr>
          <p:cNvPr id="435208" name="Line 8"/>
          <p:cNvSpPr>
            <a:spLocks noChangeShapeType="1"/>
          </p:cNvSpPr>
          <p:nvPr/>
        </p:nvSpPr>
        <p:spPr bwMode="auto">
          <a:xfrm>
            <a:off x="2514600" y="4251325"/>
            <a:ext cx="304800" cy="0"/>
          </a:xfrm>
          <a:prstGeom prst="line">
            <a:avLst/>
          </a:prstGeom>
          <a:noFill/>
          <a:ln w="38100">
            <a:solidFill>
              <a:schemeClr val="tx1"/>
            </a:solidFill>
            <a:miter lim="800000"/>
            <a:headEnd/>
            <a:tailEnd type="triangle" w="med" len="med"/>
          </a:ln>
          <a:effectLst/>
        </p:spPr>
        <p:txBody>
          <a:bodyPr wrap="none"/>
          <a:lstStyle/>
          <a:p>
            <a:endParaRPr lang="en-US"/>
          </a:p>
        </p:txBody>
      </p:sp>
      <p:sp>
        <p:nvSpPr>
          <p:cNvPr id="435209" name="Text Box 9"/>
          <p:cNvSpPr txBox="1">
            <a:spLocks noChangeArrowheads="1"/>
          </p:cNvSpPr>
          <p:nvPr/>
        </p:nvSpPr>
        <p:spPr bwMode="auto">
          <a:xfrm>
            <a:off x="685800" y="2346325"/>
            <a:ext cx="2133600" cy="1187450"/>
          </a:xfrm>
          <a:prstGeom prst="rect">
            <a:avLst/>
          </a:prstGeom>
          <a:noFill/>
          <a:ln w="9525">
            <a:noFill/>
            <a:miter lim="800000"/>
            <a:headEnd/>
            <a:tailEnd/>
          </a:ln>
          <a:effectLst/>
        </p:spPr>
        <p:txBody>
          <a:bodyPr>
            <a:spAutoFit/>
          </a:bodyPr>
          <a:lstStyle/>
          <a:p>
            <a:pPr algn="ctr">
              <a:spcBef>
                <a:spcPct val="50000"/>
              </a:spcBef>
            </a:pPr>
            <a:r>
              <a:rPr lang="fi-FI" sz="2400"/>
              <a:t>Aloituksen laatutaso heikko</a:t>
            </a:r>
            <a:endParaRPr lang="en-GB" sz="2400"/>
          </a:p>
        </p:txBody>
      </p:sp>
      <p:sp>
        <p:nvSpPr>
          <p:cNvPr id="435210" name="Oval 10"/>
          <p:cNvSpPr>
            <a:spLocks noChangeArrowheads="1"/>
          </p:cNvSpPr>
          <p:nvPr/>
        </p:nvSpPr>
        <p:spPr bwMode="auto">
          <a:xfrm>
            <a:off x="4038600" y="2651125"/>
            <a:ext cx="1219200" cy="1143000"/>
          </a:xfrm>
          <a:prstGeom prst="ellipse">
            <a:avLst/>
          </a:prstGeom>
          <a:gradFill rotWithShape="0">
            <a:gsLst>
              <a:gs pos="0">
                <a:schemeClr val="bg1"/>
              </a:gs>
              <a:gs pos="100000">
                <a:srgbClr val="6699FF"/>
              </a:gs>
            </a:gsLst>
            <a:path path="shape">
              <a:fillToRect l="50000" t="50000" r="50000" b="50000"/>
            </a:path>
          </a:gradFill>
          <a:ln w="9525">
            <a:noFill/>
            <a:miter lim="800000"/>
            <a:headEnd/>
            <a:tailEnd/>
          </a:ln>
          <a:effectLst/>
        </p:spPr>
        <p:txBody>
          <a:bodyPr wrap="none" anchor="ctr"/>
          <a:lstStyle/>
          <a:p>
            <a:endParaRPr lang="en-US"/>
          </a:p>
        </p:txBody>
      </p:sp>
      <p:sp>
        <p:nvSpPr>
          <p:cNvPr id="435211" name="Line 11"/>
          <p:cNvSpPr>
            <a:spLocks noChangeShapeType="1"/>
          </p:cNvSpPr>
          <p:nvPr/>
        </p:nvSpPr>
        <p:spPr bwMode="auto">
          <a:xfrm rot="16200000" flipH="1">
            <a:off x="4495800" y="3946525"/>
            <a:ext cx="304800" cy="0"/>
          </a:xfrm>
          <a:prstGeom prst="line">
            <a:avLst/>
          </a:prstGeom>
          <a:noFill/>
          <a:ln w="38100">
            <a:solidFill>
              <a:schemeClr val="tx1"/>
            </a:solidFill>
            <a:miter lim="800000"/>
            <a:headEnd/>
            <a:tailEnd type="triangle" w="med" len="med"/>
          </a:ln>
          <a:effectLst/>
        </p:spPr>
        <p:txBody>
          <a:bodyPr wrap="none"/>
          <a:lstStyle/>
          <a:p>
            <a:endParaRPr lang="en-US"/>
          </a:p>
        </p:txBody>
      </p:sp>
      <p:sp>
        <p:nvSpPr>
          <p:cNvPr id="435212" name="Text Box 12"/>
          <p:cNvSpPr txBox="1">
            <a:spLocks noChangeArrowheads="1"/>
          </p:cNvSpPr>
          <p:nvPr/>
        </p:nvSpPr>
        <p:spPr bwMode="auto">
          <a:xfrm>
            <a:off x="2762248" y="1828800"/>
            <a:ext cx="3738578" cy="830997"/>
          </a:xfrm>
          <a:prstGeom prst="rect">
            <a:avLst/>
          </a:prstGeom>
          <a:noFill/>
          <a:ln w="9525">
            <a:noFill/>
            <a:miter lim="800000"/>
            <a:headEnd/>
            <a:tailEnd/>
          </a:ln>
          <a:effectLst/>
        </p:spPr>
        <p:txBody>
          <a:bodyPr wrap="square">
            <a:spAutoFit/>
          </a:bodyPr>
          <a:lstStyle/>
          <a:p>
            <a:pPr algn="ctr">
              <a:spcBef>
                <a:spcPct val="50000"/>
              </a:spcBef>
            </a:pPr>
            <a:r>
              <a:rPr lang="fi-FI" sz="2400" dirty="0"/>
              <a:t>Paljon korjattavaa ja </a:t>
            </a:r>
            <a:r>
              <a:rPr lang="fi-FI" sz="2400" dirty="0" smtClean="0"/>
              <a:t>regressiotestattavaa</a:t>
            </a:r>
            <a:endParaRPr lang="en-GB" sz="2400" dirty="0"/>
          </a:p>
        </p:txBody>
      </p:sp>
      <p:sp>
        <p:nvSpPr>
          <p:cNvPr id="435213" name="Line 13"/>
          <p:cNvSpPr>
            <a:spLocks noChangeShapeType="1"/>
          </p:cNvSpPr>
          <p:nvPr/>
        </p:nvSpPr>
        <p:spPr bwMode="auto">
          <a:xfrm flipV="1">
            <a:off x="6477000" y="3946525"/>
            <a:ext cx="304800" cy="304800"/>
          </a:xfrm>
          <a:prstGeom prst="line">
            <a:avLst/>
          </a:prstGeom>
          <a:noFill/>
          <a:ln w="38100">
            <a:solidFill>
              <a:schemeClr val="tx1"/>
            </a:solidFill>
            <a:miter lim="800000"/>
            <a:headEnd/>
            <a:tailEnd type="triangle" w="med" len="med"/>
          </a:ln>
          <a:effectLst/>
        </p:spPr>
        <p:txBody>
          <a:bodyPr wrap="none"/>
          <a:lstStyle/>
          <a:p>
            <a:endParaRPr lang="en-US"/>
          </a:p>
        </p:txBody>
      </p:sp>
      <p:sp>
        <p:nvSpPr>
          <p:cNvPr id="435214" name="Line 14"/>
          <p:cNvSpPr>
            <a:spLocks noChangeShapeType="1"/>
          </p:cNvSpPr>
          <p:nvPr/>
        </p:nvSpPr>
        <p:spPr bwMode="auto">
          <a:xfrm rot="5400000" flipV="1">
            <a:off x="6477000" y="4327525"/>
            <a:ext cx="304800" cy="304800"/>
          </a:xfrm>
          <a:prstGeom prst="line">
            <a:avLst/>
          </a:prstGeom>
          <a:noFill/>
          <a:ln w="38100">
            <a:solidFill>
              <a:schemeClr val="tx1"/>
            </a:solidFill>
            <a:miter lim="800000"/>
            <a:headEnd/>
            <a:tailEnd type="triangle" w="med" len="med"/>
          </a:ln>
          <a:effectLst/>
        </p:spPr>
        <p:txBody>
          <a:bodyPr wrap="none"/>
          <a:lstStyle/>
          <a:p>
            <a:endParaRPr lang="en-US"/>
          </a:p>
        </p:txBody>
      </p:sp>
      <p:sp>
        <p:nvSpPr>
          <p:cNvPr id="435215" name="Text Box 15"/>
          <p:cNvSpPr txBox="1">
            <a:spLocks noChangeArrowheads="1"/>
          </p:cNvSpPr>
          <p:nvPr/>
        </p:nvSpPr>
        <p:spPr bwMode="auto">
          <a:xfrm>
            <a:off x="6705600" y="3352800"/>
            <a:ext cx="2133600" cy="822325"/>
          </a:xfrm>
          <a:prstGeom prst="rect">
            <a:avLst/>
          </a:prstGeom>
          <a:noFill/>
          <a:ln w="9525">
            <a:noFill/>
            <a:miter lim="800000"/>
            <a:headEnd/>
            <a:tailEnd/>
          </a:ln>
          <a:effectLst/>
        </p:spPr>
        <p:txBody>
          <a:bodyPr>
            <a:spAutoFit/>
          </a:bodyPr>
          <a:lstStyle/>
          <a:p>
            <a:pPr algn="ctr">
              <a:spcBef>
                <a:spcPct val="50000"/>
              </a:spcBef>
            </a:pPr>
            <a:r>
              <a:rPr lang="fi-FI" sz="2400"/>
              <a:t>Julkaisu myöhässä</a:t>
            </a:r>
            <a:endParaRPr lang="en-GB" sz="2400"/>
          </a:p>
        </p:txBody>
      </p:sp>
      <p:sp>
        <p:nvSpPr>
          <p:cNvPr id="435216" name="Text Box 16"/>
          <p:cNvSpPr txBox="1">
            <a:spLocks noChangeArrowheads="1"/>
          </p:cNvSpPr>
          <p:nvPr/>
        </p:nvSpPr>
        <p:spPr bwMode="auto">
          <a:xfrm>
            <a:off x="6705600" y="4435475"/>
            <a:ext cx="2438400" cy="830997"/>
          </a:xfrm>
          <a:prstGeom prst="rect">
            <a:avLst/>
          </a:prstGeom>
          <a:noFill/>
          <a:ln w="9525">
            <a:noFill/>
            <a:miter lim="800000"/>
            <a:headEnd/>
            <a:tailEnd/>
          </a:ln>
          <a:effectLst/>
        </p:spPr>
        <p:txBody>
          <a:bodyPr wrap="square">
            <a:spAutoFit/>
          </a:bodyPr>
          <a:lstStyle/>
          <a:p>
            <a:pPr algn="ctr">
              <a:spcBef>
                <a:spcPct val="50000"/>
              </a:spcBef>
            </a:pPr>
            <a:r>
              <a:rPr lang="fi-FI" sz="2400" dirty="0"/>
              <a:t>Virhepitoinen / karsittu julkaisu</a:t>
            </a:r>
            <a:endParaRPr lang="en-GB" sz="2400" dirty="0"/>
          </a:p>
        </p:txBody>
      </p:sp>
      <p:sp>
        <p:nvSpPr>
          <p:cNvPr id="435217" name="Oval 17"/>
          <p:cNvSpPr>
            <a:spLocks noChangeArrowheads="1"/>
          </p:cNvSpPr>
          <p:nvPr/>
        </p:nvSpPr>
        <p:spPr bwMode="auto">
          <a:xfrm>
            <a:off x="914400" y="3489325"/>
            <a:ext cx="1600200" cy="1524000"/>
          </a:xfrm>
          <a:prstGeom prst="ellipse">
            <a:avLst/>
          </a:prstGeom>
          <a:gradFill rotWithShape="0">
            <a:gsLst>
              <a:gs pos="0">
                <a:schemeClr val="bg1"/>
              </a:gs>
              <a:gs pos="100000">
                <a:srgbClr val="FF3300"/>
              </a:gs>
            </a:gsLst>
            <a:path path="shape">
              <a:fillToRect l="50000" t="50000" r="50000" b="50000"/>
            </a:path>
          </a:gradFill>
          <a:ln w="9525">
            <a:noFill/>
            <a:miter lim="800000"/>
            <a:headEnd/>
            <a:tailEnd/>
          </a:ln>
          <a:effectLst/>
        </p:spPr>
        <p:txBody>
          <a:bodyPr wrap="none" anchor="ctr"/>
          <a:lstStyle/>
          <a:p>
            <a:endParaRPr lang="en-US"/>
          </a:p>
        </p:txBody>
      </p:sp>
      <p:sp>
        <p:nvSpPr>
          <p:cNvPr id="19" name="Slide Number Placeholder 18"/>
          <p:cNvSpPr>
            <a:spLocks noGrp="1"/>
          </p:cNvSpPr>
          <p:nvPr>
            <p:ph type="sldNum" sz="quarter" idx="12"/>
          </p:nvPr>
        </p:nvSpPr>
        <p:spPr/>
        <p:txBody>
          <a:bodyPr/>
          <a:lstStyle/>
          <a:p>
            <a:fld id="{6EC9AE22-300D-474E-8332-298EA3086E64}" type="slidenum">
              <a:rPr lang="en-US" smtClean="0"/>
              <a:pPr/>
              <a:t>71</a:t>
            </a:fld>
            <a:endParaRPr lang="en-US"/>
          </a:p>
        </p:txBody>
      </p:sp>
    </p:spTree>
  </p:cSld>
  <p:clrMapOvr>
    <a:masterClrMapping/>
  </p:clrMapOvr>
  <p:timing>
    <p:tnLst>
      <p:par>
        <p:cTn xmlns:p14="http://schemas.microsoft.com/office/powerpoint/2010/mai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Mikä on tärkeää aloituksen kannalta?</a:t>
            </a:r>
            <a:endParaRPr lang="fi-FI" dirty="0"/>
          </a:p>
        </p:txBody>
      </p:sp>
      <p:sp>
        <p:nvSpPr>
          <p:cNvPr id="3" name="Content Placeholder 2"/>
          <p:cNvSpPr>
            <a:spLocks noGrp="1"/>
          </p:cNvSpPr>
          <p:nvPr>
            <p:ph idx="1"/>
          </p:nvPr>
        </p:nvSpPr>
        <p:spPr/>
        <p:txBody>
          <a:bodyPr>
            <a:normAutofit fontScale="85000" lnSpcReduction="20000"/>
          </a:bodyPr>
          <a:lstStyle/>
          <a:p>
            <a:r>
              <a:rPr lang="fi-FI" dirty="0" smtClean="0"/>
              <a:t>Millä reunaehdoilla tämä pitää saada tehtyä:</a:t>
            </a:r>
          </a:p>
          <a:p>
            <a:pPr lvl="1"/>
            <a:r>
              <a:rPr lang="fi-FI" dirty="0" smtClean="0"/>
              <a:t>Vrt.  ajurina mahdollisimman hyvä softa ja tieto laadusta vs. meidän porukan budjetin on pidettävä</a:t>
            </a:r>
          </a:p>
          <a:p>
            <a:r>
              <a:rPr lang="fi-FI" dirty="0" smtClean="0"/>
              <a:t>Hyväksymistestausvaiheen suojausmielessä</a:t>
            </a:r>
          </a:p>
          <a:p>
            <a:pPr lvl="1"/>
            <a:r>
              <a:rPr lang="fi-FI" dirty="0" smtClean="0"/>
              <a:t>Aiempien testaustasojen testit ajettu ja virheet korjattu / käsitelty</a:t>
            </a:r>
          </a:p>
          <a:p>
            <a:pPr lvl="1"/>
            <a:r>
              <a:rPr lang="fi-FI" dirty="0" smtClean="0"/>
              <a:t>Tarvittavat tiedot (dokumentaatio) saatavilla</a:t>
            </a:r>
          </a:p>
          <a:p>
            <a:pPr lvl="1"/>
            <a:r>
              <a:rPr lang="fi-FI" dirty="0" smtClean="0"/>
              <a:t>Meidän omat suunnitelmat ja valmistelut valmiina, mukaanlukien ympäristöt</a:t>
            </a:r>
          </a:p>
          <a:p>
            <a:pPr lvl="1"/>
            <a:r>
              <a:rPr lang="fi-FI" dirty="0" smtClean="0"/>
              <a:t>Viestinnän käytännöt sovittuna, esim. havaintokirjauskanta</a:t>
            </a:r>
          </a:p>
          <a:p>
            <a:pPr lvl="1"/>
            <a:r>
              <a:rPr lang="fi-FI" dirty="0" smtClean="0"/>
              <a:t>Ohjelma on saatavilla testiympäristössä</a:t>
            </a:r>
          </a:p>
          <a:p>
            <a:pPr lvl="1"/>
            <a:r>
              <a:rPr lang="fi-FI" dirty="0" smtClean="0"/>
              <a:t>Riittävä laatutaso, selvitettynä vastaanottotestillä</a:t>
            </a:r>
            <a:endParaRPr lang="fi-FI"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72</a:t>
            </a:fld>
            <a:endParaRPr lang="fi-FI"/>
          </a:p>
        </p:txBody>
      </p:sp>
    </p:spTree>
  </p:cSld>
  <p:clrMapOvr>
    <a:masterClrMapping/>
  </p:clrMapOvr>
  <p:timing>
    <p:tnLst>
      <p:par>
        <p:cTn xmlns:p14="http://schemas.microsoft.com/office/powerpoint/2010/mai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Mikä on tärkeää lopetuksen kannalta?</a:t>
            </a:r>
            <a:endParaRPr lang="fi-FI" dirty="0"/>
          </a:p>
        </p:txBody>
      </p:sp>
      <p:sp>
        <p:nvSpPr>
          <p:cNvPr id="3" name="Content Placeholder 2"/>
          <p:cNvSpPr>
            <a:spLocks noGrp="1"/>
          </p:cNvSpPr>
          <p:nvPr>
            <p:ph idx="1"/>
          </p:nvPr>
        </p:nvSpPr>
        <p:spPr/>
        <p:txBody>
          <a:bodyPr>
            <a:normAutofit fontScale="85000" lnSpcReduction="10000"/>
          </a:bodyPr>
          <a:lstStyle/>
          <a:p>
            <a:r>
              <a:rPr lang="fi-FI" dirty="0" smtClean="0"/>
              <a:t>Mitkä ovat pahimmat uhkakuvat järjestelmän käyttöönoton jälkeen ja tiedetäänkö kuinka mahdollisia ne vielä ovat?</a:t>
            </a:r>
          </a:p>
          <a:p>
            <a:r>
              <a:rPr lang="fi-FI" dirty="0" smtClean="0"/>
              <a:t>Onko sovitut temput tehty tai onko päätetty että uuden tiedon perusteella on perusteltua jättää temput tekemättä? </a:t>
            </a:r>
          </a:p>
          <a:p>
            <a:r>
              <a:rPr lang="fi-FI" dirty="0" smtClean="0"/>
              <a:t>Onko keskeisimmät ongelmat korjattu, yleensäkin ongelmamassa käsitelty ja päätökset aktiivisesti tehty? </a:t>
            </a:r>
          </a:p>
          <a:p>
            <a:r>
              <a:rPr lang="fi-FI" dirty="0" smtClean="0"/>
              <a:t>Onko tietotaso päivitetty vastaamaan järjestelmän nykyversiota, kaikkien viimeisten muutosten jälkeen?</a:t>
            </a:r>
            <a:endParaRPr lang="fi-FI"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73</a:t>
            </a:fld>
            <a:endParaRPr lang="fi-FI"/>
          </a:p>
        </p:txBody>
      </p:sp>
    </p:spTree>
  </p:cSld>
  <p:clrMapOvr>
    <a:masterClrMapping/>
  </p:clrMapOvr>
  <p:timing>
    <p:tnLst>
      <p:par>
        <p:cTn xmlns:p14="http://schemas.microsoft.com/office/powerpoint/2010/mai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smtClean="0"/>
              <a:t>Hyväksymistestauksen aloituskriteeri</a:t>
            </a:r>
            <a:endParaRPr lang="fi-FI" dirty="0"/>
          </a:p>
        </p:txBody>
      </p:sp>
      <p:sp>
        <p:nvSpPr>
          <p:cNvPr id="3" name="Content Placeholder 2"/>
          <p:cNvSpPr>
            <a:spLocks noGrp="1"/>
          </p:cNvSpPr>
          <p:nvPr>
            <p:ph idx="1"/>
          </p:nvPr>
        </p:nvSpPr>
        <p:spPr/>
        <p:txBody>
          <a:bodyPr>
            <a:normAutofit fontScale="70000" lnSpcReduction="20000"/>
          </a:bodyPr>
          <a:lstStyle/>
          <a:p>
            <a:r>
              <a:rPr lang="fi-FI" dirty="0" smtClean="0"/>
              <a:t>Hyväksymistestauksen suoritus alkaa, kun seuraavat kriteerit täyttyvät: </a:t>
            </a:r>
            <a:endParaRPr lang="en-US" dirty="0" smtClean="0"/>
          </a:p>
          <a:p>
            <a:pPr lvl="1"/>
            <a:r>
              <a:rPr lang="fi-FI" dirty="0" smtClean="0"/>
              <a:t>havaintojen kirjauksen järjestelmä on valmis käyttöön</a:t>
            </a:r>
            <a:endParaRPr lang="en-US" dirty="0" smtClean="0"/>
          </a:p>
          <a:p>
            <a:pPr lvl="1"/>
            <a:r>
              <a:rPr lang="fi-FI" dirty="0" smtClean="0"/>
              <a:t>hyväksymistestausympäristö on valmisteltu ja siihen on testaajilla pääsy</a:t>
            </a:r>
            <a:endParaRPr lang="en-US" dirty="0" smtClean="0"/>
          </a:p>
          <a:p>
            <a:pPr lvl="1"/>
            <a:r>
              <a:rPr lang="fi-FI" dirty="0" smtClean="0"/>
              <a:t>toteutuserän ominaisuudet on toteutettu, toteutuserään suunnitellut virhekorjaukset tehty ja osat ovat versionhallinnan alla</a:t>
            </a:r>
            <a:endParaRPr lang="en-US" dirty="0" smtClean="0"/>
          </a:p>
          <a:p>
            <a:pPr lvl="1"/>
            <a:r>
              <a:rPr lang="fi-FI" dirty="0" smtClean="0"/>
              <a:t>toimittajan testaukset kaikille osille on tehty</a:t>
            </a:r>
            <a:endParaRPr lang="en-US" dirty="0" smtClean="0"/>
          </a:p>
          <a:p>
            <a:pPr lvl="1"/>
            <a:r>
              <a:rPr lang="fi-FI" dirty="0" smtClean="0"/>
              <a:t>järjestelmätestauksen testijaksot on suoritettu ja niiden virheet käsitelty</a:t>
            </a:r>
            <a:endParaRPr lang="en-US" dirty="0" smtClean="0"/>
          </a:p>
          <a:p>
            <a:pPr lvl="1"/>
            <a:r>
              <a:rPr lang="fi-FI" dirty="0" smtClean="0"/>
              <a:t>kriittisiä, testauksen estäviä virheitä ei ole tiedossa</a:t>
            </a:r>
            <a:endParaRPr lang="en-US" dirty="0" smtClean="0"/>
          </a:p>
          <a:p>
            <a:pPr lvl="1"/>
            <a:r>
              <a:rPr lang="fi-FI" dirty="0" smtClean="0"/>
              <a:t>aloitustestin suoritus hyväksytään</a:t>
            </a:r>
            <a:endParaRPr lang="en-US" dirty="0" smtClean="0"/>
          </a:p>
          <a:p>
            <a:pPr lvl="1"/>
            <a:r>
              <a:rPr lang="fi-FI" dirty="0" smtClean="0"/>
              <a:t>kehitysryhmä on valmistellut toimitusselosteen, johon on dokumentoitu julkaisu ja tunnetut rajoitteet</a:t>
            </a:r>
            <a:endParaRPr lang="en-US" dirty="0" smtClean="0"/>
          </a:p>
          <a:p>
            <a:pPr lvl="1"/>
            <a:r>
              <a:rPr lang="fi-FI" dirty="0" smtClean="0"/>
              <a:t>julkaisuryhmä on asentanut sovelluksen hyväksymistestiympäristöön</a:t>
            </a:r>
            <a:endParaRPr lang="en-US" dirty="0" smtClean="0"/>
          </a:p>
          <a:p>
            <a:endParaRPr lang="fi-FI" dirty="0"/>
          </a:p>
        </p:txBody>
      </p:sp>
      <p:sp>
        <p:nvSpPr>
          <p:cNvPr id="4" name="TextBox 3"/>
          <p:cNvSpPr txBox="1"/>
          <p:nvPr/>
        </p:nvSpPr>
        <p:spPr>
          <a:xfrm rot="16200000">
            <a:off x="7586802" y="3519639"/>
            <a:ext cx="2500330" cy="461665"/>
          </a:xfrm>
          <a:prstGeom prst="rect">
            <a:avLst/>
          </a:prstGeom>
        </p:spPr>
        <p:style>
          <a:lnRef idx="3">
            <a:schemeClr val="lt1"/>
          </a:lnRef>
          <a:fillRef idx="1">
            <a:schemeClr val="accent5"/>
          </a:fillRef>
          <a:effectRef idx="1">
            <a:schemeClr val="accent5"/>
          </a:effectRef>
          <a:fontRef idx="minor">
            <a:schemeClr val="lt1"/>
          </a:fontRef>
        </p:style>
        <p:txBody>
          <a:bodyPr wrap="square" rtlCol="0">
            <a:spAutoFit/>
          </a:bodyPr>
          <a:lstStyle/>
          <a:p>
            <a:pPr algn="ctr"/>
            <a:r>
              <a:rPr lang="fi-FI" sz="2400" dirty="0" smtClean="0"/>
              <a:t>Yksi esimerkki...</a:t>
            </a:r>
            <a:endParaRPr lang="fi-FI" sz="2400" dirty="0"/>
          </a:p>
        </p:txBody>
      </p:sp>
      <p:sp>
        <p:nvSpPr>
          <p:cNvPr id="5" name="Slide Number Placeholder 4"/>
          <p:cNvSpPr>
            <a:spLocks noGrp="1"/>
          </p:cNvSpPr>
          <p:nvPr>
            <p:ph type="sldNum" sz="quarter" idx="12"/>
          </p:nvPr>
        </p:nvSpPr>
        <p:spPr/>
        <p:txBody>
          <a:bodyPr/>
          <a:lstStyle/>
          <a:p>
            <a:fld id="{7A750B4A-325E-4AA4-BC07-A8C35B32A4F3}" type="slidenum">
              <a:rPr lang="fi-FI" smtClean="0"/>
              <a:pPr/>
              <a:t>74</a:t>
            </a:fld>
            <a:endParaRPr lang="fi-FI"/>
          </a:p>
        </p:txBody>
      </p:sp>
    </p:spTree>
  </p:cSld>
  <p:clrMapOvr>
    <a:masterClrMapping/>
  </p:clrMapOvr>
  <p:timing>
    <p:tnLst>
      <p:par>
        <p:cTn xmlns:p14="http://schemas.microsoft.com/office/powerpoint/2010/mai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smtClean="0"/>
              <a:t>Hyväksymistestauksen jatkamiskriteeri</a:t>
            </a:r>
            <a:endParaRPr lang="fi-FI" dirty="0"/>
          </a:p>
        </p:txBody>
      </p:sp>
      <p:sp>
        <p:nvSpPr>
          <p:cNvPr id="3" name="Content Placeholder 2"/>
          <p:cNvSpPr>
            <a:spLocks noGrp="1"/>
          </p:cNvSpPr>
          <p:nvPr>
            <p:ph idx="1"/>
          </p:nvPr>
        </p:nvSpPr>
        <p:spPr/>
        <p:txBody>
          <a:bodyPr>
            <a:normAutofit fontScale="77500" lnSpcReduction="20000"/>
          </a:bodyPr>
          <a:lstStyle/>
          <a:p>
            <a:r>
              <a:rPr lang="fi-FI" smtClean="0"/>
              <a:t>Hyväksymistestauksen suoritus jatkuu, kunhan seuraavat kriteerit täyttyvät:</a:t>
            </a:r>
            <a:endParaRPr lang="en-US" smtClean="0"/>
          </a:p>
          <a:p>
            <a:pPr lvl="1"/>
            <a:r>
              <a:rPr lang="fi-FI" smtClean="0"/>
              <a:t>uusiin julkaisuihin liittyvät ominaisuudet ja tunnetut rajoitteet on dokumentoitu julkaisun toimitusselosteessa</a:t>
            </a:r>
            <a:endParaRPr lang="en-US" smtClean="0"/>
          </a:p>
          <a:p>
            <a:pPr lvl="1"/>
            <a:r>
              <a:rPr lang="fi-FI" smtClean="0"/>
              <a:t>korjattujen virheraporttien ID:t on lueteltu toimitusselosteessa ja muutoksia ilman vastaavaa virheraporttia ei ole tehty</a:t>
            </a:r>
            <a:endParaRPr lang="en-US" smtClean="0"/>
          </a:p>
          <a:p>
            <a:pPr lvl="1"/>
            <a:r>
              <a:rPr lang="fi-FI" smtClean="0"/>
              <a:t>julkaisuryhmä asentaa viikoittaisen julkaisun hyväksymistestausympäristöön ja julkaisu läpäisee versiotestin</a:t>
            </a:r>
            <a:endParaRPr lang="en-US" smtClean="0"/>
          </a:p>
          <a:p>
            <a:pPr lvl="1"/>
            <a:r>
              <a:rPr lang="fi-FI" smtClean="0"/>
              <a:t>havainnot on käsitelty vakavuusjärjestyksessä vakavimmasta lähtien</a:t>
            </a:r>
            <a:endParaRPr lang="en-US" smtClean="0"/>
          </a:p>
          <a:p>
            <a:pPr lvl="1"/>
            <a:r>
              <a:rPr lang="fi-FI" smtClean="0"/>
              <a:t>havaintojen käsittelyn tilannetta seurataan projektikokouksissa</a:t>
            </a:r>
            <a:endParaRPr lang="en-US" smtClean="0"/>
          </a:p>
          <a:p>
            <a:endParaRPr lang="fi-FI" dirty="0"/>
          </a:p>
        </p:txBody>
      </p:sp>
      <p:sp>
        <p:nvSpPr>
          <p:cNvPr id="4" name="TextBox 3"/>
          <p:cNvSpPr txBox="1"/>
          <p:nvPr/>
        </p:nvSpPr>
        <p:spPr>
          <a:xfrm rot="16200000">
            <a:off x="7586802" y="3519639"/>
            <a:ext cx="2500330" cy="461665"/>
          </a:xfrm>
          <a:prstGeom prst="rect">
            <a:avLst/>
          </a:prstGeom>
        </p:spPr>
        <p:style>
          <a:lnRef idx="3">
            <a:schemeClr val="lt1"/>
          </a:lnRef>
          <a:fillRef idx="1">
            <a:schemeClr val="accent5"/>
          </a:fillRef>
          <a:effectRef idx="1">
            <a:schemeClr val="accent5"/>
          </a:effectRef>
          <a:fontRef idx="minor">
            <a:schemeClr val="lt1"/>
          </a:fontRef>
        </p:style>
        <p:txBody>
          <a:bodyPr wrap="square" rtlCol="0">
            <a:spAutoFit/>
          </a:bodyPr>
          <a:lstStyle/>
          <a:p>
            <a:pPr algn="ctr"/>
            <a:r>
              <a:rPr lang="fi-FI" sz="2400" dirty="0" smtClean="0"/>
              <a:t>Yksi esimerkki...</a:t>
            </a:r>
            <a:endParaRPr lang="fi-FI" sz="2400" dirty="0"/>
          </a:p>
        </p:txBody>
      </p:sp>
      <p:sp>
        <p:nvSpPr>
          <p:cNvPr id="5" name="Slide Number Placeholder 4"/>
          <p:cNvSpPr>
            <a:spLocks noGrp="1"/>
          </p:cNvSpPr>
          <p:nvPr>
            <p:ph type="sldNum" sz="quarter" idx="12"/>
          </p:nvPr>
        </p:nvSpPr>
        <p:spPr/>
        <p:txBody>
          <a:bodyPr/>
          <a:lstStyle/>
          <a:p>
            <a:fld id="{7A750B4A-325E-4AA4-BC07-A8C35B32A4F3}" type="slidenum">
              <a:rPr lang="fi-FI" smtClean="0"/>
              <a:pPr/>
              <a:t>75</a:t>
            </a:fld>
            <a:endParaRPr lang="fi-FI"/>
          </a:p>
        </p:txBody>
      </p:sp>
    </p:spTree>
  </p:cSld>
  <p:clrMapOvr>
    <a:masterClrMapping/>
  </p:clrMapOvr>
  <p:timing>
    <p:tnLst>
      <p:par>
        <p:cTn xmlns:p14="http://schemas.microsoft.com/office/powerpoint/2010/mai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smtClean="0"/>
              <a:t>Hyväksymistestauksen lopetuskriteeri</a:t>
            </a:r>
            <a:endParaRPr lang="fi-FI" dirty="0"/>
          </a:p>
        </p:txBody>
      </p:sp>
      <p:sp>
        <p:nvSpPr>
          <p:cNvPr id="3" name="Content Placeholder 2"/>
          <p:cNvSpPr>
            <a:spLocks noGrp="1"/>
          </p:cNvSpPr>
          <p:nvPr>
            <p:ph idx="1"/>
          </p:nvPr>
        </p:nvSpPr>
        <p:spPr/>
        <p:txBody>
          <a:bodyPr>
            <a:normAutofit fontScale="85000" lnSpcReduction="20000"/>
          </a:bodyPr>
          <a:lstStyle/>
          <a:p>
            <a:r>
              <a:rPr lang="fi-FI" smtClean="0"/>
              <a:t>Hyväksymistestauksen suoritus päättyy, kun seuraavat kriteerit täyttyvät:</a:t>
            </a:r>
            <a:endParaRPr lang="en-US" smtClean="0"/>
          </a:p>
          <a:p>
            <a:pPr lvl="1"/>
            <a:r>
              <a:rPr lang="fi-FI" smtClean="0"/>
              <a:t>kriittiset ja vakavat virheet on korjattu</a:t>
            </a:r>
            <a:endParaRPr lang="en-US" smtClean="0"/>
          </a:p>
          <a:p>
            <a:pPr lvl="1"/>
            <a:r>
              <a:rPr lang="fi-FI" smtClean="0"/>
              <a:t>havainnot on käsitelty ja sovitut korjaukset on tehty</a:t>
            </a:r>
            <a:endParaRPr lang="en-US" smtClean="0"/>
          </a:p>
          <a:p>
            <a:pPr lvl="1"/>
            <a:r>
              <a:rPr lang="fi-FI" smtClean="0"/>
              <a:t>tuotantoon siirrettävälle julkaisulle on suoritettu sovitut testit, joista ei ole löytynyt uusia havaintoja</a:t>
            </a:r>
            <a:endParaRPr lang="en-US" smtClean="0"/>
          </a:p>
          <a:p>
            <a:pPr lvl="1"/>
            <a:r>
              <a:rPr lang="fi-FI" smtClean="0"/>
              <a:t>suunniteltu testaus on suoritettu ja laaturiskit on katettu testauksella riittävässä määrin</a:t>
            </a:r>
            <a:endParaRPr lang="en-US" smtClean="0"/>
          </a:p>
          <a:p>
            <a:pPr lvl="1"/>
            <a:r>
              <a:rPr lang="fi-FI" smtClean="0"/>
              <a:t>osat, joihin liittyy sopimuksellisia velvoitteita, on hyväksymistestattu</a:t>
            </a:r>
            <a:endParaRPr lang="en-US" smtClean="0"/>
          </a:p>
          <a:p>
            <a:pPr lvl="1"/>
            <a:r>
              <a:rPr lang="fi-FI" smtClean="0"/>
              <a:t>tehty testaus ja arvioidut riskit on esitelty johtoryhmälle, joka arvioi tulosten pohjalta laatuodotusten täyttymisen</a:t>
            </a:r>
            <a:endParaRPr lang="en-US" smtClean="0"/>
          </a:p>
          <a:p>
            <a:endParaRPr lang="fi-FI" dirty="0"/>
          </a:p>
        </p:txBody>
      </p:sp>
      <p:sp>
        <p:nvSpPr>
          <p:cNvPr id="4" name="TextBox 3"/>
          <p:cNvSpPr txBox="1"/>
          <p:nvPr/>
        </p:nvSpPr>
        <p:spPr>
          <a:xfrm rot="16200000">
            <a:off x="7586802" y="3519639"/>
            <a:ext cx="2500330" cy="461665"/>
          </a:xfrm>
          <a:prstGeom prst="rect">
            <a:avLst/>
          </a:prstGeom>
        </p:spPr>
        <p:style>
          <a:lnRef idx="3">
            <a:schemeClr val="lt1"/>
          </a:lnRef>
          <a:fillRef idx="1">
            <a:schemeClr val="accent5"/>
          </a:fillRef>
          <a:effectRef idx="1">
            <a:schemeClr val="accent5"/>
          </a:effectRef>
          <a:fontRef idx="minor">
            <a:schemeClr val="lt1"/>
          </a:fontRef>
        </p:style>
        <p:txBody>
          <a:bodyPr wrap="square" rtlCol="0">
            <a:spAutoFit/>
          </a:bodyPr>
          <a:lstStyle/>
          <a:p>
            <a:pPr algn="ctr"/>
            <a:r>
              <a:rPr lang="fi-FI" sz="2400" dirty="0" smtClean="0"/>
              <a:t>Yksi esimerkki...</a:t>
            </a:r>
            <a:endParaRPr lang="fi-FI" sz="2400" dirty="0"/>
          </a:p>
        </p:txBody>
      </p:sp>
      <p:sp>
        <p:nvSpPr>
          <p:cNvPr id="5" name="Slide Number Placeholder 4"/>
          <p:cNvSpPr>
            <a:spLocks noGrp="1"/>
          </p:cNvSpPr>
          <p:nvPr>
            <p:ph type="sldNum" sz="quarter" idx="12"/>
          </p:nvPr>
        </p:nvSpPr>
        <p:spPr/>
        <p:txBody>
          <a:bodyPr/>
          <a:lstStyle/>
          <a:p>
            <a:fld id="{7A750B4A-325E-4AA4-BC07-A8C35B32A4F3}" type="slidenum">
              <a:rPr lang="fi-FI" smtClean="0"/>
              <a:pPr/>
              <a:t>76</a:t>
            </a:fld>
            <a:endParaRPr lang="fi-FI"/>
          </a:p>
        </p:txBody>
      </p:sp>
    </p:spTree>
  </p:cSld>
  <p:clrMapOvr>
    <a:masterClrMapping/>
  </p:clrMapOvr>
  <p:timing>
    <p:tnLst>
      <p:par>
        <p:cTn xmlns:p14="http://schemas.microsoft.com/office/powerpoint/2010/mai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Onnistumisen edellytyksistä</a:t>
            </a:r>
            <a:endParaRPr lang="fi-FI" dirty="0"/>
          </a:p>
        </p:txBody>
      </p:sp>
      <p:sp>
        <p:nvSpPr>
          <p:cNvPr id="3" name="Content Placeholder 2"/>
          <p:cNvSpPr>
            <a:spLocks noGrp="1"/>
          </p:cNvSpPr>
          <p:nvPr>
            <p:ph idx="1"/>
          </p:nvPr>
        </p:nvSpPr>
        <p:spPr/>
        <p:txBody>
          <a:bodyPr/>
          <a:lstStyle/>
          <a:p>
            <a:r>
              <a:rPr lang="fi-FI" dirty="0" smtClean="0"/>
              <a:t>Testausosaaminen tärkeää sopimuksen tekemisessä sekä projektisuunnitelman laatimisessa</a:t>
            </a:r>
          </a:p>
          <a:p>
            <a:pPr lvl="1"/>
            <a:r>
              <a:rPr lang="fi-FI" dirty="0" smtClean="0"/>
              <a:t>Voidaan vesittää hyväksymistestauksen tavoitteita</a:t>
            </a:r>
          </a:p>
          <a:p>
            <a:r>
              <a:rPr lang="fi-FI" dirty="0" smtClean="0"/>
              <a:t>Onnistuneet ohjelmistoprojektit vaativat yhteistyötä – </a:t>
            </a:r>
            <a:r>
              <a:rPr lang="fi-FI" dirty="0" err="1" smtClean="0"/>
              <a:t>inkrementaalinen</a:t>
            </a:r>
            <a:r>
              <a:rPr lang="fi-FI" dirty="0" smtClean="0"/>
              <a:t> kehitysmalli antaa mahdollisuuden konkreettisen palautteen antamiselle</a:t>
            </a:r>
            <a:endParaRPr lang="fi-FI"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77</a:t>
            </a:fld>
            <a:endParaRPr lang="fi-FI"/>
          </a:p>
        </p:txBody>
      </p:sp>
    </p:spTree>
  </p:cSld>
  <p:clrMapOvr>
    <a:masterClrMapping/>
  </p:clrMapOvr>
  <p:timing>
    <p:tnLst>
      <p:par>
        <p:cTn xmlns:p14="http://schemas.microsoft.com/office/powerpoint/2010/mai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fi-FI" dirty="0" smtClean="0"/>
              <a:t>Sopimukset ja testaus</a:t>
            </a:r>
            <a:endParaRPr lang="fi-FI" dirty="0"/>
          </a:p>
        </p:txBody>
      </p:sp>
      <p:sp>
        <p:nvSpPr>
          <p:cNvPr id="5" name="Text Placeholder 4"/>
          <p:cNvSpPr>
            <a:spLocks noGrp="1"/>
          </p:cNvSpPr>
          <p:nvPr>
            <p:ph type="body" idx="1"/>
          </p:nvPr>
        </p:nvSpPr>
        <p:spPr/>
        <p:txBody>
          <a:bodyPr/>
          <a:lstStyle/>
          <a:p>
            <a:endParaRPr lang="fi-FI" dirty="0"/>
          </a:p>
        </p:txBody>
      </p:sp>
      <p:sp>
        <p:nvSpPr>
          <p:cNvPr id="6" name="Slide Number Placeholder 5"/>
          <p:cNvSpPr>
            <a:spLocks noGrp="1"/>
          </p:cNvSpPr>
          <p:nvPr>
            <p:ph type="sldNum" sz="quarter" idx="12"/>
          </p:nvPr>
        </p:nvSpPr>
        <p:spPr/>
        <p:txBody>
          <a:bodyPr/>
          <a:lstStyle/>
          <a:p>
            <a:fld id="{1FC54B03-E980-44E0-A0F1-6CAD9D10ECFB}" type="slidenum">
              <a:rPr lang="fi-FI" smtClean="0"/>
              <a:pPr/>
              <a:t>78</a:t>
            </a:fld>
            <a:endParaRPr lang="fi-FI"/>
          </a:p>
        </p:txBody>
      </p:sp>
    </p:spTree>
  </p:cSld>
  <p:clrMapOvr>
    <a:masterClrMapping/>
  </p:clrMapOvr>
  <p:timing>
    <p:tnLst>
      <p:par>
        <p:cTn xmlns:p14="http://schemas.microsoft.com/office/powerpoint/2010/mai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fi-FI" dirty="0" smtClean="0"/>
              <a:t>Sopimuksista yleensä</a:t>
            </a:r>
            <a:endParaRPr lang="fi-FI" dirty="0"/>
          </a:p>
        </p:txBody>
      </p:sp>
      <p:sp>
        <p:nvSpPr>
          <p:cNvPr id="5" name="Content Placeholder 4"/>
          <p:cNvSpPr>
            <a:spLocks noGrp="1"/>
          </p:cNvSpPr>
          <p:nvPr>
            <p:ph sz="quarter" idx="1"/>
          </p:nvPr>
        </p:nvSpPr>
        <p:spPr/>
        <p:txBody>
          <a:bodyPr>
            <a:normAutofit fontScale="77500" lnSpcReduction="20000"/>
          </a:bodyPr>
          <a:lstStyle/>
          <a:p>
            <a:r>
              <a:rPr lang="fi-FI" dirty="0" smtClean="0"/>
              <a:t>Sopimukset laaditaan siltä varalta että tulee erimielisyyksiä, toivoen että niitä ei tule</a:t>
            </a:r>
          </a:p>
          <a:p>
            <a:r>
              <a:rPr lang="fi-FI" dirty="0" smtClean="0"/>
              <a:t>Tilatun toimituksen tekeminen yhteistyötä – sopimuksen tarkoitus antaa yhteistyölle puitteet ja pelisäännöt</a:t>
            </a:r>
          </a:p>
          <a:p>
            <a:endParaRPr lang="fi-FI" dirty="0" smtClean="0"/>
          </a:p>
          <a:p>
            <a:r>
              <a:rPr lang="fi-FI" dirty="0" smtClean="0"/>
              <a:t>Testauksen kannalta hyvin erilaisia sopimuksia</a:t>
            </a:r>
          </a:p>
          <a:p>
            <a:pPr lvl="1"/>
            <a:r>
              <a:rPr lang="fi-FI" dirty="0" smtClean="0"/>
              <a:t>Onko asiakkaalla mekanismia suojautua testaustyömäärän siirrolta asiakkaalle ensimmäisessä toimituksessa ja erityisesti korjaustoimituksissa</a:t>
            </a:r>
          </a:p>
          <a:p>
            <a:pPr lvl="1"/>
            <a:r>
              <a:rPr lang="fi-FI" dirty="0" smtClean="0"/>
              <a:t>Hyväksymistestaukseen käytettävissä oleva aika ja sen riippuvuus toimitetusta laadusta</a:t>
            </a:r>
          </a:p>
          <a:p>
            <a:pPr lvl="1"/>
            <a:r>
              <a:rPr lang="fi-FI" dirty="0" smtClean="0"/>
              <a:t>Voiko virhekorjauksista laskuttaa</a:t>
            </a:r>
          </a:p>
        </p:txBody>
      </p:sp>
      <p:sp>
        <p:nvSpPr>
          <p:cNvPr id="6" name="Slide Number Placeholder 5"/>
          <p:cNvSpPr>
            <a:spLocks noGrp="1"/>
          </p:cNvSpPr>
          <p:nvPr>
            <p:ph type="sldNum" sz="quarter" idx="12"/>
          </p:nvPr>
        </p:nvSpPr>
        <p:spPr/>
        <p:txBody>
          <a:bodyPr/>
          <a:lstStyle/>
          <a:p>
            <a:fld id="{1FC54B03-E980-44E0-A0F1-6CAD9D10ECFB}" type="slidenum">
              <a:rPr lang="fi-FI" smtClean="0"/>
              <a:pPr/>
              <a:t>79</a:t>
            </a:fld>
            <a:endParaRPr lang="fi-FI"/>
          </a:p>
        </p:txBody>
      </p:sp>
    </p:spTree>
  </p:cSld>
  <p:clrMapOvr>
    <a:masterClrMapping/>
  </p:clrMapOvr>
  <p:timing>
    <p:tnLst>
      <p:par>
        <p:cTn xmlns:p14="http://schemas.microsoft.com/office/powerpoint/2010/mai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1988" y="4763"/>
            <a:ext cx="7820025" cy="684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lide Number Placeholder 2"/>
          <p:cNvSpPr>
            <a:spLocks noGrp="1"/>
          </p:cNvSpPr>
          <p:nvPr>
            <p:ph type="sldNum" sz="quarter" idx="12"/>
          </p:nvPr>
        </p:nvSpPr>
        <p:spPr/>
        <p:txBody>
          <a:bodyPr/>
          <a:lstStyle/>
          <a:p>
            <a:fld id="{1FC54B03-E980-44E0-A0F1-6CAD9D10ECFB}" type="slidenum">
              <a:rPr lang="fi-FI" smtClean="0"/>
              <a:pPr/>
              <a:t>80</a:t>
            </a:fld>
            <a:endParaRPr lang="fi-FI"/>
          </a:p>
        </p:txBody>
      </p:sp>
    </p:spTree>
    <p:extLst>
      <p:ext uri="{BB962C8B-B14F-4D97-AF65-F5344CB8AC3E}">
        <p14:creationId xmlns:p14="http://schemas.microsoft.com/office/powerpoint/2010/main" val="1106797991"/>
      </p:ext>
    </p:extLst>
  </p:cSld>
  <p:clrMapOvr>
    <a:masterClrMapping/>
  </p:clrMapOvr>
  <p:timing>
    <p:tnLst>
      <p:par>
        <p:cTn xmlns:p14="http://schemas.microsoft.com/office/powerpoint/2010/mai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fi-FI" dirty="0" smtClean="0"/>
              <a:t>Erilaisia hyväksymistestauksia</a:t>
            </a:r>
            <a:endParaRPr lang="en-US" dirty="0"/>
          </a:p>
        </p:txBody>
      </p:sp>
      <p:graphicFrame>
        <p:nvGraphicFramePr>
          <p:cNvPr id="9" name="Content Placeholder 8"/>
          <p:cNvGraphicFramePr>
            <a:graphicFrameLocks noGrp="1"/>
          </p:cNvGraphicFramePr>
          <p:nvPr>
            <p:ph idx="1"/>
            <p:extLst>
              <p:ext uri="{D42A27DB-BD31-4B8C-83A1-F6EECF244321}">
                <p14:modId xmlns:p14="http://schemas.microsoft.com/office/powerpoint/2010/main" val="1735349919"/>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p:cNvSpPr>
            <a:spLocks noGrp="1"/>
          </p:cNvSpPr>
          <p:nvPr>
            <p:ph type="sldNum" sz="quarter" idx="12"/>
          </p:nvPr>
        </p:nvSpPr>
        <p:spPr/>
        <p:txBody>
          <a:bodyPr/>
          <a:lstStyle/>
          <a:p>
            <a:fld id="{1FC54B03-E980-44E0-A0F1-6CAD9D10ECFB}" type="slidenum">
              <a:rPr lang="fi-FI" smtClean="0"/>
              <a:pPr/>
              <a:t>81</a:t>
            </a:fld>
            <a:endParaRPr lang="fi-FI"/>
          </a:p>
        </p:txBody>
      </p:sp>
    </p:spTree>
    <p:extLst>
      <p:ext uri="{BB962C8B-B14F-4D97-AF65-F5344CB8AC3E}">
        <p14:creationId xmlns:p14="http://schemas.microsoft.com/office/powerpoint/2010/main" val="1119152246"/>
      </p:ext>
    </p:extLst>
  </p:cSld>
  <p:clrMapOvr>
    <a:masterClrMapping/>
  </p:clrMapOvr>
  <p:timing>
    <p:tnLst>
      <p:par>
        <p:cTn xmlns:p14="http://schemas.microsoft.com/office/powerpoint/2010/mai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Tarkistuslista: Keskeiset keskusteltavat periaatteet toimittajan kanssa</a:t>
            </a:r>
            <a:endParaRPr lang="en-US" dirty="0"/>
          </a:p>
        </p:txBody>
      </p:sp>
      <p:sp>
        <p:nvSpPr>
          <p:cNvPr id="3" name="Content Placeholder 2"/>
          <p:cNvSpPr>
            <a:spLocks noGrp="1"/>
          </p:cNvSpPr>
          <p:nvPr>
            <p:ph idx="1"/>
          </p:nvPr>
        </p:nvSpPr>
        <p:spPr/>
        <p:txBody>
          <a:bodyPr>
            <a:normAutofit fontScale="70000" lnSpcReduction="20000"/>
          </a:bodyPr>
          <a:lstStyle/>
          <a:p>
            <a:pPr>
              <a:buFont typeface="Wingdings" pitchFamily="2" charset="2"/>
              <a:buChar char="q"/>
            </a:pPr>
            <a:r>
              <a:rPr lang="fi-FI" dirty="0" smtClean="0"/>
              <a:t>Hyväksymistestausajan jatkamisen laskenta</a:t>
            </a:r>
          </a:p>
          <a:p>
            <a:pPr>
              <a:buFont typeface="Wingdings" pitchFamily="2" charset="2"/>
              <a:buChar char="q"/>
            </a:pPr>
            <a:r>
              <a:rPr lang="fi-FI" dirty="0" smtClean="0"/>
              <a:t>Uudelleensuunnittelusta seuraavan testauksen laajuus</a:t>
            </a:r>
          </a:p>
          <a:p>
            <a:pPr>
              <a:buFont typeface="Wingdings" pitchFamily="2" charset="2"/>
              <a:buChar char="q"/>
            </a:pPr>
            <a:r>
              <a:rPr lang="fi-FI" dirty="0" smtClean="0"/>
              <a:t>Toimittajalta odotettava regressiotestaus ja sen raportointi virhekorjausten yhteydessä</a:t>
            </a:r>
          </a:p>
          <a:p>
            <a:pPr>
              <a:buFont typeface="Wingdings" pitchFamily="2" charset="2"/>
              <a:buChar char="q"/>
            </a:pPr>
            <a:r>
              <a:rPr lang="fi-FI" dirty="0" smtClean="0"/>
              <a:t>Toistuvat </a:t>
            </a:r>
            <a:r>
              <a:rPr lang="fi-FI" dirty="0" err="1" smtClean="0"/>
              <a:t>luovutus”kokeet</a:t>
            </a:r>
            <a:r>
              <a:rPr lang="fi-FI" dirty="0" smtClean="0"/>
              <a:t>” jokaisen uusintaluovutuksen yhteydessä</a:t>
            </a:r>
          </a:p>
          <a:p>
            <a:pPr>
              <a:buFont typeface="Wingdings" pitchFamily="2" charset="2"/>
              <a:buChar char="q"/>
            </a:pPr>
            <a:r>
              <a:rPr lang="fi-FI" dirty="0" smtClean="0"/>
              <a:t>Myöhästymissanktion kasvaminen puutteellisista tiedoista: laatupuutteet estävät tuotantoonsiirron aikataulussaan vaikka luovutus asiakkaalle tulee aikataulussa</a:t>
            </a:r>
          </a:p>
          <a:p>
            <a:pPr>
              <a:buFont typeface="Wingdings" pitchFamily="2" charset="2"/>
              <a:buChar char="q"/>
            </a:pPr>
            <a:r>
              <a:rPr lang="fi-FI" dirty="0" smtClean="0"/>
              <a:t>Muutosten ja virheiden luokittelun epävarmuudesta aiheutuvat kustannukset hyväksymistestauksen tukea</a:t>
            </a:r>
          </a:p>
          <a:p>
            <a:pPr>
              <a:buFont typeface="Wingdings" pitchFamily="2" charset="2"/>
              <a:buChar char="q"/>
            </a:pPr>
            <a:r>
              <a:rPr lang="fi-FI" dirty="0" smtClean="0"/>
              <a:t>Muutospyynnöt, joista toimittaja voi kieltäytyä (muuttavat sopimuksen henkeä)</a:t>
            </a:r>
          </a:p>
          <a:p>
            <a:pPr>
              <a:buFont typeface="Wingdings" pitchFamily="2" charset="2"/>
              <a:buChar char="q"/>
            </a:pPr>
            <a:r>
              <a:rPr lang="fi-FI" dirty="0" smtClean="0"/>
              <a:t>Hyväksymistestauksen tuen laajuus: onko erikseen laskutettavaa työtä</a:t>
            </a:r>
          </a:p>
          <a:p>
            <a:endParaRPr lang="en-US" dirty="0"/>
          </a:p>
        </p:txBody>
      </p:sp>
      <p:sp>
        <p:nvSpPr>
          <p:cNvPr id="4" name="Slide Number Placeholder 3"/>
          <p:cNvSpPr>
            <a:spLocks noGrp="1"/>
          </p:cNvSpPr>
          <p:nvPr>
            <p:ph type="sldNum" sz="quarter" idx="12"/>
          </p:nvPr>
        </p:nvSpPr>
        <p:spPr/>
        <p:txBody>
          <a:bodyPr/>
          <a:lstStyle/>
          <a:p>
            <a:fld id="{1FC54B03-E980-44E0-A0F1-6CAD9D10ECFB}" type="slidenum">
              <a:rPr lang="fi-FI" smtClean="0"/>
              <a:pPr/>
              <a:t>82</a:t>
            </a:fld>
            <a:endParaRPr lang="fi-FI"/>
          </a:p>
        </p:txBody>
      </p:sp>
    </p:spTree>
    <p:extLst>
      <p:ext uri="{BB962C8B-B14F-4D97-AF65-F5344CB8AC3E}">
        <p14:creationId xmlns:p14="http://schemas.microsoft.com/office/powerpoint/2010/main" val="2784492104"/>
      </p:ext>
    </p:extLst>
  </p:cSld>
  <p:clrMapOvr>
    <a:masterClrMapping/>
  </p:clrMapOvr>
  <p:timing>
    <p:tnLst>
      <p:par>
        <p:cTn xmlns:p14="http://schemas.microsoft.com/office/powerpoint/2010/mai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fi-FI" dirty="0" smtClean="0"/>
              <a:t>Huomioita</a:t>
            </a:r>
            <a:endParaRPr lang="en-US" dirty="0"/>
          </a:p>
        </p:txBody>
      </p:sp>
      <p:sp>
        <p:nvSpPr>
          <p:cNvPr id="11267" name="Rectangle 3"/>
          <p:cNvSpPr>
            <a:spLocks noGrp="1" noChangeArrowheads="1"/>
          </p:cNvSpPr>
          <p:nvPr>
            <p:ph type="body" idx="1"/>
          </p:nvPr>
        </p:nvSpPr>
        <p:spPr/>
        <p:txBody>
          <a:bodyPr/>
          <a:lstStyle/>
          <a:p>
            <a:pPr>
              <a:lnSpc>
                <a:spcPct val="90000"/>
              </a:lnSpc>
            </a:pPr>
            <a:r>
              <a:rPr lang="fi-FI"/>
              <a:t>Useimmiten testaushenkilöstö ei minun kokemukseni mukaan näe sopimuksia</a:t>
            </a:r>
          </a:p>
          <a:p>
            <a:pPr>
              <a:lnSpc>
                <a:spcPct val="90000"/>
              </a:lnSpc>
            </a:pPr>
            <a:r>
              <a:rPr lang="fi-FI"/>
              <a:t>Arjessa sopimalla (liian) helppo vesittää sopimuksen tarkoituksia</a:t>
            </a:r>
          </a:p>
          <a:p>
            <a:pPr>
              <a:lnSpc>
                <a:spcPct val="90000"/>
              </a:lnSpc>
            </a:pPr>
            <a:r>
              <a:rPr lang="fi-FI"/>
              <a:t>Sopimusasioista kumpuavilla keskusteluilla saadaan sotkettua varsinaista testausvaihetta kun keskustellaan korjaustarpeesta, aikataulusta ja uudelleentestaustarpeesta</a:t>
            </a:r>
            <a:endParaRPr lang="en-US"/>
          </a:p>
        </p:txBody>
      </p:sp>
      <p:sp>
        <p:nvSpPr>
          <p:cNvPr id="4" name="Slide Number Placeholder 3"/>
          <p:cNvSpPr>
            <a:spLocks noGrp="1"/>
          </p:cNvSpPr>
          <p:nvPr>
            <p:ph type="sldNum" sz="quarter" idx="12"/>
          </p:nvPr>
        </p:nvSpPr>
        <p:spPr/>
        <p:txBody>
          <a:bodyPr/>
          <a:lstStyle/>
          <a:p>
            <a:fld id="{1FC54B03-E980-44E0-A0F1-6CAD9D10ECFB}" type="slidenum">
              <a:rPr lang="fi-FI" smtClean="0"/>
              <a:pPr/>
              <a:t>83</a:t>
            </a:fld>
            <a:endParaRPr lang="fi-FI"/>
          </a:p>
        </p:txBody>
      </p:sp>
    </p:spTree>
  </p:cSld>
  <p:clrMapOvr>
    <a:masterClrMapping/>
  </p:clrMapOvr>
  <p:timing>
    <p:tnLst>
      <p:par>
        <p:cTn xmlns:p14="http://schemas.microsoft.com/office/powerpoint/2010/mai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fi-FI" dirty="0" smtClean="0"/>
              <a:t>Testauksen vaatiminen osana toimitusta</a:t>
            </a:r>
            <a:endParaRPr lang="fi-FI" dirty="0"/>
          </a:p>
        </p:txBody>
      </p:sp>
      <p:sp>
        <p:nvSpPr>
          <p:cNvPr id="5" name="Text Placeholder 4"/>
          <p:cNvSpPr>
            <a:spLocks noGrp="1"/>
          </p:cNvSpPr>
          <p:nvPr>
            <p:ph type="body" idx="1"/>
          </p:nvPr>
        </p:nvSpPr>
        <p:spPr/>
        <p:txBody>
          <a:bodyPr/>
          <a:lstStyle/>
          <a:p>
            <a:endParaRPr lang="fi-FI" dirty="0"/>
          </a:p>
        </p:txBody>
      </p:sp>
      <p:sp>
        <p:nvSpPr>
          <p:cNvPr id="6" name="Slide Number Placeholder 5"/>
          <p:cNvSpPr>
            <a:spLocks noGrp="1"/>
          </p:cNvSpPr>
          <p:nvPr>
            <p:ph type="sldNum" sz="quarter" idx="12"/>
          </p:nvPr>
        </p:nvSpPr>
        <p:spPr/>
        <p:txBody>
          <a:bodyPr/>
          <a:lstStyle/>
          <a:p>
            <a:fld id="{1FC54B03-E980-44E0-A0F1-6CAD9D10ECFB}" type="slidenum">
              <a:rPr lang="fi-FI" smtClean="0"/>
              <a:pPr/>
              <a:t>84</a:t>
            </a:fld>
            <a:endParaRPr lang="fi-FI"/>
          </a:p>
        </p:txBody>
      </p:sp>
    </p:spTree>
  </p:cSld>
  <p:clrMapOvr>
    <a:masterClrMapping/>
  </p:clrMapOvr>
  <p:timing>
    <p:tnLst>
      <p:par>
        <p:cTn xmlns:p14="http://schemas.microsoft.com/office/powerpoint/2010/mai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fi-FI" dirty="0" smtClean="0"/>
              <a:t>Vaatimusten haasteista</a:t>
            </a:r>
            <a:endParaRPr lang="fi-FI" dirty="0"/>
          </a:p>
        </p:txBody>
      </p:sp>
      <p:sp>
        <p:nvSpPr>
          <p:cNvPr id="5" name="Content Placeholder 4"/>
          <p:cNvSpPr>
            <a:spLocks noGrp="1"/>
          </p:cNvSpPr>
          <p:nvPr>
            <p:ph sz="quarter" idx="1"/>
          </p:nvPr>
        </p:nvSpPr>
        <p:spPr/>
        <p:txBody>
          <a:bodyPr>
            <a:normAutofit fontScale="92500" lnSpcReduction="20000"/>
          </a:bodyPr>
          <a:lstStyle/>
          <a:p>
            <a:r>
              <a:rPr lang="fi-FI" dirty="0" smtClean="0"/>
              <a:t>Vaatimukset ovat aina moniselitteisiä ja –tulkintaisia</a:t>
            </a:r>
          </a:p>
          <a:p>
            <a:r>
              <a:rPr lang="fi-FI" dirty="0" smtClean="0"/>
              <a:t>Esimerkkinä </a:t>
            </a:r>
            <a:r>
              <a:rPr lang="fi-FI" i="1" dirty="0" smtClean="0"/>
              <a:t>hakutoiminnallisuus</a:t>
            </a:r>
          </a:p>
          <a:p>
            <a:pPr lvl="1"/>
            <a:r>
              <a:rPr lang="fi-FI" dirty="0" smtClean="0"/>
              <a:t>Haku täsmällisellä ja täydellä hakuehdolla</a:t>
            </a:r>
          </a:p>
          <a:p>
            <a:pPr lvl="1"/>
            <a:r>
              <a:rPr lang="fi-FI" dirty="0" smtClean="0"/>
              <a:t>Haku osittaisella hakuehdolla</a:t>
            </a:r>
          </a:p>
          <a:p>
            <a:pPr lvl="1"/>
            <a:r>
              <a:rPr lang="fi-FI" dirty="0" smtClean="0"/>
              <a:t>Haku kuten Google sen toteuttaa</a:t>
            </a:r>
          </a:p>
          <a:p>
            <a:r>
              <a:rPr lang="fi-FI" dirty="0" smtClean="0"/>
              <a:t>Vaaditaan </a:t>
            </a:r>
            <a:r>
              <a:rPr lang="fi-FI" i="1" dirty="0" smtClean="0">
                <a:solidFill>
                  <a:schemeClr val="accent2"/>
                </a:solidFill>
              </a:rPr>
              <a:t>testaamaan</a:t>
            </a:r>
          </a:p>
          <a:p>
            <a:pPr lvl="1"/>
            <a:r>
              <a:rPr lang="fi-FI" dirty="0" smtClean="0"/>
              <a:t>Joo, kyllä me kokeilin vähän</a:t>
            </a:r>
          </a:p>
          <a:p>
            <a:pPr lvl="1"/>
            <a:r>
              <a:rPr lang="fi-FI" dirty="0" smtClean="0"/>
              <a:t>Käytiin  järjestelmällisesti läpi keskeiset järjestelmäriskit sekä liiketoiminnan että teknologian näkökulmasta</a:t>
            </a:r>
            <a:endParaRPr lang="fi-FI" dirty="0"/>
          </a:p>
        </p:txBody>
      </p:sp>
      <p:sp>
        <p:nvSpPr>
          <p:cNvPr id="6" name="Slide Number Placeholder 5"/>
          <p:cNvSpPr>
            <a:spLocks noGrp="1"/>
          </p:cNvSpPr>
          <p:nvPr>
            <p:ph type="sldNum" sz="quarter" idx="12"/>
          </p:nvPr>
        </p:nvSpPr>
        <p:spPr/>
        <p:txBody>
          <a:bodyPr/>
          <a:lstStyle/>
          <a:p>
            <a:fld id="{1FC54B03-E980-44E0-A0F1-6CAD9D10ECFB}" type="slidenum">
              <a:rPr lang="fi-FI" smtClean="0"/>
              <a:pPr/>
              <a:t>85</a:t>
            </a:fld>
            <a:endParaRPr lang="fi-FI"/>
          </a:p>
        </p:txBody>
      </p:sp>
    </p:spTree>
  </p:cSld>
  <p:clrMapOvr>
    <a:masterClrMapping/>
  </p:clrMapOvr>
  <p:timing>
    <p:tnLst>
      <p:par>
        <p:cTn xmlns:p14="http://schemas.microsoft.com/office/powerpoint/2010/mai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Toimittajan ohjaamisen vaiheet</a:t>
            </a: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123179415"/>
              </p:ext>
            </p:extLst>
          </p:nvPr>
        </p:nvGraphicFramePr>
        <p:xfrm>
          <a:off x="424866" y="2246676"/>
          <a:ext cx="8229600" cy="28803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Right Arrow 2"/>
          <p:cNvSpPr/>
          <p:nvPr/>
        </p:nvSpPr>
        <p:spPr>
          <a:xfrm>
            <a:off x="395536" y="1196752"/>
            <a:ext cx="8280920" cy="11521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b="1" dirty="0" smtClean="0"/>
              <a:t>Riski kasvaa</a:t>
            </a:r>
            <a:r>
              <a:rPr lang="fi-FI" dirty="0" smtClean="0"/>
              <a:t>: Vaikuttamismahdollisuudet kasvattavat kokonaishintaa merkittävillä ennakoimattomilla tavoilla</a:t>
            </a:r>
          </a:p>
        </p:txBody>
      </p:sp>
      <p:sp>
        <p:nvSpPr>
          <p:cNvPr id="9" name="Cloud 8"/>
          <p:cNvSpPr/>
          <p:nvPr/>
        </p:nvSpPr>
        <p:spPr>
          <a:xfrm>
            <a:off x="2411760" y="5229200"/>
            <a:ext cx="6264696" cy="936104"/>
          </a:xfrm>
          <a:prstGeom prst="cloud">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fi-FI" sz="1600" dirty="0" smtClean="0"/>
              <a:t>Laatuvelkaa: samojen asioiden tekeminen vaatii samat työt ”korkojen kera” – suurempi työmäärä</a:t>
            </a:r>
            <a:endParaRPr lang="en-US" sz="1600" dirty="0"/>
          </a:p>
        </p:txBody>
      </p:sp>
      <p:sp>
        <p:nvSpPr>
          <p:cNvPr id="7" name="Slide Number Placeholder 6"/>
          <p:cNvSpPr>
            <a:spLocks noGrp="1"/>
          </p:cNvSpPr>
          <p:nvPr>
            <p:ph type="sldNum" sz="quarter" idx="12"/>
          </p:nvPr>
        </p:nvSpPr>
        <p:spPr/>
        <p:txBody>
          <a:bodyPr/>
          <a:lstStyle/>
          <a:p>
            <a:fld id="{1FC54B03-E980-44E0-A0F1-6CAD9D10ECFB}" type="slidenum">
              <a:rPr lang="fi-FI" smtClean="0"/>
              <a:pPr/>
              <a:t>86</a:t>
            </a:fld>
            <a:endParaRPr lang="fi-FI"/>
          </a:p>
        </p:txBody>
      </p:sp>
    </p:spTree>
    <p:extLst>
      <p:ext uri="{BB962C8B-B14F-4D97-AF65-F5344CB8AC3E}">
        <p14:creationId xmlns:p14="http://schemas.microsoft.com/office/powerpoint/2010/main" val="2487901805"/>
      </p:ext>
    </p:extLst>
  </p:cSld>
  <p:clrMapOvr>
    <a:masterClrMapping/>
  </p:clrMapOvr>
  <p:timing>
    <p:tnLst>
      <p:par>
        <p:cTn xmlns:p14="http://schemas.microsoft.com/office/powerpoint/2010/mai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5300" y="447675"/>
            <a:ext cx="8151813" cy="596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lide Number Placeholder 2"/>
          <p:cNvSpPr>
            <a:spLocks noGrp="1"/>
          </p:cNvSpPr>
          <p:nvPr>
            <p:ph type="sldNum" sz="quarter" idx="12"/>
          </p:nvPr>
        </p:nvSpPr>
        <p:spPr/>
        <p:txBody>
          <a:bodyPr/>
          <a:lstStyle/>
          <a:p>
            <a:fld id="{1FC54B03-E980-44E0-A0F1-6CAD9D10ECFB}" type="slidenum">
              <a:rPr lang="fi-FI" smtClean="0"/>
              <a:pPr/>
              <a:t>87</a:t>
            </a:fld>
            <a:endParaRPr lang="fi-FI"/>
          </a:p>
        </p:txBody>
      </p:sp>
    </p:spTree>
    <p:extLst>
      <p:ext uri="{BB962C8B-B14F-4D97-AF65-F5344CB8AC3E}">
        <p14:creationId xmlns:p14="http://schemas.microsoft.com/office/powerpoint/2010/main" val="3309879184"/>
      </p:ext>
    </p:extLst>
  </p:cSld>
  <p:clrMapOvr>
    <a:masterClrMapping/>
  </p:clrMapOvr>
  <p:timing>
    <p:tnLst>
      <p:par>
        <p:cTn xmlns:p14="http://schemas.microsoft.com/office/powerpoint/2010/mai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7584" y="628634"/>
            <a:ext cx="7879891" cy="466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lide Number Placeholder 2"/>
          <p:cNvSpPr>
            <a:spLocks noGrp="1"/>
          </p:cNvSpPr>
          <p:nvPr>
            <p:ph type="sldNum" sz="quarter" idx="12"/>
          </p:nvPr>
        </p:nvSpPr>
        <p:spPr/>
        <p:txBody>
          <a:bodyPr/>
          <a:lstStyle/>
          <a:p>
            <a:fld id="{1FC54B03-E980-44E0-A0F1-6CAD9D10ECFB}" type="slidenum">
              <a:rPr lang="fi-FI" smtClean="0"/>
              <a:pPr/>
              <a:t>88</a:t>
            </a:fld>
            <a:endParaRPr lang="fi-FI"/>
          </a:p>
        </p:txBody>
      </p:sp>
    </p:spTree>
    <p:extLst>
      <p:ext uri="{BB962C8B-B14F-4D97-AF65-F5344CB8AC3E}">
        <p14:creationId xmlns:p14="http://schemas.microsoft.com/office/powerpoint/2010/main" val="2976604682"/>
      </p:ext>
    </p:extLst>
  </p:cSld>
  <p:clrMapOvr>
    <a:masterClrMapping/>
  </p:clrMapOvr>
  <p:timing>
    <p:tnLst>
      <p:par>
        <p:cTn xmlns:p14="http://schemas.microsoft.com/office/powerpoint/2010/mai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5576" y="1700808"/>
            <a:ext cx="7304087"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5575" y="2420888"/>
            <a:ext cx="7304087" cy="77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51175" y="3356992"/>
            <a:ext cx="7304087" cy="96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51174" y="4437112"/>
            <a:ext cx="7304087"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fld id="{1FC54B03-E980-44E0-A0F1-6CAD9D10ECFB}" type="slidenum">
              <a:rPr lang="fi-FI" smtClean="0"/>
              <a:pPr/>
              <a:t>89</a:t>
            </a:fld>
            <a:endParaRPr lang="fi-FI"/>
          </a:p>
        </p:txBody>
      </p:sp>
    </p:spTree>
    <p:extLst>
      <p:ext uri="{BB962C8B-B14F-4D97-AF65-F5344CB8AC3E}">
        <p14:creationId xmlns:p14="http://schemas.microsoft.com/office/powerpoint/2010/main" val="539231486"/>
      </p:ext>
    </p:extLst>
  </p:cSld>
  <p:clrMapOvr>
    <a:masterClrMapping/>
  </p:clrMapOvr>
  <p:timing>
    <p:tnLst>
      <p:par>
        <p:cTn xmlns:p14="http://schemas.microsoft.com/office/powerpoint/2010/mai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p:cNvSpPr/>
          <p:nvPr/>
        </p:nvSpPr>
        <p:spPr>
          <a:xfrm>
            <a:off x="1" y="2867219"/>
            <a:ext cx="9144000" cy="1701038"/>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4" name="Title 3"/>
          <p:cNvSpPr>
            <a:spLocks noGrp="1"/>
          </p:cNvSpPr>
          <p:nvPr>
            <p:ph type="title"/>
          </p:nvPr>
        </p:nvSpPr>
        <p:spPr/>
        <p:txBody>
          <a:bodyPr>
            <a:normAutofit fontScale="90000"/>
          </a:bodyPr>
          <a:lstStyle/>
          <a:p>
            <a:r>
              <a:rPr lang="fi-FI" dirty="0" smtClean="0"/>
              <a:t>Toimittajalta vaadittavat laadunvarmistus-kontrollit</a:t>
            </a:r>
            <a:endParaRPr lang="en-US" dirty="0"/>
          </a:p>
        </p:txBody>
      </p:sp>
      <p:sp>
        <p:nvSpPr>
          <p:cNvPr id="11" name="TextBox 10"/>
          <p:cNvSpPr txBox="1"/>
          <p:nvPr/>
        </p:nvSpPr>
        <p:spPr>
          <a:xfrm rot="16200000">
            <a:off x="-679938" y="3485965"/>
            <a:ext cx="1800200" cy="307777"/>
          </a:xfrm>
          <a:prstGeom prst="rect">
            <a:avLst/>
          </a:prstGeom>
          <a:noFill/>
        </p:spPr>
        <p:txBody>
          <a:bodyPr wrap="square" rtlCol="0">
            <a:spAutoFit/>
          </a:bodyPr>
          <a:lstStyle/>
          <a:p>
            <a:pPr algn="ctr"/>
            <a:r>
              <a:rPr lang="fi-FI" sz="1400" dirty="0" smtClean="0"/>
              <a:t>Dokumentaatio</a:t>
            </a:r>
            <a:endParaRPr lang="en-US" sz="1400" dirty="0"/>
          </a:p>
        </p:txBody>
      </p:sp>
      <p:sp>
        <p:nvSpPr>
          <p:cNvPr id="12" name="TextBox 11"/>
          <p:cNvSpPr txBox="1"/>
          <p:nvPr/>
        </p:nvSpPr>
        <p:spPr>
          <a:xfrm rot="16200000">
            <a:off x="-710715" y="4854117"/>
            <a:ext cx="1800200" cy="307777"/>
          </a:xfrm>
          <a:prstGeom prst="rect">
            <a:avLst/>
          </a:prstGeom>
          <a:noFill/>
        </p:spPr>
        <p:txBody>
          <a:bodyPr wrap="square" rtlCol="0">
            <a:spAutoFit/>
          </a:bodyPr>
          <a:lstStyle/>
          <a:p>
            <a:pPr algn="ctr"/>
            <a:r>
              <a:rPr lang="fi-FI" sz="1400" dirty="0" smtClean="0"/>
              <a:t>Hallinta</a:t>
            </a:r>
            <a:endParaRPr lang="en-US" sz="1400" dirty="0"/>
          </a:p>
        </p:txBody>
      </p:sp>
      <p:sp>
        <p:nvSpPr>
          <p:cNvPr id="13" name="TextBox 12"/>
          <p:cNvSpPr txBox="1"/>
          <p:nvPr/>
        </p:nvSpPr>
        <p:spPr>
          <a:xfrm rot="16200000">
            <a:off x="-658453" y="2117812"/>
            <a:ext cx="1800200" cy="307777"/>
          </a:xfrm>
          <a:prstGeom prst="rect">
            <a:avLst/>
          </a:prstGeom>
          <a:noFill/>
        </p:spPr>
        <p:txBody>
          <a:bodyPr wrap="square" rtlCol="0">
            <a:spAutoFit/>
          </a:bodyPr>
          <a:lstStyle/>
          <a:p>
            <a:pPr algn="ctr"/>
            <a:r>
              <a:rPr lang="fi-FI" sz="1400" dirty="0" smtClean="0"/>
              <a:t>Järjestelmä</a:t>
            </a:r>
            <a:endParaRPr lang="en-US" sz="1400" dirty="0"/>
          </a:p>
        </p:txBody>
      </p:sp>
      <p:grpSp>
        <p:nvGrpSpPr>
          <p:cNvPr id="2" name="Ryhmä 1"/>
          <p:cNvGrpSpPr/>
          <p:nvPr/>
        </p:nvGrpSpPr>
        <p:grpSpPr>
          <a:xfrm>
            <a:off x="652072" y="1432522"/>
            <a:ext cx="9464544" cy="4684729"/>
            <a:chOff x="4499992" y="1768607"/>
            <a:chExt cx="4637112" cy="4684729"/>
          </a:xfrm>
        </p:grpSpPr>
        <p:sp>
          <p:nvSpPr>
            <p:cNvPr id="8" name="Rectangle 7"/>
            <p:cNvSpPr/>
            <p:nvPr/>
          </p:nvSpPr>
          <p:spPr>
            <a:xfrm>
              <a:off x="4499992" y="6093296"/>
              <a:ext cx="1368152" cy="360040"/>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fi-FI" sz="1100" dirty="0" smtClean="0"/>
                <a:t>Määrittelyt</a:t>
              </a:r>
              <a:endParaRPr lang="en-US" sz="1100" dirty="0"/>
            </a:p>
          </p:txBody>
        </p:sp>
        <p:sp>
          <p:nvSpPr>
            <p:cNvPr id="9" name="Rectangle 8"/>
            <p:cNvSpPr/>
            <p:nvPr/>
          </p:nvSpPr>
          <p:spPr>
            <a:xfrm>
              <a:off x="5868144" y="6093296"/>
              <a:ext cx="1368152" cy="360040"/>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fi-FI" sz="1100" dirty="0" smtClean="0"/>
                <a:t>Toteutus &amp; testaus</a:t>
              </a:r>
              <a:endParaRPr lang="en-US" sz="1100" dirty="0"/>
            </a:p>
          </p:txBody>
        </p:sp>
        <p:sp>
          <p:nvSpPr>
            <p:cNvPr id="10" name="Rectangle 9"/>
            <p:cNvSpPr/>
            <p:nvPr/>
          </p:nvSpPr>
          <p:spPr>
            <a:xfrm>
              <a:off x="7236296" y="6093296"/>
              <a:ext cx="1368152" cy="360040"/>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fi-FI" sz="1100" dirty="0" smtClean="0"/>
                <a:t>Hyväksymistestaus</a:t>
              </a:r>
              <a:endParaRPr lang="en-US" sz="1100" dirty="0"/>
            </a:p>
          </p:txBody>
        </p:sp>
        <p:sp>
          <p:nvSpPr>
            <p:cNvPr id="21" name="TextBox 20"/>
            <p:cNvSpPr txBox="1"/>
            <p:nvPr/>
          </p:nvSpPr>
          <p:spPr>
            <a:xfrm>
              <a:off x="6459248" y="3718193"/>
              <a:ext cx="1584176" cy="430887"/>
            </a:xfrm>
            <a:prstGeom prst="rect">
              <a:avLst/>
            </a:prstGeom>
            <a:noFill/>
          </p:spPr>
          <p:txBody>
            <a:bodyPr wrap="square" rtlCol="0">
              <a:spAutoFit/>
            </a:bodyPr>
            <a:lstStyle/>
            <a:p>
              <a:r>
                <a:rPr lang="fi-FI" sz="1050" dirty="0" smtClean="0"/>
                <a:t>Havaintoprosessin </a:t>
              </a:r>
              <a:br>
                <a:rPr lang="fi-FI" sz="1050" dirty="0" smtClean="0"/>
              </a:br>
              <a:r>
                <a:rPr lang="fi-FI" sz="1050" dirty="0" smtClean="0"/>
                <a:t>laadun tarkastus</a:t>
              </a:r>
              <a:endParaRPr lang="en-US" sz="1400" dirty="0"/>
            </a:p>
          </p:txBody>
        </p:sp>
        <p:grpSp>
          <p:nvGrpSpPr>
            <p:cNvPr id="3" name="Group 23"/>
            <p:cNvGrpSpPr/>
            <p:nvPr/>
          </p:nvGrpSpPr>
          <p:grpSpPr>
            <a:xfrm>
              <a:off x="6138304" y="3352783"/>
              <a:ext cx="1728720" cy="415498"/>
              <a:chOff x="5706256" y="3211959"/>
              <a:chExt cx="1728720" cy="415498"/>
            </a:xfrm>
          </p:grpSpPr>
          <p:sp>
            <p:nvSpPr>
              <p:cNvPr id="25" name="Oval 24"/>
              <p:cNvSpPr/>
              <p:nvPr/>
            </p:nvSpPr>
            <p:spPr>
              <a:xfrm>
                <a:off x="5706256" y="3248979"/>
                <a:ext cx="126015" cy="252029"/>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en-US" sz="1400"/>
              </a:p>
            </p:txBody>
          </p:sp>
          <p:sp>
            <p:nvSpPr>
              <p:cNvPr id="26" name="TextBox 25"/>
              <p:cNvSpPr txBox="1"/>
              <p:nvPr/>
            </p:nvSpPr>
            <p:spPr>
              <a:xfrm>
                <a:off x="5850800" y="3211959"/>
                <a:ext cx="1584176" cy="415498"/>
              </a:xfrm>
              <a:prstGeom prst="rect">
                <a:avLst/>
              </a:prstGeom>
              <a:noFill/>
            </p:spPr>
            <p:txBody>
              <a:bodyPr wrap="square" rtlCol="0">
                <a:spAutoFit/>
              </a:bodyPr>
              <a:lstStyle/>
              <a:p>
                <a:r>
                  <a:rPr lang="fi-FI" sz="1050" dirty="0" smtClean="0"/>
                  <a:t>Järjestelmätestien katselmointi </a:t>
                </a:r>
                <a:br>
                  <a:rPr lang="fi-FI" sz="1050" dirty="0" smtClean="0"/>
                </a:br>
                <a:r>
                  <a:rPr lang="fi-FI" sz="1050" dirty="0" smtClean="0"/>
                  <a:t>(sis. kiinnitetyt aineistot)</a:t>
                </a:r>
                <a:endParaRPr lang="en-US" sz="1400" dirty="0"/>
              </a:p>
            </p:txBody>
          </p:sp>
        </p:grpSp>
        <p:sp>
          <p:nvSpPr>
            <p:cNvPr id="27" name="Rounded Rectangle 26"/>
            <p:cNvSpPr/>
            <p:nvPr/>
          </p:nvSpPr>
          <p:spPr>
            <a:xfrm>
              <a:off x="4499992" y="5333003"/>
              <a:ext cx="4104456" cy="24805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050" dirty="0" smtClean="0"/>
                <a:t>Projektiraportointi</a:t>
              </a:r>
              <a:endParaRPr lang="en-US" sz="1050" dirty="0"/>
            </a:p>
          </p:txBody>
        </p:sp>
        <p:sp>
          <p:nvSpPr>
            <p:cNvPr id="28" name="Rounded Rectangle 27"/>
            <p:cNvSpPr/>
            <p:nvPr/>
          </p:nvSpPr>
          <p:spPr>
            <a:xfrm>
              <a:off x="5868144" y="5661247"/>
              <a:ext cx="1368152" cy="211815"/>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fi-FI" sz="1000" dirty="0" smtClean="0"/>
                <a:t>Testien eteneminen (suunnittelu, suoritus)</a:t>
              </a:r>
              <a:endParaRPr lang="en-US" sz="1000" dirty="0"/>
            </a:p>
          </p:txBody>
        </p:sp>
        <p:sp>
          <p:nvSpPr>
            <p:cNvPr id="37" name="TextBox 36"/>
            <p:cNvSpPr txBox="1"/>
            <p:nvPr/>
          </p:nvSpPr>
          <p:spPr>
            <a:xfrm>
              <a:off x="8021488" y="2308175"/>
              <a:ext cx="1115616" cy="415498"/>
            </a:xfrm>
            <a:prstGeom prst="rect">
              <a:avLst/>
            </a:prstGeom>
            <a:noFill/>
          </p:spPr>
          <p:txBody>
            <a:bodyPr wrap="square" rtlCol="0">
              <a:spAutoFit/>
            </a:bodyPr>
            <a:lstStyle/>
            <a:p>
              <a:r>
                <a:rPr lang="fi-FI" sz="1050" dirty="0" smtClean="0"/>
                <a:t>Hyväksymis-</a:t>
              </a:r>
              <a:br>
                <a:rPr lang="fi-FI" sz="1050" dirty="0" smtClean="0"/>
              </a:br>
              <a:r>
                <a:rPr lang="fi-FI" sz="1050" dirty="0" smtClean="0"/>
                <a:t>testaus </a:t>
              </a:r>
            </a:p>
          </p:txBody>
        </p:sp>
        <p:grpSp>
          <p:nvGrpSpPr>
            <p:cNvPr id="5" name="Group 37"/>
            <p:cNvGrpSpPr/>
            <p:nvPr/>
          </p:nvGrpSpPr>
          <p:grpSpPr>
            <a:xfrm>
              <a:off x="6675402" y="2056639"/>
              <a:ext cx="1226902" cy="415498"/>
              <a:chOff x="5954814" y="2809528"/>
              <a:chExt cx="1226902" cy="415498"/>
            </a:xfrm>
          </p:grpSpPr>
          <p:sp>
            <p:nvSpPr>
              <p:cNvPr id="39" name="Oval 38"/>
              <p:cNvSpPr/>
              <p:nvPr/>
            </p:nvSpPr>
            <p:spPr>
              <a:xfrm>
                <a:off x="5954814" y="2809528"/>
                <a:ext cx="126014" cy="252029"/>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en-US" sz="1400"/>
              </a:p>
            </p:txBody>
          </p:sp>
          <p:sp>
            <p:nvSpPr>
              <p:cNvPr id="40" name="TextBox 39"/>
              <p:cNvSpPr txBox="1"/>
              <p:nvPr/>
            </p:nvSpPr>
            <p:spPr>
              <a:xfrm>
                <a:off x="6066100" y="2809528"/>
                <a:ext cx="1115616" cy="415498"/>
              </a:xfrm>
              <a:prstGeom prst="rect">
                <a:avLst/>
              </a:prstGeom>
              <a:noFill/>
            </p:spPr>
            <p:txBody>
              <a:bodyPr wrap="square" rtlCol="0">
                <a:spAutoFit/>
              </a:bodyPr>
              <a:lstStyle/>
              <a:p>
                <a:r>
                  <a:rPr lang="fi-FI" sz="1050" dirty="0" smtClean="0"/>
                  <a:t>Järjestelmätestauksen tuki, liiketoimintanäkökulma testauksessa</a:t>
                </a:r>
                <a:endParaRPr lang="en-US" sz="1400" dirty="0"/>
              </a:p>
            </p:txBody>
          </p:sp>
        </p:grpSp>
        <p:grpSp>
          <p:nvGrpSpPr>
            <p:cNvPr id="7" name="Group 40"/>
            <p:cNvGrpSpPr/>
            <p:nvPr/>
          </p:nvGrpSpPr>
          <p:grpSpPr>
            <a:xfrm>
              <a:off x="6538625" y="1768607"/>
              <a:ext cx="1293119" cy="415498"/>
              <a:chOff x="6106577" y="2856128"/>
              <a:chExt cx="1293119" cy="415498"/>
            </a:xfrm>
          </p:grpSpPr>
          <p:sp>
            <p:nvSpPr>
              <p:cNvPr id="42" name="Oval 41"/>
              <p:cNvSpPr/>
              <p:nvPr/>
            </p:nvSpPr>
            <p:spPr>
              <a:xfrm>
                <a:off x="6106577" y="2856128"/>
                <a:ext cx="126014" cy="252029"/>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en-US" sz="1400"/>
              </a:p>
            </p:txBody>
          </p:sp>
          <p:sp>
            <p:nvSpPr>
              <p:cNvPr id="43" name="TextBox 42"/>
              <p:cNvSpPr txBox="1"/>
              <p:nvPr/>
            </p:nvSpPr>
            <p:spPr>
              <a:xfrm>
                <a:off x="6211564" y="2856128"/>
                <a:ext cx="1188132" cy="415498"/>
              </a:xfrm>
              <a:prstGeom prst="rect">
                <a:avLst/>
              </a:prstGeom>
              <a:noFill/>
            </p:spPr>
            <p:txBody>
              <a:bodyPr wrap="square" rtlCol="0">
                <a:spAutoFit/>
              </a:bodyPr>
              <a:lstStyle/>
              <a:p>
                <a:r>
                  <a:rPr lang="fi-FI" sz="1050" dirty="0" smtClean="0"/>
                  <a:t>Testiympäristöjen käytön tarkastus</a:t>
                </a:r>
                <a:endParaRPr lang="en-US" sz="1400" dirty="0"/>
              </a:p>
            </p:txBody>
          </p:sp>
        </p:grpSp>
        <p:sp>
          <p:nvSpPr>
            <p:cNvPr id="46" name="TextBox 45"/>
            <p:cNvSpPr txBox="1"/>
            <p:nvPr/>
          </p:nvSpPr>
          <p:spPr>
            <a:xfrm>
              <a:off x="6843904" y="4216879"/>
              <a:ext cx="1115616" cy="415498"/>
            </a:xfrm>
            <a:prstGeom prst="rect">
              <a:avLst/>
            </a:prstGeom>
            <a:noFill/>
          </p:spPr>
          <p:txBody>
            <a:bodyPr wrap="square" rtlCol="0">
              <a:spAutoFit/>
            </a:bodyPr>
            <a:lstStyle/>
            <a:p>
              <a:r>
                <a:rPr lang="fi-FI" sz="1050" dirty="0" err="1" smtClean="0"/>
                <a:t>Koodiauditointi</a:t>
              </a:r>
              <a:r>
                <a:rPr lang="fi-FI" sz="1050" dirty="0" smtClean="0"/>
                <a:t> </a:t>
              </a:r>
              <a:br>
                <a:rPr lang="fi-FI" sz="1050" dirty="0" smtClean="0"/>
              </a:br>
              <a:r>
                <a:rPr lang="fi-FI" sz="1050" dirty="0" smtClean="0"/>
                <a:t>(ylläpidettävyys &amp; tietoturva)</a:t>
              </a:r>
              <a:endParaRPr lang="en-US" sz="1400" dirty="0"/>
            </a:p>
          </p:txBody>
        </p:sp>
        <p:grpSp>
          <p:nvGrpSpPr>
            <p:cNvPr id="14" name="Group 46"/>
            <p:cNvGrpSpPr/>
            <p:nvPr/>
          </p:nvGrpSpPr>
          <p:grpSpPr>
            <a:xfrm>
              <a:off x="7055584" y="3568807"/>
              <a:ext cx="1868588" cy="430887"/>
              <a:chOff x="1354061" y="3983110"/>
              <a:chExt cx="1868588" cy="430887"/>
            </a:xfrm>
          </p:grpSpPr>
          <p:sp>
            <p:nvSpPr>
              <p:cNvPr id="48" name="Oval 47"/>
              <p:cNvSpPr/>
              <p:nvPr/>
            </p:nvSpPr>
            <p:spPr>
              <a:xfrm>
                <a:off x="1354061" y="4019113"/>
                <a:ext cx="128452" cy="252029"/>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en-US" sz="1400"/>
              </a:p>
            </p:txBody>
          </p:sp>
          <p:sp>
            <p:nvSpPr>
              <p:cNvPr id="49" name="TextBox 48"/>
              <p:cNvSpPr txBox="1"/>
              <p:nvPr/>
            </p:nvSpPr>
            <p:spPr>
              <a:xfrm>
                <a:off x="1530461" y="3983110"/>
                <a:ext cx="1692188" cy="430887"/>
              </a:xfrm>
              <a:prstGeom prst="rect">
                <a:avLst/>
              </a:prstGeom>
              <a:noFill/>
            </p:spPr>
            <p:txBody>
              <a:bodyPr wrap="square" rtlCol="0">
                <a:spAutoFit/>
              </a:bodyPr>
              <a:lstStyle/>
              <a:p>
                <a:r>
                  <a:rPr lang="fi-FI" sz="1050" dirty="0" smtClean="0"/>
                  <a:t>Laatukustannusten vs. </a:t>
                </a:r>
                <a:br>
                  <a:rPr lang="fi-FI" sz="1050" dirty="0" smtClean="0"/>
                </a:br>
                <a:r>
                  <a:rPr lang="fi-FI" sz="1050" dirty="0" smtClean="0"/>
                  <a:t>tulosten tarkastelu</a:t>
                </a:r>
                <a:endParaRPr lang="en-US" sz="1050" dirty="0"/>
              </a:p>
            </p:txBody>
          </p:sp>
        </p:grpSp>
        <p:sp>
          <p:nvSpPr>
            <p:cNvPr id="58" name="TextBox 57"/>
            <p:cNvSpPr txBox="1"/>
            <p:nvPr/>
          </p:nvSpPr>
          <p:spPr>
            <a:xfrm>
              <a:off x="4824028" y="3212976"/>
              <a:ext cx="855636" cy="415498"/>
            </a:xfrm>
            <a:prstGeom prst="rect">
              <a:avLst/>
            </a:prstGeom>
            <a:noFill/>
          </p:spPr>
          <p:txBody>
            <a:bodyPr wrap="square" rtlCol="0">
              <a:spAutoFit/>
            </a:bodyPr>
            <a:lstStyle/>
            <a:p>
              <a:r>
                <a:rPr lang="fi-FI" sz="1050" dirty="0" smtClean="0"/>
                <a:t>Tarkennettujen vaatimusten</a:t>
              </a:r>
              <a:br>
                <a:rPr lang="fi-FI" sz="1050" dirty="0" smtClean="0"/>
              </a:br>
              <a:r>
                <a:rPr lang="fi-FI" sz="1050" dirty="0" smtClean="0"/>
                <a:t> hyväksyntä</a:t>
              </a:r>
              <a:endParaRPr lang="en-US" sz="1400" dirty="0"/>
            </a:p>
          </p:txBody>
        </p:sp>
        <p:sp>
          <p:nvSpPr>
            <p:cNvPr id="61" name="TextBox 60"/>
            <p:cNvSpPr txBox="1"/>
            <p:nvPr/>
          </p:nvSpPr>
          <p:spPr>
            <a:xfrm>
              <a:off x="4824028" y="3717032"/>
              <a:ext cx="714516" cy="415498"/>
            </a:xfrm>
            <a:prstGeom prst="rect">
              <a:avLst/>
            </a:prstGeom>
            <a:noFill/>
          </p:spPr>
          <p:txBody>
            <a:bodyPr wrap="square" rtlCol="0">
              <a:spAutoFit/>
            </a:bodyPr>
            <a:lstStyle/>
            <a:p>
              <a:r>
                <a:rPr lang="fi-FI" sz="1050" dirty="0" smtClean="0"/>
                <a:t>Määrittelyjen</a:t>
              </a:r>
              <a:br>
                <a:rPr lang="fi-FI" sz="1050" dirty="0" smtClean="0"/>
              </a:br>
              <a:r>
                <a:rPr lang="fi-FI" sz="1050" dirty="0" smtClean="0"/>
                <a:t>katselmointi</a:t>
              </a:r>
              <a:endParaRPr lang="en-US" sz="1400" dirty="0"/>
            </a:p>
          </p:txBody>
        </p:sp>
        <p:sp>
          <p:nvSpPr>
            <p:cNvPr id="70" name="TextBox 69"/>
            <p:cNvSpPr txBox="1"/>
            <p:nvPr/>
          </p:nvSpPr>
          <p:spPr>
            <a:xfrm>
              <a:off x="5058054" y="4077072"/>
              <a:ext cx="1080628" cy="577081"/>
            </a:xfrm>
            <a:prstGeom prst="rect">
              <a:avLst/>
            </a:prstGeom>
            <a:noFill/>
          </p:spPr>
          <p:txBody>
            <a:bodyPr wrap="square" rtlCol="0">
              <a:spAutoFit/>
            </a:bodyPr>
            <a:lstStyle/>
            <a:p>
              <a:r>
                <a:rPr lang="fi-FI" sz="1050" dirty="0" smtClean="0"/>
                <a:t>Toimittajan testauksen suunnitteluun </a:t>
              </a:r>
              <a:br>
                <a:rPr lang="fi-FI" sz="1050" dirty="0" smtClean="0"/>
              </a:br>
              <a:r>
                <a:rPr lang="fi-FI" sz="1050" dirty="0" smtClean="0"/>
                <a:t>osallistuminen</a:t>
              </a:r>
              <a:endParaRPr lang="en-US" sz="1400" dirty="0"/>
            </a:p>
          </p:txBody>
        </p:sp>
        <p:sp>
          <p:nvSpPr>
            <p:cNvPr id="76" name="TextBox 75"/>
            <p:cNvSpPr txBox="1"/>
            <p:nvPr/>
          </p:nvSpPr>
          <p:spPr>
            <a:xfrm>
              <a:off x="6045808" y="4432903"/>
              <a:ext cx="1115616" cy="415498"/>
            </a:xfrm>
            <a:prstGeom prst="rect">
              <a:avLst/>
            </a:prstGeom>
            <a:noFill/>
          </p:spPr>
          <p:txBody>
            <a:bodyPr wrap="square" rtlCol="0">
              <a:spAutoFit/>
            </a:bodyPr>
            <a:lstStyle/>
            <a:p>
              <a:r>
                <a:rPr lang="fi-FI" sz="1050" dirty="0" smtClean="0"/>
                <a:t>Arkkitehtuuri-</a:t>
              </a:r>
              <a:br>
                <a:rPr lang="fi-FI" sz="1050" dirty="0" smtClean="0"/>
              </a:br>
              <a:r>
                <a:rPr lang="fi-FI" sz="1050" dirty="0" smtClean="0"/>
                <a:t>ratkaisun katselmointi</a:t>
              </a:r>
              <a:endParaRPr lang="en-US" sz="1400" dirty="0"/>
            </a:p>
          </p:txBody>
        </p:sp>
        <p:cxnSp>
          <p:nvCxnSpPr>
            <p:cNvPr id="92" name="Straight Arrow Connector 91"/>
            <p:cNvCxnSpPr/>
            <p:nvPr/>
          </p:nvCxnSpPr>
          <p:spPr>
            <a:xfrm>
              <a:off x="7118180" y="3718193"/>
              <a:ext cx="7964" cy="237510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4" name="Straight Arrow Connector 93"/>
            <p:cNvCxnSpPr/>
            <p:nvPr/>
          </p:nvCxnSpPr>
          <p:spPr>
            <a:xfrm>
              <a:off x="6811960" y="4365612"/>
              <a:ext cx="3336" cy="172768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6" name="Straight Arrow Connector 95"/>
            <p:cNvCxnSpPr/>
            <p:nvPr/>
          </p:nvCxnSpPr>
          <p:spPr>
            <a:xfrm>
              <a:off x="6424894" y="4075041"/>
              <a:ext cx="0" cy="201825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8" name="Straight Arrow Connector 97"/>
            <p:cNvCxnSpPr/>
            <p:nvPr/>
          </p:nvCxnSpPr>
          <p:spPr>
            <a:xfrm>
              <a:off x="5988484" y="4722460"/>
              <a:ext cx="0" cy="13708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0" name="Straight Arrow Connector 99"/>
            <p:cNvCxnSpPr/>
            <p:nvPr/>
          </p:nvCxnSpPr>
          <p:spPr>
            <a:xfrm>
              <a:off x="6192311" y="3645024"/>
              <a:ext cx="0" cy="244827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2" name="Straight Arrow Connector 101"/>
            <p:cNvCxnSpPr/>
            <p:nvPr/>
          </p:nvCxnSpPr>
          <p:spPr>
            <a:xfrm flipH="1">
              <a:off x="4932041" y="4433920"/>
              <a:ext cx="6743" cy="165937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p:nvPr/>
          </p:nvCxnSpPr>
          <p:spPr>
            <a:xfrm flipH="1">
              <a:off x="4698014" y="3569824"/>
              <a:ext cx="11450" cy="252347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6" name="Straight Arrow Connector 105"/>
            <p:cNvCxnSpPr/>
            <p:nvPr/>
          </p:nvCxnSpPr>
          <p:spPr>
            <a:xfrm>
              <a:off x="7977458" y="2633720"/>
              <a:ext cx="4329" cy="3459576"/>
            </a:xfrm>
            <a:prstGeom prst="straightConnector1">
              <a:avLst/>
            </a:prstGeom>
            <a:ln>
              <a:tailEnd type="arrow"/>
            </a:ln>
          </p:spPr>
          <p:style>
            <a:lnRef idx="1">
              <a:schemeClr val="accent6"/>
            </a:lnRef>
            <a:fillRef idx="0">
              <a:schemeClr val="accent6"/>
            </a:fillRef>
            <a:effectRef idx="0">
              <a:schemeClr val="accent6"/>
            </a:effectRef>
            <a:fontRef idx="minor">
              <a:schemeClr val="tx1"/>
            </a:fontRef>
          </p:style>
        </p:cxnSp>
        <p:grpSp>
          <p:nvGrpSpPr>
            <p:cNvPr id="15" name="Group 115"/>
            <p:cNvGrpSpPr/>
            <p:nvPr/>
          </p:nvGrpSpPr>
          <p:grpSpPr>
            <a:xfrm>
              <a:off x="7161424" y="2920735"/>
              <a:ext cx="573892" cy="3172561"/>
              <a:chOff x="7269436" y="2920735"/>
              <a:chExt cx="573892" cy="3172561"/>
            </a:xfrm>
          </p:grpSpPr>
          <p:grpSp>
            <p:nvGrpSpPr>
              <p:cNvPr id="16" name="Group 110"/>
              <p:cNvGrpSpPr/>
              <p:nvPr/>
            </p:nvGrpSpPr>
            <p:grpSpPr>
              <a:xfrm>
                <a:off x="7269436" y="2920735"/>
                <a:ext cx="573892" cy="292241"/>
                <a:chOff x="1415513" y="3873222"/>
                <a:chExt cx="573892" cy="292241"/>
              </a:xfrm>
            </p:grpSpPr>
            <p:sp>
              <p:nvSpPr>
                <p:cNvPr id="112" name="Oval 111"/>
                <p:cNvSpPr/>
                <p:nvPr/>
              </p:nvSpPr>
              <p:spPr>
                <a:xfrm>
                  <a:off x="1415513" y="3873222"/>
                  <a:ext cx="126014" cy="252029"/>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en-US" sz="1400"/>
                </a:p>
              </p:txBody>
            </p:sp>
            <p:sp>
              <p:nvSpPr>
                <p:cNvPr id="113" name="TextBox 112"/>
                <p:cNvSpPr txBox="1"/>
                <p:nvPr/>
              </p:nvSpPr>
              <p:spPr>
                <a:xfrm>
                  <a:off x="1521353" y="3911547"/>
                  <a:ext cx="468052" cy="253916"/>
                </a:xfrm>
                <a:prstGeom prst="rect">
                  <a:avLst/>
                </a:prstGeom>
                <a:noFill/>
              </p:spPr>
              <p:txBody>
                <a:bodyPr wrap="square" rtlCol="0">
                  <a:spAutoFit/>
                </a:bodyPr>
                <a:lstStyle/>
                <a:p>
                  <a:r>
                    <a:rPr lang="fi-FI" sz="1050" dirty="0" smtClean="0"/>
                    <a:t>Luovutuskoe</a:t>
                  </a:r>
                  <a:endParaRPr lang="en-US" sz="1050" dirty="0"/>
                </a:p>
              </p:txBody>
            </p:sp>
          </p:grpSp>
          <p:cxnSp>
            <p:nvCxnSpPr>
              <p:cNvPr id="115" name="Straight Arrow Connector 114"/>
              <p:cNvCxnSpPr>
                <a:stCxn id="112" idx="4"/>
              </p:cNvCxnSpPr>
              <p:nvPr/>
            </p:nvCxnSpPr>
            <p:spPr>
              <a:xfrm>
                <a:off x="7332443" y="3172764"/>
                <a:ext cx="7552" cy="292053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nvGrpSpPr>
            <p:cNvPr id="17" name="Group 116"/>
            <p:cNvGrpSpPr/>
            <p:nvPr/>
          </p:nvGrpSpPr>
          <p:grpSpPr>
            <a:xfrm>
              <a:off x="6007939" y="2776719"/>
              <a:ext cx="935471" cy="415498"/>
              <a:chOff x="5503883" y="3202829"/>
              <a:chExt cx="935471" cy="415498"/>
            </a:xfrm>
          </p:grpSpPr>
          <p:sp>
            <p:nvSpPr>
              <p:cNvPr id="118" name="Oval 117"/>
              <p:cNvSpPr/>
              <p:nvPr/>
            </p:nvSpPr>
            <p:spPr>
              <a:xfrm>
                <a:off x="5503883" y="3248979"/>
                <a:ext cx="126014" cy="2520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9" name="TextBox 118"/>
              <p:cNvSpPr txBox="1"/>
              <p:nvPr/>
            </p:nvSpPr>
            <p:spPr>
              <a:xfrm>
                <a:off x="5610356" y="3202829"/>
                <a:ext cx="828998" cy="415498"/>
              </a:xfrm>
              <a:prstGeom prst="rect">
                <a:avLst/>
              </a:prstGeom>
              <a:noFill/>
            </p:spPr>
            <p:txBody>
              <a:bodyPr wrap="square" rtlCol="0">
                <a:spAutoFit/>
              </a:bodyPr>
              <a:lstStyle/>
              <a:p>
                <a:r>
                  <a:rPr lang="fi-FI" sz="1050" dirty="0" smtClean="0"/>
                  <a:t>Kehitysympäristön </a:t>
                </a:r>
                <a:br>
                  <a:rPr lang="fi-FI" sz="1050" dirty="0" smtClean="0"/>
                </a:br>
                <a:r>
                  <a:rPr lang="fi-FI" sz="1050" dirty="0" smtClean="0"/>
                  <a:t>käytön tarkastus</a:t>
                </a:r>
                <a:endParaRPr lang="en-US" sz="1400" dirty="0"/>
              </a:p>
            </p:txBody>
          </p:sp>
        </p:grpSp>
        <p:sp>
          <p:nvSpPr>
            <p:cNvPr id="87" name="Rounded Rectangle 86"/>
            <p:cNvSpPr/>
            <p:nvPr/>
          </p:nvSpPr>
          <p:spPr>
            <a:xfrm>
              <a:off x="4499992" y="4997259"/>
              <a:ext cx="4104456" cy="28010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050" dirty="0" smtClean="0"/>
                <a:t>Projektisuunnitelman ja vaatimusten muutoshallinta</a:t>
              </a:r>
              <a:endParaRPr lang="en-US" sz="1050" dirty="0"/>
            </a:p>
          </p:txBody>
        </p:sp>
      </p:grpSp>
      <p:sp>
        <p:nvSpPr>
          <p:cNvPr id="99" name="Oval 47"/>
          <p:cNvSpPr/>
          <p:nvPr/>
        </p:nvSpPr>
        <p:spPr>
          <a:xfrm>
            <a:off x="4453840" y="3477589"/>
            <a:ext cx="262176" cy="252029"/>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en-US" sz="1400"/>
          </a:p>
        </p:txBody>
      </p:sp>
      <p:sp>
        <p:nvSpPr>
          <p:cNvPr id="101" name="Oval 47"/>
          <p:cNvSpPr/>
          <p:nvPr/>
        </p:nvSpPr>
        <p:spPr>
          <a:xfrm>
            <a:off x="5237050" y="3999892"/>
            <a:ext cx="262176" cy="252029"/>
          </a:xfrm>
          <a:prstGeom prst="ellipse">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400">
              <a:solidFill>
                <a:schemeClr val="accent2"/>
              </a:solidFill>
            </a:endParaRPr>
          </a:p>
        </p:txBody>
      </p:sp>
      <p:sp>
        <p:nvSpPr>
          <p:cNvPr id="103" name="Oval 47"/>
          <p:cNvSpPr/>
          <p:nvPr/>
        </p:nvSpPr>
        <p:spPr>
          <a:xfrm>
            <a:off x="3563888" y="4143908"/>
            <a:ext cx="262176" cy="2520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5" name="Oval 47"/>
          <p:cNvSpPr/>
          <p:nvPr/>
        </p:nvSpPr>
        <p:spPr>
          <a:xfrm>
            <a:off x="971600" y="2991780"/>
            <a:ext cx="262176" cy="2520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7" name="Oval 47"/>
          <p:cNvSpPr/>
          <p:nvPr/>
        </p:nvSpPr>
        <p:spPr>
          <a:xfrm>
            <a:off x="953844" y="3495836"/>
            <a:ext cx="262176" cy="2520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8" name="Oval 47"/>
          <p:cNvSpPr/>
          <p:nvPr/>
        </p:nvSpPr>
        <p:spPr>
          <a:xfrm>
            <a:off x="1429504" y="3891881"/>
            <a:ext cx="262176" cy="252029"/>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en-US" sz="1400"/>
          </a:p>
        </p:txBody>
      </p:sp>
      <p:sp>
        <p:nvSpPr>
          <p:cNvPr id="81" name="Tekstiruutu 80"/>
          <p:cNvSpPr txBox="1"/>
          <p:nvPr/>
        </p:nvSpPr>
        <p:spPr>
          <a:xfrm>
            <a:off x="457200" y="6324600"/>
            <a:ext cx="8686800" cy="553998"/>
          </a:xfrm>
          <a:prstGeom prst="rect">
            <a:avLst/>
          </a:prstGeom>
          <a:noFill/>
        </p:spPr>
        <p:txBody>
          <a:bodyPr wrap="square" rtlCol="0">
            <a:spAutoFit/>
          </a:bodyPr>
          <a:lstStyle/>
          <a:p>
            <a:pPr algn="ctr"/>
            <a:r>
              <a:rPr lang="fi-FI" sz="1000" i="1" dirty="0" smtClean="0"/>
              <a:t>Toimittajalla tulee olla tarjota seuraavat laadunvarmistuskontrollit aikatauluun sovitettuna. Vihreiden tarkistuspisteiden osalta vastuu toimittajalla, joka laatii katsauksen omasta tilanteestaan ja asiakas reagoi raportin ja tarvittavien laajentavien toimenpiteiden pohjalta.   Vaaleansinisten tarkistuspisteiden osalta käytetään ulkoista arvioijaa toimittajan tukemana. Pinkki tarkistuspiste on asiakkaan vastuulla.</a:t>
            </a:r>
            <a:endParaRPr lang="fi-FI" sz="1000" i="1" dirty="0"/>
          </a:p>
        </p:txBody>
      </p:sp>
      <p:sp>
        <p:nvSpPr>
          <p:cNvPr id="110" name="Oval 38"/>
          <p:cNvSpPr/>
          <p:nvPr/>
        </p:nvSpPr>
        <p:spPr>
          <a:xfrm>
            <a:off x="7627168" y="2091681"/>
            <a:ext cx="257200" cy="252029"/>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1400">
              <a:solidFill>
                <a:schemeClr val="accent2"/>
              </a:solidFill>
            </a:endParaRPr>
          </a:p>
        </p:txBody>
      </p:sp>
      <p:cxnSp>
        <p:nvCxnSpPr>
          <p:cNvPr id="89" name="Suora nuoliyhdysviiva 88"/>
          <p:cNvCxnSpPr/>
          <p:nvPr/>
        </p:nvCxnSpPr>
        <p:spPr>
          <a:xfrm flipH="1">
            <a:off x="3849628" y="2749900"/>
            <a:ext cx="2292" cy="301839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1" name="Suora nuoliyhdysviiva 90"/>
          <p:cNvCxnSpPr/>
          <p:nvPr/>
        </p:nvCxnSpPr>
        <p:spPr>
          <a:xfrm>
            <a:off x="5220777" y="1983670"/>
            <a:ext cx="0" cy="346059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5" name="Suora nuoliyhdysviiva 94"/>
          <p:cNvCxnSpPr/>
          <p:nvPr/>
        </p:nvCxnSpPr>
        <p:spPr>
          <a:xfrm>
            <a:off x="4941609" y="1695638"/>
            <a:ext cx="4050" cy="40726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2" name="Oval 47"/>
          <p:cNvSpPr/>
          <p:nvPr/>
        </p:nvSpPr>
        <p:spPr>
          <a:xfrm>
            <a:off x="5508104" y="2235697"/>
            <a:ext cx="262176" cy="2520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3" name="TextBox 112"/>
          <p:cNvSpPr txBox="1"/>
          <p:nvPr/>
        </p:nvSpPr>
        <p:spPr>
          <a:xfrm>
            <a:off x="5724128" y="2163689"/>
            <a:ext cx="1152128" cy="415498"/>
          </a:xfrm>
          <a:prstGeom prst="rect">
            <a:avLst/>
          </a:prstGeom>
          <a:noFill/>
        </p:spPr>
        <p:txBody>
          <a:bodyPr wrap="square" rtlCol="0">
            <a:spAutoFit/>
          </a:bodyPr>
          <a:lstStyle/>
          <a:p>
            <a:r>
              <a:rPr lang="fi-FI" sz="1050" dirty="0" smtClean="0"/>
              <a:t>Toimintopiste-laskelma</a:t>
            </a:r>
            <a:endParaRPr lang="en-US" sz="1050" dirty="0"/>
          </a:p>
        </p:txBody>
      </p:sp>
      <p:cxnSp>
        <p:nvCxnSpPr>
          <p:cNvPr id="6" name="Suora nuoliyhdysviiva 5"/>
          <p:cNvCxnSpPr>
            <a:stCxn id="62" idx="4"/>
          </p:cNvCxnSpPr>
          <p:nvPr/>
        </p:nvCxnSpPr>
        <p:spPr>
          <a:xfrm>
            <a:off x="5639192" y="2487726"/>
            <a:ext cx="0" cy="328057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4" name="Slide Number Placeholder 63"/>
          <p:cNvSpPr>
            <a:spLocks noGrp="1"/>
          </p:cNvSpPr>
          <p:nvPr>
            <p:ph type="sldNum" sz="quarter" idx="12"/>
          </p:nvPr>
        </p:nvSpPr>
        <p:spPr/>
        <p:txBody>
          <a:bodyPr/>
          <a:lstStyle/>
          <a:p>
            <a:fld id="{1FC54B03-E980-44E0-A0F1-6CAD9D10ECFB}" type="slidenum">
              <a:rPr lang="fi-FI" smtClean="0"/>
              <a:pPr/>
              <a:t>90</a:t>
            </a:fld>
            <a:endParaRPr lang="fi-FI"/>
          </a:p>
        </p:txBody>
      </p:sp>
    </p:spTree>
    <p:extLst>
      <p:ext uri="{BB962C8B-B14F-4D97-AF65-F5344CB8AC3E}">
        <p14:creationId xmlns:p14="http://schemas.microsoft.com/office/powerpoint/2010/main" val="3939872606"/>
      </p:ext>
    </p:extLst>
  </p:cSld>
  <p:clrMapOvr>
    <a:masterClrMapping/>
  </p:clrMapOvr>
  <p:timing>
    <p:tnLst>
      <p:par>
        <p:cTn xmlns:p14="http://schemas.microsoft.com/office/powerpoint/2010/mai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isällön paikkamerkki 2"/>
          <p:cNvSpPr>
            <a:spLocks noGrp="1"/>
          </p:cNvSpPr>
          <p:nvPr>
            <p:ph idx="1"/>
          </p:nvPr>
        </p:nvSpPr>
        <p:spPr>
          <a:xfrm>
            <a:off x="457200" y="1447800"/>
            <a:ext cx="8077200" cy="4525963"/>
          </a:xfrm>
        </p:spPr>
        <p:txBody>
          <a:bodyPr>
            <a:noAutofit/>
          </a:bodyPr>
          <a:lstStyle/>
          <a:p>
            <a:r>
              <a:rPr lang="fi-FI" sz="1100" dirty="0" smtClean="0"/>
              <a:t>Tarkennettujen vaatimusten hyväksyntä</a:t>
            </a:r>
          </a:p>
          <a:p>
            <a:pPr lvl="1"/>
            <a:r>
              <a:rPr lang="fi-FI" sz="1050" dirty="0"/>
              <a:t>Tarkennetut katselmoidut vaatimukset hyväksytetään Ilmarisen projektin </a:t>
            </a:r>
            <a:r>
              <a:rPr lang="fi-FI" sz="1050" dirty="0" smtClean="0"/>
              <a:t>ohjausryhmällä</a:t>
            </a:r>
          </a:p>
          <a:p>
            <a:r>
              <a:rPr lang="fi-FI" sz="1100" dirty="0" smtClean="0"/>
              <a:t>Määrittelyjen katselmointi</a:t>
            </a:r>
          </a:p>
          <a:p>
            <a:pPr lvl="1"/>
            <a:r>
              <a:rPr lang="fi-FI" sz="1050" dirty="0" smtClean="0"/>
              <a:t>Määrittelyt katselmoidaan pyrkien varmistamaan että ne vastaavat vaatimuksia. Vastuu oikeellisuudesta toimittajalla, vastaavuus vaatimuksiin todennetaan hyväksymistestissä. </a:t>
            </a:r>
          </a:p>
          <a:p>
            <a:r>
              <a:rPr lang="fi-FI" sz="1100" dirty="0" smtClean="0"/>
              <a:t>Toimittajan testauksen suunnitteluun osallistuminen</a:t>
            </a:r>
          </a:p>
          <a:p>
            <a:pPr lvl="1"/>
            <a:r>
              <a:rPr lang="fi-FI" sz="1050" dirty="0" smtClean="0"/>
              <a:t>Kokonaisuuden suunnittelun aluksi yhteinen työpaja, lopuksi toimittajan kokonaistestaussuunnitelman katselmointi suhteessa vaatimuksiin.</a:t>
            </a:r>
          </a:p>
          <a:p>
            <a:r>
              <a:rPr lang="fi-FI" sz="1100" dirty="0" smtClean="0"/>
              <a:t>Arkkitehtuuriratkaisun katselmointi</a:t>
            </a:r>
          </a:p>
          <a:p>
            <a:pPr lvl="1"/>
            <a:r>
              <a:rPr lang="fi-FI" sz="1050" dirty="0" err="1" smtClean="0"/>
              <a:t>Arkkitehtuuriratkaisu(t</a:t>
            </a:r>
            <a:r>
              <a:rPr lang="fi-FI" sz="1050" dirty="0" smtClean="0"/>
              <a:t>) katselmoimaan pyrkien varmistamaan että ne vastaavat vaatimuksia. Vastaavuus </a:t>
            </a:r>
            <a:r>
              <a:rPr lang="fi-FI" sz="1050" dirty="0"/>
              <a:t>vaatimuksiin todennetaan hyväksymistestissä. </a:t>
            </a:r>
          </a:p>
          <a:p>
            <a:r>
              <a:rPr lang="fi-FI" sz="1100" dirty="0" smtClean="0"/>
              <a:t>Järjestelmätestien katselmointi (sis. </a:t>
            </a:r>
            <a:r>
              <a:rPr lang="fi-FI" sz="1100" dirty="0"/>
              <a:t>a</a:t>
            </a:r>
            <a:r>
              <a:rPr lang="fi-FI" sz="1100" dirty="0" smtClean="0"/>
              <a:t>ineistot)</a:t>
            </a:r>
          </a:p>
          <a:p>
            <a:pPr lvl="1"/>
            <a:r>
              <a:rPr lang="fi-FI" sz="1050" dirty="0" smtClean="0"/>
              <a:t>Testitapauksia ja aineistoja työstetään tarvittaessa toimittajan ohjauksessa työpajoissa ja suunnitellut järjestelmätestit katselmoidaan pyrkien varmistamaan kohdistusta ja riittävyyttä. Testauksen tuloksien vastaavuus vaatimuksiin todennetaan hyväksymistestissä.</a:t>
            </a:r>
          </a:p>
          <a:p>
            <a:r>
              <a:rPr lang="fi-FI" sz="1100" dirty="0" smtClean="0"/>
              <a:t>Havaintoprosessin laadun tarkastus</a:t>
            </a:r>
          </a:p>
          <a:p>
            <a:pPr lvl="1"/>
            <a:r>
              <a:rPr lang="fi-FI" sz="1050" dirty="0" smtClean="0"/>
              <a:t>Havaintoprosessin laadusta tarkastetaan 1) kirjattujen havaintojen selkeys otoksena ja 2) prosessinmukaisten tilojen ja kenttien käyttö mittarien pohjatietona. </a:t>
            </a:r>
          </a:p>
          <a:p>
            <a:r>
              <a:rPr lang="fi-FI" sz="1100" dirty="0" err="1" smtClean="0"/>
              <a:t>Koodiauditointi</a:t>
            </a:r>
            <a:endParaRPr lang="fi-FI" sz="1100" dirty="0" smtClean="0"/>
          </a:p>
          <a:p>
            <a:pPr lvl="1"/>
            <a:r>
              <a:rPr lang="fi-FI" sz="1050" dirty="0" smtClean="0"/>
              <a:t>Koodi </a:t>
            </a:r>
            <a:r>
              <a:rPr lang="fi-FI" sz="1050" dirty="0" err="1" smtClean="0"/>
              <a:t>auditoidaan</a:t>
            </a:r>
            <a:r>
              <a:rPr lang="fi-FI" sz="1050" dirty="0" smtClean="0"/>
              <a:t> Ilmarisen toimeksiannolla tietoturva ja ylläpidettävyys –näkökulmista. Koodilla tarkoitetaan sekä tuotanto- että testikoodia.  Toimittaja voi ehdottaa järkevät aikataulut palautteelle siten että siihen kyetään reagoimaan.</a:t>
            </a:r>
          </a:p>
          <a:p>
            <a:r>
              <a:rPr lang="fi-FI" sz="1100" dirty="0" smtClean="0"/>
              <a:t>Laatukustannusten vs. tulosten tarkastelu</a:t>
            </a:r>
          </a:p>
          <a:p>
            <a:pPr lvl="1"/>
            <a:r>
              <a:rPr lang="fi-FI" sz="1050" dirty="0" smtClean="0"/>
              <a:t>Testauksen ja virheiden kustannukset suhteessa testauksen tuloksiin käydään läpi yhdessä. Niille voidaan asettaa toimittajan kanssa yhteistyössä tavoitearvot. </a:t>
            </a:r>
          </a:p>
          <a:p>
            <a:endParaRPr lang="fi-FI" sz="1100" dirty="0" smtClean="0"/>
          </a:p>
          <a:p>
            <a:endParaRPr lang="fi-FI" sz="1100" dirty="0" smtClean="0"/>
          </a:p>
          <a:p>
            <a:endParaRPr lang="fi-FI" sz="1100" dirty="0" smtClean="0"/>
          </a:p>
          <a:p>
            <a:endParaRPr lang="fi-FI" sz="1100" dirty="0"/>
          </a:p>
        </p:txBody>
      </p:sp>
      <p:sp>
        <p:nvSpPr>
          <p:cNvPr id="2" name="Otsikko 1"/>
          <p:cNvSpPr>
            <a:spLocks noGrp="1"/>
          </p:cNvSpPr>
          <p:nvPr>
            <p:ph type="title"/>
          </p:nvPr>
        </p:nvSpPr>
        <p:spPr/>
        <p:txBody>
          <a:bodyPr/>
          <a:lstStyle/>
          <a:p>
            <a:r>
              <a:rPr lang="fi-FI" dirty="0" smtClean="0"/>
              <a:t>Dokumentaation laadunvarmistus</a:t>
            </a:r>
            <a:endParaRPr lang="fi-FI" dirty="0"/>
          </a:p>
        </p:txBody>
      </p:sp>
      <p:sp>
        <p:nvSpPr>
          <p:cNvPr id="8" name="Slide Number Placeholder 7"/>
          <p:cNvSpPr>
            <a:spLocks noGrp="1"/>
          </p:cNvSpPr>
          <p:nvPr>
            <p:ph type="sldNum" sz="quarter" idx="12"/>
          </p:nvPr>
        </p:nvSpPr>
        <p:spPr/>
        <p:txBody>
          <a:bodyPr/>
          <a:lstStyle/>
          <a:p>
            <a:fld id="{1FC54B03-E980-44E0-A0F1-6CAD9D10ECFB}" type="slidenum">
              <a:rPr lang="fi-FI" smtClean="0"/>
              <a:pPr/>
              <a:t>91</a:t>
            </a:fld>
            <a:endParaRPr lang="fi-FI"/>
          </a:p>
        </p:txBody>
      </p:sp>
    </p:spTree>
    <p:extLst>
      <p:ext uri="{BB962C8B-B14F-4D97-AF65-F5344CB8AC3E}">
        <p14:creationId xmlns:p14="http://schemas.microsoft.com/office/powerpoint/2010/main" val="3191759938"/>
      </p:ext>
    </p:extLst>
  </p:cSld>
  <p:clrMapOvr>
    <a:masterClrMapping/>
  </p:clrMapOvr>
  <p:timing>
    <p:tnLst>
      <p:par>
        <p:cTn xmlns:p14="http://schemas.microsoft.com/office/powerpoint/2010/mai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isällön paikkamerkki 2"/>
          <p:cNvSpPr>
            <a:spLocks noGrp="1"/>
          </p:cNvSpPr>
          <p:nvPr>
            <p:ph idx="1"/>
          </p:nvPr>
        </p:nvSpPr>
        <p:spPr>
          <a:xfrm>
            <a:off x="457200" y="1219200"/>
            <a:ext cx="7924800" cy="4937760"/>
          </a:xfrm>
        </p:spPr>
        <p:txBody>
          <a:bodyPr>
            <a:noAutofit/>
          </a:bodyPr>
          <a:lstStyle/>
          <a:p>
            <a:r>
              <a:rPr lang="fi-FI" sz="1600" dirty="0" smtClean="0"/>
              <a:t>Kehitysympäristön käytön tarkastus</a:t>
            </a:r>
          </a:p>
          <a:p>
            <a:pPr lvl="1"/>
            <a:r>
              <a:rPr lang="fi-FI" sz="1200" dirty="0" smtClean="0"/>
              <a:t>Toimittajan yhteenveto kehitysympäristön vaatimusten mukaisesta käytöstä (yksikkötestausautomaatio, kattavuus, koodin laatu), erillinen liite. </a:t>
            </a:r>
          </a:p>
          <a:p>
            <a:pPr lvl="1"/>
            <a:r>
              <a:rPr lang="fi-FI" sz="1200" dirty="0" smtClean="0"/>
              <a:t>Mittareina kehitysympäristöön sovitut ja tehdyt toimitukset</a:t>
            </a:r>
          </a:p>
          <a:p>
            <a:r>
              <a:rPr lang="fi-FI" sz="1600" dirty="0" smtClean="0"/>
              <a:t>Testiympäristöjen käytön tarkastus</a:t>
            </a:r>
          </a:p>
          <a:p>
            <a:pPr lvl="1"/>
            <a:r>
              <a:rPr lang="fi-FI" sz="1200" dirty="0" smtClean="0"/>
              <a:t>Toimittajan yhteenveto testiympäristöjen vaatimusten mukaisesta käytöstä</a:t>
            </a:r>
          </a:p>
          <a:p>
            <a:pPr lvl="1"/>
            <a:r>
              <a:rPr lang="fi-FI" sz="1200" dirty="0" smtClean="0"/>
              <a:t>Mittareina muille projekteille aiheutuneet häiriöt, ulkoisista seikoista aiheutuneet häiriöt; näkökulmana toimitusprojekti ja sen saama palaute</a:t>
            </a:r>
          </a:p>
          <a:p>
            <a:r>
              <a:rPr lang="fi-FI" sz="1600" dirty="0" smtClean="0"/>
              <a:t>Järjestelmätestauksen tuki, liiketoimintanäkökulma testauksessa</a:t>
            </a:r>
          </a:p>
          <a:p>
            <a:pPr lvl="1"/>
            <a:r>
              <a:rPr lang="fi-FI" sz="1200" dirty="0" smtClean="0"/>
              <a:t>Suppea suunniteltu liiketoimintatestaajien hyödyntäminen esim. paritestauksessa</a:t>
            </a:r>
          </a:p>
          <a:p>
            <a:r>
              <a:rPr lang="fi-FI" sz="1600" dirty="0"/>
              <a:t>Toimintopistelaskelma</a:t>
            </a:r>
          </a:p>
          <a:p>
            <a:pPr lvl="1"/>
            <a:r>
              <a:rPr lang="fi-FI" sz="1200" dirty="0"/>
              <a:t>Sovellushallinnan mitoituksen syötteeksi tuotettava </a:t>
            </a:r>
            <a:r>
              <a:rPr lang="fi-FI" sz="1200" dirty="0" smtClean="0"/>
              <a:t>toimintopistelaskelma (FPA / </a:t>
            </a:r>
            <a:r>
              <a:rPr lang="fi-FI" sz="1200" dirty="0" err="1" smtClean="0"/>
              <a:t>Function</a:t>
            </a:r>
            <a:r>
              <a:rPr lang="fi-FI" sz="1200" dirty="0" smtClean="0"/>
              <a:t> </a:t>
            </a:r>
            <a:r>
              <a:rPr lang="fi-FI" sz="1200" dirty="0" err="1" smtClean="0"/>
              <a:t>Point</a:t>
            </a:r>
            <a:r>
              <a:rPr lang="fi-FI" sz="1200" dirty="0" smtClean="0"/>
              <a:t> Analysis). Paketoituun menetelmään kuuluvat kertoimet voidaan rajata ja tuottaa menetelmän tarvittavat toimittajan hallussa olevat tiedot riittävän dokumentaation pohjalta.</a:t>
            </a:r>
            <a:endParaRPr lang="fi-FI" sz="1200" dirty="0"/>
          </a:p>
          <a:p>
            <a:pPr lvl="1"/>
            <a:r>
              <a:rPr lang="fi-FI" sz="1200" dirty="0" smtClean="0"/>
              <a:t>Asiakas tarkastaa laskelman.</a:t>
            </a:r>
          </a:p>
          <a:p>
            <a:r>
              <a:rPr lang="fi-FI" sz="1600" dirty="0" smtClean="0"/>
              <a:t>Luovutuskoe</a:t>
            </a:r>
          </a:p>
          <a:p>
            <a:pPr lvl="1"/>
            <a:r>
              <a:rPr lang="fi-FI" sz="1200" dirty="0" smtClean="0"/>
              <a:t>Yhteenveto toimittajan testauksesta suhteessa testausvaatimuksiin (Vaatimukset tietojärjestelmätoimituksen laadunvarmistukselle)</a:t>
            </a:r>
          </a:p>
          <a:p>
            <a:pPr lvl="1"/>
            <a:r>
              <a:rPr lang="fi-FI" sz="1200" dirty="0" smtClean="0"/>
              <a:t>Todisteet testauksesta sekä virheettömän luovutuksen tekemisestä</a:t>
            </a:r>
            <a:endParaRPr lang="fi-FI" sz="1200" dirty="0"/>
          </a:p>
        </p:txBody>
      </p:sp>
      <p:sp>
        <p:nvSpPr>
          <p:cNvPr id="2" name="Otsikko 1"/>
          <p:cNvSpPr>
            <a:spLocks noGrp="1"/>
          </p:cNvSpPr>
          <p:nvPr>
            <p:ph type="title"/>
          </p:nvPr>
        </p:nvSpPr>
        <p:spPr/>
        <p:txBody>
          <a:bodyPr/>
          <a:lstStyle/>
          <a:p>
            <a:r>
              <a:rPr lang="fi-FI" dirty="0" smtClean="0"/>
              <a:t>Järjestelmän laadunvarmistus</a:t>
            </a:r>
            <a:endParaRPr lang="fi-FI" dirty="0"/>
          </a:p>
        </p:txBody>
      </p:sp>
      <p:sp>
        <p:nvSpPr>
          <p:cNvPr id="6" name="Slide Number Placeholder 5"/>
          <p:cNvSpPr>
            <a:spLocks noGrp="1"/>
          </p:cNvSpPr>
          <p:nvPr>
            <p:ph type="sldNum" sz="quarter" idx="12"/>
          </p:nvPr>
        </p:nvSpPr>
        <p:spPr/>
        <p:txBody>
          <a:bodyPr/>
          <a:lstStyle/>
          <a:p>
            <a:fld id="{1FC54B03-E980-44E0-A0F1-6CAD9D10ECFB}" type="slidenum">
              <a:rPr lang="fi-FI" smtClean="0"/>
              <a:pPr/>
              <a:t>92</a:t>
            </a:fld>
            <a:endParaRPr lang="fi-FI"/>
          </a:p>
        </p:txBody>
      </p:sp>
    </p:spTree>
    <p:extLst>
      <p:ext uri="{BB962C8B-B14F-4D97-AF65-F5344CB8AC3E}">
        <p14:creationId xmlns:p14="http://schemas.microsoft.com/office/powerpoint/2010/main" val="4258221185"/>
      </p:ext>
    </p:extLst>
  </p:cSld>
  <p:clrMapOvr>
    <a:masterClrMapping/>
  </p:clrMapOvr>
  <p:timing>
    <p:tnLst>
      <p:par>
        <p:cTn xmlns:p14="http://schemas.microsoft.com/office/powerpoint/2010/mai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noAutofit/>
          </a:bodyPr>
          <a:lstStyle/>
          <a:p>
            <a:r>
              <a:rPr lang="fi-FI" dirty="0"/>
              <a:t>Esimerkki: Projektin kokonaistestauksen laatukriteeristö</a:t>
            </a:r>
            <a:endParaRPr lang="en-US" dirty="0"/>
          </a:p>
        </p:txBody>
      </p:sp>
      <p:sp>
        <p:nvSpPr>
          <p:cNvPr id="3075" name="Rectangle 3"/>
          <p:cNvSpPr>
            <a:spLocks noGrp="1" noChangeArrowheads="1"/>
          </p:cNvSpPr>
          <p:nvPr>
            <p:ph sz="quarter" idx="1"/>
          </p:nvPr>
        </p:nvSpPr>
        <p:spPr/>
        <p:txBody>
          <a:bodyPr/>
          <a:lstStyle/>
          <a:p>
            <a:pPr>
              <a:lnSpc>
                <a:spcPct val="90000"/>
              </a:lnSpc>
            </a:pPr>
            <a:r>
              <a:rPr lang="fi-FI" sz="1200"/>
              <a:t>TULOKSET</a:t>
            </a:r>
          </a:p>
          <a:p>
            <a:pPr marL="692150" lvl="1" indent="-347663">
              <a:lnSpc>
                <a:spcPct val="90000"/>
              </a:lnSpc>
            </a:pPr>
            <a:r>
              <a:rPr lang="fi-FI" sz="1200"/>
              <a:t>Merkittävät virheet löytyvät toimittajan testausvaiheissa</a:t>
            </a:r>
          </a:p>
          <a:p>
            <a:pPr marL="692150" lvl="1" indent="-347663">
              <a:lnSpc>
                <a:spcPct val="90000"/>
              </a:lnSpc>
            </a:pPr>
            <a:r>
              <a:rPr lang="fi-FI" sz="1200"/>
              <a:t>Toimittajan testausvaiheet kattavat järjestelmien toiminnallisuuden suhteessa muutoksiin tavalla joka antaa varmuuden tuotantoon siirrolle</a:t>
            </a:r>
          </a:p>
          <a:p>
            <a:pPr>
              <a:lnSpc>
                <a:spcPct val="90000"/>
              </a:lnSpc>
            </a:pPr>
            <a:r>
              <a:rPr lang="fi-FI" sz="1200"/>
              <a:t>TUKI AIKATAULUPIDOLLE</a:t>
            </a:r>
          </a:p>
          <a:p>
            <a:pPr marL="692150" lvl="1" indent="-347663">
              <a:lnSpc>
                <a:spcPct val="90000"/>
              </a:lnSpc>
            </a:pPr>
            <a:r>
              <a:rPr lang="fi-FI" sz="1200"/>
              <a:t>Testauksen suoritusjärjestys optimoi toipumiskykyä virhekorjausten vaikutuksille projektiaikatauluun nähden</a:t>
            </a:r>
          </a:p>
          <a:p>
            <a:pPr>
              <a:lnSpc>
                <a:spcPct val="90000"/>
              </a:lnSpc>
            </a:pPr>
            <a:r>
              <a:rPr lang="fi-FI" sz="1200"/>
              <a:t>TESTAUKSEN KUSTANNUKSET</a:t>
            </a:r>
          </a:p>
          <a:p>
            <a:pPr marL="692150" lvl="1" indent="-347663">
              <a:lnSpc>
                <a:spcPct val="90000"/>
              </a:lnSpc>
            </a:pPr>
            <a:r>
              <a:rPr lang="fi-FI" sz="1200"/>
              <a:t>Toteutuksesta erotetun testauksen kustannukset eivät ylitä 25 % kokonaiskustannuksista (määrittely + toteutus)</a:t>
            </a:r>
          </a:p>
          <a:p>
            <a:pPr marL="692150" lvl="1" indent="-347663">
              <a:lnSpc>
                <a:spcPct val="90000"/>
              </a:lnSpc>
            </a:pPr>
            <a:r>
              <a:rPr lang="fi-FI" sz="1200"/>
              <a:t>Työmäärän käyttöä ja ositusta seurataan aktiivisesti pyrkien optimoimaan kustannusta</a:t>
            </a:r>
          </a:p>
          <a:p>
            <a:pPr>
              <a:lnSpc>
                <a:spcPct val="90000"/>
              </a:lnSpc>
            </a:pPr>
            <a:r>
              <a:rPr lang="fi-FI" sz="1200"/>
              <a:t>NÄKYVYYS ETENEMISELLE</a:t>
            </a:r>
          </a:p>
          <a:p>
            <a:pPr marL="692150" lvl="1" indent="-347663">
              <a:lnSpc>
                <a:spcPct val="90000"/>
              </a:lnSpc>
            </a:pPr>
            <a:r>
              <a:rPr lang="fi-FI" sz="1200"/>
              <a:t>Testauksen todellinen eteneminen on asiakkaalle ja projektille näkyvissä</a:t>
            </a:r>
          </a:p>
          <a:p>
            <a:pPr marL="692150" lvl="1" indent="-347663">
              <a:lnSpc>
                <a:spcPct val="90000"/>
              </a:lnSpc>
            </a:pPr>
            <a:r>
              <a:rPr lang="fi-FI" sz="1200"/>
              <a:t>Testauksen tila vastaa kokonaisprojektin tilaa</a:t>
            </a:r>
          </a:p>
          <a:p>
            <a:pPr>
              <a:lnSpc>
                <a:spcPct val="90000"/>
              </a:lnSpc>
            </a:pPr>
            <a:r>
              <a:rPr lang="fi-FI" sz="1200"/>
              <a:t>NÄKYVYYS TESTAUKSEN HYÖDYLLE</a:t>
            </a:r>
          </a:p>
          <a:p>
            <a:pPr marL="692150" lvl="1" indent="-347663">
              <a:lnSpc>
                <a:spcPct val="90000"/>
              </a:lnSpc>
            </a:pPr>
            <a:r>
              <a:rPr lang="fi-FI" sz="1200"/>
              <a:t>Tulokset suhteessa kustannuksiin ovat näkyvillä</a:t>
            </a:r>
          </a:p>
          <a:p>
            <a:pPr>
              <a:lnSpc>
                <a:spcPct val="90000"/>
              </a:lnSpc>
            </a:pPr>
            <a:r>
              <a:rPr lang="fi-FI" sz="1200"/>
              <a:t>TYÖMÄÄRÄKOHDISTUSTEN ENNUSTETTAVUUS</a:t>
            </a:r>
          </a:p>
          <a:p>
            <a:pPr marL="692150" lvl="1" indent="-347663">
              <a:lnSpc>
                <a:spcPct val="90000"/>
              </a:lnSpc>
            </a:pPr>
            <a:r>
              <a:rPr lang="fi-FI" sz="1200"/>
              <a:t>Tulokset ja kokonaiskustannukset vastaavat odotettua</a:t>
            </a:r>
          </a:p>
          <a:p>
            <a:pPr marL="692150" lvl="1" indent="-347663">
              <a:lnSpc>
                <a:spcPct val="90000"/>
              </a:lnSpc>
            </a:pPr>
            <a:r>
              <a:rPr lang="fi-FI" sz="1200"/>
              <a:t>Järjestelmäkohtaisesti toteutuneille työmäärille on perusteet</a:t>
            </a:r>
          </a:p>
          <a:p>
            <a:pPr>
              <a:lnSpc>
                <a:spcPct val="90000"/>
              </a:lnSpc>
            </a:pPr>
            <a:r>
              <a:rPr lang="fi-FI" sz="1200"/>
              <a:t>PROAKTIIVISUUS</a:t>
            </a:r>
          </a:p>
          <a:p>
            <a:pPr marL="692150" lvl="1" indent="-347663">
              <a:lnSpc>
                <a:spcPct val="90000"/>
              </a:lnSpc>
            </a:pPr>
            <a:r>
              <a:rPr lang="fi-FI" sz="1200"/>
              <a:t>Toimintaa kehitetään projektin puitteissa työmääriä ja aikatauluja vaarantamatta</a:t>
            </a:r>
          </a:p>
          <a:p>
            <a:pPr marL="692150" lvl="1" indent="-347663">
              <a:lnSpc>
                <a:spcPct val="90000"/>
              </a:lnSpc>
            </a:pPr>
            <a:r>
              <a:rPr lang="fi-FI" sz="1200"/>
              <a:t>Projektin tuloksena löydetään projektin ulkopuolelle jääviä parannuskohteita</a:t>
            </a:r>
          </a:p>
        </p:txBody>
      </p:sp>
      <p:sp>
        <p:nvSpPr>
          <p:cNvPr id="4" name="Slide Number Placeholder 3"/>
          <p:cNvSpPr>
            <a:spLocks noGrp="1"/>
          </p:cNvSpPr>
          <p:nvPr>
            <p:ph type="sldNum" sz="quarter" idx="12"/>
          </p:nvPr>
        </p:nvSpPr>
        <p:spPr/>
        <p:txBody>
          <a:bodyPr/>
          <a:lstStyle/>
          <a:p>
            <a:fld id="{1FC54B03-E980-44E0-A0F1-6CAD9D10ECFB}" type="slidenum">
              <a:rPr lang="fi-FI" smtClean="0"/>
              <a:pPr/>
              <a:t>93</a:t>
            </a:fld>
            <a:endParaRPr lang="fi-FI"/>
          </a:p>
        </p:txBody>
      </p:sp>
    </p:spTree>
  </p:cSld>
  <p:clrMapOvr>
    <a:masterClrMapping/>
  </p:clrMapOvr>
  <p:timing>
    <p:tnLst>
      <p:par>
        <p:cTn xmlns:p14="http://schemas.microsoft.com/office/powerpoint/2010/mai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fi-FI" dirty="0" smtClean="0"/>
              <a:t>Vaiheittainen kehitysmalli &amp; muutoshallinnan henki</a:t>
            </a:r>
            <a:endParaRPr lang="en-US" dirty="0"/>
          </a:p>
        </p:txBody>
      </p:sp>
      <p:sp>
        <p:nvSpPr>
          <p:cNvPr id="5" name="Rectangle 4"/>
          <p:cNvSpPr/>
          <p:nvPr/>
        </p:nvSpPr>
        <p:spPr>
          <a:xfrm>
            <a:off x="179512" y="2276872"/>
            <a:ext cx="3168352"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Toteutuserä 1</a:t>
            </a:r>
            <a:endParaRPr lang="en-US" dirty="0"/>
          </a:p>
        </p:txBody>
      </p:sp>
      <p:sp>
        <p:nvSpPr>
          <p:cNvPr id="6" name="Rectangle 5"/>
          <p:cNvSpPr/>
          <p:nvPr/>
        </p:nvSpPr>
        <p:spPr>
          <a:xfrm>
            <a:off x="3347864" y="2276872"/>
            <a:ext cx="576064" cy="57606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i-FI" dirty="0" smtClean="0"/>
              <a:t>HT</a:t>
            </a:r>
            <a:endParaRPr lang="en-US" dirty="0"/>
          </a:p>
        </p:txBody>
      </p:sp>
      <p:sp>
        <p:nvSpPr>
          <p:cNvPr id="7" name="Rectangle 6"/>
          <p:cNvSpPr/>
          <p:nvPr/>
        </p:nvSpPr>
        <p:spPr>
          <a:xfrm>
            <a:off x="2339752" y="2996952"/>
            <a:ext cx="2304256"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Toteutuserä 2</a:t>
            </a:r>
            <a:endParaRPr lang="en-US" dirty="0"/>
          </a:p>
        </p:txBody>
      </p:sp>
      <p:sp>
        <p:nvSpPr>
          <p:cNvPr id="8" name="Rectangle 7"/>
          <p:cNvSpPr/>
          <p:nvPr/>
        </p:nvSpPr>
        <p:spPr>
          <a:xfrm>
            <a:off x="4644008" y="2996952"/>
            <a:ext cx="576064" cy="57606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i-FI" dirty="0" smtClean="0"/>
              <a:t>HT</a:t>
            </a:r>
            <a:endParaRPr lang="en-US" dirty="0"/>
          </a:p>
        </p:txBody>
      </p:sp>
      <p:sp>
        <p:nvSpPr>
          <p:cNvPr id="9" name="Rectangle 8"/>
          <p:cNvSpPr/>
          <p:nvPr/>
        </p:nvSpPr>
        <p:spPr>
          <a:xfrm>
            <a:off x="3059832" y="3717032"/>
            <a:ext cx="3168352"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Toteutuserä 3</a:t>
            </a:r>
            <a:endParaRPr lang="en-US" dirty="0"/>
          </a:p>
        </p:txBody>
      </p:sp>
      <p:sp>
        <p:nvSpPr>
          <p:cNvPr id="10" name="Rectangle 9"/>
          <p:cNvSpPr/>
          <p:nvPr/>
        </p:nvSpPr>
        <p:spPr>
          <a:xfrm>
            <a:off x="6228184" y="3717032"/>
            <a:ext cx="576064" cy="57606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i-FI" dirty="0" smtClean="0"/>
              <a:t>HT</a:t>
            </a:r>
            <a:endParaRPr lang="en-US" dirty="0"/>
          </a:p>
        </p:txBody>
      </p:sp>
      <p:sp>
        <p:nvSpPr>
          <p:cNvPr id="11" name="Rectangle 10"/>
          <p:cNvSpPr/>
          <p:nvPr/>
        </p:nvSpPr>
        <p:spPr>
          <a:xfrm>
            <a:off x="6804248" y="4653136"/>
            <a:ext cx="1584176" cy="129614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i-FI" dirty="0" smtClean="0"/>
              <a:t>Ylläpito (tuotannon alusta)</a:t>
            </a:r>
            <a:endParaRPr lang="en-US" dirty="0"/>
          </a:p>
        </p:txBody>
      </p:sp>
      <p:cxnSp>
        <p:nvCxnSpPr>
          <p:cNvPr id="15" name="Elbow Connector 14"/>
          <p:cNvCxnSpPr>
            <a:stCxn id="6" idx="3"/>
            <a:endCxn id="6" idx="0"/>
          </p:cNvCxnSpPr>
          <p:nvPr/>
        </p:nvCxnSpPr>
        <p:spPr>
          <a:xfrm flipH="1" flipV="1">
            <a:off x="3635896" y="2276872"/>
            <a:ext cx="288032" cy="288032"/>
          </a:xfrm>
          <a:prstGeom prst="bentConnector4">
            <a:avLst>
              <a:gd name="adj1" fmla="val -79366"/>
              <a:gd name="adj2" fmla="val 179366"/>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3626543" y="1772816"/>
            <a:ext cx="585417" cy="307777"/>
          </a:xfrm>
          <a:prstGeom prst="rect">
            <a:avLst/>
          </a:prstGeom>
          <a:noFill/>
        </p:spPr>
        <p:txBody>
          <a:bodyPr wrap="none" rtlCol="0">
            <a:spAutoFit/>
          </a:bodyPr>
          <a:lstStyle/>
          <a:p>
            <a:r>
              <a:rPr lang="fi-FI" sz="1400" dirty="0" smtClean="0"/>
              <a:t>Virhe</a:t>
            </a:r>
            <a:endParaRPr lang="en-US" sz="1400" dirty="0"/>
          </a:p>
        </p:txBody>
      </p:sp>
      <p:sp>
        <p:nvSpPr>
          <p:cNvPr id="17" name="Right Arrow 16"/>
          <p:cNvSpPr/>
          <p:nvPr/>
        </p:nvSpPr>
        <p:spPr>
          <a:xfrm>
            <a:off x="4211960" y="2276872"/>
            <a:ext cx="720080" cy="504056"/>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i-FI" sz="900" dirty="0" smtClean="0"/>
              <a:t>Muutos</a:t>
            </a:r>
            <a:endParaRPr lang="en-US" sz="900" dirty="0"/>
          </a:p>
        </p:txBody>
      </p:sp>
      <p:sp>
        <p:nvSpPr>
          <p:cNvPr id="18" name="TextBox 17"/>
          <p:cNvSpPr txBox="1"/>
          <p:nvPr/>
        </p:nvSpPr>
        <p:spPr>
          <a:xfrm>
            <a:off x="4932040" y="2060848"/>
            <a:ext cx="4211960" cy="830997"/>
          </a:xfrm>
          <a:prstGeom prst="rect">
            <a:avLst/>
          </a:prstGeom>
          <a:noFill/>
        </p:spPr>
        <p:txBody>
          <a:bodyPr wrap="square" rtlCol="0">
            <a:spAutoFit/>
          </a:bodyPr>
          <a:lstStyle/>
          <a:p>
            <a:r>
              <a:rPr lang="fi-FI" sz="1200" dirty="0" smtClean="0"/>
              <a:t>M</a:t>
            </a:r>
            <a:r>
              <a:rPr lang="fi-FI" sz="1200" baseline="-25000" dirty="0" smtClean="0"/>
              <a:t>1</a:t>
            </a:r>
            <a:r>
              <a:rPr lang="fi-FI" sz="1200" dirty="0" smtClean="0"/>
              <a:t>: uusia ”vaatimuksia” nykylaajuudessa (täsmentäminen)</a:t>
            </a:r>
          </a:p>
          <a:p>
            <a:r>
              <a:rPr lang="fi-FI" sz="1200" dirty="0" smtClean="0"/>
              <a:t>M</a:t>
            </a:r>
            <a:r>
              <a:rPr lang="fi-FI" sz="1200" baseline="-25000" dirty="0" smtClean="0"/>
              <a:t>2</a:t>
            </a:r>
            <a:r>
              <a:rPr lang="fi-FI" sz="1200" dirty="0" smtClean="0"/>
              <a:t>: uusia vaatimuksia sopeuttamiseksi ympäristöön (tasonnostot)</a:t>
            </a:r>
          </a:p>
          <a:p>
            <a:r>
              <a:rPr lang="fi-FI" sz="1200" dirty="0"/>
              <a:t>M</a:t>
            </a:r>
            <a:r>
              <a:rPr lang="fi-FI" sz="1200" baseline="-25000" dirty="0"/>
              <a:t>3</a:t>
            </a:r>
            <a:r>
              <a:rPr lang="fi-FI" sz="1200" dirty="0"/>
              <a:t>: uusia vaatimuksia nykylaajuuden ulkopuolelta (jatkokehitys</a:t>
            </a:r>
            <a:r>
              <a:rPr lang="fi-FI" sz="1200" dirty="0" smtClean="0"/>
              <a:t>)</a:t>
            </a:r>
            <a:endParaRPr lang="fi-FI" sz="1200" dirty="0"/>
          </a:p>
        </p:txBody>
      </p:sp>
      <p:sp>
        <p:nvSpPr>
          <p:cNvPr id="20" name="Rectangle 19"/>
          <p:cNvSpPr/>
          <p:nvPr/>
        </p:nvSpPr>
        <p:spPr>
          <a:xfrm>
            <a:off x="3981769" y="4756502"/>
            <a:ext cx="585417" cy="369332"/>
          </a:xfrm>
          <a:prstGeom prst="rect">
            <a:avLst/>
          </a:prstGeom>
        </p:spPr>
        <p:txBody>
          <a:bodyPr wrap="none">
            <a:spAutoFit/>
          </a:bodyPr>
          <a:lstStyle/>
          <a:p>
            <a:r>
              <a:rPr lang="fi-FI" dirty="0" smtClean="0"/>
              <a:t>M</a:t>
            </a:r>
            <a:r>
              <a:rPr lang="fi-FI" baseline="-25000" dirty="0"/>
              <a:t>2</a:t>
            </a:r>
            <a:r>
              <a:rPr lang="fi-FI" baseline="-25000" dirty="0" smtClean="0"/>
              <a:t>-3</a:t>
            </a:r>
            <a:endParaRPr lang="en-US" dirty="0"/>
          </a:p>
        </p:txBody>
      </p:sp>
      <p:sp>
        <p:nvSpPr>
          <p:cNvPr id="21" name="Right Arrow 20"/>
          <p:cNvSpPr/>
          <p:nvPr/>
        </p:nvSpPr>
        <p:spPr>
          <a:xfrm>
            <a:off x="1619672" y="2996952"/>
            <a:ext cx="576064" cy="576064"/>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2" name="Right Arrow 21"/>
          <p:cNvSpPr/>
          <p:nvPr/>
        </p:nvSpPr>
        <p:spPr>
          <a:xfrm>
            <a:off x="2339752" y="3789040"/>
            <a:ext cx="576064" cy="576064"/>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3" name="Rectangle 22"/>
          <p:cNvSpPr/>
          <p:nvPr/>
        </p:nvSpPr>
        <p:spPr>
          <a:xfrm>
            <a:off x="1043608" y="3131676"/>
            <a:ext cx="585417" cy="369332"/>
          </a:xfrm>
          <a:prstGeom prst="rect">
            <a:avLst/>
          </a:prstGeom>
        </p:spPr>
        <p:txBody>
          <a:bodyPr wrap="none">
            <a:spAutoFit/>
          </a:bodyPr>
          <a:lstStyle/>
          <a:p>
            <a:r>
              <a:rPr lang="fi-FI" dirty="0" smtClean="0"/>
              <a:t>M</a:t>
            </a:r>
            <a:r>
              <a:rPr lang="fi-FI" baseline="-25000" dirty="0" smtClean="0"/>
              <a:t>1-2</a:t>
            </a:r>
            <a:endParaRPr lang="en-US" dirty="0"/>
          </a:p>
        </p:txBody>
      </p:sp>
      <p:sp>
        <p:nvSpPr>
          <p:cNvPr id="25" name="Rectangle 24"/>
          <p:cNvSpPr/>
          <p:nvPr/>
        </p:nvSpPr>
        <p:spPr>
          <a:xfrm>
            <a:off x="1754335" y="3861048"/>
            <a:ext cx="585417" cy="369332"/>
          </a:xfrm>
          <a:prstGeom prst="rect">
            <a:avLst/>
          </a:prstGeom>
        </p:spPr>
        <p:txBody>
          <a:bodyPr wrap="none">
            <a:spAutoFit/>
          </a:bodyPr>
          <a:lstStyle/>
          <a:p>
            <a:r>
              <a:rPr lang="fi-FI" dirty="0" smtClean="0"/>
              <a:t>M</a:t>
            </a:r>
            <a:r>
              <a:rPr lang="fi-FI" baseline="-25000" dirty="0" smtClean="0"/>
              <a:t>1-2</a:t>
            </a:r>
            <a:endParaRPr lang="en-US" dirty="0"/>
          </a:p>
        </p:txBody>
      </p:sp>
      <p:sp>
        <p:nvSpPr>
          <p:cNvPr id="26" name="Right Arrow 25"/>
          <p:cNvSpPr/>
          <p:nvPr/>
        </p:nvSpPr>
        <p:spPr>
          <a:xfrm>
            <a:off x="4499992" y="4653136"/>
            <a:ext cx="576064" cy="576064"/>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4" name="Right Arrow 23"/>
          <p:cNvSpPr/>
          <p:nvPr/>
        </p:nvSpPr>
        <p:spPr>
          <a:xfrm rot="5400000">
            <a:off x="3167844" y="1736812"/>
            <a:ext cx="576064" cy="216024"/>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7" name="Rectangle 26"/>
          <p:cNvSpPr/>
          <p:nvPr/>
        </p:nvSpPr>
        <p:spPr>
          <a:xfrm>
            <a:off x="2959490" y="1628800"/>
            <a:ext cx="460382" cy="369332"/>
          </a:xfrm>
          <a:prstGeom prst="rect">
            <a:avLst/>
          </a:prstGeom>
        </p:spPr>
        <p:txBody>
          <a:bodyPr wrap="none">
            <a:spAutoFit/>
          </a:bodyPr>
          <a:lstStyle/>
          <a:p>
            <a:r>
              <a:rPr lang="fi-FI" dirty="0" smtClean="0"/>
              <a:t>M</a:t>
            </a:r>
            <a:r>
              <a:rPr lang="fi-FI" baseline="-25000" dirty="0" smtClean="0"/>
              <a:t>1</a:t>
            </a:r>
            <a:endParaRPr lang="en-US" dirty="0"/>
          </a:p>
        </p:txBody>
      </p:sp>
      <p:sp>
        <p:nvSpPr>
          <p:cNvPr id="2" name="Suorakulmio 1"/>
          <p:cNvSpPr/>
          <p:nvPr/>
        </p:nvSpPr>
        <p:spPr>
          <a:xfrm>
            <a:off x="0" y="1484784"/>
            <a:ext cx="9144000" cy="3024336"/>
          </a:xfrm>
          <a:prstGeom prst="rect">
            <a:avLst/>
          </a:prstGeom>
          <a:noFill/>
        </p:spPr>
        <p:style>
          <a:lnRef idx="2">
            <a:schemeClr val="accent3"/>
          </a:lnRef>
          <a:fillRef idx="1">
            <a:schemeClr val="lt1"/>
          </a:fillRef>
          <a:effectRef idx="0">
            <a:schemeClr val="accent3"/>
          </a:effectRef>
          <a:fontRef idx="minor">
            <a:schemeClr val="dk1"/>
          </a:fontRef>
        </p:style>
        <p:txBody>
          <a:bodyPr rtlCol="0" anchor="ctr"/>
          <a:lstStyle/>
          <a:p>
            <a:pPr algn="ctr"/>
            <a:endParaRPr lang="fi-FI"/>
          </a:p>
        </p:txBody>
      </p:sp>
      <p:sp>
        <p:nvSpPr>
          <p:cNvPr id="28" name="Slide Number Placeholder 27"/>
          <p:cNvSpPr>
            <a:spLocks noGrp="1"/>
          </p:cNvSpPr>
          <p:nvPr>
            <p:ph type="sldNum" sz="quarter" idx="12"/>
          </p:nvPr>
        </p:nvSpPr>
        <p:spPr/>
        <p:txBody>
          <a:bodyPr/>
          <a:lstStyle/>
          <a:p>
            <a:fld id="{1FC54B03-E980-44E0-A0F1-6CAD9D10ECFB}" type="slidenum">
              <a:rPr lang="fi-FI" smtClean="0"/>
              <a:pPr/>
              <a:t>94</a:t>
            </a:fld>
            <a:endParaRPr lang="fi-FI"/>
          </a:p>
        </p:txBody>
      </p:sp>
    </p:spTree>
    <p:extLst>
      <p:ext uri="{BB962C8B-B14F-4D97-AF65-F5344CB8AC3E}">
        <p14:creationId xmlns:p14="http://schemas.microsoft.com/office/powerpoint/2010/main" val="927881062"/>
      </p:ext>
    </p:extLst>
  </p:cSld>
  <p:clrMapOvr>
    <a:masterClrMapping/>
  </p:clrMapOvr>
  <p:timing>
    <p:tnLst>
      <p:par>
        <p:cTn xmlns:p14="http://schemas.microsoft.com/office/powerpoint/2010/mai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fi-FI" dirty="0" smtClean="0"/>
              <a:t>Aloitus- ja luovutuskoe</a:t>
            </a:r>
            <a:endParaRPr lang="fi-FI" dirty="0"/>
          </a:p>
        </p:txBody>
      </p:sp>
      <p:sp>
        <p:nvSpPr>
          <p:cNvPr id="5" name="Text Placeholder 4"/>
          <p:cNvSpPr>
            <a:spLocks noGrp="1"/>
          </p:cNvSpPr>
          <p:nvPr>
            <p:ph type="body" idx="1"/>
          </p:nvPr>
        </p:nvSpPr>
        <p:spPr/>
        <p:txBody>
          <a:bodyPr/>
          <a:lstStyle/>
          <a:p>
            <a:r>
              <a:rPr lang="fi-FI" dirty="0" smtClean="0"/>
              <a:t>Aloittamisen esiehdot</a:t>
            </a:r>
            <a:endParaRPr lang="fi-FI" dirty="0"/>
          </a:p>
        </p:txBody>
      </p:sp>
      <p:sp>
        <p:nvSpPr>
          <p:cNvPr id="6" name="Slide Number Placeholder 5"/>
          <p:cNvSpPr>
            <a:spLocks noGrp="1"/>
          </p:cNvSpPr>
          <p:nvPr>
            <p:ph type="sldNum" sz="quarter" idx="12"/>
          </p:nvPr>
        </p:nvSpPr>
        <p:spPr/>
        <p:txBody>
          <a:bodyPr/>
          <a:lstStyle/>
          <a:p>
            <a:fld id="{1FC54B03-E980-44E0-A0F1-6CAD9D10ECFB}" type="slidenum">
              <a:rPr lang="fi-FI" smtClean="0"/>
              <a:pPr/>
              <a:t>95</a:t>
            </a:fld>
            <a:endParaRPr lang="fi-FI"/>
          </a:p>
        </p:txBody>
      </p:sp>
    </p:spTree>
  </p:cSld>
  <p:clrMapOvr>
    <a:masterClrMapping/>
  </p:clrMapOvr>
  <p:timing>
    <p:tnLst>
      <p:par>
        <p:cTn xmlns:p14="http://schemas.microsoft.com/office/powerpoint/2010/mai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Luovutuskokeen tarve</a:t>
            </a:r>
            <a:endParaRPr lang="en-US" dirty="0"/>
          </a:p>
        </p:txBody>
      </p:sp>
      <p:sp>
        <p:nvSpPr>
          <p:cNvPr id="3" name="Content Placeholder 2"/>
          <p:cNvSpPr>
            <a:spLocks noGrp="1"/>
          </p:cNvSpPr>
          <p:nvPr>
            <p:ph idx="1"/>
          </p:nvPr>
        </p:nvSpPr>
        <p:spPr/>
        <p:txBody>
          <a:bodyPr>
            <a:noAutofit/>
          </a:bodyPr>
          <a:lstStyle/>
          <a:p>
            <a:r>
              <a:rPr lang="fi-FI" sz="1600" dirty="0" smtClean="0"/>
              <a:t>Sopimustekstistä ei selvää MIKSI asiakas haluaa luovutuskokeen</a:t>
            </a:r>
          </a:p>
          <a:p>
            <a:r>
              <a:rPr lang="fi-FI" sz="1600" dirty="0" smtClean="0"/>
              <a:t>Mahdollisia hallittavia riskejä:</a:t>
            </a:r>
          </a:p>
          <a:p>
            <a:pPr lvl="1"/>
            <a:r>
              <a:rPr lang="fi-FI" sz="1200" dirty="0"/>
              <a:t>YMPÄRISTÖSIIRTO: Toimittajalla oltava velvollisuus tarkistaa että toimitettu kokonaisuus toimii hyväksymistestausympäristössä eikä vain heidän vaiheidensa ympäristöissä. </a:t>
            </a:r>
            <a:endParaRPr lang="fi-FI" sz="1200" dirty="0" smtClean="0"/>
          </a:p>
          <a:p>
            <a:pPr lvl="1"/>
            <a:r>
              <a:rPr lang="fi-FI" sz="1200" dirty="0" smtClean="0"/>
              <a:t>SOVITTU TOIMITUSSISÄLTÖ: Toimittajan tulee noudattaa omassa toiminnassaan sovittua laajuutta omille testauksilleen. Mikäli toimittaja ei luovuta tietoja omasta testauksestaan, vastuu siirtyy luovutuksen yhteydessä asiakkaalle, joka voi palauttaa sen vain löytäen virheitä järjestelmästä. </a:t>
            </a:r>
          </a:p>
          <a:p>
            <a:pPr lvl="1"/>
            <a:r>
              <a:rPr lang="fi-FI" sz="1200" dirty="0" smtClean="0"/>
              <a:t>TOIMITTAJAN KOKONAISRAPORTOINTI: Toimittajan testauksien yhteenveto ennen hyväksymistestiä, kokonaisraportointi siitä miten virheettömyyteen on pyritty. Testauksen kokonaisraporttia ei pidetä osana luovutuksessa toimitettavaa  järjestelmän dokumentaatiota. </a:t>
            </a:r>
          </a:p>
          <a:p>
            <a:pPr lvl="1"/>
            <a:r>
              <a:rPr lang="fi-FI" sz="1200" dirty="0" smtClean="0"/>
              <a:t>JÄRJESTELMÄMUUTOSOSAAMINEN: Toimittajan toteuttamat muutokset eivät ole tiedossa yksityiskohtaisesti asiakkaan edustajilla ja ennen hyväksymistestin alkua on tarpeen tasata tietoja siitä miten järjestelmä muutosten jälkeen toimii. </a:t>
            </a:r>
          </a:p>
          <a:p>
            <a:pPr lvl="1"/>
            <a:r>
              <a:rPr lang="fi-FI" sz="1200" dirty="0" smtClean="0"/>
              <a:t>OMAT RESURSSIT: Hyväksymistestaus vaatii merkittävän panostuksen Asiakkaalla. On varmistettava, että varatulla panoksella on mahdollista saavuttaa tarkoitettu hyöty: kyky käyttää Järjestelmää tuotannonkaltaisesti siten että tuotantoonsiirtovarmuus saavutetaan varatussa ajanjaksossa. </a:t>
            </a:r>
          </a:p>
          <a:p>
            <a:pPr lvl="1"/>
            <a:r>
              <a:rPr lang="fi-FI" sz="1200" dirty="0" smtClean="0"/>
              <a:t>AIKATAULUN REALISMI: Lyhyessä aikavälissä voidaan arvioida kohdistetusti hyväksymistestauksen aikataulun saavutettavuutta, joka on täysin riippuvainen luovutetun järjestelmän laadusta ja tuottaa tehokas näkyvyys tähän ohjausryhmälle. </a:t>
            </a:r>
          </a:p>
          <a:p>
            <a:pPr lvl="1"/>
            <a:endParaRPr lang="en-US" sz="1200" dirty="0"/>
          </a:p>
        </p:txBody>
      </p:sp>
      <p:sp>
        <p:nvSpPr>
          <p:cNvPr id="4" name="Slide Number Placeholder 3"/>
          <p:cNvSpPr>
            <a:spLocks noGrp="1"/>
          </p:cNvSpPr>
          <p:nvPr>
            <p:ph type="sldNum" sz="quarter" idx="12"/>
          </p:nvPr>
        </p:nvSpPr>
        <p:spPr/>
        <p:txBody>
          <a:bodyPr/>
          <a:lstStyle/>
          <a:p>
            <a:fld id="{1FC54B03-E980-44E0-A0F1-6CAD9D10ECFB}" type="slidenum">
              <a:rPr lang="fi-FI" smtClean="0"/>
              <a:pPr/>
              <a:t>96</a:t>
            </a:fld>
            <a:endParaRPr lang="fi-FI"/>
          </a:p>
        </p:txBody>
      </p:sp>
    </p:spTree>
    <p:extLst>
      <p:ext uri="{BB962C8B-B14F-4D97-AF65-F5344CB8AC3E}">
        <p14:creationId xmlns:p14="http://schemas.microsoft.com/office/powerpoint/2010/main" val="1336132569"/>
      </p:ext>
    </p:extLst>
  </p:cSld>
  <p:clrMapOvr>
    <a:masterClrMapping/>
  </p:clrMapOvr>
  <p:timing>
    <p:tnLst>
      <p:par>
        <p:cTn xmlns:p14="http://schemas.microsoft.com/office/powerpoint/2010/mai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fi-FI" dirty="0" smtClean="0"/>
              <a:t>Aloituskoe Osana Testauksen kokonaisuutta</a:t>
            </a:r>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524392323"/>
              </p:ext>
            </p:extLst>
          </p:nvPr>
        </p:nvGraphicFramePr>
        <p:xfrm>
          <a:off x="822960" y="1100628"/>
          <a:ext cx="7520940" cy="47667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Down Arrow 7"/>
          <p:cNvSpPr/>
          <p:nvPr/>
        </p:nvSpPr>
        <p:spPr>
          <a:xfrm>
            <a:off x="2699792" y="1628800"/>
            <a:ext cx="720080" cy="64807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3886200" y="4419600"/>
            <a:ext cx="4919327" cy="132343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fi-FI" sz="1600" dirty="0" smtClean="0"/>
              <a:t>Aloituskoetta tarvitaan projekteissa, joissa toimittaja pyytää asiakkaalta ”järjestelmätestauksen tukea” jossa asiakkaan henkilöt ottavan osan hankintasopimuksen tarkoittamasta toimittajan vastuulla olevasta testauksesta suoritettavakseen toimittajan ohjauksessa. </a:t>
            </a:r>
            <a:endParaRPr lang="en-US" sz="1600" dirty="0"/>
          </a:p>
        </p:txBody>
      </p:sp>
      <p:sp>
        <p:nvSpPr>
          <p:cNvPr id="6" name="Slide Number Placeholder 5"/>
          <p:cNvSpPr>
            <a:spLocks noGrp="1"/>
          </p:cNvSpPr>
          <p:nvPr>
            <p:ph type="sldNum" sz="quarter" idx="12"/>
          </p:nvPr>
        </p:nvSpPr>
        <p:spPr/>
        <p:txBody>
          <a:bodyPr/>
          <a:lstStyle/>
          <a:p>
            <a:fld id="{1FC54B03-E980-44E0-A0F1-6CAD9D10ECFB}" type="slidenum">
              <a:rPr lang="fi-FI" smtClean="0"/>
              <a:pPr/>
              <a:t>97</a:t>
            </a:fld>
            <a:endParaRPr lang="fi-FI"/>
          </a:p>
        </p:txBody>
      </p:sp>
    </p:spTree>
    <p:extLst>
      <p:ext uri="{BB962C8B-B14F-4D97-AF65-F5344CB8AC3E}">
        <p14:creationId xmlns:p14="http://schemas.microsoft.com/office/powerpoint/2010/main" val="1847050820"/>
      </p:ext>
    </p:extLst>
  </p:cSld>
  <p:clrMapOvr>
    <a:masterClrMapping/>
  </p:clrMapOvr>
  <p:timing>
    <p:tnLst>
      <p:par>
        <p:cTn xmlns:p14="http://schemas.microsoft.com/office/powerpoint/2010/mai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fi-FI" dirty="0" smtClean="0"/>
              <a:t>Luovutuskoe osana testauksen kokonaisuutta</a:t>
            </a:r>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524392323"/>
              </p:ext>
            </p:extLst>
          </p:nvPr>
        </p:nvGraphicFramePr>
        <p:xfrm>
          <a:off x="822960" y="1100628"/>
          <a:ext cx="7520940" cy="47667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Down Arrow 7"/>
          <p:cNvSpPr/>
          <p:nvPr/>
        </p:nvSpPr>
        <p:spPr>
          <a:xfrm>
            <a:off x="5756920" y="1628800"/>
            <a:ext cx="720080" cy="64807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3886200" y="4419600"/>
            <a:ext cx="4919327" cy="830997"/>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fi-FI" sz="1600" dirty="0" smtClean="0"/>
              <a:t>Luovutuskoe liittyy siihen kun toimittaja luovuttaa järjestelmän ”valmiina” asiakkaalle. Jossain muodossa virallinen luovutus tulee järjestää. </a:t>
            </a:r>
            <a:endParaRPr lang="en-US" sz="1600" dirty="0"/>
          </a:p>
        </p:txBody>
      </p:sp>
      <p:sp>
        <p:nvSpPr>
          <p:cNvPr id="6" name="Slide Number Placeholder 5"/>
          <p:cNvSpPr>
            <a:spLocks noGrp="1"/>
          </p:cNvSpPr>
          <p:nvPr>
            <p:ph type="sldNum" sz="quarter" idx="12"/>
          </p:nvPr>
        </p:nvSpPr>
        <p:spPr/>
        <p:txBody>
          <a:bodyPr/>
          <a:lstStyle/>
          <a:p>
            <a:fld id="{1FC54B03-E980-44E0-A0F1-6CAD9D10ECFB}" type="slidenum">
              <a:rPr lang="fi-FI" smtClean="0"/>
              <a:pPr/>
              <a:t>98</a:t>
            </a:fld>
            <a:endParaRPr lang="fi-FI"/>
          </a:p>
        </p:txBody>
      </p:sp>
    </p:spTree>
    <p:extLst>
      <p:ext uri="{BB962C8B-B14F-4D97-AF65-F5344CB8AC3E}">
        <p14:creationId xmlns:p14="http://schemas.microsoft.com/office/powerpoint/2010/main" val="1847050820"/>
      </p:ext>
    </p:extLst>
  </p:cSld>
  <p:clrMapOvr>
    <a:masterClrMapping/>
  </p:clrMapOvr>
  <p:timing>
    <p:tnLst>
      <p:par>
        <p:cTn xmlns:p14="http://schemas.microsoft.com/office/powerpoint/2010/mai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Luovutuskokeen rooli hyväksymistestausprosessissa</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418829718"/>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Slide Number Placeholder 4"/>
          <p:cNvSpPr>
            <a:spLocks noGrp="1"/>
          </p:cNvSpPr>
          <p:nvPr>
            <p:ph type="sldNum" sz="quarter" idx="12"/>
          </p:nvPr>
        </p:nvSpPr>
        <p:spPr/>
        <p:txBody>
          <a:bodyPr/>
          <a:lstStyle/>
          <a:p>
            <a:fld id="{1FC54B03-E980-44E0-A0F1-6CAD9D10ECFB}" type="slidenum">
              <a:rPr lang="fi-FI" smtClean="0"/>
              <a:pPr/>
              <a:t>99</a:t>
            </a:fld>
            <a:endParaRPr lang="fi-FI"/>
          </a:p>
        </p:txBody>
      </p:sp>
    </p:spTree>
    <p:extLst>
      <p:ext uri="{BB962C8B-B14F-4D97-AF65-F5344CB8AC3E}">
        <p14:creationId xmlns:p14="http://schemas.microsoft.com/office/powerpoint/2010/main" val="914695841"/>
      </p:ext>
    </p:extLst>
  </p:cSld>
  <p:clrMapOvr>
    <a:masterClrMapping/>
  </p:clrMapOvr>
  <p:timing>
    <p:tnLst>
      <p:par>
        <p:cTn xmlns:p14="http://schemas.microsoft.com/office/powerpoint/2010/mai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Huomattavaa: Luovutuskoe voi olla osa toimittajan testausprosessia</a:t>
            </a:r>
            <a:endParaRPr lang="en-US" dirty="0"/>
          </a:p>
        </p:txBody>
      </p:sp>
      <p:sp>
        <p:nvSpPr>
          <p:cNvPr id="5" name="Rectangle 4"/>
          <p:cNvSpPr/>
          <p:nvPr/>
        </p:nvSpPr>
        <p:spPr>
          <a:xfrm>
            <a:off x="755576" y="2420888"/>
            <a:ext cx="1584176" cy="15121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Toimittajan testaukset</a:t>
            </a:r>
            <a:endParaRPr lang="en-US" dirty="0"/>
          </a:p>
        </p:txBody>
      </p:sp>
      <p:sp>
        <p:nvSpPr>
          <p:cNvPr id="6" name="Rectangle 5"/>
          <p:cNvSpPr/>
          <p:nvPr/>
        </p:nvSpPr>
        <p:spPr>
          <a:xfrm>
            <a:off x="2495282" y="2420888"/>
            <a:ext cx="1584176" cy="15121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LUOVUTUS-KOE</a:t>
            </a:r>
            <a:endParaRPr lang="en-US" dirty="0"/>
          </a:p>
        </p:txBody>
      </p:sp>
      <p:sp>
        <p:nvSpPr>
          <p:cNvPr id="7" name="Rectangle 6"/>
          <p:cNvSpPr/>
          <p:nvPr/>
        </p:nvSpPr>
        <p:spPr>
          <a:xfrm>
            <a:off x="5941322" y="2420888"/>
            <a:ext cx="1584176" cy="151216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fi-FI" dirty="0" smtClean="0"/>
              <a:t>HYVÄKSYMIS-TESTAUS</a:t>
            </a:r>
            <a:endParaRPr lang="en-US" dirty="0"/>
          </a:p>
        </p:txBody>
      </p:sp>
      <p:cxnSp>
        <p:nvCxnSpPr>
          <p:cNvPr id="9" name="Straight Connector 8"/>
          <p:cNvCxnSpPr/>
          <p:nvPr/>
        </p:nvCxnSpPr>
        <p:spPr>
          <a:xfrm>
            <a:off x="4932040" y="2132856"/>
            <a:ext cx="0" cy="3384376"/>
          </a:xfrm>
          <a:prstGeom prst="line">
            <a:avLst/>
          </a:prstGeom>
        </p:spPr>
        <p:style>
          <a:lnRef idx="2">
            <a:schemeClr val="accent2"/>
          </a:lnRef>
          <a:fillRef idx="0">
            <a:schemeClr val="accent2"/>
          </a:fillRef>
          <a:effectRef idx="1">
            <a:schemeClr val="accent2"/>
          </a:effectRef>
          <a:fontRef idx="minor">
            <a:schemeClr val="tx1"/>
          </a:fontRef>
        </p:style>
      </p:cxnSp>
      <p:sp>
        <p:nvSpPr>
          <p:cNvPr id="10" name="TextBox 9"/>
          <p:cNvSpPr txBox="1"/>
          <p:nvPr/>
        </p:nvSpPr>
        <p:spPr>
          <a:xfrm>
            <a:off x="1043608" y="4365104"/>
            <a:ext cx="3240360" cy="923330"/>
          </a:xfrm>
          <a:prstGeom prst="rect">
            <a:avLst/>
          </a:prstGeom>
          <a:noFill/>
        </p:spPr>
        <p:txBody>
          <a:bodyPr wrap="square" rtlCol="0">
            <a:spAutoFit/>
          </a:bodyPr>
          <a:lstStyle/>
          <a:p>
            <a:r>
              <a:rPr lang="fi-FI" dirty="0" smtClean="0"/>
              <a:t>Sisältyvät tavoitehintaiseen toimitukseen</a:t>
            </a:r>
          </a:p>
          <a:p>
            <a:r>
              <a:rPr lang="fi-FI" dirty="0" smtClean="0"/>
              <a:t>Voivat aiheuttaa ylitettä</a:t>
            </a:r>
            <a:endParaRPr lang="en-US" dirty="0"/>
          </a:p>
        </p:txBody>
      </p:sp>
      <p:sp>
        <p:nvSpPr>
          <p:cNvPr id="11" name="TextBox 10"/>
          <p:cNvSpPr txBox="1"/>
          <p:nvPr/>
        </p:nvSpPr>
        <p:spPr>
          <a:xfrm>
            <a:off x="5436096" y="4342261"/>
            <a:ext cx="3240360" cy="923330"/>
          </a:xfrm>
          <a:prstGeom prst="rect">
            <a:avLst/>
          </a:prstGeom>
          <a:noFill/>
        </p:spPr>
        <p:txBody>
          <a:bodyPr wrap="square" rtlCol="0">
            <a:spAutoFit/>
          </a:bodyPr>
          <a:lstStyle/>
          <a:p>
            <a:r>
              <a:rPr lang="fi-FI" dirty="0" smtClean="0"/>
              <a:t>Korjaukset, korjausten testaus ja regressiotestaus eivät asiakkaalta laskutettavaa</a:t>
            </a:r>
            <a:endParaRPr lang="en-US" dirty="0"/>
          </a:p>
        </p:txBody>
      </p:sp>
      <p:sp>
        <p:nvSpPr>
          <p:cNvPr id="12" name="Rectangle 11"/>
          <p:cNvSpPr/>
          <p:nvPr/>
        </p:nvSpPr>
        <p:spPr>
          <a:xfrm>
            <a:off x="1547664" y="5600328"/>
            <a:ext cx="6300936" cy="64807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fi-FI" sz="1400" dirty="0" smtClean="0"/>
              <a:t>Ideana toimittajan todistamisvelvollisuus. Asiakkaan arviointi tapahtuu hyväksymistestauksessa ja hylkäämisen perusteet voidaan nostaa myös päivän testauksen jälkeen jos ei vastaa luvattua. </a:t>
            </a:r>
            <a:endParaRPr lang="en-US" sz="1400" dirty="0"/>
          </a:p>
        </p:txBody>
      </p:sp>
      <p:sp>
        <p:nvSpPr>
          <p:cNvPr id="13" name="Slide Number Placeholder 12"/>
          <p:cNvSpPr>
            <a:spLocks noGrp="1"/>
          </p:cNvSpPr>
          <p:nvPr>
            <p:ph type="sldNum" sz="quarter" idx="12"/>
          </p:nvPr>
        </p:nvSpPr>
        <p:spPr/>
        <p:txBody>
          <a:bodyPr/>
          <a:lstStyle/>
          <a:p>
            <a:fld id="{1FC54B03-E980-44E0-A0F1-6CAD9D10ECFB}" type="slidenum">
              <a:rPr lang="fi-FI" smtClean="0"/>
              <a:pPr/>
              <a:t>100</a:t>
            </a:fld>
            <a:endParaRPr lang="fi-FI"/>
          </a:p>
        </p:txBody>
      </p:sp>
    </p:spTree>
    <p:extLst>
      <p:ext uri="{BB962C8B-B14F-4D97-AF65-F5344CB8AC3E}">
        <p14:creationId xmlns:p14="http://schemas.microsoft.com/office/powerpoint/2010/main" val="2472503330"/>
      </p:ext>
    </p:extLst>
  </p:cSld>
  <p:clrMapOvr>
    <a:masterClrMapping/>
  </p:clrMapOvr>
  <p:timing>
    <p:tnLst>
      <p:par>
        <p:cTn xmlns:p14="http://schemas.microsoft.com/office/powerpoint/2010/mai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Huomattavaa: Luovutuskoe voi olla osa asiakkaan testausprosessia</a:t>
            </a:r>
            <a:endParaRPr lang="en-US" dirty="0"/>
          </a:p>
        </p:txBody>
      </p:sp>
      <p:sp>
        <p:nvSpPr>
          <p:cNvPr id="5" name="Rectangle 4"/>
          <p:cNvSpPr/>
          <p:nvPr/>
        </p:nvSpPr>
        <p:spPr>
          <a:xfrm>
            <a:off x="755576" y="2420888"/>
            <a:ext cx="1584176" cy="15121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Toimittajan testaukset</a:t>
            </a:r>
            <a:endParaRPr lang="en-US" dirty="0"/>
          </a:p>
        </p:txBody>
      </p:sp>
      <p:sp>
        <p:nvSpPr>
          <p:cNvPr id="6" name="Rectangle 5"/>
          <p:cNvSpPr/>
          <p:nvPr/>
        </p:nvSpPr>
        <p:spPr>
          <a:xfrm>
            <a:off x="4283224" y="2420888"/>
            <a:ext cx="1584176" cy="151216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fi-FI" dirty="0" smtClean="0"/>
              <a:t>LUOVUTUS-KOE</a:t>
            </a:r>
            <a:endParaRPr lang="en-US" dirty="0"/>
          </a:p>
        </p:txBody>
      </p:sp>
      <p:sp>
        <p:nvSpPr>
          <p:cNvPr id="7" name="Rectangle 6"/>
          <p:cNvSpPr/>
          <p:nvPr/>
        </p:nvSpPr>
        <p:spPr>
          <a:xfrm>
            <a:off x="5941322" y="2420888"/>
            <a:ext cx="1584176" cy="151216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fi-FI" dirty="0" smtClean="0"/>
              <a:t>HYVÄKSYMIS-TESTAUS</a:t>
            </a:r>
            <a:endParaRPr lang="en-US" dirty="0"/>
          </a:p>
        </p:txBody>
      </p:sp>
      <p:cxnSp>
        <p:nvCxnSpPr>
          <p:cNvPr id="9" name="Straight Connector 8"/>
          <p:cNvCxnSpPr/>
          <p:nvPr/>
        </p:nvCxnSpPr>
        <p:spPr>
          <a:xfrm>
            <a:off x="3962400" y="2132856"/>
            <a:ext cx="0" cy="3384376"/>
          </a:xfrm>
          <a:prstGeom prst="line">
            <a:avLst/>
          </a:prstGeom>
        </p:spPr>
        <p:style>
          <a:lnRef idx="2">
            <a:schemeClr val="accent2"/>
          </a:lnRef>
          <a:fillRef idx="0">
            <a:schemeClr val="accent2"/>
          </a:fillRef>
          <a:effectRef idx="1">
            <a:schemeClr val="accent2"/>
          </a:effectRef>
          <a:fontRef idx="minor">
            <a:schemeClr val="tx1"/>
          </a:fontRef>
        </p:style>
      </p:cxnSp>
      <p:sp>
        <p:nvSpPr>
          <p:cNvPr id="10" name="TextBox 9"/>
          <p:cNvSpPr txBox="1"/>
          <p:nvPr/>
        </p:nvSpPr>
        <p:spPr>
          <a:xfrm>
            <a:off x="1043608" y="4365104"/>
            <a:ext cx="3240360" cy="923330"/>
          </a:xfrm>
          <a:prstGeom prst="rect">
            <a:avLst/>
          </a:prstGeom>
          <a:noFill/>
        </p:spPr>
        <p:txBody>
          <a:bodyPr wrap="square" rtlCol="0">
            <a:spAutoFit/>
          </a:bodyPr>
          <a:lstStyle/>
          <a:p>
            <a:r>
              <a:rPr lang="fi-FI" dirty="0" smtClean="0"/>
              <a:t>Sisältyvät tavoitehintaiseen toimitukseen</a:t>
            </a:r>
          </a:p>
          <a:p>
            <a:r>
              <a:rPr lang="fi-FI" dirty="0" smtClean="0"/>
              <a:t>Voivat aiheuttaa ylitettä</a:t>
            </a:r>
            <a:endParaRPr lang="en-US" dirty="0"/>
          </a:p>
        </p:txBody>
      </p:sp>
      <p:sp>
        <p:nvSpPr>
          <p:cNvPr id="11" name="TextBox 10"/>
          <p:cNvSpPr txBox="1"/>
          <p:nvPr/>
        </p:nvSpPr>
        <p:spPr>
          <a:xfrm>
            <a:off x="4267200" y="4342261"/>
            <a:ext cx="3240360" cy="923330"/>
          </a:xfrm>
          <a:prstGeom prst="rect">
            <a:avLst/>
          </a:prstGeom>
          <a:noFill/>
        </p:spPr>
        <p:txBody>
          <a:bodyPr wrap="square" rtlCol="0">
            <a:spAutoFit/>
          </a:bodyPr>
          <a:lstStyle/>
          <a:p>
            <a:r>
              <a:rPr lang="fi-FI" dirty="0" smtClean="0"/>
              <a:t>Korjaukset, korjausten testaus ja regressiotestaus eivät asiakkaalta laskutettavaa</a:t>
            </a:r>
            <a:endParaRPr lang="en-US" dirty="0"/>
          </a:p>
        </p:txBody>
      </p:sp>
      <p:sp>
        <p:nvSpPr>
          <p:cNvPr id="12" name="Rectangle 11"/>
          <p:cNvSpPr/>
          <p:nvPr/>
        </p:nvSpPr>
        <p:spPr>
          <a:xfrm>
            <a:off x="1547664" y="5638800"/>
            <a:ext cx="5977834" cy="64807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fi-FI" sz="1400" dirty="0" smtClean="0"/>
              <a:t>Ideana asiakkaan varmistuminen siitä, ettei joudu käyttämään ihmisiään testaus-korjaussykliin jos lähtötilanteessa laatu ei ole riittävää.  </a:t>
            </a:r>
            <a:endParaRPr lang="en-US" sz="1400" dirty="0"/>
          </a:p>
        </p:txBody>
      </p:sp>
      <p:sp>
        <p:nvSpPr>
          <p:cNvPr id="13" name="Slide Number Placeholder 12"/>
          <p:cNvSpPr>
            <a:spLocks noGrp="1"/>
          </p:cNvSpPr>
          <p:nvPr>
            <p:ph type="sldNum" sz="quarter" idx="12"/>
          </p:nvPr>
        </p:nvSpPr>
        <p:spPr/>
        <p:txBody>
          <a:bodyPr/>
          <a:lstStyle/>
          <a:p>
            <a:fld id="{1FC54B03-E980-44E0-A0F1-6CAD9D10ECFB}" type="slidenum">
              <a:rPr lang="fi-FI" smtClean="0"/>
              <a:pPr/>
              <a:t>101</a:t>
            </a:fld>
            <a:endParaRPr lang="fi-FI"/>
          </a:p>
        </p:txBody>
      </p:sp>
    </p:spTree>
    <p:extLst>
      <p:ext uri="{BB962C8B-B14F-4D97-AF65-F5344CB8AC3E}">
        <p14:creationId xmlns:p14="http://schemas.microsoft.com/office/powerpoint/2010/main" val="2472503330"/>
      </p:ext>
    </p:extLst>
  </p:cSld>
  <p:clrMapOvr>
    <a:masterClrMapping/>
  </p:clrMapOvr>
  <p:timing>
    <p:tnLst>
      <p:par>
        <p:cTn xmlns:p14="http://schemas.microsoft.com/office/powerpoint/2010/mai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Luovutuskokeen tarve</a:t>
            </a:r>
            <a:endParaRPr lang="en-US" dirty="0"/>
          </a:p>
        </p:txBody>
      </p:sp>
      <p:sp>
        <p:nvSpPr>
          <p:cNvPr id="3" name="Content Placeholder 2"/>
          <p:cNvSpPr>
            <a:spLocks noGrp="1"/>
          </p:cNvSpPr>
          <p:nvPr>
            <p:ph idx="1"/>
          </p:nvPr>
        </p:nvSpPr>
        <p:spPr/>
        <p:txBody>
          <a:bodyPr>
            <a:noAutofit/>
          </a:bodyPr>
          <a:lstStyle/>
          <a:p>
            <a:r>
              <a:rPr lang="fi-FI" sz="1800" dirty="0" smtClean="0"/>
              <a:t>Sopimustekstistä ei selvää MIKSI asiakas haluaa luovutuskokeen</a:t>
            </a:r>
          </a:p>
          <a:p>
            <a:r>
              <a:rPr lang="fi-FI" sz="1800" dirty="0" smtClean="0"/>
              <a:t>Mahdollisia hallittavia riskejä:</a:t>
            </a:r>
          </a:p>
          <a:p>
            <a:pPr lvl="1"/>
            <a:r>
              <a:rPr lang="fi-FI" sz="1400" dirty="0"/>
              <a:t>YMPÄRISTÖSIIRTO: Toimittajalla oltava velvollisuus tarkistaa että toimitettu kokonaisuus toimii hyväksymistestausympäristössä eikä vain heidän vaiheidensa ympäristöissä. </a:t>
            </a:r>
            <a:endParaRPr lang="fi-FI" sz="1400" dirty="0" smtClean="0"/>
          </a:p>
          <a:p>
            <a:pPr lvl="1"/>
            <a:r>
              <a:rPr lang="fi-FI" sz="1400" dirty="0" smtClean="0"/>
              <a:t>SOVITTU TOIMITUSSISÄLTÖ: Toimittajan tulee noudattaa omassa toiminnassaan sovittua laajuutta omille testauksilleen. Mikäli toimittaja ei luovuta tietoja omasta testauksestaan, vastuu siirtyy luovutuksen yhteydessä asiakkaalle, joka voi palauttaa sen vain löytäen virheitä järjestelmästä. </a:t>
            </a:r>
          </a:p>
          <a:p>
            <a:pPr lvl="1"/>
            <a:r>
              <a:rPr lang="fi-FI" sz="1400" dirty="0" smtClean="0"/>
              <a:t>TOIMITTAJAN KOKONAISRAPORTOINTI: Toimittajan testauksien yhteenveto ennen hyväksymistestiä, kokonaisraportointi siitä miten virheettömyyteen on pyritty. Testauksen kokonaisraporttia ei pidetä osana luovutuksessa toimitettavaa  järjestelmän dokumentaatiota. </a:t>
            </a:r>
          </a:p>
          <a:p>
            <a:pPr lvl="1"/>
            <a:r>
              <a:rPr lang="fi-FI" sz="1400" dirty="0" smtClean="0"/>
              <a:t>JÄRJESTELMÄMUUTOSOSAAMINEN: Toimittajan toteuttamat muutokset eivät ole tiedossa yksityiskohtaisesti asiakkaan edustajilla ja ennen hyväksymistestin alkua on tarpeen tasata tietoja siitä miten järjestelmä muutosten jälkeen toimii. </a:t>
            </a:r>
          </a:p>
          <a:p>
            <a:pPr lvl="1"/>
            <a:r>
              <a:rPr lang="fi-FI" sz="1400" dirty="0" smtClean="0"/>
              <a:t>OMAT RESURSSIT: Hyväksymistestaus vaatii merkittävän panostuksen Ilmarisella. On varmistettava, että varatulla panoksella on mahdollista saavuttaa tarkoitettu hyöty: kyky käyttää Järjestelmää tuotannonkaltaisesti siten että tuotantoonsiirtovarmuus saavutetaan varatussa ajanjaksossa. </a:t>
            </a:r>
          </a:p>
          <a:p>
            <a:pPr lvl="1"/>
            <a:r>
              <a:rPr lang="fi-FI" sz="1400" dirty="0" smtClean="0"/>
              <a:t>AIKATAULUN REALISMI: Lyhyessä aikavälissä voidaan arvioida kohdistetusti hyväksymistestauksen aikataulun saavutettavuutta, joka on täysin riippuvainen luovutetun järjestelmän laadusta ja tuottaa tehokas näkyvyys tähän ohjausryhmälle. </a:t>
            </a:r>
          </a:p>
          <a:p>
            <a:pPr lvl="1"/>
            <a:endParaRPr lang="en-US" sz="1400" dirty="0"/>
          </a:p>
        </p:txBody>
      </p:sp>
      <p:sp>
        <p:nvSpPr>
          <p:cNvPr id="4" name="Slide Number Placeholder 3"/>
          <p:cNvSpPr>
            <a:spLocks noGrp="1"/>
          </p:cNvSpPr>
          <p:nvPr>
            <p:ph type="sldNum" sz="quarter" idx="12"/>
          </p:nvPr>
        </p:nvSpPr>
        <p:spPr/>
        <p:txBody>
          <a:bodyPr/>
          <a:lstStyle/>
          <a:p>
            <a:fld id="{1FC54B03-E980-44E0-A0F1-6CAD9D10ECFB}" type="slidenum">
              <a:rPr lang="fi-FI" smtClean="0"/>
              <a:pPr/>
              <a:t>102</a:t>
            </a:fld>
            <a:endParaRPr lang="fi-FI"/>
          </a:p>
        </p:txBody>
      </p:sp>
    </p:spTree>
    <p:extLst>
      <p:ext uri="{BB962C8B-B14F-4D97-AF65-F5344CB8AC3E}">
        <p14:creationId xmlns:p14="http://schemas.microsoft.com/office/powerpoint/2010/main" val="1336132569"/>
      </p:ext>
    </p:extLst>
  </p:cSld>
  <p:clrMapOvr>
    <a:masterClrMapping/>
  </p:clrMapOvr>
  <p:timing>
    <p:tnLst>
      <p:par>
        <p:cTn xmlns:p14="http://schemas.microsoft.com/office/powerpoint/2010/mai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Vaihtoehtoja: Miten toimittaja osoittaa virheettömyyden</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940624061"/>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Slide Number Placeholder 4"/>
          <p:cNvSpPr>
            <a:spLocks noGrp="1"/>
          </p:cNvSpPr>
          <p:nvPr>
            <p:ph type="sldNum" sz="quarter" idx="12"/>
          </p:nvPr>
        </p:nvSpPr>
        <p:spPr/>
        <p:txBody>
          <a:bodyPr/>
          <a:lstStyle/>
          <a:p>
            <a:fld id="{1FC54B03-E980-44E0-A0F1-6CAD9D10ECFB}" type="slidenum">
              <a:rPr lang="fi-FI" smtClean="0"/>
              <a:pPr/>
              <a:t>103</a:t>
            </a:fld>
            <a:endParaRPr lang="fi-FI"/>
          </a:p>
        </p:txBody>
      </p:sp>
    </p:spTree>
    <p:extLst>
      <p:ext uri="{BB962C8B-B14F-4D97-AF65-F5344CB8AC3E}">
        <p14:creationId xmlns:p14="http://schemas.microsoft.com/office/powerpoint/2010/main" val="3245429155"/>
      </p:ext>
    </p:extLst>
  </p:cSld>
  <p:clrMapOvr>
    <a:masterClrMapping/>
  </p:clrMapOvr>
  <p:timing>
    <p:tnLst>
      <p:par>
        <p:cTn xmlns:p14="http://schemas.microsoft.com/office/powerpoint/2010/mai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fi-FI" sz="3600" dirty="0" smtClean="0"/>
              <a:t>Keskeinen kysymys: Vaatimukset toimittajan tuottamalle testauspalvelulle</a:t>
            </a:r>
            <a:endParaRPr lang="en-US" sz="3600" dirty="0"/>
          </a:p>
        </p:txBody>
      </p:sp>
      <p:sp>
        <p:nvSpPr>
          <p:cNvPr id="3" name="Content Placeholder 2"/>
          <p:cNvSpPr>
            <a:spLocks noGrp="1"/>
          </p:cNvSpPr>
          <p:nvPr>
            <p:ph idx="1"/>
          </p:nvPr>
        </p:nvSpPr>
        <p:spPr/>
        <p:txBody>
          <a:bodyPr>
            <a:normAutofit fontScale="92500" lnSpcReduction="20000"/>
          </a:bodyPr>
          <a:lstStyle/>
          <a:p>
            <a:r>
              <a:rPr lang="fi-FI" dirty="0" smtClean="0"/>
              <a:t>Testauspalvelun ”hyväksyttävyys” arvioidaan osana luovutuskoetta suhteessa sovittuun</a:t>
            </a:r>
          </a:p>
          <a:p>
            <a:r>
              <a:rPr lang="fi-FI" dirty="0" smtClean="0"/>
              <a:t>Sovittu sisältää tavat tehdä sekä dokumentaation</a:t>
            </a:r>
          </a:p>
          <a:p>
            <a:r>
              <a:rPr lang="fi-FI" dirty="0" smtClean="0"/>
              <a:t>Tarkka testausdokumentaatio = mahdollisuus reklamoida jo maksetusta palvelusta kun palvelu ei vastannut luvattua + korkeampi hinta + riski huonompilaatuisesta testauksesta,  testataan vain suunniteltu</a:t>
            </a:r>
          </a:p>
          <a:p>
            <a:r>
              <a:rPr lang="fi-FI" smtClean="0"/>
              <a:t>Luovutuskoe yleisesti </a:t>
            </a:r>
            <a:r>
              <a:rPr lang="fi-FI" dirty="0" smtClean="0"/>
              <a:t>liian myöhäinen vaihe tarkastaa näitä asioita, sovittava aiempia laadunvarmistuspisteitä! </a:t>
            </a:r>
            <a:endParaRPr lang="en-US" dirty="0"/>
          </a:p>
        </p:txBody>
      </p:sp>
      <p:sp>
        <p:nvSpPr>
          <p:cNvPr id="4" name="Slide Number Placeholder 3"/>
          <p:cNvSpPr>
            <a:spLocks noGrp="1"/>
          </p:cNvSpPr>
          <p:nvPr>
            <p:ph type="sldNum" sz="quarter" idx="12"/>
          </p:nvPr>
        </p:nvSpPr>
        <p:spPr/>
        <p:txBody>
          <a:bodyPr/>
          <a:lstStyle/>
          <a:p>
            <a:fld id="{1FC54B03-E980-44E0-A0F1-6CAD9D10ECFB}" type="slidenum">
              <a:rPr lang="fi-FI" smtClean="0"/>
              <a:pPr/>
              <a:t>104</a:t>
            </a:fld>
            <a:endParaRPr lang="fi-FI"/>
          </a:p>
        </p:txBody>
      </p:sp>
    </p:spTree>
    <p:extLst>
      <p:ext uri="{BB962C8B-B14F-4D97-AF65-F5344CB8AC3E}">
        <p14:creationId xmlns:p14="http://schemas.microsoft.com/office/powerpoint/2010/main" val="2568244613"/>
      </p:ext>
    </p:extLst>
  </p:cSld>
  <p:clrMapOvr>
    <a:masterClrMapping/>
  </p:clrMapOvr>
  <p:timing>
    <p:tnLst>
      <p:par>
        <p:cTn xmlns:p14="http://schemas.microsoft.com/office/powerpoint/2010/mai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err="1" smtClean="0"/>
              <a:t>Monitoimittajatilanne</a:t>
            </a:r>
            <a:r>
              <a:rPr lang="fi-FI" dirty="0" smtClean="0"/>
              <a:t> luovutuskokeissa</a:t>
            </a:r>
            <a:endParaRPr lang="en-US" dirty="0"/>
          </a:p>
        </p:txBody>
      </p:sp>
      <p:sp>
        <p:nvSpPr>
          <p:cNvPr id="3" name="Content Placeholder 2"/>
          <p:cNvSpPr>
            <a:spLocks noGrp="1"/>
          </p:cNvSpPr>
          <p:nvPr>
            <p:ph idx="1"/>
          </p:nvPr>
        </p:nvSpPr>
        <p:spPr/>
        <p:txBody>
          <a:bodyPr>
            <a:normAutofit/>
          </a:bodyPr>
          <a:lstStyle/>
          <a:p>
            <a:r>
              <a:rPr lang="fi-FI" sz="2000" dirty="0" smtClean="0"/>
              <a:t>Luovutuskoe on </a:t>
            </a:r>
            <a:r>
              <a:rPr lang="fi-FI" sz="2000" i="1" dirty="0" smtClean="0"/>
              <a:t>toimittaja/projektikohtainen</a:t>
            </a:r>
            <a:endParaRPr lang="fi-FI" sz="2000" i="1" dirty="0"/>
          </a:p>
          <a:p>
            <a:r>
              <a:rPr lang="fi-FI" sz="2000" dirty="0" smtClean="0"/>
              <a:t>Tavoitetila </a:t>
            </a:r>
            <a:r>
              <a:rPr lang="fi-FI" sz="2000" dirty="0" err="1" smtClean="0"/>
              <a:t>monitoimittajatilanteessa</a:t>
            </a:r>
            <a:r>
              <a:rPr lang="fi-FI" sz="2000" dirty="0" smtClean="0"/>
              <a:t>: luovutuskokeen demo pidetään integroidussa kokonaisjärjestelmässä omia osia esitellen, ei irrallisena komponenttina</a:t>
            </a:r>
          </a:p>
          <a:p>
            <a:r>
              <a:rPr lang="fi-FI" sz="2000" dirty="0" smtClean="0"/>
              <a:t>Jollakin toimijoista oltava ”kokoava järjestelmätestaus”, joka vastaa asiakkaan hyväksymistestin näkökulmaa</a:t>
            </a:r>
          </a:p>
          <a:p>
            <a:r>
              <a:rPr lang="fi-FI" sz="2000" dirty="0" smtClean="0"/>
              <a:t>Voidaan yhdistää samaan esittelypäivään mikäli valmiudet sopivat yhteen </a:t>
            </a:r>
          </a:p>
          <a:p>
            <a:r>
              <a:rPr lang="fi-FI" sz="2000" dirty="0"/>
              <a:t>Luovutuskokeiden ajoittaminen </a:t>
            </a:r>
            <a:r>
              <a:rPr lang="fi-FI" sz="2000" dirty="0" err="1"/>
              <a:t>monitoimittajatilanteessa</a:t>
            </a:r>
            <a:r>
              <a:rPr lang="fi-FI" sz="2000" dirty="0"/>
              <a:t> haastavaa</a:t>
            </a:r>
          </a:p>
          <a:p>
            <a:endParaRPr lang="en-US" sz="2000" dirty="0"/>
          </a:p>
        </p:txBody>
      </p:sp>
      <p:sp>
        <p:nvSpPr>
          <p:cNvPr id="4" name="Rectangle 3"/>
          <p:cNvSpPr/>
          <p:nvPr/>
        </p:nvSpPr>
        <p:spPr>
          <a:xfrm>
            <a:off x="4995664" y="4978896"/>
            <a:ext cx="1152128" cy="10081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C</a:t>
            </a:r>
            <a:endParaRPr lang="en-US" dirty="0"/>
          </a:p>
        </p:txBody>
      </p:sp>
      <p:sp>
        <p:nvSpPr>
          <p:cNvPr id="5" name="Rectangle 4"/>
          <p:cNvSpPr/>
          <p:nvPr/>
        </p:nvSpPr>
        <p:spPr>
          <a:xfrm>
            <a:off x="6363816" y="4978896"/>
            <a:ext cx="1152128" cy="10081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B</a:t>
            </a:r>
            <a:endParaRPr lang="en-US" dirty="0"/>
          </a:p>
        </p:txBody>
      </p:sp>
      <p:sp>
        <p:nvSpPr>
          <p:cNvPr id="6" name="Rectangle 5"/>
          <p:cNvSpPr/>
          <p:nvPr/>
        </p:nvSpPr>
        <p:spPr>
          <a:xfrm>
            <a:off x="7668344" y="4978896"/>
            <a:ext cx="1152128" cy="10081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A</a:t>
            </a:r>
            <a:endParaRPr lang="en-US" dirty="0"/>
          </a:p>
        </p:txBody>
      </p:sp>
      <p:grpSp>
        <p:nvGrpSpPr>
          <p:cNvPr id="12" name="Group 11"/>
          <p:cNvGrpSpPr/>
          <p:nvPr/>
        </p:nvGrpSpPr>
        <p:grpSpPr>
          <a:xfrm>
            <a:off x="8063538" y="4114800"/>
            <a:ext cx="387126" cy="425922"/>
            <a:chOff x="8063538" y="4953605"/>
            <a:chExt cx="387126" cy="425922"/>
          </a:xfrm>
        </p:grpSpPr>
        <p:sp>
          <p:nvSpPr>
            <p:cNvPr id="7" name="Freeform 6"/>
            <p:cNvSpPr/>
            <p:nvPr/>
          </p:nvSpPr>
          <p:spPr>
            <a:xfrm>
              <a:off x="8127942" y="4953605"/>
              <a:ext cx="161948" cy="130861"/>
            </a:xfrm>
            <a:custGeom>
              <a:avLst/>
              <a:gdLst>
                <a:gd name="connsiteX0" fmla="*/ 91610 w 161948"/>
                <a:gd name="connsiteY0" fmla="*/ 232 h 130861"/>
                <a:gd name="connsiteX1" fmla="*/ 1174 w 161948"/>
                <a:gd name="connsiteY1" fmla="*/ 30377 h 130861"/>
                <a:gd name="connsiteX2" fmla="*/ 11223 w 161948"/>
                <a:gd name="connsiteY2" fmla="*/ 80619 h 130861"/>
                <a:gd name="connsiteX3" fmla="*/ 21271 w 161948"/>
                <a:gd name="connsiteY3" fmla="*/ 110764 h 130861"/>
                <a:gd name="connsiteX4" fmla="*/ 81561 w 161948"/>
                <a:gd name="connsiteY4" fmla="*/ 130861 h 130861"/>
                <a:gd name="connsiteX5" fmla="*/ 151900 w 161948"/>
                <a:gd name="connsiteY5" fmla="*/ 100716 h 130861"/>
                <a:gd name="connsiteX6" fmla="*/ 161948 w 161948"/>
                <a:gd name="connsiteY6" fmla="*/ 70571 h 130861"/>
                <a:gd name="connsiteX7" fmla="*/ 141851 w 161948"/>
                <a:gd name="connsiteY7" fmla="*/ 40426 h 130861"/>
                <a:gd name="connsiteX8" fmla="*/ 91610 w 161948"/>
                <a:gd name="connsiteY8" fmla="*/ 232 h 130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948" h="130861">
                  <a:moveTo>
                    <a:pt x="91610" y="232"/>
                  </a:moveTo>
                  <a:cubicBezTo>
                    <a:pt x="68164" y="-1443"/>
                    <a:pt x="8238" y="5653"/>
                    <a:pt x="1174" y="30377"/>
                  </a:cubicBezTo>
                  <a:cubicBezTo>
                    <a:pt x="-3518" y="46799"/>
                    <a:pt x="7081" y="64050"/>
                    <a:pt x="11223" y="80619"/>
                  </a:cubicBezTo>
                  <a:cubicBezTo>
                    <a:pt x="13792" y="90895"/>
                    <a:pt x="12652" y="104608"/>
                    <a:pt x="21271" y="110764"/>
                  </a:cubicBezTo>
                  <a:cubicBezTo>
                    <a:pt x="38509" y="123077"/>
                    <a:pt x="81561" y="130861"/>
                    <a:pt x="81561" y="130861"/>
                  </a:cubicBezTo>
                  <a:cubicBezTo>
                    <a:pt x="105697" y="124827"/>
                    <a:pt x="134551" y="122402"/>
                    <a:pt x="151900" y="100716"/>
                  </a:cubicBezTo>
                  <a:cubicBezTo>
                    <a:pt x="158517" y="92445"/>
                    <a:pt x="158599" y="80619"/>
                    <a:pt x="161948" y="70571"/>
                  </a:cubicBezTo>
                  <a:cubicBezTo>
                    <a:pt x="155249" y="60523"/>
                    <a:pt x="151281" y="47970"/>
                    <a:pt x="141851" y="40426"/>
                  </a:cubicBezTo>
                  <a:cubicBezTo>
                    <a:pt x="126642" y="28259"/>
                    <a:pt x="115056" y="1907"/>
                    <a:pt x="91610" y="232"/>
                  </a:cubicBezTo>
                  <a:close/>
                </a:path>
              </a:pathLst>
            </a:cu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 name="Freeform 7"/>
            <p:cNvSpPr/>
            <p:nvPr/>
          </p:nvSpPr>
          <p:spPr>
            <a:xfrm>
              <a:off x="8219552" y="5104563"/>
              <a:ext cx="231112" cy="263062"/>
            </a:xfrm>
            <a:custGeom>
              <a:avLst/>
              <a:gdLst>
                <a:gd name="connsiteX0" fmla="*/ 0 w 231112"/>
                <a:gd name="connsiteY0" fmla="*/ 0 h 263062"/>
                <a:gd name="connsiteX1" fmla="*/ 20096 w 231112"/>
                <a:gd name="connsiteY1" fmla="*/ 50241 h 263062"/>
                <a:gd name="connsiteX2" fmla="*/ 30145 w 231112"/>
                <a:gd name="connsiteY2" fmla="*/ 200967 h 263062"/>
                <a:gd name="connsiteX3" fmla="*/ 130628 w 231112"/>
                <a:gd name="connsiteY3" fmla="*/ 211015 h 263062"/>
                <a:gd name="connsiteX4" fmla="*/ 180870 w 231112"/>
                <a:gd name="connsiteY4" fmla="*/ 261257 h 263062"/>
                <a:gd name="connsiteX5" fmla="*/ 231112 w 231112"/>
                <a:gd name="connsiteY5" fmla="*/ 261257 h 263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1112" h="263062">
                  <a:moveTo>
                    <a:pt x="0" y="0"/>
                  </a:moveTo>
                  <a:cubicBezTo>
                    <a:pt x="6699" y="16747"/>
                    <a:pt x="17420" y="32404"/>
                    <a:pt x="20096" y="50241"/>
                  </a:cubicBezTo>
                  <a:cubicBezTo>
                    <a:pt x="27565" y="100037"/>
                    <a:pt x="1618" y="159474"/>
                    <a:pt x="30145" y="200967"/>
                  </a:cubicBezTo>
                  <a:cubicBezTo>
                    <a:pt x="49215" y="228705"/>
                    <a:pt x="97134" y="207666"/>
                    <a:pt x="130628" y="211015"/>
                  </a:cubicBezTo>
                  <a:cubicBezTo>
                    <a:pt x="144026" y="231111"/>
                    <a:pt x="154075" y="254558"/>
                    <a:pt x="180870" y="261257"/>
                  </a:cubicBezTo>
                  <a:cubicBezTo>
                    <a:pt x="197117" y="265319"/>
                    <a:pt x="214365" y="261257"/>
                    <a:pt x="231112" y="261257"/>
                  </a:cubicBezTo>
                </a:path>
              </a:pathLst>
            </a:custGeom>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9" name="Freeform 8"/>
            <p:cNvSpPr/>
            <p:nvPr/>
          </p:nvSpPr>
          <p:spPr>
            <a:xfrm>
              <a:off x="8063538" y="5315578"/>
              <a:ext cx="180870" cy="63949"/>
            </a:xfrm>
            <a:custGeom>
              <a:avLst/>
              <a:gdLst>
                <a:gd name="connsiteX0" fmla="*/ 180870 w 180870"/>
                <a:gd name="connsiteY0" fmla="*/ 0 h 63949"/>
                <a:gd name="connsiteX1" fmla="*/ 80386 w 180870"/>
                <a:gd name="connsiteY1" fmla="*/ 30145 h 63949"/>
                <a:gd name="connsiteX2" fmla="*/ 70338 w 180870"/>
                <a:gd name="connsiteY2" fmla="*/ 60290 h 63949"/>
                <a:gd name="connsiteX3" fmla="*/ 0 w 180870"/>
                <a:gd name="connsiteY3" fmla="*/ 60290 h 63949"/>
              </a:gdLst>
              <a:ahLst/>
              <a:cxnLst>
                <a:cxn ang="0">
                  <a:pos x="connsiteX0" y="connsiteY0"/>
                </a:cxn>
                <a:cxn ang="0">
                  <a:pos x="connsiteX1" y="connsiteY1"/>
                </a:cxn>
                <a:cxn ang="0">
                  <a:pos x="connsiteX2" y="connsiteY2"/>
                </a:cxn>
                <a:cxn ang="0">
                  <a:pos x="connsiteX3" y="connsiteY3"/>
                </a:cxn>
              </a:cxnLst>
              <a:rect l="l" t="t" r="r" b="b"/>
              <a:pathLst>
                <a:path w="180870" h="63949">
                  <a:moveTo>
                    <a:pt x="180870" y="0"/>
                  </a:moveTo>
                  <a:cubicBezTo>
                    <a:pt x="150087" y="4397"/>
                    <a:pt x="103972" y="663"/>
                    <a:pt x="80386" y="30145"/>
                  </a:cubicBezTo>
                  <a:cubicBezTo>
                    <a:pt x="73769" y="38416"/>
                    <a:pt x="80255" y="56571"/>
                    <a:pt x="70338" y="60290"/>
                  </a:cubicBezTo>
                  <a:cubicBezTo>
                    <a:pt x="48385" y="68523"/>
                    <a:pt x="23446" y="60290"/>
                    <a:pt x="0" y="60290"/>
                  </a:cubicBezTo>
                </a:path>
              </a:pathLst>
            </a:custGeom>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10" name="Freeform 9"/>
            <p:cNvSpPr/>
            <p:nvPr/>
          </p:nvSpPr>
          <p:spPr>
            <a:xfrm>
              <a:off x="8259745" y="5144756"/>
              <a:ext cx="120580" cy="50242"/>
            </a:xfrm>
            <a:custGeom>
              <a:avLst/>
              <a:gdLst>
                <a:gd name="connsiteX0" fmla="*/ 0 w 120580"/>
                <a:gd name="connsiteY0" fmla="*/ 50242 h 50242"/>
                <a:gd name="connsiteX1" fmla="*/ 80387 w 120580"/>
                <a:gd name="connsiteY1" fmla="*/ 30145 h 50242"/>
                <a:gd name="connsiteX2" fmla="*/ 120580 w 120580"/>
                <a:gd name="connsiteY2" fmla="*/ 0 h 50242"/>
              </a:gdLst>
              <a:ahLst/>
              <a:cxnLst>
                <a:cxn ang="0">
                  <a:pos x="connsiteX0" y="connsiteY0"/>
                </a:cxn>
                <a:cxn ang="0">
                  <a:pos x="connsiteX1" y="connsiteY1"/>
                </a:cxn>
                <a:cxn ang="0">
                  <a:pos x="connsiteX2" y="connsiteY2"/>
                </a:cxn>
              </a:cxnLst>
              <a:rect l="l" t="t" r="r" b="b"/>
              <a:pathLst>
                <a:path w="120580" h="50242">
                  <a:moveTo>
                    <a:pt x="0" y="50242"/>
                  </a:moveTo>
                  <a:cubicBezTo>
                    <a:pt x="19105" y="46421"/>
                    <a:pt x="59791" y="40443"/>
                    <a:pt x="80387" y="30145"/>
                  </a:cubicBezTo>
                  <a:cubicBezTo>
                    <a:pt x="103110" y="18783"/>
                    <a:pt x="106449" y="14131"/>
                    <a:pt x="120580" y="0"/>
                  </a:cubicBezTo>
                </a:path>
              </a:pathLst>
            </a:custGeom>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11" name="Freeform 10"/>
            <p:cNvSpPr/>
            <p:nvPr/>
          </p:nvSpPr>
          <p:spPr>
            <a:xfrm>
              <a:off x="8088923" y="5173897"/>
              <a:ext cx="160774" cy="44483"/>
            </a:xfrm>
            <a:custGeom>
              <a:avLst/>
              <a:gdLst>
                <a:gd name="connsiteX0" fmla="*/ 160774 w 160774"/>
                <a:gd name="connsiteY0" fmla="*/ 21101 h 44483"/>
                <a:gd name="connsiteX1" fmla="*/ 40193 w 160774"/>
                <a:gd name="connsiteY1" fmla="*/ 31149 h 44483"/>
                <a:gd name="connsiteX2" fmla="*/ 0 w 160774"/>
                <a:gd name="connsiteY2" fmla="*/ 1004 h 44483"/>
              </a:gdLst>
              <a:ahLst/>
              <a:cxnLst>
                <a:cxn ang="0">
                  <a:pos x="connsiteX0" y="connsiteY0"/>
                </a:cxn>
                <a:cxn ang="0">
                  <a:pos x="connsiteX1" y="connsiteY1"/>
                </a:cxn>
                <a:cxn ang="0">
                  <a:pos x="connsiteX2" y="connsiteY2"/>
                </a:cxn>
              </a:cxnLst>
              <a:rect l="l" t="t" r="r" b="b"/>
              <a:pathLst>
                <a:path w="160774" h="44483">
                  <a:moveTo>
                    <a:pt x="160774" y="21101"/>
                  </a:moveTo>
                  <a:cubicBezTo>
                    <a:pt x="115195" y="39333"/>
                    <a:pt x="93391" y="57748"/>
                    <a:pt x="40193" y="31149"/>
                  </a:cubicBezTo>
                  <a:cubicBezTo>
                    <a:pt x="-39161" y="-8529"/>
                    <a:pt x="103473" y="1004"/>
                    <a:pt x="0" y="1004"/>
                  </a:cubicBezTo>
                </a:path>
              </a:pathLst>
            </a:custGeom>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grpSp>
      <p:sp>
        <p:nvSpPr>
          <p:cNvPr id="13" name="Down Arrow 12"/>
          <p:cNvSpPr/>
          <p:nvPr/>
        </p:nvSpPr>
        <p:spPr>
          <a:xfrm>
            <a:off x="8146676" y="4690864"/>
            <a:ext cx="241748" cy="216024"/>
          </a:xfrm>
          <a:prstGeom prst="down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14" name="TextBox 13"/>
          <p:cNvSpPr txBox="1"/>
          <p:nvPr/>
        </p:nvSpPr>
        <p:spPr>
          <a:xfrm>
            <a:off x="4932040" y="4321532"/>
            <a:ext cx="1503784" cy="369332"/>
          </a:xfrm>
          <a:prstGeom prst="rect">
            <a:avLst/>
          </a:prstGeom>
          <a:noFill/>
        </p:spPr>
        <p:txBody>
          <a:bodyPr wrap="square" rtlCol="0">
            <a:spAutoFit/>
          </a:bodyPr>
          <a:lstStyle/>
          <a:p>
            <a:r>
              <a:rPr lang="fi-FI" dirty="0" smtClean="0"/>
              <a:t>ESIMERKKI</a:t>
            </a:r>
            <a:endParaRPr lang="en-US" dirty="0"/>
          </a:p>
        </p:txBody>
      </p:sp>
      <p:sp>
        <p:nvSpPr>
          <p:cNvPr id="15" name="Left Arrow 14"/>
          <p:cNvSpPr/>
          <p:nvPr/>
        </p:nvSpPr>
        <p:spPr>
          <a:xfrm>
            <a:off x="7452320" y="5338936"/>
            <a:ext cx="288032" cy="288032"/>
          </a:xfrm>
          <a:prstGeom prst="lef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16" name="Left Arrow 15"/>
          <p:cNvSpPr/>
          <p:nvPr/>
        </p:nvSpPr>
        <p:spPr>
          <a:xfrm>
            <a:off x="6084168" y="5338936"/>
            <a:ext cx="288032" cy="288032"/>
          </a:xfrm>
          <a:prstGeom prst="lef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17" name="Slide Number Placeholder 16"/>
          <p:cNvSpPr>
            <a:spLocks noGrp="1"/>
          </p:cNvSpPr>
          <p:nvPr>
            <p:ph type="sldNum" sz="quarter" idx="12"/>
          </p:nvPr>
        </p:nvSpPr>
        <p:spPr/>
        <p:txBody>
          <a:bodyPr/>
          <a:lstStyle/>
          <a:p>
            <a:fld id="{1FC54B03-E980-44E0-A0F1-6CAD9D10ECFB}" type="slidenum">
              <a:rPr lang="fi-FI" smtClean="0"/>
              <a:pPr/>
              <a:t>105</a:t>
            </a:fld>
            <a:endParaRPr lang="fi-FI"/>
          </a:p>
        </p:txBody>
      </p:sp>
    </p:spTree>
    <p:extLst>
      <p:ext uri="{BB962C8B-B14F-4D97-AF65-F5344CB8AC3E}">
        <p14:creationId xmlns:p14="http://schemas.microsoft.com/office/powerpoint/2010/main" val="2197357436"/>
      </p:ext>
    </p:extLst>
  </p:cSld>
  <p:clrMapOvr>
    <a:masterClrMapping/>
  </p:clrMapOvr>
  <p:timing>
    <p:tnLst>
      <p:par>
        <p:cTn xmlns:p14="http://schemas.microsoft.com/office/powerpoint/2010/mai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4599894" y="1500174"/>
            <a:ext cx="2071702" cy="471490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i-FI"/>
          </a:p>
        </p:txBody>
      </p:sp>
      <p:sp>
        <p:nvSpPr>
          <p:cNvPr id="4" name="Title 3"/>
          <p:cNvSpPr>
            <a:spLocks noGrp="1"/>
          </p:cNvSpPr>
          <p:nvPr>
            <p:ph type="title"/>
          </p:nvPr>
        </p:nvSpPr>
        <p:spPr/>
        <p:txBody>
          <a:bodyPr/>
          <a:lstStyle/>
          <a:p>
            <a:r>
              <a:rPr lang="fi-FI" dirty="0" smtClean="0"/>
              <a:t>Sisältö</a:t>
            </a:r>
            <a:endParaRPr lang="fi-FI" dirty="0"/>
          </a:p>
        </p:txBody>
      </p:sp>
      <p:graphicFrame>
        <p:nvGraphicFramePr>
          <p:cNvPr id="6" name="Content Placeholder 5"/>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Content Placeholder 4"/>
          <p:cNvSpPr>
            <a:spLocks noGrp="1"/>
          </p:cNvSpPr>
          <p:nvPr>
            <p:ph sz="half" idx="4294967295"/>
          </p:nvPr>
        </p:nvSpPr>
        <p:spPr>
          <a:xfrm>
            <a:off x="5105400" y="1600200"/>
            <a:ext cx="4038600" cy="4525963"/>
          </a:xfrm>
        </p:spPr>
        <p:txBody>
          <a:bodyPr>
            <a:normAutofit/>
          </a:bodyPr>
          <a:lstStyle/>
          <a:p>
            <a:endParaRPr lang="fi-FI" dirty="0" smtClean="0"/>
          </a:p>
          <a:p>
            <a:endParaRPr lang="fi-FI" dirty="0" smtClean="0"/>
          </a:p>
          <a:p>
            <a:pPr>
              <a:buNone/>
            </a:pPr>
            <a:endParaRPr lang="fi-FI" dirty="0"/>
          </a:p>
        </p:txBody>
      </p:sp>
      <p:sp>
        <p:nvSpPr>
          <p:cNvPr id="8" name="Up Arrow 7"/>
          <p:cNvSpPr/>
          <p:nvPr/>
        </p:nvSpPr>
        <p:spPr>
          <a:xfrm>
            <a:off x="5214942" y="6286520"/>
            <a:ext cx="785818" cy="28575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9" name="Up Arrow 8"/>
          <p:cNvSpPr/>
          <p:nvPr/>
        </p:nvSpPr>
        <p:spPr>
          <a:xfrm rot="10800000">
            <a:off x="5214942" y="1142984"/>
            <a:ext cx="785818" cy="28575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10" name="Slide Number Placeholder 9"/>
          <p:cNvSpPr>
            <a:spLocks noGrp="1"/>
          </p:cNvSpPr>
          <p:nvPr>
            <p:ph type="sldNum" sz="quarter" idx="12"/>
          </p:nvPr>
        </p:nvSpPr>
        <p:spPr/>
        <p:txBody>
          <a:bodyPr/>
          <a:lstStyle/>
          <a:p>
            <a:fld id="{7A750B4A-325E-4AA4-BC07-A8C35B32A4F3}" type="slidenum">
              <a:rPr lang="fi-FI" smtClean="0"/>
              <a:pPr/>
              <a:t>106</a:t>
            </a:fld>
            <a:endParaRPr lang="fi-FI"/>
          </a:p>
        </p:txBody>
      </p:sp>
    </p:spTree>
  </p:cSld>
  <p:clrMapOvr>
    <a:masterClrMapping/>
  </p:clrMapOvr>
  <p:timing>
    <p:tnLst>
      <p:par>
        <p:cTn xmlns:p14="http://schemas.microsoft.com/office/powerpoint/2010/mai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fi-FI" smtClean="0"/>
              <a:t>Hyväksymistestauksen organisointi ja puitteet</a:t>
            </a:r>
            <a:endParaRPr lang="fi-FI" dirty="0"/>
          </a:p>
        </p:txBody>
      </p:sp>
      <p:sp>
        <p:nvSpPr>
          <p:cNvPr id="5" name="Content Placeholder 4"/>
          <p:cNvSpPr>
            <a:spLocks noGrp="1"/>
          </p:cNvSpPr>
          <p:nvPr>
            <p:ph sz="half" idx="1"/>
          </p:nvPr>
        </p:nvSpPr>
        <p:spPr/>
        <p:txBody>
          <a:bodyPr>
            <a:noAutofit/>
          </a:bodyPr>
          <a:lstStyle/>
          <a:p>
            <a:r>
              <a:rPr lang="fi-FI" sz="2000" dirty="0" smtClean="0"/>
              <a:t>Hyväksymistestauksen suunnittelun ja hallinnan rakenteet</a:t>
            </a:r>
          </a:p>
          <a:p>
            <a:r>
              <a:rPr lang="fi-FI" sz="2000" dirty="0" smtClean="0"/>
              <a:t>Miten voidaan auttaa sovellusalueasiantuntijatestaajaa onnistumaan testauksessa tyypillisesti testauksen vaikutuspiirissä olevin keinoin?</a:t>
            </a:r>
          </a:p>
          <a:p>
            <a:r>
              <a:rPr lang="fi-FI" sz="2000" dirty="0" smtClean="0"/>
              <a:t>Konkreettisia tuloksia</a:t>
            </a:r>
          </a:p>
          <a:p>
            <a:pPr lvl="1"/>
            <a:r>
              <a:rPr lang="fi-FI" sz="1600" dirty="0" smtClean="0"/>
              <a:t>Hyväksymistestaussuunnittelu ja –suunnitelma</a:t>
            </a:r>
          </a:p>
          <a:p>
            <a:pPr lvl="1"/>
            <a:r>
              <a:rPr lang="fi-FI" sz="1600" dirty="0" smtClean="0"/>
              <a:t>Kokonaistestaussuunnittelu ja –suunnitelma</a:t>
            </a:r>
          </a:p>
          <a:p>
            <a:pPr lvl="1"/>
            <a:r>
              <a:rPr lang="fi-FI" sz="1600" dirty="0" smtClean="0"/>
              <a:t>Testauksen tilanneraportti</a:t>
            </a:r>
          </a:p>
          <a:p>
            <a:pPr lvl="1"/>
            <a:r>
              <a:rPr lang="fi-FI" sz="1600" dirty="0" smtClean="0"/>
              <a:t>Havaintokirjaukset</a:t>
            </a:r>
          </a:p>
          <a:p>
            <a:endParaRPr lang="fi-FI" sz="2000" dirty="0"/>
          </a:p>
        </p:txBody>
      </p:sp>
      <p:sp>
        <p:nvSpPr>
          <p:cNvPr id="6" name="Content Placeholder 5"/>
          <p:cNvSpPr>
            <a:spLocks noGrp="1"/>
          </p:cNvSpPr>
          <p:nvPr>
            <p:ph sz="half" idx="2"/>
          </p:nvPr>
        </p:nvSpPr>
        <p:spPr/>
        <p:txBody>
          <a:bodyPr>
            <a:normAutofit fontScale="62500" lnSpcReduction="20000"/>
          </a:bodyPr>
          <a:lstStyle/>
          <a:p>
            <a:pPr lvl="0"/>
            <a:r>
              <a:rPr lang="fi-FI" dirty="0" smtClean="0">
                <a:solidFill>
                  <a:schemeClr val="accent1"/>
                </a:solidFill>
              </a:rPr>
              <a:t>Testausprosessi suunnittelusta läpivientiin</a:t>
            </a:r>
          </a:p>
          <a:p>
            <a:pPr lvl="0"/>
            <a:r>
              <a:rPr lang="fi-FI" dirty="0" smtClean="0">
                <a:solidFill>
                  <a:schemeClr val="accent1"/>
                </a:solidFill>
              </a:rPr>
              <a:t>Toimittajan testauksien tarkastelu osana hyväksymistestausta</a:t>
            </a:r>
          </a:p>
          <a:p>
            <a:pPr lvl="0"/>
            <a:r>
              <a:rPr lang="fi-FI" dirty="0" smtClean="0">
                <a:solidFill>
                  <a:schemeClr val="accent1"/>
                </a:solidFill>
              </a:rPr>
              <a:t>Ohjelmistokehityksen luonne, jatkuva muutos ja testauksen toistotarve</a:t>
            </a:r>
          </a:p>
          <a:p>
            <a:pPr lvl="0"/>
            <a:r>
              <a:rPr lang="fi-FI" dirty="0" smtClean="0">
                <a:solidFill>
                  <a:schemeClr val="accent1"/>
                </a:solidFill>
              </a:rPr>
              <a:t>Testauksen työmäärät ja tehokkuus tuloksina ja kustannuksina</a:t>
            </a:r>
          </a:p>
          <a:p>
            <a:pPr lvl="0"/>
            <a:r>
              <a:rPr lang="fi-FI" dirty="0" smtClean="0">
                <a:solidFill>
                  <a:schemeClr val="accent1"/>
                </a:solidFill>
              </a:rPr>
              <a:t>Riskiohjattu testaus: rajallisen työmäärän kohdistaminen</a:t>
            </a:r>
          </a:p>
          <a:p>
            <a:pPr lvl="0"/>
            <a:r>
              <a:rPr lang="fi-FI" dirty="0" smtClean="0">
                <a:solidFill>
                  <a:schemeClr val="accent1"/>
                </a:solidFill>
              </a:rPr>
              <a:t>Havaintokirjausten käsittely ja muutoksista sopiminen</a:t>
            </a:r>
          </a:p>
          <a:p>
            <a:pPr lvl="0"/>
            <a:r>
              <a:rPr lang="fi-FI" dirty="0" smtClean="0">
                <a:solidFill>
                  <a:schemeClr val="accent1"/>
                </a:solidFill>
              </a:rPr>
              <a:t>Testausympäristöt, testitapaukset ja testiaineisto</a:t>
            </a:r>
          </a:p>
          <a:p>
            <a:pPr lvl="0"/>
            <a:r>
              <a:rPr lang="fi-FI" dirty="0" smtClean="0">
                <a:solidFill>
                  <a:schemeClr val="accent1"/>
                </a:solidFill>
              </a:rPr>
              <a:t>Testauksen hallinta, seuranta ja mittarit</a:t>
            </a:r>
          </a:p>
          <a:p>
            <a:pPr lvl="0"/>
            <a:r>
              <a:rPr lang="fi-FI" dirty="0" smtClean="0">
                <a:solidFill>
                  <a:schemeClr val="accent1"/>
                </a:solidFill>
              </a:rPr>
              <a:t>Toistuva hyväksymistestaus ylläpitoluonteiselle kehitystyölle</a:t>
            </a:r>
          </a:p>
          <a:p>
            <a:endParaRPr lang="fi-FI" dirty="0"/>
          </a:p>
        </p:txBody>
      </p:sp>
      <p:sp>
        <p:nvSpPr>
          <p:cNvPr id="7" name="Slide Number Placeholder 6"/>
          <p:cNvSpPr>
            <a:spLocks noGrp="1"/>
          </p:cNvSpPr>
          <p:nvPr>
            <p:ph type="sldNum" sz="quarter" idx="12"/>
          </p:nvPr>
        </p:nvSpPr>
        <p:spPr/>
        <p:txBody>
          <a:bodyPr/>
          <a:lstStyle/>
          <a:p>
            <a:fld id="{7A750B4A-325E-4AA4-BC07-A8C35B32A4F3}" type="slidenum">
              <a:rPr lang="fi-FI" smtClean="0"/>
              <a:pPr/>
              <a:t>107</a:t>
            </a:fld>
            <a:endParaRPr lang="fi-FI"/>
          </a:p>
        </p:txBody>
      </p:sp>
    </p:spTree>
  </p:cSld>
  <p:clrMapOvr>
    <a:masterClrMapping/>
  </p:clrMapOvr>
  <p:timing>
    <p:tnLst>
      <p:par>
        <p:cTn xmlns:p14="http://schemas.microsoft.com/office/powerpoint/2010/mai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fi-FI" dirty="0" smtClean="0"/>
              <a:t>Testausprosessi</a:t>
            </a:r>
            <a:endParaRPr lang="fi-FI" dirty="0"/>
          </a:p>
        </p:txBody>
      </p:sp>
      <p:sp>
        <p:nvSpPr>
          <p:cNvPr id="8" name="Subtitle 7"/>
          <p:cNvSpPr>
            <a:spLocks noGrp="1"/>
          </p:cNvSpPr>
          <p:nvPr>
            <p:ph type="body" idx="1"/>
          </p:nvPr>
        </p:nvSpPr>
        <p:spPr/>
        <p:txBody>
          <a:bodyPr/>
          <a:lstStyle/>
          <a:p>
            <a:r>
              <a:rPr lang="fi-FI" dirty="0" smtClean="0"/>
              <a:t>Suunnittelusta läpivientiin</a:t>
            </a:r>
            <a:endParaRPr lang="fi-FI" dirty="0"/>
          </a:p>
        </p:txBody>
      </p:sp>
      <p:sp>
        <p:nvSpPr>
          <p:cNvPr id="5" name="Slide Number Placeholder 4"/>
          <p:cNvSpPr>
            <a:spLocks noGrp="1"/>
          </p:cNvSpPr>
          <p:nvPr>
            <p:ph type="sldNum" sz="quarter" idx="12"/>
          </p:nvPr>
        </p:nvSpPr>
        <p:spPr/>
        <p:txBody>
          <a:bodyPr/>
          <a:lstStyle/>
          <a:p>
            <a:fld id="{7A750B4A-325E-4AA4-BC07-A8C35B32A4F3}" type="slidenum">
              <a:rPr lang="fi-FI" smtClean="0"/>
              <a:pPr/>
              <a:t>108</a:t>
            </a:fld>
            <a:endParaRPr lang="fi-FI"/>
          </a:p>
        </p:txBody>
      </p:sp>
    </p:spTree>
  </p:cSld>
  <p:clrMapOvr>
    <a:masterClrMapping/>
  </p:clrMapOvr>
  <p:timing>
    <p:tnLst>
      <p:par>
        <p:cTn xmlns:p14="http://schemas.microsoft.com/office/powerpoint/2010/mai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r>
              <a:rPr lang="fi-FI" smtClean="0"/>
              <a:t>Testauksen tilannemalli</a:t>
            </a:r>
            <a:endParaRPr lang="en-GB" smtClean="0"/>
          </a:p>
        </p:txBody>
      </p:sp>
      <p:graphicFrame>
        <p:nvGraphicFramePr>
          <p:cNvPr id="1026" name="Object 3"/>
          <p:cNvGraphicFramePr>
            <a:graphicFrameLocks noChangeAspect="1"/>
          </p:cNvGraphicFramePr>
          <p:nvPr/>
        </p:nvGraphicFramePr>
        <p:xfrm>
          <a:off x="731838" y="1409700"/>
          <a:ext cx="7878762" cy="4498975"/>
        </p:xfrm>
        <a:graphic>
          <a:graphicData uri="http://schemas.openxmlformats.org/presentationml/2006/ole">
            <mc:AlternateContent xmlns:mc="http://schemas.openxmlformats.org/markup-compatibility/2006">
              <mc:Choice xmlns:v="urn:schemas-microsoft-com:vml" Requires="v">
                <p:oleObj spid="_x0000_s509957" name="Visio" r:id="rId4" imgW="7069680" imgH="4037760" progId="">
                  <p:embed/>
                </p:oleObj>
              </mc:Choice>
              <mc:Fallback>
                <p:oleObj name="Visio" r:id="rId4" imgW="7069680" imgH="4037760" progId="">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1838" y="1409700"/>
                        <a:ext cx="7878762" cy="4498975"/>
                      </a:xfrm>
                      <a:prstGeom prst="rect">
                        <a:avLst/>
                      </a:prstGeom>
                      <a:noFill/>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1028" name="Text Box 4"/>
          <p:cNvSpPr txBox="1">
            <a:spLocks noChangeArrowheads="1"/>
          </p:cNvSpPr>
          <p:nvPr/>
        </p:nvSpPr>
        <p:spPr bwMode="auto">
          <a:xfrm>
            <a:off x="3581400" y="6400800"/>
            <a:ext cx="5562600" cy="274638"/>
          </a:xfrm>
          <a:prstGeom prst="rect">
            <a:avLst/>
          </a:prstGeom>
          <a:noFill/>
          <a:ln w="9525">
            <a:noFill/>
            <a:miter lim="800000"/>
            <a:headEnd/>
            <a:tailEnd/>
          </a:ln>
        </p:spPr>
        <p:txBody>
          <a:bodyPr>
            <a:spAutoFit/>
          </a:bodyPr>
          <a:lstStyle/>
          <a:p>
            <a:pPr eaLnBrk="1" hangingPunct="1">
              <a:spcBef>
                <a:spcPct val="50000"/>
              </a:spcBef>
            </a:pPr>
            <a:r>
              <a:rPr lang="fi-FI" sz="1200" dirty="0" smtClean="0"/>
              <a:t>Muokattu: Kaner </a:t>
            </a:r>
            <a:r>
              <a:rPr lang="fi-FI" sz="1200" dirty="0"/>
              <a:t>et al. </a:t>
            </a:r>
            <a:r>
              <a:rPr lang="fi-FI" sz="1200" dirty="0" smtClean="0"/>
              <a:t>2002. Lessons Learned in Software Testing. </a:t>
            </a:r>
            <a:endParaRPr lang="en-GB" sz="1200" dirty="0"/>
          </a:p>
        </p:txBody>
      </p:sp>
      <p:sp>
        <p:nvSpPr>
          <p:cNvPr id="5" name="Slide Number Placeholder 4"/>
          <p:cNvSpPr>
            <a:spLocks noGrp="1"/>
          </p:cNvSpPr>
          <p:nvPr>
            <p:ph type="sldNum" sz="quarter" idx="12"/>
          </p:nvPr>
        </p:nvSpPr>
        <p:spPr/>
        <p:txBody>
          <a:bodyPr/>
          <a:lstStyle/>
          <a:p>
            <a:fld id="{1FC54B03-E980-44E0-A0F1-6CAD9D10ECFB}" type="slidenum">
              <a:rPr lang="fi-FI" smtClean="0"/>
              <a:pPr/>
              <a:t>109</a:t>
            </a:fld>
            <a:endParaRPr lang="fi-FI"/>
          </a:p>
        </p:txBody>
      </p:sp>
    </p:spTree>
  </p:cSld>
  <p:clrMapOvr>
    <a:masterClrMapping/>
  </p:clrMapOvr>
  <p:timing>
    <p:tnLst>
      <p:par>
        <p:cTn xmlns:p14="http://schemas.microsoft.com/office/powerpoint/2010/mai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fi-FI" smtClean="0"/>
              <a:t>Annetut tarkemmin</a:t>
            </a:r>
            <a:endParaRPr lang="en-GB" smtClean="0"/>
          </a:p>
        </p:txBody>
      </p:sp>
      <p:sp>
        <p:nvSpPr>
          <p:cNvPr id="4099" name="Rectangle 3"/>
          <p:cNvSpPr>
            <a:spLocks noChangeArrowheads="1"/>
          </p:cNvSpPr>
          <p:nvPr/>
        </p:nvSpPr>
        <p:spPr bwMode="auto">
          <a:xfrm>
            <a:off x="533400" y="1524000"/>
            <a:ext cx="2667000" cy="1219200"/>
          </a:xfrm>
          <a:prstGeom prst="rect">
            <a:avLst/>
          </a:prstGeom>
          <a:solidFill>
            <a:schemeClr val="accent2"/>
          </a:solidFill>
          <a:ln w="9525">
            <a:solidFill>
              <a:srgbClr val="000000"/>
            </a:solidFill>
            <a:miter lim="800000"/>
            <a:headEnd/>
            <a:tailEnd/>
          </a:ln>
        </p:spPr>
        <p:txBody>
          <a:bodyPr wrap="none" anchor="ctr"/>
          <a:lstStyle/>
          <a:p>
            <a:pPr algn="ctr" eaLnBrk="1" fontAlgn="t" hangingPunct="1">
              <a:spcBef>
                <a:spcPct val="30000"/>
              </a:spcBef>
            </a:pPr>
            <a:r>
              <a:rPr lang="en-GB" sz="1600" b="1">
                <a:solidFill>
                  <a:schemeClr val="bg1"/>
                </a:solidFill>
              </a:rPr>
              <a:t>Missio</a:t>
            </a:r>
          </a:p>
          <a:p>
            <a:pPr algn="ctr" eaLnBrk="1" fontAlgn="t" hangingPunct="1">
              <a:spcBef>
                <a:spcPct val="30000"/>
              </a:spcBef>
              <a:buFontTx/>
              <a:buChar char="•"/>
            </a:pPr>
            <a:r>
              <a:rPr lang="en-GB" sz="1600">
                <a:solidFill>
                  <a:schemeClr val="bg1"/>
                </a:solidFill>
              </a:rPr>
              <a:t>Testauksen sidosryhmät </a:t>
            </a:r>
          </a:p>
          <a:p>
            <a:pPr algn="ctr" eaLnBrk="1" fontAlgn="t" hangingPunct="1">
              <a:spcBef>
                <a:spcPct val="30000"/>
              </a:spcBef>
              <a:buFontTx/>
              <a:buChar char="•"/>
            </a:pPr>
            <a:r>
              <a:rPr lang="en-GB" sz="1600">
                <a:solidFill>
                  <a:schemeClr val="bg1"/>
                </a:solidFill>
              </a:rPr>
              <a:t>Odotukset </a:t>
            </a:r>
          </a:p>
          <a:p>
            <a:pPr algn="ctr" eaLnBrk="1" fontAlgn="t" hangingPunct="1">
              <a:spcBef>
                <a:spcPct val="30000"/>
              </a:spcBef>
              <a:buFontTx/>
              <a:buChar char="•"/>
            </a:pPr>
            <a:r>
              <a:rPr lang="en-GB" sz="1600">
                <a:solidFill>
                  <a:schemeClr val="bg1"/>
                </a:solidFill>
              </a:rPr>
              <a:t>Tavoitteet </a:t>
            </a:r>
          </a:p>
        </p:txBody>
      </p:sp>
      <p:sp>
        <p:nvSpPr>
          <p:cNvPr id="4100" name="Rectangle 4"/>
          <p:cNvSpPr>
            <a:spLocks noChangeArrowheads="1"/>
          </p:cNvSpPr>
          <p:nvPr/>
        </p:nvSpPr>
        <p:spPr bwMode="auto">
          <a:xfrm>
            <a:off x="609600" y="3276600"/>
            <a:ext cx="2590800" cy="2971800"/>
          </a:xfrm>
          <a:prstGeom prst="rect">
            <a:avLst/>
          </a:prstGeom>
          <a:solidFill>
            <a:schemeClr val="accent2"/>
          </a:solidFill>
          <a:ln w="9525">
            <a:solidFill>
              <a:srgbClr val="000000"/>
            </a:solidFill>
            <a:miter lim="800000"/>
            <a:headEnd/>
            <a:tailEnd/>
          </a:ln>
        </p:spPr>
        <p:txBody>
          <a:bodyPr wrap="none" anchor="ctr"/>
          <a:lstStyle/>
          <a:p>
            <a:pPr algn="ctr" eaLnBrk="1" fontAlgn="t" hangingPunct="1">
              <a:spcBef>
                <a:spcPct val="30000"/>
              </a:spcBef>
            </a:pPr>
            <a:r>
              <a:rPr lang="en-GB" sz="1600" b="1" dirty="0" err="1">
                <a:solidFill>
                  <a:schemeClr val="bg1"/>
                </a:solidFill>
              </a:rPr>
              <a:t>Kehitys</a:t>
            </a:r>
            <a:r>
              <a:rPr lang="en-GB" sz="1600" b="1" dirty="0">
                <a:solidFill>
                  <a:schemeClr val="bg1"/>
                </a:solidFill>
              </a:rPr>
              <a:t> </a:t>
            </a:r>
            <a:r>
              <a:rPr lang="en-GB" sz="1600" b="1" dirty="0" err="1">
                <a:solidFill>
                  <a:schemeClr val="bg1"/>
                </a:solidFill>
              </a:rPr>
              <a:t>ja</a:t>
            </a:r>
            <a:r>
              <a:rPr lang="en-GB" sz="1600" b="1" dirty="0">
                <a:solidFill>
                  <a:schemeClr val="bg1"/>
                </a:solidFill>
              </a:rPr>
              <a:t> </a:t>
            </a:r>
            <a:r>
              <a:rPr lang="en-GB" sz="1600" b="1" dirty="0" err="1">
                <a:solidFill>
                  <a:schemeClr val="bg1"/>
                </a:solidFill>
              </a:rPr>
              <a:t>integrointi</a:t>
            </a:r>
            <a:endParaRPr lang="en-GB" sz="1600" b="1" dirty="0">
              <a:solidFill>
                <a:schemeClr val="bg1"/>
              </a:solidFill>
            </a:endParaRPr>
          </a:p>
          <a:p>
            <a:pPr algn="ctr" eaLnBrk="1" fontAlgn="t" hangingPunct="1">
              <a:spcBef>
                <a:spcPct val="30000"/>
              </a:spcBef>
              <a:buFontTx/>
              <a:buChar char="•"/>
            </a:pPr>
            <a:r>
              <a:rPr lang="en-GB" sz="1600" dirty="0" err="1">
                <a:solidFill>
                  <a:schemeClr val="bg1"/>
                </a:solidFill>
              </a:rPr>
              <a:t>Sovellusarkkitehtuuri</a:t>
            </a:r>
            <a:r>
              <a:rPr lang="en-GB" sz="1600" dirty="0">
                <a:solidFill>
                  <a:schemeClr val="bg1"/>
                </a:solidFill>
              </a:rPr>
              <a:t> </a:t>
            </a:r>
            <a:r>
              <a:rPr lang="fi-FI" sz="1600" dirty="0">
                <a:solidFill>
                  <a:schemeClr val="bg1"/>
                </a:solidFill>
              </a:rPr>
              <a:t/>
            </a:r>
            <a:br>
              <a:rPr lang="fi-FI" sz="1600" dirty="0">
                <a:solidFill>
                  <a:schemeClr val="bg1"/>
                </a:solidFill>
              </a:rPr>
            </a:br>
            <a:r>
              <a:rPr lang="en-GB" sz="1600" dirty="0" err="1">
                <a:solidFill>
                  <a:schemeClr val="bg1"/>
                </a:solidFill>
              </a:rPr>
              <a:t>ja</a:t>
            </a:r>
            <a:r>
              <a:rPr lang="en-GB" sz="1600" dirty="0">
                <a:solidFill>
                  <a:schemeClr val="bg1"/>
                </a:solidFill>
              </a:rPr>
              <a:t> -</a:t>
            </a:r>
            <a:r>
              <a:rPr lang="en-GB" sz="1600" dirty="0" err="1">
                <a:solidFill>
                  <a:schemeClr val="bg1"/>
                </a:solidFill>
              </a:rPr>
              <a:t>rakenteet</a:t>
            </a:r>
            <a:r>
              <a:rPr lang="en-GB" sz="1600" dirty="0">
                <a:solidFill>
                  <a:schemeClr val="bg1"/>
                </a:solidFill>
              </a:rPr>
              <a:t> </a:t>
            </a:r>
          </a:p>
          <a:p>
            <a:pPr algn="ctr" eaLnBrk="1" fontAlgn="t" hangingPunct="1">
              <a:spcBef>
                <a:spcPct val="30000"/>
              </a:spcBef>
              <a:buFontTx/>
              <a:buChar char="•"/>
            </a:pPr>
            <a:r>
              <a:rPr lang="en-GB" sz="1600" dirty="0" err="1">
                <a:solidFill>
                  <a:schemeClr val="bg1"/>
                </a:solidFill>
              </a:rPr>
              <a:t>Projektin</a:t>
            </a:r>
            <a:r>
              <a:rPr lang="en-GB" sz="1600" dirty="0">
                <a:solidFill>
                  <a:schemeClr val="bg1"/>
                </a:solidFill>
              </a:rPr>
              <a:t> </a:t>
            </a:r>
            <a:r>
              <a:rPr lang="en-GB" sz="1600" dirty="0" err="1">
                <a:solidFill>
                  <a:schemeClr val="bg1"/>
                </a:solidFill>
              </a:rPr>
              <a:t>elinkaarimalli</a:t>
            </a:r>
            <a:r>
              <a:rPr lang="en-GB" sz="1600" dirty="0">
                <a:solidFill>
                  <a:schemeClr val="bg1"/>
                </a:solidFill>
              </a:rPr>
              <a:t> </a:t>
            </a:r>
            <a:r>
              <a:rPr lang="fi-FI" sz="1600" dirty="0">
                <a:solidFill>
                  <a:schemeClr val="bg1"/>
                </a:solidFill>
              </a:rPr>
              <a:t/>
            </a:r>
            <a:br>
              <a:rPr lang="fi-FI" sz="1600" dirty="0">
                <a:solidFill>
                  <a:schemeClr val="bg1"/>
                </a:solidFill>
              </a:rPr>
            </a:br>
            <a:r>
              <a:rPr lang="en-GB" sz="1600" dirty="0" err="1">
                <a:solidFill>
                  <a:schemeClr val="bg1"/>
                </a:solidFill>
              </a:rPr>
              <a:t>ja</a:t>
            </a:r>
            <a:r>
              <a:rPr lang="en-GB" sz="1600" dirty="0">
                <a:solidFill>
                  <a:schemeClr val="bg1"/>
                </a:solidFill>
              </a:rPr>
              <a:t> </a:t>
            </a:r>
            <a:r>
              <a:rPr lang="en-GB" sz="1600" dirty="0" err="1">
                <a:solidFill>
                  <a:schemeClr val="bg1"/>
                </a:solidFill>
              </a:rPr>
              <a:t>rytmitys</a:t>
            </a:r>
            <a:r>
              <a:rPr lang="en-GB" sz="1600" dirty="0">
                <a:solidFill>
                  <a:schemeClr val="bg1"/>
                </a:solidFill>
              </a:rPr>
              <a:t> </a:t>
            </a:r>
          </a:p>
          <a:p>
            <a:pPr algn="ctr" eaLnBrk="1" fontAlgn="t" hangingPunct="1">
              <a:spcBef>
                <a:spcPct val="30000"/>
              </a:spcBef>
              <a:buFontTx/>
              <a:buChar char="•"/>
            </a:pPr>
            <a:r>
              <a:rPr lang="en-GB" sz="1600" dirty="0" err="1">
                <a:solidFill>
                  <a:schemeClr val="bg1"/>
                </a:solidFill>
              </a:rPr>
              <a:t>Projektinhallinta</a:t>
            </a:r>
            <a:r>
              <a:rPr lang="en-GB" sz="1600" dirty="0">
                <a:solidFill>
                  <a:schemeClr val="bg1"/>
                </a:solidFill>
              </a:rPr>
              <a:t> </a:t>
            </a:r>
          </a:p>
          <a:p>
            <a:pPr algn="ctr" eaLnBrk="1" fontAlgn="t" hangingPunct="1">
              <a:spcBef>
                <a:spcPct val="30000"/>
              </a:spcBef>
              <a:buFontTx/>
              <a:buChar char="•"/>
            </a:pPr>
            <a:r>
              <a:rPr lang="en-GB" sz="1600" dirty="0" err="1">
                <a:solidFill>
                  <a:schemeClr val="bg1"/>
                </a:solidFill>
              </a:rPr>
              <a:t>Kokoonpanonhallinta</a:t>
            </a:r>
            <a:r>
              <a:rPr lang="en-GB" sz="1600" dirty="0">
                <a:solidFill>
                  <a:schemeClr val="bg1"/>
                </a:solidFill>
              </a:rPr>
              <a:t> </a:t>
            </a:r>
          </a:p>
          <a:p>
            <a:pPr algn="ctr" eaLnBrk="1" fontAlgn="t" hangingPunct="1">
              <a:spcBef>
                <a:spcPct val="30000"/>
              </a:spcBef>
              <a:buFontTx/>
              <a:buChar char="•"/>
            </a:pPr>
            <a:r>
              <a:rPr lang="en-GB" sz="1600" dirty="0" err="1">
                <a:solidFill>
                  <a:schemeClr val="bg1"/>
                </a:solidFill>
              </a:rPr>
              <a:t>Julkaisunhallinta</a:t>
            </a:r>
            <a:r>
              <a:rPr lang="en-GB" sz="1600" dirty="0">
                <a:solidFill>
                  <a:schemeClr val="bg1"/>
                </a:solidFill>
              </a:rPr>
              <a:t> </a:t>
            </a:r>
          </a:p>
          <a:p>
            <a:pPr algn="ctr" eaLnBrk="1" fontAlgn="t" hangingPunct="1">
              <a:spcBef>
                <a:spcPct val="30000"/>
              </a:spcBef>
              <a:buFontTx/>
              <a:buChar char="•"/>
            </a:pPr>
            <a:r>
              <a:rPr lang="en-GB" sz="1600" dirty="0" err="1">
                <a:solidFill>
                  <a:schemeClr val="bg1"/>
                </a:solidFill>
              </a:rPr>
              <a:t>Virheiden</a:t>
            </a:r>
            <a:r>
              <a:rPr lang="en-GB" sz="1600" dirty="0">
                <a:solidFill>
                  <a:schemeClr val="bg1"/>
                </a:solidFill>
              </a:rPr>
              <a:t> </a:t>
            </a:r>
            <a:r>
              <a:rPr lang="en-GB" sz="1600" dirty="0" err="1">
                <a:solidFill>
                  <a:schemeClr val="bg1"/>
                </a:solidFill>
              </a:rPr>
              <a:t>estäminen</a:t>
            </a:r>
            <a:r>
              <a:rPr lang="en-GB" sz="1600" dirty="0">
                <a:solidFill>
                  <a:schemeClr val="bg1"/>
                </a:solidFill>
              </a:rPr>
              <a:t> </a:t>
            </a:r>
          </a:p>
          <a:p>
            <a:pPr algn="ctr" eaLnBrk="1" fontAlgn="t" hangingPunct="1">
              <a:spcBef>
                <a:spcPct val="30000"/>
              </a:spcBef>
              <a:buFontTx/>
              <a:buChar char="•"/>
            </a:pPr>
            <a:r>
              <a:rPr lang="en-GB" sz="1600" dirty="0" err="1">
                <a:solidFill>
                  <a:schemeClr val="bg1"/>
                </a:solidFill>
              </a:rPr>
              <a:t>Kehitysryhmä</a:t>
            </a:r>
            <a:r>
              <a:rPr lang="en-GB" sz="1600" dirty="0">
                <a:solidFill>
                  <a:schemeClr val="bg1"/>
                </a:solidFill>
              </a:rPr>
              <a:t> </a:t>
            </a:r>
          </a:p>
        </p:txBody>
      </p:sp>
      <p:sp>
        <p:nvSpPr>
          <p:cNvPr id="4101" name="Rectangle 5"/>
          <p:cNvSpPr>
            <a:spLocks noChangeArrowheads="1"/>
          </p:cNvSpPr>
          <p:nvPr/>
        </p:nvSpPr>
        <p:spPr bwMode="auto">
          <a:xfrm>
            <a:off x="3352800" y="2514600"/>
            <a:ext cx="2590800" cy="3733800"/>
          </a:xfrm>
          <a:prstGeom prst="rect">
            <a:avLst/>
          </a:prstGeom>
          <a:solidFill>
            <a:schemeClr val="accent2"/>
          </a:solidFill>
          <a:ln w="9525">
            <a:solidFill>
              <a:srgbClr val="000000"/>
            </a:solidFill>
            <a:miter lim="800000"/>
            <a:headEnd/>
            <a:tailEnd/>
          </a:ln>
        </p:spPr>
        <p:txBody>
          <a:bodyPr wrap="none" anchor="ctr"/>
          <a:lstStyle/>
          <a:p>
            <a:pPr algn="ctr" eaLnBrk="1" fontAlgn="t" hangingPunct="1">
              <a:spcBef>
                <a:spcPct val="30000"/>
              </a:spcBef>
            </a:pPr>
            <a:r>
              <a:rPr lang="en-GB" sz="1600" b="1">
                <a:solidFill>
                  <a:schemeClr val="bg1"/>
                </a:solidFill>
              </a:rPr>
              <a:t>Vaatimukset</a:t>
            </a:r>
          </a:p>
          <a:p>
            <a:pPr algn="ctr" eaLnBrk="1" fontAlgn="t" hangingPunct="1">
              <a:spcBef>
                <a:spcPct val="30000"/>
              </a:spcBef>
              <a:buFontTx/>
              <a:buChar char="•"/>
            </a:pPr>
            <a:r>
              <a:rPr lang="en-GB" sz="1600">
                <a:solidFill>
                  <a:schemeClr val="bg1"/>
                </a:solidFill>
              </a:rPr>
              <a:t>Laatu-aika-ominaisuu</a:t>
            </a:r>
            <a:r>
              <a:rPr lang="fi-FI" sz="1600">
                <a:solidFill>
                  <a:schemeClr val="bg1"/>
                </a:solidFill>
              </a:rPr>
              <a:t>s</a:t>
            </a:r>
            <a:r>
              <a:rPr lang="en-GB" sz="1600">
                <a:solidFill>
                  <a:schemeClr val="bg1"/>
                </a:solidFill>
              </a:rPr>
              <a:t> </a:t>
            </a:r>
            <a:r>
              <a:rPr lang="fi-FI" sz="1600">
                <a:solidFill>
                  <a:schemeClr val="bg1"/>
                </a:solidFill>
              </a:rPr>
              <a:t/>
            </a:r>
            <a:br>
              <a:rPr lang="fi-FI" sz="1600">
                <a:solidFill>
                  <a:schemeClr val="bg1"/>
                </a:solidFill>
              </a:rPr>
            </a:br>
            <a:r>
              <a:rPr lang="en-GB" sz="1600">
                <a:solidFill>
                  <a:schemeClr val="bg1"/>
                </a:solidFill>
              </a:rPr>
              <a:t>painotukset </a:t>
            </a:r>
          </a:p>
          <a:p>
            <a:pPr algn="ctr" eaLnBrk="1" fontAlgn="t" hangingPunct="1">
              <a:spcBef>
                <a:spcPct val="30000"/>
              </a:spcBef>
              <a:buFontTx/>
              <a:buChar char="•"/>
            </a:pPr>
            <a:r>
              <a:rPr lang="en-GB" sz="1600">
                <a:solidFill>
                  <a:schemeClr val="bg1"/>
                </a:solidFill>
              </a:rPr>
              <a:t>Järjestelmän riskit </a:t>
            </a:r>
          </a:p>
          <a:p>
            <a:pPr algn="ctr" eaLnBrk="1" fontAlgn="t" hangingPunct="1">
              <a:spcBef>
                <a:spcPct val="30000"/>
              </a:spcBef>
              <a:buFontTx/>
              <a:buChar char="•"/>
            </a:pPr>
            <a:r>
              <a:rPr lang="en-GB" sz="1600">
                <a:solidFill>
                  <a:schemeClr val="bg1"/>
                </a:solidFill>
              </a:rPr>
              <a:t>Laatuominaisuuksien </a:t>
            </a:r>
            <a:r>
              <a:rPr lang="fi-FI" sz="1600">
                <a:solidFill>
                  <a:schemeClr val="bg1"/>
                </a:solidFill>
              </a:rPr>
              <a:t/>
            </a:r>
            <a:br>
              <a:rPr lang="fi-FI" sz="1600">
                <a:solidFill>
                  <a:schemeClr val="bg1"/>
                </a:solidFill>
              </a:rPr>
            </a:br>
            <a:r>
              <a:rPr lang="en-GB" sz="1600">
                <a:solidFill>
                  <a:schemeClr val="bg1"/>
                </a:solidFill>
              </a:rPr>
              <a:t>painotukset </a:t>
            </a:r>
          </a:p>
          <a:p>
            <a:pPr algn="ctr" eaLnBrk="1" fontAlgn="t" hangingPunct="1">
              <a:spcBef>
                <a:spcPct val="30000"/>
              </a:spcBef>
              <a:buFontTx/>
              <a:buChar char="•"/>
            </a:pPr>
            <a:r>
              <a:rPr lang="en-GB" sz="1600">
                <a:solidFill>
                  <a:schemeClr val="bg1"/>
                </a:solidFill>
              </a:rPr>
              <a:t>Järjestelmän tavoitteet </a:t>
            </a:r>
            <a:r>
              <a:rPr lang="fi-FI" sz="1600">
                <a:solidFill>
                  <a:schemeClr val="bg1"/>
                </a:solidFill>
              </a:rPr>
              <a:t/>
            </a:r>
            <a:br>
              <a:rPr lang="fi-FI" sz="1600">
                <a:solidFill>
                  <a:schemeClr val="bg1"/>
                </a:solidFill>
              </a:rPr>
            </a:br>
            <a:r>
              <a:rPr lang="en-GB" sz="1600">
                <a:solidFill>
                  <a:schemeClr val="bg1"/>
                </a:solidFill>
              </a:rPr>
              <a:t>(ratkaistava ongelma) </a:t>
            </a:r>
          </a:p>
          <a:p>
            <a:pPr algn="ctr" eaLnBrk="1" fontAlgn="t" hangingPunct="1">
              <a:spcBef>
                <a:spcPct val="30000"/>
              </a:spcBef>
              <a:buFontTx/>
              <a:buChar char="•"/>
            </a:pPr>
            <a:r>
              <a:rPr lang="en-GB" sz="1600">
                <a:solidFill>
                  <a:schemeClr val="bg1"/>
                </a:solidFill>
              </a:rPr>
              <a:t>Järjestelmän</a:t>
            </a:r>
            <a:r>
              <a:rPr lang="fi-FI" sz="1600">
                <a:solidFill>
                  <a:schemeClr val="bg1"/>
                </a:solidFill>
              </a:rPr>
              <a:t/>
            </a:r>
            <a:br>
              <a:rPr lang="fi-FI" sz="1600">
                <a:solidFill>
                  <a:schemeClr val="bg1"/>
                </a:solidFill>
              </a:rPr>
            </a:br>
            <a:r>
              <a:rPr lang="en-GB" sz="1600">
                <a:solidFill>
                  <a:schemeClr val="bg1"/>
                </a:solidFill>
              </a:rPr>
              <a:t>sidosryhmät </a:t>
            </a:r>
          </a:p>
          <a:p>
            <a:pPr algn="ctr" eaLnBrk="1" fontAlgn="t" hangingPunct="1">
              <a:spcBef>
                <a:spcPct val="30000"/>
              </a:spcBef>
              <a:buFontTx/>
              <a:buChar char="•"/>
            </a:pPr>
            <a:r>
              <a:rPr lang="en-GB" sz="1600">
                <a:solidFill>
                  <a:schemeClr val="bg1"/>
                </a:solidFill>
              </a:rPr>
              <a:t>Vaatimusdokumentaatio </a:t>
            </a:r>
          </a:p>
          <a:p>
            <a:pPr algn="ctr" eaLnBrk="1" fontAlgn="t" hangingPunct="1">
              <a:spcBef>
                <a:spcPct val="30000"/>
              </a:spcBef>
              <a:buFontTx/>
              <a:buChar char="•"/>
            </a:pPr>
            <a:r>
              <a:rPr lang="en-GB" sz="1600">
                <a:solidFill>
                  <a:schemeClr val="bg1"/>
                </a:solidFill>
              </a:rPr>
              <a:t>Epäsuorien vaatimusten </a:t>
            </a:r>
            <a:r>
              <a:rPr lang="fi-FI" sz="1600">
                <a:solidFill>
                  <a:schemeClr val="bg1"/>
                </a:solidFill>
              </a:rPr>
              <a:t/>
            </a:r>
            <a:br>
              <a:rPr lang="fi-FI" sz="1600">
                <a:solidFill>
                  <a:schemeClr val="bg1"/>
                </a:solidFill>
              </a:rPr>
            </a:br>
            <a:r>
              <a:rPr lang="en-GB" sz="1600">
                <a:solidFill>
                  <a:schemeClr val="bg1"/>
                </a:solidFill>
              </a:rPr>
              <a:t>viestintä </a:t>
            </a:r>
          </a:p>
        </p:txBody>
      </p:sp>
      <p:sp>
        <p:nvSpPr>
          <p:cNvPr id="4102" name="Rectangle 6"/>
          <p:cNvSpPr>
            <a:spLocks noChangeArrowheads="1"/>
          </p:cNvSpPr>
          <p:nvPr/>
        </p:nvSpPr>
        <p:spPr bwMode="auto">
          <a:xfrm>
            <a:off x="6248400" y="4343400"/>
            <a:ext cx="2057400" cy="1905000"/>
          </a:xfrm>
          <a:prstGeom prst="rect">
            <a:avLst/>
          </a:prstGeom>
          <a:solidFill>
            <a:schemeClr val="accent1"/>
          </a:solidFill>
          <a:ln w="9525">
            <a:solidFill>
              <a:srgbClr val="000000"/>
            </a:solidFill>
            <a:miter lim="800000"/>
            <a:headEnd/>
            <a:tailEnd/>
          </a:ln>
        </p:spPr>
        <p:txBody>
          <a:bodyPr wrap="none" anchor="ctr"/>
          <a:lstStyle/>
          <a:p>
            <a:pPr algn="ctr" eaLnBrk="1" fontAlgn="t" hangingPunct="1">
              <a:spcBef>
                <a:spcPct val="30000"/>
              </a:spcBef>
            </a:pPr>
            <a:r>
              <a:rPr lang="en-GB" sz="1600" b="1" dirty="0" err="1">
                <a:solidFill>
                  <a:schemeClr val="bg1"/>
                </a:solidFill>
              </a:rPr>
              <a:t>Testausryhmä</a:t>
            </a:r>
            <a:endParaRPr lang="en-GB" sz="1600" b="1" dirty="0">
              <a:solidFill>
                <a:schemeClr val="bg1"/>
              </a:solidFill>
            </a:endParaRPr>
          </a:p>
          <a:p>
            <a:pPr algn="ctr" eaLnBrk="1" fontAlgn="t" hangingPunct="1">
              <a:spcBef>
                <a:spcPct val="30000"/>
              </a:spcBef>
              <a:buFontTx/>
              <a:buChar char="•"/>
            </a:pPr>
            <a:r>
              <a:rPr lang="en-GB" sz="1600" dirty="0" err="1">
                <a:solidFill>
                  <a:schemeClr val="bg1"/>
                </a:solidFill>
              </a:rPr>
              <a:t>Resurssointi</a:t>
            </a:r>
            <a:r>
              <a:rPr lang="en-GB" sz="1600" dirty="0">
                <a:solidFill>
                  <a:schemeClr val="bg1"/>
                </a:solidFill>
              </a:rPr>
              <a:t> </a:t>
            </a:r>
          </a:p>
          <a:p>
            <a:pPr algn="ctr" eaLnBrk="1" fontAlgn="t" hangingPunct="1">
              <a:spcBef>
                <a:spcPct val="30000"/>
              </a:spcBef>
              <a:buFontTx/>
              <a:buChar char="•"/>
            </a:pPr>
            <a:r>
              <a:rPr lang="en-GB" sz="1600" dirty="0" err="1">
                <a:solidFill>
                  <a:schemeClr val="bg1"/>
                </a:solidFill>
              </a:rPr>
              <a:t>Osaaminen</a:t>
            </a:r>
            <a:r>
              <a:rPr lang="en-GB" sz="1600" dirty="0">
                <a:solidFill>
                  <a:schemeClr val="bg1"/>
                </a:solidFill>
              </a:rPr>
              <a:t> </a:t>
            </a:r>
          </a:p>
          <a:p>
            <a:pPr algn="ctr" eaLnBrk="1" fontAlgn="t" hangingPunct="1">
              <a:spcBef>
                <a:spcPct val="30000"/>
              </a:spcBef>
              <a:buFontTx/>
              <a:buChar char="•"/>
            </a:pPr>
            <a:r>
              <a:rPr lang="en-GB" sz="1600" dirty="0" err="1">
                <a:solidFill>
                  <a:schemeClr val="bg1"/>
                </a:solidFill>
              </a:rPr>
              <a:t>Johtaminen</a:t>
            </a:r>
            <a:r>
              <a:rPr lang="en-GB" sz="1600" dirty="0">
                <a:solidFill>
                  <a:schemeClr val="bg1"/>
                </a:solidFill>
              </a:rPr>
              <a:t> </a:t>
            </a:r>
          </a:p>
          <a:p>
            <a:pPr algn="ctr" eaLnBrk="1" fontAlgn="t" hangingPunct="1">
              <a:spcBef>
                <a:spcPct val="30000"/>
              </a:spcBef>
              <a:buFontTx/>
              <a:buChar char="•"/>
            </a:pPr>
            <a:r>
              <a:rPr lang="en-GB" sz="1600" dirty="0" err="1">
                <a:solidFill>
                  <a:schemeClr val="bg1"/>
                </a:solidFill>
              </a:rPr>
              <a:t>Työn</a:t>
            </a:r>
            <a:r>
              <a:rPr lang="en-GB" sz="1600" dirty="0">
                <a:solidFill>
                  <a:schemeClr val="bg1"/>
                </a:solidFill>
              </a:rPr>
              <a:t> </a:t>
            </a:r>
            <a:r>
              <a:rPr lang="en-GB" sz="1600" dirty="0" err="1">
                <a:solidFill>
                  <a:schemeClr val="bg1"/>
                </a:solidFill>
              </a:rPr>
              <a:t>jakaminen</a:t>
            </a:r>
            <a:r>
              <a:rPr lang="en-GB" sz="1600" dirty="0">
                <a:solidFill>
                  <a:schemeClr val="bg1"/>
                </a:solidFill>
              </a:rPr>
              <a:t> </a:t>
            </a:r>
          </a:p>
          <a:p>
            <a:pPr algn="ctr" eaLnBrk="1" fontAlgn="t" hangingPunct="1">
              <a:spcBef>
                <a:spcPct val="30000"/>
              </a:spcBef>
              <a:buFontTx/>
              <a:buChar char="•"/>
            </a:pPr>
            <a:r>
              <a:rPr lang="en-GB" sz="1600" dirty="0" err="1">
                <a:solidFill>
                  <a:schemeClr val="bg1"/>
                </a:solidFill>
              </a:rPr>
              <a:t>Motivaatio</a:t>
            </a:r>
            <a:r>
              <a:rPr lang="en-GB" sz="1600" dirty="0">
                <a:solidFill>
                  <a:schemeClr val="bg1"/>
                </a:solidFill>
              </a:rPr>
              <a:t> </a:t>
            </a:r>
          </a:p>
        </p:txBody>
      </p:sp>
      <p:sp>
        <p:nvSpPr>
          <p:cNvPr id="4103" name="Rectangle 7"/>
          <p:cNvSpPr>
            <a:spLocks noChangeArrowheads="1"/>
          </p:cNvSpPr>
          <p:nvPr/>
        </p:nvSpPr>
        <p:spPr bwMode="auto">
          <a:xfrm>
            <a:off x="6248400" y="1371600"/>
            <a:ext cx="2057400" cy="2895600"/>
          </a:xfrm>
          <a:prstGeom prst="rect">
            <a:avLst/>
          </a:prstGeom>
          <a:solidFill>
            <a:schemeClr val="accent1"/>
          </a:solidFill>
          <a:ln w="9525">
            <a:solidFill>
              <a:srgbClr val="000000"/>
            </a:solidFill>
            <a:miter lim="800000"/>
            <a:headEnd/>
            <a:tailEnd/>
          </a:ln>
        </p:spPr>
        <p:txBody>
          <a:bodyPr wrap="none" anchor="ctr"/>
          <a:lstStyle/>
          <a:p>
            <a:pPr algn="ctr" eaLnBrk="1" fontAlgn="t" hangingPunct="1">
              <a:spcBef>
                <a:spcPct val="30000"/>
              </a:spcBef>
            </a:pPr>
            <a:r>
              <a:rPr lang="en-GB" sz="1600" b="1">
                <a:solidFill>
                  <a:schemeClr val="bg1"/>
                </a:solidFill>
              </a:rPr>
              <a:t>Testausympäristöt </a:t>
            </a:r>
            <a:r>
              <a:rPr lang="fi-FI" sz="1600" b="1">
                <a:solidFill>
                  <a:schemeClr val="bg1"/>
                </a:solidFill>
              </a:rPr>
              <a:t/>
            </a:r>
            <a:br>
              <a:rPr lang="fi-FI" sz="1600" b="1">
                <a:solidFill>
                  <a:schemeClr val="bg1"/>
                </a:solidFill>
              </a:rPr>
            </a:br>
            <a:r>
              <a:rPr lang="en-GB" sz="1600" b="1">
                <a:solidFill>
                  <a:schemeClr val="bg1"/>
                </a:solidFill>
              </a:rPr>
              <a:t>ja välineet</a:t>
            </a:r>
          </a:p>
          <a:p>
            <a:pPr algn="ctr" eaLnBrk="1" fontAlgn="t" hangingPunct="1">
              <a:spcBef>
                <a:spcPct val="30000"/>
              </a:spcBef>
              <a:buFontTx/>
              <a:buChar char="•"/>
            </a:pPr>
            <a:r>
              <a:rPr lang="en-GB" sz="1600">
                <a:solidFill>
                  <a:schemeClr val="bg1"/>
                </a:solidFill>
              </a:rPr>
              <a:t>Testausympäristöt </a:t>
            </a:r>
          </a:p>
          <a:p>
            <a:pPr algn="ctr" eaLnBrk="1" fontAlgn="t" hangingPunct="1">
              <a:spcBef>
                <a:spcPct val="30000"/>
              </a:spcBef>
              <a:buFontTx/>
              <a:buChar char="•"/>
            </a:pPr>
            <a:r>
              <a:rPr lang="en-GB" sz="1600">
                <a:solidFill>
                  <a:schemeClr val="bg1"/>
                </a:solidFill>
              </a:rPr>
              <a:t>Testikirjasto </a:t>
            </a:r>
          </a:p>
          <a:p>
            <a:pPr algn="ctr" eaLnBrk="1" fontAlgn="t" hangingPunct="1">
              <a:spcBef>
                <a:spcPct val="30000"/>
              </a:spcBef>
              <a:buFontTx/>
              <a:buChar char="•"/>
            </a:pPr>
            <a:r>
              <a:rPr lang="en-GB" sz="1600">
                <a:solidFill>
                  <a:schemeClr val="bg1"/>
                </a:solidFill>
              </a:rPr>
              <a:t>Testiaineistot </a:t>
            </a:r>
          </a:p>
          <a:p>
            <a:pPr algn="ctr" eaLnBrk="1" fontAlgn="t" hangingPunct="1">
              <a:spcBef>
                <a:spcPct val="30000"/>
              </a:spcBef>
              <a:buFontTx/>
              <a:buChar char="•"/>
            </a:pPr>
            <a:r>
              <a:rPr lang="en-GB" sz="1600">
                <a:solidFill>
                  <a:schemeClr val="bg1"/>
                </a:solidFill>
              </a:rPr>
              <a:t>Testausvälineet </a:t>
            </a:r>
          </a:p>
          <a:p>
            <a:pPr algn="ctr" eaLnBrk="1" fontAlgn="t" hangingPunct="1">
              <a:spcBef>
                <a:spcPct val="30000"/>
              </a:spcBef>
              <a:buFontTx/>
              <a:buChar char="•"/>
            </a:pPr>
            <a:r>
              <a:rPr lang="en-GB" sz="1600">
                <a:solidFill>
                  <a:schemeClr val="bg1"/>
                </a:solidFill>
              </a:rPr>
              <a:t>Havaintojen </a:t>
            </a:r>
            <a:r>
              <a:rPr lang="fi-FI" sz="1600">
                <a:solidFill>
                  <a:schemeClr val="bg1"/>
                </a:solidFill>
              </a:rPr>
              <a:t/>
            </a:r>
            <a:br>
              <a:rPr lang="fi-FI" sz="1600">
                <a:solidFill>
                  <a:schemeClr val="bg1"/>
                </a:solidFill>
              </a:rPr>
            </a:br>
            <a:r>
              <a:rPr lang="en-GB" sz="1600">
                <a:solidFill>
                  <a:schemeClr val="bg1"/>
                </a:solidFill>
              </a:rPr>
              <a:t>seurantajärjestelmä </a:t>
            </a:r>
          </a:p>
          <a:p>
            <a:pPr algn="ctr" eaLnBrk="1" fontAlgn="t" hangingPunct="1">
              <a:spcBef>
                <a:spcPct val="30000"/>
              </a:spcBef>
              <a:buFontTx/>
              <a:buChar char="•"/>
            </a:pPr>
            <a:r>
              <a:rPr lang="en-GB" sz="1600">
                <a:solidFill>
                  <a:schemeClr val="bg1"/>
                </a:solidFill>
              </a:rPr>
              <a:t>Toimistotilat </a:t>
            </a:r>
          </a:p>
          <a:p>
            <a:pPr algn="ctr" eaLnBrk="1" hangingPunct="1"/>
            <a:endParaRPr lang="en-GB" sz="1600">
              <a:solidFill>
                <a:schemeClr val="bg1"/>
              </a:solidFill>
            </a:endParaRPr>
          </a:p>
        </p:txBody>
      </p:sp>
      <p:sp>
        <p:nvSpPr>
          <p:cNvPr id="8" name="Slide Number Placeholder 7"/>
          <p:cNvSpPr>
            <a:spLocks noGrp="1"/>
          </p:cNvSpPr>
          <p:nvPr>
            <p:ph type="sldNum" sz="quarter" idx="12"/>
          </p:nvPr>
        </p:nvSpPr>
        <p:spPr/>
        <p:txBody>
          <a:bodyPr/>
          <a:lstStyle/>
          <a:p>
            <a:fld id="{1FC54B03-E980-44E0-A0F1-6CAD9D10ECFB}" type="slidenum">
              <a:rPr lang="fi-FI" smtClean="0"/>
              <a:pPr/>
              <a:t>110</a:t>
            </a:fld>
            <a:endParaRPr lang="fi-FI"/>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AutoShape 2"/>
          <p:cNvSpPr>
            <a:spLocks noChangeArrowheads="1"/>
          </p:cNvSpPr>
          <p:nvPr/>
        </p:nvSpPr>
        <p:spPr bwMode="auto">
          <a:xfrm>
            <a:off x="990600" y="2438400"/>
            <a:ext cx="8001000" cy="2667000"/>
          </a:xfrm>
          <a:prstGeom prst="parallelogram">
            <a:avLst>
              <a:gd name="adj" fmla="val 26375"/>
            </a:avLst>
          </a:prstGeom>
          <a:solidFill>
            <a:schemeClr val="folHlink"/>
          </a:solidFill>
          <a:ln w="9525">
            <a:solidFill>
              <a:srgbClr val="000000"/>
            </a:solidFill>
            <a:miter lim="800000"/>
            <a:headEnd/>
            <a:tailEnd/>
          </a:ln>
          <a:effectLst/>
        </p:spPr>
        <p:txBody>
          <a:bodyPr wrap="none" anchor="ctr"/>
          <a:lstStyle/>
          <a:p>
            <a:pPr algn="ctr"/>
            <a:endParaRPr lang="en-GB" dirty="0">
              <a:solidFill>
                <a:schemeClr val="bg1"/>
              </a:solidFill>
            </a:endParaRPr>
          </a:p>
        </p:txBody>
      </p:sp>
      <p:sp>
        <p:nvSpPr>
          <p:cNvPr id="28675" name="AutoShape 3"/>
          <p:cNvSpPr>
            <a:spLocks noChangeArrowheads="1"/>
          </p:cNvSpPr>
          <p:nvPr/>
        </p:nvSpPr>
        <p:spPr bwMode="auto">
          <a:xfrm>
            <a:off x="1676400" y="2438400"/>
            <a:ext cx="7315200" cy="2209800"/>
          </a:xfrm>
          <a:prstGeom prst="parallelogram">
            <a:avLst>
              <a:gd name="adj" fmla="val 26299"/>
            </a:avLst>
          </a:prstGeom>
          <a:solidFill>
            <a:schemeClr val="accent1"/>
          </a:solidFill>
          <a:ln w="9525">
            <a:solidFill>
              <a:srgbClr val="000000"/>
            </a:solidFill>
            <a:miter lim="800000"/>
            <a:headEnd/>
            <a:tailEnd/>
          </a:ln>
          <a:effectLst/>
        </p:spPr>
        <p:txBody>
          <a:bodyPr wrap="none" anchor="ctr"/>
          <a:lstStyle/>
          <a:p>
            <a:pPr algn="ctr"/>
            <a:endParaRPr lang="en-GB" dirty="0">
              <a:solidFill>
                <a:schemeClr val="bg1"/>
              </a:solidFill>
            </a:endParaRPr>
          </a:p>
        </p:txBody>
      </p:sp>
      <p:sp>
        <p:nvSpPr>
          <p:cNvPr id="28676" name="Rectangle 4"/>
          <p:cNvSpPr>
            <a:spLocks noGrp="1" noChangeArrowheads="1"/>
          </p:cNvSpPr>
          <p:nvPr>
            <p:ph type="title"/>
          </p:nvPr>
        </p:nvSpPr>
        <p:spPr/>
        <p:txBody>
          <a:bodyPr>
            <a:normAutofit fontScale="90000"/>
          </a:bodyPr>
          <a:lstStyle/>
          <a:p>
            <a:r>
              <a:rPr lang="fi-FI" dirty="0" smtClean="0"/>
              <a:t>Testausprosessi </a:t>
            </a:r>
            <a:br>
              <a:rPr lang="fi-FI" dirty="0" smtClean="0"/>
            </a:br>
            <a:r>
              <a:rPr lang="fi-FI" sz="2700" dirty="0" smtClean="0"/>
              <a:t>Muokattu: Pol &amp; Van Veenendaal. TMap. </a:t>
            </a:r>
            <a:endParaRPr lang="en-GB" dirty="0"/>
          </a:p>
        </p:txBody>
      </p:sp>
      <p:sp>
        <p:nvSpPr>
          <p:cNvPr id="20" name="Slide Number Placeholder 19"/>
          <p:cNvSpPr>
            <a:spLocks noGrp="1"/>
          </p:cNvSpPr>
          <p:nvPr>
            <p:ph type="sldNum" sz="quarter" idx="12"/>
          </p:nvPr>
        </p:nvSpPr>
        <p:spPr/>
        <p:txBody>
          <a:bodyPr/>
          <a:lstStyle/>
          <a:p>
            <a:fld id="{6EC9AE22-300D-474E-8332-298EA3086E64}" type="slidenum">
              <a:rPr lang="en-US" smtClean="0"/>
              <a:pPr/>
              <a:t>111</a:t>
            </a:fld>
            <a:endParaRPr lang="en-US"/>
          </a:p>
        </p:txBody>
      </p:sp>
      <p:sp>
        <p:nvSpPr>
          <p:cNvPr id="28677" name="AutoShape 5"/>
          <p:cNvSpPr>
            <a:spLocks noChangeArrowheads="1"/>
          </p:cNvSpPr>
          <p:nvPr/>
        </p:nvSpPr>
        <p:spPr bwMode="auto">
          <a:xfrm>
            <a:off x="3048000" y="2438400"/>
            <a:ext cx="1828800" cy="1752600"/>
          </a:xfrm>
          <a:prstGeom prst="parallelogram">
            <a:avLst>
              <a:gd name="adj" fmla="val 26087"/>
            </a:avLst>
          </a:prstGeom>
          <a:solidFill>
            <a:schemeClr val="bg1"/>
          </a:solidFill>
          <a:ln w="9525">
            <a:solidFill>
              <a:schemeClr val="tx1"/>
            </a:solidFill>
            <a:miter lim="800000"/>
            <a:headEnd/>
            <a:tailEnd/>
          </a:ln>
          <a:effectLst/>
        </p:spPr>
        <p:txBody>
          <a:bodyPr wrap="none" anchor="ctr"/>
          <a:lstStyle/>
          <a:p>
            <a:pPr algn="ctr"/>
            <a:r>
              <a:rPr lang="fi-FI"/>
              <a:t>Valmistelu</a:t>
            </a:r>
            <a:endParaRPr lang="en-GB"/>
          </a:p>
        </p:txBody>
      </p:sp>
      <p:sp>
        <p:nvSpPr>
          <p:cNvPr id="28678" name="AutoShape 6"/>
          <p:cNvSpPr>
            <a:spLocks noChangeArrowheads="1"/>
          </p:cNvSpPr>
          <p:nvPr/>
        </p:nvSpPr>
        <p:spPr bwMode="auto">
          <a:xfrm>
            <a:off x="4419600" y="2438400"/>
            <a:ext cx="1828800" cy="1752600"/>
          </a:xfrm>
          <a:prstGeom prst="parallelogram">
            <a:avLst>
              <a:gd name="adj" fmla="val 26087"/>
            </a:avLst>
          </a:prstGeom>
          <a:solidFill>
            <a:schemeClr val="bg1"/>
          </a:solidFill>
          <a:ln w="9525">
            <a:solidFill>
              <a:schemeClr val="tx1"/>
            </a:solidFill>
            <a:miter lim="800000"/>
            <a:headEnd/>
            <a:tailEnd/>
          </a:ln>
          <a:effectLst/>
        </p:spPr>
        <p:txBody>
          <a:bodyPr wrap="none" anchor="ctr"/>
          <a:lstStyle/>
          <a:p>
            <a:pPr algn="ctr"/>
            <a:r>
              <a:rPr lang="fi-FI"/>
              <a:t>Määrittely</a:t>
            </a:r>
            <a:endParaRPr lang="en-GB"/>
          </a:p>
        </p:txBody>
      </p:sp>
      <p:sp>
        <p:nvSpPr>
          <p:cNvPr id="28679" name="AutoShape 7"/>
          <p:cNvSpPr>
            <a:spLocks noChangeArrowheads="1"/>
          </p:cNvSpPr>
          <p:nvPr/>
        </p:nvSpPr>
        <p:spPr bwMode="auto">
          <a:xfrm>
            <a:off x="5791200" y="2438400"/>
            <a:ext cx="1828800" cy="1752600"/>
          </a:xfrm>
          <a:prstGeom prst="parallelogram">
            <a:avLst>
              <a:gd name="adj" fmla="val 26087"/>
            </a:avLst>
          </a:prstGeom>
          <a:solidFill>
            <a:schemeClr val="bg1"/>
          </a:solidFill>
          <a:ln w="9525">
            <a:solidFill>
              <a:schemeClr val="tx1"/>
            </a:solidFill>
            <a:miter lim="800000"/>
            <a:headEnd/>
            <a:tailEnd/>
          </a:ln>
          <a:effectLst/>
        </p:spPr>
        <p:txBody>
          <a:bodyPr wrap="none" anchor="ctr"/>
          <a:lstStyle/>
          <a:p>
            <a:pPr algn="ctr"/>
            <a:r>
              <a:rPr lang="fi-FI"/>
              <a:t>Suoritus</a:t>
            </a:r>
            <a:endParaRPr lang="en-GB"/>
          </a:p>
        </p:txBody>
      </p:sp>
      <p:sp>
        <p:nvSpPr>
          <p:cNvPr id="28680" name="AutoShape 8"/>
          <p:cNvSpPr>
            <a:spLocks noChangeArrowheads="1"/>
          </p:cNvSpPr>
          <p:nvPr/>
        </p:nvSpPr>
        <p:spPr bwMode="auto">
          <a:xfrm>
            <a:off x="7162800" y="2438400"/>
            <a:ext cx="1828800" cy="1752600"/>
          </a:xfrm>
          <a:prstGeom prst="parallelogram">
            <a:avLst>
              <a:gd name="adj" fmla="val 26087"/>
            </a:avLst>
          </a:prstGeom>
          <a:solidFill>
            <a:schemeClr val="accent1"/>
          </a:solidFill>
          <a:ln w="9525">
            <a:solidFill>
              <a:srgbClr val="000000"/>
            </a:solidFill>
            <a:miter lim="800000"/>
            <a:headEnd/>
            <a:tailEnd/>
          </a:ln>
          <a:effectLst/>
        </p:spPr>
        <p:txBody>
          <a:bodyPr wrap="none" anchor="ctr"/>
          <a:lstStyle/>
          <a:p>
            <a:pPr algn="ctr"/>
            <a:r>
              <a:rPr lang="fi-FI" dirty="0">
                <a:solidFill>
                  <a:schemeClr val="bg1"/>
                </a:solidFill>
              </a:rPr>
              <a:t>Lopetus</a:t>
            </a:r>
            <a:endParaRPr lang="en-GB" dirty="0">
              <a:solidFill>
                <a:schemeClr val="bg1"/>
              </a:solidFill>
            </a:endParaRPr>
          </a:p>
        </p:txBody>
      </p:sp>
      <p:sp>
        <p:nvSpPr>
          <p:cNvPr id="28681" name="Text Box 9"/>
          <p:cNvSpPr txBox="1">
            <a:spLocks noChangeArrowheads="1"/>
          </p:cNvSpPr>
          <p:nvPr/>
        </p:nvSpPr>
        <p:spPr bwMode="auto">
          <a:xfrm>
            <a:off x="2743200" y="4267200"/>
            <a:ext cx="5329262" cy="366713"/>
          </a:xfrm>
          <a:prstGeom prst="rect">
            <a:avLst/>
          </a:prstGeom>
          <a:noFill/>
          <a:ln w="9525">
            <a:noFill/>
            <a:miter lim="800000"/>
            <a:headEnd/>
            <a:tailEnd/>
          </a:ln>
          <a:effectLst/>
        </p:spPr>
        <p:txBody>
          <a:bodyPr wrap="square">
            <a:spAutoFit/>
          </a:bodyPr>
          <a:lstStyle/>
          <a:p>
            <a:pPr algn="ctr">
              <a:spcBef>
                <a:spcPct val="50000"/>
              </a:spcBef>
            </a:pPr>
            <a:r>
              <a:rPr lang="fi-FI" dirty="0">
                <a:solidFill>
                  <a:schemeClr val="bg1"/>
                </a:solidFill>
              </a:rPr>
              <a:t>Suunnittelu ja hallinta (projektinäkökulma)</a:t>
            </a:r>
            <a:endParaRPr lang="en-GB" dirty="0">
              <a:solidFill>
                <a:schemeClr val="bg1"/>
              </a:solidFill>
            </a:endParaRPr>
          </a:p>
        </p:txBody>
      </p:sp>
      <p:sp>
        <p:nvSpPr>
          <p:cNvPr id="28682" name="Text Box 10"/>
          <p:cNvSpPr txBox="1">
            <a:spLocks noChangeArrowheads="1"/>
          </p:cNvSpPr>
          <p:nvPr/>
        </p:nvSpPr>
        <p:spPr bwMode="auto">
          <a:xfrm>
            <a:off x="1371600" y="4724400"/>
            <a:ext cx="6553200" cy="366713"/>
          </a:xfrm>
          <a:prstGeom prst="rect">
            <a:avLst/>
          </a:prstGeom>
          <a:noFill/>
          <a:ln w="9525">
            <a:noFill/>
            <a:miter lim="800000"/>
            <a:headEnd/>
            <a:tailEnd/>
          </a:ln>
          <a:effectLst/>
        </p:spPr>
        <p:txBody>
          <a:bodyPr>
            <a:spAutoFit/>
          </a:bodyPr>
          <a:lstStyle/>
          <a:p>
            <a:pPr algn="ctr">
              <a:spcBef>
                <a:spcPct val="50000"/>
              </a:spcBef>
            </a:pPr>
            <a:r>
              <a:rPr lang="fi-FI" dirty="0">
                <a:solidFill>
                  <a:schemeClr val="bg1"/>
                </a:solidFill>
              </a:rPr>
              <a:t> Strateginen suunnittelu ja hallinta (elinkaarinäkökulma)</a:t>
            </a:r>
            <a:endParaRPr lang="en-GB" dirty="0">
              <a:solidFill>
                <a:schemeClr val="bg1"/>
              </a:solidFill>
            </a:endParaRPr>
          </a:p>
        </p:txBody>
      </p:sp>
      <p:sp>
        <p:nvSpPr>
          <p:cNvPr id="28683" name="Text Box 11"/>
          <p:cNvSpPr txBox="1">
            <a:spLocks noChangeArrowheads="1"/>
          </p:cNvSpPr>
          <p:nvPr/>
        </p:nvSpPr>
        <p:spPr bwMode="auto">
          <a:xfrm>
            <a:off x="914400" y="5516563"/>
            <a:ext cx="2943220" cy="457200"/>
          </a:xfrm>
          <a:prstGeom prst="rect">
            <a:avLst/>
          </a:prstGeom>
          <a:noFill/>
          <a:ln w="9525">
            <a:noFill/>
            <a:miter lim="800000"/>
            <a:headEnd/>
            <a:tailEnd/>
          </a:ln>
          <a:effectLst/>
        </p:spPr>
        <p:txBody>
          <a:bodyPr wrap="square">
            <a:spAutoFit/>
          </a:bodyPr>
          <a:lstStyle/>
          <a:p>
            <a:pPr algn="ctr">
              <a:spcBef>
                <a:spcPct val="50000"/>
              </a:spcBef>
            </a:pPr>
            <a:r>
              <a:rPr lang="fi-FI" sz="2400" dirty="0"/>
              <a:t>Testausstrategia</a:t>
            </a:r>
            <a:endParaRPr lang="en-GB" sz="2400" dirty="0"/>
          </a:p>
        </p:txBody>
      </p:sp>
      <p:cxnSp>
        <p:nvCxnSpPr>
          <p:cNvPr id="28684" name="AutoShape 12"/>
          <p:cNvCxnSpPr>
            <a:cxnSpLocks noChangeShapeType="1"/>
            <a:endCxn id="28674" idx="3"/>
          </p:cNvCxnSpPr>
          <p:nvPr/>
        </p:nvCxnSpPr>
        <p:spPr bwMode="auto">
          <a:xfrm flipV="1">
            <a:off x="2133600" y="5105400"/>
            <a:ext cx="2505075" cy="457200"/>
          </a:xfrm>
          <a:prstGeom prst="straightConnector1">
            <a:avLst/>
          </a:prstGeom>
          <a:noFill/>
          <a:ln w="9525">
            <a:solidFill>
              <a:srgbClr val="000000"/>
            </a:solidFill>
            <a:round/>
            <a:headEnd/>
            <a:tailEnd type="triangle" w="med" len="med"/>
          </a:ln>
          <a:effectLst/>
        </p:spPr>
      </p:cxnSp>
      <p:sp>
        <p:nvSpPr>
          <p:cNvPr id="28685" name="Text Box 13"/>
          <p:cNvSpPr txBox="1">
            <a:spLocks noChangeArrowheads="1"/>
          </p:cNvSpPr>
          <p:nvPr/>
        </p:nvSpPr>
        <p:spPr bwMode="auto">
          <a:xfrm>
            <a:off x="4357686" y="5456238"/>
            <a:ext cx="4786314" cy="461665"/>
          </a:xfrm>
          <a:prstGeom prst="rect">
            <a:avLst/>
          </a:prstGeom>
          <a:noFill/>
          <a:ln w="9525">
            <a:noFill/>
            <a:miter lim="800000"/>
            <a:headEnd/>
            <a:tailEnd/>
          </a:ln>
          <a:effectLst/>
        </p:spPr>
        <p:txBody>
          <a:bodyPr wrap="square">
            <a:spAutoFit/>
          </a:bodyPr>
          <a:lstStyle/>
          <a:p>
            <a:pPr algn="ctr">
              <a:spcBef>
                <a:spcPct val="50000"/>
              </a:spcBef>
            </a:pPr>
            <a:r>
              <a:rPr lang="fi-FI" sz="2400" dirty="0" smtClean="0"/>
              <a:t>Kokonaistestaussuunnitelma</a:t>
            </a:r>
            <a:endParaRPr lang="en-GB" sz="2400" dirty="0"/>
          </a:p>
        </p:txBody>
      </p:sp>
      <p:cxnSp>
        <p:nvCxnSpPr>
          <p:cNvPr id="28686" name="AutoShape 14"/>
          <p:cNvCxnSpPr>
            <a:cxnSpLocks noChangeShapeType="1"/>
            <a:stCxn id="28685" idx="0"/>
            <a:endCxn id="28675" idx="4"/>
          </p:cNvCxnSpPr>
          <p:nvPr/>
        </p:nvCxnSpPr>
        <p:spPr bwMode="auto">
          <a:xfrm rot="16200000" flipV="1">
            <a:off x="5638403" y="4343797"/>
            <a:ext cx="808038" cy="1416843"/>
          </a:xfrm>
          <a:prstGeom prst="straightConnector1">
            <a:avLst/>
          </a:prstGeom>
          <a:noFill/>
          <a:ln w="9525">
            <a:solidFill>
              <a:srgbClr val="000000"/>
            </a:solidFill>
            <a:round/>
            <a:headEnd/>
            <a:tailEnd type="triangle" w="med" len="med"/>
          </a:ln>
          <a:effectLst/>
        </p:spPr>
      </p:cxnSp>
      <p:sp>
        <p:nvSpPr>
          <p:cNvPr id="28687" name="Text Box 15"/>
          <p:cNvSpPr txBox="1">
            <a:spLocks noChangeArrowheads="1"/>
          </p:cNvSpPr>
          <p:nvPr/>
        </p:nvSpPr>
        <p:spPr bwMode="auto">
          <a:xfrm>
            <a:off x="5257800" y="1676400"/>
            <a:ext cx="2438400" cy="457200"/>
          </a:xfrm>
          <a:prstGeom prst="rect">
            <a:avLst/>
          </a:prstGeom>
          <a:noFill/>
          <a:ln w="9525">
            <a:noFill/>
            <a:miter lim="800000"/>
            <a:headEnd/>
            <a:tailEnd/>
          </a:ln>
          <a:effectLst/>
        </p:spPr>
        <p:txBody>
          <a:bodyPr>
            <a:spAutoFit/>
          </a:bodyPr>
          <a:lstStyle/>
          <a:p>
            <a:pPr algn="ctr">
              <a:spcBef>
                <a:spcPct val="50000"/>
              </a:spcBef>
            </a:pPr>
            <a:r>
              <a:rPr lang="fi-FI" sz="2400"/>
              <a:t>Testitapaukset</a:t>
            </a:r>
            <a:endParaRPr lang="en-GB" sz="2400"/>
          </a:p>
        </p:txBody>
      </p:sp>
      <p:cxnSp>
        <p:nvCxnSpPr>
          <p:cNvPr id="28688" name="AutoShape 16"/>
          <p:cNvCxnSpPr>
            <a:cxnSpLocks noChangeShapeType="1"/>
            <a:stCxn id="28687" idx="2"/>
            <a:endCxn id="28677" idx="0"/>
          </p:cNvCxnSpPr>
          <p:nvPr/>
        </p:nvCxnSpPr>
        <p:spPr bwMode="auto">
          <a:xfrm flipH="1">
            <a:off x="4191000" y="2133600"/>
            <a:ext cx="2286000" cy="304800"/>
          </a:xfrm>
          <a:prstGeom prst="straightConnector1">
            <a:avLst/>
          </a:prstGeom>
          <a:noFill/>
          <a:ln w="9525">
            <a:solidFill>
              <a:schemeClr val="tx1"/>
            </a:solidFill>
            <a:miter lim="800000"/>
            <a:headEnd/>
            <a:tailEnd type="triangle" w="med" len="med"/>
          </a:ln>
          <a:effectLst/>
        </p:spPr>
      </p:cxnSp>
      <p:cxnSp>
        <p:nvCxnSpPr>
          <p:cNvPr id="28689" name="AutoShape 17"/>
          <p:cNvCxnSpPr>
            <a:cxnSpLocks noChangeShapeType="1"/>
            <a:stCxn id="28687" idx="2"/>
            <a:endCxn id="28679" idx="0"/>
          </p:cNvCxnSpPr>
          <p:nvPr/>
        </p:nvCxnSpPr>
        <p:spPr bwMode="auto">
          <a:xfrm>
            <a:off x="6477000" y="2133600"/>
            <a:ext cx="457200" cy="304800"/>
          </a:xfrm>
          <a:prstGeom prst="straightConnector1">
            <a:avLst/>
          </a:prstGeom>
          <a:noFill/>
          <a:ln w="9525">
            <a:solidFill>
              <a:schemeClr val="tx1"/>
            </a:solidFill>
            <a:miter lim="800000"/>
            <a:headEnd/>
            <a:tailEnd type="triangle" w="med" len="med"/>
          </a:ln>
          <a:effectLst/>
        </p:spPr>
      </p:cxnSp>
    </p:spTree>
  </p:cSld>
  <p:clrMapOvr>
    <a:masterClrMapping/>
  </p:clrMapOvr>
  <p:timing>
    <p:tnLst>
      <p:par>
        <p:cTn xmlns:p14="http://schemas.microsoft.com/office/powerpoint/2010/mai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i-FI" dirty="0" smtClean="0"/>
              <a:t>Erilaisia testauspersoonia</a:t>
            </a:r>
            <a:br>
              <a:rPr lang="fi-FI" dirty="0" smtClean="0"/>
            </a:br>
            <a:r>
              <a:rPr lang="en-GB" sz="1600" dirty="0" err="1" smtClean="0"/>
              <a:t>Lähde</a:t>
            </a:r>
            <a:r>
              <a:rPr lang="en-GB" sz="1600" dirty="0" smtClean="0"/>
              <a:t>: Lloyd </a:t>
            </a:r>
            <a:r>
              <a:rPr lang="en-GB" sz="1600" dirty="0" err="1" smtClean="0"/>
              <a:t>Roden</a:t>
            </a:r>
            <a:r>
              <a:rPr lang="en-GB" sz="1600" dirty="0" smtClean="0"/>
              <a:t>. Choosing and Managing the Ideal Test Team. Stickyminds.com</a:t>
            </a:r>
            <a:endParaRPr lang="fi-FI" dirty="0"/>
          </a:p>
        </p:txBody>
      </p:sp>
      <p:graphicFrame>
        <p:nvGraphicFramePr>
          <p:cNvPr id="4" name="Content Placeholder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ight Arrow 4"/>
          <p:cNvSpPr/>
          <p:nvPr/>
        </p:nvSpPr>
        <p:spPr>
          <a:xfrm>
            <a:off x="7000892" y="3286124"/>
            <a:ext cx="1285884" cy="1214446"/>
          </a:xfrm>
          <a:prstGeom prst="rightArrow">
            <a:avLst>
              <a:gd name="adj1" fmla="val 50000"/>
              <a:gd name="adj2" fmla="val 53048"/>
            </a:avLst>
          </a:prstGeom>
        </p:spPr>
        <p:style>
          <a:lnRef idx="3">
            <a:schemeClr val="lt1"/>
          </a:lnRef>
          <a:fillRef idx="1">
            <a:schemeClr val="dk1"/>
          </a:fillRef>
          <a:effectRef idx="1">
            <a:schemeClr val="dk1"/>
          </a:effectRef>
          <a:fontRef idx="minor">
            <a:schemeClr val="lt1"/>
          </a:fontRef>
        </p:style>
        <p:txBody>
          <a:bodyPr rtlCol="0" anchor="ctr"/>
          <a:lstStyle/>
          <a:p>
            <a:pPr algn="ctr"/>
            <a:r>
              <a:rPr lang="fi-FI" sz="1600" dirty="0" smtClean="0"/>
              <a:t>Ihmis-painotus</a:t>
            </a:r>
            <a:endParaRPr lang="fi-FI" sz="1600" dirty="0"/>
          </a:p>
        </p:txBody>
      </p:sp>
      <p:sp>
        <p:nvSpPr>
          <p:cNvPr id="7" name="Left Arrow 6"/>
          <p:cNvSpPr/>
          <p:nvPr/>
        </p:nvSpPr>
        <p:spPr>
          <a:xfrm>
            <a:off x="857224" y="3286124"/>
            <a:ext cx="1285884" cy="1143008"/>
          </a:xfrm>
          <a:prstGeom prst="leftArrow">
            <a:avLst/>
          </a:prstGeom>
        </p:spPr>
        <p:style>
          <a:lnRef idx="3">
            <a:schemeClr val="lt1"/>
          </a:lnRef>
          <a:fillRef idx="1">
            <a:schemeClr val="dk1"/>
          </a:fillRef>
          <a:effectRef idx="1">
            <a:schemeClr val="dk1"/>
          </a:effectRef>
          <a:fontRef idx="minor">
            <a:schemeClr val="lt1"/>
          </a:fontRef>
        </p:style>
        <p:txBody>
          <a:bodyPr rtlCol="0" anchor="ctr"/>
          <a:lstStyle/>
          <a:p>
            <a:pPr algn="ctr"/>
            <a:r>
              <a:rPr lang="fi-FI" sz="1600" dirty="0" smtClean="0"/>
              <a:t>Tehtävä-</a:t>
            </a:r>
            <a:br>
              <a:rPr lang="fi-FI" sz="1600" dirty="0" smtClean="0"/>
            </a:br>
            <a:r>
              <a:rPr lang="fi-FI" sz="1600" dirty="0" smtClean="0"/>
              <a:t>painotus</a:t>
            </a:r>
            <a:endParaRPr lang="fi-FI" sz="1600" dirty="0"/>
          </a:p>
        </p:txBody>
      </p:sp>
      <p:sp>
        <p:nvSpPr>
          <p:cNvPr id="9" name="Rectangle 3"/>
          <p:cNvSpPr txBox="1">
            <a:spLocks noChangeArrowheads="1"/>
          </p:cNvSpPr>
          <p:nvPr/>
        </p:nvSpPr>
        <p:spPr>
          <a:xfrm>
            <a:off x="6429388" y="1357298"/>
            <a:ext cx="2571768" cy="2286016"/>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10000"/>
              </a:lnSpc>
              <a:spcBef>
                <a:spcPct val="20000"/>
              </a:spcBef>
              <a:spcAft>
                <a:spcPts val="0"/>
              </a:spcAft>
              <a:buClrTx/>
              <a:buSzTx/>
              <a:buFont typeface="Arial" pitchFamily="34" charset="0"/>
              <a:buChar char="•"/>
              <a:tabLst/>
              <a:defRPr/>
            </a:pPr>
            <a:r>
              <a:rPr kumimoji="0" lang="fi-FI" sz="1000" b="0" i="0" u="none" strike="noStrike" kern="1200" cap="none" spc="0" normalizeH="0" baseline="0" noProof="0" dirty="0" smtClean="0">
                <a:ln>
                  <a:noFill/>
                </a:ln>
                <a:solidFill>
                  <a:schemeClr val="tx1"/>
                </a:solidFill>
                <a:effectLst/>
                <a:uLnTx/>
                <a:uFillTx/>
                <a:latin typeface="+mn-lt"/>
                <a:ea typeface="+mn-ea"/>
                <a:cs typeface="+mn-cs"/>
              </a:rPr>
              <a:t>Pitää</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900" b="0" i="0" u="none" strike="noStrike" kern="1200" cap="none" spc="0" normalizeH="0" baseline="0" noProof="0" dirty="0" smtClean="0">
                <a:ln>
                  <a:noFill/>
                </a:ln>
                <a:solidFill>
                  <a:schemeClr val="tx1"/>
                </a:solidFill>
                <a:effectLst/>
                <a:uLnTx/>
                <a:uFillTx/>
                <a:latin typeface="+mn-lt"/>
                <a:ea typeface="+mn-ea"/>
                <a:cs typeface="+mn-cs"/>
              </a:rPr>
              <a:t>Uusi / ideat</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900" b="0" i="0" u="none" strike="noStrike" kern="1200" cap="none" spc="0" normalizeH="0" baseline="0" noProof="0" dirty="0" smtClean="0">
                <a:ln>
                  <a:noFill/>
                </a:ln>
                <a:solidFill>
                  <a:schemeClr val="tx1"/>
                </a:solidFill>
                <a:effectLst/>
                <a:uLnTx/>
                <a:uFillTx/>
                <a:latin typeface="+mn-lt"/>
                <a:ea typeface="+mn-ea"/>
                <a:cs typeface="+mn-cs"/>
              </a:rPr>
              <a:t>Muutos</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900" b="0" i="0" u="none" strike="noStrike" kern="1200" cap="none" spc="0" normalizeH="0" baseline="0" noProof="0" dirty="0" smtClean="0">
                <a:ln>
                  <a:noFill/>
                </a:ln>
                <a:solidFill>
                  <a:schemeClr val="tx1"/>
                </a:solidFill>
                <a:effectLst/>
                <a:uLnTx/>
                <a:uFillTx/>
                <a:latin typeface="+mn-lt"/>
                <a:ea typeface="+mn-ea"/>
                <a:cs typeface="+mn-cs"/>
              </a:rPr>
              <a:t>Avoimuus</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900" b="0" i="0" u="none" strike="noStrike" kern="1200" cap="none" spc="0" normalizeH="0" baseline="0" noProof="0" dirty="0" smtClean="0">
                <a:ln>
                  <a:noFill/>
                </a:ln>
                <a:solidFill>
                  <a:schemeClr val="tx1"/>
                </a:solidFill>
                <a:effectLst/>
                <a:uLnTx/>
                <a:uFillTx/>
                <a:latin typeface="+mn-lt"/>
                <a:ea typeface="+mn-ea"/>
                <a:cs typeface="+mn-cs"/>
              </a:rPr>
              <a:t>Tulokset / sisäinen tehokkuus</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900" b="0" i="0" u="none" strike="noStrike" kern="1200" cap="none" spc="0" normalizeH="0" baseline="0" noProof="0" dirty="0" smtClean="0">
                <a:ln>
                  <a:noFill/>
                </a:ln>
                <a:solidFill>
                  <a:schemeClr val="tx1"/>
                </a:solidFill>
                <a:effectLst/>
                <a:uLnTx/>
                <a:uFillTx/>
                <a:latin typeface="+mn-lt"/>
                <a:ea typeface="+mn-ea"/>
                <a:cs typeface="+mn-cs"/>
              </a:rPr>
              <a:t>Muiden mukaanottaminen</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900" b="0" i="0" u="none" strike="noStrike" kern="1200" cap="none" spc="0" normalizeH="0" baseline="0" noProof="0" dirty="0" smtClean="0">
                <a:ln>
                  <a:noFill/>
                </a:ln>
                <a:solidFill>
                  <a:schemeClr val="tx1"/>
                </a:solidFill>
                <a:effectLst/>
                <a:uLnTx/>
                <a:uFillTx/>
                <a:latin typeface="+mn-lt"/>
                <a:ea typeface="+mn-ea"/>
                <a:cs typeface="+mn-cs"/>
              </a:rPr>
              <a:t>Riskit</a:t>
            </a:r>
          </a:p>
          <a:p>
            <a:pPr marL="342900" marR="0" lvl="0" indent="-342900" algn="l" defTabSz="914400" rtl="0" eaLnBrk="1" fontAlgn="auto" latinLnBrk="0" hangingPunct="1">
              <a:lnSpc>
                <a:spcPct val="110000"/>
              </a:lnSpc>
              <a:spcBef>
                <a:spcPct val="20000"/>
              </a:spcBef>
              <a:spcAft>
                <a:spcPts val="0"/>
              </a:spcAft>
              <a:buClrTx/>
              <a:buSzTx/>
              <a:buFont typeface="Arial" pitchFamily="34" charset="0"/>
              <a:buChar char="•"/>
              <a:tabLst/>
              <a:defRPr/>
            </a:pPr>
            <a:r>
              <a:rPr kumimoji="0" lang="fi-FI" sz="1000" b="0" i="0" u="none" strike="noStrike" kern="1200" cap="none" spc="0" normalizeH="0" baseline="0" noProof="0" dirty="0" smtClean="0">
                <a:ln>
                  <a:noFill/>
                </a:ln>
                <a:solidFill>
                  <a:schemeClr val="tx1"/>
                </a:solidFill>
                <a:effectLst/>
                <a:uLnTx/>
                <a:uFillTx/>
                <a:latin typeface="+mn-lt"/>
                <a:ea typeface="+mn-ea"/>
                <a:cs typeface="+mn-cs"/>
              </a:rPr>
              <a:t>Ei pidä</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en-GB" sz="900" b="0" i="0" u="none" strike="noStrike" kern="1200" cap="none" spc="0" normalizeH="0" baseline="0" noProof="0" dirty="0" err="1" smtClean="0">
                <a:ln>
                  <a:noFill/>
                </a:ln>
                <a:solidFill>
                  <a:schemeClr val="tx1"/>
                </a:solidFill>
                <a:effectLst/>
                <a:uLnTx/>
                <a:uFillTx/>
                <a:latin typeface="+mn-lt"/>
                <a:ea typeface="+mn-ea"/>
                <a:cs typeface="+mn-cs"/>
              </a:rPr>
              <a:t>Standardit</a:t>
            </a:r>
            <a:endParaRPr kumimoji="0" lang="en-GB" sz="9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en-GB" sz="900" b="0" i="0" u="none" strike="noStrike" kern="1200" cap="none" spc="0" normalizeH="0" baseline="0" noProof="0" dirty="0" err="1" smtClean="0">
                <a:ln>
                  <a:noFill/>
                </a:ln>
                <a:solidFill>
                  <a:schemeClr val="tx1"/>
                </a:solidFill>
                <a:effectLst/>
                <a:uLnTx/>
                <a:uFillTx/>
                <a:latin typeface="+mn-lt"/>
                <a:ea typeface="+mn-ea"/>
                <a:cs typeface="+mn-cs"/>
              </a:rPr>
              <a:t>Yksityiskohdat</a:t>
            </a:r>
            <a:endParaRPr kumimoji="0" lang="en-GB" sz="9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en-GB" sz="900" b="0" i="0" u="none" strike="noStrike" kern="1200" cap="none" spc="0" normalizeH="0" baseline="0" noProof="0" dirty="0" err="1" smtClean="0">
                <a:ln>
                  <a:noFill/>
                </a:ln>
                <a:solidFill>
                  <a:schemeClr val="tx1"/>
                </a:solidFill>
                <a:effectLst/>
                <a:uLnTx/>
                <a:uFillTx/>
                <a:latin typeface="+mn-lt"/>
                <a:ea typeface="+mn-ea"/>
                <a:cs typeface="+mn-cs"/>
              </a:rPr>
              <a:t>Tehdään</a:t>
            </a:r>
            <a:r>
              <a:rPr kumimoji="0" lang="en-GB" sz="900" b="0" i="0" u="none" strike="noStrike" kern="1200" cap="none" spc="0" normalizeH="0" baseline="0" noProof="0" dirty="0" smtClean="0">
                <a:ln>
                  <a:noFill/>
                </a:ln>
                <a:solidFill>
                  <a:schemeClr val="tx1"/>
                </a:solidFill>
                <a:effectLst/>
                <a:uLnTx/>
                <a:uFillTx/>
                <a:latin typeface="+mn-lt"/>
                <a:ea typeface="+mn-ea"/>
                <a:cs typeface="+mn-cs"/>
              </a:rPr>
              <a:t> </a:t>
            </a:r>
            <a:r>
              <a:rPr kumimoji="0" lang="en-GB" sz="900" b="0" i="0" u="none" strike="noStrike" kern="1200" cap="none" spc="0" normalizeH="0" baseline="0" noProof="0" dirty="0" err="1" smtClean="0">
                <a:ln>
                  <a:noFill/>
                </a:ln>
                <a:solidFill>
                  <a:schemeClr val="tx1"/>
                </a:solidFill>
                <a:effectLst/>
                <a:uLnTx/>
                <a:uFillTx/>
                <a:latin typeface="+mn-lt"/>
                <a:ea typeface="+mn-ea"/>
                <a:cs typeface="+mn-cs"/>
              </a:rPr>
              <a:t>niinkuin</a:t>
            </a:r>
            <a:r>
              <a:rPr kumimoji="0" lang="en-GB" sz="900" b="0" i="0" u="none" strike="noStrike" kern="1200" cap="none" spc="0" normalizeH="0" baseline="0" noProof="0" dirty="0" smtClean="0">
                <a:ln>
                  <a:noFill/>
                </a:ln>
                <a:solidFill>
                  <a:schemeClr val="tx1"/>
                </a:solidFill>
                <a:effectLst/>
                <a:uLnTx/>
                <a:uFillTx/>
                <a:latin typeface="+mn-lt"/>
                <a:ea typeface="+mn-ea"/>
                <a:cs typeface="+mn-cs"/>
              </a:rPr>
              <a:t> on </a:t>
            </a:r>
            <a:r>
              <a:rPr kumimoji="0" lang="en-GB" sz="900" b="0" i="0" u="none" strike="noStrike" kern="1200" cap="none" spc="0" normalizeH="0" baseline="0" noProof="0" dirty="0" err="1" smtClean="0">
                <a:ln>
                  <a:noFill/>
                </a:ln>
                <a:solidFill>
                  <a:schemeClr val="tx1"/>
                </a:solidFill>
                <a:effectLst/>
                <a:uLnTx/>
                <a:uFillTx/>
                <a:latin typeface="+mn-lt"/>
                <a:ea typeface="+mn-ea"/>
                <a:cs typeface="+mn-cs"/>
              </a:rPr>
              <a:t>tapana</a:t>
            </a:r>
            <a:endParaRPr kumimoji="0" lang="en-GB" sz="9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en-GB" sz="900" b="0" i="0" u="none" strike="noStrike" kern="1200" cap="none" spc="0" normalizeH="0" baseline="0" noProof="0" dirty="0" err="1" smtClean="0">
                <a:ln>
                  <a:noFill/>
                </a:ln>
                <a:solidFill>
                  <a:schemeClr val="tx1"/>
                </a:solidFill>
                <a:effectLst/>
                <a:uLnTx/>
                <a:uFillTx/>
                <a:latin typeface="+mn-lt"/>
                <a:ea typeface="+mn-ea"/>
                <a:cs typeface="+mn-cs"/>
              </a:rPr>
              <a:t>Paperityöt</a:t>
            </a:r>
            <a:endParaRPr kumimoji="0" lang="en-GB" sz="900" b="0" i="0" u="none" strike="noStrike" kern="1200" cap="none" spc="0" normalizeH="0" baseline="0" noProof="0" dirty="0">
              <a:ln>
                <a:noFill/>
              </a:ln>
              <a:solidFill>
                <a:schemeClr val="tx1"/>
              </a:solidFill>
              <a:effectLst/>
              <a:uLnTx/>
              <a:uFillTx/>
              <a:latin typeface="+mn-lt"/>
              <a:ea typeface="+mn-ea"/>
              <a:cs typeface="+mn-cs"/>
            </a:endParaRPr>
          </a:p>
        </p:txBody>
      </p:sp>
      <p:sp>
        <p:nvSpPr>
          <p:cNvPr id="10" name="Rectangle 3"/>
          <p:cNvSpPr txBox="1">
            <a:spLocks noChangeArrowheads="1"/>
          </p:cNvSpPr>
          <p:nvPr/>
        </p:nvSpPr>
        <p:spPr>
          <a:xfrm>
            <a:off x="457200" y="1357298"/>
            <a:ext cx="4038600" cy="2000264"/>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10000"/>
              </a:lnSpc>
              <a:spcBef>
                <a:spcPct val="20000"/>
              </a:spcBef>
              <a:spcAft>
                <a:spcPts val="0"/>
              </a:spcAft>
              <a:buClrTx/>
              <a:buSzTx/>
              <a:buFont typeface="Arial" pitchFamily="34" charset="0"/>
              <a:buChar char="•"/>
              <a:tabLst/>
              <a:defRPr/>
            </a:pPr>
            <a:r>
              <a:rPr kumimoji="0" lang="fi-FI" sz="1000" b="0" i="0" u="none" strike="noStrike" kern="1200" cap="none" spc="0" normalizeH="0" baseline="0" noProof="0" dirty="0" smtClean="0">
                <a:ln>
                  <a:noFill/>
                </a:ln>
                <a:solidFill>
                  <a:schemeClr val="tx1"/>
                </a:solidFill>
                <a:effectLst/>
                <a:uLnTx/>
                <a:uFillTx/>
                <a:latin typeface="+mn-lt"/>
                <a:ea typeface="+mn-ea"/>
                <a:cs typeface="+mn-cs"/>
              </a:rPr>
              <a:t>Pitää</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900" b="0" i="0" u="none" strike="noStrike" kern="1200" cap="none" spc="0" normalizeH="0" baseline="0" noProof="0" dirty="0" smtClean="0">
                <a:ln>
                  <a:noFill/>
                </a:ln>
                <a:solidFill>
                  <a:schemeClr val="tx1"/>
                </a:solidFill>
                <a:effectLst/>
                <a:uLnTx/>
                <a:uFillTx/>
                <a:latin typeface="+mn-lt"/>
                <a:ea typeface="+mn-ea"/>
                <a:cs typeface="+mn-cs"/>
              </a:rPr>
              <a:t>Strateginen / tavoitteet</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900" b="0" i="0" u="none" strike="noStrike" kern="1200" cap="none" spc="0" normalizeH="0" baseline="0" noProof="0" dirty="0" smtClean="0">
                <a:ln>
                  <a:noFill/>
                </a:ln>
                <a:solidFill>
                  <a:schemeClr val="tx1"/>
                </a:solidFill>
                <a:effectLst/>
                <a:uLnTx/>
                <a:uFillTx/>
                <a:latin typeface="+mn-lt"/>
                <a:ea typeface="+mn-ea"/>
                <a:cs typeface="+mn-cs"/>
              </a:rPr>
              <a:t>Positiivinen</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900" b="0" i="0" u="none" strike="noStrike" kern="1200" cap="none" spc="0" normalizeH="0" baseline="0" noProof="0" dirty="0" smtClean="0">
                <a:ln>
                  <a:noFill/>
                </a:ln>
                <a:solidFill>
                  <a:schemeClr val="tx1"/>
                </a:solidFill>
                <a:effectLst/>
                <a:uLnTx/>
                <a:uFillTx/>
                <a:latin typeface="+mn-lt"/>
                <a:ea typeface="+mn-ea"/>
                <a:cs typeface="+mn-cs"/>
              </a:rPr>
              <a:t>Tulokset / nopea</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900" b="0" i="0" u="none" strike="noStrike" kern="1200" cap="none" spc="0" normalizeH="0" baseline="0" noProof="0" dirty="0" smtClean="0">
                <a:ln>
                  <a:noFill/>
                </a:ln>
                <a:solidFill>
                  <a:schemeClr val="tx1"/>
                </a:solidFill>
                <a:effectLst/>
                <a:uLnTx/>
                <a:uFillTx/>
                <a:latin typeface="+mn-lt"/>
                <a:ea typeface="+mn-ea"/>
                <a:cs typeface="+mn-cs"/>
              </a:rPr>
              <a:t>Käytännöllinen</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900" b="0" i="0" u="none" strike="noStrike" kern="1200" cap="none" spc="0" normalizeH="0" baseline="0" noProof="0" dirty="0" smtClean="0">
                <a:ln>
                  <a:noFill/>
                </a:ln>
                <a:solidFill>
                  <a:schemeClr val="tx1"/>
                </a:solidFill>
                <a:effectLst/>
                <a:uLnTx/>
                <a:uFillTx/>
                <a:latin typeface="+mn-lt"/>
                <a:ea typeface="+mn-ea"/>
                <a:cs typeface="+mn-cs"/>
              </a:rPr>
              <a:t>Sisäinen tehokkuus</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900" b="0" i="0" u="none" strike="noStrike" kern="1200" cap="none" spc="0" normalizeH="0" baseline="0" noProof="0" dirty="0" smtClean="0">
                <a:ln>
                  <a:noFill/>
                </a:ln>
                <a:solidFill>
                  <a:schemeClr val="tx1"/>
                </a:solidFill>
                <a:effectLst/>
                <a:uLnTx/>
                <a:uFillTx/>
                <a:latin typeface="+mn-lt"/>
                <a:ea typeface="+mn-ea"/>
                <a:cs typeface="+mn-cs"/>
              </a:rPr>
              <a:t>Tehtävät</a:t>
            </a:r>
          </a:p>
          <a:p>
            <a:pPr marL="342900" marR="0" lvl="0" indent="-342900" algn="l" defTabSz="914400" rtl="0" eaLnBrk="1" fontAlgn="auto" latinLnBrk="0" hangingPunct="1">
              <a:lnSpc>
                <a:spcPct val="110000"/>
              </a:lnSpc>
              <a:spcBef>
                <a:spcPct val="20000"/>
              </a:spcBef>
              <a:spcAft>
                <a:spcPts val="0"/>
              </a:spcAft>
              <a:buClrTx/>
              <a:buSzTx/>
              <a:buFont typeface="Arial" pitchFamily="34" charset="0"/>
              <a:buChar char="•"/>
              <a:tabLst/>
              <a:defRPr/>
            </a:pPr>
            <a:r>
              <a:rPr kumimoji="0" lang="fi-FI" sz="1000" b="0" i="0" u="none" strike="noStrike" kern="1200" cap="none" spc="0" normalizeH="0" baseline="0" noProof="0" dirty="0" smtClean="0">
                <a:ln>
                  <a:noFill/>
                </a:ln>
                <a:solidFill>
                  <a:schemeClr val="tx1"/>
                </a:solidFill>
                <a:effectLst/>
                <a:uLnTx/>
                <a:uFillTx/>
                <a:latin typeface="+mn-lt"/>
                <a:ea typeface="+mn-ea"/>
                <a:cs typeface="+mn-cs"/>
              </a:rPr>
              <a:t>Ei pidä</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en-GB" sz="900" b="0" i="0" u="none" strike="noStrike" kern="1200" cap="none" spc="0" normalizeH="0" baseline="0" noProof="0" dirty="0" err="1" smtClean="0">
                <a:ln>
                  <a:noFill/>
                </a:ln>
                <a:solidFill>
                  <a:schemeClr val="tx1"/>
                </a:solidFill>
                <a:effectLst/>
                <a:uLnTx/>
                <a:uFillTx/>
                <a:latin typeface="+mn-lt"/>
                <a:ea typeface="+mn-ea"/>
                <a:cs typeface="+mn-cs"/>
              </a:rPr>
              <a:t>Päättämättömyys</a:t>
            </a:r>
            <a:endParaRPr kumimoji="0" lang="en-GB" sz="9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en-GB" sz="900" b="0" i="0" u="none" strike="noStrike" kern="1200" cap="none" spc="0" normalizeH="0" baseline="0" noProof="0" dirty="0" err="1" smtClean="0">
                <a:ln>
                  <a:noFill/>
                </a:ln>
                <a:solidFill>
                  <a:schemeClr val="tx1"/>
                </a:solidFill>
                <a:effectLst/>
                <a:uLnTx/>
                <a:uFillTx/>
                <a:latin typeface="+mn-lt"/>
                <a:ea typeface="+mn-ea"/>
                <a:cs typeface="+mn-cs"/>
              </a:rPr>
              <a:t>Epäselvyys</a:t>
            </a:r>
            <a:endParaRPr kumimoji="0" lang="en-GB" sz="9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en-GB" sz="900" b="0" i="0" u="none" strike="noStrike" kern="1200" cap="none" spc="0" normalizeH="0" baseline="0" noProof="0" dirty="0" err="1" smtClean="0">
                <a:ln>
                  <a:noFill/>
                </a:ln>
                <a:solidFill>
                  <a:schemeClr val="tx1"/>
                </a:solidFill>
                <a:effectLst/>
                <a:uLnTx/>
                <a:uFillTx/>
                <a:latin typeface="+mn-lt"/>
                <a:ea typeface="+mn-ea"/>
                <a:cs typeface="+mn-cs"/>
              </a:rPr>
              <a:t>Ajantuhlaus</a:t>
            </a:r>
            <a:r>
              <a:rPr kumimoji="0" lang="en-GB" sz="900" b="0" i="0" u="none" strike="noStrike" kern="1200" cap="none" spc="0" normalizeH="0" baseline="0" noProof="0" dirty="0" smtClean="0">
                <a:ln>
                  <a:noFill/>
                </a:ln>
                <a:solidFill>
                  <a:schemeClr val="tx1"/>
                </a:solidFill>
                <a:effectLst/>
                <a:uLnTx/>
                <a:uFillTx/>
                <a:latin typeface="+mn-lt"/>
                <a:ea typeface="+mn-ea"/>
                <a:cs typeface="+mn-cs"/>
              </a:rPr>
              <a:t> </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en-GB" sz="900" b="0" i="0" u="none" strike="noStrike" kern="1200" cap="none" spc="0" normalizeH="0" baseline="0" noProof="0" dirty="0" err="1" smtClean="0">
                <a:ln>
                  <a:noFill/>
                </a:ln>
                <a:solidFill>
                  <a:schemeClr val="tx1"/>
                </a:solidFill>
                <a:effectLst/>
                <a:uLnTx/>
                <a:uFillTx/>
                <a:latin typeface="+mn-lt"/>
                <a:ea typeface="+mn-ea"/>
                <a:cs typeface="+mn-cs"/>
              </a:rPr>
              <a:t>Tuottamaton</a:t>
            </a:r>
            <a:endParaRPr kumimoji="0" lang="en-GB" sz="900" b="0" i="0" u="none" strike="noStrike" kern="1200" cap="none" spc="0" normalizeH="0" baseline="0" noProof="0" dirty="0">
              <a:ln>
                <a:noFill/>
              </a:ln>
              <a:solidFill>
                <a:schemeClr val="tx1"/>
              </a:solidFill>
              <a:effectLst/>
              <a:uLnTx/>
              <a:uFillTx/>
              <a:latin typeface="+mn-lt"/>
              <a:ea typeface="+mn-ea"/>
              <a:cs typeface="+mn-cs"/>
            </a:endParaRPr>
          </a:p>
        </p:txBody>
      </p:sp>
      <p:sp>
        <p:nvSpPr>
          <p:cNvPr id="11" name="Rectangle 3"/>
          <p:cNvSpPr txBox="1">
            <a:spLocks noChangeArrowheads="1"/>
          </p:cNvSpPr>
          <p:nvPr/>
        </p:nvSpPr>
        <p:spPr>
          <a:xfrm>
            <a:off x="457200" y="4500570"/>
            <a:ext cx="4038600" cy="1625593"/>
          </a:xfrm>
          <a:prstGeom prst="rect">
            <a:avLst/>
          </a:prstGeom>
        </p:spPr>
        <p:txBody>
          <a:bodyPr vert="horz" lIns="91440" tIns="45720" rIns="91440" bIns="45720" rtlCol="0">
            <a:normAutofit fontScale="85000" lnSpcReduction="20000"/>
          </a:bodyPr>
          <a:lstStyle/>
          <a:p>
            <a:pPr marL="342900" marR="0" lvl="0" indent="-342900" algn="l" defTabSz="914400" rtl="0" eaLnBrk="1" fontAlgn="auto" latinLnBrk="0" hangingPunct="1">
              <a:lnSpc>
                <a:spcPct val="110000"/>
              </a:lnSpc>
              <a:spcBef>
                <a:spcPct val="20000"/>
              </a:spcBef>
              <a:spcAft>
                <a:spcPts val="0"/>
              </a:spcAft>
              <a:buClrTx/>
              <a:buSzTx/>
              <a:buFont typeface="Arial" pitchFamily="34" charset="0"/>
              <a:buChar char="•"/>
              <a:tabLst/>
              <a:defRPr/>
            </a:pPr>
            <a:r>
              <a:rPr kumimoji="0" lang="fi-FI" sz="1100" b="0" i="0" u="none" strike="noStrike" kern="1200" cap="none" spc="0" normalizeH="0" baseline="0" noProof="0" smtClean="0">
                <a:ln>
                  <a:noFill/>
                </a:ln>
                <a:solidFill>
                  <a:schemeClr val="tx1"/>
                </a:solidFill>
                <a:effectLst/>
                <a:uLnTx/>
                <a:uFillTx/>
                <a:latin typeface="+mn-lt"/>
                <a:ea typeface="+mn-ea"/>
                <a:cs typeface="+mn-cs"/>
              </a:rPr>
              <a:t>Pitää</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1050" b="0" i="0" u="none" strike="noStrike" kern="1200" cap="none" spc="0" normalizeH="0" baseline="0" noProof="0" smtClean="0">
                <a:ln>
                  <a:noFill/>
                </a:ln>
                <a:solidFill>
                  <a:schemeClr val="tx1"/>
                </a:solidFill>
                <a:effectLst/>
                <a:uLnTx/>
                <a:uFillTx/>
                <a:latin typeface="+mn-lt"/>
                <a:ea typeface="+mn-ea"/>
                <a:cs typeface="+mn-cs"/>
              </a:rPr>
              <a:t>Oikeellisuus / tarkkuus</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1050" b="0" i="0" u="none" strike="noStrike" kern="1200" cap="none" spc="0" normalizeH="0" baseline="0" noProof="0" smtClean="0">
                <a:ln>
                  <a:noFill/>
                </a:ln>
                <a:solidFill>
                  <a:schemeClr val="tx1"/>
                </a:solidFill>
                <a:effectLst/>
                <a:uLnTx/>
                <a:uFillTx/>
                <a:latin typeface="+mn-lt"/>
                <a:ea typeface="+mn-ea"/>
                <a:cs typeface="+mn-cs"/>
              </a:rPr>
              <a:t>Yksityiskohtien huomiointi</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1050" b="0" i="0" u="none" strike="noStrike" kern="1200" cap="none" spc="0" normalizeH="0" baseline="0" noProof="0" smtClean="0">
                <a:ln>
                  <a:noFill/>
                </a:ln>
                <a:solidFill>
                  <a:schemeClr val="tx1"/>
                </a:solidFill>
                <a:effectLst/>
                <a:uLnTx/>
                <a:uFillTx/>
                <a:latin typeface="+mn-lt"/>
                <a:ea typeface="+mn-ea"/>
                <a:cs typeface="+mn-cs"/>
              </a:rPr>
              <a:t>Todisteet</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1050" b="0" i="0" u="none" strike="noStrike" kern="1200" cap="none" spc="0" normalizeH="0" baseline="0" noProof="0" smtClean="0">
                <a:ln>
                  <a:noFill/>
                </a:ln>
                <a:solidFill>
                  <a:schemeClr val="tx1"/>
                </a:solidFill>
                <a:effectLst/>
                <a:uLnTx/>
                <a:uFillTx/>
                <a:latin typeface="+mn-lt"/>
                <a:ea typeface="+mn-ea"/>
                <a:cs typeface="+mn-cs"/>
              </a:rPr>
              <a:t>Standardit</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1050" b="0" i="0" u="none" strike="noStrike" kern="1200" cap="none" spc="0" normalizeH="0" baseline="0" noProof="0" smtClean="0">
                <a:ln>
                  <a:noFill/>
                </a:ln>
                <a:solidFill>
                  <a:schemeClr val="tx1"/>
                </a:solidFill>
                <a:effectLst/>
                <a:uLnTx/>
                <a:uFillTx/>
                <a:latin typeface="+mn-lt"/>
                <a:ea typeface="+mn-ea"/>
                <a:cs typeface="+mn-cs"/>
              </a:rPr>
              <a:t>Luotettavuus</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1050" b="0" i="0" u="none" strike="noStrike" kern="1200" cap="none" spc="0" normalizeH="0" baseline="0" noProof="0" smtClean="0">
                <a:ln>
                  <a:noFill/>
                </a:ln>
                <a:solidFill>
                  <a:schemeClr val="tx1"/>
                </a:solidFill>
                <a:effectLst/>
                <a:uLnTx/>
                <a:uFillTx/>
                <a:latin typeface="+mn-lt"/>
                <a:ea typeface="+mn-ea"/>
                <a:cs typeface="+mn-cs"/>
              </a:rPr>
              <a:t>Kaikki vaihtoehdot</a:t>
            </a:r>
          </a:p>
          <a:p>
            <a:pPr marL="342900" marR="0" lvl="0" indent="-342900" algn="l" defTabSz="914400" rtl="0" eaLnBrk="1" fontAlgn="auto" latinLnBrk="0" hangingPunct="1">
              <a:lnSpc>
                <a:spcPct val="110000"/>
              </a:lnSpc>
              <a:spcBef>
                <a:spcPct val="20000"/>
              </a:spcBef>
              <a:spcAft>
                <a:spcPts val="0"/>
              </a:spcAft>
              <a:buClrTx/>
              <a:buSzTx/>
              <a:buFont typeface="Arial" pitchFamily="34" charset="0"/>
              <a:buChar char="•"/>
              <a:tabLst/>
              <a:defRPr/>
            </a:pPr>
            <a:r>
              <a:rPr kumimoji="0" lang="fi-FI" sz="1100" b="0" i="0" u="none" strike="noStrike" kern="1200" cap="none" spc="0" normalizeH="0" baseline="0" noProof="0" smtClean="0">
                <a:ln>
                  <a:noFill/>
                </a:ln>
                <a:solidFill>
                  <a:schemeClr val="tx1"/>
                </a:solidFill>
                <a:effectLst/>
                <a:uLnTx/>
                <a:uFillTx/>
                <a:latin typeface="+mn-lt"/>
                <a:ea typeface="+mn-ea"/>
                <a:cs typeface="+mn-cs"/>
              </a:rPr>
              <a:t>Ei pidä</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en-GB" sz="1050" b="0" i="0" u="none" strike="noStrike" kern="1200" cap="none" spc="0" normalizeH="0" baseline="0" noProof="0" smtClean="0">
                <a:ln>
                  <a:noFill/>
                </a:ln>
                <a:solidFill>
                  <a:schemeClr val="tx1"/>
                </a:solidFill>
                <a:effectLst/>
                <a:uLnTx/>
                <a:uFillTx/>
                <a:latin typeface="+mn-lt"/>
                <a:ea typeface="+mn-ea"/>
                <a:cs typeface="+mn-cs"/>
              </a:rPr>
              <a:t>Uusi / muutos</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en-GB" sz="1050" b="0" i="0" u="none" strike="noStrike" kern="1200" cap="none" spc="0" normalizeH="0" baseline="0" noProof="0" smtClean="0">
                <a:ln>
                  <a:noFill/>
                </a:ln>
                <a:solidFill>
                  <a:schemeClr val="tx1"/>
                </a:solidFill>
                <a:effectLst/>
                <a:uLnTx/>
                <a:uFillTx/>
                <a:latin typeface="+mn-lt"/>
                <a:ea typeface="+mn-ea"/>
                <a:cs typeface="+mn-cs"/>
              </a:rPr>
              <a:t>Testaamaton / riskit</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en-GB" sz="1050" b="0" i="0" u="none" strike="noStrike" kern="1200" cap="none" spc="0" normalizeH="0" baseline="0" noProof="0" smtClean="0">
                <a:ln>
                  <a:noFill/>
                </a:ln>
                <a:solidFill>
                  <a:schemeClr val="tx1"/>
                </a:solidFill>
                <a:effectLst/>
                <a:uLnTx/>
                <a:uFillTx/>
                <a:latin typeface="+mn-lt"/>
                <a:ea typeface="+mn-ea"/>
                <a:cs typeface="+mn-cs"/>
              </a:rPr>
              <a:t>Lyhyt / nopeus</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en-GB" sz="1050" b="0" i="0" u="none" strike="noStrike" kern="1200" cap="none" spc="0" normalizeH="0" baseline="0" noProof="0" smtClean="0">
                <a:ln>
                  <a:noFill/>
                </a:ln>
                <a:solidFill>
                  <a:schemeClr val="tx1"/>
                </a:solidFill>
                <a:effectLst/>
                <a:uLnTx/>
                <a:uFillTx/>
                <a:latin typeface="+mn-lt"/>
                <a:ea typeface="+mn-ea"/>
                <a:cs typeface="+mn-cs"/>
              </a:rPr>
              <a:t>Luovuttaminen eteenpäin</a:t>
            </a:r>
            <a:endParaRPr kumimoji="0" lang="en-GB" sz="1050" b="0" i="0" u="none" strike="noStrike" kern="1200" cap="none" spc="0" normalizeH="0" baseline="0" noProof="0" dirty="0">
              <a:ln>
                <a:noFill/>
              </a:ln>
              <a:solidFill>
                <a:schemeClr val="tx1"/>
              </a:solidFill>
              <a:effectLst/>
              <a:uLnTx/>
              <a:uFillTx/>
              <a:latin typeface="+mn-lt"/>
              <a:ea typeface="+mn-ea"/>
              <a:cs typeface="+mn-cs"/>
            </a:endParaRPr>
          </a:p>
        </p:txBody>
      </p:sp>
      <p:sp>
        <p:nvSpPr>
          <p:cNvPr id="12" name="Rectangle 3"/>
          <p:cNvSpPr txBox="1">
            <a:spLocks noChangeArrowheads="1"/>
          </p:cNvSpPr>
          <p:nvPr/>
        </p:nvSpPr>
        <p:spPr>
          <a:xfrm>
            <a:off x="6462754" y="4518051"/>
            <a:ext cx="2681246" cy="176846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10000"/>
              </a:lnSpc>
              <a:spcBef>
                <a:spcPct val="20000"/>
              </a:spcBef>
              <a:spcAft>
                <a:spcPts val="0"/>
              </a:spcAft>
              <a:buClrTx/>
              <a:buSzTx/>
              <a:buFont typeface="Arial" pitchFamily="34" charset="0"/>
              <a:buChar char="•"/>
              <a:tabLst/>
              <a:defRPr/>
            </a:pPr>
            <a:r>
              <a:rPr kumimoji="0" lang="fi-FI" sz="900" b="0" i="0" u="none" strike="noStrike" kern="1200" cap="none" spc="0" normalizeH="0" baseline="0" noProof="0" smtClean="0">
                <a:ln>
                  <a:noFill/>
                </a:ln>
                <a:solidFill>
                  <a:schemeClr val="tx1"/>
                </a:solidFill>
                <a:effectLst/>
                <a:uLnTx/>
                <a:uFillTx/>
                <a:latin typeface="+mn-lt"/>
                <a:ea typeface="+mn-ea"/>
                <a:cs typeface="+mn-cs"/>
              </a:rPr>
              <a:t>Pitää</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900" b="0" i="0" u="none" strike="noStrike" kern="1200" cap="none" spc="0" normalizeH="0" baseline="0" noProof="0" smtClean="0">
                <a:ln>
                  <a:noFill/>
                </a:ln>
                <a:solidFill>
                  <a:schemeClr val="tx1"/>
                </a:solidFill>
                <a:effectLst/>
                <a:uLnTx/>
                <a:uFillTx/>
                <a:latin typeface="+mn-lt"/>
                <a:ea typeface="+mn-ea"/>
                <a:cs typeface="+mn-cs"/>
              </a:rPr>
              <a:t>Verkostoituminen </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900" b="0" i="0" u="none" strike="noStrike" kern="1200" cap="none" spc="0" normalizeH="0" baseline="0" noProof="0" smtClean="0">
                <a:ln>
                  <a:noFill/>
                </a:ln>
                <a:solidFill>
                  <a:schemeClr val="tx1"/>
                </a:solidFill>
                <a:effectLst/>
                <a:uLnTx/>
                <a:uFillTx/>
                <a:latin typeface="+mn-lt"/>
                <a:ea typeface="+mn-ea"/>
                <a:cs typeface="+mn-cs"/>
              </a:rPr>
              <a:t>Positiivisuus </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900" b="0" i="0" u="none" strike="noStrike" kern="1200" cap="none" spc="0" normalizeH="0" baseline="0" noProof="0" smtClean="0">
                <a:ln>
                  <a:noFill/>
                </a:ln>
                <a:solidFill>
                  <a:schemeClr val="tx1"/>
                </a:solidFill>
                <a:effectLst/>
                <a:uLnTx/>
                <a:uFillTx/>
                <a:latin typeface="+mn-lt"/>
                <a:ea typeface="+mn-ea"/>
                <a:cs typeface="+mn-cs"/>
              </a:rPr>
              <a:t>Tiimisuuntautuneisuus </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900" b="0" i="0" u="none" strike="noStrike" kern="1200" cap="none" spc="0" normalizeH="0" baseline="0" noProof="0" smtClean="0">
                <a:ln>
                  <a:noFill/>
                </a:ln>
                <a:solidFill>
                  <a:schemeClr val="tx1"/>
                </a:solidFill>
                <a:effectLst/>
                <a:uLnTx/>
                <a:uFillTx/>
                <a:latin typeface="+mn-lt"/>
                <a:ea typeface="+mn-ea"/>
                <a:cs typeface="+mn-cs"/>
              </a:rPr>
              <a:t>Yhteisymmärrys / jakaminen</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900" b="0" i="0" u="none" strike="noStrike" kern="1200" cap="none" spc="0" normalizeH="0" baseline="0" noProof="0" smtClean="0">
                <a:ln>
                  <a:noFill/>
                </a:ln>
                <a:solidFill>
                  <a:schemeClr val="tx1"/>
                </a:solidFill>
                <a:effectLst/>
                <a:uLnTx/>
                <a:uFillTx/>
                <a:latin typeface="+mn-lt"/>
                <a:ea typeface="+mn-ea"/>
                <a:cs typeface="+mn-cs"/>
              </a:rPr>
              <a:t>Sillanrakennus </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900" b="0" i="0" u="none" strike="noStrike" kern="1200" cap="none" spc="0" normalizeH="0" baseline="0" noProof="0" smtClean="0">
                <a:ln>
                  <a:noFill/>
                </a:ln>
                <a:solidFill>
                  <a:schemeClr val="tx1"/>
                </a:solidFill>
                <a:effectLst/>
                <a:uLnTx/>
                <a:uFillTx/>
                <a:latin typeface="+mn-lt"/>
                <a:ea typeface="+mn-ea"/>
                <a:cs typeface="+mn-cs"/>
              </a:rPr>
              <a:t>Nykytilan pysyvyys</a:t>
            </a:r>
          </a:p>
          <a:p>
            <a:pPr marL="342900" marR="0" lvl="0" indent="-342900" algn="l" defTabSz="914400" rtl="0" eaLnBrk="1" fontAlgn="auto" latinLnBrk="0" hangingPunct="1">
              <a:lnSpc>
                <a:spcPct val="110000"/>
              </a:lnSpc>
              <a:spcBef>
                <a:spcPct val="20000"/>
              </a:spcBef>
              <a:spcAft>
                <a:spcPts val="0"/>
              </a:spcAft>
              <a:buClrTx/>
              <a:buSzTx/>
              <a:buFont typeface="Arial" pitchFamily="34" charset="0"/>
              <a:buChar char="•"/>
              <a:tabLst/>
              <a:defRPr/>
            </a:pPr>
            <a:r>
              <a:rPr kumimoji="0" lang="fi-FI" sz="900" b="0" i="0" u="none" strike="noStrike" kern="1200" cap="none" spc="0" normalizeH="0" baseline="0" noProof="0" smtClean="0">
                <a:ln>
                  <a:noFill/>
                </a:ln>
                <a:solidFill>
                  <a:schemeClr val="tx1"/>
                </a:solidFill>
                <a:effectLst/>
                <a:uLnTx/>
                <a:uFillTx/>
                <a:latin typeface="+mn-lt"/>
                <a:ea typeface="+mn-ea"/>
                <a:cs typeface="+mn-cs"/>
              </a:rPr>
              <a:t>Ei pidä</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en-GB" sz="900" b="0" i="0" u="none" strike="noStrike" kern="1200" cap="none" spc="0" normalizeH="0" baseline="0" noProof="0" smtClean="0">
                <a:ln>
                  <a:noFill/>
                </a:ln>
                <a:solidFill>
                  <a:schemeClr val="tx1"/>
                </a:solidFill>
                <a:effectLst/>
                <a:uLnTx/>
                <a:uFillTx/>
                <a:latin typeface="+mn-lt"/>
                <a:ea typeface="+mn-ea"/>
                <a:cs typeface="+mn-cs"/>
              </a:rPr>
              <a:t>Paine / aikarajat</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en-GB" sz="900" b="0" i="0" u="none" strike="noStrike" kern="1200" cap="none" spc="0" normalizeH="0" baseline="0" noProof="0" smtClean="0">
                <a:ln>
                  <a:noFill/>
                </a:ln>
                <a:solidFill>
                  <a:schemeClr val="tx1"/>
                </a:solidFill>
                <a:effectLst/>
                <a:uLnTx/>
                <a:uFillTx/>
                <a:latin typeface="+mn-lt"/>
                <a:ea typeface="+mn-ea"/>
                <a:cs typeface="+mn-cs"/>
              </a:rPr>
              <a:t>Taistelu</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en-GB" sz="900" b="0" i="0" u="none" strike="noStrike" kern="1200" cap="none" spc="0" normalizeH="0" baseline="0" noProof="0" smtClean="0">
                <a:ln>
                  <a:noFill/>
                </a:ln>
                <a:solidFill>
                  <a:schemeClr val="tx1"/>
                </a:solidFill>
                <a:effectLst/>
                <a:uLnTx/>
                <a:uFillTx/>
                <a:latin typeface="+mn-lt"/>
                <a:ea typeface="+mn-ea"/>
                <a:cs typeface="+mn-cs"/>
              </a:rPr>
              <a:t>Eristäytyminen</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en-GB" sz="900" b="0" i="0" u="none" strike="noStrike" kern="1200" cap="none" spc="0" normalizeH="0" baseline="0" noProof="0" smtClean="0">
                <a:ln>
                  <a:noFill/>
                </a:ln>
                <a:solidFill>
                  <a:schemeClr val="tx1"/>
                </a:solidFill>
                <a:effectLst/>
                <a:uLnTx/>
                <a:uFillTx/>
                <a:latin typeface="+mn-lt"/>
                <a:ea typeface="+mn-ea"/>
                <a:cs typeface="+mn-cs"/>
              </a:rPr>
              <a:t>Saneltu toiminta</a:t>
            </a:r>
            <a:endParaRPr kumimoji="0" lang="en-GB" sz="900" b="0" i="0" u="none" strike="noStrike" kern="1200" cap="none" spc="0" normalizeH="0" baseline="0" noProof="0" dirty="0">
              <a:ln>
                <a:noFill/>
              </a:ln>
              <a:solidFill>
                <a:schemeClr val="tx1"/>
              </a:solidFill>
              <a:effectLst/>
              <a:uLnTx/>
              <a:uFillTx/>
              <a:latin typeface="+mn-lt"/>
              <a:ea typeface="+mn-ea"/>
              <a:cs typeface="+mn-cs"/>
            </a:endParaRPr>
          </a:p>
        </p:txBody>
      </p:sp>
      <p:sp>
        <p:nvSpPr>
          <p:cNvPr id="13" name="Slide Number Placeholder 12"/>
          <p:cNvSpPr>
            <a:spLocks noGrp="1"/>
          </p:cNvSpPr>
          <p:nvPr>
            <p:ph type="sldNum" sz="quarter" idx="12"/>
          </p:nvPr>
        </p:nvSpPr>
        <p:spPr/>
        <p:txBody>
          <a:bodyPr/>
          <a:lstStyle/>
          <a:p>
            <a:fld id="{7A750B4A-325E-4AA4-BC07-A8C35B32A4F3}" type="slidenum">
              <a:rPr lang="fi-FI" smtClean="0"/>
              <a:pPr/>
              <a:t>112</a:t>
            </a:fld>
            <a:endParaRPr lang="fi-FI"/>
          </a:p>
        </p:txBody>
      </p:sp>
    </p:spTree>
  </p:cSld>
  <p:clrMapOvr>
    <a:masterClrMapping/>
  </p:clrMapOvr>
  <p:timing>
    <p:tnLst>
      <p:par>
        <p:cTn xmlns:p14="http://schemas.microsoft.com/office/powerpoint/2010/mai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Hyväksymistestaus</a:t>
            </a:r>
            <a:endParaRPr lang="fi-FI" dirty="0"/>
          </a:p>
        </p:txBody>
      </p:sp>
      <p:graphicFrame>
        <p:nvGraphicFramePr>
          <p:cNvPr id="4" name="Content Placeholder 3"/>
          <p:cNvGraphicFramePr>
            <a:graphicFrameLocks noGrp="1"/>
          </p:cNvGraphicFramePr>
          <p:nvPr>
            <p:ph idx="1"/>
          </p:nvPr>
        </p:nvGraphicFramePr>
        <p:xfrm>
          <a:off x="457200" y="1357298"/>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4"/>
          <p:cNvSpPr>
            <a:spLocks noGrp="1"/>
          </p:cNvSpPr>
          <p:nvPr>
            <p:ph type="sldNum" sz="quarter" idx="12"/>
          </p:nvPr>
        </p:nvSpPr>
        <p:spPr/>
        <p:txBody>
          <a:bodyPr/>
          <a:lstStyle/>
          <a:p>
            <a:fld id="{7A750B4A-325E-4AA4-BC07-A8C35B32A4F3}" type="slidenum">
              <a:rPr lang="fi-FI" smtClean="0"/>
              <a:pPr/>
              <a:t>113</a:t>
            </a:fld>
            <a:endParaRPr lang="fi-FI"/>
          </a:p>
        </p:txBody>
      </p:sp>
    </p:spTree>
  </p:cSld>
  <p:clrMapOvr>
    <a:masterClrMapping/>
  </p:clrMapOvr>
  <p:timing>
    <p:tnLst>
      <p:par>
        <p:cTn xmlns:p14="http://schemas.microsoft.com/office/powerpoint/2010/mai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p:cNvSpPr>
            <a:spLocks noGrp="1" noChangeArrowheads="1"/>
          </p:cNvSpPr>
          <p:nvPr>
            <p:ph type="title"/>
          </p:nvPr>
        </p:nvSpPr>
        <p:spPr/>
        <p:txBody>
          <a:bodyPr/>
          <a:lstStyle/>
          <a:p>
            <a:r>
              <a:rPr lang="fi-FI"/>
              <a:t>Yleinen toimintatapa</a:t>
            </a:r>
          </a:p>
        </p:txBody>
      </p:sp>
      <p:sp>
        <p:nvSpPr>
          <p:cNvPr id="218115" name="Line 3"/>
          <p:cNvSpPr>
            <a:spLocks noChangeShapeType="1"/>
          </p:cNvSpPr>
          <p:nvPr/>
        </p:nvSpPr>
        <p:spPr bwMode="auto">
          <a:xfrm>
            <a:off x="1447800" y="4632325"/>
            <a:ext cx="6477000" cy="0"/>
          </a:xfrm>
          <a:prstGeom prst="line">
            <a:avLst/>
          </a:prstGeom>
          <a:noFill/>
          <a:ln w="9525">
            <a:solidFill>
              <a:schemeClr val="tx1"/>
            </a:solidFill>
            <a:round/>
            <a:headEnd/>
            <a:tailEnd type="triangle" w="med" len="med"/>
          </a:ln>
          <a:effectLst/>
        </p:spPr>
        <p:txBody>
          <a:bodyPr wrap="none" anchor="ctr"/>
          <a:lstStyle/>
          <a:p>
            <a:endParaRPr lang="fi-FI"/>
          </a:p>
        </p:txBody>
      </p:sp>
      <p:sp>
        <p:nvSpPr>
          <p:cNvPr id="218116" name="Line 4"/>
          <p:cNvSpPr>
            <a:spLocks noChangeShapeType="1"/>
          </p:cNvSpPr>
          <p:nvPr/>
        </p:nvSpPr>
        <p:spPr bwMode="auto">
          <a:xfrm flipV="1">
            <a:off x="1447800" y="1660525"/>
            <a:ext cx="0" cy="2971800"/>
          </a:xfrm>
          <a:prstGeom prst="line">
            <a:avLst/>
          </a:prstGeom>
          <a:noFill/>
          <a:ln w="9525">
            <a:solidFill>
              <a:schemeClr val="tx1"/>
            </a:solidFill>
            <a:round/>
            <a:headEnd/>
            <a:tailEnd type="triangle" w="med" len="med"/>
          </a:ln>
          <a:effectLst/>
        </p:spPr>
        <p:txBody>
          <a:bodyPr wrap="none" anchor="ctr"/>
          <a:lstStyle/>
          <a:p>
            <a:endParaRPr lang="fi-FI"/>
          </a:p>
        </p:txBody>
      </p:sp>
      <p:sp>
        <p:nvSpPr>
          <p:cNvPr id="218117" name="Rectangle 5"/>
          <p:cNvSpPr>
            <a:spLocks noChangeArrowheads="1"/>
          </p:cNvSpPr>
          <p:nvPr/>
        </p:nvSpPr>
        <p:spPr bwMode="auto">
          <a:xfrm>
            <a:off x="1447800" y="4251325"/>
            <a:ext cx="381000" cy="381000"/>
          </a:xfrm>
          <a:prstGeom prst="rect">
            <a:avLst/>
          </a:prstGeom>
          <a:solidFill>
            <a:schemeClr val="hlink"/>
          </a:solidFill>
          <a:ln w="9525">
            <a:solidFill>
              <a:schemeClr val="tx1"/>
            </a:solidFill>
            <a:miter lim="800000"/>
            <a:headEnd/>
            <a:tailEnd/>
          </a:ln>
          <a:effectLst/>
        </p:spPr>
        <p:txBody>
          <a:bodyPr wrap="none" anchor="ctr"/>
          <a:lstStyle/>
          <a:p>
            <a:endParaRPr lang="fi-FI"/>
          </a:p>
        </p:txBody>
      </p:sp>
      <p:sp>
        <p:nvSpPr>
          <p:cNvPr id="218118" name="Rectangle 6"/>
          <p:cNvSpPr>
            <a:spLocks noChangeArrowheads="1"/>
          </p:cNvSpPr>
          <p:nvPr/>
        </p:nvSpPr>
        <p:spPr bwMode="auto">
          <a:xfrm>
            <a:off x="4495800" y="4251325"/>
            <a:ext cx="381000" cy="381000"/>
          </a:xfrm>
          <a:prstGeom prst="rect">
            <a:avLst/>
          </a:prstGeom>
          <a:solidFill>
            <a:schemeClr val="bg2"/>
          </a:solidFill>
          <a:ln w="9525">
            <a:solidFill>
              <a:schemeClr val="tx1"/>
            </a:solidFill>
            <a:miter lim="800000"/>
            <a:headEnd/>
            <a:tailEnd/>
          </a:ln>
          <a:effectLst/>
        </p:spPr>
        <p:txBody>
          <a:bodyPr wrap="none" anchor="ctr"/>
          <a:lstStyle/>
          <a:p>
            <a:endParaRPr lang="fi-FI"/>
          </a:p>
        </p:txBody>
      </p:sp>
      <p:sp>
        <p:nvSpPr>
          <p:cNvPr id="218119" name="Rectangle 7"/>
          <p:cNvSpPr>
            <a:spLocks noChangeArrowheads="1"/>
          </p:cNvSpPr>
          <p:nvPr/>
        </p:nvSpPr>
        <p:spPr bwMode="auto">
          <a:xfrm>
            <a:off x="1828800" y="4251325"/>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8120" name="Text Box 8"/>
          <p:cNvSpPr txBox="1">
            <a:spLocks noChangeArrowheads="1"/>
          </p:cNvSpPr>
          <p:nvPr/>
        </p:nvSpPr>
        <p:spPr bwMode="auto">
          <a:xfrm>
            <a:off x="152400" y="1736725"/>
            <a:ext cx="1600200" cy="396875"/>
          </a:xfrm>
          <a:prstGeom prst="rect">
            <a:avLst/>
          </a:prstGeom>
          <a:noFill/>
          <a:ln w="9525">
            <a:noFill/>
            <a:miter lim="800000"/>
            <a:headEnd/>
            <a:tailEnd/>
          </a:ln>
          <a:effectLst/>
        </p:spPr>
        <p:txBody>
          <a:bodyPr>
            <a:spAutoFit/>
          </a:bodyPr>
          <a:lstStyle/>
          <a:p>
            <a:pPr algn="l" eaLnBrk="0" hangingPunct="0">
              <a:spcBef>
                <a:spcPct val="50000"/>
              </a:spcBef>
            </a:pPr>
            <a:r>
              <a:rPr lang="fi-FI" sz="2000"/>
              <a:t>työmäärä</a:t>
            </a:r>
          </a:p>
        </p:txBody>
      </p:sp>
      <p:sp>
        <p:nvSpPr>
          <p:cNvPr id="218121" name="Text Box 9"/>
          <p:cNvSpPr txBox="1">
            <a:spLocks noChangeArrowheads="1"/>
          </p:cNvSpPr>
          <p:nvPr/>
        </p:nvSpPr>
        <p:spPr bwMode="auto">
          <a:xfrm>
            <a:off x="7239000" y="4632325"/>
            <a:ext cx="1219200" cy="396875"/>
          </a:xfrm>
          <a:prstGeom prst="rect">
            <a:avLst/>
          </a:prstGeom>
          <a:noFill/>
          <a:ln w="9525">
            <a:noFill/>
            <a:miter lim="800000"/>
            <a:headEnd/>
            <a:tailEnd/>
          </a:ln>
          <a:effectLst/>
        </p:spPr>
        <p:txBody>
          <a:bodyPr>
            <a:spAutoFit/>
          </a:bodyPr>
          <a:lstStyle/>
          <a:p>
            <a:pPr algn="l" eaLnBrk="0" hangingPunct="0">
              <a:spcBef>
                <a:spcPct val="50000"/>
              </a:spcBef>
            </a:pPr>
            <a:r>
              <a:rPr lang="fi-FI" sz="2000"/>
              <a:t>aika</a:t>
            </a:r>
          </a:p>
        </p:txBody>
      </p:sp>
      <p:sp>
        <p:nvSpPr>
          <p:cNvPr id="218122" name="Rectangle 10"/>
          <p:cNvSpPr>
            <a:spLocks noChangeArrowheads="1"/>
          </p:cNvSpPr>
          <p:nvPr/>
        </p:nvSpPr>
        <p:spPr bwMode="auto">
          <a:xfrm>
            <a:off x="4114800" y="4251325"/>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8123" name="Rectangle 11"/>
          <p:cNvSpPr>
            <a:spLocks noChangeArrowheads="1"/>
          </p:cNvSpPr>
          <p:nvPr/>
        </p:nvSpPr>
        <p:spPr bwMode="auto">
          <a:xfrm>
            <a:off x="2209800" y="4251325"/>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8124" name="Rectangle 12"/>
          <p:cNvSpPr>
            <a:spLocks noChangeArrowheads="1"/>
          </p:cNvSpPr>
          <p:nvPr/>
        </p:nvSpPr>
        <p:spPr bwMode="auto">
          <a:xfrm>
            <a:off x="2209800" y="3870325"/>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8125" name="Rectangle 13"/>
          <p:cNvSpPr>
            <a:spLocks noChangeArrowheads="1"/>
          </p:cNvSpPr>
          <p:nvPr/>
        </p:nvSpPr>
        <p:spPr bwMode="auto">
          <a:xfrm>
            <a:off x="2209800" y="3489325"/>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8126" name="Rectangle 14"/>
          <p:cNvSpPr>
            <a:spLocks noChangeArrowheads="1"/>
          </p:cNvSpPr>
          <p:nvPr/>
        </p:nvSpPr>
        <p:spPr bwMode="auto">
          <a:xfrm>
            <a:off x="2590800" y="4251325"/>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8127" name="Rectangle 15"/>
          <p:cNvSpPr>
            <a:spLocks noChangeArrowheads="1"/>
          </p:cNvSpPr>
          <p:nvPr/>
        </p:nvSpPr>
        <p:spPr bwMode="auto">
          <a:xfrm>
            <a:off x="2590800" y="3870325"/>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8128" name="Rectangle 16"/>
          <p:cNvSpPr>
            <a:spLocks noChangeArrowheads="1"/>
          </p:cNvSpPr>
          <p:nvPr/>
        </p:nvSpPr>
        <p:spPr bwMode="auto">
          <a:xfrm>
            <a:off x="2590800" y="3489325"/>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8129" name="Rectangle 17"/>
          <p:cNvSpPr>
            <a:spLocks noChangeArrowheads="1"/>
          </p:cNvSpPr>
          <p:nvPr/>
        </p:nvSpPr>
        <p:spPr bwMode="auto">
          <a:xfrm>
            <a:off x="2971800" y="4251325"/>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8130" name="Rectangle 18"/>
          <p:cNvSpPr>
            <a:spLocks noChangeArrowheads="1"/>
          </p:cNvSpPr>
          <p:nvPr/>
        </p:nvSpPr>
        <p:spPr bwMode="auto">
          <a:xfrm>
            <a:off x="2971800" y="3870325"/>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8131" name="Rectangle 19"/>
          <p:cNvSpPr>
            <a:spLocks noChangeArrowheads="1"/>
          </p:cNvSpPr>
          <p:nvPr/>
        </p:nvSpPr>
        <p:spPr bwMode="auto">
          <a:xfrm>
            <a:off x="2971800" y="3489325"/>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8132" name="Rectangle 20"/>
          <p:cNvSpPr>
            <a:spLocks noChangeArrowheads="1"/>
          </p:cNvSpPr>
          <p:nvPr/>
        </p:nvSpPr>
        <p:spPr bwMode="auto">
          <a:xfrm>
            <a:off x="3352800" y="4251325"/>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8133" name="Rectangle 21"/>
          <p:cNvSpPr>
            <a:spLocks noChangeArrowheads="1"/>
          </p:cNvSpPr>
          <p:nvPr/>
        </p:nvSpPr>
        <p:spPr bwMode="auto">
          <a:xfrm>
            <a:off x="3352800" y="3870325"/>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8134" name="Rectangle 22"/>
          <p:cNvSpPr>
            <a:spLocks noChangeArrowheads="1"/>
          </p:cNvSpPr>
          <p:nvPr/>
        </p:nvSpPr>
        <p:spPr bwMode="auto">
          <a:xfrm>
            <a:off x="3352800" y="3489325"/>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8135" name="Rectangle 23"/>
          <p:cNvSpPr>
            <a:spLocks noChangeArrowheads="1"/>
          </p:cNvSpPr>
          <p:nvPr/>
        </p:nvSpPr>
        <p:spPr bwMode="auto">
          <a:xfrm>
            <a:off x="3733800" y="4251325"/>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8136" name="Rectangle 24"/>
          <p:cNvSpPr>
            <a:spLocks noChangeArrowheads="1"/>
          </p:cNvSpPr>
          <p:nvPr/>
        </p:nvSpPr>
        <p:spPr bwMode="auto">
          <a:xfrm>
            <a:off x="3733800" y="3870325"/>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8137" name="Rectangle 25"/>
          <p:cNvSpPr>
            <a:spLocks noChangeArrowheads="1"/>
          </p:cNvSpPr>
          <p:nvPr/>
        </p:nvSpPr>
        <p:spPr bwMode="auto">
          <a:xfrm>
            <a:off x="3733800" y="3489325"/>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8138" name="Rectangle 26"/>
          <p:cNvSpPr>
            <a:spLocks noChangeArrowheads="1"/>
          </p:cNvSpPr>
          <p:nvPr/>
        </p:nvSpPr>
        <p:spPr bwMode="auto">
          <a:xfrm>
            <a:off x="4114800" y="3870325"/>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8139" name="Rectangle 27"/>
          <p:cNvSpPr>
            <a:spLocks noChangeArrowheads="1"/>
          </p:cNvSpPr>
          <p:nvPr/>
        </p:nvSpPr>
        <p:spPr bwMode="auto">
          <a:xfrm>
            <a:off x="4114800" y="3489325"/>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8140" name="Rectangle 28"/>
          <p:cNvSpPr>
            <a:spLocks noChangeArrowheads="1"/>
          </p:cNvSpPr>
          <p:nvPr/>
        </p:nvSpPr>
        <p:spPr bwMode="auto">
          <a:xfrm>
            <a:off x="6400800" y="4251325"/>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8141" name="Rectangle 29"/>
          <p:cNvSpPr>
            <a:spLocks noChangeArrowheads="1"/>
          </p:cNvSpPr>
          <p:nvPr/>
        </p:nvSpPr>
        <p:spPr bwMode="auto">
          <a:xfrm>
            <a:off x="6400800" y="3870325"/>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8142" name="Rectangle 30"/>
          <p:cNvSpPr>
            <a:spLocks noChangeArrowheads="1"/>
          </p:cNvSpPr>
          <p:nvPr/>
        </p:nvSpPr>
        <p:spPr bwMode="auto">
          <a:xfrm>
            <a:off x="6400800" y="3489325"/>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8143" name="Rectangle 31"/>
          <p:cNvSpPr>
            <a:spLocks noChangeArrowheads="1"/>
          </p:cNvSpPr>
          <p:nvPr/>
        </p:nvSpPr>
        <p:spPr bwMode="auto">
          <a:xfrm>
            <a:off x="5638800" y="4251325"/>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8144" name="Rectangle 32"/>
          <p:cNvSpPr>
            <a:spLocks noChangeArrowheads="1"/>
          </p:cNvSpPr>
          <p:nvPr/>
        </p:nvSpPr>
        <p:spPr bwMode="auto">
          <a:xfrm>
            <a:off x="5638800" y="3870325"/>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8145" name="Rectangle 33"/>
          <p:cNvSpPr>
            <a:spLocks noChangeArrowheads="1"/>
          </p:cNvSpPr>
          <p:nvPr/>
        </p:nvSpPr>
        <p:spPr bwMode="auto">
          <a:xfrm>
            <a:off x="5638800" y="3489325"/>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8146" name="Rectangle 34"/>
          <p:cNvSpPr>
            <a:spLocks noChangeArrowheads="1"/>
          </p:cNvSpPr>
          <p:nvPr/>
        </p:nvSpPr>
        <p:spPr bwMode="auto">
          <a:xfrm>
            <a:off x="4876800" y="4251325"/>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8147" name="Rectangle 35"/>
          <p:cNvSpPr>
            <a:spLocks noChangeArrowheads="1"/>
          </p:cNvSpPr>
          <p:nvPr/>
        </p:nvSpPr>
        <p:spPr bwMode="auto">
          <a:xfrm>
            <a:off x="4876800" y="3870325"/>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8148" name="Rectangle 36"/>
          <p:cNvSpPr>
            <a:spLocks noChangeArrowheads="1"/>
          </p:cNvSpPr>
          <p:nvPr/>
        </p:nvSpPr>
        <p:spPr bwMode="auto">
          <a:xfrm>
            <a:off x="4876800" y="3489325"/>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8149" name="Rectangle 37"/>
          <p:cNvSpPr>
            <a:spLocks noChangeArrowheads="1"/>
          </p:cNvSpPr>
          <p:nvPr/>
        </p:nvSpPr>
        <p:spPr bwMode="auto">
          <a:xfrm>
            <a:off x="4495800" y="3870325"/>
            <a:ext cx="381000" cy="381000"/>
          </a:xfrm>
          <a:prstGeom prst="rect">
            <a:avLst/>
          </a:prstGeom>
          <a:solidFill>
            <a:schemeClr val="bg2"/>
          </a:solidFill>
          <a:ln w="9525">
            <a:solidFill>
              <a:schemeClr val="tx1"/>
            </a:solidFill>
            <a:miter lim="800000"/>
            <a:headEnd/>
            <a:tailEnd/>
          </a:ln>
          <a:effectLst/>
        </p:spPr>
        <p:txBody>
          <a:bodyPr wrap="none" anchor="ctr"/>
          <a:lstStyle/>
          <a:p>
            <a:endParaRPr lang="fi-FI"/>
          </a:p>
        </p:txBody>
      </p:sp>
      <p:sp>
        <p:nvSpPr>
          <p:cNvPr id="218150" name="Rectangle 38"/>
          <p:cNvSpPr>
            <a:spLocks noChangeArrowheads="1"/>
          </p:cNvSpPr>
          <p:nvPr/>
        </p:nvSpPr>
        <p:spPr bwMode="auto">
          <a:xfrm>
            <a:off x="4495800" y="3489325"/>
            <a:ext cx="381000" cy="381000"/>
          </a:xfrm>
          <a:prstGeom prst="rect">
            <a:avLst/>
          </a:prstGeom>
          <a:solidFill>
            <a:schemeClr val="bg2"/>
          </a:solidFill>
          <a:ln w="9525">
            <a:solidFill>
              <a:schemeClr val="tx1"/>
            </a:solidFill>
            <a:miter lim="800000"/>
            <a:headEnd/>
            <a:tailEnd/>
          </a:ln>
          <a:effectLst/>
        </p:spPr>
        <p:txBody>
          <a:bodyPr wrap="none" anchor="ctr"/>
          <a:lstStyle/>
          <a:p>
            <a:endParaRPr lang="fi-FI"/>
          </a:p>
        </p:txBody>
      </p:sp>
      <p:sp>
        <p:nvSpPr>
          <p:cNvPr id="218151" name="Rectangle 39"/>
          <p:cNvSpPr>
            <a:spLocks noChangeArrowheads="1"/>
          </p:cNvSpPr>
          <p:nvPr/>
        </p:nvSpPr>
        <p:spPr bwMode="auto">
          <a:xfrm>
            <a:off x="5257800" y="4251325"/>
            <a:ext cx="381000" cy="381000"/>
          </a:xfrm>
          <a:prstGeom prst="rect">
            <a:avLst/>
          </a:prstGeom>
          <a:solidFill>
            <a:schemeClr val="bg2"/>
          </a:solidFill>
          <a:ln w="9525">
            <a:solidFill>
              <a:schemeClr val="tx1"/>
            </a:solidFill>
            <a:miter lim="800000"/>
            <a:headEnd/>
            <a:tailEnd/>
          </a:ln>
          <a:effectLst/>
        </p:spPr>
        <p:txBody>
          <a:bodyPr wrap="none" anchor="ctr"/>
          <a:lstStyle/>
          <a:p>
            <a:endParaRPr lang="fi-FI"/>
          </a:p>
        </p:txBody>
      </p:sp>
      <p:sp>
        <p:nvSpPr>
          <p:cNvPr id="218152" name="Rectangle 40"/>
          <p:cNvSpPr>
            <a:spLocks noChangeArrowheads="1"/>
          </p:cNvSpPr>
          <p:nvPr/>
        </p:nvSpPr>
        <p:spPr bwMode="auto">
          <a:xfrm>
            <a:off x="5257800" y="3870325"/>
            <a:ext cx="381000" cy="381000"/>
          </a:xfrm>
          <a:prstGeom prst="rect">
            <a:avLst/>
          </a:prstGeom>
          <a:solidFill>
            <a:schemeClr val="bg2"/>
          </a:solidFill>
          <a:ln w="9525">
            <a:solidFill>
              <a:schemeClr val="tx1"/>
            </a:solidFill>
            <a:miter lim="800000"/>
            <a:headEnd/>
            <a:tailEnd/>
          </a:ln>
          <a:effectLst/>
        </p:spPr>
        <p:txBody>
          <a:bodyPr wrap="none" anchor="ctr"/>
          <a:lstStyle/>
          <a:p>
            <a:endParaRPr lang="fi-FI"/>
          </a:p>
        </p:txBody>
      </p:sp>
      <p:sp>
        <p:nvSpPr>
          <p:cNvPr id="218153" name="Rectangle 41"/>
          <p:cNvSpPr>
            <a:spLocks noChangeArrowheads="1"/>
          </p:cNvSpPr>
          <p:nvPr/>
        </p:nvSpPr>
        <p:spPr bwMode="auto">
          <a:xfrm>
            <a:off x="5257800" y="3489325"/>
            <a:ext cx="381000" cy="381000"/>
          </a:xfrm>
          <a:prstGeom prst="rect">
            <a:avLst/>
          </a:prstGeom>
          <a:solidFill>
            <a:schemeClr val="bg2"/>
          </a:solidFill>
          <a:ln w="9525">
            <a:solidFill>
              <a:schemeClr val="tx1"/>
            </a:solidFill>
            <a:miter lim="800000"/>
            <a:headEnd/>
            <a:tailEnd/>
          </a:ln>
          <a:effectLst/>
        </p:spPr>
        <p:txBody>
          <a:bodyPr wrap="none" anchor="ctr"/>
          <a:lstStyle/>
          <a:p>
            <a:endParaRPr lang="fi-FI"/>
          </a:p>
        </p:txBody>
      </p:sp>
      <p:sp>
        <p:nvSpPr>
          <p:cNvPr id="218154" name="Rectangle 42"/>
          <p:cNvSpPr>
            <a:spLocks noChangeArrowheads="1"/>
          </p:cNvSpPr>
          <p:nvPr/>
        </p:nvSpPr>
        <p:spPr bwMode="auto">
          <a:xfrm>
            <a:off x="838200" y="5105400"/>
            <a:ext cx="381000" cy="381000"/>
          </a:xfrm>
          <a:prstGeom prst="rect">
            <a:avLst/>
          </a:prstGeom>
          <a:solidFill>
            <a:schemeClr val="hlink"/>
          </a:solidFill>
          <a:ln w="9525">
            <a:solidFill>
              <a:schemeClr val="tx1"/>
            </a:solidFill>
            <a:miter lim="800000"/>
            <a:headEnd/>
            <a:tailEnd/>
          </a:ln>
          <a:effectLst/>
        </p:spPr>
        <p:txBody>
          <a:bodyPr wrap="none" anchor="ctr"/>
          <a:lstStyle/>
          <a:p>
            <a:endParaRPr lang="fi-FI"/>
          </a:p>
        </p:txBody>
      </p:sp>
      <p:sp>
        <p:nvSpPr>
          <p:cNvPr id="218155" name="Text Box 43"/>
          <p:cNvSpPr txBox="1">
            <a:spLocks noChangeArrowheads="1"/>
          </p:cNvSpPr>
          <p:nvPr/>
        </p:nvSpPr>
        <p:spPr bwMode="auto">
          <a:xfrm>
            <a:off x="1295400" y="5105400"/>
            <a:ext cx="2667000" cy="304800"/>
          </a:xfrm>
          <a:prstGeom prst="rect">
            <a:avLst/>
          </a:prstGeom>
          <a:noFill/>
          <a:ln w="9525">
            <a:noFill/>
            <a:miter lim="800000"/>
            <a:headEnd/>
            <a:tailEnd/>
          </a:ln>
          <a:effectLst/>
        </p:spPr>
        <p:txBody>
          <a:bodyPr>
            <a:spAutoFit/>
          </a:bodyPr>
          <a:lstStyle/>
          <a:p>
            <a:pPr algn="l" eaLnBrk="0" hangingPunct="0">
              <a:spcBef>
                <a:spcPct val="50000"/>
              </a:spcBef>
            </a:pPr>
            <a:r>
              <a:rPr lang="fi-FI" sz="1400"/>
              <a:t>Asiakkaan tehtävät (määrittely)</a:t>
            </a:r>
            <a:endParaRPr lang="fi-FI" sz="2000"/>
          </a:p>
        </p:txBody>
      </p:sp>
      <p:sp>
        <p:nvSpPr>
          <p:cNvPr id="218156" name="Rectangle 44"/>
          <p:cNvSpPr>
            <a:spLocks noChangeArrowheads="1"/>
          </p:cNvSpPr>
          <p:nvPr/>
        </p:nvSpPr>
        <p:spPr bwMode="auto">
          <a:xfrm>
            <a:off x="838200" y="55626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8157" name="Rectangle 45"/>
          <p:cNvSpPr>
            <a:spLocks noChangeArrowheads="1"/>
          </p:cNvSpPr>
          <p:nvPr/>
        </p:nvSpPr>
        <p:spPr bwMode="auto">
          <a:xfrm>
            <a:off x="4114800" y="51054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8158" name="Rectangle 46"/>
          <p:cNvSpPr>
            <a:spLocks noChangeArrowheads="1"/>
          </p:cNvSpPr>
          <p:nvPr/>
        </p:nvSpPr>
        <p:spPr bwMode="auto">
          <a:xfrm>
            <a:off x="4114800" y="5562600"/>
            <a:ext cx="381000" cy="381000"/>
          </a:xfrm>
          <a:prstGeom prst="rect">
            <a:avLst/>
          </a:prstGeom>
          <a:solidFill>
            <a:schemeClr val="bg2"/>
          </a:solidFill>
          <a:ln w="9525">
            <a:solidFill>
              <a:schemeClr val="tx1"/>
            </a:solidFill>
            <a:miter lim="800000"/>
            <a:headEnd/>
            <a:tailEnd/>
          </a:ln>
          <a:effectLst/>
        </p:spPr>
        <p:txBody>
          <a:bodyPr wrap="none" anchor="ctr"/>
          <a:lstStyle/>
          <a:p>
            <a:endParaRPr lang="fi-FI"/>
          </a:p>
        </p:txBody>
      </p:sp>
      <p:sp>
        <p:nvSpPr>
          <p:cNvPr id="218159" name="Text Box 47"/>
          <p:cNvSpPr txBox="1">
            <a:spLocks noChangeArrowheads="1"/>
          </p:cNvSpPr>
          <p:nvPr/>
        </p:nvSpPr>
        <p:spPr bwMode="auto">
          <a:xfrm>
            <a:off x="1295400" y="5486400"/>
            <a:ext cx="2819400" cy="517525"/>
          </a:xfrm>
          <a:prstGeom prst="rect">
            <a:avLst/>
          </a:prstGeom>
          <a:noFill/>
          <a:ln w="9525">
            <a:noFill/>
            <a:miter lim="800000"/>
            <a:headEnd/>
            <a:tailEnd/>
          </a:ln>
          <a:effectLst/>
        </p:spPr>
        <p:txBody>
          <a:bodyPr>
            <a:spAutoFit/>
          </a:bodyPr>
          <a:lstStyle/>
          <a:p>
            <a:pPr algn="l" eaLnBrk="0" hangingPunct="0">
              <a:spcBef>
                <a:spcPct val="50000"/>
              </a:spcBef>
            </a:pPr>
            <a:r>
              <a:rPr lang="fi-FI" sz="1400"/>
              <a:t>Suunnittelijan tehtävät (toteutus, testaus, normaali virheenkorjaus)</a:t>
            </a:r>
            <a:endParaRPr lang="fi-FI" sz="2000"/>
          </a:p>
        </p:txBody>
      </p:sp>
      <p:sp>
        <p:nvSpPr>
          <p:cNvPr id="218160" name="Text Box 48"/>
          <p:cNvSpPr txBox="1">
            <a:spLocks noChangeArrowheads="1"/>
          </p:cNvSpPr>
          <p:nvPr/>
        </p:nvSpPr>
        <p:spPr bwMode="auto">
          <a:xfrm>
            <a:off x="4495800" y="5105400"/>
            <a:ext cx="3048000" cy="304800"/>
          </a:xfrm>
          <a:prstGeom prst="rect">
            <a:avLst/>
          </a:prstGeom>
          <a:noFill/>
          <a:ln w="9525">
            <a:noFill/>
            <a:miter lim="800000"/>
            <a:headEnd/>
            <a:tailEnd/>
          </a:ln>
          <a:effectLst/>
        </p:spPr>
        <p:txBody>
          <a:bodyPr>
            <a:spAutoFit/>
          </a:bodyPr>
          <a:lstStyle/>
          <a:p>
            <a:pPr algn="l" eaLnBrk="0" hangingPunct="0">
              <a:spcBef>
                <a:spcPct val="50000"/>
              </a:spcBef>
            </a:pPr>
            <a:r>
              <a:rPr lang="fi-FI" sz="1400"/>
              <a:t>Järjestelmätestausryhmän tehtävät</a:t>
            </a:r>
            <a:endParaRPr lang="fi-FI" sz="2000"/>
          </a:p>
        </p:txBody>
      </p:sp>
      <p:sp>
        <p:nvSpPr>
          <p:cNvPr id="218161" name="Text Box 49"/>
          <p:cNvSpPr txBox="1">
            <a:spLocks noChangeArrowheads="1"/>
          </p:cNvSpPr>
          <p:nvPr/>
        </p:nvSpPr>
        <p:spPr bwMode="auto">
          <a:xfrm>
            <a:off x="4572000" y="5486400"/>
            <a:ext cx="3657600" cy="517525"/>
          </a:xfrm>
          <a:prstGeom prst="rect">
            <a:avLst/>
          </a:prstGeom>
          <a:noFill/>
          <a:ln w="9525">
            <a:noFill/>
            <a:miter lim="800000"/>
            <a:headEnd/>
            <a:tailEnd/>
          </a:ln>
          <a:effectLst/>
        </p:spPr>
        <p:txBody>
          <a:bodyPr>
            <a:spAutoFit/>
          </a:bodyPr>
          <a:lstStyle/>
          <a:p>
            <a:pPr algn="l" eaLnBrk="0" hangingPunct="0">
              <a:spcBef>
                <a:spcPct val="50000"/>
              </a:spcBef>
            </a:pPr>
            <a:r>
              <a:rPr lang="fi-FI" sz="1400"/>
              <a:t>Suunnittelijan ylimääräiset tehtävät (korjaukset/täydentäminen)</a:t>
            </a:r>
            <a:endParaRPr lang="fi-FI" sz="2000"/>
          </a:p>
        </p:txBody>
      </p:sp>
      <p:sp>
        <p:nvSpPr>
          <p:cNvPr id="218162" name="Rectangle 50"/>
          <p:cNvSpPr>
            <a:spLocks noChangeArrowheads="1"/>
          </p:cNvSpPr>
          <p:nvPr/>
        </p:nvSpPr>
        <p:spPr bwMode="auto">
          <a:xfrm>
            <a:off x="4114800" y="3108325"/>
            <a:ext cx="381000" cy="381000"/>
          </a:xfrm>
          <a:prstGeom prst="rect">
            <a:avLst/>
          </a:prstGeom>
          <a:solidFill>
            <a:schemeClr val="folHlink"/>
          </a:solidFill>
          <a:ln w="9525">
            <a:solidFill>
              <a:schemeClr val="tx1"/>
            </a:solidFill>
            <a:miter lim="800000"/>
            <a:headEnd/>
            <a:tailEnd/>
          </a:ln>
          <a:effectLst/>
        </p:spPr>
        <p:txBody>
          <a:bodyPr wrap="none" anchor="ctr"/>
          <a:lstStyle/>
          <a:p>
            <a:pPr algn="ctr" eaLnBrk="0" hangingPunct="0"/>
            <a:endParaRPr lang="fi-FI" sz="2000"/>
          </a:p>
        </p:txBody>
      </p:sp>
      <p:sp>
        <p:nvSpPr>
          <p:cNvPr id="218163" name="Rectangle 51"/>
          <p:cNvSpPr>
            <a:spLocks noChangeArrowheads="1"/>
          </p:cNvSpPr>
          <p:nvPr/>
        </p:nvSpPr>
        <p:spPr bwMode="auto">
          <a:xfrm>
            <a:off x="4876800" y="3108325"/>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8164" name="Rectangle 52"/>
          <p:cNvSpPr>
            <a:spLocks noChangeArrowheads="1"/>
          </p:cNvSpPr>
          <p:nvPr/>
        </p:nvSpPr>
        <p:spPr bwMode="auto">
          <a:xfrm>
            <a:off x="5638800" y="3108325"/>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8165" name="Rectangle 53"/>
          <p:cNvSpPr>
            <a:spLocks noChangeArrowheads="1"/>
          </p:cNvSpPr>
          <p:nvPr/>
        </p:nvSpPr>
        <p:spPr bwMode="auto">
          <a:xfrm>
            <a:off x="6400800" y="3108325"/>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8166" name="Rectangle 54"/>
          <p:cNvSpPr>
            <a:spLocks noChangeArrowheads="1"/>
          </p:cNvSpPr>
          <p:nvPr/>
        </p:nvSpPr>
        <p:spPr bwMode="auto">
          <a:xfrm>
            <a:off x="6781800" y="4251325"/>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8167" name="Rectangle 55"/>
          <p:cNvSpPr>
            <a:spLocks noChangeArrowheads="1"/>
          </p:cNvSpPr>
          <p:nvPr/>
        </p:nvSpPr>
        <p:spPr bwMode="auto">
          <a:xfrm>
            <a:off x="6781800" y="3870325"/>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8168" name="Rectangle 56"/>
          <p:cNvSpPr>
            <a:spLocks noChangeArrowheads="1"/>
          </p:cNvSpPr>
          <p:nvPr/>
        </p:nvSpPr>
        <p:spPr bwMode="auto">
          <a:xfrm>
            <a:off x="6781800" y="3489325"/>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8169" name="Rectangle 57"/>
          <p:cNvSpPr>
            <a:spLocks noChangeArrowheads="1"/>
          </p:cNvSpPr>
          <p:nvPr/>
        </p:nvSpPr>
        <p:spPr bwMode="auto">
          <a:xfrm>
            <a:off x="6781800" y="3108325"/>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8170" name="Rectangle 58"/>
          <p:cNvSpPr>
            <a:spLocks noChangeArrowheads="1"/>
          </p:cNvSpPr>
          <p:nvPr/>
        </p:nvSpPr>
        <p:spPr bwMode="auto">
          <a:xfrm>
            <a:off x="6019800" y="4251325"/>
            <a:ext cx="381000" cy="381000"/>
          </a:xfrm>
          <a:prstGeom prst="rect">
            <a:avLst/>
          </a:prstGeom>
          <a:solidFill>
            <a:schemeClr val="bg2"/>
          </a:solidFill>
          <a:ln w="9525">
            <a:solidFill>
              <a:schemeClr val="tx1"/>
            </a:solidFill>
            <a:miter lim="800000"/>
            <a:headEnd/>
            <a:tailEnd/>
          </a:ln>
          <a:effectLst/>
        </p:spPr>
        <p:txBody>
          <a:bodyPr wrap="none" anchor="ctr"/>
          <a:lstStyle/>
          <a:p>
            <a:endParaRPr lang="fi-FI"/>
          </a:p>
        </p:txBody>
      </p:sp>
      <p:sp>
        <p:nvSpPr>
          <p:cNvPr id="218171" name="Rectangle 59"/>
          <p:cNvSpPr>
            <a:spLocks noChangeArrowheads="1"/>
          </p:cNvSpPr>
          <p:nvPr/>
        </p:nvSpPr>
        <p:spPr bwMode="auto">
          <a:xfrm>
            <a:off x="6019800" y="3870325"/>
            <a:ext cx="381000" cy="381000"/>
          </a:xfrm>
          <a:prstGeom prst="rect">
            <a:avLst/>
          </a:prstGeom>
          <a:solidFill>
            <a:schemeClr val="bg2"/>
          </a:solidFill>
          <a:ln w="9525">
            <a:solidFill>
              <a:schemeClr val="tx1"/>
            </a:solidFill>
            <a:miter lim="800000"/>
            <a:headEnd/>
            <a:tailEnd/>
          </a:ln>
          <a:effectLst/>
        </p:spPr>
        <p:txBody>
          <a:bodyPr wrap="none" anchor="ctr"/>
          <a:lstStyle/>
          <a:p>
            <a:endParaRPr lang="fi-FI"/>
          </a:p>
        </p:txBody>
      </p:sp>
      <p:sp>
        <p:nvSpPr>
          <p:cNvPr id="218172" name="Rectangle 60"/>
          <p:cNvSpPr>
            <a:spLocks noChangeArrowheads="1"/>
          </p:cNvSpPr>
          <p:nvPr/>
        </p:nvSpPr>
        <p:spPr bwMode="auto">
          <a:xfrm>
            <a:off x="6019800" y="3489325"/>
            <a:ext cx="381000" cy="381000"/>
          </a:xfrm>
          <a:prstGeom prst="rect">
            <a:avLst/>
          </a:prstGeom>
          <a:solidFill>
            <a:schemeClr val="bg2"/>
          </a:solidFill>
          <a:ln w="9525">
            <a:solidFill>
              <a:schemeClr val="tx1"/>
            </a:solidFill>
            <a:miter lim="800000"/>
            <a:headEnd/>
            <a:tailEnd/>
          </a:ln>
          <a:effectLst/>
        </p:spPr>
        <p:txBody>
          <a:bodyPr wrap="none" anchor="ctr"/>
          <a:lstStyle/>
          <a:p>
            <a:endParaRPr lang="fi-FI"/>
          </a:p>
        </p:txBody>
      </p:sp>
      <p:sp>
        <p:nvSpPr>
          <p:cNvPr id="218173" name="Rectangle 61"/>
          <p:cNvSpPr>
            <a:spLocks noChangeArrowheads="1"/>
          </p:cNvSpPr>
          <p:nvPr/>
        </p:nvSpPr>
        <p:spPr bwMode="auto">
          <a:xfrm>
            <a:off x="4495800" y="3108325"/>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8174" name="Rectangle 62"/>
          <p:cNvSpPr>
            <a:spLocks noChangeArrowheads="1"/>
          </p:cNvSpPr>
          <p:nvPr/>
        </p:nvSpPr>
        <p:spPr bwMode="auto">
          <a:xfrm>
            <a:off x="5257800" y="3108325"/>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8175" name="Rectangle 63"/>
          <p:cNvSpPr>
            <a:spLocks noChangeArrowheads="1"/>
          </p:cNvSpPr>
          <p:nvPr/>
        </p:nvSpPr>
        <p:spPr bwMode="auto">
          <a:xfrm>
            <a:off x="6019800" y="3108325"/>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8176" name="Line 64"/>
          <p:cNvSpPr>
            <a:spLocks noChangeShapeType="1"/>
          </p:cNvSpPr>
          <p:nvPr/>
        </p:nvSpPr>
        <p:spPr bwMode="auto">
          <a:xfrm>
            <a:off x="4114800" y="1812925"/>
            <a:ext cx="3048000" cy="0"/>
          </a:xfrm>
          <a:prstGeom prst="line">
            <a:avLst/>
          </a:prstGeom>
          <a:noFill/>
          <a:ln w="9525">
            <a:solidFill>
              <a:schemeClr val="tx1"/>
            </a:solidFill>
            <a:round/>
            <a:headEnd type="triangle" w="med" len="med"/>
            <a:tailEnd type="triangle" w="med" len="med"/>
          </a:ln>
          <a:effectLst/>
        </p:spPr>
        <p:txBody>
          <a:bodyPr wrap="none" anchor="ctr"/>
          <a:lstStyle/>
          <a:p>
            <a:endParaRPr lang="fi-FI"/>
          </a:p>
        </p:txBody>
      </p:sp>
      <p:sp>
        <p:nvSpPr>
          <p:cNvPr id="218177" name="Line 65"/>
          <p:cNvSpPr>
            <a:spLocks noChangeShapeType="1"/>
          </p:cNvSpPr>
          <p:nvPr/>
        </p:nvSpPr>
        <p:spPr bwMode="auto">
          <a:xfrm>
            <a:off x="1447800" y="2193925"/>
            <a:ext cx="5715000" cy="0"/>
          </a:xfrm>
          <a:prstGeom prst="line">
            <a:avLst/>
          </a:prstGeom>
          <a:noFill/>
          <a:ln w="9525">
            <a:solidFill>
              <a:schemeClr val="tx1"/>
            </a:solidFill>
            <a:round/>
            <a:headEnd type="triangle" w="med" len="med"/>
            <a:tailEnd type="triangle" w="med" len="med"/>
          </a:ln>
          <a:effectLst/>
        </p:spPr>
        <p:txBody>
          <a:bodyPr wrap="none" anchor="ctr"/>
          <a:lstStyle/>
          <a:p>
            <a:endParaRPr lang="fi-FI"/>
          </a:p>
        </p:txBody>
      </p:sp>
      <p:sp>
        <p:nvSpPr>
          <p:cNvPr id="218178" name="Text Box 66"/>
          <p:cNvSpPr txBox="1">
            <a:spLocks noChangeArrowheads="1"/>
          </p:cNvSpPr>
          <p:nvPr/>
        </p:nvSpPr>
        <p:spPr bwMode="auto">
          <a:xfrm>
            <a:off x="4724400" y="1965325"/>
            <a:ext cx="1752600" cy="304800"/>
          </a:xfrm>
          <a:prstGeom prst="rect">
            <a:avLst/>
          </a:prstGeom>
          <a:noFill/>
          <a:ln w="9525">
            <a:noFill/>
            <a:miter lim="800000"/>
            <a:headEnd/>
            <a:tailEnd/>
          </a:ln>
          <a:effectLst/>
        </p:spPr>
        <p:txBody>
          <a:bodyPr>
            <a:spAutoFit/>
          </a:bodyPr>
          <a:lstStyle/>
          <a:p>
            <a:pPr algn="l" eaLnBrk="0" hangingPunct="0">
              <a:spcBef>
                <a:spcPct val="50000"/>
              </a:spcBef>
            </a:pPr>
            <a:r>
              <a:rPr lang="fi-FI" sz="1400" b="1"/>
              <a:t>läpimenoaika</a:t>
            </a:r>
            <a:endParaRPr lang="fi-FI" sz="2000"/>
          </a:p>
        </p:txBody>
      </p:sp>
      <p:sp>
        <p:nvSpPr>
          <p:cNvPr id="218179" name="Text Box 67"/>
          <p:cNvSpPr txBox="1">
            <a:spLocks noChangeArrowheads="1"/>
          </p:cNvSpPr>
          <p:nvPr/>
        </p:nvSpPr>
        <p:spPr bwMode="auto">
          <a:xfrm>
            <a:off x="4572000" y="1355725"/>
            <a:ext cx="2438400" cy="517525"/>
          </a:xfrm>
          <a:prstGeom prst="rect">
            <a:avLst/>
          </a:prstGeom>
          <a:noFill/>
          <a:ln w="9525">
            <a:noFill/>
            <a:miter lim="800000"/>
            <a:headEnd/>
            <a:tailEnd/>
          </a:ln>
          <a:effectLst/>
        </p:spPr>
        <p:txBody>
          <a:bodyPr>
            <a:spAutoFit/>
          </a:bodyPr>
          <a:lstStyle/>
          <a:p>
            <a:pPr algn="l" eaLnBrk="0" hangingPunct="0">
              <a:spcBef>
                <a:spcPct val="50000"/>
              </a:spcBef>
            </a:pPr>
            <a:r>
              <a:rPr lang="fi-FI" sz="1400" b="1"/>
              <a:t>Järjestelmätestauksen läpimenoaika</a:t>
            </a:r>
            <a:endParaRPr lang="fi-FI" sz="2000"/>
          </a:p>
        </p:txBody>
      </p:sp>
      <p:sp>
        <p:nvSpPr>
          <p:cNvPr id="69" name="Slide Number Placeholder 68"/>
          <p:cNvSpPr>
            <a:spLocks noGrp="1"/>
          </p:cNvSpPr>
          <p:nvPr>
            <p:ph type="sldNum" sz="quarter" idx="12"/>
          </p:nvPr>
        </p:nvSpPr>
        <p:spPr/>
        <p:txBody>
          <a:bodyPr/>
          <a:lstStyle/>
          <a:p>
            <a:fld id="{7A750B4A-325E-4AA4-BC07-A8C35B32A4F3}" type="slidenum">
              <a:rPr lang="fi-FI" smtClean="0"/>
              <a:pPr/>
              <a:t>114</a:t>
            </a:fld>
            <a:endParaRPr lang="fi-FI"/>
          </a:p>
        </p:txBody>
      </p:sp>
    </p:spTree>
  </p:cSld>
  <p:clrMapOvr>
    <a:masterClrMapping/>
  </p:clrMapOvr>
  <p:timing>
    <p:tnLst>
      <p:par>
        <p:cTn xmlns:p14="http://schemas.microsoft.com/office/powerpoint/2010/mai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noChangeArrowheads="1"/>
          </p:cNvSpPr>
          <p:nvPr>
            <p:ph type="title"/>
          </p:nvPr>
        </p:nvSpPr>
        <p:spPr/>
        <p:txBody>
          <a:bodyPr/>
          <a:lstStyle/>
          <a:p>
            <a:r>
              <a:rPr lang="fi-FI"/>
              <a:t>Toivottu muutos</a:t>
            </a:r>
          </a:p>
        </p:txBody>
      </p:sp>
      <p:sp>
        <p:nvSpPr>
          <p:cNvPr id="219139" name="Line 3"/>
          <p:cNvSpPr>
            <a:spLocks noChangeShapeType="1"/>
          </p:cNvSpPr>
          <p:nvPr/>
        </p:nvSpPr>
        <p:spPr bwMode="auto">
          <a:xfrm>
            <a:off x="1447800" y="4572000"/>
            <a:ext cx="6477000" cy="0"/>
          </a:xfrm>
          <a:prstGeom prst="line">
            <a:avLst/>
          </a:prstGeom>
          <a:noFill/>
          <a:ln w="9525">
            <a:solidFill>
              <a:schemeClr val="tx1"/>
            </a:solidFill>
            <a:round/>
            <a:headEnd/>
            <a:tailEnd type="triangle" w="med" len="med"/>
          </a:ln>
          <a:effectLst/>
        </p:spPr>
        <p:txBody>
          <a:bodyPr wrap="none" anchor="ctr"/>
          <a:lstStyle/>
          <a:p>
            <a:endParaRPr lang="fi-FI"/>
          </a:p>
        </p:txBody>
      </p:sp>
      <p:sp>
        <p:nvSpPr>
          <p:cNvPr id="219140" name="Line 4"/>
          <p:cNvSpPr>
            <a:spLocks noChangeShapeType="1"/>
          </p:cNvSpPr>
          <p:nvPr/>
        </p:nvSpPr>
        <p:spPr bwMode="auto">
          <a:xfrm flipV="1">
            <a:off x="1447800" y="1600200"/>
            <a:ext cx="0" cy="2971800"/>
          </a:xfrm>
          <a:prstGeom prst="line">
            <a:avLst/>
          </a:prstGeom>
          <a:noFill/>
          <a:ln w="9525">
            <a:solidFill>
              <a:schemeClr val="tx1"/>
            </a:solidFill>
            <a:round/>
            <a:headEnd/>
            <a:tailEnd type="triangle" w="med" len="med"/>
          </a:ln>
          <a:effectLst/>
        </p:spPr>
        <p:txBody>
          <a:bodyPr wrap="none" anchor="ctr"/>
          <a:lstStyle/>
          <a:p>
            <a:endParaRPr lang="fi-FI"/>
          </a:p>
        </p:txBody>
      </p:sp>
      <p:sp>
        <p:nvSpPr>
          <p:cNvPr id="219141" name="Rectangle 5"/>
          <p:cNvSpPr>
            <a:spLocks noChangeArrowheads="1"/>
          </p:cNvSpPr>
          <p:nvPr/>
        </p:nvSpPr>
        <p:spPr bwMode="auto">
          <a:xfrm>
            <a:off x="1447800" y="4191000"/>
            <a:ext cx="381000" cy="381000"/>
          </a:xfrm>
          <a:prstGeom prst="rect">
            <a:avLst/>
          </a:prstGeom>
          <a:solidFill>
            <a:schemeClr val="hlink"/>
          </a:solidFill>
          <a:ln w="9525">
            <a:solidFill>
              <a:schemeClr val="tx1"/>
            </a:solidFill>
            <a:miter lim="800000"/>
            <a:headEnd/>
            <a:tailEnd/>
          </a:ln>
          <a:effectLst/>
        </p:spPr>
        <p:txBody>
          <a:bodyPr wrap="none" anchor="ctr"/>
          <a:lstStyle/>
          <a:p>
            <a:endParaRPr lang="fi-FI"/>
          </a:p>
        </p:txBody>
      </p:sp>
      <p:sp>
        <p:nvSpPr>
          <p:cNvPr id="219142" name="Rectangle 6"/>
          <p:cNvSpPr>
            <a:spLocks noChangeArrowheads="1"/>
          </p:cNvSpPr>
          <p:nvPr/>
        </p:nvSpPr>
        <p:spPr bwMode="auto">
          <a:xfrm>
            <a:off x="1828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43" name="Text Box 7"/>
          <p:cNvSpPr txBox="1">
            <a:spLocks noChangeArrowheads="1"/>
          </p:cNvSpPr>
          <p:nvPr/>
        </p:nvSpPr>
        <p:spPr bwMode="auto">
          <a:xfrm>
            <a:off x="7239000" y="4556125"/>
            <a:ext cx="1219200" cy="396875"/>
          </a:xfrm>
          <a:prstGeom prst="rect">
            <a:avLst/>
          </a:prstGeom>
          <a:noFill/>
          <a:ln w="9525">
            <a:noFill/>
            <a:miter lim="800000"/>
            <a:headEnd/>
            <a:tailEnd/>
          </a:ln>
          <a:effectLst/>
        </p:spPr>
        <p:txBody>
          <a:bodyPr>
            <a:spAutoFit/>
          </a:bodyPr>
          <a:lstStyle/>
          <a:p>
            <a:pPr algn="l" eaLnBrk="0" hangingPunct="0">
              <a:spcBef>
                <a:spcPct val="50000"/>
              </a:spcBef>
            </a:pPr>
            <a:r>
              <a:rPr lang="fi-FI" sz="2000"/>
              <a:t>aika</a:t>
            </a:r>
          </a:p>
        </p:txBody>
      </p:sp>
      <p:sp>
        <p:nvSpPr>
          <p:cNvPr id="219144" name="Rectangle 8"/>
          <p:cNvSpPr>
            <a:spLocks noChangeArrowheads="1"/>
          </p:cNvSpPr>
          <p:nvPr/>
        </p:nvSpPr>
        <p:spPr bwMode="auto">
          <a:xfrm>
            <a:off x="2209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45" name="Rectangle 9"/>
          <p:cNvSpPr>
            <a:spLocks noChangeArrowheads="1"/>
          </p:cNvSpPr>
          <p:nvPr/>
        </p:nvSpPr>
        <p:spPr bwMode="auto">
          <a:xfrm>
            <a:off x="2209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46" name="Rectangle 10"/>
          <p:cNvSpPr>
            <a:spLocks noChangeArrowheads="1"/>
          </p:cNvSpPr>
          <p:nvPr/>
        </p:nvSpPr>
        <p:spPr bwMode="auto">
          <a:xfrm>
            <a:off x="2209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47" name="Rectangle 11"/>
          <p:cNvSpPr>
            <a:spLocks noChangeArrowheads="1"/>
          </p:cNvSpPr>
          <p:nvPr/>
        </p:nvSpPr>
        <p:spPr bwMode="auto">
          <a:xfrm>
            <a:off x="2590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48" name="Rectangle 12"/>
          <p:cNvSpPr>
            <a:spLocks noChangeArrowheads="1"/>
          </p:cNvSpPr>
          <p:nvPr/>
        </p:nvSpPr>
        <p:spPr bwMode="auto">
          <a:xfrm>
            <a:off x="2590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49" name="Rectangle 13"/>
          <p:cNvSpPr>
            <a:spLocks noChangeArrowheads="1"/>
          </p:cNvSpPr>
          <p:nvPr/>
        </p:nvSpPr>
        <p:spPr bwMode="auto">
          <a:xfrm>
            <a:off x="2590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50" name="Rectangle 14"/>
          <p:cNvSpPr>
            <a:spLocks noChangeArrowheads="1"/>
          </p:cNvSpPr>
          <p:nvPr/>
        </p:nvSpPr>
        <p:spPr bwMode="auto">
          <a:xfrm>
            <a:off x="2971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51" name="Rectangle 15"/>
          <p:cNvSpPr>
            <a:spLocks noChangeArrowheads="1"/>
          </p:cNvSpPr>
          <p:nvPr/>
        </p:nvSpPr>
        <p:spPr bwMode="auto">
          <a:xfrm>
            <a:off x="2971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52" name="Rectangle 16"/>
          <p:cNvSpPr>
            <a:spLocks noChangeArrowheads="1"/>
          </p:cNvSpPr>
          <p:nvPr/>
        </p:nvSpPr>
        <p:spPr bwMode="auto">
          <a:xfrm>
            <a:off x="2971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53" name="Rectangle 17"/>
          <p:cNvSpPr>
            <a:spLocks noChangeArrowheads="1"/>
          </p:cNvSpPr>
          <p:nvPr/>
        </p:nvSpPr>
        <p:spPr bwMode="auto">
          <a:xfrm>
            <a:off x="3352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54" name="Rectangle 18"/>
          <p:cNvSpPr>
            <a:spLocks noChangeArrowheads="1"/>
          </p:cNvSpPr>
          <p:nvPr/>
        </p:nvSpPr>
        <p:spPr bwMode="auto">
          <a:xfrm>
            <a:off x="3352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55" name="Rectangle 19"/>
          <p:cNvSpPr>
            <a:spLocks noChangeArrowheads="1"/>
          </p:cNvSpPr>
          <p:nvPr/>
        </p:nvSpPr>
        <p:spPr bwMode="auto">
          <a:xfrm>
            <a:off x="3352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56" name="Rectangle 20"/>
          <p:cNvSpPr>
            <a:spLocks noChangeArrowheads="1"/>
          </p:cNvSpPr>
          <p:nvPr/>
        </p:nvSpPr>
        <p:spPr bwMode="auto">
          <a:xfrm>
            <a:off x="3733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57" name="Rectangle 21"/>
          <p:cNvSpPr>
            <a:spLocks noChangeArrowheads="1"/>
          </p:cNvSpPr>
          <p:nvPr/>
        </p:nvSpPr>
        <p:spPr bwMode="auto">
          <a:xfrm>
            <a:off x="3733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58" name="Rectangle 22"/>
          <p:cNvSpPr>
            <a:spLocks noChangeArrowheads="1"/>
          </p:cNvSpPr>
          <p:nvPr/>
        </p:nvSpPr>
        <p:spPr bwMode="auto">
          <a:xfrm>
            <a:off x="3733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59" name="Rectangle 23"/>
          <p:cNvSpPr>
            <a:spLocks noChangeArrowheads="1"/>
          </p:cNvSpPr>
          <p:nvPr/>
        </p:nvSpPr>
        <p:spPr bwMode="auto">
          <a:xfrm>
            <a:off x="4114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60" name="Rectangle 24"/>
          <p:cNvSpPr>
            <a:spLocks noChangeArrowheads="1"/>
          </p:cNvSpPr>
          <p:nvPr/>
        </p:nvSpPr>
        <p:spPr bwMode="auto">
          <a:xfrm>
            <a:off x="4114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61" name="Rectangle 25"/>
          <p:cNvSpPr>
            <a:spLocks noChangeArrowheads="1"/>
          </p:cNvSpPr>
          <p:nvPr/>
        </p:nvSpPr>
        <p:spPr bwMode="auto">
          <a:xfrm>
            <a:off x="4114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62" name="Rectangle 26"/>
          <p:cNvSpPr>
            <a:spLocks noChangeArrowheads="1"/>
          </p:cNvSpPr>
          <p:nvPr/>
        </p:nvSpPr>
        <p:spPr bwMode="auto">
          <a:xfrm>
            <a:off x="4495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63" name="Rectangle 27"/>
          <p:cNvSpPr>
            <a:spLocks noChangeArrowheads="1"/>
          </p:cNvSpPr>
          <p:nvPr/>
        </p:nvSpPr>
        <p:spPr bwMode="auto">
          <a:xfrm>
            <a:off x="4495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64" name="Rectangle 28"/>
          <p:cNvSpPr>
            <a:spLocks noChangeArrowheads="1"/>
          </p:cNvSpPr>
          <p:nvPr/>
        </p:nvSpPr>
        <p:spPr bwMode="auto">
          <a:xfrm>
            <a:off x="4495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65" name="Rectangle 29"/>
          <p:cNvSpPr>
            <a:spLocks noChangeArrowheads="1"/>
          </p:cNvSpPr>
          <p:nvPr/>
        </p:nvSpPr>
        <p:spPr bwMode="auto">
          <a:xfrm>
            <a:off x="4876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66" name="Rectangle 30"/>
          <p:cNvSpPr>
            <a:spLocks noChangeArrowheads="1"/>
          </p:cNvSpPr>
          <p:nvPr/>
        </p:nvSpPr>
        <p:spPr bwMode="auto">
          <a:xfrm>
            <a:off x="4876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67" name="Rectangle 31"/>
          <p:cNvSpPr>
            <a:spLocks noChangeArrowheads="1"/>
          </p:cNvSpPr>
          <p:nvPr/>
        </p:nvSpPr>
        <p:spPr bwMode="auto">
          <a:xfrm>
            <a:off x="4876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68" name="Rectangle 32"/>
          <p:cNvSpPr>
            <a:spLocks noChangeArrowheads="1"/>
          </p:cNvSpPr>
          <p:nvPr/>
        </p:nvSpPr>
        <p:spPr bwMode="auto">
          <a:xfrm>
            <a:off x="5257800" y="4191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9169" name="Rectangle 33"/>
          <p:cNvSpPr>
            <a:spLocks noChangeArrowheads="1"/>
          </p:cNvSpPr>
          <p:nvPr/>
        </p:nvSpPr>
        <p:spPr bwMode="auto">
          <a:xfrm>
            <a:off x="5257800" y="3810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9170" name="Rectangle 34"/>
          <p:cNvSpPr>
            <a:spLocks noChangeArrowheads="1"/>
          </p:cNvSpPr>
          <p:nvPr/>
        </p:nvSpPr>
        <p:spPr bwMode="auto">
          <a:xfrm>
            <a:off x="5257800" y="3429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9171" name="Rectangle 35"/>
          <p:cNvSpPr>
            <a:spLocks noChangeArrowheads="1"/>
          </p:cNvSpPr>
          <p:nvPr/>
        </p:nvSpPr>
        <p:spPr bwMode="auto">
          <a:xfrm>
            <a:off x="6400800" y="4191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9172" name="Rectangle 36"/>
          <p:cNvSpPr>
            <a:spLocks noChangeArrowheads="1"/>
          </p:cNvSpPr>
          <p:nvPr/>
        </p:nvSpPr>
        <p:spPr bwMode="auto">
          <a:xfrm>
            <a:off x="6400800" y="3810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9173" name="Rectangle 37"/>
          <p:cNvSpPr>
            <a:spLocks noChangeArrowheads="1"/>
          </p:cNvSpPr>
          <p:nvPr/>
        </p:nvSpPr>
        <p:spPr bwMode="auto">
          <a:xfrm>
            <a:off x="6400800" y="3429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9174" name="Rectangle 38"/>
          <p:cNvSpPr>
            <a:spLocks noChangeArrowheads="1"/>
          </p:cNvSpPr>
          <p:nvPr/>
        </p:nvSpPr>
        <p:spPr bwMode="auto">
          <a:xfrm>
            <a:off x="6019800" y="4191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9175" name="Rectangle 39"/>
          <p:cNvSpPr>
            <a:spLocks noChangeArrowheads="1"/>
          </p:cNvSpPr>
          <p:nvPr/>
        </p:nvSpPr>
        <p:spPr bwMode="auto">
          <a:xfrm>
            <a:off x="6019800" y="3810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9176" name="Rectangle 40"/>
          <p:cNvSpPr>
            <a:spLocks noChangeArrowheads="1"/>
          </p:cNvSpPr>
          <p:nvPr/>
        </p:nvSpPr>
        <p:spPr bwMode="auto">
          <a:xfrm>
            <a:off x="6019800" y="3429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9177" name="Rectangle 41"/>
          <p:cNvSpPr>
            <a:spLocks noChangeArrowheads="1"/>
          </p:cNvSpPr>
          <p:nvPr/>
        </p:nvSpPr>
        <p:spPr bwMode="auto">
          <a:xfrm>
            <a:off x="5638800" y="4191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9178" name="Rectangle 42"/>
          <p:cNvSpPr>
            <a:spLocks noChangeArrowheads="1"/>
          </p:cNvSpPr>
          <p:nvPr/>
        </p:nvSpPr>
        <p:spPr bwMode="auto">
          <a:xfrm>
            <a:off x="5638800" y="3810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9179" name="Rectangle 43"/>
          <p:cNvSpPr>
            <a:spLocks noChangeArrowheads="1"/>
          </p:cNvSpPr>
          <p:nvPr/>
        </p:nvSpPr>
        <p:spPr bwMode="auto">
          <a:xfrm>
            <a:off x="5638800" y="3429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9180" name="Rectangle 44"/>
          <p:cNvSpPr>
            <a:spLocks noChangeArrowheads="1"/>
          </p:cNvSpPr>
          <p:nvPr/>
        </p:nvSpPr>
        <p:spPr bwMode="auto">
          <a:xfrm>
            <a:off x="5257800" y="3048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81" name="Rectangle 45"/>
          <p:cNvSpPr>
            <a:spLocks noChangeArrowheads="1"/>
          </p:cNvSpPr>
          <p:nvPr/>
        </p:nvSpPr>
        <p:spPr bwMode="auto">
          <a:xfrm>
            <a:off x="5638800" y="3048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82" name="Rectangle 46"/>
          <p:cNvSpPr>
            <a:spLocks noChangeArrowheads="1"/>
          </p:cNvSpPr>
          <p:nvPr/>
        </p:nvSpPr>
        <p:spPr bwMode="auto">
          <a:xfrm>
            <a:off x="6019800" y="3048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83" name="Rectangle 47"/>
          <p:cNvSpPr>
            <a:spLocks noChangeArrowheads="1"/>
          </p:cNvSpPr>
          <p:nvPr/>
        </p:nvSpPr>
        <p:spPr bwMode="auto">
          <a:xfrm>
            <a:off x="6400800" y="3048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84" name="Rectangle 48"/>
          <p:cNvSpPr>
            <a:spLocks noChangeArrowheads="1"/>
          </p:cNvSpPr>
          <p:nvPr/>
        </p:nvSpPr>
        <p:spPr bwMode="auto">
          <a:xfrm>
            <a:off x="6781800" y="4191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9185" name="Rectangle 49"/>
          <p:cNvSpPr>
            <a:spLocks noChangeArrowheads="1"/>
          </p:cNvSpPr>
          <p:nvPr/>
        </p:nvSpPr>
        <p:spPr bwMode="auto">
          <a:xfrm>
            <a:off x="6781800" y="3810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9186" name="Rectangle 50"/>
          <p:cNvSpPr>
            <a:spLocks noChangeArrowheads="1"/>
          </p:cNvSpPr>
          <p:nvPr/>
        </p:nvSpPr>
        <p:spPr bwMode="auto">
          <a:xfrm>
            <a:off x="6781800" y="3429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9187" name="Rectangle 51"/>
          <p:cNvSpPr>
            <a:spLocks noChangeArrowheads="1"/>
          </p:cNvSpPr>
          <p:nvPr/>
        </p:nvSpPr>
        <p:spPr bwMode="auto">
          <a:xfrm>
            <a:off x="6781800" y="3048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88" name="Line 52"/>
          <p:cNvSpPr>
            <a:spLocks noChangeShapeType="1"/>
          </p:cNvSpPr>
          <p:nvPr/>
        </p:nvSpPr>
        <p:spPr bwMode="auto">
          <a:xfrm>
            <a:off x="5257800" y="1752600"/>
            <a:ext cx="1905000" cy="0"/>
          </a:xfrm>
          <a:prstGeom prst="line">
            <a:avLst/>
          </a:prstGeom>
          <a:noFill/>
          <a:ln w="9525">
            <a:solidFill>
              <a:schemeClr val="tx1"/>
            </a:solidFill>
            <a:round/>
            <a:headEnd type="triangle" w="med" len="med"/>
            <a:tailEnd type="triangle" w="med" len="med"/>
          </a:ln>
          <a:effectLst/>
        </p:spPr>
        <p:txBody>
          <a:bodyPr wrap="none" anchor="ctr"/>
          <a:lstStyle/>
          <a:p>
            <a:endParaRPr lang="fi-FI"/>
          </a:p>
        </p:txBody>
      </p:sp>
      <p:sp>
        <p:nvSpPr>
          <p:cNvPr id="219189" name="Line 53"/>
          <p:cNvSpPr>
            <a:spLocks noChangeShapeType="1"/>
          </p:cNvSpPr>
          <p:nvPr/>
        </p:nvSpPr>
        <p:spPr bwMode="auto">
          <a:xfrm>
            <a:off x="1447800" y="2133600"/>
            <a:ext cx="5715000" cy="0"/>
          </a:xfrm>
          <a:prstGeom prst="line">
            <a:avLst/>
          </a:prstGeom>
          <a:noFill/>
          <a:ln w="9525">
            <a:solidFill>
              <a:schemeClr val="tx1"/>
            </a:solidFill>
            <a:round/>
            <a:headEnd type="triangle" w="med" len="med"/>
            <a:tailEnd type="triangle" w="med" len="med"/>
          </a:ln>
          <a:effectLst/>
        </p:spPr>
        <p:txBody>
          <a:bodyPr wrap="none" anchor="ctr"/>
          <a:lstStyle/>
          <a:p>
            <a:endParaRPr lang="fi-FI"/>
          </a:p>
        </p:txBody>
      </p:sp>
      <p:sp>
        <p:nvSpPr>
          <p:cNvPr id="219190" name="Text Box 54"/>
          <p:cNvSpPr txBox="1">
            <a:spLocks noChangeArrowheads="1"/>
          </p:cNvSpPr>
          <p:nvPr/>
        </p:nvSpPr>
        <p:spPr bwMode="auto">
          <a:xfrm>
            <a:off x="4724400" y="1905000"/>
            <a:ext cx="1752600" cy="304800"/>
          </a:xfrm>
          <a:prstGeom prst="rect">
            <a:avLst/>
          </a:prstGeom>
          <a:noFill/>
          <a:ln w="9525">
            <a:noFill/>
            <a:miter lim="800000"/>
            <a:headEnd/>
            <a:tailEnd/>
          </a:ln>
          <a:effectLst/>
        </p:spPr>
        <p:txBody>
          <a:bodyPr>
            <a:spAutoFit/>
          </a:bodyPr>
          <a:lstStyle/>
          <a:p>
            <a:pPr algn="l" eaLnBrk="0" hangingPunct="0">
              <a:spcBef>
                <a:spcPct val="50000"/>
              </a:spcBef>
            </a:pPr>
            <a:r>
              <a:rPr lang="fi-FI" sz="1400" b="1"/>
              <a:t>läpimenoaika</a:t>
            </a:r>
            <a:endParaRPr lang="fi-FI" sz="2000"/>
          </a:p>
        </p:txBody>
      </p:sp>
      <p:sp>
        <p:nvSpPr>
          <p:cNvPr id="219191" name="Text Box 55"/>
          <p:cNvSpPr txBox="1">
            <a:spLocks noChangeArrowheads="1"/>
          </p:cNvSpPr>
          <p:nvPr/>
        </p:nvSpPr>
        <p:spPr bwMode="auto">
          <a:xfrm>
            <a:off x="5334000" y="1295400"/>
            <a:ext cx="2438400" cy="517525"/>
          </a:xfrm>
          <a:prstGeom prst="rect">
            <a:avLst/>
          </a:prstGeom>
          <a:noFill/>
          <a:ln w="9525">
            <a:noFill/>
            <a:miter lim="800000"/>
            <a:headEnd/>
            <a:tailEnd/>
          </a:ln>
          <a:effectLst/>
        </p:spPr>
        <p:txBody>
          <a:bodyPr>
            <a:spAutoFit/>
          </a:bodyPr>
          <a:lstStyle/>
          <a:p>
            <a:pPr algn="l" eaLnBrk="0" hangingPunct="0">
              <a:spcBef>
                <a:spcPct val="50000"/>
              </a:spcBef>
            </a:pPr>
            <a:r>
              <a:rPr lang="fi-FI" sz="1400" b="1"/>
              <a:t>Järjestelmätestauksen läpimenoaika</a:t>
            </a:r>
            <a:endParaRPr lang="fi-FI" sz="2000"/>
          </a:p>
        </p:txBody>
      </p:sp>
      <p:sp>
        <p:nvSpPr>
          <p:cNvPr id="219192" name="Text Box 56"/>
          <p:cNvSpPr txBox="1">
            <a:spLocks noChangeArrowheads="1"/>
          </p:cNvSpPr>
          <p:nvPr/>
        </p:nvSpPr>
        <p:spPr bwMode="auto">
          <a:xfrm>
            <a:off x="152400" y="1889125"/>
            <a:ext cx="1600200" cy="396875"/>
          </a:xfrm>
          <a:prstGeom prst="rect">
            <a:avLst/>
          </a:prstGeom>
          <a:noFill/>
          <a:ln w="9525">
            <a:noFill/>
            <a:miter lim="800000"/>
            <a:headEnd/>
            <a:tailEnd/>
          </a:ln>
          <a:effectLst/>
        </p:spPr>
        <p:txBody>
          <a:bodyPr>
            <a:spAutoFit/>
          </a:bodyPr>
          <a:lstStyle/>
          <a:p>
            <a:pPr algn="l" eaLnBrk="0" hangingPunct="0">
              <a:spcBef>
                <a:spcPct val="50000"/>
              </a:spcBef>
            </a:pPr>
            <a:r>
              <a:rPr lang="fi-FI" sz="2000"/>
              <a:t>työmäärä</a:t>
            </a:r>
          </a:p>
        </p:txBody>
      </p:sp>
      <p:sp>
        <p:nvSpPr>
          <p:cNvPr id="219193" name="Rectangle 57"/>
          <p:cNvSpPr>
            <a:spLocks noChangeArrowheads="1"/>
          </p:cNvSpPr>
          <p:nvPr/>
        </p:nvSpPr>
        <p:spPr bwMode="auto">
          <a:xfrm>
            <a:off x="838200" y="5105400"/>
            <a:ext cx="381000" cy="381000"/>
          </a:xfrm>
          <a:prstGeom prst="rect">
            <a:avLst/>
          </a:prstGeom>
          <a:solidFill>
            <a:schemeClr val="hlink"/>
          </a:solidFill>
          <a:ln w="9525">
            <a:solidFill>
              <a:schemeClr val="tx1"/>
            </a:solidFill>
            <a:miter lim="800000"/>
            <a:headEnd/>
            <a:tailEnd/>
          </a:ln>
          <a:effectLst/>
        </p:spPr>
        <p:txBody>
          <a:bodyPr wrap="none" anchor="ctr"/>
          <a:lstStyle/>
          <a:p>
            <a:endParaRPr lang="fi-FI"/>
          </a:p>
        </p:txBody>
      </p:sp>
      <p:sp>
        <p:nvSpPr>
          <p:cNvPr id="219194" name="Text Box 58"/>
          <p:cNvSpPr txBox="1">
            <a:spLocks noChangeArrowheads="1"/>
          </p:cNvSpPr>
          <p:nvPr/>
        </p:nvSpPr>
        <p:spPr bwMode="auto">
          <a:xfrm>
            <a:off x="1295400" y="5105400"/>
            <a:ext cx="2667000" cy="304800"/>
          </a:xfrm>
          <a:prstGeom prst="rect">
            <a:avLst/>
          </a:prstGeom>
          <a:noFill/>
          <a:ln w="9525">
            <a:noFill/>
            <a:miter lim="800000"/>
            <a:headEnd/>
            <a:tailEnd/>
          </a:ln>
          <a:effectLst/>
        </p:spPr>
        <p:txBody>
          <a:bodyPr>
            <a:spAutoFit/>
          </a:bodyPr>
          <a:lstStyle/>
          <a:p>
            <a:pPr algn="l" eaLnBrk="0" hangingPunct="0">
              <a:spcBef>
                <a:spcPct val="50000"/>
              </a:spcBef>
            </a:pPr>
            <a:r>
              <a:rPr lang="fi-FI" sz="1400"/>
              <a:t>Asiakkaan tehtävät (määrittely)</a:t>
            </a:r>
            <a:endParaRPr lang="fi-FI" sz="2000"/>
          </a:p>
        </p:txBody>
      </p:sp>
      <p:sp>
        <p:nvSpPr>
          <p:cNvPr id="219195" name="Rectangle 59"/>
          <p:cNvSpPr>
            <a:spLocks noChangeArrowheads="1"/>
          </p:cNvSpPr>
          <p:nvPr/>
        </p:nvSpPr>
        <p:spPr bwMode="auto">
          <a:xfrm>
            <a:off x="838200" y="55626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96" name="Rectangle 60"/>
          <p:cNvSpPr>
            <a:spLocks noChangeArrowheads="1"/>
          </p:cNvSpPr>
          <p:nvPr/>
        </p:nvSpPr>
        <p:spPr bwMode="auto">
          <a:xfrm>
            <a:off x="4114800" y="51054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9197" name="Rectangle 61"/>
          <p:cNvSpPr>
            <a:spLocks noChangeArrowheads="1"/>
          </p:cNvSpPr>
          <p:nvPr/>
        </p:nvSpPr>
        <p:spPr bwMode="auto">
          <a:xfrm>
            <a:off x="4114800" y="5562600"/>
            <a:ext cx="381000" cy="381000"/>
          </a:xfrm>
          <a:prstGeom prst="rect">
            <a:avLst/>
          </a:prstGeom>
          <a:solidFill>
            <a:schemeClr val="bg2"/>
          </a:solidFill>
          <a:ln w="9525">
            <a:solidFill>
              <a:schemeClr val="tx1"/>
            </a:solidFill>
            <a:miter lim="800000"/>
            <a:headEnd/>
            <a:tailEnd/>
          </a:ln>
          <a:effectLst/>
        </p:spPr>
        <p:txBody>
          <a:bodyPr wrap="none" anchor="ctr"/>
          <a:lstStyle/>
          <a:p>
            <a:endParaRPr lang="fi-FI"/>
          </a:p>
        </p:txBody>
      </p:sp>
      <p:sp>
        <p:nvSpPr>
          <p:cNvPr id="219198" name="Text Box 62"/>
          <p:cNvSpPr txBox="1">
            <a:spLocks noChangeArrowheads="1"/>
          </p:cNvSpPr>
          <p:nvPr/>
        </p:nvSpPr>
        <p:spPr bwMode="auto">
          <a:xfrm>
            <a:off x="1295400" y="5486400"/>
            <a:ext cx="2819400" cy="517525"/>
          </a:xfrm>
          <a:prstGeom prst="rect">
            <a:avLst/>
          </a:prstGeom>
          <a:noFill/>
          <a:ln w="9525">
            <a:noFill/>
            <a:miter lim="800000"/>
            <a:headEnd/>
            <a:tailEnd/>
          </a:ln>
          <a:effectLst/>
        </p:spPr>
        <p:txBody>
          <a:bodyPr>
            <a:spAutoFit/>
          </a:bodyPr>
          <a:lstStyle/>
          <a:p>
            <a:pPr algn="l" eaLnBrk="0" hangingPunct="0">
              <a:spcBef>
                <a:spcPct val="50000"/>
              </a:spcBef>
            </a:pPr>
            <a:r>
              <a:rPr lang="fi-FI" sz="1400"/>
              <a:t>Suunnittelijan tehtävät (toteutus, testaus, normaali virheenkorjaus)</a:t>
            </a:r>
            <a:endParaRPr lang="fi-FI" sz="2000"/>
          </a:p>
        </p:txBody>
      </p:sp>
      <p:sp>
        <p:nvSpPr>
          <p:cNvPr id="219199" name="Text Box 63"/>
          <p:cNvSpPr txBox="1">
            <a:spLocks noChangeArrowheads="1"/>
          </p:cNvSpPr>
          <p:nvPr/>
        </p:nvSpPr>
        <p:spPr bwMode="auto">
          <a:xfrm>
            <a:off x="4495800" y="5105400"/>
            <a:ext cx="3048000" cy="304800"/>
          </a:xfrm>
          <a:prstGeom prst="rect">
            <a:avLst/>
          </a:prstGeom>
          <a:noFill/>
          <a:ln w="9525">
            <a:noFill/>
            <a:miter lim="800000"/>
            <a:headEnd/>
            <a:tailEnd/>
          </a:ln>
          <a:effectLst/>
        </p:spPr>
        <p:txBody>
          <a:bodyPr>
            <a:spAutoFit/>
          </a:bodyPr>
          <a:lstStyle/>
          <a:p>
            <a:pPr algn="l" eaLnBrk="0" hangingPunct="0">
              <a:spcBef>
                <a:spcPct val="50000"/>
              </a:spcBef>
            </a:pPr>
            <a:r>
              <a:rPr lang="fi-FI" sz="1400"/>
              <a:t>Järjestelmätestausryhmän tehtävät</a:t>
            </a:r>
            <a:endParaRPr lang="fi-FI" sz="2000"/>
          </a:p>
        </p:txBody>
      </p:sp>
      <p:sp>
        <p:nvSpPr>
          <p:cNvPr id="219200" name="Text Box 64"/>
          <p:cNvSpPr txBox="1">
            <a:spLocks noChangeArrowheads="1"/>
          </p:cNvSpPr>
          <p:nvPr/>
        </p:nvSpPr>
        <p:spPr bwMode="auto">
          <a:xfrm>
            <a:off x="4572000" y="5486400"/>
            <a:ext cx="3657600" cy="517525"/>
          </a:xfrm>
          <a:prstGeom prst="rect">
            <a:avLst/>
          </a:prstGeom>
          <a:noFill/>
          <a:ln w="9525">
            <a:noFill/>
            <a:miter lim="800000"/>
            <a:headEnd/>
            <a:tailEnd/>
          </a:ln>
          <a:effectLst/>
        </p:spPr>
        <p:txBody>
          <a:bodyPr>
            <a:spAutoFit/>
          </a:bodyPr>
          <a:lstStyle/>
          <a:p>
            <a:pPr algn="l" eaLnBrk="0" hangingPunct="0">
              <a:spcBef>
                <a:spcPct val="50000"/>
              </a:spcBef>
            </a:pPr>
            <a:r>
              <a:rPr lang="fi-FI" sz="1400"/>
              <a:t>Suunnittelijan ylimääräiset tehtävät (korjaukset/täydentäminen)</a:t>
            </a:r>
            <a:endParaRPr lang="fi-FI" sz="2000"/>
          </a:p>
        </p:txBody>
      </p:sp>
      <p:sp>
        <p:nvSpPr>
          <p:cNvPr id="66" name="Slide Number Placeholder 65"/>
          <p:cNvSpPr>
            <a:spLocks noGrp="1"/>
          </p:cNvSpPr>
          <p:nvPr>
            <p:ph type="sldNum" sz="quarter" idx="12"/>
          </p:nvPr>
        </p:nvSpPr>
        <p:spPr/>
        <p:txBody>
          <a:bodyPr/>
          <a:lstStyle/>
          <a:p>
            <a:fld id="{7A750B4A-325E-4AA4-BC07-A8C35B32A4F3}" type="slidenum">
              <a:rPr lang="fi-FI" smtClean="0"/>
              <a:pPr/>
              <a:t>115</a:t>
            </a:fld>
            <a:endParaRPr lang="fi-FI"/>
          </a:p>
        </p:txBody>
      </p:sp>
    </p:spTree>
  </p:cSld>
  <p:clrMapOvr>
    <a:masterClrMapping/>
  </p:clrMapOvr>
  <p:timing>
    <p:tnLst>
      <p:par>
        <p:cTn xmlns:p14="http://schemas.microsoft.com/office/powerpoint/2010/mai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ChangeArrowheads="1"/>
          </p:cNvSpPr>
          <p:nvPr>
            <p:ph type="title"/>
          </p:nvPr>
        </p:nvSpPr>
        <p:spPr/>
        <p:txBody>
          <a:bodyPr/>
          <a:lstStyle/>
          <a:p>
            <a:r>
              <a:rPr lang="fi-FI"/>
              <a:t>Toivottu muutos riskitilanne</a:t>
            </a:r>
          </a:p>
        </p:txBody>
      </p:sp>
      <p:sp>
        <p:nvSpPr>
          <p:cNvPr id="220163" name="Line 3"/>
          <p:cNvSpPr>
            <a:spLocks noChangeShapeType="1"/>
          </p:cNvSpPr>
          <p:nvPr/>
        </p:nvSpPr>
        <p:spPr bwMode="auto">
          <a:xfrm>
            <a:off x="1447800" y="4572000"/>
            <a:ext cx="6705600" cy="0"/>
          </a:xfrm>
          <a:prstGeom prst="line">
            <a:avLst/>
          </a:prstGeom>
          <a:noFill/>
          <a:ln w="9525">
            <a:solidFill>
              <a:schemeClr val="tx1"/>
            </a:solidFill>
            <a:round/>
            <a:headEnd/>
            <a:tailEnd type="triangle" w="med" len="med"/>
          </a:ln>
          <a:effectLst/>
        </p:spPr>
        <p:txBody>
          <a:bodyPr wrap="none" anchor="ctr"/>
          <a:lstStyle/>
          <a:p>
            <a:endParaRPr lang="fi-FI"/>
          </a:p>
        </p:txBody>
      </p:sp>
      <p:sp>
        <p:nvSpPr>
          <p:cNvPr id="220164" name="Line 4"/>
          <p:cNvSpPr>
            <a:spLocks noChangeShapeType="1"/>
          </p:cNvSpPr>
          <p:nvPr/>
        </p:nvSpPr>
        <p:spPr bwMode="auto">
          <a:xfrm flipV="1">
            <a:off x="1447800" y="1600200"/>
            <a:ext cx="0" cy="2971800"/>
          </a:xfrm>
          <a:prstGeom prst="line">
            <a:avLst/>
          </a:prstGeom>
          <a:noFill/>
          <a:ln w="9525">
            <a:solidFill>
              <a:schemeClr val="tx1"/>
            </a:solidFill>
            <a:round/>
            <a:headEnd/>
            <a:tailEnd type="triangle" w="med" len="med"/>
          </a:ln>
          <a:effectLst/>
        </p:spPr>
        <p:txBody>
          <a:bodyPr wrap="none" anchor="ctr"/>
          <a:lstStyle/>
          <a:p>
            <a:endParaRPr lang="fi-FI"/>
          </a:p>
        </p:txBody>
      </p:sp>
      <p:sp>
        <p:nvSpPr>
          <p:cNvPr id="220165" name="Rectangle 5"/>
          <p:cNvSpPr>
            <a:spLocks noChangeArrowheads="1"/>
          </p:cNvSpPr>
          <p:nvPr/>
        </p:nvSpPr>
        <p:spPr bwMode="auto">
          <a:xfrm>
            <a:off x="1447800" y="4191000"/>
            <a:ext cx="381000" cy="381000"/>
          </a:xfrm>
          <a:prstGeom prst="rect">
            <a:avLst/>
          </a:prstGeom>
          <a:solidFill>
            <a:schemeClr val="hlink"/>
          </a:solidFill>
          <a:ln w="9525">
            <a:solidFill>
              <a:schemeClr val="tx1"/>
            </a:solidFill>
            <a:miter lim="800000"/>
            <a:headEnd/>
            <a:tailEnd/>
          </a:ln>
          <a:effectLst/>
        </p:spPr>
        <p:txBody>
          <a:bodyPr wrap="none" anchor="ctr"/>
          <a:lstStyle/>
          <a:p>
            <a:endParaRPr lang="fi-FI"/>
          </a:p>
        </p:txBody>
      </p:sp>
      <p:sp>
        <p:nvSpPr>
          <p:cNvPr id="220166" name="Rectangle 6"/>
          <p:cNvSpPr>
            <a:spLocks noChangeArrowheads="1"/>
          </p:cNvSpPr>
          <p:nvPr/>
        </p:nvSpPr>
        <p:spPr bwMode="auto">
          <a:xfrm>
            <a:off x="1828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67" name="Text Box 7"/>
          <p:cNvSpPr txBox="1">
            <a:spLocks noChangeArrowheads="1"/>
          </p:cNvSpPr>
          <p:nvPr/>
        </p:nvSpPr>
        <p:spPr bwMode="auto">
          <a:xfrm>
            <a:off x="152400" y="1889125"/>
            <a:ext cx="1295400" cy="396875"/>
          </a:xfrm>
          <a:prstGeom prst="rect">
            <a:avLst/>
          </a:prstGeom>
          <a:noFill/>
          <a:ln w="9525">
            <a:noFill/>
            <a:miter lim="800000"/>
            <a:headEnd/>
            <a:tailEnd/>
          </a:ln>
          <a:effectLst/>
        </p:spPr>
        <p:txBody>
          <a:bodyPr>
            <a:spAutoFit/>
          </a:bodyPr>
          <a:lstStyle/>
          <a:p>
            <a:pPr algn="l" eaLnBrk="0" hangingPunct="0">
              <a:spcBef>
                <a:spcPct val="50000"/>
              </a:spcBef>
            </a:pPr>
            <a:r>
              <a:rPr lang="fi-FI" sz="2000"/>
              <a:t>työmäärä</a:t>
            </a:r>
          </a:p>
        </p:txBody>
      </p:sp>
      <p:sp>
        <p:nvSpPr>
          <p:cNvPr id="220168" name="Text Box 8"/>
          <p:cNvSpPr txBox="1">
            <a:spLocks noChangeArrowheads="1"/>
          </p:cNvSpPr>
          <p:nvPr/>
        </p:nvSpPr>
        <p:spPr bwMode="auto">
          <a:xfrm>
            <a:off x="7239000" y="4556125"/>
            <a:ext cx="1219200" cy="396875"/>
          </a:xfrm>
          <a:prstGeom prst="rect">
            <a:avLst/>
          </a:prstGeom>
          <a:noFill/>
          <a:ln w="9525">
            <a:noFill/>
            <a:miter lim="800000"/>
            <a:headEnd/>
            <a:tailEnd/>
          </a:ln>
          <a:effectLst/>
        </p:spPr>
        <p:txBody>
          <a:bodyPr>
            <a:spAutoFit/>
          </a:bodyPr>
          <a:lstStyle/>
          <a:p>
            <a:pPr algn="l" eaLnBrk="0" hangingPunct="0">
              <a:spcBef>
                <a:spcPct val="50000"/>
              </a:spcBef>
            </a:pPr>
            <a:r>
              <a:rPr lang="fi-FI" sz="2000"/>
              <a:t>aika</a:t>
            </a:r>
          </a:p>
        </p:txBody>
      </p:sp>
      <p:sp>
        <p:nvSpPr>
          <p:cNvPr id="220169" name="Rectangle 9"/>
          <p:cNvSpPr>
            <a:spLocks noChangeArrowheads="1"/>
          </p:cNvSpPr>
          <p:nvPr/>
        </p:nvSpPr>
        <p:spPr bwMode="auto">
          <a:xfrm>
            <a:off x="2209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70" name="Rectangle 10"/>
          <p:cNvSpPr>
            <a:spLocks noChangeArrowheads="1"/>
          </p:cNvSpPr>
          <p:nvPr/>
        </p:nvSpPr>
        <p:spPr bwMode="auto">
          <a:xfrm>
            <a:off x="2209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71" name="Rectangle 11"/>
          <p:cNvSpPr>
            <a:spLocks noChangeArrowheads="1"/>
          </p:cNvSpPr>
          <p:nvPr/>
        </p:nvSpPr>
        <p:spPr bwMode="auto">
          <a:xfrm>
            <a:off x="2209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72" name="Rectangle 12"/>
          <p:cNvSpPr>
            <a:spLocks noChangeArrowheads="1"/>
          </p:cNvSpPr>
          <p:nvPr/>
        </p:nvSpPr>
        <p:spPr bwMode="auto">
          <a:xfrm>
            <a:off x="2590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73" name="Rectangle 13"/>
          <p:cNvSpPr>
            <a:spLocks noChangeArrowheads="1"/>
          </p:cNvSpPr>
          <p:nvPr/>
        </p:nvSpPr>
        <p:spPr bwMode="auto">
          <a:xfrm>
            <a:off x="2590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74" name="Rectangle 14"/>
          <p:cNvSpPr>
            <a:spLocks noChangeArrowheads="1"/>
          </p:cNvSpPr>
          <p:nvPr/>
        </p:nvSpPr>
        <p:spPr bwMode="auto">
          <a:xfrm>
            <a:off x="2590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75" name="Rectangle 15"/>
          <p:cNvSpPr>
            <a:spLocks noChangeArrowheads="1"/>
          </p:cNvSpPr>
          <p:nvPr/>
        </p:nvSpPr>
        <p:spPr bwMode="auto">
          <a:xfrm>
            <a:off x="2971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76" name="Rectangle 16"/>
          <p:cNvSpPr>
            <a:spLocks noChangeArrowheads="1"/>
          </p:cNvSpPr>
          <p:nvPr/>
        </p:nvSpPr>
        <p:spPr bwMode="auto">
          <a:xfrm>
            <a:off x="2971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77" name="Rectangle 17"/>
          <p:cNvSpPr>
            <a:spLocks noChangeArrowheads="1"/>
          </p:cNvSpPr>
          <p:nvPr/>
        </p:nvSpPr>
        <p:spPr bwMode="auto">
          <a:xfrm>
            <a:off x="2971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78" name="Rectangle 18"/>
          <p:cNvSpPr>
            <a:spLocks noChangeArrowheads="1"/>
          </p:cNvSpPr>
          <p:nvPr/>
        </p:nvSpPr>
        <p:spPr bwMode="auto">
          <a:xfrm>
            <a:off x="3352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79" name="Rectangle 19"/>
          <p:cNvSpPr>
            <a:spLocks noChangeArrowheads="1"/>
          </p:cNvSpPr>
          <p:nvPr/>
        </p:nvSpPr>
        <p:spPr bwMode="auto">
          <a:xfrm>
            <a:off x="3352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80" name="Rectangle 20"/>
          <p:cNvSpPr>
            <a:spLocks noChangeArrowheads="1"/>
          </p:cNvSpPr>
          <p:nvPr/>
        </p:nvSpPr>
        <p:spPr bwMode="auto">
          <a:xfrm>
            <a:off x="3352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81" name="Rectangle 21"/>
          <p:cNvSpPr>
            <a:spLocks noChangeArrowheads="1"/>
          </p:cNvSpPr>
          <p:nvPr/>
        </p:nvSpPr>
        <p:spPr bwMode="auto">
          <a:xfrm>
            <a:off x="3733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82" name="Rectangle 22"/>
          <p:cNvSpPr>
            <a:spLocks noChangeArrowheads="1"/>
          </p:cNvSpPr>
          <p:nvPr/>
        </p:nvSpPr>
        <p:spPr bwMode="auto">
          <a:xfrm>
            <a:off x="3733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83" name="Rectangle 23"/>
          <p:cNvSpPr>
            <a:spLocks noChangeArrowheads="1"/>
          </p:cNvSpPr>
          <p:nvPr/>
        </p:nvSpPr>
        <p:spPr bwMode="auto">
          <a:xfrm>
            <a:off x="3733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84" name="Rectangle 24"/>
          <p:cNvSpPr>
            <a:spLocks noChangeArrowheads="1"/>
          </p:cNvSpPr>
          <p:nvPr/>
        </p:nvSpPr>
        <p:spPr bwMode="auto">
          <a:xfrm>
            <a:off x="4114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85" name="Rectangle 25"/>
          <p:cNvSpPr>
            <a:spLocks noChangeArrowheads="1"/>
          </p:cNvSpPr>
          <p:nvPr/>
        </p:nvSpPr>
        <p:spPr bwMode="auto">
          <a:xfrm>
            <a:off x="4114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86" name="Rectangle 26"/>
          <p:cNvSpPr>
            <a:spLocks noChangeArrowheads="1"/>
          </p:cNvSpPr>
          <p:nvPr/>
        </p:nvSpPr>
        <p:spPr bwMode="auto">
          <a:xfrm>
            <a:off x="4114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87" name="Rectangle 27"/>
          <p:cNvSpPr>
            <a:spLocks noChangeArrowheads="1"/>
          </p:cNvSpPr>
          <p:nvPr/>
        </p:nvSpPr>
        <p:spPr bwMode="auto">
          <a:xfrm>
            <a:off x="4495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88" name="Rectangle 28"/>
          <p:cNvSpPr>
            <a:spLocks noChangeArrowheads="1"/>
          </p:cNvSpPr>
          <p:nvPr/>
        </p:nvSpPr>
        <p:spPr bwMode="auto">
          <a:xfrm>
            <a:off x="4495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89" name="Rectangle 29"/>
          <p:cNvSpPr>
            <a:spLocks noChangeArrowheads="1"/>
          </p:cNvSpPr>
          <p:nvPr/>
        </p:nvSpPr>
        <p:spPr bwMode="auto">
          <a:xfrm>
            <a:off x="4495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90" name="Rectangle 30"/>
          <p:cNvSpPr>
            <a:spLocks noChangeArrowheads="1"/>
          </p:cNvSpPr>
          <p:nvPr/>
        </p:nvSpPr>
        <p:spPr bwMode="auto">
          <a:xfrm>
            <a:off x="4876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91" name="Rectangle 31"/>
          <p:cNvSpPr>
            <a:spLocks noChangeArrowheads="1"/>
          </p:cNvSpPr>
          <p:nvPr/>
        </p:nvSpPr>
        <p:spPr bwMode="auto">
          <a:xfrm>
            <a:off x="4876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92" name="Rectangle 32"/>
          <p:cNvSpPr>
            <a:spLocks noChangeArrowheads="1"/>
          </p:cNvSpPr>
          <p:nvPr/>
        </p:nvSpPr>
        <p:spPr bwMode="auto">
          <a:xfrm>
            <a:off x="4876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93" name="Rectangle 33"/>
          <p:cNvSpPr>
            <a:spLocks noChangeArrowheads="1"/>
          </p:cNvSpPr>
          <p:nvPr/>
        </p:nvSpPr>
        <p:spPr bwMode="auto">
          <a:xfrm>
            <a:off x="5257800" y="4191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0194" name="Rectangle 34"/>
          <p:cNvSpPr>
            <a:spLocks noChangeArrowheads="1"/>
          </p:cNvSpPr>
          <p:nvPr/>
        </p:nvSpPr>
        <p:spPr bwMode="auto">
          <a:xfrm>
            <a:off x="5257800" y="3810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0195" name="Rectangle 35"/>
          <p:cNvSpPr>
            <a:spLocks noChangeArrowheads="1"/>
          </p:cNvSpPr>
          <p:nvPr/>
        </p:nvSpPr>
        <p:spPr bwMode="auto">
          <a:xfrm>
            <a:off x="5257800" y="3429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0196" name="Rectangle 36"/>
          <p:cNvSpPr>
            <a:spLocks noChangeArrowheads="1"/>
          </p:cNvSpPr>
          <p:nvPr/>
        </p:nvSpPr>
        <p:spPr bwMode="auto">
          <a:xfrm>
            <a:off x="7162800" y="4191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0197" name="Rectangle 37"/>
          <p:cNvSpPr>
            <a:spLocks noChangeArrowheads="1"/>
          </p:cNvSpPr>
          <p:nvPr/>
        </p:nvSpPr>
        <p:spPr bwMode="auto">
          <a:xfrm>
            <a:off x="7162800" y="3810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0198" name="Rectangle 38"/>
          <p:cNvSpPr>
            <a:spLocks noChangeArrowheads="1"/>
          </p:cNvSpPr>
          <p:nvPr/>
        </p:nvSpPr>
        <p:spPr bwMode="auto">
          <a:xfrm>
            <a:off x="7162800" y="3429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0199" name="Rectangle 39"/>
          <p:cNvSpPr>
            <a:spLocks noChangeArrowheads="1"/>
          </p:cNvSpPr>
          <p:nvPr/>
        </p:nvSpPr>
        <p:spPr bwMode="auto">
          <a:xfrm>
            <a:off x="6781800" y="4191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0200" name="Rectangle 40"/>
          <p:cNvSpPr>
            <a:spLocks noChangeArrowheads="1"/>
          </p:cNvSpPr>
          <p:nvPr/>
        </p:nvSpPr>
        <p:spPr bwMode="auto">
          <a:xfrm>
            <a:off x="6781800" y="3810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0201" name="Rectangle 41"/>
          <p:cNvSpPr>
            <a:spLocks noChangeArrowheads="1"/>
          </p:cNvSpPr>
          <p:nvPr/>
        </p:nvSpPr>
        <p:spPr bwMode="auto">
          <a:xfrm>
            <a:off x="6781800" y="3429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0202" name="Rectangle 42"/>
          <p:cNvSpPr>
            <a:spLocks noChangeArrowheads="1"/>
          </p:cNvSpPr>
          <p:nvPr/>
        </p:nvSpPr>
        <p:spPr bwMode="auto">
          <a:xfrm>
            <a:off x="6019800" y="4191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0203" name="Rectangle 43"/>
          <p:cNvSpPr>
            <a:spLocks noChangeArrowheads="1"/>
          </p:cNvSpPr>
          <p:nvPr/>
        </p:nvSpPr>
        <p:spPr bwMode="auto">
          <a:xfrm>
            <a:off x="6019800" y="3810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0204" name="Rectangle 44"/>
          <p:cNvSpPr>
            <a:spLocks noChangeArrowheads="1"/>
          </p:cNvSpPr>
          <p:nvPr/>
        </p:nvSpPr>
        <p:spPr bwMode="auto">
          <a:xfrm>
            <a:off x="6019800" y="3429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0205" name="Rectangle 45"/>
          <p:cNvSpPr>
            <a:spLocks noChangeArrowheads="1"/>
          </p:cNvSpPr>
          <p:nvPr/>
        </p:nvSpPr>
        <p:spPr bwMode="auto">
          <a:xfrm>
            <a:off x="5257800" y="3048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206" name="Rectangle 46"/>
          <p:cNvSpPr>
            <a:spLocks noChangeArrowheads="1"/>
          </p:cNvSpPr>
          <p:nvPr/>
        </p:nvSpPr>
        <p:spPr bwMode="auto">
          <a:xfrm>
            <a:off x="6019800" y="3048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207" name="Rectangle 47"/>
          <p:cNvSpPr>
            <a:spLocks noChangeArrowheads="1"/>
          </p:cNvSpPr>
          <p:nvPr/>
        </p:nvSpPr>
        <p:spPr bwMode="auto">
          <a:xfrm>
            <a:off x="6781800" y="3048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208" name="Rectangle 48"/>
          <p:cNvSpPr>
            <a:spLocks noChangeArrowheads="1"/>
          </p:cNvSpPr>
          <p:nvPr/>
        </p:nvSpPr>
        <p:spPr bwMode="auto">
          <a:xfrm>
            <a:off x="7162800" y="3048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209" name="Rectangle 49"/>
          <p:cNvSpPr>
            <a:spLocks noChangeArrowheads="1"/>
          </p:cNvSpPr>
          <p:nvPr/>
        </p:nvSpPr>
        <p:spPr bwMode="auto">
          <a:xfrm>
            <a:off x="7543800" y="4191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0210" name="Rectangle 50"/>
          <p:cNvSpPr>
            <a:spLocks noChangeArrowheads="1"/>
          </p:cNvSpPr>
          <p:nvPr/>
        </p:nvSpPr>
        <p:spPr bwMode="auto">
          <a:xfrm>
            <a:off x="7543800" y="3810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0211" name="Rectangle 51"/>
          <p:cNvSpPr>
            <a:spLocks noChangeArrowheads="1"/>
          </p:cNvSpPr>
          <p:nvPr/>
        </p:nvSpPr>
        <p:spPr bwMode="auto">
          <a:xfrm>
            <a:off x="7543800" y="3429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0212" name="Rectangle 52"/>
          <p:cNvSpPr>
            <a:spLocks noChangeArrowheads="1"/>
          </p:cNvSpPr>
          <p:nvPr/>
        </p:nvSpPr>
        <p:spPr bwMode="auto">
          <a:xfrm>
            <a:off x="7543800" y="3048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213" name="Rectangle 53"/>
          <p:cNvSpPr>
            <a:spLocks noChangeArrowheads="1"/>
          </p:cNvSpPr>
          <p:nvPr/>
        </p:nvSpPr>
        <p:spPr bwMode="auto">
          <a:xfrm>
            <a:off x="5638800" y="4191000"/>
            <a:ext cx="381000" cy="381000"/>
          </a:xfrm>
          <a:prstGeom prst="rect">
            <a:avLst/>
          </a:prstGeom>
          <a:solidFill>
            <a:schemeClr val="bg2"/>
          </a:solidFill>
          <a:ln w="9525">
            <a:solidFill>
              <a:schemeClr val="tx1"/>
            </a:solidFill>
            <a:miter lim="800000"/>
            <a:headEnd/>
            <a:tailEnd/>
          </a:ln>
          <a:effectLst/>
        </p:spPr>
        <p:txBody>
          <a:bodyPr wrap="none" anchor="ctr"/>
          <a:lstStyle/>
          <a:p>
            <a:endParaRPr lang="fi-FI"/>
          </a:p>
        </p:txBody>
      </p:sp>
      <p:sp>
        <p:nvSpPr>
          <p:cNvPr id="220214" name="Rectangle 54"/>
          <p:cNvSpPr>
            <a:spLocks noChangeArrowheads="1"/>
          </p:cNvSpPr>
          <p:nvPr/>
        </p:nvSpPr>
        <p:spPr bwMode="auto">
          <a:xfrm>
            <a:off x="5638800" y="3810000"/>
            <a:ext cx="381000" cy="381000"/>
          </a:xfrm>
          <a:prstGeom prst="rect">
            <a:avLst/>
          </a:prstGeom>
          <a:solidFill>
            <a:schemeClr val="bg2"/>
          </a:solidFill>
          <a:ln w="9525">
            <a:solidFill>
              <a:schemeClr val="tx1"/>
            </a:solidFill>
            <a:miter lim="800000"/>
            <a:headEnd/>
            <a:tailEnd/>
          </a:ln>
          <a:effectLst/>
        </p:spPr>
        <p:txBody>
          <a:bodyPr wrap="none" anchor="ctr"/>
          <a:lstStyle/>
          <a:p>
            <a:endParaRPr lang="fi-FI"/>
          </a:p>
        </p:txBody>
      </p:sp>
      <p:sp>
        <p:nvSpPr>
          <p:cNvPr id="220215" name="Rectangle 55"/>
          <p:cNvSpPr>
            <a:spLocks noChangeArrowheads="1"/>
          </p:cNvSpPr>
          <p:nvPr/>
        </p:nvSpPr>
        <p:spPr bwMode="auto">
          <a:xfrm>
            <a:off x="5638800" y="3429000"/>
            <a:ext cx="381000" cy="381000"/>
          </a:xfrm>
          <a:prstGeom prst="rect">
            <a:avLst/>
          </a:prstGeom>
          <a:solidFill>
            <a:schemeClr val="bg2"/>
          </a:solidFill>
          <a:ln w="9525">
            <a:solidFill>
              <a:schemeClr val="tx1"/>
            </a:solidFill>
            <a:miter lim="800000"/>
            <a:headEnd/>
            <a:tailEnd/>
          </a:ln>
          <a:effectLst/>
        </p:spPr>
        <p:txBody>
          <a:bodyPr wrap="none" anchor="ctr"/>
          <a:lstStyle/>
          <a:p>
            <a:endParaRPr lang="fi-FI"/>
          </a:p>
        </p:txBody>
      </p:sp>
      <p:sp>
        <p:nvSpPr>
          <p:cNvPr id="220216" name="Rectangle 56"/>
          <p:cNvSpPr>
            <a:spLocks noChangeArrowheads="1"/>
          </p:cNvSpPr>
          <p:nvPr/>
        </p:nvSpPr>
        <p:spPr bwMode="auto">
          <a:xfrm>
            <a:off x="5638800" y="3048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0217" name="Rectangle 57"/>
          <p:cNvSpPr>
            <a:spLocks noChangeArrowheads="1"/>
          </p:cNvSpPr>
          <p:nvPr/>
        </p:nvSpPr>
        <p:spPr bwMode="auto">
          <a:xfrm>
            <a:off x="6400800" y="4191000"/>
            <a:ext cx="381000" cy="381000"/>
          </a:xfrm>
          <a:prstGeom prst="rect">
            <a:avLst/>
          </a:prstGeom>
          <a:solidFill>
            <a:schemeClr val="bg2"/>
          </a:solidFill>
          <a:ln w="9525">
            <a:solidFill>
              <a:schemeClr val="tx1"/>
            </a:solidFill>
            <a:miter lim="800000"/>
            <a:headEnd/>
            <a:tailEnd/>
          </a:ln>
          <a:effectLst/>
        </p:spPr>
        <p:txBody>
          <a:bodyPr wrap="none" anchor="ctr"/>
          <a:lstStyle/>
          <a:p>
            <a:endParaRPr lang="fi-FI"/>
          </a:p>
        </p:txBody>
      </p:sp>
      <p:sp>
        <p:nvSpPr>
          <p:cNvPr id="220218" name="Rectangle 58"/>
          <p:cNvSpPr>
            <a:spLocks noChangeArrowheads="1"/>
          </p:cNvSpPr>
          <p:nvPr/>
        </p:nvSpPr>
        <p:spPr bwMode="auto">
          <a:xfrm>
            <a:off x="6400800" y="3810000"/>
            <a:ext cx="381000" cy="381000"/>
          </a:xfrm>
          <a:prstGeom prst="rect">
            <a:avLst/>
          </a:prstGeom>
          <a:solidFill>
            <a:schemeClr val="bg2"/>
          </a:solidFill>
          <a:ln w="9525">
            <a:solidFill>
              <a:schemeClr val="tx1"/>
            </a:solidFill>
            <a:miter lim="800000"/>
            <a:headEnd/>
            <a:tailEnd/>
          </a:ln>
          <a:effectLst/>
        </p:spPr>
        <p:txBody>
          <a:bodyPr wrap="none" anchor="ctr"/>
          <a:lstStyle/>
          <a:p>
            <a:endParaRPr lang="fi-FI"/>
          </a:p>
        </p:txBody>
      </p:sp>
      <p:sp>
        <p:nvSpPr>
          <p:cNvPr id="220219" name="Rectangle 59"/>
          <p:cNvSpPr>
            <a:spLocks noChangeArrowheads="1"/>
          </p:cNvSpPr>
          <p:nvPr/>
        </p:nvSpPr>
        <p:spPr bwMode="auto">
          <a:xfrm>
            <a:off x="6400800" y="3429000"/>
            <a:ext cx="381000" cy="381000"/>
          </a:xfrm>
          <a:prstGeom prst="rect">
            <a:avLst/>
          </a:prstGeom>
          <a:solidFill>
            <a:schemeClr val="bg2"/>
          </a:solidFill>
          <a:ln w="9525">
            <a:solidFill>
              <a:schemeClr val="tx1"/>
            </a:solidFill>
            <a:miter lim="800000"/>
            <a:headEnd/>
            <a:tailEnd/>
          </a:ln>
          <a:effectLst/>
        </p:spPr>
        <p:txBody>
          <a:bodyPr wrap="none" anchor="ctr"/>
          <a:lstStyle/>
          <a:p>
            <a:endParaRPr lang="fi-FI"/>
          </a:p>
        </p:txBody>
      </p:sp>
      <p:sp>
        <p:nvSpPr>
          <p:cNvPr id="220220" name="Rectangle 60"/>
          <p:cNvSpPr>
            <a:spLocks noChangeArrowheads="1"/>
          </p:cNvSpPr>
          <p:nvPr/>
        </p:nvSpPr>
        <p:spPr bwMode="auto">
          <a:xfrm>
            <a:off x="6400800" y="3048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0221" name="Line 61"/>
          <p:cNvSpPr>
            <a:spLocks noChangeShapeType="1"/>
          </p:cNvSpPr>
          <p:nvPr/>
        </p:nvSpPr>
        <p:spPr bwMode="auto">
          <a:xfrm>
            <a:off x="5181600" y="1752600"/>
            <a:ext cx="2819400" cy="0"/>
          </a:xfrm>
          <a:prstGeom prst="line">
            <a:avLst/>
          </a:prstGeom>
          <a:noFill/>
          <a:ln w="9525">
            <a:solidFill>
              <a:schemeClr val="tx1"/>
            </a:solidFill>
            <a:round/>
            <a:headEnd type="triangle" w="med" len="med"/>
            <a:tailEnd type="triangle" w="med" len="med"/>
          </a:ln>
          <a:effectLst/>
        </p:spPr>
        <p:txBody>
          <a:bodyPr wrap="none" anchor="ctr"/>
          <a:lstStyle/>
          <a:p>
            <a:endParaRPr lang="fi-FI"/>
          </a:p>
        </p:txBody>
      </p:sp>
      <p:sp>
        <p:nvSpPr>
          <p:cNvPr id="220222" name="Line 62"/>
          <p:cNvSpPr>
            <a:spLocks noChangeShapeType="1"/>
          </p:cNvSpPr>
          <p:nvPr/>
        </p:nvSpPr>
        <p:spPr bwMode="auto">
          <a:xfrm>
            <a:off x="1447800" y="2133600"/>
            <a:ext cx="6553200" cy="0"/>
          </a:xfrm>
          <a:prstGeom prst="line">
            <a:avLst/>
          </a:prstGeom>
          <a:noFill/>
          <a:ln w="9525">
            <a:solidFill>
              <a:schemeClr val="tx1"/>
            </a:solidFill>
            <a:round/>
            <a:headEnd type="triangle" w="med" len="med"/>
            <a:tailEnd type="triangle" w="med" len="med"/>
          </a:ln>
          <a:effectLst/>
        </p:spPr>
        <p:txBody>
          <a:bodyPr wrap="none" anchor="ctr"/>
          <a:lstStyle/>
          <a:p>
            <a:endParaRPr lang="fi-FI"/>
          </a:p>
        </p:txBody>
      </p:sp>
      <p:sp>
        <p:nvSpPr>
          <p:cNvPr id="220223" name="Text Box 63"/>
          <p:cNvSpPr txBox="1">
            <a:spLocks noChangeArrowheads="1"/>
          </p:cNvSpPr>
          <p:nvPr/>
        </p:nvSpPr>
        <p:spPr bwMode="auto">
          <a:xfrm>
            <a:off x="4724400" y="1905000"/>
            <a:ext cx="1752600" cy="304800"/>
          </a:xfrm>
          <a:prstGeom prst="rect">
            <a:avLst/>
          </a:prstGeom>
          <a:noFill/>
          <a:ln w="9525">
            <a:noFill/>
            <a:miter lim="800000"/>
            <a:headEnd/>
            <a:tailEnd/>
          </a:ln>
          <a:effectLst/>
        </p:spPr>
        <p:txBody>
          <a:bodyPr>
            <a:spAutoFit/>
          </a:bodyPr>
          <a:lstStyle/>
          <a:p>
            <a:pPr algn="l" eaLnBrk="0" hangingPunct="0">
              <a:spcBef>
                <a:spcPct val="50000"/>
              </a:spcBef>
            </a:pPr>
            <a:r>
              <a:rPr lang="fi-FI" sz="1400" b="1"/>
              <a:t>läpimenoaika</a:t>
            </a:r>
            <a:endParaRPr lang="fi-FI" sz="2000"/>
          </a:p>
        </p:txBody>
      </p:sp>
      <p:sp>
        <p:nvSpPr>
          <p:cNvPr id="220224" name="Text Box 64"/>
          <p:cNvSpPr txBox="1">
            <a:spLocks noChangeArrowheads="1"/>
          </p:cNvSpPr>
          <p:nvPr/>
        </p:nvSpPr>
        <p:spPr bwMode="auto">
          <a:xfrm>
            <a:off x="5486400" y="1295400"/>
            <a:ext cx="2438400" cy="517525"/>
          </a:xfrm>
          <a:prstGeom prst="rect">
            <a:avLst/>
          </a:prstGeom>
          <a:noFill/>
          <a:ln w="9525">
            <a:noFill/>
            <a:miter lim="800000"/>
            <a:headEnd/>
            <a:tailEnd/>
          </a:ln>
          <a:effectLst/>
        </p:spPr>
        <p:txBody>
          <a:bodyPr>
            <a:spAutoFit/>
          </a:bodyPr>
          <a:lstStyle/>
          <a:p>
            <a:pPr algn="l" eaLnBrk="0" hangingPunct="0">
              <a:spcBef>
                <a:spcPct val="50000"/>
              </a:spcBef>
            </a:pPr>
            <a:r>
              <a:rPr lang="fi-FI" sz="1400" b="1"/>
              <a:t>Järjestelmätestauksen läpimenoaika</a:t>
            </a:r>
            <a:endParaRPr lang="fi-FI" sz="2000"/>
          </a:p>
        </p:txBody>
      </p:sp>
      <p:sp>
        <p:nvSpPr>
          <p:cNvPr id="220225" name="Rectangle 65"/>
          <p:cNvSpPr>
            <a:spLocks noChangeArrowheads="1"/>
          </p:cNvSpPr>
          <p:nvPr/>
        </p:nvSpPr>
        <p:spPr bwMode="auto">
          <a:xfrm>
            <a:off x="838200" y="5105400"/>
            <a:ext cx="381000" cy="381000"/>
          </a:xfrm>
          <a:prstGeom prst="rect">
            <a:avLst/>
          </a:prstGeom>
          <a:solidFill>
            <a:schemeClr val="hlink"/>
          </a:solidFill>
          <a:ln w="9525">
            <a:solidFill>
              <a:schemeClr val="tx1"/>
            </a:solidFill>
            <a:miter lim="800000"/>
            <a:headEnd/>
            <a:tailEnd/>
          </a:ln>
          <a:effectLst/>
        </p:spPr>
        <p:txBody>
          <a:bodyPr wrap="none" anchor="ctr"/>
          <a:lstStyle/>
          <a:p>
            <a:endParaRPr lang="fi-FI"/>
          </a:p>
        </p:txBody>
      </p:sp>
      <p:sp>
        <p:nvSpPr>
          <p:cNvPr id="220226" name="Text Box 66"/>
          <p:cNvSpPr txBox="1">
            <a:spLocks noChangeArrowheads="1"/>
          </p:cNvSpPr>
          <p:nvPr/>
        </p:nvSpPr>
        <p:spPr bwMode="auto">
          <a:xfrm>
            <a:off x="1295400" y="5105400"/>
            <a:ext cx="2667000" cy="304800"/>
          </a:xfrm>
          <a:prstGeom prst="rect">
            <a:avLst/>
          </a:prstGeom>
          <a:noFill/>
          <a:ln w="9525">
            <a:noFill/>
            <a:miter lim="800000"/>
            <a:headEnd/>
            <a:tailEnd/>
          </a:ln>
          <a:effectLst/>
        </p:spPr>
        <p:txBody>
          <a:bodyPr>
            <a:spAutoFit/>
          </a:bodyPr>
          <a:lstStyle/>
          <a:p>
            <a:pPr algn="l" eaLnBrk="0" hangingPunct="0">
              <a:spcBef>
                <a:spcPct val="50000"/>
              </a:spcBef>
            </a:pPr>
            <a:r>
              <a:rPr lang="fi-FI" sz="1400"/>
              <a:t>Asiakkaan tehtävät (määrittely)</a:t>
            </a:r>
            <a:endParaRPr lang="fi-FI" sz="2000"/>
          </a:p>
        </p:txBody>
      </p:sp>
      <p:sp>
        <p:nvSpPr>
          <p:cNvPr id="220227" name="Rectangle 67"/>
          <p:cNvSpPr>
            <a:spLocks noChangeArrowheads="1"/>
          </p:cNvSpPr>
          <p:nvPr/>
        </p:nvSpPr>
        <p:spPr bwMode="auto">
          <a:xfrm>
            <a:off x="838200" y="55626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228" name="Rectangle 68"/>
          <p:cNvSpPr>
            <a:spLocks noChangeArrowheads="1"/>
          </p:cNvSpPr>
          <p:nvPr/>
        </p:nvSpPr>
        <p:spPr bwMode="auto">
          <a:xfrm>
            <a:off x="4114800" y="51054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0229" name="Rectangle 69"/>
          <p:cNvSpPr>
            <a:spLocks noChangeArrowheads="1"/>
          </p:cNvSpPr>
          <p:nvPr/>
        </p:nvSpPr>
        <p:spPr bwMode="auto">
          <a:xfrm>
            <a:off x="4114800" y="5562600"/>
            <a:ext cx="381000" cy="381000"/>
          </a:xfrm>
          <a:prstGeom prst="rect">
            <a:avLst/>
          </a:prstGeom>
          <a:solidFill>
            <a:schemeClr val="bg2"/>
          </a:solidFill>
          <a:ln w="9525">
            <a:solidFill>
              <a:schemeClr val="tx1"/>
            </a:solidFill>
            <a:miter lim="800000"/>
            <a:headEnd/>
            <a:tailEnd/>
          </a:ln>
          <a:effectLst/>
        </p:spPr>
        <p:txBody>
          <a:bodyPr wrap="none" anchor="ctr"/>
          <a:lstStyle/>
          <a:p>
            <a:endParaRPr lang="fi-FI"/>
          </a:p>
        </p:txBody>
      </p:sp>
      <p:sp>
        <p:nvSpPr>
          <p:cNvPr id="220230" name="Text Box 70"/>
          <p:cNvSpPr txBox="1">
            <a:spLocks noChangeArrowheads="1"/>
          </p:cNvSpPr>
          <p:nvPr/>
        </p:nvSpPr>
        <p:spPr bwMode="auto">
          <a:xfrm>
            <a:off x="1295400" y="5486400"/>
            <a:ext cx="2819400" cy="517525"/>
          </a:xfrm>
          <a:prstGeom prst="rect">
            <a:avLst/>
          </a:prstGeom>
          <a:noFill/>
          <a:ln w="9525">
            <a:noFill/>
            <a:miter lim="800000"/>
            <a:headEnd/>
            <a:tailEnd/>
          </a:ln>
          <a:effectLst/>
        </p:spPr>
        <p:txBody>
          <a:bodyPr>
            <a:spAutoFit/>
          </a:bodyPr>
          <a:lstStyle/>
          <a:p>
            <a:pPr algn="l" eaLnBrk="0" hangingPunct="0">
              <a:spcBef>
                <a:spcPct val="50000"/>
              </a:spcBef>
            </a:pPr>
            <a:r>
              <a:rPr lang="fi-FI" sz="1400"/>
              <a:t>Suunnittelijan tehtävät (toteutus, testaus, normaali virheenkorjaus)</a:t>
            </a:r>
            <a:endParaRPr lang="fi-FI" sz="2000"/>
          </a:p>
        </p:txBody>
      </p:sp>
      <p:sp>
        <p:nvSpPr>
          <p:cNvPr id="220231" name="Text Box 71"/>
          <p:cNvSpPr txBox="1">
            <a:spLocks noChangeArrowheads="1"/>
          </p:cNvSpPr>
          <p:nvPr/>
        </p:nvSpPr>
        <p:spPr bwMode="auto">
          <a:xfrm>
            <a:off x="4495800" y="5105400"/>
            <a:ext cx="3048000" cy="304800"/>
          </a:xfrm>
          <a:prstGeom prst="rect">
            <a:avLst/>
          </a:prstGeom>
          <a:noFill/>
          <a:ln w="9525">
            <a:noFill/>
            <a:miter lim="800000"/>
            <a:headEnd/>
            <a:tailEnd/>
          </a:ln>
          <a:effectLst/>
        </p:spPr>
        <p:txBody>
          <a:bodyPr>
            <a:spAutoFit/>
          </a:bodyPr>
          <a:lstStyle/>
          <a:p>
            <a:pPr algn="l" eaLnBrk="0" hangingPunct="0">
              <a:spcBef>
                <a:spcPct val="50000"/>
              </a:spcBef>
            </a:pPr>
            <a:r>
              <a:rPr lang="fi-FI" sz="1400"/>
              <a:t>Järjestelmätestausryhmän tehtävät</a:t>
            </a:r>
            <a:endParaRPr lang="fi-FI" sz="2000"/>
          </a:p>
        </p:txBody>
      </p:sp>
      <p:sp>
        <p:nvSpPr>
          <p:cNvPr id="220232" name="Text Box 72"/>
          <p:cNvSpPr txBox="1">
            <a:spLocks noChangeArrowheads="1"/>
          </p:cNvSpPr>
          <p:nvPr/>
        </p:nvSpPr>
        <p:spPr bwMode="auto">
          <a:xfrm>
            <a:off x="4572000" y="5486400"/>
            <a:ext cx="3657600" cy="517525"/>
          </a:xfrm>
          <a:prstGeom prst="rect">
            <a:avLst/>
          </a:prstGeom>
          <a:noFill/>
          <a:ln w="9525">
            <a:noFill/>
            <a:miter lim="800000"/>
            <a:headEnd/>
            <a:tailEnd/>
          </a:ln>
          <a:effectLst/>
        </p:spPr>
        <p:txBody>
          <a:bodyPr>
            <a:spAutoFit/>
          </a:bodyPr>
          <a:lstStyle/>
          <a:p>
            <a:pPr algn="l" eaLnBrk="0" hangingPunct="0">
              <a:spcBef>
                <a:spcPct val="50000"/>
              </a:spcBef>
            </a:pPr>
            <a:r>
              <a:rPr lang="fi-FI" sz="1400"/>
              <a:t>Suunnittelijan ylimääräiset tehtävät (korjaukset/täydentäminen)</a:t>
            </a:r>
            <a:endParaRPr lang="fi-FI" sz="2000"/>
          </a:p>
        </p:txBody>
      </p:sp>
      <p:sp>
        <p:nvSpPr>
          <p:cNvPr id="74" name="Slide Number Placeholder 73"/>
          <p:cNvSpPr>
            <a:spLocks noGrp="1"/>
          </p:cNvSpPr>
          <p:nvPr>
            <p:ph type="sldNum" sz="quarter" idx="12"/>
          </p:nvPr>
        </p:nvSpPr>
        <p:spPr/>
        <p:txBody>
          <a:bodyPr/>
          <a:lstStyle/>
          <a:p>
            <a:fld id="{7A750B4A-325E-4AA4-BC07-A8C35B32A4F3}" type="slidenum">
              <a:rPr lang="fi-FI" smtClean="0"/>
              <a:pPr/>
              <a:t>116</a:t>
            </a:fld>
            <a:endParaRPr lang="fi-FI"/>
          </a:p>
        </p:txBody>
      </p:sp>
    </p:spTree>
  </p:cSld>
  <p:clrMapOvr>
    <a:masterClrMapping/>
  </p:clrMapOvr>
  <p:timing>
    <p:tnLst>
      <p:par>
        <p:cTn xmlns:p14="http://schemas.microsoft.com/office/powerpoint/2010/mai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p:cNvSpPr>
            <a:spLocks noGrp="1" noChangeArrowheads="1"/>
          </p:cNvSpPr>
          <p:nvPr>
            <p:ph type="title"/>
          </p:nvPr>
        </p:nvSpPr>
        <p:spPr/>
        <p:txBody>
          <a:bodyPr>
            <a:normAutofit fontScale="90000"/>
          </a:bodyPr>
          <a:lstStyle/>
          <a:p>
            <a:r>
              <a:rPr lang="fi-FI"/>
              <a:t>Vaihtoehtoinen toivetila resurssoinnissa</a:t>
            </a:r>
          </a:p>
        </p:txBody>
      </p:sp>
      <p:sp>
        <p:nvSpPr>
          <p:cNvPr id="221187" name="Line 3"/>
          <p:cNvSpPr>
            <a:spLocks noChangeShapeType="1"/>
          </p:cNvSpPr>
          <p:nvPr/>
        </p:nvSpPr>
        <p:spPr bwMode="auto">
          <a:xfrm>
            <a:off x="1447800" y="4572000"/>
            <a:ext cx="6477000" cy="0"/>
          </a:xfrm>
          <a:prstGeom prst="line">
            <a:avLst/>
          </a:prstGeom>
          <a:noFill/>
          <a:ln w="9525">
            <a:solidFill>
              <a:schemeClr val="tx1"/>
            </a:solidFill>
            <a:round/>
            <a:headEnd/>
            <a:tailEnd type="triangle" w="med" len="med"/>
          </a:ln>
          <a:effectLst/>
        </p:spPr>
        <p:txBody>
          <a:bodyPr wrap="none" anchor="ctr"/>
          <a:lstStyle/>
          <a:p>
            <a:endParaRPr lang="fi-FI"/>
          </a:p>
        </p:txBody>
      </p:sp>
      <p:sp>
        <p:nvSpPr>
          <p:cNvPr id="221188" name="Line 4"/>
          <p:cNvSpPr>
            <a:spLocks noChangeShapeType="1"/>
          </p:cNvSpPr>
          <p:nvPr/>
        </p:nvSpPr>
        <p:spPr bwMode="auto">
          <a:xfrm flipV="1">
            <a:off x="1447800" y="1600200"/>
            <a:ext cx="0" cy="2971800"/>
          </a:xfrm>
          <a:prstGeom prst="line">
            <a:avLst/>
          </a:prstGeom>
          <a:noFill/>
          <a:ln w="9525">
            <a:solidFill>
              <a:schemeClr val="tx1"/>
            </a:solidFill>
            <a:round/>
            <a:headEnd/>
            <a:tailEnd type="triangle" w="med" len="med"/>
          </a:ln>
          <a:effectLst/>
        </p:spPr>
        <p:txBody>
          <a:bodyPr wrap="none" anchor="ctr"/>
          <a:lstStyle/>
          <a:p>
            <a:endParaRPr lang="fi-FI"/>
          </a:p>
        </p:txBody>
      </p:sp>
      <p:sp>
        <p:nvSpPr>
          <p:cNvPr id="221189" name="Rectangle 5"/>
          <p:cNvSpPr>
            <a:spLocks noChangeArrowheads="1"/>
          </p:cNvSpPr>
          <p:nvPr/>
        </p:nvSpPr>
        <p:spPr bwMode="auto">
          <a:xfrm>
            <a:off x="1447800" y="4191000"/>
            <a:ext cx="381000" cy="381000"/>
          </a:xfrm>
          <a:prstGeom prst="rect">
            <a:avLst/>
          </a:prstGeom>
          <a:solidFill>
            <a:schemeClr val="hlink"/>
          </a:solidFill>
          <a:ln w="9525">
            <a:solidFill>
              <a:schemeClr val="tx1"/>
            </a:solidFill>
            <a:miter lim="800000"/>
            <a:headEnd/>
            <a:tailEnd/>
          </a:ln>
          <a:effectLst/>
        </p:spPr>
        <p:txBody>
          <a:bodyPr wrap="none" anchor="ctr"/>
          <a:lstStyle/>
          <a:p>
            <a:endParaRPr lang="fi-FI"/>
          </a:p>
        </p:txBody>
      </p:sp>
      <p:sp>
        <p:nvSpPr>
          <p:cNvPr id="221190" name="Rectangle 6"/>
          <p:cNvSpPr>
            <a:spLocks noChangeArrowheads="1"/>
          </p:cNvSpPr>
          <p:nvPr/>
        </p:nvSpPr>
        <p:spPr bwMode="auto">
          <a:xfrm>
            <a:off x="1828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191" name="Text Box 7"/>
          <p:cNvSpPr txBox="1">
            <a:spLocks noChangeArrowheads="1"/>
          </p:cNvSpPr>
          <p:nvPr/>
        </p:nvSpPr>
        <p:spPr bwMode="auto">
          <a:xfrm>
            <a:off x="152400" y="1889125"/>
            <a:ext cx="1295400" cy="396875"/>
          </a:xfrm>
          <a:prstGeom prst="rect">
            <a:avLst/>
          </a:prstGeom>
          <a:noFill/>
          <a:ln w="9525">
            <a:noFill/>
            <a:miter lim="800000"/>
            <a:headEnd/>
            <a:tailEnd/>
          </a:ln>
          <a:effectLst/>
        </p:spPr>
        <p:txBody>
          <a:bodyPr>
            <a:spAutoFit/>
          </a:bodyPr>
          <a:lstStyle/>
          <a:p>
            <a:pPr algn="l" eaLnBrk="0" hangingPunct="0">
              <a:spcBef>
                <a:spcPct val="50000"/>
              </a:spcBef>
            </a:pPr>
            <a:r>
              <a:rPr lang="fi-FI" sz="2000"/>
              <a:t>työmäärä</a:t>
            </a:r>
          </a:p>
        </p:txBody>
      </p:sp>
      <p:sp>
        <p:nvSpPr>
          <p:cNvPr id="221192" name="Text Box 8"/>
          <p:cNvSpPr txBox="1">
            <a:spLocks noChangeArrowheads="1"/>
          </p:cNvSpPr>
          <p:nvPr/>
        </p:nvSpPr>
        <p:spPr bwMode="auto">
          <a:xfrm>
            <a:off x="7239000" y="4556125"/>
            <a:ext cx="1219200" cy="396875"/>
          </a:xfrm>
          <a:prstGeom prst="rect">
            <a:avLst/>
          </a:prstGeom>
          <a:noFill/>
          <a:ln w="9525">
            <a:noFill/>
            <a:miter lim="800000"/>
            <a:headEnd/>
            <a:tailEnd/>
          </a:ln>
          <a:effectLst/>
        </p:spPr>
        <p:txBody>
          <a:bodyPr>
            <a:spAutoFit/>
          </a:bodyPr>
          <a:lstStyle/>
          <a:p>
            <a:pPr algn="l" eaLnBrk="0" hangingPunct="0">
              <a:spcBef>
                <a:spcPct val="50000"/>
              </a:spcBef>
            </a:pPr>
            <a:r>
              <a:rPr lang="fi-FI" sz="2000"/>
              <a:t>aika</a:t>
            </a:r>
          </a:p>
        </p:txBody>
      </p:sp>
      <p:sp>
        <p:nvSpPr>
          <p:cNvPr id="221193" name="Rectangle 9"/>
          <p:cNvSpPr>
            <a:spLocks noChangeArrowheads="1"/>
          </p:cNvSpPr>
          <p:nvPr/>
        </p:nvSpPr>
        <p:spPr bwMode="auto">
          <a:xfrm>
            <a:off x="2209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194" name="Rectangle 10"/>
          <p:cNvSpPr>
            <a:spLocks noChangeArrowheads="1"/>
          </p:cNvSpPr>
          <p:nvPr/>
        </p:nvSpPr>
        <p:spPr bwMode="auto">
          <a:xfrm>
            <a:off x="2209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195" name="Rectangle 11"/>
          <p:cNvSpPr>
            <a:spLocks noChangeArrowheads="1"/>
          </p:cNvSpPr>
          <p:nvPr/>
        </p:nvSpPr>
        <p:spPr bwMode="auto">
          <a:xfrm>
            <a:off x="2209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196" name="Rectangle 12"/>
          <p:cNvSpPr>
            <a:spLocks noChangeArrowheads="1"/>
          </p:cNvSpPr>
          <p:nvPr/>
        </p:nvSpPr>
        <p:spPr bwMode="auto">
          <a:xfrm>
            <a:off x="2590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197" name="Rectangle 13"/>
          <p:cNvSpPr>
            <a:spLocks noChangeArrowheads="1"/>
          </p:cNvSpPr>
          <p:nvPr/>
        </p:nvSpPr>
        <p:spPr bwMode="auto">
          <a:xfrm>
            <a:off x="2590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198" name="Rectangle 14"/>
          <p:cNvSpPr>
            <a:spLocks noChangeArrowheads="1"/>
          </p:cNvSpPr>
          <p:nvPr/>
        </p:nvSpPr>
        <p:spPr bwMode="auto">
          <a:xfrm>
            <a:off x="2590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199" name="Rectangle 15"/>
          <p:cNvSpPr>
            <a:spLocks noChangeArrowheads="1"/>
          </p:cNvSpPr>
          <p:nvPr/>
        </p:nvSpPr>
        <p:spPr bwMode="auto">
          <a:xfrm>
            <a:off x="2971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00" name="Rectangle 16"/>
          <p:cNvSpPr>
            <a:spLocks noChangeArrowheads="1"/>
          </p:cNvSpPr>
          <p:nvPr/>
        </p:nvSpPr>
        <p:spPr bwMode="auto">
          <a:xfrm>
            <a:off x="2971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01" name="Rectangle 17"/>
          <p:cNvSpPr>
            <a:spLocks noChangeArrowheads="1"/>
          </p:cNvSpPr>
          <p:nvPr/>
        </p:nvSpPr>
        <p:spPr bwMode="auto">
          <a:xfrm>
            <a:off x="2971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02" name="Rectangle 18"/>
          <p:cNvSpPr>
            <a:spLocks noChangeArrowheads="1"/>
          </p:cNvSpPr>
          <p:nvPr/>
        </p:nvSpPr>
        <p:spPr bwMode="auto">
          <a:xfrm>
            <a:off x="3352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03" name="Rectangle 19"/>
          <p:cNvSpPr>
            <a:spLocks noChangeArrowheads="1"/>
          </p:cNvSpPr>
          <p:nvPr/>
        </p:nvSpPr>
        <p:spPr bwMode="auto">
          <a:xfrm>
            <a:off x="3352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04" name="Rectangle 20"/>
          <p:cNvSpPr>
            <a:spLocks noChangeArrowheads="1"/>
          </p:cNvSpPr>
          <p:nvPr/>
        </p:nvSpPr>
        <p:spPr bwMode="auto">
          <a:xfrm>
            <a:off x="3352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05" name="Rectangle 21"/>
          <p:cNvSpPr>
            <a:spLocks noChangeArrowheads="1"/>
          </p:cNvSpPr>
          <p:nvPr/>
        </p:nvSpPr>
        <p:spPr bwMode="auto">
          <a:xfrm>
            <a:off x="3733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06" name="Rectangle 22"/>
          <p:cNvSpPr>
            <a:spLocks noChangeArrowheads="1"/>
          </p:cNvSpPr>
          <p:nvPr/>
        </p:nvSpPr>
        <p:spPr bwMode="auto">
          <a:xfrm>
            <a:off x="3733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07" name="Rectangle 23"/>
          <p:cNvSpPr>
            <a:spLocks noChangeArrowheads="1"/>
          </p:cNvSpPr>
          <p:nvPr/>
        </p:nvSpPr>
        <p:spPr bwMode="auto">
          <a:xfrm>
            <a:off x="3733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08" name="Rectangle 24"/>
          <p:cNvSpPr>
            <a:spLocks noChangeArrowheads="1"/>
          </p:cNvSpPr>
          <p:nvPr/>
        </p:nvSpPr>
        <p:spPr bwMode="auto">
          <a:xfrm>
            <a:off x="4114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09" name="Rectangle 25"/>
          <p:cNvSpPr>
            <a:spLocks noChangeArrowheads="1"/>
          </p:cNvSpPr>
          <p:nvPr/>
        </p:nvSpPr>
        <p:spPr bwMode="auto">
          <a:xfrm>
            <a:off x="4114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10" name="Rectangle 26"/>
          <p:cNvSpPr>
            <a:spLocks noChangeArrowheads="1"/>
          </p:cNvSpPr>
          <p:nvPr/>
        </p:nvSpPr>
        <p:spPr bwMode="auto">
          <a:xfrm>
            <a:off x="4114800" y="3048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11" name="Rectangle 27"/>
          <p:cNvSpPr>
            <a:spLocks noChangeArrowheads="1"/>
          </p:cNvSpPr>
          <p:nvPr/>
        </p:nvSpPr>
        <p:spPr bwMode="auto">
          <a:xfrm>
            <a:off x="4495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12" name="Rectangle 28"/>
          <p:cNvSpPr>
            <a:spLocks noChangeArrowheads="1"/>
          </p:cNvSpPr>
          <p:nvPr/>
        </p:nvSpPr>
        <p:spPr bwMode="auto">
          <a:xfrm>
            <a:off x="4495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13" name="Rectangle 29"/>
          <p:cNvSpPr>
            <a:spLocks noChangeArrowheads="1"/>
          </p:cNvSpPr>
          <p:nvPr/>
        </p:nvSpPr>
        <p:spPr bwMode="auto">
          <a:xfrm>
            <a:off x="4495800" y="3048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14" name="Rectangle 30"/>
          <p:cNvSpPr>
            <a:spLocks noChangeArrowheads="1"/>
          </p:cNvSpPr>
          <p:nvPr/>
        </p:nvSpPr>
        <p:spPr bwMode="auto">
          <a:xfrm>
            <a:off x="4876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15" name="Rectangle 31"/>
          <p:cNvSpPr>
            <a:spLocks noChangeArrowheads="1"/>
          </p:cNvSpPr>
          <p:nvPr/>
        </p:nvSpPr>
        <p:spPr bwMode="auto">
          <a:xfrm>
            <a:off x="4876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16" name="Rectangle 32"/>
          <p:cNvSpPr>
            <a:spLocks noChangeArrowheads="1"/>
          </p:cNvSpPr>
          <p:nvPr/>
        </p:nvSpPr>
        <p:spPr bwMode="auto">
          <a:xfrm>
            <a:off x="4114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17" name="Rectangle 33"/>
          <p:cNvSpPr>
            <a:spLocks noChangeArrowheads="1"/>
          </p:cNvSpPr>
          <p:nvPr/>
        </p:nvSpPr>
        <p:spPr bwMode="auto">
          <a:xfrm>
            <a:off x="4495800" y="2667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1218" name="Rectangle 34"/>
          <p:cNvSpPr>
            <a:spLocks noChangeArrowheads="1"/>
          </p:cNvSpPr>
          <p:nvPr/>
        </p:nvSpPr>
        <p:spPr bwMode="auto">
          <a:xfrm>
            <a:off x="4114800" y="2667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1219" name="Rectangle 35"/>
          <p:cNvSpPr>
            <a:spLocks noChangeArrowheads="1"/>
          </p:cNvSpPr>
          <p:nvPr/>
        </p:nvSpPr>
        <p:spPr bwMode="auto">
          <a:xfrm>
            <a:off x="4876800" y="3048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1220" name="Rectangle 36"/>
          <p:cNvSpPr>
            <a:spLocks noChangeArrowheads="1"/>
          </p:cNvSpPr>
          <p:nvPr/>
        </p:nvSpPr>
        <p:spPr bwMode="auto">
          <a:xfrm>
            <a:off x="6019800" y="4191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1221" name="Rectangle 37"/>
          <p:cNvSpPr>
            <a:spLocks noChangeArrowheads="1"/>
          </p:cNvSpPr>
          <p:nvPr/>
        </p:nvSpPr>
        <p:spPr bwMode="auto">
          <a:xfrm>
            <a:off x="5638800" y="3810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1222" name="Rectangle 38"/>
          <p:cNvSpPr>
            <a:spLocks noChangeArrowheads="1"/>
          </p:cNvSpPr>
          <p:nvPr/>
        </p:nvSpPr>
        <p:spPr bwMode="auto">
          <a:xfrm>
            <a:off x="5638800" y="3429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1223" name="Rectangle 39"/>
          <p:cNvSpPr>
            <a:spLocks noChangeArrowheads="1"/>
          </p:cNvSpPr>
          <p:nvPr/>
        </p:nvSpPr>
        <p:spPr bwMode="auto">
          <a:xfrm>
            <a:off x="5638800" y="4191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1224" name="Rectangle 40"/>
          <p:cNvSpPr>
            <a:spLocks noChangeArrowheads="1"/>
          </p:cNvSpPr>
          <p:nvPr/>
        </p:nvSpPr>
        <p:spPr bwMode="auto">
          <a:xfrm>
            <a:off x="5257800" y="3810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1225" name="Rectangle 41"/>
          <p:cNvSpPr>
            <a:spLocks noChangeArrowheads="1"/>
          </p:cNvSpPr>
          <p:nvPr/>
        </p:nvSpPr>
        <p:spPr bwMode="auto">
          <a:xfrm>
            <a:off x="5257800" y="3429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1226" name="Rectangle 42"/>
          <p:cNvSpPr>
            <a:spLocks noChangeArrowheads="1"/>
          </p:cNvSpPr>
          <p:nvPr/>
        </p:nvSpPr>
        <p:spPr bwMode="auto">
          <a:xfrm>
            <a:off x="5257800" y="4191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1227" name="Rectangle 43"/>
          <p:cNvSpPr>
            <a:spLocks noChangeArrowheads="1"/>
          </p:cNvSpPr>
          <p:nvPr/>
        </p:nvSpPr>
        <p:spPr bwMode="auto">
          <a:xfrm>
            <a:off x="4876800" y="2286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1228" name="Rectangle 44"/>
          <p:cNvSpPr>
            <a:spLocks noChangeArrowheads="1"/>
          </p:cNvSpPr>
          <p:nvPr/>
        </p:nvSpPr>
        <p:spPr bwMode="auto">
          <a:xfrm>
            <a:off x="4876800" y="2667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1229" name="Rectangle 45"/>
          <p:cNvSpPr>
            <a:spLocks noChangeArrowheads="1"/>
          </p:cNvSpPr>
          <p:nvPr/>
        </p:nvSpPr>
        <p:spPr bwMode="auto">
          <a:xfrm>
            <a:off x="4495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30" name="Rectangle 46"/>
          <p:cNvSpPr>
            <a:spLocks noChangeArrowheads="1"/>
          </p:cNvSpPr>
          <p:nvPr/>
        </p:nvSpPr>
        <p:spPr bwMode="auto">
          <a:xfrm>
            <a:off x="4876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31" name="Rectangle 47"/>
          <p:cNvSpPr>
            <a:spLocks noChangeArrowheads="1"/>
          </p:cNvSpPr>
          <p:nvPr/>
        </p:nvSpPr>
        <p:spPr bwMode="auto">
          <a:xfrm>
            <a:off x="5257800" y="3048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32" name="Rectangle 48"/>
          <p:cNvSpPr>
            <a:spLocks noChangeArrowheads="1"/>
          </p:cNvSpPr>
          <p:nvPr/>
        </p:nvSpPr>
        <p:spPr bwMode="auto">
          <a:xfrm>
            <a:off x="5638800" y="3048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33" name="Rectangle 49"/>
          <p:cNvSpPr>
            <a:spLocks noChangeArrowheads="1"/>
          </p:cNvSpPr>
          <p:nvPr/>
        </p:nvSpPr>
        <p:spPr bwMode="auto">
          <a:xfrm>
            <a:off x="6400800" y="4191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1234" name="Rectangle 50"/>
          <p:cNvSpPr>
            <a:spLocks noChangeArrowheads="1"/>
          </p:cNvSpPr>
          <p:nvPr/>
        </p:nvSpPr>
        <p:spPr bwMode="auto">
          <a:xfrm>
            <a:off x="6019800" y="3810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1235" name="Rectangle 51"/>
          <p:cNvSpPr>
            <a:spLocks noChangeArrowheads="1"/>
          </p:cNvSpPr>
          <p:nvPr/>
        </p:nvSpPr>
        <p:spPr bwMode="auto">
          <a:xfrm>
            <a:off x="6019800" y="3429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1236" name="Rectangle 52"/>
          <p:cNvSpPr>
            <a:spLocks noChangeArrowheads="1"/>
          </p:cNvSpPr>
          <p:nvPr/>
        </p:nvSpPr>
        <p:spPr bwMode="auto">
          <a:xfrm>
            <a:off x="6019800" y="3048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37" name="Line 53"/>
          <p:cNvSpPr>
            <a:spLocks noChangeShapeType="1"/>
          </p:cNvSpPr>
          <p:nvPr/>
        </p:nvSpPr>
        <p:spPr bwMode="auto">
          <a:xfrm>
            <a:off x="4114800" y="1752600"/>
            <a:ext cx="2743200" cy="0"/>
          </a:xfrm>
          <a:prstGeom prst="line">
            <a:avLst/>
          </a:prstGeom>
          <a:noFill/>
          <a:ln w="9525">
            <a:solidFill>
              <a:schemeClr val="tx1"/>
            </a:solidFill>
            <a:round/>
            <a:headEnd type="triangle" w="med" len="med"/>
            <a:tailEnd type="triangle" w="med" len="med"/>
          </a:ln>
          <a:effectLst/>
        </p:spPr>
        <p:txBody>
          <a:bodyPr wrap="none" anchor="ctr"/>
          <a:lstStyle/>
          <a:p>
            <a:endParaRPr lang="fi-FI"/>
          </a:p>
        </p:txBody>
      </p:sp>
      <p:sp>
        <p:nvSpPr>
          <p:cNvPr id="221238" name="Line 54"/>
          <p:cNvSpPr>
            <a:spLocks noChangeShapeType="1"/>
          </p:cNvSpPr>
          <p:nvPr/>
        </p:nvSpPr>
        <p:spPr bwMode="auto">
          <a:xfrm>
            <a:off x="1447800" y="2133600"/>
            <a:ext cx="5410200" cy="0"/>
          </a:xfrm>
          <a:prstGeom prst="line">
            <a:avLst/>
          </a:prstGeom>
          <a:noFill/>
          <a:ln w="9525">
            <a:solidFill>
              <a:schemeClr val="tx1"/>
            </a:solidFill>
            <a:round/>
            <a:headEnd type="triangle" w="med" len="med"/>
            <a:tailEnd type="triangle" w="med" len="med"/>
          </a:ln>
          <a:effectLst/>
        </p:spPr>
        <p:txBody>
          <a:bodyPr wrap="none" anchor="ctr"/>
          <a:lstStyle/>
          <a:p>
            <a:endParaRPr lang="fi-FI"/>
          </a:p>
        </p:txBody>
      </p:sp>
      <p:sp>
        <p:nvSpPr>
          <p:cNvPr id="221239" name="Text Box 55"/>
          <p:cNvSpPr txBox="1">
            <a:spLocks noChangeArrowheads="1"/>
          </p:cNvSpPr>
          <p:nvPr/>
        </p:nvSpPr>
        <p:spPr bwMode="auto">
          <a:xfrm>
            <a:off x="4724400" y="1905000"/>
            <a:ext cx="1752600" cy="304800"/>
          </a:xfrm>
          <a:prstGeom prst="rect">
            <a:avLst/>
          </a:prstGeom>
          <a:noFill/>
          <a:ln w="9525">
            <a:noFill/>
            <a:miter lim="800000"/>
            <a:headEnd/>
            <a:tailEnd/>
          </a:ln>
          <a:effectLst/>
        </p:spPr>
        <p:txBody>
          <a:bodyPr>
            <a:spAutoFit/>
          </a:bodyPr>
          <a:lstStyle/>
          <a:p>
            <a:pPr algn="l" eaLnBrk="0" hangingPunct="0">
              <a:spcBef>
                <a:spcPct val="50000"/>
              </a:spcBef>
            </a:pPr>
            <a:r>
              <a:rPr lang="fi-FI" sz="1400" b="1"/>
              <a:t>läpimenoaika</a:t>
            </a:r>
            <a:endParaRPr lang="fi-FI" sz="2000"/>
          </a:p>
        </p:txBody>
      </p:sp>
      <p:sp>
        <p:nvSpPr>
          <p:cNvPr id="221240" name="Text Box 56"/>
          <p:cNvSpPr txBox="1">
            <a:spLocks noChangeArrowheads="1"/>
          </p:cNvSpPr>
          <p:nvPr/>
        </p:nvSpPr>
        <p:spPr bwMode="auto">
          <a:xfrm>
            <a:off x="4572000" y="1295400"/>
            <a:ext cx="2438400" cy="517525"/>
          </a:xfrm>
          <a:prstGeom prst="rect">
            <a:avLst/>
          </a:prstGeom>
          <a:noFill/>
          <a:ln w="9525">
            <a:noFill/>
            <a:miter lim="800000"/>
            <a:headEnd/>
            <a:tailEnd/>
          </a:ln>
          <a:effectLst/>
        </p:spPr>
        <p:txBody>
          <a:bodyPr>
            <a:spAutoFit/>
          </a:bodyPr>
          <a:lstStyle/>
          <a:p>
            <a:pPr algn="l" eaLnBrk="0" hangingPunct="0">
              <a:spcBef>
                <a:spcPct val="50000"/>
              </a:spcBef>
            </a:pPr>
            <a:r>
              <a:rPr lang="fi-FI" sz="1400" b="1"/>
              <a:t>Järjestelmätestauksen läpimenoaika</a:t>
            </a:r>
            <a:endParaRPr lang="fi-FI" sz="2000"/>
          </a:p>
        </p:txBody>
      </p:sp>
      <p:sp>
        <p:nvSpPr>
          <p:cNvPr id="221241" name="Rectangle 57"/>
          <p:cNvSpPr>
            <a:spLocks noChangeArrowheads="1"/>
          </p:cNvSpPr>
          <p:nvPr/>
        </p:nvSpPr>
        <p:spPr bwMode="auto">
          <a:xfrm>
            <a:off x="838200" y="5105400"/>
            <a:ext cx="381000" cy="381000"/>
          </a:xfrm>
          <a:prstGeom prst="rect">
            <a:avLst/>
          </a:prstGeom>
          <a:solidFill>
            <a:schemeClr val="hlink"/>
          </a:solidFill>
          <a:ln w="9525">
            <a:solidFill>
              <a:schemeClr val="tx1"/>
            </a:solidFill>
            <a:miter lim="800000"/>
            <a:headEnd/>
            <a:tailEnd/>
          </a:ln>
          <a:effectLst/>
        </p:spPr>
        <p:txBody>
          <a:bodyPr wrap="none" anchor="ctr"/>
          <a:lstStyle/>
          <a:p>
            <a:endParaRPr lang="fi-FI"/>
          </a:p>
        </p:txBody>
      </p:sp>
      <p:sp>
        <p:nvSpPr>
          <p:cNvPr id="221242" name="Text Box 58"/>
          <p:cNvSpPr txBox="1">
            <a:spLocks noChangeArrowheads="1"/>
          </p:cNvSpPr>
          <p:nvPr/>
        </p:nvSpPr>
        <p:spPr bwMode="auto">
          <a:xfrm>
            <a:off x="1295400" y="5105400"/>
            <a:ext cx="2667000" cy="304800"/>
          </a:xfrm>
          <a:prstGeom prst="rect">
            <a:avLst/>
          </a:prstGeom>
          <a:noFill/>
          <a:ln w="9525">
            <a:noFill/>
            <a:miter lim="800000"/>
            <a:headEnd/>
            <a:tailEnd/>
          </a:ln>
          <a:effectLst/>
        </p:spPr>
        <p:txBody>
          <a:bodyPr>
            <a:spAutoFit/>
          </a:bodyPr>
          <a:lstStyle/>
          <a:p>
            <a:pPr algn="l" eaLnBrk="0" hangingPunct="0">
              <a:spcBef>
                <a:spcPct val="50000"/>
              </a:spcBef>
            </a:pPr>
            <a:r>
              <a:rPr lang="fi-FI" sz="1400"/>
              <a:t>Asiakkaan tehtävät (määrittely)</a:t>
            </a:r>
            <a:endParaRPr lang="fi-FI" sz="2000"/>
          </a:p>
        </p:txBody>
      </p:sp>
      <p:sp>
        <p:nvSpPr>
          <p:cNvPr id="221243" name="Rectangle 59"/>
          <p:cNvSpPr>
            <a:spLocks noChangeArrowheads="1"/>
          </p:cNvSpPr>
          <p:nvPr/>
        </p:nvSpPr>
        <p:spPr bwMode="auto">
          <a:xfrm>
            <a:off x="838200" y="55626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44" name="Rectangle 60"/>
          <p:cNvSpPr>
            <a:spLocks noChangeArrowheads="1"/>
          </p:cNvSpPr>
          <p:nvPr/>
        </p:nvSpPr>
        <p:spPr bwMode="auto">
          <a:xfrm>
            <a:off x="4114800" y="51054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1245" name="Rectangle 61"/>
          <p:cNvSpPr>
            <a:spLocks noChangeArrowheads="1"/>
          </p:cNvSpPr>
          <p:nvPr/>
        </p:nvSpPr>
        <p:spPr bwMode="auto">
          <a:xfrm>
            <a:off x="4114800" y="5562600"/>
            <a:ext cx="381000" cy="381000"/>
          </a:xfrm>
          <a:prstGeom prst="rect">
            <a:avLst/>
          </a:prstGeom>
          <a:solidFill>
            <a:schemeClr val="bg2"/>
          </a:solidFill>
          <a:ln w="9525">
            <a:solidFill>
              <a:schemeClr val="tx1"/>
            </a:solidFill>
            <a:miter lim="800000"/>
            <a:headEnd/>
            <a:tailEnd/>
          </a:ln>
          <a:effectLst/>
        </p:spPr>
        <p:txBody>
          <a:bodyPr wrap="none" anchor="ctr"/>
          <a:lstStyle/>
          <a:p>
            <a:endParaRPr lang="fi-FI"/>
          </a:p>
        </p:txBody>
      </p:sp>
      <p:sp>
        <p:nvSpPr>
          <p:cNvPr id="221246" name="Text Box 62"/>
          <p:cNvSpPr txBox="1">
            <a:spLocks noChangeArrowheads="1"/>
          </p:cNvSpPr>
          <p:nvPr/>
        </p:nvSpPr>
        <p:spPr bwMode="auto">
          <a:xfrm>
            <a:off x="1295400" y="5486400"/>
            <a:ext cx="2819400" cy="517525"/>
          </a:xfrm>
          <a:prstGeom prst="rect">
            <a:avLst/>
          </a:prstGeom>
          <a:noFill/>
          <a:ln w="9525">
            <a:noFill/>
            <a:miter lim="800000"/>
            <a:headEnd/>
            <a:tailEnd/>
          </a:ln>
          <a:effectLst/>
        </p:spPr>
        <p:txBody>
          <a:bodyPr>
            <a:spAutoFit/>
          </a:bodyPr>
          <a:lstStyle/>
          <a:p>
            <a:pPr algn="l" eaLnBrk="0" hangingPunct="0">
              <a:spcBef>
                <a:spcPct val="50000"/>
              </a:spcBef>
            </a:pPr>
            <a:r>
              <a:rPr lang="fi-FI" sz="1400"/>
              <a:t>Suunnittelijan tehtävät (toteutus, testaus, normaali virheenkorjaus)</a:t>
            </a:r>
            <a:endParaRPr lang="fi-FI" sz="2000"/>
          </a:p>
        </p:txBody>
      </p:sp>
      <p:sp>
        <p:nvSpPr>
          <p:cNvPr id="221247" name="Text Box 63"/>
          <p:cNvSpPr txBox="1">
            <a:spLocks noChangeArrowheads="1"/>
          </p:cNvSpPr>
          <p:nvPr/>
        </p:nvSpPr>
        <p:spPr bwMode="auto">
          <a:xfrm>
            <a:off x="4495800" y="5105400"/>
            <a:ext cx="3048000" cy="304800"/>
          </a:xfrm>
          <a:prstGeom prst="rect">
            <a:avLst/>
          </a:prstGeom>
          <a:noFill/>
          <a:ln w="9525">
            <a:noFill/>
            <a:miter lim="800000"/>
            <a:headEnd/>
            <a:tailEnd/>
          </a:ln>
          <a:effectLst/>
        </p:spPr>
        <p:txBody>
          <a:bodyPr>
            <a:spAutoFit/>
          </a:bodyPr>
          <a:lstStyle/>
          <a:p>
            <a:pPr algn="l" eaLnBrk="0" hangingPunct="0">
              <a:spcBef>
                <a:spcPct val="50000"/>
              </a:spcBef>
            </a:pPr>
            <a:r>
              <a:rPr lang="fi-FI" sz="1400"/>
              <a:t>Järjestelmätestausryhmän tehtävät</a:t>
            </a:r>
            <a:endParaRPr lang="fi-FI" sz="2000"/>
          </a:p>
        </p:txBody>
      </p:sp>
      <p:sp>
        <p:nvSpPr>
          <p:cNvPr id="221248" name="Text Box 64"/>
          <p:cNvSpPr txBox="1">
            <a:spLocks noChangeArrowheads="1"/>
          </p:cNvSpPr>
          <p:nvPr/>
        </p:nvSpPr>
        <p:spPr bwMode="auto">
          <a:xfrm>
            <a:off x="4572000" y="5486400"/>
            <a:ext cx="3657600" cy="517525"/>
          </a:xfrm>
          <a:prstGeom prst="rect">
            <a:avLst/>
          </a:prstGeom>
          <a:noFill/>
          <a:ln w="9525">
            <a:noFill/>
            <a:miter lim="800000"/>
            <a:headEnd/>
            <a:tailEnd/>
          </a:ln>
          <a:effectLst/>
        </p:spPr>
        <p:txBody>
          <a:bodyPr>
            <a:spAutoFit/>
          </a:bodyPr>
          <a:lstStyle/>
          <a:p>
            <a:pPr algn="l" eaLnBrk="0" hangingPunct="0">
              <a:spcBef>
                <a:spcPct val="50000"/>
              </a:spcBef>
            </a:pPr>
            <a:r>
              <a:rPr lang="fi-FI" sz="1400"/>
              <a:t>Suunnittelijan ylimääräiset tehtävät (korjaukset/täydentäminen)</a:t>
            </a:r>
            <a:endParaRPr lang="fi-FI" sz="2000"/>
          </a:p>
        </p:txBody>
      </p:sp>
      <p:sp>
        <p:nvSpPr>
          <p:cNvPr id="66" name="Slide Number Placeholder 65"/>
          <p:cNvSpPr>
            <a:spLocks noGrp="1"/>
          </p:cNvSpPr>
          <p:nvPr>
            <p:ph type="sldNum" sz="quarter" idx="12"/>
          </p:nvPr>
        </p:nvSpPr>
        <p:spPr/>
        <p:txBody>
          <a:bodyPr/>
          <a:lstStyle/>
          <a:p>
            <a:fld id="{7A750B4A-325E-4AA4-BC07-A8C35B32A4F3}" type="slidenum">
              <a:rPr lang="fi-FI" smtClean="0"/>
              <a:pPr/>
              <a:t>117</a:t>
            </a:fld>
            <a:endParaRPr lang="fi-FI"/>
          </a:p>
        </p:txBody>
      </p:sp>
    </p:spTree>
  </p:cSld>
  <p:clrMapOvr>
    <a:masterClrMapping/>
  </p:clrMapOvr>
  <p:timing>
    <p:tnLst>
      <p:par>
        <p:cTn xmlns:p14="http://schemas.microsoft.com/office/powerpoint/2010/mai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fi-FI" dirty="0" smtClean="0"/>
              <a:t>Toistuva hyväksymistestaus ylläpitoluonteiselle kehitystyölle</a:t>
            </a:r>
            <a:endParaRPr lang="fi-FI" dirty="0"/>
          </a:p>
        </p:txBody>
      </p:sp>
      <p:sp>
        <p:nvSpPr>
          <p:cNvPr id="5" name="Content Placeholder 4"/>
          <p:cNvSpPr>
            <a:spLocks noGrp="1"/>
          </p:cNvSpPr>
          <p:nvPr>
            <p:ph idx="1"/>
          </p:nvPr>
        </p:nvSpPr>
        <p:spPr/>
        <p:txBody>
          <a:bodyPr>
            <a:normAutofit fontScale="92500"/>
          </a:bodyPr>
          <a:lstStyle/>
          <a:p>
            <a:r>
              <a:rPr lang="fi-FI" dirty="0" smtClean="0"/>
              <a:t>Lähtökohtaisesti jokainen muutos aiheuttaa tarpeen uudelle hyväksymiselle</a:t>
            </a:r>
          </a:p>
          <a:p>
            <a:r>
              <a:rPr lang="fi-FI" dirty="0" smtClean="0"/>
              <a:t>Keskeinen mekanismi on hallittujen riskien ottaminen</a:t>
            </a:r>
          </a:p>
          <a:p>
            <a:pPr lvl="1"/>
            <a:r>
              <a:rPr lang="fi-FI" dirty="0" smtClean="0"/>
              <a:t>Ymmärretään mahdolliset vaikutukset</a:t>
            </a:r>
          </a:p>
          <a:p>
            <a:pPr lvl="1"/>
            <a:r>
              <a:rPr lang="fi-FI" dirty="0" smtClean="0"/>
              <a:t>Tiedetään mikä muutos on tehty ja huolehditaan ettei sovitun ulkopuolisia muutoksia yhdistellä samaan</a:t>
            </a:r>
          </a:p>
          <a:p>
            <a:r>
              <a:rPr lang="fi-FI" dirty="0" smtClean="0"/>
              <a:t>Muutoskohtainen testien valikointi järjestelmä / sovelluskohtaisesta testitapauskokoelmasta</a:t>
            </a:r>
            <a:endParaRPr lang="fi-FI"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118</a:t>
            </a:fld>
            <a:endParaRPr lang="fi-FI"/>
          </a:p>
        </p:txBody>
      </p:sp>
    </p:spTree>
  </p:cSld>
  <p:clrMapOvr>
    <a:masterClrMapping/>
  </p:clrMapOvr>
  <p:timing>
    <p:tnLst>
      <p:par>
        <p:cTn xmlns:p14="http://schemas.microsoft.com/office/powerpoint/2010/mai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fi-FI" dirty="0" smtClean="0"/>
              <a:t>Havaintojen kirjaamisen ja käsittelyn prosessi</a:t>
            </a:r>
            <a:endParaRPr lang="fi-FI" dirty="0"/>
          </a:p>
        </p:txBody>
      </p:sp>
      <p:sp>
        <p:nvSpPr>
          <p:cNvPr id="8" name="Subtitle 7"/>
          <p:cNvSpPr>
            <a:spLocks noGrp="1"/>
          </p:cNvSpPr>
          <p:nvPr>
            <p:ph type="body" idx="1"/>
          </p:nvPr>
        </p:nvSpPr>
        <p:spPr/>
        <p:txBody>
          <a:bodyPr/>
          <a:lstStyle/>
          <a:p>
            <a:r>
              <a:rPr lang="fi-FI" dirty="0" smtClean="0"/>
              <a:t>Testauksen tuloskirjanpito</a:t>
            </a:r>
            <a:endParaRPr lang="fi-FI" dirty="0"/>
          </a:p>
        </p:txBody>
      </p:sp>
      <p:sp>
        <p:nvSpPr>
          <p:cNvPr id="5" name="Slide Number Placeholder 4"/>
          <p:cNvSpPr>
            <a:spLocks noGrp="1"/>
          </p:cNvSpPr>
          <p:nvPr>
            <p:ph type="sldNum" sz="quarter" idx="12"/>
          </p:nvPr>
        </p:nvSpPr>
        <p:spPr/>
        <p:txBody>
          <a:bodyPr/>
          <a:lstStyle/>
          <a:p>
            <a:fld id="{7A750B4A-325E-4AA4-BC07-A8C35B32A4F3}" type="slidenum">
              <a:rPr lang="fi-FI" smtClean="0"/>
              <a:pPr/>
              <a:t>119</a:t>
            </a:fld>
            <a:endParaRPr lang="fi-FI"/>
          </a:p>
        </p:txBody>
      </p:sp>
    </p:spTree>
  </p:cSld>
  <p:clrMapOvr>
    <a:masterClrMapping/>
  </p:clrMapOvr>
  <p:timing>
    <p:tnLst>
      <p:par>
        <p:cTn xmlns:p14="http://schemas.microsoft.com/office/powerpoint/2010/mai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fi-FI" dirty="0" smtClean="0"/>
              <a:t>Havainnot ja virheet</a:t>
            </a:r>
            <a:endParaRPr lang="fi-FI" dirty="0"/>
          </a:p>
        </p:txBody>
      </p:sp>
      <p:sp>
        <p:nvSpPr>
          <p:cNvPr id="6" name="Content Placeholder 5"/>
          <p:cNvSpPr>
            <a:spLocks noGrp="1"/>
          </p:cNvSpPr>
          <p:nvPr>
            <p:ph idx="1"/>
          </p:nvPr>
        </p:nvSpPr>
        <p:spPr/>
        <p:txBody>
          <a:bodyPr>
            <a:normAutofit fontScale="85000" lnSpcReduction="10000"/>
          </a:bodyPr>
          <a:lstStyle/>
          <a:p>
            <a:r>
              <a:rPr lang="fi-FI" dirty="0" smtClean="0"/>
              <a:t>Testauksessa syntyy </a:t>
            </a:r>
            <a:r>
              <a:rPr lang="fi-FI" i="1" dirty="0" smtClean="0"/>
              <a:t>havaintoja</a:t>
            </a:r>
            <a:endParaRPr lang="fi-FI" dirty="0" smtClean="0"/>
          </a:p>
          <a:p>
            <a:r>
              <a:rPr lang="fi-FI" dirty="0" smtClean="0"/>
              <a:t>Havainnot luokitellaan</a:t>
            </a:r>
          </a:p>
          <a:p>
            <a:pPr lvl="1"/>
            <a:r>
              <a:rPr lang="fi-FI" dirty="0" smtClean="0"/>
              <a:t>Virheisiin: selkeästi eri tavalla kuin vaadittu / määritelty</a:t>
            </a:r>
          </a:p>
          <a:p>
            <a:pPr lvl="1"/>
            <a:r>
              <a:rPr lang="fi-FI" dirty="0" smtClean="0"/>
              <a:t>Muutospyyntöihin: toimii väärin, mutta vaatimusten mukaan, pyydetään vaatimuksen ja sovelluksen muutosta</a:t>
            </a:r>
          </a:p>
          <a:p>
            <a:pPr lvl="1"/>
            <a:r>
              <a:rPr lang="fi-FI" dirty="0" smtClean="0"/>
              <a:t>Kehitysehdotuksiin: toimii vähän väärin, mutta sen kanssa voisi elääkin, kuitenkin muutosta toivotaan</a:t>
            </a:r>
          </a:p>
          <a:p>
            <a:r>
              <a:rPr lang="en-US" dirty="0" smtClean="0"/>
              <a:t>“</a:t>
            </a:r>
            <a:r>
              <a:rPr lang="en-US" dirty="0" err="1" smtClean="0"/>
              <a:t>Testaaja</a:t>
            </a:r>
            <a:r>
              <a:rPr lang="en-US" dirty="0" smtClean="0"/>
              <a:t> </a:t>
            </a:r>
            <a:r>
              <a:rPr lang="en-US" dirty="0" err="1" smtClean="0"/>
              <a:t>joka</a:t>
            </a:r>
            <a:r>
              <a:rPr lang="en-US" dirty="0" smtClean="0"/>
              <a:t> </a:t>
            </a:r>
            <a:r>
              <a:rPr lang="en-US" dirty="0" err="1" smtClean="0"/>
              <a:t>ei</a:t>
            </a:r>
            <a:r>
              <a:rPr lang="en-US" dirty="0" smtClean="0"/>
              <a:t> </a:t>
            </a:r>
            <a:r>
              <a:rPr lang="en-US" dirty="0" err="1" smtClean="0"/>
              <a:t>osaa</a:t>
            </a:r>
            <a:r>
              <a:rPr lang="en-US" dirty="0" smtClean="0"/>
              <a:t> </a:t>
            </a:r>
            <a:r>
              <a:rPr lang="en-US" dirty="0" err="1" smtClean="0"/>
              <a:t>raportoida</a:t>
            </a:r>
            <a:r>
              <a:rPr lang="en-US" dirty="0" smtClean="0"/>
              <a:t> </a:t>
            </a:r>
            <a:r>
              <a:rPr lang="en-US" dirty="0" err="1" smtClean="0"/>
              <a:t>virheitä</a:t>
            </a:r>
            <a:r>
              <a:rPr lang="en-US" dirty="0" smtClean="0"/>
              <a:t>, on </a:t>
            </a:r>
            <a:r>
              <a:rPr lang="en-US" dirty="0" err="1" smtClean="0"/>
              <a:t>kuin</a:t>
            </a:r>
            <a:r>
              <a:rPr lang="en-US" dirty="0" smtClean="0"/>
              <a:t> </a:t>
            </a:r>
            <a:r>
              <a:rPr lang="en-US" dirty="0" err="1" smtClean="0"/>
              <a:t>jääkaapin</a:t>
            </a:r>
            <a:r>
              <a:rPr lang="en-US" dirty="0" smtClean="0"/>
              <a:t> </a:t>
            </a:r>
            <a:r>
              <a:rPr lang="en-US" dirty="0" err="1" smtClean="0"/>
              <a:t>valo</a:t>
            </a:r>
            <a:r>
              <a:rPr lang="en-US" dirty="0" smtClean="0"/>
              <a:t>, </a:t>
            </a:r>
            <a:r>
              <a:rPr lang="en-US" dirty="0" err="1" smtClean="0"/>
              <a:t>joka</a:t>
            </a:r>
            <a:r>
              <a:rPr lang="en-US" dirty="0" smtClean="0"/>
              <a:t> on </a:t>
            </a:r>
            <a:r>
              <a:rPr lang="en-US" dirty="0" err="1" smtClean="0"/>
              <a:t>päällä</a:t>
            </a:r>
            <a:r>
              <a:rPr lang="en-US" dirty="0" smtClean="0"/>
              <a:t> vain oven </a:t>
            </a:r>
            <a:r>
              <a:rPr lang="en-US" dirty="0" err="1" smtClean="0"/>
              <a:t>ollessa</a:t>
            </a:r>
            <a:r>
              <a:rPr lang="en-US" dirty="0" smtClean="0"/>
              <a:t> </a:t>
            </a:r>
            <a:r>
              <a:rPr lang="en-US" dirty="0" err="1" smtClean="0"/>
              <a:t>kiinni</a:t>
            </a:r>
            <a:r>
              <a:rPr lang="en-US" dirty="0" smtClean="0"/>
              <a:t>”. – </a:t>
            </a:r>
            <a:r>
              <a:rPr lang="en-US" dirty="0" err="1" smtClean="0"/>
              <a:t>Kaner</a:t>
            </a:r>
            <a:r>
              <a:rPr lang="en-US" dirty="0" smtClean="0"/>
              <a:t>, Bach, </a:t>
            </a:r>
            <a:r>
              <a:rPr lang="en-US" dirty="0" err="1" smtClean="0"/>
              <a:t>Pettichord</a:t>
            </a:r>
            <a:r>
              <a:rPr lang="en-US" dirty="0" smtClean="0"/>
              <a:t>, 2002. </a:t>
            </a:r>
          </a:p>
          <a:p>
            <a:pPr lvl="1"/>
            <a:endParaRPr lang="fi-FI"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120</a:t>
            </a:fld>
            <a:endParaRPr lang="fi-FI"/>
          </a:p>
        </p:txBody>
      </p:sp>
    </p:spTree>
  </p:cSld>
  <p:clrMapOvr>
    <a:masterClrMapping/>
  </p:clrMapOvr>
  <p:timing>
    <p:tnLst>
      <p:par>
        <p:cTn xmlns:p14="http://schemas.microsoft.com/office/powerpoint/2010/mai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fi-FI" dirty="0"/>
              <a:t>Havainnot </a:t>
            </a:r>
            <a:r>
              <a:rPr lang="fi-FI" dirty="0" smtClean="0"/>
              <a:t>välineessä </a:t>
            </a:r>
            <a:r>
              <a:rPr lang="fi-FI" dirty="0"/>
              <a:t>– Miksi? </a:t>
            </a:r>
            <a:endParaRPr lang="en-US" dirty="0"/>
          </a:p>
        </p:txBody>
      </p:sp>
      <p:sp>
        <p:nvSpPr>
          <p:cNvPr id="37891" name="Rectangle 3"/>
          <p:cNvSpPr>
            <a:spLocks noGrp="1" noChangeArrowheads="1"/>
          </p:cNvSpPr>
          <p:nvPr>
            <p:ph type="body" idx="1"/>
          </p:nvPr>
        </p:nvSpPr>
        <p:spPr/>
        <p:txBody>
          <a:bodyPr/>
          <a:lstStyle/>
          <a:p>
            <a:r>
              <a:rPr lang="fi-FI"/>
              <a:t>Yhteinen muisti – sähköpostit ovat henkilökohtaisia</a:t>
            </a:r>
          </a:p>
          <a:p>
            <a:r>
              <a:rPr lang="fi-FI"/>
              <a:t>Selkeä sopimus edistämisen vastuista</a:t>
            </a:r>
          </a:p>
          <a:p>
            <a:endParaRPr lang="fi-FI"/>
          </a:p>
          <a:p>
            <a:r>
              <a:rPr lang="fi-FI"/>
              <a:t>Kaikki havaintoihin liittyvät kommentit / keskustelut viedään välineeseen ja varmistetaan tiedon säilyminen</a:t>
            </a:r>
            <a:endParaRPr lang="en-US"/>
          </a:p>
        </p:txBody>
      </p:sp>
      <p:sp>
        <p:nvSpPr>
          <p:cNvPr id="4" name="Slide Number Placeholder 3"/>
          <p:cNvSpPr>
            <a:spLocks noGrp="1"/>
          </p:cNvSpPr>
          <p:nvPr>
            <p:ph type="sldNum" sz="quarter" idx="12"/>
          </p:nvPr>
        </p:nvSpPr>
        <p:spPr/>
        <p:txBody>
          <a:bodyPr/>
          <a:lstStyle/>
          <a:p>
            <a:fld id="{1FC54B03-E980-44E0-A0F1-6CAD9D10ECFB}" type="slidenum">
              <a:rPr lang="fi-FI" smtClean="0"/>
              <a:pPr/>
              <a:t>121</a:t>
            </a:fld>
            <a:endParaRPr lang="fi-FI"/>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Havaintoraportin keskeiset tiedot</a:t>
            </a:r>
            <a:endParaRPr lang="fi-FI" dirty="0"/>
          </a:p>
        </p:txBody>
      </p:sp>
      <p:sp>
        <p:nvSpPr>
          <p:cNvPr id="3" name="Content Placeholder 2"/>
          <p:cNvSpPr>
            <a:spLocks noGrp="1"/>
          </p:cNvSpPr>
          <p:nvPr>
            <p:ph idx="1"/>
          </p:nvPr>
        </p:nvSpPr>
        <p:spPr/>
        <p:txBody>
          <a:bodyPr>
            <a:normAutofit lnSpcReduction="10000"/>
          </a:bodyPr>
          <a:lstStyle/>
          <a:p>
            <a:r>
              <a:rPr lang="fi-FI" dirty="0" smtClean="0"/>
              <a:t>Erinomainen otsikko: mitä vialla ja missä</a:t>
            </a:r>
          </a:p>
          <a:p>
            <a:r>
              <a:rPr lang="fi-FI" dirty="0" smtClean="0"/>
              <a:t>Selkeä kuvaus: miten havainto toistetaan askel askeleelta, mitä tapahtui ja mitä odotettiin tapahtuvaksi, kuvaruutukaappaus</a:t>
            </a:r>
          </a:p>
          <a:p>
            <a:r>
              <a:rPr lang="fi-FI" dirty="0" smtClean="0"/>
              <a:t>Yksilöivät tiedot testauksen kohteesta ja ympäristöstä</a:t>
            </a:r>
          </a:p>
          <a:p>
            <a:r>
              <a:rPr lang="fi-FI" dirty="0" smtClean="0"/>
              <a:t>Luokittelu havainnon tyyppiin: virhe / määrittelymuutos / parannusehdotus</a:t>
            </a:r>
          </a:p>
          <a:p>
            <a:r>
              <a:rPr lang="fi-FI" dirty="0" smtClean="0"/>
              <a:t>Prioriteetti/vakavuus: reagoinnin nopeustarve</a:t>
            </a:r>
            <a:endParaRPr lang="fi-FI"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122</a:t>
            </a:fld>
            <a:endParaRPr lang="fi-FI"/>
          </a:p>
        </p:txBody>
      </p:sp>
    </p:spTree>
  </p:cSld>
  <p:clrMapOvr>
    <a:masterClrMapping/>
  </p:clrMapOvr>
  <p:timing>
    <p:tnLst>
      <p:par>
        <p:cTn xmlns:p14="http://schemas.microsoft.com/office/powerpoint/2010/mai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normAutofit fontScale="90000"/>
          </a:bodyPr>
          <a:lstStyle/>
          <a:p>
            <a:r>
              <a:rPr lang="fi-FI" smtClean="0"/>
              <a:t>Yksinkertaistettu virheraportin elinkaari</a:t>
            </a:r>
            <a:endParaRPr lang="en-GB"/>
          </a:p>
        </p:txBody>
      </p:sp>
      <p:sp>
        <p:nvSpPr>
          <p:cNvPr id="7173" name="Slide Number Placeholder 5"/>
          <p:cNvSpPr>
            <a:spLocks noGrp="1"/>
          </p:cNvSpPr>
          <p:nvPr>
            <p:ph type="sldNum" sz="quarter" idx="12"/>
          </p:nvPr>
        </p:nvSpPr>
        <p:spPr/>
        <p:txBody>
          <a:bodyPr/>
          <a:lstStyle/>
          <a:p>
            <a:fld id="{5E263C95-0E79-4AA0-899D-8F1E14866DF7}" type="slidenum">
              <a:rPr lang="en-US" smtClean="0"/>
              <a:pPr/>
              <a:t>123</a:t>
            </a:fld>
            <a:endParaRPr lang="en-US"/>
          </a:p>
        </p:txBody>
      </p:sp>
      <p:graphicFrame>
        <p:nvGraphicFramePr>
          <p:cNvPr id="7170" name="Object 2"/>
          <p:cNvGraphicFramePr>
            <a:graphicFrameLocks noChangeAspect="1"/>
          </p:cNvGraphicFramePr>
          <p:nvPr/>
        </p:nvGraphicFramePr>
        <p:xfrm>
          <a:off x="285750" y="1690688"/>
          <a:ext cx="4587875" cy="4953000"/>
        </p:xfrm>
        <a:graphic>
          <a:graphicData uri="http://schemas.openxmlformats.org/presentationml/2006/ole">
            <mc:AlternateContent xmlns:mc="http://schemas.openxmlformats.org/markup-compatibility/2006">
              <mc:Choice xmlns:v="urn:schemas-microsoft-com:vml" Requires="v">
                <p:oleObj spid="_x0000_s510981" name="Visio" r:id="rId4" imgW="3448800" imgH="3836520" progId="">
                  <p:embed/>
                </p:oleObj>
              </mc:Choice>
              <mc:Fallback>
                <p:oleObj name="Visio" r:id="rId4" imgW="3448800" imgH="3836520" progId="">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5750" y="1690688"/>
                        <a:ext cx="4587875" cy="4953000"/>
                      </a:xfrm>
                      <a:prstGeom prst="rect">
                        <a:avLst/>
                      </a:prstGeom>
                      <a:noFill/>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5" name="Rectangle 3"/>
          <p:cNvSpPr txBox="1">
            <a:spLocks noChangeArrowheads="1"/>
          </p:cNvSpPr>
          <p:nvPr/>
        </p:nvSpPr>
        <p:spPr>
          <a:xfrm>
            <a:off x="5373688" y="1752600"/>
            <a:ext cx="3556000" cy="4605338"/>
          </a:xfrm>
          <a:prstGeom prst="rect">
            <a:avLst/>
          </a:prstGeom>
        </p:spPr>
        <p:txBody>
          <a:bodyPr>
            <a:normAutofit fontScale="77500" lnSpcReduction="20000"/>
          </a:bodyPr>
          <a:lstStyle/>
          <a:p>
            <a:pPr marL="448056" indent="-384048" fontAlgn="auto">
              <a:spcBef>
                <a:spcPct val="20000"/>
              </a:spcBef>
              <a:spcAft>
                <a:spcPts val="0"/>
              </a:spcAft>
              <a:buClr>
                <a:schemeClr val="accent1"/>
              </a:buClr>
              <a:buSzPct val="80000"/>
              <a:buFont typeface="Wingdings 2"/>
              <a:buChar char=""/>
              <a:defRPr/>
            </a:pPr>
            <a:r>
              <a:rPr lang="fi-FI" sz="3000" dirty="0">
                <a:latin typeface="+mn-lt"/>
              </a:rPr>
              <a:t>Avoin</a:t>
            </a:r>
          </a:p>
          <a:p>
            <a:pPr marL="822960" lvl="1" indent="-285750" fontAlgn="auto">
              <a:spcBef>
                <a:spcPct val="20000"/>
              </a:spcBef>
              <a:spcAft>
                <a:spcPts val="0"/>
              </a:spcAft>
              <a:buClr>
                <a:schemeClr val="accent1"/>
              </a:buClr>
              <a:buSzPct val="95000"/>
              <a:buFont typeface="Verdana"/>
              <a:buChar char="›"/>
              <a:defRPr/>
            </a:pPr>
            <a:r>
              <a:rPr lang="fi-FI" sz="2600" dirty="0">
                <a:latin typeface="+mn-lt"/>
              </a:rPr>
              <a:t>Uusi</a:t>
            </a:r>
          </a:p>
          <a:p>
            <a:pPr marL="822960" lvl="1" indent="-285750" fontAlgn="auto">
              <a:spcBef>
                <a:spcPct val="20000"/>
              </a:spcBef>
              <a:spcAft>
                <a:spcPts val="0"/>
              </a:spcAft>
              <a:buClr>
                <a:schemeClr val="accent1"/>
              </a:buClr>
              <a:buSzPct val="95000"/>
              <a:buFont typeface="Verdana"/>
              <a:buChar char="›"/>
              <a:defRPr/>
            </a:pPr>
            <a:r>
              <a:rPr lang="fi-FI" sz="2600" dirty="0">
                <a:latin typeface="+mn-lt"/>
              </a:rPr>
              <a:t>Avoin</a:t>
            </a:r>
          </a:p>
          <a:p>
            <a:pPr marL="822960" lvl="1" indent="-285750" fontAlgn="auto">
              <a:spcBef>
                <a:spcPct val="20000"/>
              </a:spcBef>
              <a:spcAft>
                <a:spcPts val="0"/>
              </a:spcAft>
              <a:buClr>
                <a:schemeClr val="accent1"/>
              </a:buClr>
              <a:buSzPct val="95000"/>
              <a:buFont typeface="Verdana"/>
              <a:buChar char="›"/>
              <a:defRPr/>
            </a:pPr>
            <a:r>
              <a:rPr lang="fi-FI" sz="2600" dirty="0">
                <a:latin typeface="+mn-lt"/>
              </a:rPr>
              <a:t>Uudelleenavattu</a:t>
            </a:r>
          </a:p>
          <a:p>
            <a:pPr marL="448056" indent="-384048" fontAlgn="auto">
              <a:spcBef>
                <a:spcPct val="20000"/>
              </a:spcBef>
              <a:spcAft>
                <a:spcPts val="0"/>
              </a:spcAft>
              <a:buClr>
                <a:schemeClr val="accent1"/>
              </a:buClr>
              <a:buSzPct val="80000"/>
              <a:buFont typeface="Wingdings 2"/>
              <a:buChar char=""/>
              <a:defRPr/>
            </a:pPr>
            <a:r>
              <a:rPr lang="fi-FI" sz="3000" dirty="0">
                <a:latin typeface="+mn-lt"/>
              </a:rPr>
              <a:t>Ratkaistu</a:t>
            </a:r>
          </a:p>
          <a:p>
            <a:pPr marL="822960" lvl="1" indent="-285750" fontAlgn="auto">
              <a:spcBef>
                <a:spcPct val="20000"/>
              </a:spcBef>
              <a:spcAft>
                <a:spcPts val="0"/>
              </a:spcAft>
              <a:buClr>
                <a:schemeClr val="accent1"/>
              </a:buClr>
              <a:buSzPct val="95000"/>
              <a:buFont typeface="Verdana"/>
              <a:buChar char="›"/>
              <a:defRPr/>
            </a:pPr>
            <a:r>
              <a:rPr lang="fi-FI" sz="2600" dirty="0">
                <a:latin typeface="+mn-lt"/>
              </a:rPr>
              <a:t>Korjattu</a:t>
            </a:r>
          </a:p>
          <a:p>
            <a:pPr marL="822960" lvl="1" indent="-285750" fontAlgn="auto">
              <a:spcBef>
                <a:spcPct val="20000"/>
              </a:spcBef>
              <a:spcAft>
                <a:spcPts val="0"/>
              </a:spcAft>
              <a:buClr>
                <a:schemeClr val="accent1"/>
              </a:buClr>
              <a:buSzPct val="95000"/>
              <a:buFont typeface="Verdana"/>
              <a:buChar char="›"/>
              <a:defRPr/>
            </a:pPr>
            <a:r>
              <a:rPr lang="fi-FI" sz="2600" dirty="0">
                <a:latin typeface="+mn-lt"/>
              </a:rPr>
              <a:t>Ei toistettavissa</a:t>
            </a:r>
          </a:p>
          <a:p>
            <a:pPr marL="822960" lvl="1" indent="-285750" fontAlgn="auto">
              <a:spcBef>
                <a:spcPct val="20000"/>
              </a:spcBef>
              <a:spcAft>
                <a:spcPts val="0"/>
              </a:spcAft>
              <a:buClr>
                <a:schemeClr val="accent1"/>
              </a:buClr>
              <a:buSzPct val="95000"/>
              <a:buFont typeface="Verdana"/>
              <a:buChar char="›"/>
              <a:defRPr/>
            </a:pPr>
            <a:r>
              <a:rPr lang="fi-FI" sz="2600" dirty="0">
                <a:latin typeface="+mn-lt"/>
              </a:rPr>
              <a:t>Ei korjata</a:t>
            </a:r>
          </a:p>
          <a:p>
            <a:pPr marL="822960" lvl="1" indent="-285750" fontAlgn="auto">
              <a:spcBef>
                <a:spcPct val="20000"/>
              </a:spcBef>
              <a:spcAft>
                <a:spcPts val="0"/>
              </a:spcAft>
              <a:buClr>
                <a:schemeClr val="accent1"/>
              </a:buClr>
              <a:buSzPct val="95000"/>
              <a:buFont typeface="Verdana"/>
              <a:buChar char="›"/>
              <a:defRPr/>
            </a:pPr>
            <a:r>
              <a:rPr lang="fi-FI" sz="2600" dirty="0">
                <a:latin typeface="+mn-lt"/>
              </a:rPr>
              <a:t>Kuten suunniteltu</a:t>
            </a:r>
          </a:p>
          <a:p>
            <a:pPr marL="822960" lvl="1" indent="-285750" fontAlgn="auto">
              <a:spcBef>
                <a:spcPct val="20000"/>
              </a:spcBef>
              <a:spcAft>
                <a:spcPts val="0"/>
              </a:spcAft>
              <a:buClr>
                <a:schemeClr val="accent1"/>
              </a:buClr>
              <a:buSzPct val="95000"/>
              <a:buFont typeface="Verdana"/>
              <a:buChar char="›"/>
              <a:defRPr/>
            </a:pPr>
            <a:r>
              <a:rPr lang="fi-FI" sz="2600" dirty="0">
                <a:latin typeface="+mn-lt"/>
              </a:rPr>
              <a:t>Kaksoiskappale</a:t>
            </a:r>
          </a:p>
          <a:p>
            <a:pPr marL="822960" lvl="1" indent="-285750" fontAlgn="auto">
              <a:spcBef>
                <a:spcPct val="20000"/>
              </a:spcBef>
              <a:spcAft>
                <a:spcPts val="0"/>
              </a:spcAft>
              <a:buClr>
                <a:schemeClr val="accent1"/>
              </a:buClr>
              <a:buSzPct val="95000"/>
              <a:buFont typeface="Verdana"/>
              <a:buChar char="›"/>
              <a:defRPr/>
            </a:pPr>
            <a:r>
              <a:rPr lang="fi-FI" sz="2600" dirty="0">
                <a:latin typeface="+mn-lt"/>
              </a:rPr>
              <a:t>Ulkoinen</a:t>
            </a:r>
          </a:p>
          <a:p>
            <a:pPr marL="822960" lvl="1" indent="-285750" fontAlgn="auto">
              <a:spcBef>
                <a:spcPct val="20000"/>
              </a:spcBef>
              <a:spcAft>
                <a:spcPts val="0"/>
              </a:spcAft>
              <a:buClr>
                <a:schemeClr val="accent1"/>
              </a:buClr>
              <a:buSzPct val="95000"/>
              <a:buFont typeface="Verdana"/>
              <a:buChar char="›"/>
              <a:defRPr/>
            </a:pPr>
            <a:r>
              <a:rPr lang="fi-FI" sz="2600" dirty="0">
                <a:latin typeface="+mn-lt"/>
              </a:rPr>
              <a:t>Lykätty</a:t>
            </a:r>
          </a:p>
          <a:p>
            <a:pPr marL="365760" indent="-285750">
              <a:spcBef>
                <a:spcPct val="20000"/>
              </a:spcBef>
              <a:buClr>
                <a:schemeClr val="accent1"/>
              </a:buClr>
              <a:buSzPct val="95000"/>
              <a:buFont typeface="Verdana"/>
              <a:buChar char="›"/>
              <a:defRPr/>
            </a:pPr>
            <a:r>
              <a:rPr lang="en-GB" sz="2600" dirty="0" err="1" smtClean="0">
                <a:latin typeface="+mn-lt"/>
              </a:rPr>
              <a:t>Lisäksi</a:t>
            </a:r>
            <a:r>
              <a:rPr lang="en-GB" sz="2600" dirty="0" smtClean="0">
                <a:latin typeface="+mn-lt"/>
              </a:rPr>
              <a:t>: </a:t>
            </a:r>
            <a:r>
              <a:rPr lang="en-GB" sz="2600" dirty="0" err="1" smtClean="0">
                <a:latin typeface="+mn-lt"/>
              </a:rPr>
              <a:t>moniorganisaatiotilanteiden</a:t>
            </a:r>
            <a:r>
              <a:rPr lang="en-GB" sz="2600" dirty="0" smtClean="0">
                <a:latin typeface="+mn-lt"/>
              </a:rPr>
              <a:t> </a:t>
            </a:r>
            <a:r>
              <a:rPr lang="en-GB" sz="2600" dirty="0" err="1" smtClean="0">
                <a:latin typeface="+mn-lt"/>
              </a:rPr>
              <a:t>kuittaukset</a:t>
            </a:r>
            <a:r>
              <a:rPr lang="en-GB" sz="2600" dirty="0" smtClean="0">
                <a:latin typeface="+mn-lt"/>
              </a:rPr>
              <a:t> </a:t>
            </a:r>
            <a:r>
              <a:rPr lang="en-GB" sz="2600" dirty="0" err="1" smtClean="0">
                <a:latin typeface="+mn-lt"/>
              </a:rPr>
              <a:t>kaikille</a:t>
            </a:r>
            <a:r>
              <a:rPr lang="en-GB" sz="2600" dirty="0" smtClean="0">
                <a:latin typeface="+mn-lt"/>
              </a:rPr>
              <a:t> </a:t>
            </a:r>
            <a:r>
              <a:rPr lang="en-GB" sz="2600" dirty="0" err="1" smtClean="0">
                <a:latin typeface="+mn-lt"/>
              </a:rPr>
              <a:t>vaiheille</a:t>
            </a:r>
            <a:endParaRPr lang="en-GB" sz="2600" dirty="0">
              <a:latin typeface="+mn-lt"/>
            </a:endParaRPr>
          </a:p>
        </p:txBody>
      </p:sp>
    </p:spTree>
  </p:cSld>
  <p:clrMapOvr>
    <a:masterClrMapping/>
  </p:clrMapOvr>
  <p:timing>
    <p:tnLst>
      <p:par>
        <p:cTn xmlns:p14="http://schemas.microsoft.com/office/powerpoint/2010/mai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3492" name="Rectangle 4"/>
          <p:cNvSpPr>
            <a:spLocks noGrp="1" noChangeArrowheads="1"/>
          </p:cNvSpPr>
          <p:nvPr>
            <p:ph type="title"/>
          </p:nvPr>
        </p:nvSpPr>
        <p:spPr/>
        <p:txBody>
          <a:bodyPr>
            <a:normAutofit fontScale="90000"/>
          </a:bodyPr>
          <a:lstStyle/>
          <a:p>
            <a:r>
              <a:rPr lang="fi-FI"/>
              <a:t>Tehtävät avoimena oleville havainnoille</a:t>
            </a:r>
            <a:endParaRPr lang="en-US"/>
          </a:p>
        </p:txBody>
      </p:sp>
      <p:sp>
        <p:nvSpPr>
          <p:cNvPr id="63497" name="AutoShape 9"/>
          <p:cNvSpPr>
            <a:spLocks noChangeArrowheads="1"/>
          </p:cNvSpPr>
          <p:nvPr/>
        </p:nvSpPr>
        <p:spPr bwMode="auto">
          <a:xfrm>
            <a:off x="250825" y="1484313"/>
            <a:ext cx="8569325" cy="609600"/>
          </a:xfrm>
          <a:prstGeom prst="roundRect">
            <a:avLst>
              <a:gd name="adj" fmla="val 16667"/>
            </a:avLst>
          </a:prstGeom>
          <a:solidFill>
            <a:srgbClr val="99FF66"/>
          </a:solidFill>
          <a:ln w="9525">
            <a:noFill/>
            <a:round/>
            <a:headEnd/>
            <a:tailEnd/>
          </a:ln>
          <a:effectLst/>
        </p:spPr>
        <p:txBody>
          <a:bodyPr anchor="ctr"/>
          <a:lstStyle/>
          <a:p>
            <a:r>
              <a:rPr lang="en-GB">
                <a:latin typeface="Arial Narrow" pitchFamily="34" charset="0"/>
              </a:rPr>
              <a:t>Open / Re-open</a:t>
            </a:r>
          </a:p>
        </p:txBody>
      </p:sp>
      <p:sp>
        <p:nvSpPr>
          <p:cNvPr id="63498" name="Rectangle 10"/>
          <p:cNvSpPr>
            <a:spLocks noChangeArrowheads="1"/>
          </p:cNvSpPr>
          <p:nvPr/>
        </p:nvSpPr>
        <p:spPr bwMode="auto">
          <a:xfrm>
            <a:off x="538163" y="3068638"/>
            <a:ext cx="2160587" cy="1152525"/>
          </a:xfrm>
          <a:prstGeom prst="rect">
            <a:avLst/>
          </a:prstGeom>
          <a:solidFill>
            <a:schemeClr val="accent1"/>
          </a:solidFill>
          <a:ln w="9525" algn="ctr">
            <a:solidFill>
              <a:schemeClr val="tx1"/>
            </a:solidFill>
            <a:miter lim="800000"/>
            <a:headEnd/>
            <a:tailEnd/>
          </a:ln>
          <a:effectLst/>
        </p:spPr>
        <p:txBody>
          <a:bodyPr anchor="ctr"/>
          <a:lstStyle/>
          <a:p>
            <a:pPr algn="ctr"/>
            <a:r>
              <a:rPr lang="fi-FI">
                <a:latin typeface="Arial Narrow" pitchFamily="34" charset="0"/>
              </a:rPr>
              <a:t>Omistaja</a:t>
            </a:r>
          </a:p>
          <a:p>
            <a:pPr algn="ctr"/>
            <a:r>
              <a:rPr lang="fi-FI" sz="1200">
                <a:latin typeface="Arial Narrow" pitchFamily="34" charset="0"/>
              </a:rPr>
              <a:t>Kuka edistää asian selvittelyä?</a:t>
            </a:r>
            <a:endParaRPr lang="en-US" sz="1200">
              <a:latin typeface="Arial Narrow" pitchFamily="34" charset="0"/>
            </a:endParaRPr>
          </a:p>
        </p:txBody>
      </p:sp>
      <p:sp>
        <p:nvSpPr>
          <p:cNvPr id="63499" name="Rectangle 11"/>
          <p:cNvSpPr>
            <a:spLocks noChangeArrowheads="1"/>
          </p:cNvSpPr>
          <p:nvPr/>
        </p:nvSpPr>
        <p:spPr bwMode="auto">
          <a:xfrm>
            <a:off x="5435600" y="3716338"/>
            <a:ext cx="2160588" cy="1152525"/>
          </a:xfrm>
          <a:prstGeom prst="rect">
            <a:avLst/>
          </a:prstGeom>
          <a:solidFill>
            <a:schemeClr val="accent1"/>
          </a:solidFill>
          <a:ln w="9525" algn="ctr">
            <a:solidFill>
              <a:schemeClr val="tx1"/>
            </a:solidFill>
            <a:miter lim="800000"/>
            <a:headEnd/>
            <a:tailEnd/>
          </a:ln>
          <a:effectLst/>
        </p:spPr>
        <p:txBody>
          <a:bodyPr anchor="ctr"/>
          <a:lstStyle/>
          <a:p>
            <a:pPr algn="ctr"/>
            <a:r>
              <a:rPr lang="fi-FI">
                <a:latin typeface="Arial Narrow" pitchFamily="34" charset="0"/>
              </a:rPr>
              <a:t>Muutosraati</a:t>
            </a:r>
          </a:p>
          <a:p>
            <a:pPr algn="ctr"/>
            <a:r>
              <a:rPr lang="fi-FI" sz="1200">
                <a:latin typeface="Arial Narrow" pitchFamily="34" charset="0"/>
              </a:rPr>
              <a:t>Yhteinen linjanveto korjausten tarpeellisuudesta / kustannusten ja aikatauluvaikutusten hyväksyttävyydestä</a:t>
            </a:r>
            <a:endParaRPr lang="en-US" sz="1200">
              <a:latin typeface="Arial Narrow" pitchFamily="34" charset="0"/>
            </a:endParaRPr>
          </a:p>
        </p:txBody>
      </p:sp>
      <p:sp>
        <p:nvSpPr>
          <p:cNvPr id="63500" name="Rectangle 12"/>
          <p:cNvSpPr>
            <a:spLocks noChangeArrowheads="1"/>
          </p:cNvSpPr>
          <p:nvPr/>
        </p:nvSpPr>
        <p:spPr bwMode="auto">
          <a:xfrm>
            <a:off x="2987675" y="2420938"/>
            <a:ext cx="2160588" cy="1152525"/>
          </a:xfrm>
          <a:prstGeom prst="rect">
            <a:avLst/>
          </a:prstGeom>
          <a:solidFill>
            <a:schemeClr val="accent1"/>
          </a:solidFill>
          <a:ln w="9525" algn="ctr">
            <a:solidFill>
              <a:schemeClr val="tx1"/>
            </a:solidFill>
            <a:miter lim="800000"/>
            <a:headEnd/>
            <a:tailEnd/>
          </a:ln>
          <a:effectLst/>
        </p:spPr>
        <p:txBody>
          <a:bodyPr anchor="ctr"/>
          <a:lstStyle/>
          <a:p>
            <a:pPr algn="ctr"/>
            <a:r>
              <a:rPr lang="fi-FI">
                <a:latin typeface="Arial Narrow" pitchFamily="34" charset="0"/>
              </a:rPr>
              <a:t>Luokittelu</a:t>
            </a:r>
          </a:p>
          <a:p>
            <a:pPr algn="ctr"/>
            <a:r>
              <a:rPr lang="fi-FI" sz="1200">
                <a:latin typeface="Arial Narrow" pitchFamily="34" charset="0"/>
              </a:rPr>
              <a:t>Määrittelymuutos, virhe, kehitysehdotus?</a:t>
            </a:r>
            <a:endParaRPr lang="en-US" sz="1200">
              <a:latin typeface="Arial Narrow" pitchFamily="34" charset="0"/>
            </a:endParaRPr>
          </a:p>
        </p:txBody>
      </p:sp>
      <p:sp>
        <p:nvSpPr>
          <p:cNvPr id="63501" name="Rectangle 13"/>
          <p:cNvSpPr>
            <a:spLocks noChangeArrowheads="1"/>
          </p:cNvSpPr>
          <p:nvPr/>
        </p:nvSpPr>
        <p:spPr bwMode="auto">
          <a:xfrm>
            <a:off x="2987675" y="3716338"/>
            <a:ext cx="2160588" cy="1152525"/>
          </a:xfrm>
          <a:prstGeom prst="rect">
            <a:avLst/>
          </a:prstGeom>
          <a:solidFill>
            <a:schemeClr val="accent1"/>
          </a:solidFill>
          <a:ln w="9525" algn="ctr">
            <a:solidFill>
              <a:schemeClr val="tx1"/>
            </a:solidFill>
            <a:miter lim="800000"/>
            <a:headEnd/>
            <a:tailEnd/>
          </a:ln>
          <a:effectLst/>
        </p:spPr>
        <p:txBody>
          <a:bodyPr anchor="ctr"/>
          <a:lstStyle/>
          <a:p>
            <a:pPr algn="ctr"/>
            <a:r>
              <a:rPr lang="fi-FI">
                <a:latin typeface="Arial Narrow" pitchFamily="34" charset="0"/>
              </a:rPr>
              <a:t>Tarpeellisuus</a:t>
            </a:r>
          </a:p>
          <a:p>
            <a:pPr algn="ctr"/>
            <a:r>
              <a:rPr lang="fi-FI" sz="1200">
                <a:latin typeface="Arial Narrow" pitchFamily="34" charset="0"/>
              </a:rPr>
              <a:t>Tarve suhteessa tuotantoon?</a:t>
            </a:r>
          </a:p>
          <a:p>
            <a:pPr algn="ctr"/>
            <a:r>
              <a:rPr lang="fi-FI" sz="1200">
                <a:latin typeface="Arial Narrow" pitchFamily="34" charset="0"/>
              </a:rPr>
              <a:t>Prioriteetti, kuinka pian projektille?</a:t>
            </a:r>
            <a:endParaRPr lang="en-US" sz="1200">
              <a:latin typeface="Arial Narrow" pitchFamily="34" charset="0"/>
            </a:endParaRPr>
          </a:p>
        </p:txBody>
      </p:sp>
      <p:sp>
        <p:nvSpPr>
          <p:cNvPr id="63502" name="Rectangle 14"/>
          <p:cNvSpPr>
            <a:spLocks noChangeArrowheads="1"/>
          </p:cNvSpPr>
          <p:nvPr/>
        </p:nvSpPr>
        <p:spPr bwMode="auto">
          <a:xfrm>
            <a:off x="2987675" y="5013325"/>
            <a:ext cx="2160588" cy="1152525"/>
          </a:xfrm>
          <a:prstGeom prst="rect">
            <a:avLst/>
          </a:prstGeom>
          <a:solidFill>
            <a:schemeClr val="accent1"/>
          </a:solidFill>
          <a:ln w="9525" algn="ctr">
            <a:solidFill>
              <a:schemeClr val="tx1"/>
            </a:solidFill>
            <a:miter lim="800000"/>
            <a:headEnd/>
            <a:tailEnd/>
          </a:ln>
          <a:effectLst/>
        </p:spPr>
        <p:txBody>
          <a:bodyPr anchor="ctr"/>
          <a:lstStyle/>
          <a:p>
            <a:pPr algn="ctr"/>
            <a:r>
              <a:rPr lang="fi-FI">
                <a:latin typeface="Arial Narrow" pitchFamily="34" charset="0"/>
              </a:rPr>
              <a:t>Kustannukset</a:t>
            </a:r>
          </a:p>
          <a:p>
            <a:pPr algn="ctr"/>
            <a:r>
              <a:rPr lang="fi-FI" sz="1200">
                <a:latin typeface="Arial Narrow" pitchFamily="34" charset="0"/>
              </a:rPr>
              <a:t>Muutoksen kustannus- ja aikatauluvaikutus? </a:t>
            </a:r>
            <a:endParaRPr lang="en-US" sz="1200">
              <a:latin typeface="Arial Narrow" pitchFamily="34" charset="0"/>
            </a:endParaRPr>
          </a:p>
        </p:txBody>
      </p:sp>
      <p:sp>
        <p:nvSpPr>
          <p:cNvPr id="63503" name="Rectangle 15"/>
          <p:cNvSpPr>
            <a:spLocks noChangeArrowheads="1"/>
          </p:cNvSpPr>
          <p:nvPr/>
        </p:nvSpPr>
        <p:spPr bwMode="auto">
          <a:xfrm>
            <a:off x="538163" y="4365625"/>
            <a:ext cx="2160587" cy="1152525"/>
          </a:xfrm>
          <a:prstGeom prst="rect">
            <a:avLst/>
          </a:prstGeom>
          <a:solidFill>
            <a:schemeClr val="accent1"/>
          </a:solidFill>
          <a:ln w="9525" algn="ctr">
            <a:solidFill>
              <a:schemeClr val="tx1"/>
            </a:solidFill>
            <a:miter lim="800000"/>
            <a:headEnd/>
            <a:tailEnd/>
          </a:ln>
          <a:effectLst/>
        </p:spPr>
        <p:txBody>
          <a:bodyPr anchor="ctr"/>
          <a:lstStyle/>
          <a:p>
            <a:pPr algn="ctr"/>
            <a:r>
              <a:rPr lang="fi-FI">
                <a:latin typeface="Arial Narrow" pitchFamily="34" charset="0"/>
              </a:rPr>
              <a:t>Eteneminen</a:t>
            </a:r>
          </a:p>
          <a:p>
            <a:pPr algn="ctr"/>
            <a:r>
              <a:rPr lang="fi-FI" sz="1200">
                <a:latin typeface="Arial Narrow" pitchFamily="34" charset="0"/>
              </a:rPr>
              <a:t>Mitä on tehty havainnon käsittelyn edistämiseksi?</a:t>
            </a:r>
            <a:endParaRPr lang="en-US" sz="1200">
              <a:latin typeface="Arial Narrow" pitchFamily="34" charset="0"/>
            </a:endParaRPr>
          </a:p>
        </p:txBody>
      </p:sp>
      <p:sp>
        <p:nvSpPr>
          <p:cNvPr id="63504" name="Rectangle 16"/>
          <p:cNvSpPr>
            <a:spLocks noChangeArrowheads="1"/>
          </p:cNvSpPr>
          <p:nvPr/>
        </p:nvSpPr>
        <p:spPr bwMode="auto">
          <a:xfrm>
            <a:off x="5435600" y="5013325"/>
            <a:ext cx="2160588" cy="431800"/>
          </a:xfrm>
          <a:prstGeom prst="rect">
            <a:avLst/>
          </a:prstGeom>
          <a:solidFill>
            <a:schemeClr val="bg1"/>
          </a:solidFill>
          <a:ln w="9525" algn="ctr">
            <a:solidFill>
              <a:schemeClr val="tx1"/>
            </a:solidFill>
            <a:miter lim="800000"/>
            <a:headEnd/>
            <a:tailEnd/>
          </a:ln>
          <a:effectLst/>
        </p:spPr>
        <p:txBody>
          <a:bodyPr anchor="ctr"/>
          <a:lstStyle/>
          <a:p>
            <a:pPr algn="ctr"/>
            <a:r>
              <a:rPr lang="fi-FI" sz="1400">
                <a:solidFill>
                  <a:schemeClr val="accent2"/>
                </a:solidFill>
                <a:latin typeface="Arial Narrow" pitchFamily="34" charset="0"/>
              </a:rPr>
              <a:t>Säännöstely kustannusarviointiin </a:t>
            </a:r>
          </a:p>
        </p:txBody>
      </p:sp>
      <p:sp>
        <p:nvSpPr>
          <p:cNvPr id="63505" name="Rectangle 17"/>
          <p:cNvSpPr>
            <a:spLocks noChangeArrowheads="1"/>
          </p:cNvSpPr>
          <p:nvPr/>
        </p:nvSpPr>
        <p:spPr bwMode="auto">
          <a:xfrm>
            <a:off x="5435600" y="5516563"/>
            <a:ext cx="2160588" cy="431800"/>
          </a:xfrm>
          <a:prstGeom prst="rect">
            <a:avLst/>
          </a:prstGeom>
          <a:solidFill>
            <a:schemeClr val="bg1"/>
          </a:solidFill>
          <a:ln w="9525" algn="ctr">
            <a:solidFill>
              <a:schemeClr val="tx1"/>
            </a:solidFill>
            <a:miter lim="800000"/>
            <a:headEnd/>
            <a:tailEnd/>
          </a:ln>
          <a:effectLst/>
        </p:spPr>
        <p:txBody>
          <a:bodyPr anchor="ctr"/>
          <a:lstStyle/>
          <a:p>
            <a:pPr algn="ctr"/>
            <a:r>
              <a:rPr lang="fi-FI" sz="1400">
                <a:solidFill>
                  <a:schemeClr val="accent2"/>
                </a:solidFill>
                <a:latin typeface="Arial Narrow" pitchFamily="34" charset="0"/>
              </a:rPr>
              <a:t>Säännöstely korjaukseen </a:t>
            </a:r>
          </a:p>
        </p:txBody>
      </p:sp>
      <p:sp>
        <p:nvSpPr>
          <p:cNvPr id="63506" name="Text Box 18"/>
          <p:cNvSpPr txBox="1">
            <a:spLocks noChangeArrowheads="1"/>
          </p:cNvSpPr>
          <p:nvPr/>
        </p:nvSpPr>
        <p:spPr bwMode="auto">
          <a:xfrm>
            <a:off x="7596188" y="5048250"/>
            <a:ext cx="1512887" cy="396875"/>
          </a:xfrm>
          <a:prstGeom prst="rect">
            <a:avLst/>
          </a:prstGeom>
          <a:noFill/>
          <a:ln w="9525" algn="ctr">
            <a:noFill/>
            <a:miter lim="800000"/>
            <a:headEnd/>
            <a:tailEnd/>
          </a:ln>
          <a:effectLst/>
        </p:spPr>
        <p:txBody>
          <a:bodyPr>
            <a:spAutoFit/>
          </a:bodyPr>
          <a:lstStyle/>
          <a:p>
            <a:pPr>
              <a:spcBef>
                <a:spcPct val="50000"/>
              </a:spcBef>
            </a:pPr>
            <a:r>
              <a:rPr lang="fi-FI" sz="1000">
                <a:latin typeface="Arial Narrow" pitchFamily="34" charset="0"/>
              </a:rPr>
              <a:t>Tuntuuko välttämättömältä tuotannon vuoksi?</a:t>
            </a:r>
            <a:endParaRPr lang="en-US" sz="1000">
              <a:latin typeface="Arial Narrow" pitchFamily="34" charset="0"/>
            </a:endParaRPr>
          </a:p>
        </p:txBody>
      </p:sp>
      <p:sp>
        <p:nvSpPr>
          <p:cNvPr id="63507" name="Text Box 19"/>
          <p:cNvSpPr txBox="1">
            <a:spLocks noChangeArrowheads="1"/>
          </p:cNvSpPr>
          <p:nvPr/>
        </p:nvSpPr>
        <p:spPr bwMode="auto">
          <a:xfrm>
            <a:off x="7596188" y="5553075"/>
            <a:ext cx="1512887" cy="396875"/>
          </a:xfrm>
          <a:prstGeom prst="rect">
            <a:avLst/>
          </a:prstGeom>
          <a:noFill/>
          <a:ln w="9525" algn="ctr">
            <a:noFill/>
            <a:miter lim="800000"/>
            <a:headEnd/>
            <a:tailEnd/>
          </a:ln>
          <a:effectLst/>
        </p:spPr>
        <p:txBody>
          <a:bodyPr>
            <a:spAutoFit/>
          </a:bodyPr>
          <a:lstStyle/>
          <a:p>
            <a:pPr>
              <a:spcBef>
                <a:spcPct val="50000"/>
              </a:spcBef>
            </a:pPr>
            <a:r>
              <a:rPr lang="fi-FI" sz="1000">
                <a:latin typeface="Arial Narrow" pitchFamily="34" charset="0"/>
              </a:rPr>
              <a:t>Onko kustannus / aikataulu hyväksyttävissä?</a:t>
            </a:r>
            <a:endParaRPr lang="en-US" sz="1000">
              <a:latin typeface="Arial Narrow" pitchFamily="34" charset="0"/>
            </a:endParaRPr>
          </a:p>
        </p:txBody>
      </p:sp>
      <p:sp>
        <p:nvSpPr>
          <p:cNvPr id="14" name="Slide Number Placeholder 13"/>
          <p:cNvSpPr>
            <a:spLocks noGrp="1"/>
          </p:cNvSpPr>
          <p:nvPr>
            <p:ph type="sldNum" sz="quarter" idx="12"/>
          </p:nvPr>
        </p:nvSpPr>
        <p:spPr/>
        <p:txBody>
          <a:bodyPr/>
          <a:lstStyle/>
          <a:p>
            <a:fld id="{1FC54B03-E980-44E0-A0F1-6CAD9D10ECFB}" type="slidenum">
              <a:rPr lang="fi-FI" smtClean="0"/>
              <a:pPr/>
              <a:t>124</a:t>
            </a:fld>
            <a:endParaRPr lang="fi-FI"/>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2243" name="AutoShape 19"/>
          <p:cNvSpPr>
            <a:spLocks noChangeArrowheads="1"/>
          </p:cNvSpPr>
          <p:nvPr/>
        </p:nvSpPr>
        <p:spPr bwMode="auto">
          <a:xfrm>
            <a:off x="1042988" y="1844675"/>
            <a:ext cx="7562850" cy="3992563"/>
          </a:xfrm>
          <a:prstGeom prst="rightArrow">
            <a:avLst>
              <a:gd name="adj1" fmla="val 50000"/>
              <a:gd name="adj2" fmla="val 47356"/>
            </a:avLst>
          </a:prstGeom>
          <a:solidFill>
            <a:srgbClr val="FFFFFF">
              <a:alpha val="25000"/>
            </a:srgbClr>
          </a:solidFill>
          <a:ln w="9525" algn="ctr">
            <a:solidFill>
              <a:schemeClr val="tx1"/>
            </a:solidFill>
            <a:miter lim="800000"/>
            <a:headEnd/>
            <a:tailEnd/>
          </a:ln>
          <a:effectLst/>
        </p:spPr>
        <p:txBody>
          <a:bodyPr wrap="none" anchor="ctr"/>
          <a:lstStyle/>
          <a:p>
            <a:pPr algn="ctr"/>
            <a:endParaRPr lang="fi-FI" sz="2400"/>
          </a:p>
        </p:txBody>
      </p:sp>
      <p:sp>
        <p:nvSpPr>
          <p:cNvPr id="52256" name="Rectangle 32"/>
          <p:cNvSpPr>
            <a:spLocks noChangeArrowheads="1"/>
          </p:cNvSpPr>
          <p:nvPr/>
        </p:nvSpPr>
        <p:spPr bwMode="auto">
          <a:xfrm>
            <a:off x="4932363" y="2276475"/>
            <a:ext cx="287337" cy="936625"/>
          </a:xfrm>
          <a:prstGeom prst="rect">
            <a:avLst/>
          </a:prstGeom>
          <a:solidFill>
            <a:schemeClr val="folHlink"/>
          </a:solidFill>
          <a:ln w="9525" algn="ctr">
            <a:noFill/>
            <a:miter lim="800000"/>
            <a:headEnd/>
            <a:tailEnd/>
          </a:ln>
          <a:effectLst/>
        </p:spPr>
        <p:txBody>
          <a:bodyPr wrap="none" anchor="ctr"/>
          <a:lstStyle/>
          <a:p>
            <a:pPr algn="ctr"/>
            <a:endParaRPr lang="fi-FI">
              <a:latin typeface="Arial Narrow" pitchFamily="34" charset="0"/>
            </a:endParaRPr>
          </a:p>
        </p:txBody>
      </p:sp>
      <p:sp>
        <p:nvSpPr>
          <p:cNvPr id="52226" name="Rectangle 2"/>
          <p:cNvSpPr>
            <a:spLocks noGrp="1" noChangeArrowheads="1"/>
          </p:cNvSpPr>
          <p:nvPr>
            <p:ph type="title"/>
          </p:nvPr>
        </p:nvSpPr>
        <p:spPr/>
        <p:txBody>
          <a:bodyPr>
            <a:normAutofit fontScale="90000"/>
          </a:bodyPr>
          <a:lstStyle/>
          <a:p>
            <a:r>
              <a:rPr lang="fi-FI"/>
              <a:t>Päätöksenteko New-tilaisella havainnolla</a:t>
            </a:r>
            <a:endParaRPr lang="en-US"/>
          </a:p>
        </p:txBody>
      </p:sp>
      <p:sp>
        <p:nvSpPr>
          <p:cNvPr id="52227" name="Rectangle 3"/>
          <p:cNvSpPr>
            <a:spLocks noChangeArrowheads="1"/>
          </p:cNvSpPr>
          <p:nvPr/>
        </p:nvSpPr>
        <p:spPr bwMode="auto">
          <a:xfrm>
            <a:off x="1333500" y="2276475"/>
            <a:ext cx="1800225" cy="3384550"/>
          </a:xfrm>
          <a:prstGeom prst="rect">
            <a:avLst/>
          </a:prstGeom>
          <a:solidFill>
            <a:schemeClr val="accent1"/>
          </a:solidFill>
          <a:ln w="9525" algn="ctr">
            <a:solidFill>
              <a:schemeClr val="tx1"/>
            </a:solidFill>
            <a:miter lim="800000"/>
            <a:headEnd/>
            <a:tailEnd/>
          </a:ln>
          <a:effectLst/>
        </p:spPr>
        <p:txBody>
          <a:bodyPr/>
          <a:lstStyle/>
          <a:p>
            <a:pPr algn="ctr"/>
            <a:r>
              <a:rPr lang="fi-FI">
                <a:latin typeface="Arial Narrow" pitchFamily="34" charset="0"/>
              </a:rPr>
              <a:t>Havainto</a:t>
            </a:r>
            <a:endParaRPr lang="en-US" sz="1000">
              <a:latin typeface="Arial Narrow" pitchFamily="34" charset="0"/>
            </a:endParaRPr>
          </a:p>
        </p:txBody>
      </p:sp>
      <p:sp>
        <p:nvSpPr>
          <p:cNvPr id="52228" name="Rectangle 4"/>
          <p:cNvSpPr>
            <a:spLocks noChangeArrowheads="1"/>
          </p:cNvSpPr>
          <p:nvPr/>
        </p:nvSpPr>
        <p:spPr bwMode="auto">
          <a:xfrm>
            <a:off x="3278188" y="2276475"/>
            <a:ext cx="574675" cy="1655763"/>
          </a:xfrm>
          <a:prstGeom prst="rect">
            <a:avLst/>
          </a:prstGeom>
          <a:solidFill>
            <a:schemeClr val="accent1"/>
          </a:solidFill>
          <a:ln w="9525" algn="ctr">
            <a:solidFill>
              <a:schemeClr val="tx1"/>
            </a:solidFill>
            <a:miter lim="800000"/>
            <a:headEnd/>
            <a:tailEnd/>
          </a:ln>
          <a:effectLst/>
        </p:spPr>
        <p:txBody>
          <a:bodyPr wrap="none" anchor="ctr"/>
          <a:lstStyle/>
          <a:p>
            <a:pPr algn="ctr"/>
            <a:r>
              <a:rPr lang="fi-FI" sz="1000" b="1">
                <a:latin typeface="Arial Narrow" pitchFamily="34" charset="0"/>
              </a:rPr>
              <a:t>A</a:t>
            </a:r>
            <a:br>
              <a:rPr lang="fi-FI" sz="1000" b="1">
                <a:latin typeface="Arial Narrow" pitchFamily="34" charset="0"/>
              </a:rPr>
            </a:br>
            <a:r>
              <a:rPr lang="fi-FI" sz="1000" b="1">
                <a:latin typeface="Arial Narrow" pitchFamily="34" charset="0"/>
              </a:rPr>
              <a:t>S</a:t>
            </a:r>
          </a:p>
          <a:p>
            <a:pPr algn="ctr"/>
            <a:r>
              <a:rPr lang="fi-FI" sz="1000" b="1">
                <a:latin typeface="Arial Narrow" pitchFamily="34" charset="0"/>
              </a:rPr>
              <a:t>I</a:t>
            </a:r>
          </a:p>
          <a:p>
            <a:pPr algn="ctr"/>
            <a:r>
              <a:rPr lang="fi-FI" sz="1000" b="1">
                <a:latin typeface="Arial Narrow" pitchFamily="34" charset="0"/>
              </a:rPr>
              <a:t>A</a:t>
            </a:r>
          </a:p>
          <a:p>
            <a:pPr algn="ctr"/>
            <a:r>
              <a:rPr lang="fi-FI" sz="1000" b="1">
                <a:latin typeface="Arial Narrow" pitchFamily="34" charset="0"/>
              </a:rPr>
              <a:t>K</a:t>
            </a:r>
          </a:p>
          <a:p>
            <a:pPr algn="ctr"/>
            <a:r>
              <a:rPr lang="fi-FI" sz="1000" b="1">
                <a:latin typeface="Arial Narrow" pitchFamily="34" charset="0"/>
              </a:rPr>
              <a:t>A</a:t>
            </a:r>
          </a:p>
          <a:p>
            <a:pPr algn="ctr"/>
            <a:r>
              <a:rPr lang="fi-FI" sz="1000" b="1">
                <a:latin typeface="Arial Narrow" pitchFamily="34" charset="0"/>
              </a:rPr>
              <a:t>S</a:t>
            </a:r>
            <a:endParaRPr lang="en-US" sz="1000" b="1">
              <a:latin typeface="Arial Narrow" pitchFamily="34" charset="0"/>
            </a:endParaRPr>
          </a:p>
        </p:txBody>
      </p:sp>
      <p:sp>
        <p:nvSpPr>
          <p:cNvPr id="52229" name="AutoShape 5"/>
          <p:cNvSpPr>
            <a:spLocks noChangeArrowheads="1"/>
          </p:cNvSpPr>
          <p:nvPr/>
        </p:nvSpPr>
        <p:spPr bwMode="auto">
          <a:xfrm>
            <a:off x="2989263" y="1843088"/>
            <a:ext cx="1079500" cy="576262"/>
          </a:xfrm>
          <a:prstGeom prst="irregularSeal1">
            <a:avLst/>
          </a:prstGeom>
          <a:solidFill>
            <a:schemeClr val="accent1"/>
          </a:solidFill>
          <a:ln w="9525" algn="ctr">
            <a:solidFill>
              <a:schemeClr val="tx1"/>
            </a:solidFill>
            <a:miter lim="800000"/>
            <a:headEnd/>
            <a:tailEnd/>
          </a:ln>
          <a:effectLst/>
        </p:spPr>
        <p:txBody>
          <a:bodyPr wrap="none" anchor="ctr"/>
          <a:lstStyle/>
          <a:p>
            <a:pPr algn="ctr"/>
            <a:r>
              <a:rPr lang="fi-FI" sz="1400">
                <a:latin typeface="Arial Narrow" pitchFamily="34" charset="0"/>
              </a:rPr>
              <a:t>Tarve</a:t>
            </a:r>
            <a:endParaRPr lang="en-US" sz="1400">
              <a:latin typeface="Arial Narrow" pitchFamily="34" charset="0"/>
            </a:endParaRPr>
          </a:p>
        </p:txBody>
      </p:sp>
      <p:sp>
        <p:nvSpPr>
          <p:cNvPr id="52230" name="Rectangle 6"/>
          <p:cNvSpPr>
            <a:spLocks noChangeArrowheads="1"/>
          </p:cNvSpPr>
          <p:nvPr/>
        </p:nvSpPr>
        <p:spPr bwMode="auto">
          <a:xfrm>
            <a:off x="3927475" y="2276475"/>
            <a:ext cx="574675" cy="3384550"/>
          </a:xfrm>
          <a:prstGeom prst="rect">
            <a:avLst/>
          </a:prstGeom>
          <a:solidFill>
            <a:schemeClr val="accent1"/>
          </a:solidFill>
          <a:ln w="9525" algn="ctr">
            <a:solidFill>
              <a:schemeClr val="tx1"/>
            </a:solidFill>
            <a:miter lim="800000"/>
            <a:headEnd/>
            <a:tailEnd/>
          </a:ln>
          <a:effectLst/>
        </p:spPr>
        <p:txBody>
          <a:bodyPr wrap="none" anchor="ctr"/>
          <a:lstStyle/>
          <a:p>
            <a:pPr algn="ctr"/>
            <a:r>
              <a:rPr lang="fi-FI">
                <a:latin typeface="Arial Narrow" pitchFamily="34" charset="0"/>
              </a:rPr>
              <a:t>T</a:t>
            </a:r>
          </a:p>
          <a:p>
            <a:pPr algn="ctr"/>
            <a:r>
              <a:rPr lang="fi-FI">
                <a:latin typeface="Arial Narrow" pitchFamily="34" charset="0"/>
              </a:rPr>
              <a:t>O</a:t>
            </a:r>
          </a:p>
          <a:p>
            <a:pPr algn="ctr"/>
            <a:r>
              <a:rPr lang="fi-FI">
                <a:latin typeface="Arial Narrow" pitchFamily="34" charset="0"/>
              </a:rPr>
              <a:t>I</a:t>
            </a:r>
          </a:p>
          <a:p>
            <a:pPr algn="ctr"/>
            <a:r>
              <a:rPr lang="fi-FI">
                <a:latin typeface="Arial Narrow" pitchFamily="34" charset="0"/>
              </a:rPr>
              <a:t>M</a:t>
            </a:r>
          </a:p>
          <a:p>
            <a:pPr algn="ctr"/>
            <a:r>
              <a:rPr lang="fi-FI">
                <a:latin typeface="Arial Narrow" pitchFamily="34" charset="0"/>
              </a:rPr>
              <a:t>I</a:t>
            </a:r>
          </a:p>
          <a:p>
            <a:pPr algn="ctr"/>
            <a:r>
              <a:rPr lang="fi-FI">
                <a:latin typeface="Arial Narrow" pitchFamily="34" charset="0"/>
              </a:rPr>
              <a:t>T</a:t>
            </a:r>
          </a:p>
          <a:p>
            <a:pPr algn="ctr"/>
            <a:r>
              <a:rPr lang="fi-FI">
                <a:latin typeface="Arial Narrow" pitchFamily="34" charset="0"/>
              </a:rPr>
              <a:t>T</a:t>
            </a:r>
          </a:p>
          <a:p>
            <a:pPr algn="ctr"/>
            <a:r>
              <a:rPr lang="fi-FI">
                <a:latin typeface="Arial Narrow" pitchFamily="34" charset="0"/>
              </a:rPr>
              <a:t>A</a:t>
            </a:r>
          </a:p>
          <a:p>
            <a:pPr algn="ctr"/>
            <a:r>
              <a:rPr lang="fi-FI">
                <a:latin typeface="Arial Narrow" pitchFamily="34" charset="0"/>
              </a:rPr>
              <a:t>J</a:t>
            </a:r>
          </a:p>
          <a:p>
            <a:pPr algn="ctr"/>
            <a:r>
              <a:rPr lang="fi-FI">
                <a:latin typeface="Arial Narrow" pitchFamily="34" charset="0"/>
              </a:rPr>
              <a:t>A</a:t>
            </a:r>
            <a:endParaRPr lang="en-US">
              <a:latin typeface="Arial Narrow" pitchFamily="34" charset="0"/>
            </a:endParaRPr>
          </a:p>
        </p:txBody>
      </p:sp>
      <p:sp>
        <p:nvSpPr>
          <p:cNvPr id="52233" name="Rectangle 9"/>
          <p:cNvSpPr>
            <a:spLocks noChangeArrowheads="1"/>
          </p:cNvSpPr>
          <p:nvPr/>
        </p:nvSpPr>
        <p:spPr bwMode="auto">
          <a:xfrm>
            <a:off x="4932363" y="3213100"/>
            <a:ext cx="288925" cy="1366838"/>
          </a:xfrm>
          <a:prstGeom prst="rect">
            <a:avLst/>
          </a:prstGeom>
          <a:solidFill>
            <a:srgbClr val="99FF33"/>
          </a:solidFill>
          <a:ln w="9525" algn="ctr">
            <a:noFill/>
            <a:miter lim="800000"/>
            <a:headEnd/>
            <a:tailEnd/>
          </a:ln>
          <a:effectLst/>
        </p:spPr>
        <p:txBody>
          <a:bodyPr wrap="none" anchor="ctr"/>
          <a:lstStyle/>
          <a:p>
            <a:pPr algn="ctr"/>
            <a:endParaRPr lang="fi-FI">
              <a:latin typeface="Arial Narrow" pitchFamily="34" charset="0"/>
            </a:endParaRPr>
          </a:p>
        </p:txBody>
      </p:sp>
      <p:sp>
        <p:nvSpPr>
          <p:cNvPr id="52235" name="Rectangle 11"/>
          <p:cNvSpPr>
            <a:spLocks noChangeArrowheads="1"/>
          </p:cNvSpPr>
          <p:nvPr/>
        </p:nvSpPr>
        <p:spPr bwMode="auto">
          <a:xfrm rot="16200000">
            <a:off x="4350544" y="3715544"/>
            <a:ext cx="1392238" cy="336550"/>
          </a:xfrm>
          <a:prstGeom prst="rect">
            <a:avLst/>
          </a:prstGeom>
          <a:noFill/>
          <a:ln w="9525" algn="ctr">
            <a:noFill/>
            <a:miter lim="800000"/>
            <a:headEnd/>
            <a:tailEnd/>
          </a:ln>
          <a:effectLst/>
        </p:spPr>
        <p:txBody>
          <a:bodyPr wrap="none">
            <a:spAutoFit/>
          </a:bodyPr>
          <a:lstStyle/>
          <a:p>
            <a:r>
              <a:rPr lang="fi-FI" sz="1600"/>
              <a:t>Ohjausryhmä</a:t>
            </a:r>
            <a:endParaRPr lang="en-US" sz="1600"/>
          </a:p>
        </p:txBody>
      </p:sp>
      <p:sp>
        <p:nvSpPr>
          <p:cNvPr id="52237" name="Rectangle 13"/>
          <p:cNvSpPr>
            <a:spLocks noChangeArrowheads="1"/>
          </p:cNvSpPr>
          <p:nvPr/>
        </p:nvSpPr>
        <p:spPr bwMode="auto">
          <a:xfrm>
            <a:off x="5510213" y="2276475"/>
            <a:ext cx="2160587" cy="3384550"/>
          </a:xfrm>
          <a:prstGeom prst="rect">
            <a:avLst/>
          </a:prstGeom>
          <a:solidFill>
            <a:schemeClr val="bg2"/>
          </a:solidFill>
          <a:ln w="9525" algn="ctr">
            <a:solidFill>
              <a:schemeClr val="tx1"/>
            </a:solidFill>
            <a:miter lim="800000"/>
            <a:headEnd/>
            <a:tailEnd/>
          </a:ln>
          <a:effectLst/>
        </p:spPr>
        <p:txBody>
          <a:bodyPr wrap="none" anchor="ctr"/>
          <a:lstStyle/>
          <a:p>
            <a:pPr algn="ctr"/>
            <a:r>
              <a:rPr lang="fi-FI" dirty="0">
                <a:latin typeface="Arial Narrow" pitchFamily="34" charset="0"/>
              </a:rPr>
              <a:t>Toteutus, testaus, </a:t>
            </a:r>
            <a:br>
              <a:rPr lang="fi-FI" dirty="0">
                <a:latin typeface="Arial Narrow" pitchFamily="34" charset="0"/>
              </a:rPr>
            </a:br>
            <a:r>
              <a:rPr lang="fi-FI" dirty="0">
                <a:latin typeface="Arial Narrow" pitchFamily="34" charset="0"/>
              </a:rPr>
              <a:t>toimitus</a:t>
            </a:r>
            <a:endParaRPr lang="en-US" dirty="0">
              <a:latin typeface="Arial Narrow" pitchFamily="34" charset="0"/>
            </a:endParaRPr>
          </a:p>
        </p:txBody>
      </p:sp>
      <p:sp>
        <p:nvSpPr>
          <p:cNvPr id="52238" name="Rectangle 14"/>
          <p:cNvSpPr>
            <a:spLocks noChangeArrowheads="1"/>
          </p:cNvSpPr>
          <p:nvPr/>
        </p:nvSpPr>
        <p:spPr bwMode="auto">
          <a:xfrm>
            <a:off x="4645025" y="2347913"/>
            <a:ext cx="287338" cy="2232025"/>
          </a:xfrm>
          <a:prstGeom prst="rect">
            <a:avLst/>
          </a:prstGeom>
          <a:solidFill>
            <a:schemeClr val="accent1"/>
          </a:solidFill>
          <a:ln w="9525" algn="ctr">
            <a:noFill/>
            <a:miter lim="800000"/>
            <a:headEnd/>
            <a:tailEnd/>
          </a:ln>
          <a:effectLst/>
        </p:spPr>
        <p:txBody>
          <a:bodyPr wrap="none" anchor="ctr"/>
          <a:lstStyle/>
          <a:p>
            <a:pPr algn="ctr"/>
            <a:r>
              <a:rPr lang="fi-FI" sz="1400" b="1">
                <a:latin typeface="Arial Narrow" pitchFamily="34" charset="0"/>
              </a:rPr>
              <a:t>A</a:t>
            </a:r>
          </a:p>
          <a:p>
            <a:pPr algn="ctr"/>
            <a:r>
              <a:rPr lang="fi-FI" sz="1400" b="1">
                <a:latin typeface="Arial Narrow" pitchFamily="34" charset="0"/>
              </a:rPr>
              <a:t>S</a:t>
            </a:r>
          </a:p>
          <a:p>
            <a:pPr algn="ctr"/>
            <a:r>
              <a:rPr lang="fi-FI" sz="1400" b="1">
                <a:latin typeface="Arial Narrow" pitchFamily="34" charset="0"/>
              </a:rPr>
              <a:t>I</a:t>
            </a:r>
          </a:p>
          <a:p>
            <a:pPr algn="ctr"/>
            <a:r>
              <a:rPr lang="fi-FI" sz="1400" b="1">
                <a:latin typeface="Arial Narrow" pitchFamily="34" charset="0"/>
              </a:rPr>
              <a:t>A</a:t>
            </a:r>
          </a:p>
          <a:p>
            <a:pPr algn="ctr"/>
            <a:r>
              <a:rPr lang="fi-FI" sz="1400" b="1">
                <a:latin typeface="Arial Narrow" pitchFamily="34" charset="0"/>
              </a:rPr>
              <a:t>K</a:t>
            </a:r>
          </a:p>
          <a:p>
            <a:pPr algn="ctr"/>
            <a:r>
              <a:rPr lang="fi-FI" sz="1400" b="1">
                <a:latin typeface="Arial Narrow" pitchFamily="34" charset="0"/>
              </a:rPr>
              <a:t>A</a:t>
            </a:r>
          </a:p>
          <a:p>
            <a:pPr algn="ctr"/>
            <a:r>
              <a:rPr lang="fi-FI" sz="1400" b="1">
                <a:latin typeface="Arial Narrow" pitchFamily="34" charset="0"/>
              </a:rPr>
              <a:t>S</a:t>
            </a:r>
            <a:endParaRPr lang="en-US" sz="1400" b="1">
              <a:latin typeface="Arial Narrow" pitchFamily="34" charset="0"/>
            </a:endParaRPr>
          </a:p>
        </p:txBody>
      </p:sp>
      <p:sp>
        <p:nvSpPr>
          <p:cNvPr id="52240" name="AutoShape 16"/>
          <p:cNvSpPr>
            <a:spLocks noChangeArrowheads="1"/>
          </p:cNvSpPr>
          <p:nvPr/>
        </p:nvSpPr>
        <p:spPr bwMode="auto">
          <a:xfrm>
            <a:off x="3781425" y="5372100"/>
            <a:ext cx="1079500" cy="576263"/>
          </a:xfrm>
          <a:prstGeom prst="irregularSeal1">
            <a:avLst/>
          </a:prstGeom>
          <a:solidFill>
            <a:schemeClr val="accent1"/>
          </a:solidFill>
          <a:ln w="9525" algn="ctr">
            <a:solidFill>
              <a:schemeClr val="tx1"/>
            </a:solidFill>
            <a:miter lim="800000"/>
            <a:headEnd/>
            <a:tailEnd/>
          </a:ln>
          <a:effectLst/>
        </p:spPr>
        <p:txBody>
          <a:bodyPr wrap="none" anchor="ctr"/>
          <a:lstStyle/>
          <a:p>
            <a:pPr algn="ctr"/>
            <a:r>
              <a:rPr lang="fi-FI" sz="1400">
                <a:latin typeface="Arial Narrow" pitchFamily="34" charset="0"/>
              </a:rPr>
              <a:t>Hinta</a:t>
            </a:r>
            <a:endParaRPr lang="en-US" sz="1400">
              <a:latin typeface="Arial Narrow" pitchFamily="34" charset="0"/>
            </a:endParaRPr>
          </a:p>
        </p:txBody>
      </p:sp>
      <p:grpSp>
        <p:nvGrpSpPr>
          <p:cNvPr id="2" name="Group 36"/>
          <p:cNvGrpSpPr>
            <a:grpSpLocks/>
          </p:cNvGrpSpPr>
          <p:nvPr/>
        </p:nvGrpSpPr>
        <p:grpSpPr bwMode="auto">
          <a:xfrm>
            <a:off x="1620838" y="2852738"/>
            <a:ext cx="1152525" cy="2520950"/>
            <a:chOff x="1021" y="1797"/>
            <a:chExt cx="726" cy="1225"/>
          </a:xfrm>
        </p:grpSpPr>
        <p:sp>
          <p:nvSpPr>
            <p:cNvPr id="52231" name="AutoShape 7"/>
            <p:cNvSpPr>
              <a:spLocks noChangeArrowheads="1"/>
            </p:cNvSpPr>
            <p:nvPr/>
          </p:nvSpPr>
          <p:spPr bwMode="auto">
            <a:xfrm>
              <a:off x="1022" y="2750"/>
              <a:ext cx="725" cy="272"/>
            </a:xfrm>
            <a:prstGeom prst="roundRect">
              <a:avLst>
                <a:gd name="adj" fmla="val 16667"/>
              </a:avLst>
            </a:prstGeom>
            <a:solidFill>
              <a:schemeClr val="bg1"/>
            </a:solidFill>
            <a:ln w="9525" algn="ctr">
              <a:solidFill>
                <a:schemeClr val="tx1"/>
              </a:solidFill>
              <a:round/>
              <a:headEnd/>
              <a:tailEnd/>
            </a:ln>
            <a:effectLst/>
          </p:spPr>
          <p:txBody>
            <a:bodyPr wrap="none" anchor="ctr"/>
            <a:lstStyle/>
            <a:p>
              <a:pPr algn="ctr"/>
              <a:r>
                <a:rPr lang="fi-FI" sz="1200">
                  <a:latin typeface="Arial Narrow" pitchFamily="34" charset="0"/>
                </a:rPr>
                <a:t>Luokittelu </a:t>
              </a:r>
              <a:endParaRPr lang="en-US" sz="1200">
                <a:latin typeface="Arial Narrow" pitchFamily="34" charset="0"/>
              </a:endParaRPr>
            </a:p>
          </p:txBody>
        </p:sp>
        <p:sp>
          <p:nvSpPr>
            <p:cNvPr id="52232" name="AutoShape 8"/>
            <p:cNvSpPr>
              <a:spLocks noChangeArrowheads="1"/>
            </p:cNvSpPr>
            <p:nvPr/>
          </p:nvSpPr>
          <p:spPr bwMode="auto">
            <a:xfrm>
              <a:off x="1021" y="2432"/>
              <a:ext cx="725" cy="272"/>
            </a:xfrm>
            <a:prstGeom prst="roundRect">
              <a:avLst>
                <a:gd name="adj" fmla="val 16667"/>
              </a:avLst>
            </a:prstGeom>
            <a:solidFill>
              <a:schemeClr val="bg1"/>
            </a:solidFill>
            <a:ln w="9525" algn="ctr">
              <a:solidFill>
                <a:schemeClr val="tx1"/>
              </a:solidFill>
              <a:round/>
              <a:headEnd/>
              <a:tailEnd/>
            </a:ln>
            <a:effectLst/>
          </p:spPr>
          <p:txBody>
            <a:bodyPr anchor="ctr"/>
            <a:lstStyle/>
            <a:p>
              <a:pPr algn="ctr"/>
              <a:r>
                <a:rPr lang="fi-FI" sz="1200">
                  <a:latin typeface="Arial Narrow" pitchFamily="34" charset="0"/>
                </a:rPr>
                <a:t>Alustava kustannus-kohdistus</a:t>
              </a:r>
              <a:endParaRPr lang="en-US" sz="1200">
                <a:latin typeface="Arial Narrow" pitchFamily="34" charset="0"/>
              </a:endParaRPr>
            </a:p>
          </p:txBody>
        </p:sp>
        <p:sp>
          <p:nvSpPr>
            <p:cNvPr id="52236" name="AutoShape 12"/>
            <p:cNvSpPr>
              <a:spLocks noChangeArrowheads="1"/>
            </p:cNvSpPr>
            <p:nvPr/>
          </p:nvSpPr>
          <p:spPr bwMode="auto">
            <a:xfrm>
              <a:off x="1021" y="2115"/>
              <a:ext cx="725" cy="272"/>
            </a:xfrm>
            <a:prstGeom prst="roundRect">
              <a:avLst>
                <a:gd name="adj" fmla="val 16667"/>
              </a:avLst>
            </a:prstGeom>
            <a:solidFill>
              <a:schemeClr val="bg1"/>
            </a:solidFill>
            <a:ln w="9525" algn="ctr">
              <a:solidFill>
                <a:schemeClr val="tx1"/>
              </a:solidFill>
              <a:round/>
              <a:headEnd/>
              <a:tailEnd/>
            </a:ln>
            <a:effectLst/>
          </p:spPr>
          <p:txBody>
            <a:bodyPr wrap="none" anchor="ctr"/>
            <a:lstStyle/>
            <a:p>
              <a:pPr algn="ctr"/>
              <a:r>
                <a:rPr lang="fi-FI" sz="1200">
                  <a:latin typeface="Arial Narrow" pitchFamily="34" charset="0"/>
                </a:rPr>
                <a:t>Prioriteetti</a:t>
              </a:r>
              <a:endParaRPr lang="en-US" sz="1200">
                <a:latin typeface="Arial Narrow" pitchFamily="34" charset="0"/>
              </a:endParaRPr>
            </a:p>
          </p:txBody>
        </p:sp>
        <p:sp>
          <p:nvSpPr>
            <p:cNvPr id="52241" name="AutoShape 17"/>
            <p:cNvSpPr>
              <a:spLocks noChangeArrowheads="1"/>
            </p:cNvSpPr>
            <p:nvPr/>
          </p:nvSpPr>
          <p:spPr bwMode="auto">
            <a:xfrm>
              <a:off x="1021" y="1797"/>
              <a:ext cx="725" cy="272"/>
            </a:xfrm>
            <a:prstGeom prst="roundRect">
              <a:avLst>
                <a:gd name="adj" fmla="val 16667"/>
              </a:avLst>
            </a:prstGeom>
            <a:solidFill>
              <a:schemeClr val="bg1"/>
            </a:solidFill>
            <a:ln w="9525" algn="ctr">
              <a:solidFill>
                <a:schemeClr val="tx1"/>
              </a:solidFill>
              <a:round/>
              <a:headEnd/>
              <a:tailEnd/>
            </a:ln>
            <a:effectLst/>
          </p:spPr>
          <p:txBody>
            <a:bodyPr wrap="none" anchor="ctr"/>
            <a:lstStyle/>
            <a:p>
              <a:pPr algn="ctr"/>
              <a:r>
                <a:rPr lang="fi-FI" sz="1200">
                  <a:latin typeface="Arial Narrow" pitchFamily="34" charset="0"/>
                </a:rPr>
                <a:t>Vakavuus</a:t>
              </a:r>
              <a:endParaRPr lang="en-US" sz="1200">
                <a:latin typeface="Arial Narrow" pitchFamily="34" charset="0"/>
              </a:endParaRPr>
            </a:p>
          </p:txBody>
        </p:sp>
      </p:grpSp>
      <p:sp>
        <p:nvSpPr>
          <p:cNvPr id="52242" name="Rectangle 18"/>
          <p:cNvSpPr>
            <a:spLocks noChangeArrowheads="1"/>
          </p:cNvSpPr>
          <p:nvPr/>
        </p:nvSpPr>
        <p:spPr bwMode="auto">
          <a:xfrm>
            <a:off x="3278188" y="4005263"/>
            <a:ext cx="574675" cy="1655762"/>
          </a:xfrm>
          <a:prstGeom prst="rect">
            <a:avLst/>
          </a:prstGeom>
          <a:solidFill>
            <a:schemeClr val="accent1"/>
          </a:solidFill>
          <a:ln w="9525" algn="ctr">
            <a:solidFill>
              <a:schemeClr val="tx1"/>
            </a:solidFill>
            <a:miter lim="800000"/>
            <a:headEnd/>
            <a:tailEnd/>
          </a:ln>
          <a:effectLst/>
        </p:spPr>
        <p:txBody>
          <a:bodyPr wrap="none" anchor="ctr"/>
          <a:lstStyle/>
          <a:p>
            <a:pPr algn="ctr"/>
            <a:r>
              <a:rPr lang="fi-FI" sz="1000" b="1">
                <a:latin typeface="Arial Narrow" pitchFamily="34" charset="0"/>
              </a:rPr>
              <a:t>T</a:t>
            </a:r>
          </a:p>
          <a:p>
            <a:pPr algn="ctr"/>
            <a:r>
              <a:rPr lang="fi-FI" sz="1000" b="1">
                <a:latin typeface="Arial Narrow" pitchFamily="34" charset="0"/>
              </a:rPr>
              <a:t>O</a:t>
            </a:r>
            <a:br>
              <a:rPr lang="fi-FI" sz="1000" b="1">
                <a:latin typeface="Arial Narrow" pitchFamily="34" charset="0"/>
              </a:rPr>
            </a:br>
            <a:r>
              <a:rPr lang="fi-FI" sz="1000" b="1">
                <a:latin typeface="Arial Narrow" pitchFamily="34" charset="0"/>
              </a:rPr>
              <a:t>I</a:t>
            </a:r>
            <a:br>
              <a:rPr lang="fi-FI" sz="1000" b="1">
                <a:latin typeface="Arial Narrow" pitchFamily="34" charset="0"/>
              </a:rPr>
            </a:br>
            <a:r>
              <a:rPr lang="fi-FI" sz="1000" b="1">
                <a:latin typeface="Arial Narrow" pitchFamily="34" charset="0"/>
              </a:rPr>
              <a:t>M</a:t>
            </a:r>
          </a:p>
          <a:p>
            <a:pPr algn="ctr"/>
            <a:r>
              <a:rPr lang="fi-FI" sz="1000" b="1">
                <a:latin typeface="Arial Narrow" pitchFamily="34" charset="0"/>
              </a:rPr>
              <a:t>I</a:t>
            </a:r>
          </a:p>
          <a:p>
            <a:pPr algn="ctr"/>
            <a:r>
              <a:rPr lang="fi-FI" sz="1000" b="1">
                <a:latin typeface="Arial Narrow" pitchFamily="34" charset="0"/>
              </a:rPr>
              <a:t>T</a:t>
            </a:r>
          </a:p>
          <a:p>
            <a:pPr algn="ctr"/>
            <a:r>
              <a:rPr lang="fi-FI" sz="1000" b="1">
                <a:latin typeface="Arial Narrow" pitchFamily="34" charset="0"/>
              </a:rPr>
              <a:t>T</a:t>
            </a:r>
          </a:p>
          <a:p>
            <a:pPr algn="ctr"/>
            <a:r>
              <a:rPr lang="fi-FI" sz="1000" b="1">
                <a:latin typeface="Arial Narrow" pitchFamily="34" charset="0"/>
              </a:rPr>
              <a:t>A</a:t>
            </a:r>
          </a:p>
          <a:p>
            <a:pPr algn="ctr"/>
            <a:r>
              <a:rPr lang="fi-FI" sz="1000" b="1">
                <a:latin typeface="Arial Narrow" pitchFamily="34" charset="0"/>
              </a:rPr>
              <a:t>J</a:t>
            </a:r>
          </a:p>
          <a:p>
            <a:pPr algn="ctr"/>
            <a:r>
              <a:rPr lang="fi-FI" sz="1000" b="1">
                <a:latin typeface="Arial Narrow" pitchFamily="34" charset="0"/>
              </a:rPr>
              <a:t>A</a:t>
            </a:r>
            <a:endParaRPr lang="en-US" sz="1000" b="1">
              <a:latin typeface="Arial Narrow" pitchFamily="34" charset="0"/>
            </a:endParaRPr>
          </a:p>
        </p:txBody>
      </p:sp>
      <p:sp>
        <p:nvSpPr>
          <p:cNvPr id="52244" name="AutoShape 20"/>
          <p:cNvSpPr>
            <a:spLocks noChangeArrowheads="1"/>
          </p:cNvSpPr>
          <p:nvPr/>
        </p:nvSpPr>
        <p:spPr bwMode="auto">
          <a:xfrm>
            <a:off x="1331913" y="1268413"/>
            <a:ext cx="4105275" cy="576262"/>
          </a:xfrm>
          <a:prstGeom prst="leftRightArrow">
            <a:avLst>
              <a:gd name="adj1" fmla="val 50000"/>
              <a:gd name="adj2" fmla="val 142479"/>
            </a:avLst>
          </a:prstGeom>
          <a:solidFill>
            <a:schemeClr val="accent1"/>
          </a:solidFill>
          <a:ln w="9525" algn="ctr">
            <a:solidFill>
              <a:schemeClr val="tx1"/>
            </a:solidFill>
            <a:miter lim="800000"/>
            <a:headEnd/>
            <a:tailEnd/>
          </a:ln>
          <a:effectLst/>
        </p:spPr>
        <p:txBody>
          <a:bodyPr wrap="none" anchor="ctr"/>
          <a:lstStyle/>
          <a:p>
            <a:pPr algn="ctr"/>
            <a:r>
              <a:rPr lang="fi-FI" sz="1600">
                <a:latin typeface="Arial Narrow" pitchFamily="34" charset="0"/>
              </a:rPr>
              <a:t>New</a:t>
            </a:r>
            <a:endParaRPr lang="en-US" sz="1600">
              <a:latin typeface="Arial Narrow" pitchFamily="34" charset="0"/>
            </a:endParaRPr>
          </a:p>
        </p:txBody>
      </p:sp>
      <p:sp>
        <p:nvSpPr>
          <p:cNvPr id="52245" name="AutoShape 21"/>
          <p:cNvSpPr>
            <a:spLocks noChangeArrowheads="1"/>
          </p:cNvSpPr>
          <p:nvPr/>
        </p:nvSpPr>
        <p:spPr bwMode="auto">
          <a:xfrm>
            <a:off x="5437188" y="1268413"/>
            <a:ext cx="2447925" cy="576262"/>
          </a:xfrm>
          <a:prstGeom prst="leftRightArrow">
            <a:avLst>
              <a:gd name="adj1" fmla="val 50000"/>
              <a:gd name="adj2" fmla="val 84959"/>
            </a:avLst>
          </a:prstGeom>
          <a:solidFill>
            <a:schemeClr val="accent1"/>
          </a:solidFill>
          <a:ln w="9525" algn="ctr">
            <a:solidFill>
              <a:schemeClr val="tx1"/>
            </a:solidFill>
            <a:miter lim="800000"/>
            <a:headEnd/>
            <a:tailEnd/>
          </a:ln>
          <a:effectLst/>
        </p:spPr>
        <p:txBody>
          <a:bodyPr wrap="none" anchor="ctr"/>
          <a:lstStyle/>
          <a:p>
            <a:pPr algn="ctr"/>
            <a:r>
              <a:rPr lang="fi-FI" sz="1600">
                <a:latin typeface="Arial Narrow" pitchFamily="34" charset="0"/>
              </a:rPr>
              <a:t>Muut tilat</a:t>
            </a:r>
            <a:endParaRPr lang="en-US" sz="1600">
              <a:latin typeface="Arial Narrow" pitchFamily="34" charset="0"/>
            </a:endParaRPr>
          </a:p>
        </p:txBody>
      </p:sp>
      <p:grpSp>
        <p:nvGrpSpPr>
          <p:cNvPr id="3" name="Group 22"/>
          <p:cNvGrpSpPr>
            <a:grpSpLocks/>
          </p:cNvGrpSpPr>
          <p:nvPr/>
        </p:nvGrpSpPr>
        <p:grpSpPr bwMode="auto">
          <a:xfrm>
            <a:off x="34925" y="2060575"/>
            <a:ext cx="1008063" cy="1222375"/>
            <a:chOff x="884" y="1480"/>
            <a:chExt cx="995" cy="1179"/>
          </a:xfrm>
        </p:grpSpPr>
        <p:pic>
          <p:nvPicPr>
            <p:cNvPr id="52247" name="Picture 23" descr="MC900290031[1]"/>
            <p:cNvPicPr>
              <a:picLocks noChangeAspect="1" noChangeArrowheads="1"/>
            </p:cNvPicPr>
            <p:nvPr/>
          </p:nvPicPr>
          <p:blipFill>
            <a:blip r:embed="rId2" cstate="print"/>
            <a:srcRect/>
            <a:stretch>
              <a:fillRect/>
            </a:stretch>
          </p:blipFill>
          <p:spPr bwMode="auto">
            <a:xfrm>
              <a:off x="884" y="1480"/>
              <a:ext cx="995" cy="1179"/>
            </a:xfrm>
            <a:prstGeom prst="rect">
              <a:avLst/>
            </a:prstGeom>
            <a:noFill/>
          </p:spPr>
        </p:pic>
        <p:sp>
          <p:nvSpPr>
            <p:cNvPr id="52248" name="WordArt 24"/>
            <p:cNvSpPr>
              <a:spLocks noChangeArrowheads="1" noChangeShapeType="1" noTextEdit="1"/>
            </p:cNvSpPr>
            <p:nvPr/>
          </p:nvSpPr>
          <p:spPr bwMode="auto">
            <a:xfrm>
              <a:off x="1376" y="2138"/>
              <a:ext cx="173" cy="226"/>
            </a:xfrm>
            <a:prstGeom prst="rect">
              <a:avLst/>
            </a:prstGeom>
          </p:spPr>
          <p:txBody>
            <a:bodyPr wrap="none" fromWordArt="1">
              <a:prstTxWarp prst="textPlain">
                <a:avLst>
                  <a:gd name="adj" fmla="val 50000"/>
                </a:avLst>
              </a:prstTxWarp>
            </a:bodyPr>
            <a:lstStyle/>
            <a:p>
              <a:pPr algn="ctr"/>
              <a:r>
                <a:rPr lang="fi-FI" sz="1200" kern="10" dirty="0" smtClean="0">
                  <a:ln w="19050">
                    <a:solidFill>
                      <a:srgbClr val="99CCFF"/>
                    </a:solidFill>
                    <a:round/>
                    <a:headEnd/>
                    <a:tailEnd/>
                  </a:ln>
                  <a:solidFill>
                    <a:srgbClr val="0066CC"/>
                  </a:solidFill>
                  <a:effectLst>
                    <a:outerShdw dist="35921" dir="2700000" algn="ctr" rotWithShape="0">
                      <a:srgbClr val="990000"/>
                    </a:outerShdw>
                  </a:effectLst>
                  <a:latin typeface="Impact"/>
                </a:rPr>
                <a:t> A</a:t>
              </a:r>
              <a:endParaRPr lang="fi-FI" sz="1200" kern="10" dirty="0">
                <a:ln w="19050">
                  <a:solidFill>
                    <a:srgbClr val="99CCFF"/>
                  </a:solidFill>
                  <a:round/>
                  <a:headEnd/>
                  <a:tailEnd/>
                </a:ln>
                <a:solidFill>
                  <a:srgbClr val="0066CC"/>
                </a:solidFill>
                <a:effectLst>
                  <a:outerShdw dist="35921" dir="2700000" algn="ctr" rotWithShape="0">
                    <a:srgbClr val="990000"/>
                  </a:outerShdw>
                </a:effectLst>
                <a:latin typeface="Impact"/>
              </a:endParaRPr>
            </a:p>
          </p:txBody>
        </p:sp>
      </p:grpSp>
      <p:grpSp>
        <p:nvGrpSpPr>
          <p:cNvPr id="4" name="Group 26"/>
          <p:cNvGrpSpPr>
            <a:grpSpLocks/>
          </p:cNvGrpSpPr>
          <p:nvPr/>
        </p:nvGrpSpPr>
        <p:grpSpPr bwMode="auto">
          <a:xfrm>
            <a:off x="34925" y="4292600"/>
            <a:ext cx="1008063" cy="1295400"/>
            <a:chOff x="3606" y="1480"/>
            <a:chExt cx="995" cy="1179"/>
          </a:xfrm>
        </p:grpSpPr>
        <p:pic>
          <p:nvPicPr>
            <p:cNvPr id="52251" name="Picture 27" descr="MC900290031[1]"/>
            <p:cNvPicPr>
              <a:picLocks noChangeAspect="1" noChangeArrowheads="1"/>
            </p:cNvPicPr>
            <p:nvPr/>
          </p:nvPicPr>
          <p:blipFill>
            <a:blip r:embed="rId2" cstate="print"/>
            <a:srcRect/>
            <a:stretch>
              <a:fillRect/>
            </a:stretch>
          </p:blipFill>
          <p:spPr bwMode="auto">
            <a:xfrm>
              <a:off x="3606" y="1480"/>
              <a:ext cx="995" cy="1179"/>
            </a:xfrm>
            <a:prstGeom prst="rect">
              <a:avLst/>
            </a:prstGeom>
            <a:noFill/>
          </p:spPr>
        </p:pic>
        <p:sp>
          <p:nvSpPr>
            <p:cNvPr id="52252" name="WordArt 28"/>
            <p:cNvSpPr>
              <a:spLocks noChangeArrowheads="1" noChangeShapeType="1" noTextEdit="1"/>
            </p:cNvSpPr>
            <p:nvPr/>
          </p:nvSpPr>
          <p:spPr bwMode="auto">
            <a:xfrm>
              <a:off x="4105" y="2206"/>
              <a:ext cx="162" cy="120"/>
            </a:xfrm>
            <a:prstGeom prst="rect">
              <a:avLst/>
            </a:prstGeom>
          </p:spPr>
          <p:txBody>
            <a:bodyPr wrap="none" fromWordArt="1">
              <a:prstTxWarp prst="textPlain">
                <a:avLst>
                  <a:gd name="adj" fmla="val 50000"/>
                </a:avLst>
              </a:prstTxWarp>
            </a:bodyPr>
            <a:lstStyle/>
            <a:p>
              <a:pPr algn="ctr"/>
              <a:r>
                <a:rPr lang="fi-FI" sz="1200" kern="10" dirty="0" smtClean="0">
                  <a:ln w="19050">
                    <a:solidFill>
                      <a:srgbClr val="99CCFF"/>
                    </a:solidFill>
                    <a:round/>
                    <a:headEnd/>
                    <a:tailEnd/>
                  </a:ln>
                  <a:solidFill>
                    <a:srgbClr val="0066CC"/>
                  </a:solidFill>
                  <a:effectLst>
                    <a:outerShdw dist="35921" dir="2700000" algn="ctr" rotWithShape="0">
                      <a:srgbClr val="990000"/>
                    </a:outerShdw>
                  </a:effectLst>
                  <a:latin typeface="Impact"/>
                </a:rPr>
                <a:t>T</a:t>
              </a:r>
              <a:endParaRPr lang="fi-FI" sz="1200" kern="10" dirty="0">
                <a:ln w="19050">
                  <a:solidFill>
                    <a:srgbClr val="99CCFF"/>
                  </a:solidFill>
                  <a:round/>
                  <a:headEnd/>
                  <a:tailEnd/>
                </a:ln>
                <a:solidFill>
                  <a:srgbClr val="0066CC"/>
                </a:solidFill>
                <a:effectLst>
                  <a:outerShdw dist="35921" dir="2700000" algn="ctr" rotWithShape="0">
                    <a:srgbClr val="990000"/>
                  </a:outerShdw>
                </a:effectLst>
                <a:latin typeface="Impact"/>
              </a:endParaRPr>
            </a:p>
          </p:txBody>
        </p:sp>
      </p:grpSp>
      <p:sp>
        <p:nvSpPr>
          <p:cNvPr id="52253" name="AutoShape 29"/>
          <p:cNvSpPr>
            <a:spLocks noChangeArrowheads="1"/>
          </p:cNvSpPr>
          <p:nvPr/>
        </p:nvSpPr>
        <p:spPr bwMode="auto">
          <a:xfrm rot="16200000">
            <a:off x="0" y="2708276"/>
            <a:ext cx="358775" cy="215900"/>
          </a:xfrm>
          <a:prstGeom prst="downArrow">
            <a:avLst>
              <a:gd name="adj1" fmla="val 50000"/>
              <a:gd name="adj2" fmla="val 25000"/>
            </a:avLst>
          </a:prstGeom>
          <a:solidFill>
            <a:srgbClr val="FF6699"/>
          </a:solidFill>
          <a:ln w="9525" algn="ctr">
            <a:solidFill>
              <a:schemeClr val="tx1"/>
            </a:solidFill>
            <a:miter lim="800000"/>
            <a:headEnd/>
            <a:tailEnd/>
          </a:ln>
          <a:effectLst/>
        </p:spPr>
        <p:txBody>
          <a:bodyPr wrap="none" anchor="ctr"/>
          <a:lstStyle/>
          <a:p>
            <a:endParaRPr lang="fi-FI"/>
          </a:p>
        </p:txBody>
      </p:sp>
      <p:sp>
        <p:nvSpPr>
          <p:cNvPr id="52254" name="AutoShape 30"/>
          <p:cNvSpPr>
            <a:spLocks noChangeArrowheads="1"/>
          </p:cNvSpPr>
          <p:nvPr/>
        </p:nvSpPr>
        <p:spPr bwMode="auto">
          <a:xfrm rot="16200000">
            <a:off x="7937" y="5013326"/>
            <a:ext cx="358775" cy="215900"/>
          </a:xfrm>
          <a:prstGeom prst="downArrow">
            <a:avLst>
              <a:gd name="adj1" fmla="val 50000"/>
              <a:gd name="adj2" fmla="val 25000"/>
            </a:avLst>
          </a:prstGeom>
          <a:solidFill>
            <a:srgbClr val="FF6699"/>
          </a:solidFill>
          <a:ln w="9525" algn="ctr">
            <a:solidFill>
              <a:schemeClr val="tx1"/>
            </a:solidFill>
            <a:miter lim="800000"/>
            <a:headEnd/>
            <a:tailEnd/>
          </a:ln>
          <a:effectLst/>
        </p:spPr>
        <p:txBody>
          <a:bodyPr wrap="none" anchor="ctr"/>
          <a:lstStyle/>
          <a:p>
            <a:endParaRPr lang="fi-FI"/>
          </a:p>
        </p:txBody>
      </p:sp>
      <p:sp>
        <p:nvSpPr>
          <p:cNvPr id="52234" name="AutoShape 10"/>
          <p:cNvSpPr>
            <a:spLocks noChangeArrowheads="1"/>
          </p:cNvSpPr>
          <p:nvPr/>
        </p:nvSpPr>
        <p:spPr bwMode="auto">
          <a:xfrm>
            <a:off x="4357688" y="1916113"/>
            <a:ext cx="1079500" cy="576262"/>
          </a:xfrm>
          <a:prstGeom prst="irregularSeal1">
            <a:avLst/>
          </a:prstGeom>
          <a:solidFill>
            <a:schemeClr val="folHlink"/>
          </a:solidFill>
          <a:ln w="9525" algn="ctr">
            <a:solidFill>
              <a:schemeClr val="tx1"/>
            </a:solidFill>
            <a:miter lim="800000"/>
            <a:headEnd/>
            <a:tailEnd/>
          </a:ln>
          <a:effectLst/>
        </p:spPr>
        <p:txBody>
          <a:bodyPr wrap="none" anchor="ctr"/>
          <a:lstStyle/>
          <a:p>
            <a:pPr algn="ctr"/>
            <a:r>
              <a:rPr lang="fi-FI" sz="1400">
                <a:latin typeface="Arial Narrow" pitchFamily="34" charset="0"/>
              </a:rPr>
              <a:t>Tarve</a:t>
            </a:r>
            <a:endParaRPr lang="en-US" sz="1400">
              <a:latin typeface="Arial Narrow" pitchFamily="34" charset="0"/>
            </a:endParaRPr>
          </a:p>
        </p:txBody>
      </p:sp>
      <p:sp>
        <p:nvSpPr>
          <p:cNvPr id="52255" name="Rectangle 31"/>
          <p:cNvSpPr>
            <a:spLocks noChangeArrowheads="1"/>
          </p:cNvSpPr>
          <p:nvPr/>
        </p:nvSpPr>
        <p:spPr bwMode="auto">
          <a:xfrm>
            <a:off x="4932363" y="4579938"/>
            <a:ext cx="287337" cy="1081087"/>
          </a:xfrm>
          <a:prstGeom prst="rect">
            <a:avLst/>
          </a:prstGeom>
          <a:solidFill>
            <a:schemeClr val="folHlink"/>
          </a:solidFill>
          <a:ln w="9525" algn="ctr">
            <a:noFill/>
            <a:miter lim="800000"/>
            <a:headEnd/>
            <a:tailEnd/>
          </a:ln>
          <a:effectLst/>
        </p:spPr>
        <p:txBody>
          <a:bodyPr wrap="none" anchor="ctr"/>
          <a:lstStyle/>
          <a:p>
            <a:pPr algn="ctr"/>
            <a:endParaRPr lang="fi-FI">
              <a:latin typeface="Arial Narrow" pitchFamily="34" charset="0"/>
            </a:endParaRPr>
          </a:p>
        </p:txBody>
      </p:sp>
      <p:sp>
        <p:nvSpPr>
          <p:cNvPr id="52257" name="Oval 33"/>
          <p:cNvSpPr>
            <a:spLocks noChangeArrowheads="1"/>
          </p:cNvSpPr>
          <p:nvPr/>
        </p:nvSpPr>
        <p:spPr bwMode="auto">
          <a:xfrm>
            <a:off x="4427538" y="5948363"/>
            <a:ext cx="720725" cy="288925"/>
          </a:xfrm>
          <a:prstGeom prst="ellipse">
            <a:avLst/>
          </a:prstGeom>
          <a:solidFill>
            <a:schemeClr val="bg1"/>
          </a:solidFill>
          <a:ln w="9525" algn="ctr">
            <a:solidFill>
              <a:schemeClr val="tx1"/>
            </a:solidFill>
            <a:round/>
            <a:headEnd/>
            <a:tailEnd/>
          </a:ln>
          <a:effectLst/>
        </p:spPr>
        <p:txBody>
          <a:bodyPr wrap="none" anchor="ctr"/>
          <a:lstStyle/>
          <a:p>
            <a:pPr algn="ctr"/>
            <a:r>
              <a:rPr lang="fi-FI" sz="1600" b="1">
                <a:solidFill>
                  <a:srgbClr val="FF3300"/>
                </a:solidFill>
                <a:latin typeface="Arial Narrow" pitchFamily="34" charset="0"/>
              </a:rPr>
              <a:t>MURA</a:t>
            </a:r>
            <a:endParaRPr lang="en-US" sz="1600" b="1">
              <a:solidFill>
                <a:srgbClr val="FF3300"/>
              </a:solidFill>
              <a:latin typeface="Arial Narrow" pitchFamily="34" charset="0"/>
            </a:endParaRPr>
          </a:p>
        </p:txBody>
      </p:sp>
      <p:sp>
        <p:nvSpPr>
          <p:cNvPr id="52258" name="Line 34"/>
          <p:cNvSpPr>
            <a:spLocks noChangeShapeType="1"/>
          </p:cNvSpPr>
          <p:nvPr/>
        </p:nvSpPr>
        <p:spPr bwMode="auto">
          <a:xfrm flipV="1">
            <a:off x="4787900" y="5732463"/>
            <a:ext cx="0" cy="215900"/>
          </a:xfrm>
          <a:prstGeom prst="line">
            <a:avLst/>
          </a:prstGeom>
          <a:noFill/>
          <a:ln w="9525">
            <a:solidFill>
              <a:schemeClr val="tx1"/>
            </a:solidFill>
            <a:round/>
            <a:headEnd/>
            <a:tailEnd type="triangle" w="med" len="med"/>
          </a:ln>
          <a:effectLst/>
        </p:spPr>
        <p:txBody>
          <a:bodyPr wrap="none" anchor="ctr"/>
          <a:lstStyle/>
          <a:p>
            <a:endParaRPr lang="fi-FI"/>
          </a:p>
        </p:txBody>
      </p:sp>
      <p:sp>
        <p:nvSpPr>
          <p:cNvPr id="52259" name="Text Box 35"/>
          <p:cNvSpPr txBox="1">
            <a:spLocks noChangeArrowheads="1"/>
          </p:cNvSpPr>
          <p:nvPr/>
        </p:nvSpPr>
        <p:spPr bwMode="auto">
          <a:xfrm>
            <a:off x="7019925" y="5084763"/>
            <a:ext cx="2017713" cy="1165225"/>
          </a:xfrm>
          <a:prstGeom prst="rect">
            <a:avLst/>
          </a:prstGeom>
          <a:solidFill>
            <a:schemeClr val="bg1"/>
          </a:solidFill>
          <a:ln w="9525" algn="ctr">
            <a:solidFill>
              <a:srgbClr val="FF3300"/>
            </a:solidFill>
            <a:miter lim="800000"/>
            <a:headEnd/>
            <a:tailEnd/>
          </a:ln>
          <a:effectLst>
            <a:outerShdw dist="107763" dir="18900000" algn="ctr" rotWithShape="0">
              <a:srgbClr val="808080">
                <a:alpha val="50000"/>
              </a:srgbClr>
            </a:outerShdw>
          </a:effectLst>
        </p:spPr>
        <p:txBody>
          <a:bodyPr>
            <a:spAutoFit/>
          </a:bodyPr>
          <a:lstStyle/>
          <a:p>
            <a:pPr>
              <a:spcBef>
                <a:spcPct val="50000"/>
              </a:spcBef>
            </a:pPr>
            <a:r>
              <a:rPr lang="fi-FI" sz="1400">
                <a:latin typeface="Arial Narrow" pitchFamily="34" charset="0"/>
              </a:rPr>
              <a:t>Muutosraadilla (mura) tulee olla käytössään sekä tieto korjauksen tarpeesta että vaikutuksista (kustannus, aikataulu, riskit)</a:t>
            </a:r>
            <a:endParaRPr lang="en-US" sz="1400">
              <a:latin typeface="Arial Narrow" pitchFamily="34" charset="0"/>
            </a:endParaRPr>
          </a:p>
        </p:txBody>
      </p:sp>
      <p:sp>
        <p:nvSpPr>
          <p:cNvPr id="35" name="Slide Number Placeholder 34"/>
          <p:cNvSpPr>
            <a:spLocks noGrp="1"/>
          </p:cNvSpPr>
          <p:nvPr>
            <p:ph type="sldNum" sz="quarter" idx="12"/>
          </p:nvPr>
        </p:nvSpPr>
        <p:spPr/>
        <p:txBody>
          <a:bodyPr/>
          <a:lstStyle/>
          <a:p>
            <a:fld id="{1FC54B03-E980-44E0-A0F1-6CAD9D10ECFB}" type="slidenum">
              <a:rPr lang="fi-FI" smtClean="0"/>
              <a:pPr/>
              <a:t>125</a:t>
            </a:fld>
            <a:endParaRPr lang="fi-FI"/>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2" name="Rectangle 4"/>
          <p:cNvSpPr>
            <a:spLocks noGrp="1" noChangeArrowheads="1"/>
          </p:cNvSpPr>
          <p:nvPr>
            <p:ph type="title"/>
          </p:nvPr>
        </p:nvSpPr>
        <p:spPr/>
        <p:txBody>
          <a:bodyPr/>
          <a:lstStyle/>
          <a:p>
            <a:r>
              <a:rPr lang="fi-FI"/>
              <a:t>Havaintokirjausten vastuunvaihdot</a:t>
            </a:r>
            <a:endParaRPr lang="en-US"/>
          </a:p>
        </p:txBody>
      </p:sp>
      <p:sp>
        <p:nvSpPr>
          <p:cNvPr id="7173" name="Text Box 5"/>
          <p:cNvSpPr txBox="1">
            <a:spLocks noChangeArrowheads="1"/>
          </p:cNvSpPr>
          <p:nvPr/>
        </p:nvSpPr>
        <p:spPr bwMode="auto">
          <a:xfrm>
            <a:off x="1258888" y="1412875"/>
            <a:ext cx="2232025" cy="646331"/>
          </a:xfrm>
          <a:prstGeom prst="rect">
            <a:avLst/>
          </a:prstGeom>
          <a:noFill/>
          <a:ln w="9525" algn="ctr">
            <a:noFill/>
            <a:miter lim="800000"/>
            <a:headEnd/>
            <a:tailEnd/>
          </a:ln>
          <a:effectLst/>
        </p:spPr>
        <p:txBody>
          <a:bodyPr>
            <a:spAutoFit/>
          </a:bodyPr>
          <a:lstStyle/>
          <a:p>
            <a:pPr algn="ctr">
              <a:spcBef>
                <a:spcPct val="50000"/>
              </a:spcBef>
            </a:pPr>
            <a:r>
              <a:rPr lang="fi-FI" dirty="0">
                <a:latin typeface="Arial Narrow" pitchFamily="34" charset="0"/>
              </a:rPr>
              <a:t>Havainnon kirjaajana </a:t>
            </a:r>
            <a:r>
              <a:rPr lang="fi-FI" dirty="0" smtClean="0">
                <a:latin typeface="Arial Narrow" pitchFamily="34" charset="0"/>
              </a:rPr>
              <a:t>Asiakas</a:t>
            </a:r>
            <a:endParaRPr lang="en-US" dirty="0">
              <a:latin typeface="Arial Narrow" pitchFamily="34" charset="0"/>
            </a:endParaRPr>
          </a:p>
        </p:txBody>
      </p:sp>
      <p:sp>
        <p:nvSpPr>
          <p:cNvPr id="7174" name="Text Box 6"/>
          <p:cNvSpPr txBox="1">
            <a:spLocks noChangeArrowheads="1"/>
          </p:cNvSpPr>
          <p:nvPr/>
        </p:nvSpPr>
        <p:spPr bwMode="auto">
          <a:xfrm>
            <a:off x="5148263" y="1630363"/>
            <a:ext cx="3240087" cy="369332"/>
          </a:xfrm>
          <a:prstGeom prst="rect">
            <a:avLst/>
          </a:prstGeom>
          <a:noFill/>
          <a:ln w="9525" algn="ctr">
            <a:noFill/>
            <a:miter lim="800000"/>
            <a:headEnd/>
            <a:tailEnd/>
          </a:ln>
          <a:effectLst/>
        </p:spPr>
        <p:txBody>
          <a:bodyPr>
            <a:spAutoFit/>
          </a:bodyPr>
          <a:lstStyle/>
          <a:p>
            <a:pPr algn="ctr">
              <a:spcBef>
                <a:spcPct val="50000"/>
              </a:spcBef>
            </a:pPr>
            <a:r>
              <a:rPr lang="fi-FI" dirty="0">
                <a:latin typeface="Arial Narrow" pitchFamily="34" charset="0"/>
              </a:rPr>
              <a:t>Havainnon kirjaajana </a:t>
            </a:r>
            <a:r>
              <a:rPr lang="fi-FI" dirty="0" smtClean="0">
                <a:latin typeface="Arial Narrow" pitchFamily="34" charset="0"/>
              </a:rPr>
              <a:t>Toimittaja</a:t>
            </a:r>
            <a:endParaRPr lang="en-US" dirty="0">
              <a:latin typeface="Arial Narrow" pitchFamily="34" charset="0"/>
            </a:endParaRPr>
          </a:p>
        </p:txBody>
      </p:sp>
      <p:grpSp>
        <p:nvGrpSpPr>
          <p:cNvPr id="2" name="Group 48"/>
          <p:cNvGrpSpPr>
            <a:grpSpLocks/>
          </p:cNvGrpSpPr>
          <p:nvPr/>
        </p:nvGrpSpPr>
        <p:grpSpPr bwMode="auto">
          <a:xfrm>
            <a:off x="5724525" y="2349500"/>
            <a:ext cx="1579563" cy="1871663"/>
            <a:chOff x="3606" y="1480"/>
            <a:chExt cx="995" cy="1179"/>
          </a:xfrm>
        </p:grpSpPr>
        <p:pic>
          <p:nvPicPr>
            <p:cNvPr id="7175" name="Picture 7" descr="MC900290031[1]"/>
            <p:cNvPicPr>
              <a:picLocks noChangeAspect="1" noChangeArrowheads="1"/>
            </p:cNvPicPr>
            <p:nvPr/>
          </p:nvPicPr>
          <p:blipFill>
            <a:blip r:embed="rId2" cstate="print"/>
            <a:srcRect/>
            <a:stretch>
              <a:fillRect/>
            </a:stretch>
          </p:blipFill>
          <p:spPr bwMode="auto">
            <a:xfrm>
              <a:off x="3606" y="1480"/>
              <a:ext cx="995" cy="1179"/>
            </a:xfrm>
            <a:prstGeom prst="rect">
              <a:avLst/>
            </a:prstGeom>
            <a:noFill/>
          </p:spPr>
        </p:pic>
        <p:sp>
          <p:nvSpPr>
            <p:cNvPr id="7179" name="WordArt 11"/>
            <p:cNvSpPr>
              <a:spLocks noChangeArrowheads="1" noChangeShapeType="1" noTextEdit="1"/>
            </p:cNvSpPr>
            <p:nvPr/>
          </p:nvSpPr>
          <p:spPr bwMode="auto">
            <a:xfrm>
              <a:off x="4105" y="2206"/>
              <a:ext cx="162" cy="120"/>
            </a:xfrm>
            <a:prstGeom prst="rect">
              <a:avLst/>
            </a:prstGeom>
          </p:spPr>
          <p:txBody>
            <a:bodyPr wrap="none" fromWordArt="1">
              <a:prstTxWarp prst="textPlain">
                <a:avLst>
                  <a:gd name="adj" fmla="val 50000"/>
                </a:avLst>
              </a:prstTxWarp>
            </a:bodyPr>
            <a:lstStyle/>
            <a:p>
              <a:pPr algn="ctr"/>
              <a:r>
                <a:rPr lang="fi-FI" sz="1200" kern="10" dirty="0" smtClean="0">
                  <a:ln w="19050">
                    <a:solidFill>
                      <a:srgbClr val="99CCFF"/>
                    </a:solidFill>
                    <a:round/>
                    <a:headEnd/>
                    <a:tailEnd/>
                  </a:ln>
                  <a:solidFill>
                    <a:srgbClr val="0066CC"/>
                  </a:solidFill>
                  <a:effectLst>
                    <a:outerShdw dist="35921" dir="2700000" algn="ctr" rotWithShape="0">
                      <a:srgbClr val="990000"/>
                    </a:outerShdw>
                  </a:effectLst>
                  <a:latin typeface="Impact"/>
                </a:rPr>
                <a:t>T</a:t>
              </a:r>
              <a:endParaRPr lang="fi-FI" sz="1200" kern="10" dirty="0">
                <a:ln w="19050">
                  <a:solidFill>
                    <a:srgbClr val="99CCFF"/>
                  </a:solidFill>
                  <a:round/>
                  <a:headEnd/>
                  <a:tailEnd/>
                </a:ln>
                <a:solidFill>
                  <a:srgbClr val="0066CC"/>
                </a:solidFill>
                <a:effectLst>
                  <a:outerShdw dist="35921" dir="2700000" algn="ctr" rotWithShape="0">
                    <a:srgbClr val="990000"/>
                  </a:outerShdw>
                </a:effectLst>
                <a:latin typeface="Impact"/>
              </a:endParaRPr>
            </a:p>
          </p:txBody>
        </p:sp>
      </p:grpSp>
      <p:grpSp>
        <p:nvGrpSpPr>
          <p:cNvPr id="3" name="Group 16"/>
          <p:cNvGrpSpPr>
            <a:grpSpLocks/>
          </p:cNvGrpSpPr>
          <p:nvPr/>
        </p:nvGrpSpPr>
        <p:grpSpPr bwMode="auto">
          <a:xfrm>
            <a:off x="1403350" y="1989138"/>
            <a:ext cx="1579563" cy="1871662"/>
            <a:chOff x="884" y="1480"/>
            <a:chExt cx="995" cy="1179"/>
          </a:xfrm>
        </p:grpSpPr>
        <p:pic>
          <p:nvPicPr>
            <p:cNvPr id="7181" name="Picture 13" descr="MC900290031[1]"/>
            <p:cNvPicPr>
              <a:picLocks noChangeAspect="1" noChangeArrowheads="1"/>
            </p:cNvPicPr>
            <p:nvPr/>
          </p:nvPicPr>
          <p:blipFill>
            <a:blip r:embed="rId2" cstate="print"/>
            <a:srcRect/>
            <a:stretch>
              <a:fillRect/>
            </a:stretch>
          </p:blipFill>
          <p:spPr bwMode="auto">
            <a:xfrm>
              <a:off x="884" y="1480"/>
              <a:ext cx="995" cy="1179"/>
            </a:xfrm>
            <a:prstGeom prst="rect">
              <a:avLst/>
            </a:prstGeom>
            <a:noFill/>
          </p:spPr>
        </p:pic>
        <p:sp>
          <p:nvSpPr>
            <p:cNvPr id="7180" name="WordArt 12"/>
            <p:cNvSpPr>
              <a:spLocks noChangeArrowheads="1" noChangeShapeType="1" noTextEdit="1"/>
            </p:cNvSpPr>
            <p:nvPr/>
          </p:nvSpPr>
          <p:spPr bwMode="auto">
            <a:xfrm>
              <a:off x="1429" y="2206"/>
              <a:ext cx="203" cy="181"/>
            </a:xfrm>
            <a:prstGeom prst="rect">
              <a:avLst/>
            </a:prstGeom>
          </p:spPr>
          <p:txBody>
            <a:bodyPr wrap="none" fromWordArt="1">
              <a:prstTxWarp prst="textPlain">
                <a:avLst>
                  <a:gd name="adj" fmla="val 50000"/>
                </a:avLst>
              </a:prstTxWarp>
            </a:bodyPr>
            <a:lstStyle/>
            <a:p>
              <a:pPr algn="ctr"/>
              <a:r>
                <a:rPr lang="fi-FI" sz="1200" kern="10" dirty="0">
                  <a:ln w="19050">
                    <a:solidFill>
                      <a:srgbClr val="99CCFF"/>
                    </a:solidFill>
                    <a:round/>
                    <a:headEnd/>
                    <a:tailEnd/>
                  </a:ln>
                  <a:solidFill>
                    <a:srgbClr val="0066CC"/>
                  </a:solidFill>
                  <a:effectLst>
                    <a:outerShdw dist="35921" dir="2700000" algn="ctr" rotWithShape="0">
                      <a:srgbClr val="990000"/>
                    </a:outerShdw>
                  </a:effectLst>
                  <a:latin typeface="Impact"/>
                </a:rPr>
                <a:t> </a:t>
              </a:r>
              <a:r>
                <a:rPr lang="fi-FI" sz="1200" kern="10" dirty="0" smtClean="0">
                  <a:ln w="19050">
                    <a:solidFill>
                      <a:srgbClr val="99CCFF"/>
                    </a:solidFill>
                    <a:round/>
                    <a:headEnd/>
                    <a:tailEnd/>
                  </a:ln>
                  <a:solidFill>
                    <a:srgbClr val="0066CC"/>
                  </a:solidFill>
                  <a:effectLst>
                    <a:outerShdw dist="35921" dir="2700000" algn="ctr" rotWithShape="0">
                      <a:srgbClr val="990000"/>
                    </a:outerShdw>
                  </a:effectLst>
                  <a:latin typeface="Impact"/>
                </a:rPr>
                <a:t>A</a:t>
              </a:r>
              <a:endParaRPr lang="fi-FI" sz="1200" kern="10" dirty="0">
                <a:ln w="19050">
                  <a:solidFill>
                    <a:srgbClr val="99CCFF"/>
                  </a:solidFill>
                  <a:round/>
                  <a:headEnd/>
                  <a:tailEnd/>
                </a:ln>
                <a:solidFill>
                  <a:srgbClr val="0066CC"/>
                </a:solidFill>
                <a:effectLst>
                  <a:outerShdw dist="35921" dir="2700000" algn="ctr" rotWithShape="0">
                    <a:srgbClr val="990000"/>
                  </a:outerShdw>
                </a:effectLst>
                <a:latin typeface="Impact"/>
              </a:endParaRPr>
            </a:p>
          </p:txBody>
        </p:sp>
      </p:grpSp>
      <p:pic>
        <p:nvPicPr>
          <p:cNvPr id="7182" name="Picture 14" descr="MC900290031[1]"/>
          <p:cNvPicPr>
            <a:picLocks noChangeAspect="1" noChangeArrowheads="1"/>
          </p:cNvPicPr>
          <p:nvPr/>
        </p:nvPicPr>
        <p:blipFill>
          <a:blip r:embed="rId2" cstate="print"/>
          <a:srcRect/>
          <a:stretch>
            <a:fillRect/>
          </a:stretch>
        </p:blipFill>
        <p:spPr bwMode="auto">
          <a:xfrm>
            <a:off x="2484438" y="4141788"/>
            <a:ext cx="1579562" cy="1871662"/>
          </a:xfrm>
          <a:prstGeom prst="rect">
            <a:avLst/>
          </a:prstGeom>
          <a:noFill/>
        </p:spPr>
      </p:pic>
      <p:sp>
        <p:nvSpPr>
          <p:cNvPr id="7183" name="Text Box 15"/>
          <p:cNvSpPr txBox="1">
            <a:spLocks noChangeArrowheads="1"/>
          </p:cNvSpPr>
          <p:nvPr/>
        </p:nvSpPr>
        <p:spPr bwMode="auto">
          <a:xfrm>
            <a:off x="2124075" y="5870575"/>
            <a:ext cx="2736850" cy="366713"/>
          </a:xfrm>
          <a:prstGeom prst="rect">
            <a:avLst/>
          </a:prstGeom>
          <a:noFill/>
          <a:ln w="9525" algn="ctr">
            <a:noFill/>
            <a:miter lim="800000"/>
            <a:headEnd/>
            <a:tailEnd/>
          </a:ln>
          <a:effectLst/>
        </p:spPr>
        <p:txBody>
          <a:bodyPr>
            <a:spAutoFit/>
          </a:bodyPr>
          <a:lstStyle/>
          <a:p>
            <a:pPr algn="ctr">
              <a:spcBef>
                <a:spcPct val="50000"/>
              </a:spcBef>
            </a:pPr>
            <a:r>
              <a:rPr lang="fi-FI"/>
              <a:t>Muutoksien työlista</a:t>
            </a:r>
            <a:endParaRPr lang="en-US"/>
          </a:p>
        </p:txBody>
      </p:sp>
      <p:sp>
        <p:nvSpPr>
          <p:cNvPr id="7187" name="Text Box 19"/>
          <p:cNvSpPr txBox="1">
            <a:spLocks noChangeArrowheads="1"/>
          </p:cNvSpPr>
          <p:nvPr/>
        </p:nvSpPr>
        <p:spPr bwMode="auto">
          <a:xfrm>
            <a:off x="177800" y="2924175"/>
            <a:ext cx="1225550" cy="457200"/>
          </a:xfrm>
          <a:prstGeom prst="rect">
            <a:avLst/>
          </a:prstGeom>
          <a:noFill/>
          <a:ln w="9525" algn="ctr">
            <a:noFill/>
            <a:miter lim="800000"/>
            <a:headEnd/>
            <a:tailEnd/>
          </a:ln>
          <a:effectLst/>
        </p:spPr>
        <p:txBody>
          <a:bodyPr>
            <a:spAutoFit/>
          </a:bodyPr>
          <a:lstStyle/>
          <a:p>
            <a:pPr algn="ctr">
              <a:spcBef>
                <a:spcPct val="50000"/>
              </a:spcBef>
            </a:pPr>
            <a:r>
              <a:rPr lang="fi-FI" sz="1200" b="1">
                <a:latin typeface="Arial Narrow" pitchFamily="34" charset="0"/>
              </a:rPr>
              <a:t>Liiketoiminnan testausvastaava</a:t>
            </a:r>
            <a:endParaRPr lang="en-US" sz="1200" b="1">
              <a:latin typeface="Arial Narrow" pitchFamily="34" charset="0"/>
            </a:endParaRPr>
          </a:p>
        </p:txBody>
      </p:sp>
      <p:sp>
        <p:nvSpPr>
          <p:cNvPr id="7188" name="Oval 20"/>
          <p:cNvSpPr>
            <a:spLocks noChangeArrowheads="1"/>
          </p:cNvSpPr>
          <p:nvPr/>
        </p:nvSpPr>
        <p:spPr bwMode="auto">
          <a:xfrm>
            <a:off x="323850" y="3500438"/>
            <a:ext cx="1225550" cy="576262"/>
          </a:xfrm>
          <a:prstGeom prst="ellipse">
            <a:avLst/>
          </a:prstGeom>
          <a:solidFill>
            <a:schemeClr val="accent1"/>
          </a:solidFill>
          <a:ln w="9525" algn="ctr">
            <a:solidFill>
              <a:schemeClr val="tx1"/>
            </a:solidFill>
            <a:round/>
            <a:headEnd/>
            <a:tailEnd/>
          </a:ln>
          <a:effectLst/>
        </p:spPr>
        <p:txBody>
          <a:bodyPr wrap="none" anchor="ctr"/>
          <a:lstStyle/>
          <a:p>
            <a:pPr algn="ctr"/>
            <a:r>
              <a:rPr lang="fi-FI" sz="1600">
                <a:latin typeface="Arial Narrow" pitchFamily="34" charset="0"/>
              </a:rPr>
              <a:t>Seuraa</a:t>
            </a:r>
            <a:endParaRPr lang="en-US" sz="1600">
              <a:latin typeface="Arial Narrow" pitchFamily="34" charset="0"/>
            </a:endParaRPr>
          </a:p>
        </p:txBody>
      </p:sp>
      <p:sp>
        <p:nvSpPr>
          <p:cNvPr id="7189" name="Oval 21"/>
          <p:cNvSpPr>
            <a:spLocks noChangeArrowheads="1"/>
          </p:cNvSpPr>
          <p:nvPr/>
        </p:nvSpPr>
        <p:spPr bwMode="auto">
          <a:xfrm>
            <a:off x="755650" y="4148138"/>
            <a:ext cx="1225550" cy="576262"/>
          </a:xfrm>
          <a:prstGeom prst="ellipse">
            <a:avLst/>
          </a:prstGeom>
          <a:solidFill>
            <a:schemeClr val="accent1"/>
          </a:solidFill>
          <a:ln w="9525" algn="ctr">
            <a:solidFill>
              <a:schemeClr val="tx1"/>
            </a:solidFill>
            <a:round/>
            <a:headEnd/>
            <a:tailEnd/>
          </a:ln>
          <a:effectLst/>
        </p:spPr>
        <p:txBody>
          <a:bodyPr wrap="none" anchor="ctr"/>
          <a:lstStyle/>
          <a:p>
            <a:pPr algn="ctr"/>
            <a:r>
              <a:rPr lang="fi-FI" sz="1600">
                <a:latin typeface="Arial Narrow" pitchFamily="34" charset="0"/>
              </a:rPr>
              <a:t>Valikoi</a:t>
            </a:r>
            <a:endParaRPr lang="en-US" sz="1600">
              <a:latin typeface="Arial Narrow" pitchFamily="34" charset="0"/>
            </a:endParaRPr>
          </a:p>
        </p:txBody>
      </p:sp>
      <p:sp>
        <p:nvSpPr>
          <p:cNvPr id="7190" name="Oval 22"/>
          <p:cNvSpPr>
            <a:spLocks noChangeArrowheads="1"/>
          </p:cNvSpPr>
          <p:nvPr/>
        </p:nvSpPr>
        <p:spPr bwMode="auto">
          <a:xfrm>
            <a:off x="7162800" y="3933825"/>
            <a:ext cx="1225550" cy="576263"/>
          </a:xfrm>
          <a:prstGeom prst="ellipse">
            <a:avLst/>
          </a:prstGeom>
          <a:solidFill>
            <a:schemeClr val="accent1"/>
          </a:solidFill>
          <a:ln w="9525" algn="ctr">
            <a:solidFill>
              <a:schemeClr val="tx1"/>
            </a:solidFill>
            <a:round/>
            <a:headEnd/>
            <a:tailEnd/>
          </a:ln>
          <a:effectLst/>
        </p:spPr>
        <p:txBody>
          <a:bodyPr wrap="none" anchor="ctr"/>
          <a:lstStyle/>
          <a:p>
            <a:pPr algn="ctr"/>
            <a:r>
              <a:rPr lang="fi-FI" sz="1600">
                <a:latin typeface="Arial Narrow" pitchFamily="34" charset="0"/>
              </a:rPr>
              <a:t>Seuraa</a:t>
            </a:r>
            <a:endParaRPr lang="en-US" sz="1600">
              <a:latin typeface="Arial Narrow" pitchFamily="34" charset="0"/>
            </a:endParaRPr>
          </a:p>
        </p:txBody>
      </p:sp>
      <p:sp>
        <p:nvSpPr>
          <p:cNvPr id="7191" name="Oval 23"/>
          <p:cNvSpPr>
            <a:spLocks noChangeArrowheads="1"/>
          </p:cNvSpPr>
          <p:nvPr/>
        </p:nvSpPr>
        <p:spPr bwMode="auto">
          <a:xfrm>
            <a:off x="6516688" y="4581525"/>
            <a:ext cx="1225550" cy="576263"/>
          </a:xfrm>
          <a:prstGeom prst="ellipse">
            <a:avLst/>
          </a:prstGeom>
          <a:solidFill>
            <a:schemeClr val="accent1"/>
          </a:solidFill>
          <a:ln w="9525" algn="ctr">
            <a:solidFill>
              <a:schemeClr val="tx1"/>
            </a:solidFill>
            <a:round/>
            <a:headEnd/>
            <a:tailEnd/>
          </a:ln>
          <a:effectLst/>
        </p:spPr>
        <p:txBody>
          <a:bodyPr wrap="none" anchor="ctr"/>
          <a:lstStyle/>
          <a:p>
            <a:pPr algn="ctr"/>
            <a:r>
              <a:rPr lang="fi-FI" sz="1600">
                <a:latin typeface="Arial Narrow" pitchFamily="34" charset="0"/>
              </a:rPr>
              <a:t>Valikoi</a:t>
            </a:r>
            <a:endParaRPr lang="en-US" sz="1600">
              <a:latin typeface="Arial Narrow" pitchFamily="34" charset="0"/>
            </a:endParaRPr>
          </a:p>
        </p:txBody>
      </p:sp>
      <p:sp>
        <p:nvSpPr>
          <p:cNvPr id="7193" name="Text Box 25"/>
          <p:cNvSpPr txBox="1">
            <a:spLocks noChangeArrowheads="1"/>
          </p:cNvSpPr>
          <p:nvPr/>
        </p:nvSpPr>
        <p:spPr bwMode="auto">
          <a:xfrm>
            <a:off x="5292725" y="5564188"/>
            <a:ext cx="1800225" cy="457200"/>
          </a:xfrm>
          <a:prstGeom prst="rect">
            <a:avLst/>
          </a:prstGeom>
          <a:noFill/>
          <a:ln w="9525" algn="ctr">
            <a:noFill/>
            <a:miter lim="800000"/>
            <a:headEnd/>
            <a:tailEnd/>
          </a:ln>
          <a:effectLst/>
        </p:spPr>
        <p:txBody>
          <a:bodyPr>
            <a:spAutoFit/>
          </a:bodyPr>
          <a:lstStyle/>
          <a:p>
            <a:pPr>
              <a:spcBef>
                <a:spcPct val="50000"/>
              </a:spcBef>
            </a:pPr>
            <a:r>
              <a:rPr lang="fi-FI" sz="1200" b="1">
                <a:latin typeface="Arial Narrow" pitchFamily="34" charset="0"/>
              </a:rPr>
              <a:t>Toimittajan projektipäällikkö</a:t>
            </a:r>
            <a:endParaRPr lang="en-US" sz="1200" b="1">
              <a:latin typeface="Arial Narrow" pitchFamily="34" charset="0"/>
            </a:endParaRPr>
          </a:p>
        </p:txBody>
      </p:sp>
      <p:pic>
        <p:nvPicPr>
          <p:cNvPr id="7194" name="Picture 26" descr="MM900354677[1]"/>
          <p:cNvPicPr>
            <a:picLocks noChangeAspect="1" noChangeArrowheads="1" noCrop="1"/>
          </p:cNvPicPr>
          <p:nvPr/>
        </p:nvPicPr>
        <p:blipFill>
          <a:blip r:embed="rId3" cstate="print"/>
          <a:srcRect/>
          <a:stretch>
            <a:fillRect/>
          </a:stretch>
        </p:blipFill>
        <p:spPr bwMode="auto">
          <a:xfrm>
            <a:off x="7740650" y="2492375"/>
            <a:ext cx="750888" cy="863600"/>
          </a:xfrm>
          <a:prstGeom prst="rect">
            <a:avLst/>
          </a:prstGeom>
          <a:noFill/>
        </p:spPr>
      </p:pic>
      <p:sp>
        <p:nvSpPr>
          <p:cNvPr id="7195" name="Text Box 27"/>
          <p:cNvSpPr txBox="1">
            <a:spLocks noChangeArrowheads="1"/>
          </p:cNvSpPr>
          <p:nvPr/>
        </p:nvSpPr>
        <p:spPr bwMode="auto">
          <a:xfrm>
            <a:off x="7450138" y="3357563"/>
            <a:ext cx="1225550" cy="457200"/>
          </a:xfrm>
          <a:prstGeom prst="rect">
            <a:avLst/>
          </a:prstGeom>
          <a:noFill/>
          <a:ln w="9525" algn="ctr">
            <a:noFill/>
            <a:miter lim="800000"/>
            <a:headEnd/>
            <a:tailEnd/>
          </a:ln>
          <a:effectLst/>
        </p:spPr>
        <p:txBody>
          <a:bodyPr>
            <a:spAutoFit/>
          </a:bodyPr>
          <a:lstStyle/>
          <a:p>
            <a:pPr algn="ctr">
              <a:spcBef>
                <a:spcPct val="50000"/>
              </a:spcBef>
            </a:pPr>
            <a:r>
              <a:rPr lang="fi-FI" sz="1200" b="1">
                <a:latin typeface="Arial Narrow" pitchFamily="34" charset="0"/>
              </a:rPr>
              <a:t>Toimittajan testausvastaava</a:t>
            </a:r>
            <a:endParaRPr lang="en-US" sz="1200" b="1">
              <a:latin typeface="Arial Narrow" pitchFamily="34" charset="0"/>
            </a:endParaRPr>
          </a:p>
        </p:txBody>
      </p:sp>
      <p:sp>
        <p:nvSpPr>
          <p:cNvPr id="7196" name="AutoShape 28"/>
          <p:cNvSpPr>
            <a:spLocks noChangeArrowheads="1"/>
          </p:cNvSpPr>
          <p:nvPr/>
        </p:nvSpPr>
        <p:spPr bwMode="auto">
          <a:xfrm rot="701236">
            <a:off x="3262313" y="2487613"/>
            <a:ext cx="1800225" cy="576262"/>
          </a:xfrm>
          <a:prstGeom prst="rightArrow">
            <a:avLst>
              <a:gd name="adj1" fmla="val 50000"/>
              <a:gd name="adj2" fmla="val 78099"/>
            </a:avLst>
          </a:prstGeom>
          <a:solidFill>
            <a:schemeClr val="accent1"/>
          </a:solidFill>
          <a:ln w="9525" algn="ctr">
            <a:solidFill>
              <a:schemeClr val="tx1"/>
            </a:solidFill>
            <a:miter lim="800000"/>
            <a:headEnd/>
            <a:tailEnd/>
          </a:ln>
          <a:effectLst/>
        </p:spPr>
        <p:txBody>
          <a:bodyPr wrap="none" anchor="ctr"/>
          <a:lstStyle/>
          <a:p>
            <a:endParaRPr lang="fi-FI"/>
          </a:p>
        </p:txBody>
      </p:sp>
      <p:sp>
        <p:nvSpPr>
          <p:cNvPr id="7198" name="AutoShape 30"/>
          <p:cNvSpPr>
            <a:spLocks noChangeArrowheads="1"/>
          </p:cNvSpPr>
          <p:nvPr/>
        </p:nvSpPr>
        <p:spPr bwMode="auto">
          <a:xfrm>
            <a:off x="2051050" y="2420938"/>
            <a:ext cx="503238" cy="287337"/>
          </a:xfrm>
          <a:prstGeom prst="roundRect">
            <a:avLst>
              <a:gd name="adj" fmla="val 16667"/>
            </a:avLst>
          </a:prstGeom>
          <a:solidFill>
            <a:schemeClr val="accent1"/>
          </a:solidFill>
          <a:ln w="9525" algn="ctr">
            <a:solidFill>
              <a:schemeClr val="tx1"/>
            </a:solidFill>
            <a:round/>
            <a:headEnd/>
            <a:tailEnd/>
          </a:ln>
          <a:effectLst/>
        </p:spPr>
        <p:txBody>
          <a:bodyPr wrap="none" anchor="ctr"/>
          <a:lstStyle/>
          <a:p>
            <a:pPr algn="ctr"/>
            <a:r>
              <a:rPr lang="fi-FI" sz="1400" b="1">
                <a:latin typeface="Arial Narrow" pitchFamily="34" charset="0"/>
              </a:rPr>
              <a:t>NEW</a:t>
            </a:r>
            <a:endParaRPr lang="en-US" sz="1400" b="1">
              <a:latin typeface="Arial Narrow" pitchFamily="34" charset="0"/>
            </a:endParaRPr>
          </a:p>
        </p:txBody>
      </p:sp>
      <p:sp>
        <p:nvSpPr>
          <p:cNvPr id="7200" name="Oval 32"/>
          <p:cNvSpPr>
            <a:spLocks noChangeArrowheads="1"/>
          </p:cNvSpPr>
          <p:nvPr/>
        </p:nvSpPr>
        <p:spPr bwMode="auto">
          <a:xfrm>
            <a:off x="6443663" y="5734050"/>
            <a:ext cx="1225550" cy="576263"/>
          </a:xfrm>
          <a:prstGeom prst="ellipse">
            <a:avLst/>
          </a:prstGeom>
          <a:solidFill>
            <a:schemeClr val="accent1"/>
          </a:solidFill>
          <a:ln w="9525" algn="ctr">
            <a:solidFill>
              <a:schemeClr val="tx1"/>
            </a:solidFill>
            <a:round/>
            <a:headEnd/>
            <a:tailEnd/>
          </a:ln>
          <a:effectLst/>
        </p:spPr>
        <p:txBody>
          <a:bodyPr wrap="none" anchor="ctr"/>
          <a:lstStyle/>
          <a:p>
            <a:pPr algn="ctr"/>
            <a:r>
              <a:rPr lang="fi-FI" sz="1600">
                <a:latin typeface="Arial Narrow" pitchFamily="34" charset="0"/>
              </a:rPr>
              <a:t>Aikatauluttaa</a:t>
            </a:r>
            <a:endParaRPr lang="en-US" sz="1600">
              <a:latin typeface="Arial Narrow" pitchFamily="34" charset="0"/>
            </a:endParaRPr>
          </a:p>
        </p:txBody>
      </p:sp>
      <p:pic>
        <p:nvPicPr>
          <p:cNvPr id="7201" name="Picture 33" descr="MC900410577[1]"/>
          <p:cNvPicPr>
            <a:picLocks noChangeAspect="1" noChangeArrowheads="1"/>
          </p:cNvPicPr>
          <p:nvPr/>
        </p:nvPicPr>
        <p:blipFill>
          <a:blip r:embed="rId4" cstate="print"/>
          <a:srcRect/>
          <a:stretch>
            <a:fillRect/>
          </a:stretch>
        </p:blipFill>
        <p:spPr bwMode="auto">
          <a:xfrm flipH="1">
            <a:off x="4568825" y="5300663"/>
            <a:ext cx="1314450" cy="1008062"/>
          </a:xfrm>
          <a:prstGeom prst="rect">
            <a:avLst/>
          </a:prstGeom>
          <a:noFill/>
        </p:spPr>
      </p:pic>
      <p:pic>
        <p:nvPicPr>
          <p:cNvPr id="7203" name="Picture 35" descr="MM900336578[1]"/>
          <p:cNvPicPr>
            <a:picLocks noChangeAspect="1" noChangeArrowheads="1" noCrop="1"/>
          </p:cNvPicPr>
          <p:nvPr/>
        </p:nvPicPr>
        <p:blipFill>
          <a:blip r:embed="rId5" cstate="print"/>
          <a:srcRect/>
          <a:stretch>
            <a:fillRect/>
          </a:stretch>
        </p:blipFill>
        <p:spPr bwMode="auto">
          <a:xfrm>
            <a:off x="466725" y="1989138"/>
            <a:ext cx="715963" cy="938212"/>
          </a:xfrm>
          <a:prstGeom prst="rect">
            <a:avLst/>
          </a:prstGeom>
          <a:noFill/>
        </p:spPr>
      </p:pic>
      <p:sp>
        <p:nvSpPr>
          <p:cNvPr id="7206" name="AutoShape 38"/>
          <p:cNvSpPr>
            <a:spLocks noChangeArrowheads="1"/>
          </p:cNvSpPr>
          <p:nvPr/>
        </p:nvSpPr>
        <p:spPr bwMode="auto">
          <a:xfrm>
            <a:off x="6445250" y="2781300"/>
            <a:ext cx="503238" cy="287338"/>
          </a:xfrm>
          <a:prstGeom prst="roundRect">
            <a:avLst>
              <a:gd name="adj" fmla="val 16667"/>
            </a:avLst>
          </a:prstGeom>
          <a:solidFill>
            <a:schemeClr val="accent1"/>
          </a:solidFill>
          <a:ln w="9525" algn="ctr">
            <a:solidFill>
              <a:schemeClr val="tx1"/>
            </a:solidFill>
            <a:round/>
            <a:headEnd/>
            <a:tailEnd/>
          </a:ln>
          <a:effectLst/>
        </p:spPr>
        <p:txBody>
          <a:bodyPr wrap="none" anchor="ctr"/>
          <a:lstStyle/>
          <a:p>
            <a:pPr algn="ctr"/>
            <a:r>
              <a:rPr lang="fi-FI" sz="1400" b="1">
                <a:latin typeface="Arial Narrow" pitchFamily="34" charset="0"/>
              </a:rPr>
              <a:t>NEW</a:t>
            </a:r>
            <a:endParaRPr lang="en-US" sz="1400" b="1">
              <a:latin typeface="Arial Narrow" pitchFamily="34" charset="0"/>
            </a:endParaRPr>
          </a:p>
        </p:txBody>
      </p:sp>
      <p:sp>
        <p:nvSpPr>
          <p:cNvPr id="7207" name="AutoShape 39"/>
          <p:cNvSpPr>
            <a:spLocks noChangeArrowheads="1"/>
          </p:cNvSpPr>
          <p:nvPr/>
        </p:nvSpPr>
        <p:spPr bwMode="auto">
          <a:xfrm>
            <a:off x="3203575" y="4581525"/>
            <a:ext cx="503238" cy="287338"/>
          </a:xfrm>
          <a:prstGeom prst="roundRect">
            <a:avLst>
              <a:gd name="adj" fmla="val 16667"/>
            </a:avLst>
          </a:prstGeom>
          <a:solidFill>
            <a:schemeClr val="accent1"/>
          </a:solidFill>
          <a:ln w="9525" algn="ctr">
            <a:solidFill>
              <a:schemeClr val="tx1"/>
            </a:solidFill>
            <a:round/>
            <a:headEnd/>
            <a:tailEnd/>
          </a:ln>
          <a:effectLst/>
        </p:spPr>
        <p:txBody>
          <a:bodyPr wrap="none" anchor="ctr"/>
          <a:lstStyle/>
          <a:p>
            <a:pPr algn="ctr"/>
            <a:r>
              <a:rPr lang="fi-FI" sz="1400" b="1">
                <a:latin typeface="Arial Narrow" pitchFamily="34" charset="0"/>
              </a:rPr>
              <a:t>OPEN</a:t>
            </a:r>
            <a:endParaRPr lang="en-US" sz="1400" b="1">
              <a:latin typeface="Arial Narrow" pitchFamily="34" charset="0"/>
            </a:endParaRPr>
          </a:p>
        </p:txBody>
      </p:sp>
      <p:sp>
        <p:nvSpPr>
          <p:cNvPr id="7208" name="AutoShape 40"/>
          <p:cNvSpPr>
            <a:spLocks noChangeArrowheads="1"/>
          </p:cNvSpPr>
          <p:nvPr/>
        </p:nvSpPr>
        <p:spPr bwMode="auto">
          <a:xfrm rot="8923470">
            <a:off x="3995738" y="4148138"/>
            <a:ext cx="1800225" cy="576262"/>
          </a:xfrm>
          <a:prstGeom prst="rightArrow">
            <a:avLst>
              <a:gd name="adj1" fmla="val 50000"/>
              <a:gd name="adj2" fmla="val 78099"/>
            </a:avLst>
          </a:prstGeom>
          <a:solidFill>
            <a:schemeClr val="accent1"/>
          </a:solidFill>
          <a:ln w="9525" algn="ctr">
            <a:solidFill>
              <a:schemeClr val="tx1"/>
            </a:solidFill>
            <a:miter lim="800000"/>
            <a:headEnd/>
            <a:tailEnd/>
          </a:ln>
          <a:effectLst/>
        </p:spPr>
        <p:txBody>
          <a:bodyPr wrap="none" anchor="ctr"/>
          <a:lstStyle/>
          <a:p>
            <a:endParaRPr lang="fi-FI"/>
          </a:p>
        </p:txBody>
      </p:sp>
      <p:sp>
        <p:nvSpPr>
          <p:cNvPr id="7212" name="WordArt 44"/>
          <p:cNvSpPr>
            <a:spLocks noChangeArrowheads="1" noChangeShapeType="1" noTextEdit="1"/>
          </p:cNvSpPr>
          <p:nvPr/>
        </p:nvSpPr>
        <p:spPr bwMode="auto">
          <a:xfrm>
            <a:off x="3306763" y="5300663"/>
            <a:ext cx="257175" cy="190500"/>
          </a:xfrm>
          <a:prstGeom prst="rect">
            <a:avLst/>
          </a:prstGeom>
        </p:spPr>
        <p:txBody>
          <a:bodyPr wrap="none" fromWordArt="1">
            <a:prstTxWarp prst="textPlain">
              <a:avLst>
                <a:gd name="adj" fmla="val 50000"/>
              </a:avLst>
            </a:prstTxWarp>
          </a:bodyPr>
          <a:lstStyle/>
          <a:p>
            <a:pPr algn="ctr"/>
            <a:r>
              <a:rPr lang="fi-FI" sz="1200" kern="10" dirty="0" smtClean="0">
                <a:ln w="19050">
                  <a:solidFill>
                    <a:srgbClr val="99CCFF"/>
                  </a:solidFill>
                  <a:round/>
                  <a:headEnd/>
                  <a:tailEnd/>
                </a:ln>
                <a:solidFill>
                  <a:srgbClr val="FF6699"/>
                </a:solidFill>
                <a:effectLst>
                  <a:outerShdw dist="35921" dir="2700000" algn="ctr" rotWithShape="0">
                    <a:srgbClr val="990000"/>
                  </a:outerShdw>
                </a:effectLst>
                <a:latin typeface="Impact"/>
              </a:rPr>
              <a:t>T</a:t>
            </a:r>
            <a:endParaRPr lang="fi-FI" sz="1200" kern="10" dirty="0">
              <a:ln w="19050">
                <a:solidFill>
                  <a:srgbClr val="99CCFF"/>
                </a:solidFill>
                <a:round/>
                <a:headEnd/>
                <a:tailEnd/>
              </a:ln>
              <a:solidFill>
                <a:srgbClr val="FF6699"/>
              </a:solidFill>
              <a:effectLst>
                <a:outerShdw dist="35921" dir="2700000" algn="ctr" rotWithShape="0">
                  <a:srgbClr val="990000"/>
                </a:outerShdw>
              </a:effectLst>
              <a:latin typeface="Impact"/>
            </a:endParaRPr>
          </a:p>
        </p:txBody>
      </p:sp>
      <p:sp>
        <p:nvSpPr>
          <p:cNvPr id="7213" name="Oval 45"/>
          <p:cNvSpPr>
            <a:spLocks noChangeArrowheads="1"/>
          </p:cNvSpPr>
          <p:nvPr/>
        </p:nvSpPr>
        <p:spPr bwMode="auto">
          <a:xfrm>
            <a:off x="7885113" y="4652963"/>
            <a:ext cx="1225550" cy="576262"/>
          </a:xfrm>
          <a:prstGeom prst="ellipse">
            <a:avLst/>
          </a:prstGeom>
          <a:solidFill>
            <a:schemeClr val="accent1"/>
          </a:solidFill>
          <a:ln w="9525" algn="ctr">
            <a:solidFill>
              <a:schemeClr val="tx1"/>
            </a:solidFill>
            <a:round/>
            <a:headEnd/>
            <a:tailEnd/>
          </a:ln>
          <a:effectLst/>
        </p:spPr>
        <p:txBody>
          <a:bodyPr wrap="none" anchor="ctr"/>
          <a:lstStyle/>
          <a:p>
            <a:pPr algn="ctr"/>
            <a:r>
              <a:rPr lang="fi-FI" sz="1600">
                <a:latin typeface="Arial Narrow" pitchFamily="34" charset="0"/>
              </a:rPr>
              <a:t>Hyväksyttää </a:t>
            </a:r>
            <a:br>
              <a:rPr lang="fi-FI" sz="1600">
                <a:latin typeface="Arial Narrow" pitchFamily="34" charset="0"/>
              </a:rPr>
            </a:br>
            <a:r>
              <a:rPr lang="fi-FI" sz="1600">
                <a:latin typeface="Arial Narrow" pitchFamily="34" charset="0"/>
              </a:rPr>
              <a:t>vaikutukset</a:t>
            </a:r>
            <a:endParaRPr lang="en-US" sz="1600">
              <a:latin typeface="Arial Narrow" pitchFamily="34" charset="0"/>
            </a:endParaRPr>
          </a:p>
        </p:txBody>
      </p:sp>
      <p:sp>
        <p:nvSpPr>
          <p:cNvPr id="7214" name="AutoShape 46"/>
          <p:cNvSpPr>
            <a:spLocks noChangeArrowheads="1"/>
          </p:cNvSpPr>
          <p:nvPr/>
        </p:nvSpPr>
        <p:spPr bwMode="auto">
          <a:xfrm>
            <a:off x="2195513" y="1268413"/>
            <a:ext cx="358775" cy="215900"/>
          </a:xfrm>
          <a:prstGeom prst="downArrow">
            <a:avLst>
              <a:gd name="adj1" fmla="val 50000"/>
              <a:gd name="adj2" fmla="val 25000"/>
            </a:avLst>
          </a:prstGeom>
          <a:solidFill>
            <a:srgbClr val="FF6699"/>
          </a:solidFill>
          <a:ln w="9525" algn="ctr">
            <a:solidFill>
              <a:schemeClr val="tx1"/>
            </a:solidFill>
            <a:miter lim="800000"/>
            <a:headEnd/>
            <a:tailEnd/>
          </a:ln>
          <a:effectLst/>
        </p:spPr>
        <p:txBody>
          <a:bodyPr wrap="none" anchor="ctr"/>
          <a:lstStyle/>
          <a:p>
            <a:endParaRPr lang="fi-FI"/>
          </a:p>
        </p:txBody>
      </p:sp>
      <p:sp>
        <p:nvSpPr>
          <p:cNvPr id="7215" name="AutoShape 47"/>
          <p:cNvSpPr>
            <a:spLocks noChangeArrowheads="1"/>
          </p:cNvSpPr>
          <p:nvPr/>
        </p:nvSpPr>
        <p:spPr bwMode="auto">
          <a:xfrm>
            <a:off x="6589713" y="1484313"/>
            <a:ext cx="358775" cy="215900"/>
          </a:xfrm>
          <a:prstGeom prst="downArrow">
            <a:avLst>
              <a:gd name="adj1" fmla="val 50000"/>
              <a:gd name="adj2" fmla="val 25000"/>
            </a:avLst>
          </a:prstGeom>
          <a:solidFill>
            <a:srgbClr val="FF6699"/>
          </a:solidFill>
          <a:ln w="9525" algn="ctr">
            <a:solidFill>
              <a:schemeClr val="tx1"/>
            </a:solidFill>
            <a:miter lim="800000"/>
            <a:headEnd/>
            <a:tailEnd/>
          </a:ln>
          <a:effectLst/>
        </p:spPr>
        <p:txBody>
          <a:bodyPr wrap="none" anchor="ctr"/>
          <a:lstStyle/>
          <a:p>
            <a:endParaRPr lang="fi-FI"/>
          </a:p>
        </p:txBody>
      </p:sp>
      <p:sp>
        <p:nvSpPr>
          <p:cNvPr id="33" name="Slide Number Placeholder 32"/>
          <p:cNvSpPr>
            <a:spLocks noGrp="1"/>
          </p:cNvSpPr>
          <p:nvPr>
            <p:ph type="sldNum" sz="quarter" idx="12"/>
          </p:nvPr>
        </p:nvSpPr>
        <p:spPr/>
        <p:txBody>
          <a:bodyPr/>
          <a:lstStyle/>
          <a:p>
            <a:fld id="{1FC54B03-E980-44E0-A0F1-6CAD9D10ECFB}" type="slidenum">
              <a:rPr lang="fi-FI" smtClean="0"/>
              <a:pPr/>
              <a:t>126</a:t>
            </a:fld>
            <a:endParaRPr lang="fi-FI"/>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fi-FI"/>
              <a:t>Havaintokirjausten vastuunvaihdot</a:t>
            </a:r>
            <a:endParaRPr lang="en-US"/>
          </a:p>
        </p:txBody>
      </p:sp>
      <p:grpSp>
        <p:nvGrpSpPr>
          <p:cNvPr id="2" name="Group 5"/>
          <p:cNvGrpSpPr>
            <a:grpSpLocks/>
          </p:cNvGrpSpPr>
          <p:nvPr/>
        </p:nvGrpSpPr>
        <p:grpSpPr bwMode="auto">
          <a:xfrm>
            <a:off x="1403350" y="1700213"/>
            <a:ext cx="1579563" cy="1871662"/>
            <a:chOff x="3606" y="1480"/>
            <a:chExt cx="995" cy="1179"/>
          </a:xfrm>
        </p:grpSpPr>
        <p:pic>
          <p:nvPicPr>
            <p:cNvPr id="58374" name="Picture 6" descr="MC900290031[1]"/>
            <p:cNvPicPr>
              <a:picLocks noChangeAspect="1" noChangeArrowheads="1"/>
            </p:cNvPicPr>
            <p:nvPr/>
          </p:nvPicPr>
          <p:blipFill>
            <a:blip r:embed="rId2" cstate="print"/>
            <a:srcRect/>
            <a:stretch>
              <a:fillRect/>
            </a:stretch>
          </p:blipFill>
          <p:spPr bwMode="auto">
            <a:xfrm>
              <a:off x="3606" y="1480"/>
              <a:ext cx="995" cy="1179"/>
            </a:xfrm>
            <a:prstGeom prst="rect">
              <a:avLst/>
            </a:prstGeom>
            <a:noFill/>
          </p:spPr>
        </p:pic>
        <p:sp>
          <p:nvSpPr>
            <p:cNvPr id="58375" name="WordArt 7"/>
            <p:cNvSpPr>
              <a:spLocks noChangeArrowheads="1" noChangeShapeType="1" noTextEdit="1"/>
            </p:cNvSpPr>
            <p:nvPr/>
          </p:nvSpPr>
          <p:spPr bwMode="auto">
            <a:xfrm>
              <a:off x="4105" y="2206"/>
              <a:ext cx="162" cy="120"/>
            </a:xfrm>
            <a:prstGeom prst="rect">
              <a:avLst/>
            </a:prstGeom>
          </p:spPr>
          <p:txBody>
            <a:bodyPr wrap="none" fromWordArt="1">
              <a:prstTxWarp prst="textPlain">
                <a:avLst>
                  <a:gd name="adj" fmla="val 50000"/>
                </a:avLst>
              </a:prstTxWarp>
            </a:bodyPr>
            <a:lstStyle/>
            <a:p>
              <a:pPr algn="ctr"/>
              <a:r>
                <a:rPr lang="fi-FI" sz="1200" kern="10">
                  <a:ln w="19050">
                    <a:solidFill>
                      <a:srgbClr val="99CCFF"/>
                    </a:solidFill>
                    <a:round/>
                    <a:headEnd/>
                    <a:tailEnd/>
                  </a:ln>
                  <a:solidFill>
                    <a:srgbClr val="0066CC"/>
                  </a:solidFill>
                  <a:effectLst>
                    <a:outerShdw dist="35921" dir="2700000" algn="ctr" rotWithShape="0">
                      <a:srgbClr val="990000"/>
                    </a:outerShdw>
                  </a:effectLst>
                  <a:latin typeface="Impact"/>
                </a:rPr>
                <a:t> </a:t>
              </a:r>
            </a:p>
          </p:txBody>
        </p:sp>
      </p:grpSp>
      <p:grpSp>
        <p:nvGrpSpPr>
          <p:cNvPr id="3" name="Group 8"/>
          <p:cNvGrpSpPr>
            <a:grpSpLocks/>
          </p:cNvGrpSpPr>
          <p:nvPr/>
        </p:nvGrpSpPr>
        <p:grpSpPr bwMode="auto">
          <a:xfrm>
            <a:off x="5795963" y="1916113"/>
            <a:ext cx="1579562" cy="1871662"/>
            <a:chOff x="884" y="1480"/>
            <a:chExt cx="995" cy="1179"/>
          </a:xfrm>
        </p:grpSpPr>
        <p:pic>
          <p:nvPicPr>
            <p:cNvPr id="58377" name="Picture 9" descr="MC900290031[1]"/>
            <p:cNvPicPr>
              <a:picLocks noChangeAspect="1" noChangeArrowheads="1"/>
            </p:cNvPicPr>
            <p:nvPr/>
          </p:nvPicPr>
          <p:blipFill>
            <a:blip r:embed="rId2" cstate="print"/>
            <a:srcRect/>
            <a:stretch>
              <a:fillRect/>
            </a:stretch>
          </p:blipFill>
          <p:spPr bwMode="auto">
            <a:xfrm>
              <a:off x="884" y="1480"/>
              <a:ext cx="995" cy="1179"/>
            </a:xfrm>
            <a:prstGeom prst="rect">
              <a:avLst/>
            </a:prstGeom>
            <a:noFill/>
          </p:spPr>
        </p:pic>
        <p:sp>
          <p:nvSpPr>
            <p:cNvPr id="58378" name="WordArt 10"/>
            <p:cNvSpPr>
              <a:spLocks noChangeArrowheads="1" noChangeShapeType="1" noTextEdit="1"/>
            </p:cNvSpPr>
            <p:nvPr/>
          </p:nvSpPr>
          <p:spPr bwMode="auto">
            <a:xfrm>
              <a:off x="1361" y="2145"/>
              <a:ext cx="172" cy="227"/>
            </a:xfrm>
            <a:prstGeom prst="rect">
              <a:avLst/>
            </a:prstGeom>
          </p:spPr>
          <p:txBody>
            <a:bodyPr wrap="none" fromWordArt="1">
              <a:prstTxWarp prst="textPlain">
                <a:avLst>
                  <a:gd name="adj" fmla="val 50000"/>
                </a:avLst>
              </a:prstTxWarp>
            </a:bodyPr>
            <a:lstStyle/>
            <a:p>
              <a:pPr algn="ctr"/>
              <a:r>
                <a:rPr lang="fi-FI" sz="1200" kern="10" dirty="0">
                  <a:ln w="19050">
                    <a:solidFill>
                      <a:srgbClr val="99CCFF"/>
                    </a:solidFill>
                    <a:round/>
                    <a:headEnd/>
                    <a:tailEnd/>
                  </a:ln>
                  <a:solidFill>
                    <a:srgbClr val="0066CC"/>
                  </a:solidFill>
                  <a:effectLst>
                    <a:outerShdw dist="35921" dir="2700000" algn="ctr" rotWithShape="0">
                      <a:srgbClr val="990000"/>
                    </a:outerShdw>
                  </a:effectLst>
                  <a:latin typeface="Impact"/>
                </a:rPr>
                <a:t> </a:t>
              </a:r>
              <a:r>
                <a:rPr lang="fi-FI" sz="1200" kern="10" dirty="0" smtClean="0">
                  <a:ln w="19050">
                    <a:solidFill>
                      <a:srgbClr val="99CCFF"/>
                    </a:solidFill>
                    <a:round/>
                    <a:headEnd/>
                    <a:tailEnd/>
                  </a:ln>
                  <a:solidFill>
                    <a:srgbClr val="0066CC"/>
                  </a:solidFill>
                  <a:effectLst>
                    <a:outerShdw dist="35921" dir="2700000" algn="ctr" rotWithShape="0">
                      <a:srgbClr val="990000"/>
                    </a:outerShdw>
                  </a:effectLst>
                  <a:latin typeface="Impact"/>
                </a:rPr>
                <a:t>A</a:t>
              </a:r>
              <a:endParaRPr lang="fi-FI" sz="1200" kern="10" dirty="0">
                <a:ln w="19050">
                  <a:solidFill>
                    <a:srgbClr val="99CCFF"/>
                  </a:solidFill>
                  <a:round/>
                  <a:headEnd/>
                  <a:tailEnd/>
                </a:ln>
                <a:solidFill>
                  <a:srgbClr val="0066CC"/>
                </a:solidFill>
                <a:effectLst>
                  <a:outerShdw dist="35921" dir="2700000" algn="ctr" rotWithShape="0">
                    <a:srgbClr val="990000"/>
                  </a:outerShdw>
                </a:effectLst>
                <a:latin typeface="Impact"/>
              </a:endParaRPr>
            </a:p>
          </p:txBody>
        </p:sp>
      </p:grpSp>
      <p:pic>
        <p:nvPicPr>
          <p:cNvPr id="58379" name="Picture 11" descr="MC900290031[1]"/>
          <p:cNvPicPr>
            <a:picLocks noChangeAspect="1" noChangeArrowheads="1"/>
          </p:cNvPicPr>
          <p:nvPr/>
        </p:nvPicPr>
        <p:blipFill>
          <a:blip r:embed="rId2" cstate="print"/>
          <a:srcRect/>
          <a:stretch>
            <a:fillRect/>
          </a:stretch>
        </p:blipFill>
        <p:spPr bwMode="auto">
          <a:xfrm>
            <a:off x="2484438" y="4141788"/>
            <a:ext cx="1579562" cy="1871662"/>
          </a:xfrm>
          <a:prstGeom prst="rect">
            <a:avLst/>
          </a:prstGeom>
          <a:noFill/>
        </p:spPr>
      </p:pic>
      <p:sp>
        <p:nvSpPr>
          <p:cNvPr id="58380" name="Text Box 12"/>
          <p:cNvSpPr txBox="1">
            <a:spLocks noChangeArrowheads="1"/>
          </p:cNvSpPr>
          <p:nvPr/>
        </p:nvSpPr>
        <p:spPr bwMode="auto">
          <a:xfrm>
            <a:off x="2124075" y="5870575"/>
            <a:ext cx="2736850" cy="366713"/>
          </a:xfrm>
          <a:prstGeom prst="rect">
            <a:avLst/>
          </a:prstGeom>
          <a:noFill/>
          <a:ln w="9525" algn="ctr">
            <a:noFill/>
            <a:miter lim="800000"/>
            <a:headEnd/>
            <a:tailEnd/>
          </a:ln>
          <a:effectLst/>
        </p:spPr>
        <p:txBody>
          <a:bodyPr>
            <a:spAutoFit/>
          </a:bodyPr>
          <a:lstStyle/>
          <a:p>
            <a:pPr algn="ctr">
              <a:spcBef>
                <a:spcPct val="50000"/>
              </a:spcBef>
            </a:pPr>
            <a:r>
              <a:rPr lang="fi-FI"/>
              <a:t>Muutettujen lista</a:t>
            </a:r>
            <a:endParaRPr lang="en-US"/>
          </a:p>
        </p:txBody>
      </p:sp>
      <p:sp>
        <p:nvSpPr>
          <p:cNvPr id="58382" name="Oval 14"/>
          <p:cNvSpPr>
            <a:spLocks noChangeArrowheads="1"/>
          </p:cNvSpPr>
          <p:nvPr/>
        </p:nvSpPr>
        <p:spPr bwMode="auto">
          <a:xfrm>
            <a:off x="323850" y="3500438"/>
            <a:ext cx="1225550" cy="576262"/>
          </a:xfrm>
          <a:prstGeom prst="ellipse">
            <a:avLst/>
          </a:prstGeom>
          <a:solidFill>
            <a:schemeClr val="accent1"/>
          </a:solidFill>
          <a:ln w="9525" algn="ctr">
            <a:solidFill>
              <a:schemeClr val="tx1"/>
            </a:solidFill>
            <a:round/>
            <a:headEnd/>
            <a:tailEnd/>
          </a:ln>
          <a:effectLst/>
        </p:spPr>
        <p:txBody>
          <a:bodyPr wrap="none" anchor="ctr"/>
          <a:lstStyle/>
          <a:p>
            <a:pPr algn="ctr"/>
            <a:r>
              <a:rPr lang="fi-FI" sz="1600">
                <a:latin typeface="Arial Narrow" pitchFamily="34" charset="0"/>
              </a:rPr>
              <a:t>Testauttaa</a:t>
            </a:r>
            <a:endParaRPr lang="en-US" sz="1600">
              <a:latin typeface="Arial Narrow" pitchFamily="34" charset="0"/>
            </a:endParaRPr>
          </a:p>
        </p:txBody>
      </p:sp>
      <p:sp>
        <p:nvSpPr>
          <p:cNvPr id="58384" name="Oval 16"/>
          <p:cNvSpPr>
            <a:spLocks noChangeArrowheads="1"/>
          </p:cNvSpPr>
          <p:nvPr/>
        </p:nvSpPr>
        <p:spPr bwMode="auto">
          <a:xfrm>
            <a:off x="7523163" y="3573463"/>
            <a:ext cx="1225550" cy="576262"/>
          </a:xfrm>
          <a:prstGeom prst="ellipse">
            <a:avLst/>
          </a:prstGeom>
          <a:solidFill>
            <a:schemeClr val="accent1"/>
          </a:solidFill>
          <a:ln w="9525" algn="ctr">
            <a:solidFill>
              <a:schemeClr val="tx1"/>
            </a:solidFill>
            <a:round/>
            <a:headEnd/>
            <a:tailEnd/>
          </a:ln>
          <a:effectLst/>
        </p:spPr>
        <p:txBody>
          <a:bodyPr wrap="none" anchor="ctr"/>
          <a:lstStyle/>
          <a:p>
            <a:pPr algn="ctr"/>
            <a:r>
              <a:rPr lang="fi-FI" sz="1600">
                <a:latin typeface="Arial Narrow" pitchFamily="34" charset="0"/>
              </a:rPr>
              <a:t>Testauttaa</a:t>
            </a:r>
            <a:endParaRPr lang="en-US" sz="1600">
              <a:latin typeface="Arial Narrow" pitchFamily="34" charset="0"/>
            </a:endParaRPr>
          </a:p>
        </p:txBody>
      </p:sp>
      <p:grpSp>
        <p:nvGrpSpPr>
          <p:cNvPr id="4" name="Group 36"/>
          <p:cNvGrpSpPr>
            <a:grpSpLocks/>
          </p:cNvGrpSpPr>
          <p:nvPr/>
        </p:nvGrpSpPr>
        <p:grpSpPr bwMode="auto">
          <a:xfrm>
            <a:off x="250825" y="1989138"/>
            <a:ext cx="1225550" cy="1322387"/>
            <a:chOff x="4693" y="1570"/>
            <a:chExt cx="772" cy="833"/>
          </a:xfrm>
        </p:grpSpPr>
        <p:pic>
          <p:nvPicPr>
            <p:cNvPr id="58387" name="Picture 19" descr="MM900354677[1]"/>
            <p:cNvPicPr>
              <a:picLocks noChangeAspect="1" noChangeArrowheads="1" noCrop="1"/>
            </p:cNvPicPr>
            <p:nvPr/>
          </p:nvPicPr>
          <p:blipFill>
            <a:blip r:embed="rId3" cstate="print"/>
            <a:srcRect/>
            <a:stretch>
              <a:fillRect/>
            </a:stretch>
          </p:blipFill>
          <p:spPr bwMode="auto">
            <a:xfrm>
              <a:off x="4876" y="1570"/>
              <a:ext cx="473" cy="544"/>
            </a:xfrm>
            <a:prstGeom prst="rect">
              <a:avLst/>
            </a:prstGeom>
            <a:noFill/>
          </p:spPr>
        </p:pic>
        <p:sp>
          <p:nvSpPr>
            <p:cNvPr id="58388" name="Text Box 20"/>
            <p:cNvSpPr txBox="1">
              <a:spLocks noChangeArrowheads="1"/>
            </p:cNvSpPr>
            <p:nvPr/>
          </p:nvSpPr>
          <p:spPr bwMode="auto">
            <a:xfrm>
              <a:off x="4693" y="2115"/>
              <a:ext cx="772" cy="288"/>
            </a:xfrm>
            <a:prstGeom prst="rect">
              <a:avLst/>
            </a:prstGeom>
            <a:noFill/>
            <a:ln w="9525" algn="ctr">
              <a:noFill/>
              <a:miter lim="800000"/>
              <a:headEnd/>
              <a:tailEnd/>
            </a:ln>
            <a:effectLst/>
          </p:spPr>
          <p:txBody>
            <a:bodyPr>
              <a:spAutoFit/>
            </a:bodyPr>
            <a:lstStyle/>
            <a:p>
              <a:pPr algn="ctr">
                <a:spcBef>
                  <a:spcPct val="50000"/>
                </a:spcBef>
              </a:pPr>
              <a:r>
                <a:rPr lang="fi-FI" sz="1200" b="1">
                  <a:latin typeface="Arial Narrow" pitchFamily="34" charset="0"/>
                </a:rPr>
                <a:t>Toimittajan testausvastaava</a:t>
              </a:r>
              <a:endParaRPr lang="en-US" sz="1200" b="1">
                <a:latin typeface="Arial Narrow" pitchFamily="34" charset="0"/>
              </a:endParaRPr>
            </a:p>
          </p:txBody>
        </p:sp>
      </p:grpSp>
      <p:sp>
        <p:nvSpPr>
          <p:cNvPr id="58390" name="AutoShape 22"/>
          <p:cNvSpPr>
            <a:spLocks noChangeArrowheads="1"/>
          </p:cNvSpPr>
          <p:nvPr/>
        </p:nvSpPr>
        <p:spPr bwMode="auto">
          <a:xfrm>
            <a:off x="6732588" y="2132013"/>
            <a:ext cx="503237" cy="287337"/>
          </a:xfrm>
          <a:prstGeom prst="roundRect">
            <a:avLst>
              <a:gd name="adj" fmla="val 16667"/>
            </a:avLst>
          </a:prstGeom>
          <a:solidFill>
            <a:schemeClr val="accent1"/>
          </a:solidFill>
          <a:ln w="9525" algn="ctr">
            <a:solidFill>
              <a:schemeClr val="tx1"/>
            </a:solidFill>
            <a:round/>
            <a:headEnd/>
            <a:tailEnd/>
          </a:ln>
          <a:effectLst/>
        </p:spPr>
        <p:txBody>
          <a:bodyPr wrap="none" anchor="ctr"/>
          <a:lstStyle/>
          <a:p>
            <a:pPr algn="ctr"/>
            <a:r>
              <a:rPr lang="fi-FI" sz="1400" b="1">
                <a:latin typeface="Arial Narrow" pitchFamily="34" charset="0"/>
              </a:rPr>
              <a:t>FIXED</a:t>
            </a:r>
            <a:endParaRPr lang="en-US" sz="1400" b="1">
              <a:latin typeface="Arial Narrow" pitchFamily="34" charset="0"/>
            </a:endParaRPr>
          </a:p>
        </p:txBody>
      </p:sp>
      <p:sp>
        <p:nvSpPr>
          <p:cNvPr id="58391" name="Oval 23"/>
          <p:cNvSpPr>
            <a:spLocks noChangeArrowheads="1"/>
          </p:cNvSpPr>
          <p:nvPr/>
        </p:nvSpPr>
        <p:spPr bwMode="auto">
          <a:xfrm>
            <a:off x="6443663" y="5589588"/>
            <a:ext cx="2305050" cy="720725"/>
          </a:xfrm>
          <a:prstGeom prst="ellipse">
            <a:avLst/>
          </a:prstGeom>
          <a:solidFill>
            <a:schemeClr val="accent1"/>
          </a:solidFill>
          <a:ln w="9525" algn="ctr">
            <a:solidFill>
              <a:schemeClr val="tx1"/>
            </a:solidFill>
            <a:round/>
            <a:headEnd/>
            <a:tailEnd/>
          </a:ln>
          <a:effectLst/>
        </p:spPr>
        <p:txBody>
          <a:bodyPr wrap="none" anchor="ctr"/>
          <a:lstStyle/>
          <a:p>
            <a:pPr algn="ctr"/>
            <a:r>
              <a:rPr lang="fi-FI" sz="1600">
                <a:latin typeface="Arial Narrow" pitchFamily="34" charset="0"/>
              </a:rPr>
              <a:t>Tarkistaa </a:t>
            </a:r>
          </a:p>
          <a:p>
            <a:pPr algn="ctr"/>
            <a:r>
              <a:rPr lang="fi-FI" sz="1600">
                <a:latin typeface="Arial Narrow" pitchFamily="34" charset="0"/>
              </a:rPr>
              <a:t>prosessinmukaisuuden</a:t>
            </a:r>
            <a:endParaRPr lang="en-US" sz="1600">
              <a:latin typeface="Arial Narrow" pitchFamily="34" charset="0"/>
            </a:endParaRPr>
          </a:p>
        </p:txBody>
      </p:sp>
      <p:grpSp>
        <p:nvGrpSpPr>
          <p:cNvPr id="5" name="Group 50"/>
          <p:cNvGrpSpPr>
            <a:grpSpLocks/>
          </p:cNvGrpSpPr>
          <p:nvPr/>
        </p:nvGrpSpPr>
        <p:grpSpPr bwMode="auto">
          <a:xfrm>
            <a:off x="4784725" y="4508500"/>
            <a:ext cx="2524125" cy="1008063"/>
            <a:chOff x="2878" y="3339"/>
            <a:chExt cx="1590" cy="635"/>
          </a:xfrm>
        </p:grpSpPr>
        <p:sp>
          <p:nvSpPr>
            <p:cNvPr id="58386" name="Text Box 18"/>
            <p:cNvSpPr txBox="1">
              <a:spLocks noChangeArrowheads="1"/>
            </p:cNvSpPr>
            <p:nvPr/>
          </p:nvSpPr>
          <p:spPr bwMode="auto">
            <a:xfrm>
              <a:off x="3334" y="3505"/>
              <a:ext cx="1134" cy="288"/>
            </a:xfrm>
            <a:prstGeom prst="rect">
              <a:avLst/>
            </a:prstGeom>
            <a:noFill/>
            <a:ln w="9525" algn="ctr">
              <a:noFill/>
              <a:miter lim="800000"/>
              <a:headEnd/>
              <a:tailEnd/>
            </a:ln>
            <a:effectLst/>
          </p:spPr>
          <p:txBody>
            <a:bodyPr>
              <a:spAutoFit/>
            </a:bodyPr>
            <a:lstStyle/>
            <a:p>
              <a:pPr>
                <a:spcBef>
                  <a:spcPct val="50000"/>
                </a:spcBef>
              </a:pPr>
              <a:r>
                <a:rPr lang="fi-FI" sz="1200" b="1">
                  <a:latin typeface="Arial Narrow" pitchFamily="34" charset="0"/>
                </a:rPr>
                <a:t>Toimittajan projektipäällikkö</a:t>
              </a:r>
              <a:endParaRPr lang="en-US" sz="1200" b="1">
                <a:latin typeface="Arial Narrow" pitchFamily="34" charset="0"/>
              </a:endParaRPr>
            </a:p>
          </p:txBody>
        </p:sp>
        <p:pic>
          <p:nvPicPr>
            <p:cNvPr id="58392" name="Picture 24" descr="MC900410577[1]"/>
            <p:cNvPicPr>
              <a:picLocks noChangeAspect="1" noChangeArrowheads="1"/>
            </p:cNvPicPr>
            <p:nvPr/>
          </p:nvPicPr>
          <p:blipFill>
            <a:blip r:embed="rId4" cstate="print"/>
            <a:srcRect/>
            <a:stretch>
              <a:fillRect/>
            </a:stretch>
          </p:blipFill>
          <p:spPr bwMode="auto">
            <a:xfrm flipH="1">
              <a:off x="2878" y="3339"/>
              <a:ext cx="828" cy="635"/>
            </a:xfrm>
            <a:prstGeom prst="rect">
              <a:avLst/>
            </a:prstGeom>
            <a:noFill/>
          </p:spPr>
        </p:pic>
      </p:grpSp>
      <p:sp>
        <p:nvSpPr>
          <p:cNvPr id="58394" name="AutoShape 26"/>
          <p:cNvSpPr>
            <a:spLocks noChangeArrowheads="1"/>
          </p:cNvSpPr>
          <p:nvPr/>
        </p:nvSpPr>
        <p:spPr bwMode="auto">
          <a:xfrm>
            <a:off x="2124075" y="2132013"/>
            <a:ext cx="503238" cy="287337"/>
          </a:xfrm>
          <a:prstGeom prst="roundRect">
            <a:avLst>
              <a:gd name="adj" fmla="val 16667"/>
            </a:avLst>
          </a:prstGeom>
          <a:solidFill>
            <a:schemeClr val="accent1"/>
          </a:solidFill>
          <a:ln w="9525" algn="ctr">
            <a:solidFill>
              <a:schemeClr val="tx1"/>
            </a:solidFill>
            <a:round/>
            <a:headEnd/>
            <a:tailEnd/>
          </a:ln>
          <a:effectLst/>
        </p:spPr>
        <p:txBody>
          <a:bodyPr wrap="none" anchor="ctr"/>
          <a:lstStyle/>
          <a:p>
            <a:pPr algn="ctr"/>
            <a:r>
              <a:rPr lang="fi-FI" sz="1400" b="1">
                <a:latin typeface="Arial Narrow" pitchFamily="34" charset="0"/>
              </a:rPr>
              <a:t>FIXED</a:t>
            </a:r>
            <a:endParaRPr lang="en-US" sz="1400" b="1">
              <a:latin typeface="Arial Narrow" pitchFamily="34" charset="0"/>
            </a:endParaRPr>
          </a:p>
        </p:txBody>
      </p:sp>
      <p:sp>
        <p:nvSpPr>
          <p:cNvPr id="58395" name="AutoShape 27"/>
          <p:cNvSpPr>
            <a:spLocks noChangeArrowheads="1"/>
          </p:cNvSpPr>
          <p:nvPr/>
        </p:nvSpPr>
        <p:spPr bwMode="auto">
          <a:xfrm>
            <a:off x="3203575" y="4581525"/>
            <a:ext cx="503238" cy="287338"/>
          </a:xfrm>
          <a:prstGeom prst="roundRect">
            <a:avLst>
              <a:gd name="adj" fmla="val 16667"/>
            </a:avLst>
          </a:prstGeom>
          <a:solidFill>
            <a:schemeClr val="accent1"/>
          </a:solidFill>
          <a:ln w="9525" algn="ctr">
            <a:solidFill>
              <a:schemeClr val="tx1"/>
            </a:solidFill>
            <a:round/>
            <a:headEnd/>
            <a:tailEnd/>
          </a:ln>
          <a:effectLst/>
        </p:spPr>
        <p:txBody>
          <a:bodyPr wrap="none" anchor="ctr"/>
          <a:lstStyle/>
          <a:p>
            <a:pPr algn="ctr"/>
            <a:r>
              <a:rPr lang="fi-FI" sz="1000" b="1">
                <a:latin typeface="Arial Narrow" pitchFamily="34" charset="0"/>
              </a:rPr>
              <a:t>CLOSED</a:t>
            </a:r>
            <a:endParaRPr lang="en-US" sz="1000" b="1">
              <a:latin typeface="Arial Narrow" pitchFamily="34" charset="0"/>
            </a:endParaRPr>
          </a:p>
        </p:txBody>
      </p:sp>
      <p:sp>
        <p:nvSpPr>
          <p:cNvPr id="58396" name="AutoShape 28"/>
          <p:cNvSpPr>
            <a:spLocks noChangeArrowheads="1"/>
          </p:cNvSpPr>
          <p:nvPr/>
        </p:nvSpPr>
        <p:spPr bwMode="auto">
          <a:xfrm rot="8923470">
            <a:off x="3995738" y="4148138"/>
            <a:ext cx="1800225" cy="576262"/>
          </a:xfrm>
          <a:prstGeom prst="rightArrow">
            <a:avLst>
              <a:gd name="adj1" fmla="val 50000"/>
              <a:gd name="adj2" fmla="val 78099"/>
            </a:avLst>
          </a:prstGeom>
          <a:solidFill>
            <a:schemeClr val="accent1"/>
          </a:solidFill>
          <a:ln w="9525" algn="ctr">
            <a:solidFill>
              <a:schemeClr val="tx1"/>
            </a:solidFill>
            <a:miter lim="800000"/>
            <a:headEnd/>
            <a:tailEnd/>
          </a:ln>
          <a:effectLst/>
        </p:spPr>
        <p:txBody>
          <a:bodyPr wrap="none" anchor="ctr"/>
          <a:lstStyle/>
          <a:p>
            <a:endParaRPr lang="fi-FI"/>
          </a:p>
        </p:txBody>
      </p:sp>
      <p:sp>
        <p:nvSpPr>
          <p:cNvPr id="58397" name="WordArt 29"/>
          <p:cNvSpPr>
            <a:spLocks noChangeArrowheads="1" noChangeShapeType="1" noTextEdit="1"/>
          </p:cNvSpPr>
          <p:nvPr/>
        </p:nvSpPr>
        <p:spPr bwMode="auto">
          <a:xfrm>
            <a:off x="3306763" y="5300663"/>
            <a:ext cx="257175" cy="190500"/>
          </a:xfrm>
          <a:prstGeom prst="rect">
            <a:avLst/>
          </a:prstGeom>
        </p:spPr>
        <p:txBody>
          <a:bodyPr wrap="none" fromWordArt="1">
            <a:prstTxWarp prst="textPlain">
              <a:avLst>
                <a:gd name="adj" fmla="val 50000"/>
              </a:avLst>
            </a:prstTxWarp>
          </a:bodyPr>
          <a:lstStyle/>
          <a:p>
            <a:pPr algn="ctr"/>
            <a:r>
              <a:rPr lang="fi-FI" sz="1200" kern="10">
                <a:ln w="19050">
                  <a:solidFill>
                    <a:srgbClr val="99CCFF"/>
                  </a:solidFill>
                  <a:round/>
                  <a:headEnd/>
                  <a:tailEnd/>
                </a:ln>
                <a:solidFill>
                  <a:srgbClr val="FF6699"/>
                </a:solidFill>
                <a:effectLst>
                  <a:outerShdw dist="35921" dir="2700000" algn="ctr" rotWithShape="0">
                    <a:srgbClr val="990000"/>
                  </a:outerShdw>
                </a:effectLst>
                <a:latin typeface="Impact"/>
              </a:rPr>
              <a:t> </a:t>
            </a:r>
          </a:p>
        </p:txBody>
      </p:sp>
      <p:grpSp>
        <p:nvGrpSpPr>
          <p:cNvPr id="6" name="Group 33"/>
          <p:cNvGrpSpPr>
            <a:grpSpLocks/>
          </p:cNvGrpSpPr>
          <p:nvPr/>
        </p:nvGrpSpPr>
        <p:grpSpPr bwMode="auto">
          <a:xfrm>
            <a:off x="7524750" y="2147888"/>
            <a:ext cx="1225550" cy="1065212"/>
            <a:chOff x="4739" y="890"/>
            <a:chExt cx="772" cy="671"/>
          </a:xfrm>
        </p:grpSpPr>
        <p:sp>
          <p:nvSpPr>
            <p:cNvPr id="58402" name="Text Box 34"/>
            <p:cNvSpPr txBox="1">
              <a:spLocks noChangeArrowheads="1"/>
            </p:cNvSpPr>
            <p:nvPr/>
          </p:nvSpPr>
          <p:spPr bwMode="auto">
            <a:xfrm>
              <a:off x="4739" y="1388"/>
              <a:ext cx="772" cy="173"/>
            </a:xfrm>
            <a:prstGeom prst="rect">
              <a:avLst/>
            </a:prstGeom>
            <a:noFill/>
            <a:ln w="9525" algn="ctr">
              <a:noFill/>
              <a:miter lim="800000"/>
              <a:headEnd/>
              <a:tailEnd/>
            </a:ln>
            <a:effectLst/>
          </p:spPr>
          <p:txBody>
            <a:bodyPr>
              <a:spAutoFit/>
            </a:bodyPr>
            <a:lstStyle/>
            <a:p>
              <a:pPr algn="ctr">
                <a:spcBef>
                  <a:spcPct val="50000"/>
                </a:spcBef>
              </a:pPr>
              <a:r>
                <a:rPr lang="fi-FI" sz="1200" b="1">
                  <a:latin typeface="Arial Narrow" pitchFamily="34" charset="0"/>
                </a:rPr>
                <a:t>Testauspäällikkö</a:t>
              </a:r>
              <a:endParaRPr lang="en-US" sz="1200" b="1">
                <a:latin typeface="Arial Narrow" pitchFamily="34" charset="0"/>
              </a:endParaRPr>
            </a:p>
          </p:txBody>
        </p:sp>
        <p:pic>
          <p:nvPicPr>
            <p:cNvPr id="58403" name="Picture 35" descr="MC900435937[1]"/>
            <p:cNvPicPr>
              <a:picLocks noChangeAspect="1" noChangeArrowheads="1"/>
            </p:cNvPicPr>
            <p:nvPr/>
          </p:nvPicPr>
          <p:blipFill>
            <a:blip r:embed="rId5" cstate="print"/>
            <a:srcRect/>
            <a:stretch>
              <a:fillRect/>
            </a:stretch>
          </p:blipFill>
          <p:spPr bwMode="auto">
            <a:xfrm>
              <a:off x="4876" y="890"/>
              <a:ext cx="525" cy="509"/>
            </a:xfrm>
            <a:prstGeom prst="rect">
              <a:avLst/>
            </a:prstGeom>
            <a:noFill/>
          </p:spPr>
        </p:pic>
      </p:grpSp>
      <p:sp>
        <p:nvSpPr>
          <p:cNvPr id="58405" name="Text Box 37"/>
          <p:cNvSpPr txBox="1">
            <a:spLocks noChangeArrowheads="1"/>
          </p:cNvSpPr>
          <p:nvPr/>
        </p:nvSpPr>
        <p:spPr bwMode="auto">
          <a:xfrm>
            <a:off x="3492500" y="1773238"/>
            <a:ext cx="2232025" cy="646331"/>
          </a:xfrm>
          <a:prstGeom prst="rect">
            <a:avLst/>
          </a:prstGeom>
          <a:noFill/>
          <a:ln w="9525" algn="ctr">
            <a:noFill/>
            <a:miter lim="800000"/>
            <a:headEnd/>
            <a:tailEnd/>
          </a:ln>
          <a:effectLst/>
        </p:spPr>
        <p:txBody>
          <a:bodyPr>
            <a:spAutoFit/>
          </a:bodyPr>
          <a:lstStyle/>
          <a:p>
            <a:pPr algn="ctr">
              <a:spcBef>
                <a:spcPct val="50000"/>
              </a:spcBef>
            </a:pPr>
            <a:r>
              <a:rPr lang="fi-FI" dirty="0">
                <a:latin typeface="Arial Narrow" pitchFamily="34" charset="0"/>
              </a:rPr>
              <a:t>Havainnon kirjaajana </a:t>
            </a:r>
            <a:r>
              <a:rPr lang="fi-FI" dirty="0" smtClean="0">
                <a:latin typeface="Arial Narrow" pitchFamily="34" charset="0"/>
              </a:rPr>
              <a:t>Asiakas</a:t>
            </a:r>
            <a:endParaRPr lang="en-US" dirty="0">
              <a:latin typeface="Arial Narrow" pitchFamily="34" charset="0"/>
            </a:endParaRPr>
          </a:p>
        </p:txBody>
      </p:sp>
      <p:sp>
        <p:nvSpPr>
          <p:cNvPr id="58406" name="AutoShape 38"/>
          <p:cNvSpPr>
            <a:spLocks noChangeArrowheads="1"/>
          </p:cNvSpPr>
          <p:nvPr/>
        </p:nvSpPr>
        <p:spPr bwMode="auto">
          <a:xfrm>
            <a:off x="2268538" y="1341438"/>
            <a:ext cx="358775" cy="215900"/>
          </a:xfrm>
          <a:prstGeom prst="downArrow">
            <a:avLst>
              <a:gd name="adj1" fmla="val 50000"/>
              <a:gd name="adj2" fmla="val 25000"/>
            </a:avLst>
          </a:prstGeom>
          <a:solidFill>
            <a:srgbClr val="FF6699"/>
          </a:solidFill>
          <a:ln w="9525" algn="ctr">
            <a:solidFill>
              <a:schemeClr val="tx1"/>
            </a:solidFill>
            <a:miter lim="800000"/>
            <a:headEnd/>
            <a:tailEnd/>
          </a:ln>
          <a:effectLst/>
        </p:spPr>
        <p:txBody>
          <a:bodyPr wrap="none" anchor="ctr"/>
          <a:lstStyle/>
          <a:p>
            <a:endParaRPr lang="fi-FI"/>
          </a:p>
        </p:txBody>
      </p:sp>
      <p:sp>
        <p:nvSpPr>
          <p:cNvPr id="58409" name="AutoShape 41"/>
          <p:cNvSpPr>
            <a:spLocks noChangeArrowheads="1"/>
          </p:cNvSpPr>
          <p:nvPr/>
        </p:nvSpPr>
        <p:spPr bwMode="auto">
          <a:xfrm>
            <a:off x="3781425" y="2347913"/>
            <a:ext cx="1800225" cy="576262"/>
          </a:xfrm>
          <a:prstGeom prst="rightArrow">
            <a:avLst>
              <a:gd name="adj1" fmla="val 50000"/>
              <a:gd name="adj2" fmla="val 78099"/>
            </a:avLst>
          </a:prstGeom>
          <a:solidFill>
            <a:schemeClr val="accent1"/>
          </a:solidFill>
          <a:ln w="9525" algn="ctr">
            <a:solidFill>
              <a:schemeClr val="tx1"/>
            </a:solidFill>
            <a:miter lim="800000"/>
            <a:headEnd/>
            <a:tailEnd/>
          </a:ln>
          <a:effectLst/>
        </p:spPr>
        <p:txBody>
          <a:bodyPr wrap="none" anchor="ctr"/>
          <a:lstStyle/>
          <a:p>
            <a:endParaRPr lang="fi-FI"/>
          </a:p>
        </p:txBody>
      </p:sp>
      <p:sp>
        <p:nvSpPr>
          <p:cNvPr id="58413" name="Text Box 45"/>
          <p:cNvSpPr txBox="1">
            <a:spLocks noChangeArrowheads="1"/>
          </p:cNvSpPr>
          <p:nvPr/>
        </p:nvSpPr>
        <p:spPr bwMode="auto">
          <a:xfrm>
            <a:off x="2771775" y="3284538"/>
            <a:ext cx="2232025" cy="646331"/>
          </a:xfrm>
          <a:prstGeom prst="rect">
            <a:avLst/>
          </a:prstGeom>
          <a:noFill/>
          <a:ln w="9525" algn="ctr">
            <a:noFill/>
            <a:miter lim="800000"/>
            <a:headEnd/>
            <a:tailEnd/>
          </a:ln>
          <a:effectLst/>
        </p:spPr>
        <p:txBody>
          <a:bodyPr>
            <a:spAutoFit/>
          </a:bodyPr>
          <a:lstStyle/>
          <a:p>
            <a:pPr algn="ctr">
              <a:spcBef>
                <a:spcPct val="50000"/>
              </a:spcBef>
            </a:pPr>
            <a:r>
              <a:rPr lang="fi-FI" dirty="0">
                <a:latin typeface="Arial Narrow" pitchFamily="34" charset="0"/>
              </a:rPr>
              <a:t>Havainnon kirjaajana </a:t>
            </a:r>
            <a:r>
              <a:rPr lang="fi-FI" dirty="0" smtClean="0">
                <a:latin typeface="Arial Narrow" pitchFamily="34" charset="0"/>
              </a:rPr>
              <a:t>Toimittaja</a:t>
            </a:r>
            <a:endParaRPr lang="en-US" dirty="0">
              <a:latin typeface="Arial Narrow" pitchFamily="34" charset="0"/>
            </a:endParaRPr>
          </a:p>
        </p:txBody>
      </p:sp>
      <p:sp>
        <p:nvSpPr>
          <p:cNvPr id="58414" name="AutoShape 46"/>
          <p:cNvSpPr>
            <a:spLocks noChangeArrowheads="1"/>
          </p:cNvSpPr>
          <p:nvPr/>
        </p:nvSpPr>
        <p:spPr bwMode="auto">
          <a:xfrm rot="3200817">
            <a:off x="2501900" y="3625851"/>
            <a:ext cx="827087" cy="576262"/>
          </a:xfrm>
          <a:prstGeom prst="rightArrow">
            <a:avLst>
              <a:gd name="adj1" fmla="val 50000"/>
              <a:gd name="adj2" fmla="val 35882"/>
            </a:avLst>
          </a:prstGeom>
          <a:solidFill>
            <a:schemeClr val="accent1"/>
          </a:solidFill>
          <a:ln w="9525" algn="ctr">
            <a:solidFill>
              <a:schemeClr val="tx1"/>
            </a:solidFill>
            <a:miter lim="800000"/>
            <a:headEnd/>
            <a:tailEnd/>
          </a:ln>
          <a:effectLst/>
        </p:spPr>
        <p:txBody>
          <a:bodyPr wrap="none" anchor="ctr"/>
          <a:lstStyle/>
          <a:p>
            <a:endParaRPr lang="fi-FI"/>
          </a:p>
        </p:txBody>
      </p:sp>
      <p:grpSp>
        <p:nvGrpSpPr>
          <p:cNvPr id="7" name="Group 47"/>
          <p:cNvGrpSpPr>
            <a:grpSpLocks/>
          </p:cNvGrpSpPr>
          <p:nvPr/>
        </p:nvGrpSpPr>
        <p:grpSpPr bwMode="auto">
          <a:xfrm>
            <a:off x="4572000" y="5516563"/>
            <a:ext cx="1225550" cy="1247775"/>
            <a:chOff x="4150" y="1797"/>
            <a:chExt cx="772" cy="786"/>
          </a:xfrm>
        </p:grpSpPr>
        <p:sp>
          <p:nvSpPr>
            <p:cNvPr id="58416" name="Text Box 48"/>
            <p:cNvSpPr txBox="1">
              <a:spLocks noChangeArrowheads="1"/>
            </p:cNvSpPr>
            <p:nvPr/>
          </p:nvSpPr>
          <p:spPr bwMode="auto">
            <a:xfrm>
              <a:off x="4150" y="2295"/>
              <a:ext cx="772" cy="288"/>
            </a:xfrm>
            <a:prstGeom prst="rect">
              <a:avLst/>
            </a:prstGeom>
            <a:noFill/>
            <a:ln w="9525" algn="ctr">
              <a:noFill/>
              <a:miter lim="800000"/>
              <a:headEnd/>
              <a:tailEnd/>
            </a:ln>
            <a:effectLst/>
          </p:spPr>
          <p:txBody>
            <a:bodyPr>
              <a:spAutoFit/>
            </a:bodyPr>
            <a:lstStyle/>
            <a:p>
              <a:pPr algn="ctr">
                <a:spcBef>
                  <a:spcPct val="50000"/>
                </a:spcBef>
              </a:pPr>
              <a:r>
                <a:rPr lang="fi-FI" sz="1200" b="1">
                  <a:latin typeface="Arial Narrow" pitchFamily="34" charset="0"/>
                </a:rPr>
                <a:t>Ilmarisen projektipäällikkö</a:t>
              </a:r>
              <a:endParaRPr lang="en-US" sz="1200" b="1">
                <a:latin typeface="Arial Narrow" pitchFamily="34" charset="0"/>
              </a:endParaRPr>
            </a:p>
          </p:txBody>
        </p:sp>
        <p:pic>
          <p:nvPicPr>
            <p:cNvPr id="58417" name="Picture 49" descr="MC900435947[1]"/>
            <p:cNvPicPr>
              <a:picLocks noChangeAspect="1" noChangeArrowheads="1"/>
            </p:cNvPicPr>
            <p:nvPr/>
          </p:nvPicPr>
          <p:blipFill>
            <a:blip r:embed="rId6" cstate="print"/>
            <a:srcRect/>
            <a:stretch>
              <a:fillRect/>
            </a:stretch>
          </p:blipFill>
          <p:spPr bwMode="auto">
            <a:xfrm>
              <a:off x="4286" y="1797"/>
              <a:ext cx="482" cy="515"/>
            </a:xfrm>
            <a:prstGeom prst="rect">
              <a:avLst/>
            </a:prstGeom>
            <a:noFill/>
          </p:spPr>
        </p:pic>
      </p:grpSp>
      <p:sp>
        <p:nvSpPr>
          <p:cNvPr id="36" name="Slide Number Placeholder 35"/>
          <p:cNvSpPr>
            <a:spLocks noGrp="1"/>
          </p:cNvSpPr>
          <p:nvPr>
            <p:ph type="sldNum" sz="quarter" idx="12"/>
          </p:nvPr>
        </p:nvSpPr>
        <p:spPr/>
        <p:txBody>
          <a:bodyPr/>
          <a:lstStyle/>
          <a:p>
            <a:fld id="{1FC54B03-E980-44E0-A0F1-6CAD9D10ECFB}" type="slidenum">
              <a:rPr lang="fi-FI" smtClean="0"/>
              <a:pPr/>
              <a:t>127</a:t>
            </a:fld>
            <a:endParaRPr lang="fi-FI"/>
          </a:p>
        </p:txBody>
      </p:sp>
    </p:spTree>
  </p:cSld>
  <p:clrMapOvr>
    <a:masterClrMapping/>
  </p:clrMapOvr>
  <p:transition xmlns:p14="http://schemas.microsoft.com/office/powerpoint/2010/main"/>
</p:sld>
</file>

<file path=ppt/slides/slide1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244" name="Rectangle 4"/>
          <p:cNvSpPr>
            <a:spLocks noGrp="1" noChangeArrowheads="1"/>
          </p:cNvSpPr>
          <p:nvPr>
            <p:ph type="title"/>
          </p:nvPr>
        </p:nvSpPr>
        <p:spPr/>
        <p:txBody>
          <a:bodyPr>
            <a:normAutofit/>
          </a:bodyPr>
          <a:lstStyle/>
          <a:p>
            <a:r>
              <a:rPr lang="fi-FI" sz="2800" dirty="0"/>
              <a:t>Tehtävät prosessissa / </a:t>
            </a:r>
            <a:r>
              <a:rPr lang="fi-FI" sz="2800" dirty="0" smtClean="0"/>
              <a:t>Asiakkaan kirjaamat </a:t>
            </a:r>
            <a:r>
              <a:rPr lang="fi-FI" sz="2800" dirty="0"/>
              <a:t>havainnot</a:t>
            </a:r>
            <a:endParaRPr lang="en-US" sz="2800" dirty="0"/>
          </a:p>
        </p:txBody>
      </p:sp>
      <p:grpSp>
        <p:nvGrpSpPr>
          <p:cNvPr id="2" name="Group 23"/>
          <p:cNvGrpSpPr>
            <a:grpSpLocks/>
          </p:cNvGrpSpPr>
          <p:nvPr/>
        </p:nvGrpSpPr>
        <p:grpSpPr bwMode="auto">
          <a:xfrm>
            <a:off x="107950" y="3933825"/>
            <a:ext cx="1225550" cy="1392238"/>
            <a:chOff x="2109" y="1192"/>
            <a:chExt cx="772" cy="877"/>
          </a:xfrm>
        </p:grpSpPr>
        <p:sp>
          <p:nvSpPr>
            <p:cNvPr id="10245" name="Text Box 5"/>
            <p:cNvSpPr txBox="1">
              <a:spLocks noChangeArrowheads="1"/>
            </p:cNvSpPr>
            <p:nvPr/>
          </p:nvSpPr>
          <p:spPr bwMode="auto">
            <a:xfrm>
              <a:off x="2109" y="1781"/>
              <a:ext cx="772" cy="288"/>
            </a:xfrm>
            <a:prstGeom prst="rect">
              <a:avLst/>
            </a:prstGeom>
            <a:noFill/>
            <a:ln w="9525" algn="ctr">
              <a:noFill/>
              <a:miter lim="800000"/>
              <a:headEnd/>
              <a:tailEnd/>
            </a:ln>
            <a:effectLst/>
          </p:spPr>
          <p:txBody>
            <a:bodyPr>
              <a:spAutoFit/>
            </a:bodyPr>
            <a:lstStyle/>
            <a:p>
              <a:pPr algn="ctr">
                <a:spcBef>
                  <a:spcPct val="50000"/>
                </a:spcBef>
              </a:pPr>
              <a:r>
                <a:rPr lang="fi-FI" sz="1200" b="1">
                  <a:latin typeface="Arial Narrow" pitchFamily="34" charset="0"/>
                </a:rPr>
                <a:t>Liiketoiminnan testausvastaava</a:t>
              </a:r>
              <a:endParaRPr lang="en-US" sz="1200" b="1">
                <a:latin typeface="Arial Narrow" pitchFamily="34" charset="0"/>
              </a:endParaRPr>
            </a:p>
          </p:txBody>
        </p:sp>
        <p:pic>
          <p:nvPicPr>
            <p:cNvPr id="10246" name="Picture 6" descr="MM900336578[1]"/>
            <p:cNvPicPr>
              <a:picLocks noChangeAspect="1" noChangeArrowheads="1" noCrop="1"/>
            </p:cNvPicPr>
            <p:nvPr/>
          </p:nvPicPr>
          <p:blipFill>
            <a:blip r:embed="rId2" cstate="print"/>
            <a:srcRect/>
            <a:stretch>
              <a:fillRect/>
            </a:stretch>
          </p:blipFill>
          <p:spPr bwMode="auto">
            <a:xfrm>
              <a:off x="2291" y="1192"/>
              <a:ext cx="451" cy="591"/>
            </a:xfrm>
            <a:prstGeom prst="rect">
              <a:avLst/>
            </a:prstGeom>
            <a:noFill/>
          </p:spPr>
        </p:pic>
      </p:grpSp>
      <p:grpSp>
        <p:nvGrpSpPr>
          <p:cNvPr id="3" name="Group 22"/>
          <p:cNvGrpSpPr>
            <a:grpSpLocks/>
          </p:cNvGrpSpPr>
          <p:nvPr/>
        </p:nvGrpSpPr>
        <p:grpSpPr bwMode="auto">
          <a:xfrm>
            <a:off x="3132138" y="1484313"/>
            <a:ext cx="1225550" cy="1322387"/>
            <a:chOff x="3060" y="2795"/>
            <a:chExt cx="772" cy="833"/>
          </a:xfrm>
        </p:grpSpPr>
        <p:pic>
          <p:nvPicPr>
            <p:cNvPr id="10254" name="Picture 14" descr="MM900354677[1]"/>
            <p:cNvPicPr>
              <a:picLocks noChangeAspect="1" noChangeArrowheads="1" noCrop="1"/>
            </p:cNvPicPr>
            <p:nvPr/>
          </p:nvPicPr>
          <p:blipFill>
            <a:blip r:embed="rId3" cstate="print"/>
            <a:srcRect/>
            <a:stretch>
              <a:fillRect/>
            </a:stretch>
          </p:blipFill>
          <p:spPr bwMode="auto">
            <a:xfrm>
              <a:off x="3243" y="2795"/>
              <a:ext cx="473" cy="544"/>
            </a:xfrm>
            <a:prstGeom prst="rect">
              <a:avLst/>
            </a:prstGeom>
            <a:noFill/>
          </p:spPr>
        </p:pic>
        <p:sp>
          <p:nvSpPr>
            <p:cNvPr id="10255" name="Text Box 15"/>
            <p:cNvSpPr txBox="1">
              <a:spLocks noChangeArrowheads="1"/>
            </p:cNvSpPr>
            <p:nvPr/>
          </p:nvSpPr>
          <p:spPr bwMode="auto">
            <a:xfrm>
              <a:off x="3060" y="3340"/>
              <a:ext cx="772" cy="288"/>
            </a:xfrm>
            <a:prstGeom prst="rect">
              <a:avLst/>
            </a:prstGeom>
            <a:noFill/>
            <a:ln w="9525" algn="ctr">
              <a:noFill/>
              <a:miter lim="800000"/>
              <a:headEnd/>
              <a:tailEnd/>
            </a:ln>
            <a:effectLst/>
          </p:spPr>
          <p:txBody>
            <a:bodyPr>
              <a:spAutoFit/>
            </a:bodyPr>
            <a:lstStyle/>
            <a:p>
              <a:pPr algn="ctr">
                <a:spcBef>
                  <a:spcPct val="50000"/>
                </a:spcBef>
              </a:pPr>
              <a:r>
                <a:rPr lang="fi-FI" sz="1200" b="1">
                  <a:latin typeface="Arial Narrow" pitchFamily="34" charset="0"/>
                </a:rPr>
                <a:t>Toimittajan testausvastaava</a:t>
              </a:r>
              <a:endParaRPr lang="en-US" sz="1200" b="1">
                <a:latin typeface="Arial Narrow" pitchFamily="34" charset="0"/>
              </a:endParaRPr>
            </a:p>
          </p:txBody>
        </p:sp>
      </p:grpSp>
      <p:grpSp>
        <p:nvGrpSpPr>
          <p:cNvPr id="4" name="Group 21"/>
          <p:cNvGrpSpPr>
            <a:grpSpLocks/>
          </p:cNvGrpSpPr>
          <p:nvPr/>
        </p:nvGrpSpPr>
        <p:grpSpPr bwMode="auto">
          <a:xfrm>
            <a:off x="5072063" y="4941888"/>
            <a:ext cx="2524125" cy="1008062"/>
            <a:chOff x="975" y="2976"/>
            <a:chExt cx="1590" cy="635"/>
          </a:xfrm>
        </p:grpSpPr>
        <p:sp>
          <p:nvSpPr>
            <p:cNvPr id="10256" name="Text Box 16"/>
            <p:cNvSpPr txBox="1">
              <a:spLocks noChangeArrowheads="1"/>
            </p:cNvSpPr>
            <p:nvPr/>
          </p:nvSpPr>
          <p:spPr bwMode="auto">
            <a:xfrm>
              <a:off x="1431" y="3142"/>
              <a:ext cx="1134" cy="288"/>
            </a:xfrm>
            <a:prstGeom prst="rect">
              <a:avLst/>
            </a:prstGeom>
            <a:noFill/>
            <a:ln w="9525" algn="ctr">
              <a:noFill/>
              <a:miter lim="800000"/>
              <a:headEnd/>
              <a:tailEnd/>
            </a:ln>
            <a:effectLst/>
          </p:spPr>
          <p:txBody>
            <a:bodyPr>
              <a:spAutoFit/>
            </a:bodyPr>
            <a:lstStyle/>
            <a:p>
              <a:pPr>
                <a:spcBef>
                  <a:spcPct val="50000"/>
                </a:spcBef>
              </a:pPr>
              <a:r>
                <a:rPr lang="fi-FI" sz="1200" b="1">
                  <a:latin typeface="Arial Narrow" pitchFamily="34" charset="0"/>
                </a:rPr>
                <a:t>Toimittajan projektipäällikkö</a:t>
              </a:r>
              <a:endParaRPr lang="en-US" sz="1200" b="1">
                <a:latin typeface="Arial Narrow" pitchFamily="34" charset="0"/>
              </a:endParaRPr>
            </a:p>
          </p:txBody>
        </p:sp>
        <p:pic>
          <p:nvPicPr>
            <p:cNvPr id="10257" name="Picture 17" descr="MC900410577[1]"/>
            <p:cNvPicPr>
              <a:picLocks noChangeAspect="1" noChangeArrowheads="1"/>
            </p:cNvPicPr>
            <p:nvPr/>
          </p:nvPicPr>
          <p:blipFill>
            <a:blip r:embed="rId4" cstate="print"/>
            <a:srcRect/>
            <a:stretch>
              <a:fillRect/>
            </a:stretch>
          </p:blipFill>
          <p:spPr bwMode="auto">
            <a:xfrm flipH="1">
              <a:off x="975" y="2976"/>
              <a:ext cx="828" cy="635"/>
            </a:xfrm>
            <a:prstGeom prst="rect">
              <a:avLst/>
            </a:prstGeom>
            <a:noFill/>
          </p:spPr>
        </p:pic>
      </p:grpSp>
      <p:grpSp>
        <p:nvGrpSpPr>
          <p:cNvPr id="5" name="Group 37"/>
          <p:cNvGrpSpPr>
            <a:grpSpLocks/>
          </p:cNvGrpSpPr>
          <p:nvPr/>
        </p:nvGrpSpPr>
        <p:grpSpPr bwMode="auto">
          <a:xfrm>
            <a:off x="107950" y="1628775"/>
            <a:ext cx="1225550" cy="1138238"/>
            <a:chOff x="68" y="1026"/>
            <a:chExt cx="772" cy="717"/>
          </a:xfrm>
        </p:grpSpPr>
        <p:sp>
          <p:nvSpPr>
            <p:cNvPr id="10247" name="Text Box 7"/>
            <p:cNvSpPr txBox="1">
              <a:spLocks noChangeArrowheads="1"/>
            </p:cNvSpPr>
            <p:nvPr/>
          </p:nvSpPr>
          <p:spPr bwMode="auto">
            <a:xfrm>
              <a:off x="68" y="1570"/>
              <a:ext cx="772" cy="173"/>
            </a:xfrm>
            <a:prstGeom prst="rect">
              <a:avLst/>
            </a:prstGeom>
            <a:noFill/>
            <a:ln w="9525" algn="ctr">
              <a:noFill/>
              <a:miter lim="800000"/>
              <a:headEnd/>
              <a:tailEnd/>
            </a:ln>
            <a:effectLst/>
          </p:spPr>
          <p:txBody>
            <a:bodyPr>
              <a:spAutoFit/>
            </a:bodyPr>
            <a:lstStyle/>
            <a:p>
              <a:pPr algn="ctr">
                <a:spcBef>
                  <a:spcPct val="50000"/>
                </a:spcBef>
              </a:pPr>
              <a:r>
                <a:rPr lang="fi-FI" sz="1200" b="1">
                  <a:latin typeface="Arial Narrow" pitchFamily="34" charset="0"/>
                </a:rPr>
                <a:t>Testaaja</a:t>
              </a:r>
              <a:endParaRPr lang="en-US" sz="1200" b="1">
                <a:latin typeface="Arial Narrow" pitchFamily="34" charset="0"/>
              </a:endParaRPr>
            </a:p>
          </p:txBody>
        </p:sp>
        <p:pic>
          <p:nvPicPr>
            <p:cNvPr id="10258" name="Picture 18" descr="j0195384"/>
            <p:cNvPicPr>
              <a:picLocks noChangeAspect="1" noChangeArrowheads="1"/>
            </p:cNvPicPr>
            <p:nvPr/>
          </p:nvPicPr>
          <p:blipFill>
            <a:blip r:embed="rId5" cstate="print"/>
            <a:srcRect/>
            <a:stretch>
              <a:fillRect/>
            </a:stretch>
          </p:blipFill>
          <p:spPr bwMode="auto">
            <a:xfrm>
              <a:off x="204" y="1026"/>
              <a:ext cx="537" cy="548"/>
            </a:xfrm>
            <a:prstGeom prst="rect">
              <a:avLst/>
            </a:prstGeom>
            <a:noFill/>
          </p:spPr>
        </p:pic>
      </p:grpSp>
      <p:sp>
        <p:nvSpPr>
          <p:cNvPr id="10259" name="Text Box 19"/>
          <p:cNvSpPr txBox="1">
            <a:spLocks noChangeArrowheads="1"/>
          </p:cNvSpPr>
          <p:nvPr/>
        </p:nvSpPr>
        <p:spPr bwMode="auto">
          <a:xfrm>
            <a:off x="1331913" y="1628775"/>
            <a:ext cx="1655762" cy="1793875"/>
          </a:xfrm>
          <a:prstGeom prst="rect">
            <a:avLst/>
          </a:prstGeom>
          <a:noFill/>
          <a:ln w="9525" algn="ctr">
            <a:noFill/>
            <a:miter lim="800000"/>
            <a:headEnd/>
            <a:tailEnd/>
          </a:ln>
          <a:effectLst/>
        </p:spPr>
        <p:txBody>
          <a:bodyPr>
            <a:spAutoFit/>
          </a:bodyPr>
          <a:lstStyle/>
          <a:p>
            <a:pPr>
              <a:spcBef>
                <a:spcPct val="50000"/>
              </a:spcBef>
            </a:pPr>
            <a:r>
              <a:rPr lang="fi-FI" sz="1400">
                <a:latin typeface="Arial Narrow" pitchFamily="34" charset="0"/>
              </a:rPr>
              <a:t>Havaintokirjauksen laatiminen riittävin tiedoin</a:t>
            </a:r>
          </a:p>
          <a:p>
            <a:pPr>
              <a:spcBef>
                <a:spcPct val="50000"/>
              </a:spcBef>
            </a:pPr>
            <a:r>
              <a:rPr lang="fi-FI" sz="1400">
                <a:latin typeface="Arial Narrow" pitchFamily="34" charset="0"/>
              </a:rPr>
              <a:t>Lisätietojen antaminen pyydettäessä</a:t>
            </a:r>
          </a:p>
          <a:p>
            <a:pPr>
              <a:spcBef>
                <a:spcPct val="50000"/>
              </a:spcBef>
            </a:pPr>
            <a:r>
              <a:rPr lang="fi-FI" sz="1400">
                <a:latin typeface="Arial Narrow" pitchFamily="34" charset="0"/>
              </a:rPr>
              <a:t>Korjaantumisen varmistaminen</a:t>
            </a:r>
            <a:endParaRPr lang="en-US" sz="1400">
              <a:latin typeface="Arial Narrow" pitchFamily="34" charset="0"/>
            </a:endParaRPr>
          </a:p>
        </p:txBody>
      </p:sp>
      <p:sp>
        <p:nvSpPr>
          <p:cNvPr id="10260" name="Text Box 20"/>
          <p:cNvSpPr txBox="1">
            <a:spLocks noChangeArrowheads="1"/>
          </p:cNvSpPr>
          <p:nvPr/>
        </p:nvSpPr>
        <p:spPr bwMode="auto">
          <a:xfrm>
            <a:off x="1331913" y="4005263"/>
            <a:ext cx="2087562" cy="2432050"/>
          </a:xfrm>
          <a:prstGeom prst="rect">
            <a:avLst/>
          </a:prstGeom>
          <a:noFill/>
          <a:ln w="9525" algn="ctr">
            <a:noFill/>
            <a:miter lim="800000"/>
            <a:headEnd/>
            <a:tailEnd/>
          </a:ln>
          <a:effectLst/>
        </p:spPr>
        <p:txBody>
          <a:bodyPr>
            <a:spAutoFit/>
          </a:bodyPr>
          <a:lstStyle/>
          <a:p>
            <a:pPr>
              <a:spcBef>
                <a:spcPct val="50000"/>
              </a:spcBef>
            </a:pPr>
            <a:r>
              <a:rPr lang="fi-FI" sz="1400">
                <a:latin typeface="Arial Narrow" pitchFamily="34" charset="0"/>
              </a:rPr>
              <a:t>Havaintokirjauksen tietojen täydentäminen</a:t>
            </a:r>
            <a:endParaRPr lang="fi-FI" sz="1000">
              <a:latin typeface="Arial Narrow" pitchFamily="34" charset="0"/>
            </a:endParaRPr>
          </a:p>
          <a:p>
            <a:pPr>
              <a:spcBef>
                <a:spcPct val="50000"/>
              </a:spcBef>
            </a:pPr>
            <a:r>
              <a:rPr lang="fi-FI" sz="1400">
                <a:latin typeface="Arial Narrow" pitchFamily="34" charset="0"/>
              </a:rPr>
              <a:t>Luokittelun täydentäminen</a:t>
            </a:r>
          </a:p>
          <a:p>
            <a:pPr>
              <a:spcBef>
                <a:spcPct val="50000"/>
              </a:spcBef>
            </a:pPr>
            <a:r>
              <a:rPr lang="fi-FI" sz="1400">
                <a:latin typeface="Arial Narrow" pitchFamily="34" charset="0"/>
              </a:rPr>
              <a:t>Muutostarpeesta päättäminen (Muutosraadin vetäminen)</a:t>
            </a:r>
          </a:p>
          <a:p>
            <a:pPr>
              <a:spcBef>
                <a:spcPct val="50000"/>
              </a:spcBef>
            </a:pPr>
            <a:r>
              <a:rPr lang="fi-FI" sz="1400">
                <a:latin typeface="Arial Narrow" pitchFamily="34" charset="0"/>
              </a:rPr>
              <a:t>Havaintojen suodattaminen ennen toimittajan käsittelyä</a:t>
            </a:r>
          </a:p>
          <a:p>
            <a:pPr>
              <a:spcBef>
                <a:spcPct val="50000"/>
              </a:spcBef>
            </a:pPr>
            <a:endParaRPr lang="en-US" sz="1400">
              <a:latin typeface="Arial Narrow" pitchFamily="34" charset="0"/>
            </a:endParaRPr>
          </a:p>
        </p:txBody>
      </p:sp>
      <p:grpSp>
        <p:nvGrpSpPr>
          <p:cNvPr id="6" name="Group 32"/>
          <p:cNvGrpSpPr>
            <a:grpSpLocks/>
          </p:cNvGrpSpPr>
          <p:nvPr/>
        </p:nvGrpSpPr>
        <p:grpSpPr bwMode="auto">
          <a:xfrm>
            <a:off x="6732588" y="3644900"/>
            <a:ext cx="1225550" cy="1247775"/>
            <a:chOff x="4150" y="1797"/>
            <a:chExt cx="772" cy="786"/>
          </a:xfrm>
        </p:grpSpPr>
        <p:sp>
          <p:nvSpPr>
            <p:cNvPr id="10252" name="Text Box 12"/>
            <p:cNvSpPr txBox="1">
              <a:spLocks noChangeArrowheads="1"/>
            </p:cNvSpPr>
            <p:nvPr/>
          </p:nvSpPr>
          <p:spPr bwMode="auto">
            <a:xfrm>
              <a:off x="4150" y="2295"/>
              <a:ext cx="772" cy="288"/>
            </a:xfrm>
            <a:prstGeom prst="rect">
              <a:avLst/>
            </a:prstGeom>
            <a:noFill/>
            <a:ln w="9525" algn="ctr">
              <a:noFill/>
              <a:miter lim="800000"/>
              <a:headEnd/>
              <a:tailEnd/>
            </a:ln>
            <a:effectLst/>
          </p:spPr>
          <p:txBody>
            <a:bodyPr>
              <a:spAutoFit/>
            </a:bodyPr>
            <a:lstStyle/>
            <a:p>
              <a:pPr algn="ctr">
                <a:spcBef>
                  <a:spcPct val="50000"/>
                </a:spcBef>
              </a:pPr>
              <a:r>
                <a:rPr lang="fi-FI" sz="1200" b="1">
                  <a:latin typeface="Arial Narrow" pitchFamily="34" charset="0"/>
                </a:rPr>
                <a:t>Ilmarisen projektipäällikkö</a:t>
              </a:r>
              <a:endParaRPr lang="en-US" sz="1200" b="1">
                <a:latin typeface="Arial Narrow" pitchFamily="34" charset="0"/>
              </a:endParaRPr>
            </a:p>
          </p:txBody>
        </p:sp>
        <p:pic>
          <p:nvPicPr>
            <p:cNvPr id="10265" name="Picture 25" descr="MC900435947[1]"/>
            <p:cNvPicPr>
              <a:picLocks noChangeAspect="1" noChangeArrowheads="1"/>
            </p:cNvPicPr>
            <p:nvPr/>
          </p:nvPicPr>
          <p:blipFill>
            <a:blip r:embed="rId6" cstate="print"/>
            <a:srcRect/>
            <a:stretch>
              <a:fillRect/>
            </a:stretch>
          </p:blipFill>
          <p:spPr bwMode="auto">
            <a:xfrm>
              <a:off x="4286" y="1797"/>
              <a:ext cx="482" cy="515"/>
            </a:xfrm>
            <a:prstGeom prst="rect">
              <a:avLst/>
            </a:prstGeom>
            <a:noFill/>
          </p:spPr>
        </p:pic>
      </p:grpSp>
      <p:grpSp>
        <p:nvGrpSpPr>
          <p:cNvPr id="7" name="Group 34"/>
          <p:cNvGrpSpPr>
            <a:grpSpLocks/>
          </p:cNvGrpSpPr>
          <p:nvPr/>
        </p:nvGrpSpPr>
        <p:grpSpPr bwMode="auto">
          <a:xfrm>
            <a:off x="6156325" y="1571625"/>
            <a:ext cx="1225550" cy="1065213"/>
            <a:chOff x="4739" y="890"/>
            <a:chExt cx="772" cy="671"/>
          </a:xfrm>
        </p:grpSpPr>
        <p:sp>
          <p:nvSpPr>
            <p:cNvPr id="10249" name="Text Box 9"/>
            <p:cNvSpPr txBox="1">
              <a:spLocks noChangeArrowheads="1"/>
            </p:cNvSpPr>
            <p:nvPr/>
          </p:nvSpPr>
          <p:spPr bwMode="auto">
            <a:xfrm>
              <a:off x="4739" y="1388"/>
              <a:ext cx="772" cy="173"/>
            </a:xfrm>
            <a:prstGeom prst="rect">
              <a:avLst/>
            </a:prstGeom>
            <a:noFill/>
            <a:ln w="9525" algn="ctr">
              <a:noFill/>
              <a:miter lim="800000"/>
              <a:headEnd/>
              <a:tailEnd/>
            </a:ln>
            <a:effectLst/>
          </p:spPr>
          <p:txBody>
            <a:bodyPr>
              <a:spAutoFit/>
            </a:bodyPr>
            <a:lstStyle/>
            <a:p>
              <a:pPr algn="ctr">
                <a:spcBef>
                  <a:spcPct val="50000"/>
                </a:spcBef>
              </a:pPr>
              <a:r>
                <a:rPr lang="fi-FI" sz="1200" b="1">
                  <a:latin typeface="Arial Narrow" pitchFamily="34" charset="0"/>
                </a:rPr>
                <a:t>Testauspäällikkö</a:t>
              </a:r>
              <a:endParaRPr lang="en-US" sz="1200" b="1">
                <a:latin typeface="Arial Narrow" pitchFamily="34" charset="0"/>
              </a:endParaRPr>
            </a:p>
          </p:txBody>
        </p:sp>
        <p:pic>
          <p:nvPicPr>
            <p:cNvPr id="10269" name="Picture 29" descr="MC900435937[1]"/>
            <p:cNvPicPr>
              <a:picLocks noChangeAspect="1" noChangeArrowheads="1"/>
            </p:cNvPicPr>
            <p:nvPr/>
          </p:nvPicPr>
          <p:blipFill>
            <a:blip r:embed="rId7" cstate="print"/>
            <a:srcRect/>
            <a:stretch>
              <a:fillRect/>
            </a:stretch>
          </p:blipFill>
          <p:spPr bwMode="auto">
            <a:xfrm>
              <a:off x="4876" y="890"/>
              <a:ext cx="525" cy="509"/>
            </a:xfrm>
            <a:prstGeom prst="rect">
              <a:avLst/>
            </a:prstGeom>
            <a:noFill/>
          </p:spPr>
        </p:pic>
      </p:grpSp>
      <p:sp>
        <p:nvSpPr>
          <p:cNvPr id="10270" name="Text Box 30"/>
          <p:cNvSpPr txBox="1">
            <a:spLocks noChangeArrowheads="1"/>
          </p:cNvSpPr>
          <p:nvPr/>
        </p:nvSpPr>
        <p:spPr bwMode="auto">
          <a:xfrm>
            <a:off x="4356100" y="1196975"/>
            <a:ext cx="1655763" cy="3495675"/>
          </a:xfrm>
          <a:prstGeom prst="rect">
            <a:avLst/>
          </a:prstGeom>
          <a:noFill/>
          <a:ln w="9525" algn="ctr">
            <a:noFill/>
            <a:miter lim="800000"/>
            <a:headEnd/>
            <a:tailEnd/>
          </a:ln>
          <a:effectLst/>
        </p:spPr>
        <p:txBody>
          <a:bodyPr>
            <a:spAutoFit/>
          </a:bodyPr>
          <a:lstStyle/>
          <a:p>
            <a:pPr>
              <a:spcBef>
                <a:spcPct val="50000"/>
              </a:spcBef>
            </a:pPr>
            <a:r>
              <a:rPr lang="fi-FI" sz="1400">
                <a:latin typeface="Arial Narrow" pitchFamily="34" charset="0"/>
              </a:rPr>
              <a:t>Luokittelun täydentäminen</a:t>
            </a:r>
          </a:p>
          <a:p>
            <a:pPr>
              <a:spcBef>
                <a:spcPct val="50000"/>
              </a:spcBef>
            </a:pPr>
            <a:r>
              <a:rPr lang="fi-FI" sz="1400">
                <a:latin typeface="Arial Narrow" pitchFamily="34" charset="0"/>
              </a:rPr>
              <a:t>Muutostarpeen kyseenalaistaminen</a:t>
            </a:r>
          </a:p>
          <a:p>
            <a:pPr>
              <a:spcBef>
                <a:spcPct val="50000"/>
              </a:spcBef>
            </a:pPr>
            <a:r>
              <a:rPr lang="fi-FI" sz="1400">
                <a:latin typeface="Arial Narrow" pitchFamily="34" charset="0"/>
              </a:rPr>
              <a:t>Muutosraadin järjestäminen (aikataulu&amp; kustannus-vaikutuksista keskustelu)</a:t>
            </a:r>
          </a:p>
          <a:p>
            <a:pPr>
              <a:spcBef>
                <a:spcPct val="50000"/>
              </a:spcBef>
            </a:pPr>
            <a:r>
              <a:rPr lang="fi-FI" sz="1400">
                <a:latin typeface="Arial Narrow" pitchFamily="34" charset="0"/>
              </a:rPr>
              <a:t>Muutosten käynnistäminen</a:t>
            </a:r>
          </a:p>
          <a:p>
            <a:pPr>
              <a:spcBef>
                <a:spcPct val="50000"/>
              </a:spcBef>
            </a:pPr>
            <a:r>
              <a:rPr lang="fi-FI" sz="1400">
                <a:latin typeface="Arial Narrow" pitchFamily="34" charset="0"/>
              </a:rPr>
              <a:t>Muutoksen testauksen järjestäminen</a:t>
            </a:r>
            <a:endParaRPr lang="en-US" sz="1400">
              <a:latin typeface="Arial Narrow" pitchFamily="34" charset="0"/>
            </a:endParaRPr>
          </a:p>
        </p:txBody>
      </p:sp>
      <p:sp>
        <p:nvSpPr>
          <p:cNvPr id="10271" name="Text Box 31"/>
          <p:cNvSpPr txBox="1">
            <a:spLocks noChangeArrowheads="1"/>
          </p:cNvSpPr>
          <p:nvPr/>
        </p:nvSpPr>
        <p:spPr bwMode="auto">
          <a:xfrm>
            <a:off x="3560763" y="4868863"/>
            <a:ext cx="1655762" cy="1368425"/>
          </a:xfrm>
          <a:prstGeom prst="rect">
            <a:avLst/>
          </a:prstGeom>
          <a:noFill/>
          <a:ln w="9525" algn="ctr">
            <a:noFill/>
            <a:miter lim="800000"/>
            <a:headEnd/>
            <a:tailEnd/>
          </a:ln>
          <a:effectLst/>
        </p:spPr>
        <p:txBody>
          <a:bodyPr>
            <a:spAutoFit/>
          </a:bodyPr>
          <a:lstStyle/>
          <a:p>
            <a:pPr>
              <a:spcBef>
                <a:spcPct val="50000"/>
              </a:spcBef>
            </a:pPr>
            <a:r>
              <a:rPr lang="fi-FI" sz="1400">
                <a:latin typeface="Arial Narrow" pitchFamily="34" charset="0"/>
              </a:rPr>
              <a:t>Muutoksen aikatauluttaminen</a:t>
            </a:r>
          </a:p>
          <a:p>
            <a:pPr>
              <a:spcBef>
                <a:spcPct val="50000"/>
              </a:spcBef>
            </a:pPr>
            <a:r>
              <a:rPr lang="fi-FI" sz="1400">
                <a:latin typeface="Arial Narrow" pitchFamily="34" charset="0"/>
              </a:rPr>
              <a:t>Aikataulun ja toimitusten seuranta</a:t>
            </a:r>
          </a:p>
          <a:p>
            <a:pPr>
              <a:spcBef>
                <a:spcPct val="50000"/>
              </a:spcBef>
            </a:pPr>
            <a:r>
              <a:rPr lang="fi-FI" sz="1400">
                <a:latin typeface="Arial Narrow" pitchFamily="34" charset="0"/>
              </a:rPr>
              <a:t>Mittarit ohjausryhmälle</a:t>
            </a:r>
            <a:endParaRPr lang="en-US" sz="1400">
              <a:latin typeface="Arial Narrow" pitchFamily="34" charset="0"/>
            </a:endParaRPr>
          </a:p>
        </p:txBody>
      </p:sp>
      <p:sp>
        <p:nvSpPr>
          <p:cNvPr id="10275" name="Text Box 35"/>
          <p:cNvSpPr txBox="1">
            <a:spLocks noChangeArrowheads="1"/>
          </p:cNvSpPr>
          <p:nvPr/>
        </p:nvSpPr>
        <p:spPr bwMode="auto">
          <a:xfrm>
            <a:off x="7451725" y="1571625"/>
            <a:ext cx="1692275" cy="1793875"/>
          </a:xfrm>
          <a:prstGeom prst="rect">
            <a:avLst/>
          </a:prstGeom>
          <a:noFill/>
          <a:ln w="9525" algn="ctr">
            <a:noFill/>
            <a:miter lim="800000"/>
            <a:headEnd/>
            <a:tailEnd/>
          </a:ln>
          <a:effectLst/>
        </p:spPr>
        <p:txBody>
          <a:bodyPr>
            <a:spAutoFit/>
          </a:bodyPr>
          <a:lstStyle/>
          <a:p>
            <a:pPr>
              <a:spcBef>
                <a:spcPct val="50000"/>
              </a:spcBef>
            </a:pPr>
            <a:r>
              <a:rPr lang="fi-FI" sz="1400">
                <a:latin typeface="Arial Narrow" pitchFamily="34" charset="0"/>
              </a:rPr>
              <a:t>Testaustehtävien eteneminen (lisätiedot, korjaantumiset)</a:t>
            </a:r>
          </a:p>
          <a:p>
            <a:pPr>
              <a:spcBef>
                <a:spcPct val="50000"/>
              </a:spcBef>
            </a:pPr>
            <a:r>
              <a:rPr lang="fi-FI" sz="1400">
                <a:latin typeface="Arial Narrow" pitchFamily="34" charset="0"/>
              </a:rPr>
              <a:t>Prosessin laadunvarmistus</a:t>
            </a:r>
          </a:p>
          <a:p>
            <a:pPr>
              <a:spcBef>
                <a:spcPct val="50000"/>
              </a:spcBef>
            </a:pPr>
            <a:r>
              <a:rPr lang="fi-FI" sz="1400">
                <a:latin typeface="Arial Narrow" pitchFamily="34" charset="0"/>
              </a:rPr>
              <a:t>Hyväksymistestauksen mittarit</a:t>
            </a:r>
            <a:endParaRPr lang="en-US" sz="1400">
              <a:latin typeface="Arial Narrow" pitchFamily="34" charset="0"/>
            </a:endParaRPr>
          </a:p>
        </p:txBody>
      </p:sp>
      <p:sp>
        <p:nvSpPr>
          <p:cNvPr id="10276" name="Text Box 36"/>
          <p:cNvSpPr txBox="1">
            <a:spLocks noChangeArrowheads="1"/>
          </p:cNvSpPr>
          <p:nvPr/>
        </p:nvSpPr>
        <p:spPr bwMode="auto">
          <a:xfrm>
            <a:off x="7308850" y="4941888"/>
            <a:ext cx="1692275" cy="1262062"/>
          </a:xfrm>
          <a:prstGeom prst="rect">
            <a:avLst/>
          </a:prstGeom>
          <a:noFill/>
          <a:ln w="9525" algn="ctr">
            <a:noFill/>
            <a:miter lim="800000"/>
            <a:headEnd/>
            <a:tailEnd/>
          </a:ln>
          <a:effectLst/>
        </p:spPr>
        <p:txBody>
          <a:bodyPr>
            <a:spAutoFit/>
          </a:bodyPr>
          <a:lstStyle/>
          <a:p>
            <a:pPr>
              <a:spcBef>
                <a:spcPct val="50000"/>
              </a:spcBef>
            </a:pPr>
            <a:r>
              <a:rPr lang="fi-FI" sz="1400">
                <a:latin typeface="Arial Narrow" pitchFamily="34" charset="0"/>
              </a:rPr>
              <a:t>Toimittajan vastuiden seuranta</a:t>
            </a:r>
          </a:p>
          <a:p>
            <a:pPr>
              <a:spcBef>
                <a:spcPct val="50000"/>
              </a:spcBef>
            </a:pPr>
            <a:r>
              <a:rPr lang="fi-FI" sz="1400">
                <a:latin typeface="Arial Narrow" pitchFamily="34" charset="0"/>
              </a:rPr>
              <a:t>Havaintoprosessin edistyminen kokonaisuutena</a:t>
            </a:r>
            <a:endParaRPr lang="en-US" sz="1400">
              <a:latin typeface="Arial Narrow" pitchFamily="34" charset="0"/>
            </a:endParaRPr>
          </a:p>
        </p:txBody>
      </p:sp>
      <p:sp>
        <p:nvSpPr>
          <p:cNvPr id="27" name="Slide Number Placeholder 26"/>
          <p:cNvSpPr>
            <a:spLocks noGrp="1"/>
          </p:cNvSpPr>
          <p:nvPr>
            <p:ph type="sldNum" sz="quarter" idx="12"/>
          </p:nvPr>
        </p:nvSpPr>
        <p:spPr/>
        <p:txBody>
          <a:bodyPr/>
          <a:lstStyle/>
          <a:p>
            <a:fld id="{1FC54B03-E980-44E0-A0F1-6CAD9D10ECFB}" type="slidenum">
              <a:rPr lang="fi-FI" smtClean="0"/>
              <a:pPr/>
              <a:t>128</a:t>
            </a:fld>
            <a:endParaRPr lang="fi-FI"/>
          </a:p>
        </p:txBody>
      </p:sp>
    </p:spTree>
  </p:cSld>
  <p:clrMapOvr>
    <a:masterClrMapping/>
  </p:clrMapOvr>
  <p:transition xmlns:p14="http://schemas.microsoft.com/office/powerpoint/2010/main"/>
</p:sld>
</file>

<file path=ppt/slides/slide1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Tuotannossa ei ole virheettömiä sovelluksia</a:t>
            </a:r>
            <a:endParaRPr lang="fi-FI" dirty="0"/>
          </a:p>
        </p:txBody>
      </p:sp>
      <p:sp>
        <p:nvSpPr>
          <p:cNvPr id="3" name="Content Placeholder 2"/>
          <p:cNvSpPr>
            <a:spLocks noGrp="1"/>
          </p:cNvSpPr>
          <p:nvPr>
            <p:ph idx="1"/>
          </p:nvPr>
        </p:nvSpPr>
        <p:spPr/>
        <p:txBody>
          <a:bodyPr>
            <a:normAutofit/>
          </a:bodyPr>
          <a:lstStyle/>
          <a:p>
            <a:r>
              <a:rPr lang="fi-FI" sz="2800" dirty="0" smtClean="0"/>
              <a:t>Usein kuultuja kommentteja hyväksymistestauksen haasteista:</a:t>
            </a:r>
          </a:p>
          <a:p>
            <a:pPr lvl="1"/>
            <a:r>
              <a:rPr lang="fi-FI" sz="2400" dirty="0" smtClean="0"/>
              <a:t>Vanhat järjestelmät: Ei saisi huomauttaa tunnetuista ongelmista – ne ovat jo hyväksyttyjä rajauksia</a:t>
            </a:r>
            <a:r>
              <a:rPr lang="fi-FI" sz="2400" dirty="0"/>
              <a:t> </a:t>
            </a:r>
            <a:r>
              <a:rPr lang="fi-FI" sz="2400" dirty="0" smtClean="0"/>
              <a:t>ja usein eivät ole estäneet tuotantokäyttöä vuosien kokemuksella</a:t>
            </a:r>
          </a:p>
          <a:p>
            <a:pPr lvl="1"/>
            <a:r>
              <a:rPr lang="fi-FI" sz="2400" dirty="0" smtClean="0"/>
              <a:t>Uudet järjestelmät: Ei saisi huomauttaa ongelmista jotka eivät kuulu tekemisen rajaukseen – pitää saada nyt sovitut asiat riittävään kuntoon että niitä voidaan hyödyntää tuotantokäytössä</a:t>
            </a:r>
          </a:p>
        </p:txBody>
      </p:sp>
      <p:sp>
        <p:nvSpPr>
          <p:cNvPr id="4" name="Rectangle 3"/>
          <p:cNvSpPr/>
          <p:nvPr/>
        </p:nvSpPr>
        <p:spPr>
          <a:xfrm>
            <a:off x="1609700" y="4953000"/>
            <a:ext cx="5857900" cy="1200329"/>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fi-FI" sz="2400" dirty="0" smtClean="0"/>
              <a:t>Hyväksymistestaus ei pyri täydelliseen laatuun, vaan riittävään laatuun suhteessa sovittuun ja suhteessa käyttötilanteeseen</a:t>
            </a:r>
          </a:p>
        </p:txBody>
      </p:sp>
      <p:sp>
        <p:nvSpPr>
          <p:cNvPr id="5" name="Slide Number Placeholder 4"/>
          <p:cNvSpPr>
            <a:spLocks noGrp="1"/>
          </p:cNvSpPr>
          <p:nvPr>
            <p:ph type="sldNum" sz="quarter" idx="12"/>
          </p:nvPr>
        </p:nvSpPr>
        <p:spPr/>
        <p:txBody>
          <a:bodyPr/>
          <a:lstStyle/>
          <a:p>
            <a:fld id="{7A750B4A-325E-4AA4-BC07-A8C35B32A4F3}" type="slidenum">
              <a:rPr lang="fi-FI" smtClean="0"/>
              <a:pPr/>
              <a:t>129</a:t>
            </a:fld>
            <a:endParaRPr lang="fi-FI"/>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normAutofit/>
          </a:bodyPr>
          <a:lstStyle/>
          <a:p>
            <a:r>
              <a:rPr lang="fi-FI"/>
              <a:t>Tiedosta käsittelykustannukset</a:t>
            </a:r>
            <a:br>
              <a:rPr lang="fi-FI"/>
            </a:br>
            <a:r>
              <a:rPr lang="fi-FI" sz="1000"/>
              <a:t>Lähde: Kaner, Bach, Pettichord. 2002. Lessons Learned in Software Testing. </a:t>
            </a:r>
            <a:endParaRPr lang="en-GB" sz="1000"/>
          </a:p>
        </p:txBody>
      </p:sp>
      <p:sp>
        <p:nvSpPr>
          <p:cNvPr id="60419" name="Rectangle 3"/>
          <p:cNvSpPr>
            <a:spLocks noGrp="1" noChangeArrowheads="1"/>
          </p:cNvSpPr>
          <p:nvPr>
            <p:ph type="body" idx="1"/>
          </p:nvPr>
        </p:nvSpPr>
        <p:spPr/>
        <p:txBody>
          <a:bodyPr>
            <a:normAutofit fontScale="92500" lnSpcReduction="20000"/>
          </a:bodyPr>
          <a:lstStyle/>
          <a:p>
            <a:pPr marL="342900" indent="-342900" defTabSz="914400"/>
            <a:r>
              <a:rPr lang="fi-FI"/>
              <a:t>Raportin kirjoittaminen vie aikaa</a:t>
            </a:r>
          </a:p>
          <a:p>
            <a:pPr marL="342900" indent="-342900" defTabSz="914400"/>
            <a:r>
              <a:rPr lang="fi-FI"/>
              <a:t>Raportin lukeminen vie aikaa</a:t>
            </a:r>
          </a:p>
          <a:p>
            <a:pPr marL="742950" lvl="1" indent="-285750" defTabSz="914400"/>
            <a:r>
              <a:rPr lang="fi-FI"/>
              <a:t>Projektipäällikkö</a:t>
            </a:r>
          </a:p>
          <a:p>
            <a:pPr marL="742950" lvl="1" indent="-285750" defTabSz="914400"/>
            <a:r>
              <a:rPr lang="fi-FI"/>
              <a:t>Muutoshallintaraati</a:t>
            </a:r>
          </a:p>
          <a:p>
            <a:pPr marL="742950" lvl="1" indent="-285750" defTabSz="914400"/>
            <a:r>
              <a:rPr lang="fi-FI"/>
              <a:t>Toteuttaja</a:t>
            </a:r>
          </a:p>
          <a:p>
            <a:pPr marL="342900" indent="-342900" defTabSz="914400"/>
            <a:r>
              <a:rPr lang="fi-FI"/>
              <a:t>Harkitse sopivaksi mitä käsitellään millä tavoin, sillä pienet ja ei-toistettavat asiat vievät myös aikaa</a:t>
            </a:r>
          </a:p>
          <a:p>
            <a:pPr marL="342900" indent="-342900" defTabSz="914400"/>
            <a:r>
              <a:rPr lang="fi-FI"/>
              <a:t>Myös virhekorjauksen varmistamiseen liittyy käsittelykustannus</a:t>
            </a:r>
          </a:p>
          <a:p>
            <a:pPr marL="742950" lvl="1" indent="-285750" defTabSz="914400"/>
            <a:r>
              <a:rPr lang="en-GB"/>
              <a:t>Seuraa riskin toteutumaa</a:t>
            </a:r>
          </a:p>
        </p:txBody>
      </p:sp>
      <p:sp>
        <p:nvSpPr>
          <p:cNvPr id="5" name="Slide Number Placeholder 4"/>
          <p:cNvSpPr>
            <a:spLocks noGrp="1"/>
          </p:cNvSpPr>
          <p:nvPr>
            <p:ph type="sldNum" sz="quarter" idx="12"/>
          </p:nvPr>
        </p:nvSpPr>
        <p:spPr/>
        <p:txBody>
          <a:bodyPr/>
          <a:lstStyle/>
          <a:p>
            <a:fld id="{6EC9AE22-300D-474E-8332-298EA3086E64}" type="slidenum">
              <a:rPr lang="en-US" smtClean="0"/>
              <a:pPr/>
              <a:t>130</a:t>
            </a:fld>
            <a:endParaRPr lang="en-US"/>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r>
              <a:rPr lang="fi-FI"/>
              <a:t>Kaikkia virheitä ei korjata</a:t>
            </a:r>
          </a:p>
        </p:txBody>
      </p:sp>
      <p:sp>
        <p:nvSpPr>
          <p:cNvPr id="71683" name="Rectangle 3"/>
          <p:cNvSpPr>
            <a:spLocks noGrp="1" noChangeArrowheads="1"/>
          </p:cNvSpPr>
          <p:nvPr>
            <p:ph type="body" idx="1"/>
          </p:nvPr>
        </p:nvSpPr>
        <p:spPr/>
        <p:txBody>
          <a:bodyPr>
            <a:normAutofit fontScale="92500" lnSpcReduction="20000"/>
          </a:bodyPr>
          <a:lstStyle/>
          <a:p>
            <a:r>
              <a:rPr lang="fi-FI"/>
              <a:t>Aikaa ei ole riittävästi</a:t>
            </a:r>
          </a:p>
          <a:p>
            <a:pPr lvl="1"/>
            <a:r>
              <a:rPr lang="fi-FI"/>
              <a:t>Priorisoi korjaukset</a:t>
            </a:r>
          </a:p>
          <a:p>
            <a:r>
              <a:rPr lang="fi-FI"/>
              <a:t>Kyseessä ei ole oikeasti virhe</a:t>
            </a:r>
          </a:p>
          <a:p>
            <a:pPr lvl="1"/>
            <a:r>
              <a:rPr lang="fi-FI"/>
              <a:t>Väärinymmärrykset, testivirheet tai speksimuutokset</a:t>
            </a:r>
          </a:p>
          <a:p>
            <a:r>
              <a:rPr lang="fi-FI"/>
              <a:t>Liian riskialtista korjata</a:t>
            </a:r>
          </a:p>
          <a:p>
            <a:pPr lvl="1"/>
            <a:r>
              <a:rPr lang="fi-FI"/>
              <a:t>Yhden asian korjaaminen voi rikkoa monta muuta</a:t>
            </a:r>
          </a:p>
          <a:p>
            <a:r>
              <a:rPr lang="fi-FI"/>
              <a:t>Se ei ole korjaamisen arvoinen</a:t>
            </a:r>
          </a:p>
          <a:p>
            <a:pPr lvl="1"/>
            <a:r>
              <a:rPr lang="fi-FI"/>
              <a:t>Esiintyy harvoin tai vähän käytetyissä ominaisyyksissa ja sillä on kiertoteitä. </a:t>
            </a:r>
          </a:p>
          <a:p>
            <a:r>
              <a:rPr lang="fi-FI"/>
              <a:t>Virheet raportoidaan heikosti. </a:t>
            </a:r>
          </a:p>
        </p:txBody>
      </p:sp>
      <p:sp>
        <p:nvSpPr>
          <p:cNvPr id="5" name="Slide Number Placeholder 4"/>
          <p:cNvSpPr>
            <a:spLocks noGrp="1"/>
          </p:cNvSpPr>
          <p:nvPr>
            <p:ph type="sldNum" sz="quarter" idx="12"/>
          </p:nvPr>
        </p:nvSpPr>
        <p:spPr/>
        <p:txBody>
          <a:bodyPr/>
          <a:lstStyle/>
          <a:p>
            <a:fld id="{6EC9AE22-300D-474E-8332-298EA3086E64}" type="slidenum">
              <a:rPr lang="en-US" smtClean="0"/>
              <a:pPr/>
              <a:t>131</a:t>
            </a:fld>
            <a:endParaRPr lang="en-US"/>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fi-FI" dirty="0" smtClean="0"/>
              <a:t>Havainnot: aika- ja kustannuslaskenta</a:t>
            </a:r>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021149248"/>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extBox 1"/>
          <p:cNvSpPr txBox="1"/>
          <p:nvPr/>
        </p:nvSpPr>
        <p:spPr>
          <a:xfrm>
            <a:off x="6444208" y="1628800"/>
            <a:ext cx="2232248" cy="646331"/>
          </a:xfrm>
          <a:prstGeom prst="rect">
            <a:avLst/>
          </a:prstGeom>
          <a:noFill/>
        </p:spPr>
        <p:txBody>
          <a:bodyPr wrap="square" rtlCol="0">
            <a:spAutoFit/>
          </a:bodyPr>
          <a:lstStyle/>
          <a:p>
            <a:pPr algn="ctr"/>
            <a:r>
              <a:rPr lang="fi-FI" i="1" dirty="0" smtClean="0"/>
              <a:t>Virheraatityö kuuluu toimitukseen</a:t>
            </a:r>
            <a:endParaRPr lang="en-US" i="1" dirty="0"/>
          </a:p>
        </p:txBody>
      </p:sp>
      <p:sp>
        <p:nvSpPr>
          <p:cNvPr id="5" name="Slide Number Placeholder 4"/>
          <p:cNvSpPr>
            <a:spLocks noGrp="1"/>
          </p:cNvSpPr>
          <p:nvPr>
            <p:ph type="sldNum" sz="quarter" idx="12"/>
          </p:nvPr>
        </p:nvSpPr>
        <p:spPr/>
        <p:txBody>
          <a:bodyPr/>
          <a:lstStyle/>
          <a:p>
            <a:fld id="{1FC54B03-E980-44E0-A0F1-6CAD9D10ECFB}" type="slidenum">
              <a:rPr lang="fi-FI" smtClean="0"/>
              <a:pPr/>
              <a:t>132</a:t>
            </a:fld>
            <a:endParaRPr lang="fi-FI"/>
          </a:p>
        </p:txBody>
      </p:sp>
    </p:spTree>
    <p:extLst>
      <p:ext uri="{BB962C8B-B14F-4D97-AF65-F5344CB8AC3E}">
        <p14:creationId xmlns:p14="http://schemas.microsoft.com/office/powerpoint/2010/main" val="2163986251"/>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r>
              <a:rPr lang="fi-FI"/>
              <a:t>Havaintoprosessin laadunvarmistus</a:t>
            </a:r>
            <a:endParaRPr lang="en-US"/>
          </a:p>
        </p:txBody>
      </p:sp>
      <p:sp>
        <p:nvSpPr>
          <p:cNvPr id="65539" name="Rectangle 3"/>
          <p:cNvSpPr>
            <a:spLocks noGrp="1" noChangeArrowheads="1"/>
          </p:cNvSpPr>
          <p:nvPr>
            <p:ph type="body" idx="1"/>
          </p:nvPr>
        </p:nvSpPr>
        <p:spPr/>
        <p:txBody>
          <a:bodyPr/>
          <a:lstStyle/>
          <a:p>
            <a:pPr>
              <a:lnSpc>
                <a:spcPct val="90000"/>
              </a:lnSpc>
            </a:pPr>
            <a:r>
              <a:rPr lang="fi-FI" sz="2000" dirty="0"/>
              <a:t>Säännöllisin väliajoin katselmoitava:</a:t>
            </a:r>
          </a:p>
          <a:p>
            <a:pPr lvl="1">
              <a:lnSpc>
                <a:spcPct val="90000"/>
              </a:lnSpc>
            </a:pPr>
            <a:r>
              <a:rPr lang="fi-FI" sz="2000" dirty="0"/>
              <a:t>Eteneminen prosessissa: asiat eivät saa seistä ilman perusteita</a:t>
            </a:r>
          </a:p>
          <a:p>
            <a:pPr lvl="2">
              <a:lnSpc>
                <a:spcPct val="90000"/>
              </a:lnSpc>
            </a:pPr>
            <a:r>
              <a:rPr lang="fi-FI" sz="2000" dirty="0"/>
              <a:t>Kesken olevien asioiden listan minimointi, tehdään aktiivisesti päätöksiä projektin laajuudesta</a:t>
            </a:r>
          </a:p>
          <a:p>
            <a:pPr lvl="1">
              <a:lnSpc>
                <a:spcPct val="90000"/>
              </a:lnSpc>
            </a:pPr>
            <a:r>
              <a:rPr lang="fi-FI" sz="2000" dirty="0"/>
              <a:t>Päätöksenteon oikeellisuus: Rejected ja Postponed –tilaan päätyneet havainnot</a:t>
            </a:r>
          </a:p>
          <a:p>
            <a:pPr lvl="2">
              <a:lnSpc>
                <a:spcPct val="90000"/>
              </a:lnSpc>
            </a:pPr>
            <a:r>
              <a:rPr lang="fi-FI" sz="2000" dirty="0"/>
              <a:t>Onhan perusteet dokumentoitu? </a:t>
            </a:r>
          </a:p>
          <a:p>
            <a:pPr lvl="2">
              <a:lnSpc>
                <a:spcPct val="90000"/>
              </a:lnSpc>
            </a:pPr>
            <a:r>
              <a:rPr lang="fi-FI" sz="2000" dirty="0"/>
              <a:t>Perustuuhan päätös parhaaseen saatavilla olevaan tietoon havainnon seurauksista ja merkityksestä? </a:t>
            </a:r>
          </a:p>
          <a:p>
            <a:pPr lvl="1">
              <a:lnSpc>
                <a:spcPct val="90000"/>
              </a:lnSpc>
            </a:pPr>
            <a:r>
              <a:rPr lang="fi-FI" sz="2000" dirty="0"/>
              <a:t>Otsikoinnin ja kuvauksen laatu: päätöksenteon tukeminen</a:t>
            </a:r>
          </a:p>
          <a:p>
            <a:pPr lvl="1">
              <a:lnSpc>
                <a:spcPct val="90000"/>
              </a:lnSpc>
            </a:pPr>
            <a:r>
              <a:rPr lang="fi-FI" sz="2000" dirty="0"/>
              <a:t>Luokittelun oikeellisuus: kaikelle löytyy omistajat ja seuranta</a:t>
            </a:r>
            <a:endParaRPr lang="en-US" sz="2000" dirty="0"/>
          </a:p>
        </p:txBody>
      </p:sp>
      <p:sp>
        <p:nvSpPr>
          <p:cNvPr id="4" name="Slide Number Placeholder 3"/>
          <p:cNvSpPr>
            <a:spLocks noGrp="1"/>
          </p:cNvSpPr>
          <p:nvPr>
            <p:ph type="sldNum" sz="quarter" idx="12"/>
          </p:nvPr>
        </p:nvSpPr>
        <p:spPr/>
        <p:txBody>
          <a:bodyPr/>
          <a:lstStyle/>
          <a:p>
            <a:fld id="{1FC54B03-E980-44E0-A0F1-6CAD9D10ECFB}" type="slidenum">
              <a:rPr lang="fi-FI" smtClean="0"/>
              <a:pPr/>
              <a:t>133</a:t>
            </a:fld>
            <a:endParaRPr lang="fi-FI"/>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500063" y="228600"/>
            <a:ext cx="7848600" cy="936625"/>
          </a:xfrm>
        </p:spPr>
        <p:txBody>
          <a:bodyPr>
            <a:normAutofit/>
          </a:bodyPr>
          <a:lstStyle/>
          <a:p>
            <a:r>
              <a:rPr lang="fi-FI" dirty="0" smtClean="0"/>
              <a:t>Esimerkki havainnon käsittelystä</a:t>
            </a:r>
            <a:endParaRPr lang="en-US" dirty="0"/>
          </a:p>
        </p:txBody>
      </p:sp>
      <p:sp>
        <p:nvSpPr>
          <p:cNvPr id="54275" name="AutoShape 3"/>
          <p:cNvSpPr>
            <a:spLocks noChangeArrowheads="1"/>
          </p:cNvSpPr>
          <p:nvPr/>
        </p:nvSpPr>
        <p:spPr bwMode="auto">
          <a:xfrm>
            <a:off x="827088" y="1412875"/>
            <a:ext cx="1439862" cy="609600"/>
          </a:xfrm>
          <a:prstGeom prst="roundRect">
            <a:avLst>
              <a:gd name="adj" fmla="val 16667"/>
            </a:avLst>
          </a:prstGeom>
          <a:solidFill>
            <a:srgbClr val="99FF66"/>
          </a:solidFill>
          <a:ln w="9525">
            <a:noFill/>
            <a:round/>
            <a:headEnd/>
            <a:tailEnd/>
          </a:ln>
          <a:effectLst/>
        </p:spPr>
        <p:txBody>
          <a:bodyPr anchor="ctr"/>
          <a:lstStyle/>
          <a:p>
            <a:r>
              <a:rPr lang="en-GB">
                <a:latin typeface="Arial Narrow" pitchFamily="34" charset="0"/>
              </a:rPr>
              <a:t>New</a:t>
            </a:r>
          </a:p>
        </p:txBody>
      </p:sp>
      <p:sp>
        <p:nvSpPr>
          <p:cNvPr id="54276" name="AutoShape 4"/>
          <p:cNvSpPr>
            <a:spLocks noChangeArrowheads="1"/>
          </p:cNvSpPr>
          <p:nvPr/>
        </p:nvSpPr>
        <p:spPr bwMode="auto">
          <a:xfrm>
            <a:off x="2411413" y="4759325"/>
            <a:ext cx="1439862" cy="609600"/>
          </a:xfrm>
          <a:prstGeom prst="roundRect">
            <a:avLst>
              <a:gd name="adj" fmla="val 16667"/>
            </a:avLst>
          </a:prstGeom>
          <a:solidFill>
            <a:schemeClr val="folHlink"/>
          </a:solidFill>
          <a:ln w="9525">
            <a:noFill/>
            <a:round/>
            <a:headEnd/>
            <a:tailEnd/>
          </a:ln>
          <a:effectLst/>
        </p:spPr>
        <p:txBody>
          <a:bodyPr anchor="ctr"/>
          <a:lstStyle/>
          <a:p>
            <a:r>
              <a:rPr lang="en-GB">
                <a:latin typeface="Arial Narrow" pitchFamily="34" charset="0"/>
              </a:rPr>
              <a:t>Closed</a:t>
            </a:r>
          </a:p>
        </p:txBody>
      </p:sp>
      <p:sp>
        <p:nvSpPr>
          <p:cNvPr id="54277" name="AutoShape 5"/>
          <p:cNvSpPr>
            <a:spLocks noChangeArrowheads="1"/>
          </p:cNvSpPr>
          <p:nvPr/>
        </p:nvSpPr>
        <p:spPr bwMode="auto">
          <a:xfrm>
            <a:off x="6875463" y="3179763"/>
            <a:ext cx="1439862" cy="609600"/>
          </a:xfrm>
          <a:prstGeom prst="roundRect">
            <a:avLst>
              <a:gd name="adj" fmla="val 16667"/>
            </a:avLst>
          </a:prstGeom>
          <a:solidFill>
            <a:schemeClr val="accent1"/>
          </a:solidFill>
          <a:ln w="9525">
            <a:noFill/>
            <a:round/>
            <a:headEnd/>
            <a:tailEnd/>
          </a:ln>
          <a:effectLst/>
        </p:spPr>
        <p:txBody>
          <a:bodyPr anchor="ctr"/>
          <a:lstStyle/>
          <a:p>
            <a:r>
              <a:rPr lang="en-GB">
                <a:latin typeface="Arial Narrow" pitchFamily="34" charset="0"/>
              </a:rPr>
              <a:t>Fixed</a:t>
            </a:r>
          </a:p>
        </p:txBody>
      </p:sp>
      <p:sp>
        <p:nvSpPr>
          <p:cNvPr id="54279" name="AutoShape 7"/>
          <p:cNvSpPr>
            <a:spLocks noChangeArrowheads="1"/>
          </p:cNvSpPr>
          <p:nvPr/>
        </p:nvSpPr>
        <p:spPr bwMode="auto">
          <a:xfrm>
            <a:off x="827088" y="3186113"/>
            <a:ext cx="1439862" cy="609600"/>
          </a:xfrm>
          <a:prstGeom prst="roundRect">
            <a:avLst>
              <a:gd name="adj" fmla="val 16667"/>
            </a:avLst>
          </a:prstGeom>
          <a:solidFill>
            <a:srgbClr val="FF3300"/>
          </a:solidFill>
          <a:ln w="9525">
            <a:noFill/>
            <a:round/>
            <a:headEnd/>
            <a:tailEnd/>
          </a:ln>
          <a:effectLst/>
        </p:spPr>
        <p:txBody>
          <a:bodyPr anchor="ctr"/>
          <a:lstStyle/>
          <a:p>
            <a:r>
              <a:rPr lang="en-GB">
                <a:solidFill>
                  <a:schemeClr val="bg1"/>
                </a:solidFill>
                <a:latin typeface="Arial Narrow" pitchFamily="34" charset="0"/>
              </a:rPr>
              <a:t>Open</a:t>
            </a:r>
          </a:p>
        </p:txBody>
      </p:sp>
      <p:sp>
        <p:nvSpPr>
          <p:cNvPr id="54280" name="AutoShape 8"/>
          <p:cNvSpPr>
            <a:spLocks noChangeArrowheads="1"/>
          </p:cNvSpPr>
          <p:nvPr/>
        </p:nvSpPr>
        <p:spPr bwMode="auto">
          <a:xfrm>
            <a:off x="2339975" y="3186113"/>
            <a:ext cx="1439863" cy="609600"/>
          </a:xfrm>
          <a:prstGeom prst="roundRect">
            <a:avLst>
              <a:gd name="adj" fmla="val 16667"/>
            </a:avLst>
          </a:prstGeom>
          <a:solidFill>
            <a:srgbClr val="FF6600"/>
          </a:solidFill>
          <a:ln w="9525">
            <a:noFill/>
            <a:round/>
            <a:headEnd/>
            <a:tailEnd/>
          </a:ln>
          <a:effectLst/>
        </p:spPr>
        <p:txBody>
          <a:bodyPr anchor="ctr"/>
          <a:lstStyle/>
          <a:p>
            <a:r>
              <a:rPr lang="en-GB">
                <a:latin typeface="Arial Narrow" pitchFamily="34" charset="0"/>
              </a:rPr>
              <a:t>Rejected</a:t>
            </a:r>
          </a:p>
        </p:txBody>
      </p:sp>
      <p:sp>
        <p:nvSpPr>
          <p:cNvPr id="54281" name="AutoShape 9"/>
          <p:cNvSpPr>
            <a:spLocks noChangeArrowheads="1"/>
          </p:cNvSpPr>
          <p:nvPr/>
        </p:nvSpPr>
        <p:spPr bwMode="auto">
          <a:xfrm>
            <a:off x="3851275" y="3181350"/>
            <a:ext cx="1439863" cy="609600"/>
          </a:xfrm>
          <a:prstGeom prst="roundRect">
            <a:avLst>
              <a:gd name="adj" fmla="val 16667"/>
            </a:avLst>
          </a:prstGeom>
          <a:solidFill>
            <a:srgbClr val="FF3300"/>
          </a:solidFill>
          <a:ln w="9525">
            <a:noFill/>
            <a:round/>
            <a:headEnd/>
            <a:tailEnd/>
          </a:ln>
          <a:effectLst/>
        </p:spPr>
        <p:txBody>
          <a:bodyPr anchor="ctr"/>
          <a:lstStyle/>
          <a:p>
            <a:r>
              <a:rPr lang="en-GB">
                <a:solidFill>
                  <a:schemeClr val="bg1"/>
                </a:solidFill>
                <a:latin typeface="Arial Narrow" pitchFamily="34" charset="0"/>
              </a:rPr>
              <a:t>Reopen</a:t>
            </a:r>
          </a:p>
        </p:txBody>
      </p:sp>
      <p:sp>
        <p:nvSpPr>
          <p:cNvPr id="54282" name="AutoShape 10"/>
          <p:cNvSpPr>
            <a:spLocks noChangeArrowheads="1"/>
          </p:cNvSpPr>
          <p:nvPr/>
        </p:nvSpPr>
        <p:spPr bwMode="auto">
          <a:xfrm>
            <a:off x="6877050" y="1412875"/>
            <a:ext cx="1439863" cy="609600"/>
          </a:xfrm>
          <a:prstGeom prst="roundRect">
            <a:avLst>
              <a:gd name="adj" fmla="val 16667"/>
            </a:avLst>
          </a:prstGeom>
          <a:solidFill>
            <a:srgbClr val="FF3300"/>
          </a:solidFill>
          <a:ln w="9525">
            <a:noFill/>
            <a:round/>
            <a:headEnd/>
            <a:tailEnd/>
          </a:ln>
          <a:effectLst/>
        </p:spPr>
        <p:txBody>
          <a:bodyPr anchor="ctr"/>
          <a:lstStyle/>
          <a:p>
            <a:r>
              <a:rPr lang="en-GB">
                <a:solidFill>
                  <a:schemeClr val="bg1"/>
                </a:solidFill>
                <a:latin typeface="Arial Narrow" pitchFamily="34" charset="0"/>
              </a:rPr>
              <a:t>Open</a:t>
            </a:r>
          </a:p>
        </p:txBody>
      </p:sp>
      <p:sp>
        <p:nvSpPr>
          <p:cNvPr id="54284" name="AutoShape 12"/>
          <p:cNvSpPr>
            <a:spLocks noChangeArrowheads="1"/>
          </p:cNvSpPr>
          <p:nvPr/>
        </p:nvSpPr>
        <p:spPr bwMode="auto">
          <a:xfrm>
            <a:off x="5364163" y="3181350"/>
            <a:ext cx="1439862" cy="609600"/>
          </a:xfrm>
          <a:prstGeom prst="roundRect">
            <a:avLst>
              <a:gd name="adj" fmla="val 16667"/>
            </a:avLst>
          </a:prstGeom>
          <a:solidFill>
            <a:srgbClr val="FF3300"/>
          </a:solidFill>
          <a:ln w="9525">
            <a:noFill/>
            <a:round/>
            <a:headEnd/>
            <a:tailEnd/>
          </a:ln>
          <a:effectLst/>
        </p:spPr>
        <p:txBody>
          <a:bodyPr anchor="ctr"/>
          <a:lstStyle/>
          <a:p>
            <a:r>
              <a:rPr lang="en-GB">
                <a:solidFill>
                  <a:schemeClr val="bg1"/>
                </a:solidFill>
                <a:latin typeface="Arial Narrow" pitchFamily="34" charset="0"/>
              </a:rPr>
              <a:t>Open</a:t>
            </a:r>
          </a:p>
        </p:txBody>
      </p:sp>
      <p:sp>
        <p:nvSpPr>
          <p:cNvPr id="54285" name="Line 13"/>
          <p:cNvSpPr>
            <a:spLocks noChangeShapeType="1"/>
          </p:cNvSpPr>
          <p:nvPr/>
        </p:nvSpPr>
        <p:spPr bwMode="auto">
          <a:xfrm>
            <a:off x="8604250" y="1700213"/>
            <a:ext cx="360363" cy="0"/>
          </a:xfrm>
          <a:prstGeom prst="line">
            <a:avLst/>
          </a:prstGeom>
          <a:noFill/>
          <a:ln w="76200">
            <a:solidFill>
              <a:schemeClr val="folHlink"/>
            </a:solidFill>
            <a:round/>
            <a:headEnd/>
            <a:tailEnd type="triangle" w="med" len="med"/>
          </a:ln>
          <a:effectLst/>
        </p:spPr>
        <p:txBody>
          <a:bodyPr wrap="none" anchor="ctr"/>
          <a:lstStyle/>
          <a:p>
            <a:endParaRPr lang="fi-FI"/>
          </a:p>
        </p:txBody>
      </p:sp>
      <p:sp>
        <p:nvSpPr>
          <p:cNvPr id="54286" name="Line 14"/>
          <p:cNvSpPr>
            <a:spLocks noChangeShapeType="1"/>
          </p:cNvSpPr>
          <p:nvPr/>
        </p:nvSpPr>
        <p:spPr bwMode="auto">
          <a:xfrm>
            <a:off x="250825" y="3502025"/>
            <a:ext cx="360363" cy="0"/>
          </a:xfrm>
          <a:prstGeom prst="line">
            <a:avLst/>
          </a:prstGeom>
          <a:noFill/>
          <a:ln w="76200">
            <a:solidFill>
              <a:schemeClr val="folHlink"/>
            </a:solidFill>
            <a:round/>
            <a:headEnd/>
            <a:tailEnd type="triangle" w="med" len="med"/>
          </a:ln>
          <a:effectLst/>
        </p:spPr>
        <p:txBody>
          <a:bodyPr wrap="none" anchor="ctr"/>
          <a:lstStyle/>
          <a:p>
            <a:endParaRPr lang="fi-FI"/>
          </a:p>
        </p:txBody>
      </p:sp>
      <p:sp>
        <p:nvSpPr>
          <p:cNvPr id="54287" name="Text Box 15"/>
          <p:cNvSpPr txBox="1">
            <a:spLocks noChangeArrowheads="1"/>
          </p:cNvSpPr>
          <p:nvPr/>
        </p:nvSpPr>
        <p:spPr bwMode="auto">
          <a:xfrm>
            <a:off x="828675" y="2060575"/>
            <a:ext cx="1439863" cy="244475"/>
          </a:xfrm>
          <a:prstGeom prst="rect">
            <a:avLst/>
          </a:prstGeom>
          <a:noFill/>
          <a:ln w="9525" algn="ctr">
            <a:noFill/>
            <a:miter lim="800000"/>
            <a:headEnd/>
            <a:tailEnd/>
          </a:ln>
          <a:effectLst/>
        </p:spPr>
        <p:txBody>
          <a:bodyPr>
            <a:spAutoFit/>
          </a:bodyPr>
          <a:lstStyle/>
          <a:p>
            <a:pPr>
              <a:spcBef>
                <a:spcPct val="50000"/>
              </a:spcBef>
            </a:pPr>
            <a:r>
              <a:rPr lang="fi-FI" sz="1000"/>
              <a:t>AssignedTo=”None”</a:t>
            </a:r>
            <a:endParaRPr lang="en-US" sz="1000"/>
          </a:p>
        </p:txBody>
      </p:sp>
      <p:sp>
        <p:nvSpPr>
          <p:cNvPr id="54288" name="Text Box 16"/>
          <p:cNvSpPr txBox="1">
            <a:spLocks noChangeArrowheads="1"/>
          </p:cNvSpPr>
          <p:nvPr/>
        </p:nvSpPr>
        <p:spPr bwMode="auto">
          <a:xfrm>
            <a:off x="827088" y="3833813"/>
            <a:ext cx="1584325" cy="244475"/>
          </a:xfrm>
          <a:prstGeom prst="rect">
            <a:avLst/>
          </a:prstGeom>
          <a:noFill/>
          <a:ln w="9525" algn="ctr">
            <a:noFill/>
            <a:miter lim="800000"/>
            <a:headEnd/>
            <a:tailEnd/>
          </a:ln>
          <a:effectLst/>
        </p:spPr>
        <p:txBody>
          <a:bodyPr>
            <a:spAutoFit/>
          </a:bodyPr>
          <a:lstStyle/>
          <a:p>
            <a:pPr>
              <a:spcBef>
                <a:spcPct val="50000"/>
              </a:spcBef>
            </a:pPr>
            <a:r>
              <a:rPr lang="fi-FI" sz="1000"/>
              <a:t>AssignedTo=”toteuttaja”</a:t>
            </a:r>
            <a:endParaRPr lang="en-US" sz="1000"/>
          </a:p>
        </p:txBody>
      </p:sp>
      <p:sp>
        <p:nvSpPr>
          <p:cNvPr id="54289" name="Text Box 17"/>
          <p:cNvSpPr txBox="1">
            <a:spLocks noChangeArrowheads="1"/>
          </p:cNvSpPr>
          <p:nvPr/>
        </p:nvSpPr>
        <p:spPr bwMode="auto">
          <a:xfrm>
            <a:off x="6875463" y="2060575"/>
            <a:ext cx="1584325" cy="244475"/>
          </a:xfrm>
          <a:prstGeom prst="rect">
            <a:avLst/>
          </a:prstGeom>
          <a:noFill/>
          <a:ln w="9525" algn="ctr">
            <a:noFill/>
            <a:miter lim="800000"/>
            <a:headEnd/>
            <a:tailEnd/>
          </a:ln>
          <a:effectLst/>
        </p:spPr>
        <p:txBody>
          <a:bodyPr>
            <a:spAutoFit/>
          </a:bodyPr>
          <a:lstStyle/>
          <a:p>
            <a:pPr>
              <a:spcBef>
                <a:spcPct val="50000"/>
              </a:spcBef>
            </a:pPr>
            <a:r>
              <a:rPr lang="fi-FI" sz="1000"/>
              <a:t>AssignedTo=”PP”</a:t>
            </a:r>
            <a:endParaRPr lang="en-US" sz="1000"/>
          </a:p>
        </p:txBody>
      </p:sp>
      <p:sp>
        <p:nvSpPr>
          <p:cNvPr id="54291" name="Text Box 19"/>
          <p:cNvSpPr txBox="1">
            <a:spLocks noChangeArrowheads="1"/>
          </p:cNvSpPr>
          <p:nvPr/>
        </p:nvSpPr>
        <p:spPr bwMode="auto">
          <a:xfrm>
            <a:off x="2268538" y="3833813"/>
            <a:ext cx="1584325" cy="244475"/>
          </a:xfrm>
          <a:prstGeom prst="rect">
            <a:avLst/>
          </a:prstGeom>
          <a:noFill/>
          <a:ln w="9525" algn="ctr">
            <a:noFill/>
            <a:miter lim="800000"/>
            <a:headEnd/>
            <a:tailEnd/>
          </a:ln>
          <a:effectLst/>
        </p:spPr>
        <p:txBody>
          <a:bodyPr>
            <a:spAutoFit/>
          </a:bodyPr>
          <a:lstStyle/>
          <a:p>
            <a:pPr>
              <a:spcBef>
                <a:spcPct val="50000"/>
              </a:spcBef>
            </a:pPr>
            <a:r>
              <a:rPr lang="fi-FI" sz="1000"/>
              <a:t>AssignedTo=”PP”</a:t>
            </a:r>
            <a:endParaRPr lang="en-US" sz="1000"/>
          </a:p>
        </p:txBody>
      </p:sp>
      <p:sp>
        <p:nvSpPr>
          <p:cNvPr id="54292" name="Text Box 20"/>
          <p:cNvSpPr txBox="1">
            <a:spLocks noChangeArrowheads="1"/>
          </p:cNvSpPr>
          <p:nvPr/>
        </p:nvSpPr>
        <p:spPr bwMode="auto">
          <a:xfrm>
            <a:off x="3851275" y="3824288"/>
            <a:ext cx="1584325" cy="244475"/>
          </a:xfrm>
          <a:prstGeom prst="rect">
            <a:avLst/>
          </a:prstGeom>
          <a:noFill/>
          <a:ln w="9525" algn="ctr">
            <a:noFill/>
            <a:miter lim="800000"/>
            <a:headEnd/>
            <a:tailEnd/>
          </a:ln>
          <a:effectLst/>
        </p:spPr>
        <p:txBody>
          <a:bodyPr>
            <a:spAutoFit/>
          </a:bodyPr>
          <a:lstStyle/>
          <a:p>
            <a:pPr>
              <a:spcBef>
                <a:spcPct val="50000"/>
              </a:spcBef>
            </a:pPr>
            <a:r>
              <a:rPr lang="fi-FI" sz="1000"/>
              <a:t>AssignedTo=”testaaja”</a:t>
            </a:r>
            <a:endParaRPr lang="en-US" sz="1000"/>
          </a:p>
        </p:txBody>
      </p:sp>
      <p:sp>
        <p:nvSpPr>
          <p:cNvPr id="54293" name="Text Box 21"/>
          <p:cNvSpPr txBox="1">
            <a:spLocks noChangeArrowheads="1"/>
          </p:cNvSpPr>
          <p:nvPr/>
        </p:nvSpPr>
        <p:spPr bwMode="auto">
          <a:xfrm>
            <a:off x="5292725" y="3824288"/>
            <a:ext cx="1584325" cy="244475"/>
          </a:xfrm>
          <a:prstGeom prst="rect">
            <a:avLst/>
          </a:prstGeom>
          <a:noFill/>
          <a:ln w="9525" algn="ctr">
            <a:noFill/>
            <a:miter lim="800000"/>
            <a:headEnd/>
            <a:tailEnd/>
          </a:ln>
          <a:effectLst/>
        </p:spPr>
        <p:txBody>
          <a:bodyPr>
            <a:spAutoFit/>
          </a:bodyPr>
          <a:lstStyle/>
          <a:p>
            <a:pPr>
              <a:spcBef>
                <a:spcPct val="50000"/>
              </a:spcBef>
            </a:pPr>
            <a:r>
              <a:rPr lang="fi-FI" sz="1000"/>
              <a:t>AssignedTo=”toteuttaja”</a:t>
            </a:r>
            <a:endParaRPr lang="en-US" sz="1000"/>
          </a:p>
        </p:txBody>
      </p:sp>
      <p:sp>
        <p:nvSpPr>
          <p:cNvPr id="54295" name="Text Box 23"/>
          <p:cNvSpPr txBox="1">
            <a:spLocks noChangeArrowheads="1"/>
          </p:cNvSpPr>
          <p:nvPr/>
        </p:nvSpPr>
        <p:spPr bwMode="auto">
          <a:xfrm>
            <a:off x="6804025" y="3824288"/>
            <a:ext cx="1584325" cy="396875"/>
          </a:xfrm>
          <a:prstGeom prst="rect">
            <a:avLst/>
          </a:prstGeom>
          <a:noFill/>
          <a:ln w="9525" algn="ctr">
            <a:noFill/>
            <a:miter lim="800000"/>
            <a:headEnd/>
            <a:tailEnd/>
          </a:ln>
          <a:effectLst/>
        </p:spPr>
        <p:txBody>
          <a:bodyPr>
            <a:spAutoFit/>
          </a:bodyPr>
          <a:lstStyle/>
          <a:p>
            <a:pPr>
              <a:spcBef>
                <a:spcPct val="50000"/>
              </a:spcBef>
            </a:pPr>
            <a:r>
              <a:rPr lang="fi-FI" sz="1000"/>
              <a:t>AssignedTo=”toimittajan testaaja”</a:t>
            </a:r>
            <a:endParaRPr lang="en-US" sz="1000"/>
          </a:p>
        </p:txBody>
      </p:sp>
      <p:sp>
        <p:nvSpPr>
          <p:cNvPr id="54296" name="Text Box 24"/>
          <p:cNvSpPr txBox="1">
            <a:spLocks noChangeArrowheads="1"/>
          </p:cNvSpPr>
          <p:nvPr/>
        </p:nvSpPr>
        <p:spPr bwMode="auto">
          <a:xfrm>
            <a:off x="2413000" y="5441950"/>
            <a:ext cx="1584325" cy="244475"/>
          </a:xfrm>
          <a:prstGeom prst="rect">
            <a:avLst/>
          </a:prstGeom>
          <a:noFill/>
          <a:ln w="9525" algn="ctr">
            <a:noFill/>
            <a:miter lim="800000"/>
            <a:headEnd/>
            <a:tailEnd/>
          </a:ln>
          <a:effectLst/>
        </p:spPr>
        <p:txBody>
          <a:bodyPr>
            <a:spAutoFit/>
          </a:bodyPr>
          <a:lstStyle/>
          <a:p>
            <a:pPr>
              <a:spcBef>
                <a:spcPct val="50000"/>
              </a:spcBef>
            </a:pPr>
            <a:r>
              <a:rPr lang="fi-FI" sz="1000"/>
              <a:t>AssignedTo=”PP”</a:t>
            </a:r>
            <a:endParaRPr lang="en-US" sz="1000"/>
          </a:p>
        </p:txBody>
      </p:sp>
      <p:sp>
        <p:nvSpPr>
          <p:cNvPr id="54297" name="AutoShape 25"/>
          <p:cNvSpPr>
            <a:spLocks noChangeArrowheads="1"/>
          </p:cNvSpPr>
          <p:nvPr/>
        </p:nvSpPr>
        <p:spPr bwMode="auto">
          <a:xfrm>
            <a:off x="2339975" y="1412875"/>
            <a:ext cx="1439863" cy="609600"/>
          </a:xfrm>
          <a:prstGeom prst="roundRect">
            <a:avLst>
              <a:gd name="adj" fmla="val 16667"/>
            </a:avLst>
          </a:prstGeom>
          <a:solidFill>
            <a:srgbClr val="99FF66"/>
          </a:solidFill>
          <a:ln w="9525">
            <a:noFill/>
            <a:round/>
            <a:headEnd/>
            <a:tailEnd/>
          </a:ln>
          <a:effectLst/>
        </p:spPr>
        <p:txBody>
          <a:bodyPr anchor="ctr"/>
          <a:lstStyle/>
          <a:p>
            <a:r>
              <a:rPr lang="en-GB">
                <a:latin typeface="Arial Narrow" pitchFamily="34" charset="0"/>
              </a:rPr>
              <a:t>New</a:t>
            </a:r>
          </a:p>
        </p:txBody>
      </p:sp>
      <p:sp>
        <p:nvSpPr>
          <p:cNvPr id="54298" name="Text Box 26"/>
          <p:cNvSpPr txBox="1">
            <a:spLocks noChangeArrowheads="1"/>
          </p:cNvSpPr>
          <p:nvPr/>
        </p:nvSpPr>
        <p:spPr bwMode="auto">
          <a:xfrm>
            <a:off x="2341563" y="2060575"/>
            <a:ext cx="1439862" cy="396875"/>
          </a:xfrm>
          <a:prstGeom prst="rect">
            <a:avLst/>
          </a:prstGeom>
          <a:noFill/>
          <a:ln w="9525" algn="ctr">
            <a:noFill/>
            <a:miter lim="800000"/>
            <a:headEnd/>
            <a:tailEnd/>
          </a:ln>
          <a:effectLst/>
        </p:spPr>
        <p:txBody>
          <a:bodyPr>
            <a:spAutoFit/>
          </a:bodyPr>
          <a:lstStyle/>
          <a:p>
            <a:pPr>
              <a:spcBef>
                <a:spcPct val="50000"/>
              </a:spcBef>
            </a:pPr>
            <a:r>
              <a:rPr lang="fi-FI" sz="1000"/>
              <a:t>AssignedTo=”toimitta-jan testausvastaava”</a:t>
            </a:r>
            <a:endParaRPr lang="en-US" sz="1000"/>
          </a:p>
        </p:txBody>
      </p:sp>
      <p:sp>
        <p:nvSpPr>
          <p:cNvPr id="54299" name="AutoShape 27"/>
          <p:cNvSpPr>
            <a:spLocks noChangeArrowheads="1"/>
          </p:cNvSpPr>
          <p:nvPr/>
        </p:nvSpPr>
        <p:spPr bwMode="auto">
          <a:xfrm>
            <a:off x="3851275" y="1412875"/>
            <a:ext cx="1439863" cy="609600"/>
          </a:xfrm>
          <a:prstGeom prst="roundRect">
            <a:avLst>
              <a:gd name="adj" fmla="val 16667"/>
            </a:avLst>
          </a:prstGeom>
          <a:solidFill>
            <a:srgbClr val="99FF66"/>
          </a:solidFill>
          <a:ln w="9525">
            <a:noFill/>
            <a:round/>
            <a:headEnd/>
            <a:tailEnd/>
          </a:ln>
          <a:effectLst/>
        </p:spPr>
        <p:txBody>
          <a:bodyPr anchor="ctr"/>
          <a:lstStyle/>
          <a:p>
            <a:r>
              <a:rPr lang="en-GB">
                <a:latin typeface="Arial Narrow" pitchFamily="34" charset="0"/>
              </a:rPr>
              <a:t>New</a:t>
            </a:r>
          </a:p>
        </p:txBody>
      </p:sp>
      <p:sp>
        <p:nvSpPr>
          <p:cNvPr id="54300" name="Text Box 28"/>
          <p:cNvSpPr txBox="1">
            <a:spLocks noChangeArrowheads="1"/>
          </p:cNvSpPr>
          <p:nvPr/>
        </p:nvSpPr>
        <p:spPr bwMode="auto">
          <a:xfrm>
            <a:off x="3852863" y="2060575"/>
            <a:ext cx="1511300" cy="244475"/>
          </a:xfrm>
          <a:prstGeom prst="rect">
            <a:avLst/>
          </a:prstGeom>
          <a:noFill/>
          <a:ln w="9525" algn="ctr">
            <a:noFill/>
            <a:miter lim="800000"/>
            <a:headEnd/>
            <a:tailEnd/>
          </a:ln>
          <a:effectLst/>
        </p:spPr>
        <p:txBody>
          <a:bodyPr>
            <a:spAutoFit/>
          </a:bodyPr>
          <a:lstStyle/>
          <a:p>
            <a:pPr>
              <a:spcBef>
                <a:spcPct val="50000"/>
              </a:spcBef>
            </a:pPr>
            <a:r>
              <a:rPr lang="fi-FI" sz="1000"/>
              <a:t>AssignedTo=”testaaja”</a:t>
            </a:r>
            <a:endParaRPr lang="en-US" sz="1000"/>
          </a:p>
        </p:txBody>
      </p:sp>
      <p:sp>
        <p:nvSpPr>
          <p:cNvPr id="54301" name="AutoShape 29"/>
          <p:cNvSpPr>
            <a:spLocks noChangeArrowheads="1"/>
          </p:cNvSpPr>
          <p:nvPr/>
        </p:nvSpPr>
        <p:spPr bwMode="auto">
          <a:xfrm>
            <a:off x="5364163" y="1412875"/>
            <a:ext cx="1439862" cy="609600"/>
          </a:xfrm>
          <a:prstGeom prst="roundRect">
            <a:avLst>
              <a:gd name="adj" fmla="val 16667"/>
            </a:avLst>
          </a:prstGeom>
          <a:solidFill>
            <a:srgbClr val="99FF66"/>
          </a:solidFill>
          <a:ln w="9525">
            <a:noFill/>
            <a:round/>
            <a:headEnd/>
            <a:tailEnd/>
          </a:ln>
          <a:effectLst/>
        </p:spPr>
        <p:txBody>
          <a:bodyPr anchor="ctr"/>
          <a:lstStyle/>
          <a:p>
            <a:r>
              <a:rPr lang="en-GB">
                <a:latin typeface="Arial Narrow" pitchFamily="34" charset="0"/>
              </a:rPr>
              <a:t>New</a:t>
            </a:r>
          </a:p>
        </p:txBody>
      </p:sp>
      <p:sp>
        <p:nvSpPr>
          <p:cNvPr id="54302" name="Text Box 30"/>
          <p:cNvSpPr txBox="1">
            <a:spLocks noChangeArrowheads="1"/>
          </p:cNvSpPr>
          <p:nvPr/>
        </p:nvSpPr>
        <p:spPr bwMode="auto">
          <a:xfrm>
            <a:off x="5365750" y="2060575"/>
            <a:ext cx="1439863" cy="396875"/>
          </a:xfrm>
          <a:prstGeom prst="rect">
            <a:avLst/>
          </a:prstGeom>
          <a:noFill/>
          <a:ln w="9525" algn="ctr">
            <a:noFill/>
            <a:miter lim="800000"/>
            <a:headEnd/>
            <a:tailEnd/>
          </a:ln>
          <a:effectLst/>
        </p:spPr>
        <p:txBody>
          <a:bodyPr>
            <a:spAutoFit/>
          </a:bodyPr>
          <a:lstStyle/>
          <a:p>
            <a:pPr>
              <a:spcBef>
                <a:spcPct val="50000"/>
              </a:spcBef>
            </a:pPr>
            <a:r>
              <a:rPr lang="fi-FI" sz="1000"/>
              <a:t>AssignedTo=”toimitta-jan testausvastaava”</a:t>
            </a:r>
            <a:endParaRPr lang="en-US" sz="1000"/>
          </a:p>
        </p:txBody>
      </p:sp>
      <p:sp>
        <p:nvSpPr>
          <p:cNvPr id="54303" name="AutoShape 31"/>
          <p:cNvSpPr>
            <a:spLocks noChangeArrowheads="1"/>
          </p:cNvSpPr>
          <p:nvPr/>
        </p:nvSpPr>
        <p:spPr bwMode="auto">
          <a:xfrm>
            <a:off x="827088" y="4751388"/>
            <a:ext cx="1439862" cy="609600"/>
          </a:xfrm>
          <a:prstGeom prst="roundRect">
            <a:avLst>
              <a:gd name="adj" fmla="val 16667"/>
            </a:avLst>
          </a:prstGeom>
          <a:solidFill>
            <a:schemeClr val="accent1"/>
          </a:solidFill>
          <a:ln w="9525">
            <a:noFill/>
            <a:round/>
            <a:headEnd/>
            <a:tailEnd/>
          </a:ln>
          <a:effectLst/>
        </p:spPr>
        <p:txBody>
          <a:bodyPr anchor="ctr"/>
          <a:lstStyle/>
          <a:p>
            <a:r>
              <a:rPr lang="en-GB">
                <a:latin typeface="Arial Narrow" pitchFamily="34" charset="0"/>
              </a:rPr>
              <a:t>Fixed</a:t>
            </a:r>
          </a:p>
        </p:txBody>
      </p:sp>
      <p:sp>
        <p:nvSpPr>
          <p:cNvPr id="54304" name="Text Box 32"/>
          <p:cNvSpPr txBox="1">
            <a:spLocks noChangeArrowheads="1"/>
          </p:cNvSpPr>
          <p:nvPr/>
        </p:nvSpPr>
        <p:spPr bwMode="auto">
          <a:xfrm>
            <a:off x="755650" y="5405438"/>
            <a:ext cx="1584325" cy="244475"/>
          </a:xfrm>
          <a:prstGeom prst="rect">
            <a:avLst/>
          </a:prstGeom>
          <a:noFill/>
          <a:ln w="9525" algn="ctr">
            <a:noFill/>
            <a:miter lim="800000"/>
            <a:headEnd/>
            <a:tailEnd/>
          </a:ln>
          <a:effectLst/>
        </p:spPr>
        <p:txBody>
          <a:bodyPr>
            <a:spAutoFit/>
          </a:bodyPr>
          <a:lstStyle/>
          <a:p>
            <a:pPr>
              <a:spcBef>
                <a:spcPct val="50000"/>
              </a:spcBef>
            </a:pPr>
            <a:r>
              <a:rPr lang="fi-FI" sz="1000"/>
              <a:t>AssignedTo=”testaaja”</a:t>
            </a:r>
            <a:endParaRPr lang="en-US" sz="1000"/>
          </a:p>
        </p:txBody>
      </p:sp>
      <p:sp>
        <p:nvSpPr>
          <p:cNvPr id="54305" name="Line 33"/>
          <p:cNvSpPr>
            <a:spLocks noChangeShapeType="1"/>
          </p:cNvSpPr>
          <p:nvPr/>
        </p:nvSpPr>
        <p:spPr bwMode="auto">
          <a:xfrm>
            <a:off x="176213" y="5110163"/>
            <a:ext cx="360362" cy="0"/>
          </a:xfrm>
          <a:prstGeom prst="line">
            <a:avLst/>
          </a:prstGeom>
          <a:noFill/>
          <a:ln w="76200">
            <a:solidFill>
              <a:schemeClr val="folHlink"/>
            </a:solidFill>
            <a:round/>
            <a:headEnd/>
            <a:tailEnd type="triangle" w="med" len="med"/>
          </a:ln>
          <a:effectLst/>
        </p:spPr>
        <p:txBody>
          <a:bodyPr wrap="none" anchor="ctr"/>
          <a:lstStyle/>
          <a:p>
            <a:endParaRPr lang="fi-FI"/>
          </a:p>
        </p:txBody>
      </p:sp>
      <p:sp>
        <p:nvSpPr>
          <p:cNvPr id="54306" name="Line 34"/>
          <p:cNvSpPr>
            <a:spLocks noChangeShapeType="1"/>
          </p:cNvSpPr>
          <p:nvPr/>
        </p:nvSpPr>
        <p:spPr bwMode="auto">
          <a:xfrm>
            <a:off x="8604250" y="3471863"/>
            <a:ext cx="360363" cy="0"/>
          </a:xfrm>
          <a:prstGeom prst="line">
            <a:avLst/>
          </a:prstGeom>
          <a:noFill/>
          <a:ln w="76200">
            <a:solidFill>
              <a:schemeClr val="folHlink"/>
            </a:solidFill>
            <a:round/>
            <a:headEnd/>
            <a:tailEnd type="triangle" w="med" len="med"/>
          </a:ln>
          <a:effectLst/>
        </p:spPr>
        <p:txBody>
          <a:bodyPr wrap="none" anchor="ctr"/>
          <a:lstStyle/>
          <a:p>
            <a:endParaRPr lang="fi-FI"/>
          </a:p>
        </p:txBody>
      </p:sp>
      <p:sp>
        <p:nvSpPr>
          <p:cNvPr id="54307" name="Text Box 35"/>
          <p:cNvSpPr txBox="1">
            <a:spLocks noChangeArrowheads="1"/>
          </p:cNvSpPr>
          <p:nvPr/>
        </p:nvSpPr>
        <p:spPr bwMode="auto">
          <a:xfrm>
            <a:off x="827088" y="2420938"/>
            <a:ext cx="1439862" cy="549275"/>
          </a:xfrm>
          <a:prstGeom prst="rect">
            <a:avLst/>
          </a:prstGeom>
          <a:noFill/>
          <a:ln w="9525" algn="ctr">
            <a:noFill/>
            <a:miter lim="800000"/>
            <a:headEnd/>
            <a:tailEnd/>
          </a:ln>
          <a:effectLst/>
        </p:spPr>
        <p:txBody>
          <a:bodyPr>
            <a:spAutoFit/>
          </a:bodyPr>
          <a:lstStyle/>
          <a:p>
            <a:pPr algn="ctr">
              <a:spcBef>
                <a:spcPct val="50000"/>
              </a:spcBef>
            </a:pPr>
            <a:r>
              <a:rPr lang="fi-FI" sz="1000" i="1"/>
              <a:t>”En tiedä kuka tätä hoitaa, mutta Tassulle kuuluu”</a:t>
            </a:r>
            <a:endParaRPr lang="en-US" sz="1000" i="1"/>
          </a:p>
        </p:txBody>
      </p:sp>
      <p:sp>
        <p:nvSpPr>
          <p:cNvPr id="54308" name="Text Box 36"/>
          <p:cNvSpPr txBox="1">
            <a:spLocks noChangeArrowheads="1"/>
          </p:cNvSpPr>
          <p:nvPr/>
        </p:nvSpPr>
        <p:spPr bwMode="auto">
          <a:xfrm>
            <a:off x="2268538" y="2420938"/>
            <a:ext cx="1439862" cy="549275"/>
          </a:xfrm>
          <a:prstGeom prst="rect">
            <a:avLst/>
          </a:prstGeom>
          <a:noFill/>
          <a:ln w="9525" algn="ctr">
            <a:noFill/>
            <a:miter lim="800000"/>
            <a:headEnd/>
            <a:tailEnd/>
          </a:ln>
          <a:effectLst/>
        </p:spPr>
        <p:txBody>
          <a:bodyPr>
            <a:spAutoFit/>
          </a:bodyPr>
          <a:lstStyle/>
          <a:p>
            <a:pPr algn="ctr">
              <a:spcBef>
                <a:spcPct val="50000"/>
              </a:spcBef>
            </a:pPr>
            <a:r>
              <a:rPr lang="fi-FI" sz="1000" i="1"/>
              <a:t>”testausvastaavan arvio: vaatii muutoksen”</a:t>
            </a:r>
            <a:endParaRPr lang="en-US" sz="1000" i="1"/>
          </a:p>
        </p:txBody>
      </p:sp>
      <p:sp>
        <p:nvSpPr>
          <p:cNvPr id="54309" name="Text Box 37"/>
          <p:cNvSpPr txBox="1">
            <a:spLocks noChangeArrowheads="1"/>
          </p:cNvSpPr>
          <p:nvPr/>
        </p:nvSpPr>
        <p:spPr bwMode="auto">
          <a:xfrm>
            <a:off x="3852863" y="2420938"/>
            <a:ext cx="1439862" cy="549275"/>
          </a:xfrm>
          <a:prstGeom prst="rect">
            <a:avLst/>
          </a:prstGeom>
          <a:noFill/>
          <a:ln w="9525" algn="ctr">
            <a:noFill/>
            <a:miter lim="800000"/>
            <a:headEnd/>
            <a:tailEnd/>
          </a:ln>
          <a:effectLst/>
        </p:spPr>
        <p:txBody>
          <a:bodyPr>
            <a:spAutoFit/>
          </a:bodyPr>
          <a:lstStyle/>
          <a:p>
            <a:pPr algn="ctr">
              <a:spcBef>
                <a:spcPct val="50000"/>
              </a:spcBef>
            </a:pPr>
            <a:r>
              <a:rPr lang="fi-FI" sz="1000" i="1"/>
              <a:t>”Tarvitsemme lisätietoja miten toistetaan”</a:t>
            </a:r>
            <a:endParaRPr lang="en-US" sz="1000" i="1"/>
          </a:p>
        </p:txBody>
      </p:sp>
      <p:sp>
        <p:nvSpPr>
          <p:cNvPr id="54310" name="Text Box 38"/>
          <p:cNvSpPr txBox="1">
            <a:spLocks noChangeArrowheads="1"/>
          </p:cNvSpPr>
          <p:nvPr/>
        </p:nvSpPr>
        <p:spPr bwMode="auto">
          <a:xfrm>
            <a:off x="5364163" y="2420938"/>
            <a:ext cx="1439862" cy="396875"/>
          </a:xfrm>
          <a:prstGeom prst="rect">
            <a:avLst/>
          </a:prstGeom>
          <a:noFill/>
          <a:ln w="9525" algn="ctr">
            <a:noFill/>
            <a:miter lim="800000"/>
            <a:headEnd/>
            <a:tailEnd/>
          </a:ln>
          <a:effectLst/>
        </p:spPr>
        <p:txBody>
          <a:bodyPr>
            <a:spAutoFit/>
          </a:bodyPr>
          <a:lstStyle/>
          <a:p>
            <a:pPr algn="ctr">
              <a:spcBef>
                <a:spcPct val="50000"/>
              </a:spcBef>
            </a:pPr>
            <a:r>
              <a:rPr lang="fi-FI" sz="1000" i="1"/>
              <a:t>”No paina tästä napista”</a:t>
            </a:r>
            <a:endParaRPr lang="en-US" sz="1000" i="1"/>
          </a:p>
        </p:txBody>
      </p:sp>
      <p:sp>
        <p:nvSpPr>
          <p:cNvPr id="54311" name="Text Box 39"/>
          <p:cNvSpPr txBox="1">
            <a:spLocks noChangeArrowheads="1"/>
          </p:cNvSpPr>
          <p:nvPr/>
        </p:nvSpPr>
        <p:spPr bwMode="auto">
          <a:xfrm>
            <a:off x="6804025" y="2420938"/>
            <a:ext cx="1439863" cy="244475"/>
          </a:xfrm>
          <a:prstGeom prst="rect">
            <a:avLst/>
          </a:prstGeom>
          <a:noFill/>
          <a:ln w="9525" algn="ctr">
            <a:noFill/>
            <a:miter lim="800000"/>
            <a:headEnd/>
            <a:tailEnd/>
          </a:ln>
          <a:effectLst/>
        </p:spPr>
        <p:txBody>
          <a:bodyPr>
            <a:spAutoFit/>
          </a:bodyPr>
          <a:lstStyle/>
          <a:p>
            <a:pPr algn="ctr">
              <a:spcBef>
                <a:spcPct val="50000"/>
              </a:spcBef>
            </a:pPr>
            <a:r>
              <a:rPr lang="fi-FI" sz="1000" i="1"/>
              <a:t>”pitää korjata, kuka?”</a:t>
            </a:r>
            <a:endParaRPr lang="en-US" sz="1000" i="1"/>
          </a:p>
        </p:txBody>
      </p:sp>
      <p:sp>
        <p:nvSpPr>
          <p:cNvPr id="54312" name="Text Box 40"/>
          <p:cNvSpPr txBox="1">
            <a:spLocks noChangeArrowheads="1"/>
          </p:cNvSpPr>
          <p:nvPr/>
        </p:nvSpPr>
        <p:spPr bwMode="auto">
          <a:xfrm>
            <a:off x="755650" y="4075113"/>
            <a:ext cx="1439863" cy="244475"/>
          </a:xfrm>
          <a:prstGeom prst="rect">
            <a:avLst/>
          </a:prstGeom>
          <a:noFill/>
          <a:ln w="9525" algn="ctr">
            <a:noFill/>
            <a:miter lim="800000"/>
            <a:headEnd/>
            <a:tailEnd/>
          </a:ln>
          <a:effectLst/>
        </p:spPr>
        <p:txBody>
          <a:bodyPr>
            <a:spAutoFit/>
          </a:bodyPr>
          <a:lstStyle/>
          <a:p>
            <a:pPr algn="ctr">
              <a:spcBef>
                <a:spcPct val="50000"/>
              </a:spcBef>
            </a:pPr>
            <a:r>
              <a:rPr lang="fi-FI" sz="1000" i="1"/>
              <a:t>”korjaatkos?”</a:t>
            </a:r>
            <a:endParaRPr lang="en-US" sz="1000" i="1"/>
          </a:p>
        </p:txBody>
      </p:sp>
      <p:sp>
        <p:nvSpPr>
          <p:cNvPr id="54313" name="Text Box 41"/>
          <p:cNvSpPr txBox="1">
            <a:spLocks noChangeArrowheads="1"/>
          </p:cNvSpPr>
          <p:nvPr/>
        </p:nvSpPr>
        <p:spPr bwMode="auto">
          <a:xfrm>
            <a:off x="2268538" y="4121150"/>
            <a:ext cx="1439862" cy="396875"/>
          </a:xfrm>
          <a:prstGeom prst="rect">
            <a:avLst/>
          </a:prstGeom>
          <a:noFill/>
          <a:ln w="9525" algn="ctr">
            <a:noFill/>
            <a:miter lim="800000"/>
            <a:headEnd/>
            <a:tailEnd/>
          </a:ln>
          <a:effectLst/>
        </p:spPr>
        <p:txBody>
          <a:bodyPr>
            <a:spAutoFit/>
          </a:bodyPr>
          <a:lstStyle/>
          <a:p>
            <a:pPr algn="ctr">
              <a:spcBef>
                <a:spcPct val="50000"/>
              </a:spcBef>
            </a:pPr>
            <a:r>
              <a:rPr lang="fi-FI" sz="1000" i="1"/>
              <a:t>”Ei ongelmaa, toimii kuten pitäisikin”</a:t>
            </a:r>
            <a:endParaRPr lang="en-US" sz="1000" i="1"/>
          </a:p>
        </p:txBody>
      </p:sp>
      <p:sp>
        <p:nvSpPr>
          <p:cNvPr id="54314" name="Text Box 42"/>
          <p:cNvSpPr txBox="1">
            <a:spLocks noChangeArrowheads="1"/>
          </p:cNvSpPr>
          <p:nvPr/>
        </p:nvSpPr>
        <p:spPr bwMode="auto">
          <a:xfrm>
            <a:off x="3779838" y="4121150"/>
            <a:ext cx="1439862" cy="396875"/>
          </a:xfrm>
          <a:prstGeom prst="rect">
            <a:avLst/>
          </a:prstGeom>
          <a:noFill/>
          <a:ln w="9525" algn="ctr">
            <a:noFill/>
            <a:miter lim="800000"/>
            <a:headEnd/>
            <a:tailEnd/>
          </a:ln>
          <a:effectLst/>
        </p:spPr>
        <p:txBody>
          <a:bodyPr>
            <a:spAutoFit/>
          </a:bodyPr>
          <a:lstStyle/>
          <a:p>
            <a:pPr algn="ctr">
              <a:spcBef>
                <a:spcPct val="50000"/>
              </a:spcBef>
            </a:pPr>
            <a:r>
              <a:rPr lang="fi-FI" sz="1000" i="1"/>
              <a:t>”on ongelma, antakaa lisätietoja”</a:t>
            </a:r>
            <a:endParaRPr lang="en-US" sz="1000" i="1"/>
          </a:p>
        </p:txBody>
      </p:sp>
      <p:sp>
        <p:nvSpPr>
          <p:cNvPr id="54315" name="Text Box 43"/>
          <p:cNvSpPr txBox="1">
            <a:spLocks noChangeArrowheads="1"/>
          </p:cNvSpPr>
          <p:nvPr/>
        </p:nvSpPr>
        <p:spPr bwMode="auto">
          <a:xfrm>
            <a:off x="5364163" y="4148138"/>
            <a:ext cx="1439862" cy="244475"/>
          </a:xfrm>
          <a:prstGeom prst="rect">
            <a:avLst/>
          </a:prstGeom>
          <a:noFill/>
          <a:ln w="9525" algn="ctr">
            <a:noFill/>
            <a:miter lim="800000"/>
            <a:headEnd/>
            <a:tailEnd/>
          </a:ln>
          <a:effectLst/>
        </p:spPr>
        <p:txBody>
          <a:bodyPr>
            <a:spAutoFit/>
          </a:bodyPr>
          <a:lstStyle/>
          <a:p>
            <a:pPr algn="ctr">
              <a:spcBef>
                <a:spcPct val="50000"/>
              </a:spcBef>
            </a:pPr>
            <a:r>
              <a:rPr lang="fi-FI" sz="1000" i="1"/>
              <a:t>”korjaanpa ongelman”</a:t>
            </a:r>
            <a:endParaRPr lang="en-US" sz="1000" i="1"/>
          </a:p>
        </p:txBody>
      </p:sp>
      <p:sp>
        <p:nvSpPr>
          <p:cNvPr id="54316" name="Text Box 44"/>
          <p:cNvSpPr txBox="1">
            <a:spLocks noChangeArrowheads="1"/>
          </p:cNvSpPr>
          <p:nvPr/>
        </p:nvSpPr>
        <p:spPr bwMode="auto">
          <a:xfrm>
            <a:off x="6804025" y="4221163"/>
            <a:ext cx="1439863" cy="396875"/>
          </a:xfrm>
          <a:prstGeom prst="rect">
            <a:avLst/>
          </a:prstGeom>
          <a:noFill/>
          <a:ln w="9525" algn="ctr">
            <a:noFill/>
            <a:miter lim="800000"/>
            <a:headEnd/>
            <a:tailEnd/>
          </a:ln>
          <a:effectLst/>
        </p:spPr>
        <p:txBody>
          <a:bodyPr>
            <a:spAutoFit/>
          </a:bodyPr>
          <a:lstStyle/>
          <a:p>
            <a:pPr algn="ctr">
              <a:spcBef>
                <a:spcPct val="50000"/>
              </a:spcBef>
            </a:pPr>
            <a:r>
              <a:rPr lang="fi-FI" sz="1000" i="1"/>
              <a:t>”muutos toteutettu, testatkaa meillä”</a:t>
            </a:r>
            <a:endParaRPr lang="en-US" sz="1000" i="1"/>
          </a:p>
        </p:txBody>
      </p:sp>
      <p:sp>
        <p:nvSpPr>
          <p:cNvPr id="54317" name="Text Box 45"/>
          <p:cNvSpPr txBox="1">
            <a:spLocks noChangeArrowheads="1"/>
          </p:cNvSpPr>
          <p:nvPr/>
        </p:nvSpPr>
        <p:spPr bwMode="auto">
          <a:xfrm>
            <a:off x="828675" y="5759450"/>
            <a:ext cx="1439863" cy="396875"/>
          </a:xfrm>
          <a:prstGeom prst="rect">
            <a:avLst/>
          </a:prstGeom>
          <a:noFill/>
          <a:ln w="9525" algn="ctr">
            <a:noFill/>
            <a:miter lim="800000"/>
            <a:headEnd/>
            <a:tailEnd/>
          </a:ln>
          <a:effectLst/>
        </p:spPr>
        <p:txBody>
          <a:bodyPr>
            <a:spAutoFit/>
          </a:bodyPr>
          <a:lstStyle/>
          <a:p>
            <a:pPr algn="ctr">
              <a:spcBef>
                <a:spcPct val="50000"/>
              </a:spcBef>
            </a:pPr>
            <a:r>
              <a:rPr lang="fi-FI" sz="1000" i="1"/>
              <a:t>”muutos toteutettu, liiketoiminta testaa”</a:t>
            </a:r>
            <a:endParaRPr lang="en-US" sz="1000" i="1"/>
          </a:p>
        </p:txBody>
      </p:sp>
      <p:sp>
        <p:nvSpPr>
          <p:cNvPr id="54318" name="Text Box 46"/>
          <p:cNvSpPr txBox="1">
            <a:spLocks noChangeArrowheads="1"/>
          </p:cNvSpPr>
          <p:nvPr/>
        </p:nvSpPr>
        <p:spPr bwMode="auto">
          <a:xfrm>
            <a:off x="2341563" y="5759450"/>
            <a:ext cx="1439862" cy="549275"/>
          </a:xfrm>
          <a:prstGeom prst="rect">
            <a:avLst/>
          </a:prstGeom>
          <a:noFill/>
          <a:ln w="9525" algn="ctr">
            <a:noFill/>
            <a:miter lim="800000"/>
            <a:headEnd/>
            <a:tailEnd/>
          </a:ln>
          <a:effectLst/>
        </p:spPr>
        <p:txBody>
          <a:bodyPr>
            <a:spAutoFit/>
          </a:bodyPr>
          <a:lstStyle/>
          <a:p>
            <a:pPr algn="ctr">
              <a:spcBef>
                <a:spcPct val="50000"/>
              </a:spcBef>
            </a:pPr>
            <a:r>
              <a:rPr lang="fi-FI" sz="1000" i="1"/>
              <a:t>”muutos toteutettu, varmistettu, ei sivuvaikutuksia”</a:t>
            </a:r>
            <a:endParaRPr lang="en-US" sz="1000" i="1"/>
          </a:p>
        </p:txBody>
      </p:sp>
      <p:graphicFrame>
        <p:nvGraphicFramePr>
          <p:cNvPr id="54353" name="Group 81"/>
          <p:cNvGraphicFramePr>
            <a:graphicFrameLocks noGrp="1"/>
          </p:cNvGraphicFramePr>
          <p:nvPr>
            <p:ph idx="1"/>
          </p:nvPr>
        </p:nvGraphicFramePr>
        <p:xfrm>
          <a:off x="4498975" y="4887913"/>
          <a:ext cx="4537075" cy="1277939"/>
        </p:xfrm>
        <a:graphic>
          <a:graphicData uri="http://schemas.openxmlformats.org/drawingml/2006/table">
            <a:tbl>
              <a:tblPr/>
              <a:tblGrid>
                <a:gridCol w="4537075"/>
              </a:tblGrid>
              <a:tr h="319088">
                <a:tc>
                  <a:txBody>
                    <a:bodyPr/>
                    <a:lstStyle/>
                    <a:p>
                      <a:pPr marL="0" marR="0" lvl="0" indent="0" algn="l" defTabSz="914400" rtl="0" eaLnBrk="1" fontAlgn="base" latinLnBrk="0" hangingPunct="1">
                        <a:lnSpc>
                          <a:spcPct val="100000"/>
                        </a:lnSpc>
                        <a:spcBef>
                          <a:spcPct val="20000"/>
                        </a:spcBef>
                        <a:spcAft>
                          <a:spcPct val="0"/>
                        </a:spcAft>
                        <a:buClr>
                          <a:srgbClr val="BB0059"/>
                        </a:buClr>
                        <a:buSzTx/>
                        <a:buFontTx/>
                        <a:buNone/>
                        <a:tabLst/>
                      </a:pPr>
                      <a:r>
                        <a:rPr kumimoji="0" lang="fi-FI" sz="1200" b="0" i="0" u="none" strike="noStrike" cap="none" normalizeH="0" baseline="0" smtClean="0">
                          <a:ln>
                            <a:noFill/>
                          </a:ln>
                          <a:solidFill>
                            <a:srgbClr val="000000"/>
                          </a:solidFill>
                          <a:effectLst/>
                          <a:latin typeface="Arial Narrow" pitchFamily="34" charset="0"/>
                        </a:rPr>
                        <a:t>New-tilaiset: mahdollisia muutostarpeita, epävarmuutta</a:t>
                      </a:r>
                      <a:endParaRPr kumimoji="0" lang="en-US" sz="1200" b="0" i="0" u="none" strike="noStrike" cap="none" normalizeH="0" baseline="0" smtClean="0">
                        <a:ln>
                          <a:noFill/>
                        </a:ln>
                        <a:solidFill>
                          <a:srgbClr val="000000"/>
                        </a:solidFill>
                        <a:effectLst/>
                        <a:latin typeface="Arial Narrow"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l" defTabSz="914400" rtl="0" eaLnBrk="1" fontAlgn="base" latinLnBrk="0" hangingPunct="1">
                        <a:lnSpc>
                          <a:spcPct val="100000"/>
                        </a:lnSpc>
                        <a:spcBef>
                          <a:spcPct val="20000"/>
                        </a:spcBef>
                        <a:spcAft>
                          <a:spcPct val="0"/>
                        </a:spcAft>
                        <a:buClr>
                          <a:srgbClr val="BB0059"/>
                        </a:buClr>
                        <a:buSzTx/>
                        <a:buFontTx/>
                        <a:buNone/>
                        <a:tabLst/>
                      </a:pPr>
                      <a:r>
                        <a:rPr kumimoji="0" lang="fi-FI" sz="1200" b="0" i="0" u="none" strike="noStrike" cap="none" normalizeH="0" baseline="0" smtClean="0">
                          <a:ln>
                            <a:noFill/>
                          </a:ln>
                          <a:solidFill>
                            <a:srgbClr val="000000"/>
                          </a:solidFill>
                          <a:effectLst/>
                          <a:latin typeface="Arial Narrow" pitchFamily="34" charset="0"/>
                        </a:rPr>
                        <a:t>Open-tilaiset: sovittuja muutostarpeita</a:t>
                      </a:r>
                      <a:endParaRPr kumimoji="0" lang="en-US" sz="1200" b="0" i="0" u="none" strike="noStrike" cap="none" normalizeH="0" baseline="0" smtClean="0">
                        <a:ln>
                          <a:noFill/>
                        </a:ln>
                        <a:solidFill>
                          <a:srgbClr val="000000"/>
                        </a:solidFill>
                        <a:effectLst/>
                        <a:latin typeface="Arial Narrow"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9088">
                <a:tc>
                  <a:txBody>
                    <a:bodyPr/>
                    <a:lstStyle/>
                    <a:p>
                      <a:pPr marL="0" marR="0" lvl="0" indent="0" algn="l" defTabSz="914400" rtl="0" eaLnBrk="1" fontAlgn="base" latinLnBrk="0" hangingPunct="1">
                        <a:lnSpc>
                          <a:spcPct val="100000"/>
                        </a:lnSpc>
                        <a:spcBef>
                          <a:spcPct val="20000"/>
                        </a:spcBef>
                        <a:spcAft>
                          <a:spcPct val="0"/>
                        </a:spcAft>
                        <a:buClr>
                          <a:srgbClr val="BB0059"/>
                        </a:buClr>
                        <a:buSzTx/>
                        <a:buFontTx/>
                        <a:buNone/>
                        <a:tabLst/>
                      </a:pPr>
                      <a:r>
                        <a:rPr kumimoji="0" lang="fi-FI" sz="1200" b="0" i="0" u="none" strike="noStrike" cap="none" normalizeH="0" baseline="0" smtClean="0">
                          <a:ln>
                            <a:noFill/>
                          </a:ln>
                          <a:solidFill>
                            <a:srgbClr val="000000"/>
                          </a:solidFill>
                          <a:effectLst/>
                          <a:latin typeface="Arial Narrow" pitchFamily="34" charset="0"/>
                        </a:rPr>
                        <a:t>Fixed-tilaiset: mahdollisia korjauksia, epävarmuutta</a:t>
                      </a:r>
                      <a:endParaRPr kumimoji="0" lang="en-US" sz="1200" b="0" i="0" u="none" strike="noStrike" cap="none" normalizeH="0" baseline="0" smtClean="0">
                        <a:ln>
                          <a:noFill/>
                        </a:ln>
                        <a:solidFill>
                          <a:srgbClr val="000000"/>
                        </a:solidFill>
                        <a:effectLst/>
                        <a:latin typeface="Arial Narrow"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9088">
                <a:tc>
                  <a:txBody>
                    <a:bodyPr/>
                    <a:lstStyle/>
                    <a:p>
                      <a:pPr marL="0" marR="0" lvl="0" indent="0" algn="l" defTabSz="914400" rtl="0" eaLnBrk="1" fontAlgn="base" latinLnBrk="0" hangingPunct="1">
                        <a:lnSpc>
                          <a:spcPct val="100000"/>
                        </a:lnSpc>
                        <a:spcBef>
                          <a:spcPct val="20000"/>
                        </a:spcBef>
                        <a:spcAft>
                          <a:spcPct val="0"/>
                        </a:spcAft>
                        <a:buClr>
                          <a:srgbClr val="BB0059"/>
                        </a:buClr>
                        <a:buSzTx/>
                        <a:buFontTx/>
                        <a:buNone/>
                        <a:tabLst/>
                      </a:pPr>
                      <a:r>
                        <a:rPr kumimoji="0" lang="fi-FI" sz="1200" b="0" i="0" u="none" strike="noStrike" cap="none" normalizeH="0" baseline="0" smtClean="0">
                          <a:ln>
                            <a:noFill/>
                          </a:ln>
                          <a:solidFill>
                            <a:srgbClr val="000000"/>
                          </a:solidFill>
                          <a:effectLst/>
                          <a:latin typeface="Arial Narrow" pitchFamily="34" charset="0"/>
                        </a:rPr>
                        <a:t>Postponed / Rejected / Closed-tilaiset: päätösprosessi hoidettu muutoksineen. </a:t>
                      </a:r>
                      <a:endParaRPr kumimoji="0" lang="en-US" sz="1200" b="0" i="0" u="none" strike="noStrike" cap="none" normalizeH="0" baseline="0" smtClean="0">
                        <a:ln>
                          <a:noFill/>
                        </a:ln>
                        <a:solidFill>
                          <a:srgbClr val="000000"/>
                        </a:solidFill>
                        <a:effectLst/>
                        <a:latin typeface="Arial Narrow"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4" name="Slide Number Placeholder 43"/>
          <p:cNvSpPr>
            <a:spLocks noGrp="1"/>
          </p:cNvSpPr>
          <p:nvPr>
            <p:ph type="sldNum" sz="quarter" idx="11"/>
          </p:nvPr>
        </p:nvSpPr>
        <p:spPr/>
        <p:txBody>
          <a:bodyPr/>
          <a:lstStyle/>
          <a:p>
            <a:fld id="{63CA0F77-99DB-43DB-B9CB-E69A7FE82F8D}" type="slidenum">
              <a:rPr lang="fi-FI" smtClean="0"/>
              <a:pPr/>
              <a:t>134</a:t>
            </a:fld>
            <a:endParaRPr lang="fi-FI"/>
          </a:p>
        </p:txBody>
      </p:sp>
    </p:spTree>
  </p:cSld>
  <p:clrMapOvr>
    <a:masterClrMapping/>
  </p:clrMapOvr>
  <p:transition xmlns:p14="http://schemas.microsoft.com/office/powerpoint/2010/main">
    <p:fade/>
  </p:transition>
  <p:timing>
    <p:tnLst>
      <p:par>
        <p:cTn xmlns:p14="http://schemas.microsoft.com/office/powerpoint/2010/mai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fi-FI"/>
              <a:t>Lopputilojen merkitykset</a:t>
            </a:r>
            <a:endParaRPr lang="en-US"/>
          </a:p>
        </p:txBody>
      </p:sp>
      <p:grpSp>
        <p:nvGrpSpPr>
          <p:cNvPr id="2" name="Group 3"/>
          <p:cNvGrpSpPr>
            <a:grpSpLocks/>
          </p:cNvGrpSpPr>
          <p:nvPr/>
        </p:nvGrpSpPr>
        <p:grpSpPr bwMode="auto">
          <a:xfrm>
            <a:off x="250825" y="1484313"/>
            <a:ext cx="8569325" cy="609600"/>
            <a:chOff x="1066" y="1298"/>
            <a:chExt cx="2903" cy="384"/>
          </a:xfrm>
        </p:grpSpPr>
        <p:sp>
          <p:nvSpPr>
            <p:cNvPr id="41988" name="AutoShape 4"/>
            <p:cNvSpPr>
              <a:spLocks noChangeArrowheads="1"/>
            </p:cNvSpPr>
            <p:nvPr/>
          </p:nvSpPr>
          <p:spPr bwMode="auto">
            <a:xfrm>
              <a:off x="2065" y="1298"/>
              <a:ext cx="907" cy="384"/>
            </a:xfrm>
            <a:prstGeom prst="roundRect">
              <a:avLst>
                <a:gd name="adj" fmla="val 16667"/>
              </a:avLst>
            </a:prstGeom>
            <a:solidFill>
              <a:schemeClr val="folHlink"/>
            </a:solidFill>
            <a:ln w="9525">
              <a:noFill/>
              <a:round/>
              <a:headEnd/>
              <a:tailEnd/>
            </a:ln>
            <a:effectLst/>
          </p:spPr>
          <p:txBody>
            <a:bodyPr anchor="ctr"/>
            <a:lstStyle/>
            <a:p>
              <a:r>
                <a:rPr lang="en-GB">
                  <a:latin typeface="Arial Narrow" pitchFamily="34" charset="0"/>
                </a:rPr>
                <a:t>Closed</a:t>
              </a:r>
            </a:p>
          </p:txBody>
        </p:sp>
        <p:sp>
          <p:nvSpPr>
            <p:cNvPr id="41989" name="AutoShape 5"/>
            <p:cNvSpPr>
              <a:spLocks noChangeArrowheads="1"/>
            </p:cNvSpPr>
            <p:nvPr/>
          </p:nvSpPr>
          <p:spPr bwMode="auto">
            <a:xfrm>
              <a:off x="1066" y="1298"/>
              <a:ext cx="907" cy="384"/>
            </a:xfrm>
            <a:prstGeom prst="roundRect">
              <a:avLst>
                <a:gd name="adj" fmla="val 16667"/>
              </a:avLst>
            </a:prstGeom>
            <a:solidFill>
              <a:schemeClr val="bg2"/>
            </a:solidFill>
            <a:ln w="9525">
              <a:noFill/>
              <a:round/>
              <a:headEnd/>
              <a:tailEnd/>
            </a:ln>
            <a:effectLst/>
          </p:spPr>
          <p:txBody>
            <a:bodyPr anchor="ctr"/>
            <a:lstStyle/>
            <a:p>
              <a:r>
                <a:rPr lang="en-GB">
                  <a:latin typeface="Arial Narrow" pitchFamily="34" charset="0"/>
                </a:rPr>
                <a:t>Postponed</a:t>
              </a:r>
            </a:p>
          </p:txBody>
        </p:sp>
        <p:sp>
          <p:nvSpPr>
            <p:cNvPr id="41990" name="AutoShape 6"/>
            <p:cNvSpPr>
              <a:spLocks noChangeArrowheads="1"/>
            </p:cNvSpPr>
            <p:nvPr/>
          </p:nvSpPr>
          <p:spPr bwMode="auto">
            <a:xfrm>
              <a:off x="3062" y="1298"/>
              <a:ext cx="907" cy="384"/>
            </a:xfrm>
            <a:prstGeom prst="roundRect">
              <a:avLst>
                <a:gd name="adj" fmla="val 16667"/>
              </a:avLst>
            </a:prstGeom>
            <a:solidFill>
              <a:srgbClr val="FF6600"/>
            </a:solidFill>
            <a:ln w="9525">
              <a:noFill/>
              <a:round/>
              <a:headEnd/>
              <a:tailEnd/>
            </a:ln>
            <a:effectLst/>
          </p:spPr>
          <p:txBody>
            <a:bodyPr anchor="ctr"/>
            <a:lstStyle/>
            <a:p>
              <a:r>
                <a:rPr lang="en-GB">
                  <a:latin typeface="Arial Narrow" pitchFamily="34" charset="0"/>
                </a:rPr>
                <a:t>Rejected</a:t>
              </a:r>
            </a:p>
          </p:txBody>
        </p:sp>
      </p:grpSp>
      <p:sp>
        <p:nvSpPr>
          <p:cNvPr id="41991" name="Text Box 7"/>
          <p:cNvSpPr txBox="1">
            <a:spLocks noChangeArrowheads="1"/>
          </p:cNvSpPr>
          <p:nvPr/>
        </p:nvSpPr>
        <p:spPr bwMode="auto">
          <a:xfrm>
            <a:off x="250825" y="2349500"/>
            <a:ext cx="2665413" cy="2152650"/>
          </a:xfrm>
          <a:prstGeom prst="rect">
            <a:avLst/>
          </a:prstGeom>
          <a:noFill/>
          <a:ln w="9525" algn="ctr">
            <a:noFill/>
            <a:miter lim="800000"/>
            <a:headEnd/>
            <a:tailEnd/>
          </a:ln>
          <a:effectLst/>
        </p:spPr>
        <p:txBody>
          <a:bodyPr>
            <a:spAutoFit/>
          </a:bodyPr>
          <a:lstStyle/>
          <a:p>
            <a:pPr>
              <a:spcBef>
                <a:spcPct val="50000"/>
              </a:spcBef>
            </a:pPr>
            <a:r>
              <a:rPr lang="fi-FI">
                <a:latin typeface="Arial Narrow" pitchFamily="34" charset="0"/>
              </a:rPr>
              <a:t>Ei korjata näissä projekteissa, voidaan mennä tuotantoon ilman tätä. </a:t>
            </a:r>
          </a:p>
          <a:p>
            <a:pPr>
              <a:spcBef>
                <a:spcPct val="50000"/>
              </a:spcBef>
            </a:pPr>
            <a:r>
              <a:rPr lang="fi-FI">
                <a:latin typeface="Arial Narrow" pitchFamily="34" charset="0"/>
              </a:rPr>
              <a:t>Aidosti ongelma, joka joskus haluttaisiin korjata / muuttaa, mutta jonka kanssa voidaan elää toistaiseksi.</a:t>
            </a:r>
            <a:endParaRPr lang="en-US">
              <a:latin typeface="Arial Narrow" pitchFamily="34" charset="0"/>
            </a:endParaRPr>
          </a:p>
        </p:txBody>
      </p:sp>
      <p:sp>
        <p:nvSpPr>
          <p:cNvPr id="41992" name="Text Box 8"/>
          <p:cNvSpPr txBox="1">
            <a:spLocks noChangeArrowheads="1"/>
          </p:cNvSpPr>
          <p:nvPr/>
        </p:nvSpPr>
        <p:spPr bwMode="auto">
          <a:xfrm>
            <a:off x="3201988" y="2349500"/>
            <a:ext cx="2665412" cy="1190625"/>
          </a:xfrm>
          <a:prstGeom prst="rect">
            <a:avLst/>
          </a:prstGeom>
          <a:noFill/>
          <a:ln w="9525" algn="ctr">
            <a:noFill/>
            <a:miter lim="800000"/>
            <a:headEnd/>
            <a:tailEnd/>
          </a:ln>
          <a:effectLst/>
        </p:spPr>
        <p:txBody>
          <a:bodyPr>
            <a:spAutoFit/>
          </a:bodyPr>
          <a:lstStyle/>
          <a:p>
            <a:pPr>
              <a:spcBef>
                <a:spcPct val="50000"/>
              </a:spcBef>
            </a:pPr>
            <a:r>
              <a:rPr lang="fi-FI">
                <a:latin typeface="Arial Narrow" pitchFamily="34" charset="0"/>
              </a:rPr>
              <a:t>Korjattu, ei enää ongelma. Korjaus varmistettu. Korjaus kohdistui joko järjestelmään tai sen dokumentaatioon. </a:t>
            </a:r>
            <a:endParaRPr lang="en-US">
              <a:latin typeface="Arial Narrow" pitchFamily="34" charset="0"/>
            </a:endParaRPr>
          </a:p>
        </p:txBody>
      </p:sp>
      <p:sp>
        <p:nvSpPr>
          <p:cNvPr id="41993" name="Text Box 9"/>
          <p:cNvSpPr txBox="1">
            <a:spLocks noChangeArrowheads="1"/>
          </p:cNvSpPr>
          <p:nvPr/>
        </p:nvSpPr>
        <p:spPr bwMode="auto">
          <a:xfrm>
            <a:off x="6083300" y="2349500"/>
            <a:ext cx="2881313" cy="3498850"/>
          </a:xfrm>
          <a:prstGeom prst="rect">
            <a:avLst/>
          </a:prstGeom>
          <a:noFill/>
          <a:ln w="9525" algn="ctr">
            <a:noFill/>
            <a:miter lim="800000"/>
            <a:headEnd/>
            <a:tailEnd/>
          </a:ln>
          <a:effectLst/>
        </p:spPr>
        <p:txBody>
          <a:bodyPr>
            <a:spAutoFit/>
          </a:bodyPr>
          <a:lstStyle/>
          <a:p>
            <a:pPr>
              <a:spcBef>
                <a:spcPct val="50000"/>
              </a:spcBef>
            </a:pPr>
            <a:r>
              <a:rPr lang="fi-FI">
                <a:latin typeface="Arial Narrow" pitchFamily="34" charset="0"/>
              </a:rPr>
              <a:t>Ei vaadittu korjauksia, raportti syystä tai toisesta aiheeton.  </a:t>
            </a:r>
          </a:p>
          <a:p>
            <a:pPr>
              <a:spcBef>
                <a:spcPct val="50000"/>
              </a:spcBef>
              <a:buFontTx/>
              <a:buChar char="-"/>
            </a:pPr>
            <a:r>
              <a:rPr lang="fi-FI" sz="1500">
                <a:latin typeface="Arial Narrow" pitchFamily="34" charset="0"/>
              </a:rPr>
              <a:t> Kaksoiskappale olemassaolevasta raportista (toisen havainnon linkki)</a:t>
            </a:r>
          </a:p>
          <a:p>
            <a:pPr>
              <a:spcBef>
                <a:spcPct val="50000"/>
              </a:spcBef>
              <a:buFontTx/>
              <a:buChar char="-"/>
            </a:pPr>
            <a:r>
              <a:rPr lang="fi-FI" sz="1500">
                <a:latin typeface="Arial Narrow" pitchFamily="34" charset="0"/>
              </a:rPr>
              <a:t> Ei toistu yrittämisestä huolimatta, yritys suhteessa havainnon tärkeyteen</a:t>
            </a:r>
          </a:p>
          <a:p>
            <a:pPr>
              <a:spcBef>
                <a:spcPct val="50000"/>
              </a:spcBef>
              <a:buFontTx/>
              <a:buChar char="-"/>
            </a:pPr>
            <a:r>
              <a:rPr lang="fi-FI" sz="1500">
                <a:latin typeface="Arial Narrow" pitchFamily="34" charset="0"/>
              </a:rPr>
              <a:t> Toimii kuten pitikin – ja ei tule muuttumaan</a:t>
            </a:r>
          </a:p>
          <a:p>
            <a:pPr>
              <a:spcBef>
                <a:spcPct val="50000"/>
              </a:spcBef>
              <a:buFontTx/>
              <a:buChar char="-"/>
            </a:pPr>
            <a:r>
              <a:rPr lang="fi-FI" sz="1500">
                <a:latin typeface="Arial Narrow" pitchFamily="34" charset="0"/>
              </a:rPr>
              <a:t> Ei korjata syystä tai toisesta – ei nyt eikä nähtävissä olevassa tulevaisuudessa</a:t>
            </a:r>
          </a:p>
          <a:p>
            <a:pPr>
              <a:spcBef>
                <a:spcPct val="50000"/>
              </a:spcBef>
              <a:buFontTx/>
              <a:buChar char="-"/>
            </a:pPr>
            <a:r>
              <a:rPr lang="fi-FI" sz="1500">
                <a:latin typeface="Arial Narrow" pitchFamily="34" charset="0"/>
              </a:rPr>
              <a:t> Ei ollut ongelma, väärinymmärrys</a:t>
            </a:r>
          </a:p>
        </p:txBody>
      </p:sp>
      <p:sp>
        <p:nvSpPr>
          <p:cNvPr id="10" name="Slide Number Placeholder 9"/>
          <p:cNvSpPr>
            <a:spLocks noGrp="1"/>
          </p:cNvSpPr>
          <p:nvPr>
            <p:ph type="sldNum" sz="quarter" idx="12"/>
          </p:nvPr>
        </p:nvSpPr>
        <p:spPr/>
        <p:txBody>
          <a:bodyPr/>
          <a:lstStyle/>
          <a:p>
            <a:fld id="{1FC54B03-E980-44E0-A0F1-6CAD9D10ECFB}" type="slidenum">
              <a:rPr lang="fi-FI" smtClean="0"/>
              <a:pPr/>
              <a:t>135</a:t>
            </a:fld>
            <a:endParaRPr lang="fi-FI"/>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fi-FI" dirty="0" smtClean="0"/>
              <a:t>Testiympäristöt ja -aineistot</a:t>
            </a:r>
            <a:endParaRPr lang="fi-FI" dirty="0"/>
          </a:p>
        </p:txBody>
      </p:sp>
      <p:sp>
        <p:nvSpPr>
          <p:cNvPr id="5" name="Text Placeholder 4"/>
          <p:cNvSpPr>
            <a:spLocks noGrp="1"/>
          </p:cNvSpPr>
          <p:nvPr>
            <p:ph type="body" idx="1"/>
          </p:nvPr>
        </p:nvSpPr>
        <p:spPr/>
        <p:txBody>
          <a:bodyPr/>
          <a:lstStyle/>
          <a:p>
            <a:endParaRPr lang="fi-FI" dirty="0"/>
          </a:p>
        </p:txBody>
      </p:sp>
      <p:sp>
        <p:nvSpPr>
          <p:cNvPr id="6" name="Slide Number Placeholder 5"/>
          <p:cNvSpPr>
            <a:spLocks noGrp="1"/>
          </p:cNvSpPr>
          <p:nvPr>
            <p:ph type="sldNum" sz="quarter" idx="12"/>
          </p:nvPr>
        </p:nvSpPr>
        <p:spPr/>
        <p:txBody>
          <a:bodyPr/>
          <a:lstStyle/>
          <a:p>
            <a:fld id="{1FC54B03-E980-44E0-A0F1-6CAD9D10ECFB}" type="slidenum">
              <a:rPr lang="fi-FI" smtClean="0"/>
              <a:pPr/>
              <a:t>136</a:t>
            </a:fld>
            <a:endParaRPr lang="fi-FI"/>
          </a:p>
        </p:txBody>
      </p:sp>
    </p:spTree>
  </p:cSld>
  <p:clrMapOvr>
    <a:masterClrMapping/>
  </p:clrMapOvr>
  <p:timing>
    <p:tnLst>
      <p:par>
        <p:cTn xmlns:p14="http://schemas.microsoft.com/office/powerpoint/2010/mai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Testaus tuotannossa?</a:t>
            </a:r>
            <a:endParaRPr lang="fi-FI" dirty="0"/>
          </a:p>
        </p:txBody>
      </p:sp>
      <p:sp>
        <p:nvSpPr>
          <p:cNvPr id="3" name="Content Placeholder 2"/>
          <p:cNvSpPr>
            <a:spLocks noGrp="1"/>
          </p:cNvSpPr>
          <p:nvPr>
            <p:ph sz="quarter" idx="1"/>
          </p:nvPr>
        </p:nvSpPr>
        <p:spPr/>
        <p:txBody>
          <a:bodyPr>
            <a:normAutofit fontScale="85000" lnSpcReduction="20000"/>
          </a:bodyPr>
          <a:lstStyle/>
          <a:p>
            <a:r>
              <a:rPr lang="fi-FI" dirty="0" smtClean="0"/>
              <a:t>On tilanteita, joissa testaaminen testiympäristössä ei ole mahdollista</a:t>
            </a:r>
          </a:p>
          <a:p>
            <a:pPr lvl="1"/>
            <a:r>
              <a:rPr lang="fi-FI" dirty="0" smtClean="0"/>
              <a:t>Testaus hallitusti mahdollisimman pian tuotannossa</a:t>
            </a:r>
          </a:p>
          <a:p>
            <a:pPr lvl="1"/>
            <a:r>
              <a:rPr lang="fi-FI" dirty="0" smtClean="0"/>
              <a:t>Toipumissuunnitelmat</a:t>
            </a:r>
          </a:p>
          <a:p>
            <a:r>
              <a:rPr lang="fi-FI" dirty="0" err="1" smtClean="0"/>
              <a:t>Pilotointi</a:t>
            </a:r>
            <a:r>
              <a:rPr lang="fi-FI" dirty="0" smtClean="0"/>
              <a:t>: hallittu käyttäjämäärän kasvattaminen</a:t>
            </a:r>
          </a:p>
          <a:p>
            <a:r>
              <a:rPr lang="fi-FI" dirty="0" smtClean="0"/>
              <a:t>Beta: julkaisua edeltävä koekäyttö</a:t>
            </a:r>
          </a:p>
          <a:p>
            <a:endParaRPr lang="fi-FI" dirty="0" smtClean="0"/>
          </a:p>
          <a:p>
            <a:r>
              <a:rPr lang="fi-FI" dirty="0" smtClean="0"/>
              <a:t>Muistettava lisäksi: idea ja tarve kannattaa testata mahdollisimman varhain (case: sanelukone)</a:t>
            </a:r>
          </a:p>
          <a:p>
            <a:pPr lvl="1"/>
            <a:r>
              <a:rPr lang="fi-FI" dirty="0" smtClean="0"/>
              <a:t>Uudet tai erilaiset ominaisuudet eivät ole hyväksymistestaukselta tavoiteltavia asioita</a:t>
            </a:r>
            <a:endParaRPr lang="fi-FI" dirty="0"/>
          </a:p>
        </p:txBody>
      </p:sp>
      <p:sp>
        <p:nvSpPr>
          <p:cNvPr id="4" name="Slide Number Placeholder 3"/>
          <p:cNvSpPr>
            <a:spLocks noGrp="1"/>
          </p:cNvSpPr>
          <p:nvPr>
            <p:ph type="sldNum" sz="quarter" idx="12"/>
          </p:nvPr>
        </p:nvSpPr>
        <p:spPr/>
        <p:txBody>
          <a:bodyPr/>
          <a:lstStyle/>
          <a:p>
            <a:fld id="{1FC54B03-E980-44E0-A0F1-6CAD9D10ECFB}" type="slidenum">
              <a:rPr lang="fi-FI" smtClean="0"/>
              <a:pPr/>
              <a:t>137</a:t>
            </a:fld>
            <a:endParaRPr lang="fi-FI"/>
          </a:p>
        </p:txBody>
      </p:sp>
    </p:spTree>
  </p:cSld>
  <p:clrMapOvr>
    <a:masterClrMapping/>
  </p:clrMapOvr>
  <p:timing>
    <p:tnLst>
      <p:par>
        <p:cTn xmlns:p14="http://schemas.microsoft.com/office/powerpoint/2010/mai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fi-FI" dirty="0"/>
              <a:t>Testiaineistot ja </a:t>
            </a:r>
            <a:r>
              <a:rPr lang="fi-FI" dirty="0" smtClean="0"/>
              <a:t>testiympäristöt</a:t>
            </a:r>
            <a:endParaRPr lang="en-US" dirty="0"/>
          </a:p>
        </p:txBody>
      </p:sp>
      <p:sp>
        <p:nvSpPr>
          <p:cNvPr id="36867" name="Rectangle 3"/>
          <p:cNvSpPr>
            <a:spLocks noGrp="1" noChangeArrowheads="1"/>
          </p:cNvSpPr>
          <p:nvPr>
            <p:ph type="body" idx="1"/>
          </p:nvPr>
        </p:nvSpPr>
        <p:spPr>
          <a:xfrm>
            <a:off x="547688" y="1484313"/>
            <a:ext cx="5319712" cy="4105275"/>
          </a:xfrm>
        </p:spPr>
        <p:txBody>
          <a:bodyPr/>
          <a:lstStyle/>
          <a:p>
            <a:r>
              <a:rPr lang="fi-FI" sz="2000"/>
              <a:t>Testatessasi käyttämän testiaineiston pitää olla samassa testausympäristössä kuin testaamasi sovellus</a:t>
            </a:r>
          </a:p>
          <a:p>
            <a:r>
              <a:rPr lang="fi-FI" sz="2000"/>
              <a:t>Aineiston pitää olla samassa tasossa muiden liittymäsovellusten aineistojen sekä muiden aineistojen kanssa jos varmistat kokonaistoiminnallisuuksia</a:t>
            </a:r>
            <a:endParaRPr lang="en-US" sz="2000"/>
          </a:p>
        </p:txBody>
      </p:sp>
      <p:sp>
        <p:nvSpPr>
          <p:cNvPr id="36868" name="AutoShape 4"/>
          <p:cNvSpPr>
            <a:spLocks noChangeArrowheads="1"/>
          </p:cNvSpPr>
          <p:nvPr/>
        </p:nvSpPr>
        <p:spPr bwMode="auto">
          <a:xfrm>
            <a:off x="6227763" y="4581525"/>
            <a:ext cx="936625" cy="792163"/>
          </a:xfrm>
          <a:prstGeom prst="can">
            <a:avLst>
              <a:gd name="adj" fmla="val 25000"/>
            </a:avLst>
          </a:prstGeom>
          <a:solidFill>
            <a:schemeClr val="folHlink"/>
          </a:solidFill>
          <a:ln w="9525">
            <a:solidFill>
              <a:schemeClr val="tx1"/>
            </a:solidFill>
            <a:round/>
            <a:headEnd/>
            <a:tailEnd/>
          </a:ln>
          <a:effectLst/>
        </p:spPr>
        <p:txBody>
          <a:bodyPr wrap="none" anchor="ctr"/>
          <a:lstStyle/>
          <a:p>
            <a:pPr algn="ctr"/>
            <a:endParaRPr lang="en-US" sz="1200"/>
          </a:p>
        </p:txBody>
      </p:sp>
      <p:sp>
        <p:nvSpPr>
          <p:cNvPr id="36869" name="AutoShape 5"/>
          <p:cNvSpPr>
            <a:spLocks noChangeArrowheads="1"/>
          </p:cNvSpPr>
          <p:nvPr/>
        </p:nvSpPr>
        <p:spPr bwMode="auto">
          <a:xfrm>
            <a:off x="1042988" y="4795838"/>
            <a:ext cx="1368425" cy="1223962"/>
          </a:xfrm>
          <a:prstGeom prst="can">
            <a:avLst>
              <a:gd name="adj" fmla="val 25000"/>
            </a:avLst>
          </a:prstGeom>
          <a:solidFill>
            <a:schemeClr val="accent1"/>
          </a:solidFill>
          <a:ln w="9525">
            <a:solidFill>
              <a:schemeClr val="tx1"/>
            </a:solidFill>
            <a:round/>
            <a:headEnd/>
            <a:tailEnd/>
          </a:ln>
          <a:effectLst/>
        </p:spPr>
        <p:txBody>
          <a:bodyPr wrap="none" anchor="ctr"/>
          <a:lstStyle/>
          <a:p>
            <a:pPr algn="ctr"/>
            <a:r>
              <a:rPr lang="fi-FI"/>
              <a:t>tietovarasto</a:t>
            </a:r>
            <a:endParaRPr lang="en-US"/>
          </a:p>
        </p:txBody>
      </p:sp>
      <p:sp>
        <p:nvSpPr>
          <p:cNvPr id="36870" name="AutoShape 6"/>
          <p:cNvSpPr>
            <a:spLocks noChangeArrowheads="1"/>
          </p:cNvSpPr>
          <p:nvPr/>
        </p:nvSpPr>
        <p:spPr bwMode="auto">
          <a:xfrm>
            <a:off x="2627313" y="4724400"/>
            <a:ext cx="936625" cy="792163"/>
          </a:xfrm>
          <a:prstGeom prst="can">
            <a:avLst>
              <a:gd name="adj" fmla="val 25000"/>
            </a:avLst>
          </a:prstGeom>
          <a:solidFill>
            <a:schemeClr val="accent1"/>
          </a:solidFill>
          <a:ln w="9525">
            <a:solidFill>
              <a:schemeClr val="tx1"/>
            </a:solidFill>
            <a:round/>
            <a:headEnd/>
            <a:tailEnd/>
          </a:ln>
          <a:effectLst/>
        </p:spPr>
        <p:txBody>
          <a:bodyPr wrap="none" anchor="ctr"/>
          <a:lstStyle/>
          <a:p>
            <a:pPr algn="ctr"/>
            <a:endParaRPr lang="en-US" sz="1200"/>
          </a:p>
        </p:txBody>
      </p:sp>
      <p:sp>
        <p:nvSpPr>
          <p:cNvPr id="36871" name="AutoShape 7"/>
          <p:cNvSpPr>
            <a:spLocks noChangeArrowheads="1"/>
          </p:cNvSpPr>
          <p:nvPr/>
        </p:nvSpPr>
        <p:spPr bwMode="auto">
          <a:xfrm>
            <a:off x="3635375" y="4868863"/>
            <a:ext cx="936625" cy="792162"/>
          </a:xfrm>
          <a:prstGeom prst="can">
            <a:avLst>
              <a:gd name="adj" fmla="val 25000"/>
            </a:avLst>
          </a:prstGeom>
          <a:solidFill>
            <a:schemeClr val="accent1"/>
          </a:solidFill>
          <a:ln w="9525">
            <a:solidFill>
              <a:schemeClr val="tx1"/>
            </a:solidFill>
            <a:round/>
            <a:headEnd/>
            <a:tailEnd/>
          </a:ln>
          <a:effectLst/>
        </p:spPr>
        <p:txBody>
          <a:bodyPr wrap="none" anchor="ctr"/>
          <a:lstStyle/>
          <a:p>
            <a:pPr algn="ctr"/>
            <a:endParaRPr lang="en-US" sz="1200"/>
          </a:p>
        </p:txBody>
      </p:sp>
      <p:sp>
        <p:nvSpPr>
          <p:cNvPr id="36872" name="AutoShape 8"/>
          <p:cNvSpPr>
            <a:spLocks noChangeArrowheads="1"/>
          </p:cNvSpPr>
          <p:nvPr/>
        </p:nvSpPr>
        <p:spPr bwMode="auto">
          <a:xfrm>
            <a:off x="2843213" y="5372100"/>
            <a:ext cx="936625" cy="792163"/>
          </a:xfrm>
          <a:prstGeom prst="can">
            <a:avLst>
              <a:gd name="adj" fmla="val 25000"/>
            </a:avLst>
          </a:prstGeom>
          <a:solidFill>
            <a:schemeClr val="accent1"/>
          </a:solidFill>
          <a:ln w="9525">
            <a:solidFill>
              <a:schemeClr val="tx1"/>
            </a:solidFill>
            <a:round/>
            <a:headEnd/>
            <a:tailEnd/>
          </a:ln>
          <a:effectLst/>
        </p:spPr>
        <p:txBody>
          <a:bodyPr wrap="none" anchor="ctr"/>
          <a:lstStyle/>
          <a:p>
            <a:pPr algn="ctr"/>
            <a:endParaRPr lang="en-US" sz="1200"/>
          </a:p>
        </p:txBody>
      </p:sp>
      <p:sp>
        <p:nvSpPr>
          <p:cNvPr id="36874" name="AutoShape 10"/>
          <p:cNvSpPr>
            <a:spLocks noChangeArrowheads="1"/>
          </p:cNvSpPr>
          <p:nvPr/>
        </p:nvSpPr>
        <p:spPr bwMode="auto">
          <a:xfrm>
            <a:off x="5507038" y="4941888"/>
            <a:ext cx="936625" cy="792162"/>
          </a:xfrm>
          <a:prstGeom prst="can">
            <a:avLst>
              <a:gd name="adj" fmla="val 25000"/>
            </a:avLst>
          </a:prstGeom>
          <a:solidFill>
            <a:schemeClr val="folHlink"/>
          </a:solidFill>
          <a:ln w="9525">
            <a:solidFill>
              <a:schemeClr val="tx1"/>
            </a:solidFill>
            <a:round/>
            <a:headEnd/>
            <a:tailEnd/>
          </a:ln>
          <a:effectLst/>
        </p:spPr>
        <p:txBody>
          <a:bodyPr wrap="none" anchor="ctr"/>
          <a:lstStyle/>
          <a:p>
            <a:pPr algn="ctr"/>
            <a:endParaRPr lang="en-US" sz="1200"/>
          </a:p>
        </p:txBody>
      </p:sp>
      <p:sp>
        <p:nvSpPr>
          <p:cNvPr id="36875" name="AutoShape 11"/>
          <p:cNvSpPr>
            <a:spLocks noChangeArrowheads="1"/>
          </p:cNvSpPr>
          <p:nvPr/>
        </p:nvSpPr>
        <p:spPr bwMode="auto">
          <a:xfrm>
            <a:off x="5795963" y="5445125"/>
            <a:ext cx="936625" cy="792163"/>
          </a:xfrm>
          <a:prstGeom prst="can">
            <a:avLst>
              <a:gd name="adj" fmla="val 25000"/>
            </a:avLst>
          </a:prstGeom>
          <a:solidFill>
            <a:schemeClr val="folHlink"/>
          </a:solidFill>
          <a:ln w="9525">
            <a:solidFill>
              <a:schemeClr val="tx1"/>
            </a:solidFill>
            <a:round/>
            <a:headEnd/>
            <a:tailEnd/>
          </a:ln>
          <a:effectLst/>
        </p:spPr>
        <p:txBody>
          <a:bodyPr wrap="none" anchor="ctr"/>
          <a:lstStyle/>
          <a:p>
            <a:pPr algn="ctr"/>
            <a:endParaRPr lang="en-US" sz="1200"/>
          </a:p>
        </p:txBody>
      </p:sp>
      <p:sp>
        <p:nvSpPr>
          <p:cNvPr id="36876" name="Rectangle 12"/>
          <p:cNvSpPr>
            <a:spLocks noChangeArrowheads="1"/>
          </p:cNvSpPr>
          <p:nvPr/>
        </p:nvSpPr>
        <p:spPr bwMode="auto">
          <a:xfrm>
            <a:off x="1403350" y="5732463"/>
            <a:ext cx="719138" cy="215900"/>
          </a:xfrm>
          <a:prstGeom prst="rect">
            <a:avLst/>
          </a:prstGeom>
          <a:solidFill>
            <a:schemeClr val="bg1"/>
          </a:solidFill>
          <a:ln w="9525" algn="ctr">
            <a:solidFill>
              <a:schemeClr val="tx1"/>
            </a:solidFill>
            <a:miter lim="800000"/>
            <a:headEnd/>
            <a:tailEnd/>
          </a:ln>
          <a:effectLst/>
        </p:spPr>
        <p:txBody>
          <a:bodyPr wrap="none" anchor="ctr"/>
          <a:lstStyle/>
          <a:p>
            <a:pPr algn="ctr"/>
            <a:r>
              <a:rPr lang="fi-FI" sz="900" dirty="0" smtClean="0">
                <a:latin typeface="Arial Narrow" pitchFamily="34" charset="0"/>
              </a:rPr>
              <a:t>AVAIN</a:t>
            </a:r>
            <a:endParaRPr lang="en-US" sz="900" dirty="0">
              <a:latin typeface="Arial Narrow" pitchFamily="34" charset="0"/>
            </a:endParaRPr>
          </a:p>
        </p:txBody>
      </p:sp>
      <p:sp>
        <p:nvSpPr>
          <p:cNvPr id="36877" name="Rectangle 13"/>
          <p:cNvSpPr>
            <a:spLocks noChangeArrowheads="1"/>
          </p:cNvSpPr>
          <p:nvPr/>
        </p:nvSpPr>
        <p:spPr bwMode="auto">
          <a:xfrm>
            <a:off x="2987675" y="5661025"/>
            <a:ext cx="719138" cy="215900"/>
          </a:xfrm>
          <a:prstGeom prst="rect">
            <a:avLst/>
          </a:prstGeom>
          <a:solidFill>
            <a:schemeClr val="bg1"/>
          </a:solidFill>
          <a:ln w="9525" algn="ctr">
            <a:solidFill>
              <a:schemeClr val="tx1"/>
            </a:solidFill>
            <a:miter lim="800000"/>
            <a:headEnd/>
            <a:tailEnd/>
          </a:ln>
          <a:effectLst/>
        </p:spPr>
        <p:txBody>
          <a:bodyPr wrap="none" anchor="ctr"/>
          <a:lstStyle/>
          <a:p>
            <a:pPr algn="ctr"/>
            <a:r>
              <a:rPr lang="fi-FI" sz="900" dirty="0" smtClean="0">
                <a:latin typeface="Arial Narrow" pitchFamily="34" charset="0"/>
              </a:rPr>
              <a:t>AVAIN</a:t>
            </a:r>
            <a:endParaRPr lang="en-US" sz="900" dirty="0">
              <a:latin typeface="Arial Narrow" pitchFamily="34" charset="0"/>
            </a:endParaRPr>
          </a:p>
        </p:txBody>
      </p:sp>
      <p:sp>
        <p:nvSpPr>
          <p:cNvPr id="36878" name="Rectangle 14"/>
          <p:cNvSpPr>
            <a:spLocks noChangeArrowheads="1"/>
          </p:cNvSpPr>
          <p:nvPr/>
        </p:nvSpPr>
        <p:spPr bwMode="auto">
          <a:xfrm>
            <a:off x="2771775" y="5011738"/>
            <a:ext cx="719138" cy="215900"/>
          </a:xfrm>
          <a:prstGeom prst="rect">
            <a:avLst/>
          </a:prstGeom>
          <a:solidFill>
            <a:schemeClr val="bg1"/>
          </a:solidFill>
          <a:ln w="9525" algn="ctr">
            <a:solidFill>
              <a:schemeClr val="tx1"/>
            </a:solidFill>
            <a:miter lim="800000"/>
            <a:headEnd/>
            <a:tailEnd/>
          </a:ln>
          <a:effectLst/>
        </p:spPr>
        <p:txBody>
          <a:bodyPr wrap="none" anchor="ctr"/>
          <a:lstStyle/>
          <a:p>
            <a:pPr algn="ctr"/>
            <a:r>
              <a:rPr lang="fi-FI" sz="900" dirty="0" smtClean="0">
                <a:latin typeface="Arial Narrow" pitchFamily="34" charset="0"/>
              </a:rPr>
              <a:t>AVAIN</a:t>
            </a:r>
            <a:endParaRPr lang="en-US" sz="900" dirty="0">
              <a:latin typeface="Arial Narrow" pitchFamily="34" charset="0"/>
            </a:endParaRPr>
          </a:p>
        </p:txBody>
      </p:sp>
      <p:sp>
        <p:nvSpPr>
          <p:cNvPr id="36879" name="Rectangle 15"/>
          <p:cNvSpPr>
            <a:spLocks noChangeArrowheads="1"/>
          </p:cNvSpPr>
          <p:nvPr/>
        </p:nvSpPr>
        <p:spPr bwMode="auto">
          <a:xfrm>
            <a:off x="3706813" y="5156200"/>
            <a:ext cx="719137" cy="215900"/>
          </a:xfrm>
          <a:prstGeom prst="rect">
            <a:avLst/>
          </a:prstGeom>
          <a:solidFill>
            <a:schemeClr val="bg1"/>
          </a:solidFill>
          <a:ln w="9525" algn="ctr">
            <a:solidFill>
              <a:schemeClr val="tx1"/>
            </a:solidFill>
            <a:miter lim="800000"/>
            <a:headEnd/>
            <a:tailEnd/>
          </a:ln>
          <a:effectLst/>
        </p:spPr>
        <p:txBody>
          <a:bodyPr wrap="none" anchor="ctr"/>
          <a:lstStyle/>
          <a:p>
            <a:pPr algn="ctr"/>
            <a:r>
              <a:rPr lang="fi-FI" sz="900" dirty="0" smtClean="0">
                <a:latin typeface="Arial Narrow" pitchFamily="34" charset="0"/>
              </a:rPr>
              <a:t>AVAIN</a:t>
            </a:r>
            <a:endParaRPr lang="en-US" sz="900" dirty="0">
              <a:latin typeface="Arial Narrow" pitchFamily="34" charset="0"/>
            </a:endParaRPr>
          </a:p>
        </p:txBody>
      </p:sp>
      <p:sp>
        <p:nvSpPr>
          <p:cNvPr id="36880" name="Rectangle 16"/>
          <p:cNvSpPr>
            <a:spLocks noChangeArrowheads="1"/>
          </p:cNvSpPr>
          <p:nvPr/>
        </p:nvSpPr>
        <p:spPr bwMode="auto">
          <a:xfrm>
            <a:off x="5940425" y="5734050"/>
            <a:ext cx="719138" cy="215900"/>
          </a:xfrm>
          <a:prstGeom prst="rect">
            <a:avLst/>
          </a:prstGeom>
          <a:solidFill>
            <a:schemeClr val="bg1"/>
          </a:solidFill>
          <a:ln w="9525" algn="ctr">
            <a:solidFill>
              <a:schemeClr val="tx1"/>
            </a:solidFill>
            <a:miter lim="800000"/>
            <a:headEnd/>
            <a:tailEnd/>
          </a:ln>
          <a:effectLst/>
        </p:spPr>
        <p:txBody>
          <a:bodyPr wrap="none" anchor="ctr"/>
          <a:lstStyle/>
          <a:p>
            <a:pPr algn="ctr"/>
            <a:r>
              <a:rPr lang="fi-FI" sz="900" dirty="0" smtClean="0">
                <a:latin typeface="Arial Narrow" pitchFamily="34" charset="0"/>
              </a:rPr>
              <a:t>AVAIN</a:t>
            </a:r>
            <a:endParaRPr lang="en-US" sz="900" dirty="0">
              <a:latin typeface="Arial Narrow" pitchFamily="34" charset="0"/>
            </a:endParaRPr>
          </a:p>
        </p:txBody>
      </p:sp>
      <p:sp>
        <p:nvSpPr>
          <p:cNvPr id="36881" name="Text Box 17"/>
          <p:cNvSpPr txBox="1">
            <a:spLocks noChangeArrowheads="1"/>
          </p:cNvSpPr>
          <p:nvPr/>
        </p:nvSpPr>
        <p:spPr bwMode="auto">
          <a:xfrm>
            <a:off x="1403350" y="4076700"/>
            <a:ext cx="2881313" cy="584775"/>
          </a:xfrm>
          <a:prstGeom prst="rect">
            <a:avLst/>
          </a:prstGeom>
          <a:noFill/>
          <a:ln w="9525" algn="ctr">
            <a:noFill/>
            <a:miter lim="800000"/>
            <a:headEnd/>
            <a:tailEnd/>
          </a:ln>
          <a:effectLst/>
        </p:spPr>
        <p:txBody>
          <a:bodyPr>
            <a:spAutoFit/>
          </a:bodyPr>
          <a:lstStyle/>
          <a:p>
            <a:pPr algn="ctr">
              <a:spcBef>
                <a:spcPct val="50000"/>
              </a:spcBef>
            </a:pPr>
            <a:r>
              <a:rPr lang="fi-FI" sz="1600" dirty="0" smtClean="0">
                <a:latin typeface="Arial Narrow" pitchFamily="34" charset="0"/>
              </a:rPr>
              <a:t>OMIEN </a:t>
            </a:r>
            <a:r>
              <a:rPr lang="fi-FI" sz="1600" dirty="0">
                <a:latin typeface="Arial Narrow" pitchFamily="34" charset="0"/>
              </a:rPr>
              <a:t>SOVELLUSTEN AINEISTOT</a:t>
            </a:r>
            <a:endParaRPr lang="en-US" sz="1600" dirty="0">
              <a:latin typeface="Arial Narrow" pitchFamily="34" charset="0"/>
            </a:endParaRPr>
          </a:p>
        </p:txBody>
      </p:sp>
      <p:sp>
        <p:nvSpPr>
          <p:cNvPr id="36882" name="Text Box 18"/>
          <p:cNvSpPr txBox="1">
            <a:spLocks noChangeArrowheads="1"/>
          </p:cNvSpPr>
          <p:nvPr/>
        </p:nvSpPr>
        <p:spPr bwMode="auto">
          <a:xfrm>
            <a:off x="4786313" y="4076700"/>
            <a:ext cx="2881312" cy="336550"/>
          </a:xfrm>
          <a:prstGeom prst="rect">
            <a:avLst/>
          </a:prstGeom>
          <a:noFill/>
          <a:ln w="9525" algn="ctr">
            <a:noFill/>
            <a:miter lim="800000"/>
            <a:headEnd/>
            <a:tailEnd/>
          </a:ln>
          <a:effectLst/>
        </p:spPr>
        <p:txBody>
          <a:bodyPr>
            <a:spAutoFit/>
          </a:bodyPr>
          <a:lstStyle/>
          <a:p>
            <a:pPr algn="ctr">
              <a:spcBef>
                <a:spcPct val="50000"/>
              </a:spcBef>
            </a:pPr>
            <a:r>
              <a:rPr lang="fi-FI" sz="1600">
                <a:latin typeface="Arial Narrow" pitchFamily="34" charset="0"/>
              </a:rPr>
              <a:t>MUIDEN AINEISTOT</a:t>
            </a:r>
            <a:endParaRPr lang="en-US" sz="1600">
              <a:latin typeface="Arial Narrow" pitchFamily="34" charset="0"/>
            </a:endParaRPr>
          </a:p>
        </p:txBody>
      </p:sp>
      <p:sp>
        <p:nvSpPr>
          <p:cNvPr id="36883" name="AutoShape 19"/>
          <p:cNvSpPr>
            <a:spLocks noChangeArrowheads="1"/>
          </p:cNvSpPr>
          <p:nvPr/>
        </p:nvSpPr>
        <p:spPr bwMode="auto">
          <a:xfrm>
            <a:off x="4787900" y="5084763"/>
            <a:ext cx="360363" cy="719137"/>
          </a:xfrm>
          <a:prstGeom prst="leftRightArrow">
            <a:avLst>
              <a:gd name="adj1" fmla="val 50000"/>
              <a:gd name="adj2" fmla="val 20000"/>
            </a:avLst>
          </a:prstGeom>
          <a:solidFill>
            <a:srgbClr val="FF3300"/>
          </a:solidFill>
          <a:ln w="9525" algn="ctr">
            <a:solidFill>
              <a:schemeClr val="tx1"/>
            </a:solidFill>
            <a:miter lim="800000"/>
            <a:headEnd/>
            <a:tailEnd/>
          </a:ln>
          <a:effectLst/>
        </p:spPr>
        <p:txBody>
          <a:bodyPr wrap="none" anchor="ctr"/>
          <a:lstStyle/>
          <a:p>
            <a:endParaRPr lang="fi-FI"/>
          </a:p>
        </p:txBody>
      </p:sp>
      <p:sp>
        <p:nvSpPr>
          <p:cNvPr id="36884" name="AutoShape 20"/>
          <p:cNvSpPr>
            <a:spLocks noChangeArrowheads="1"/>
          </p:cNvSpPr>
          <p:nvPr/>
        </p:nvSpPr>
        <p:spPr bwMode="auto">
          <a:xfrm>
            <a:off x="7451725" y="5011738"/>
            <a:ext cx="936625" cy="792162"/>
          </a:xfrm>
          <a:prstGeom prst="can">
            <a:avLst>
              <a:gd name="adj" fmla="val 25000"/>
            </a:avLst>
          </a:prstGeom>
          <a:solidFill>
            <a:srgbClr val="FFFF00"/>
          </a:solidFill>
          <a:ln w="9525">
            <a:solidFill>
              <a:schemeClr val="tx1"/>
            </a:solidFill>
            <a:round/>
            <a:headEnd/>
            <a:tailEnd/>
          </a:ln>
          <a:effectLst/>
        </p:spPr>
        <p:txBody>
          <a:bodyPr wrap="none" anchor="ctr"/>
          <a:lstStyle/>
          <a:p>
            <a:pPr algn="ctr"/>
            <a:endParaRPr lang="en-US" sz="1200"/>
          </a:p>
        </p:txBody>
      </p:sp>
      <p:sp>
        <p:nvSpPr>
          <p:cNvPr id="36885" name="AutoShape 21"/>
          <p:cNvSpPr>
            <a:spLocks noChangeArrowheads="1"/>
          </p:cNvSpPr>
          <p:nvPr/>
        </p:nvSpPr>
        <p:spPr bwMode="auto">
          <a:xfrm>
            <a:off x="7739063" y="5516563"/>
            <a:ext cx="936625" cy="792162"/>
          </a:xfrm>
          <a:prstGeom prst="can">
            <a:avLst>
              <a:gd name="adj" fmla="val 25000"/>
            </a:avLst>
          </a:prstGeom>
          <a:solidFill>
            <a:srgbClr val="FFFF00"/>
          </a:solidFill>
          <a:ln w="9525">
            <a:solidFill>
              <a:schemeClr val="tx1"/>
            </a:solidFill>
            <a:round/>
            <a:headEnd/>
            <a:tailEnd/>
          </a:ln>
          <a:effectLst/>
        </p:spPr>
        <p:txBody>
          <a:bodyPr wrap="none" anchor="ctr"/>
          <a:lstStyle/>
          <a:p>
            <a:pPr algn="ctr"/>
            <a:endParaRPr lang="en-US" sz="1200"/>
          </a:p>
        </p:txBody>
      </p:sp>
      <p:sp>
        <p:nvSpPr>
          <p:cNvPr id="36873" name="Rectangle 9"/>
          <p:cNvSpPr>
            <a:spLocks noChangeArrowheads="1"/>
          </p:cNvSpPr>
          <p:nvPr/>
        </p:nvSpPr>
        <p:spPr bwMode="auto">
          <a:xfrm>
            <a:off x="7810500" y="5805488"/>
            <a:ext cx="719138" cy="215900"/>
          </a:xfrm>
          <a:prstGeom prst="rect">
            <a:avLst/>
          </a:prstGeom>
          <a:solidFill>
            <a:schemeClr val="bg1"/>
          </a:solidFill>
          <a:ln w="9525" algn="ctr">
            <a:solidFill>
              <a:schemeClr val="tx1"/>
            </a:solidFill>
            <a:miter lim="800000"/>
            <a:headEnd/>
            <a:tailEnd/>
          </a:ln>
          <a:effectLst/>
        </p:spPr>
        <p:txBody>
          <a:bodyPr wrap="none" anchor="ctr"/>
          <a:lstStyle/>
          <a:p>
            <a:pPr algn="ctr"/>
            <a:r>
              <a:rPr lang="fi-FI" sz="900" dirty="0" smtClean="0">
                <a:latin typeface="Arial Narrow" pitchFamily="34" charset="0"/>
              </a:rPr>
              <a:t>AVAIN</a:t>
            </a:r>
            <a:endParaRPr lang="en-US" sz="900" dirty="0">
              <a:latin typeface="Arial Narrow" pitchFamily="34" charset="0"/>
            </a:endParaRPr>
          </a:p>
        </p:txBody>
      </p:sp>
      <p:sp>
        <p:nvSpPr>
          <p:cNvPr id="36886" name="Rectangle 22"/>
          <p:cNvSpPr>
            <a:spLocks noChangeArrowheads="1"/>
          </p:cNvSpPr>
          <p:nvPr/>
        </p:nvSpPr>
        <p:spPr bwMode="auto">
          <a:xfrm>
            <a:off x="6011863" y="1484313"/>
            <a:ext cx="3024187" cy="2232025"/>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a:lstStyle/>
          <a:p>
            <a:pPr marL="342900" indent="-342900">
              <a:spcBef>
                <a:spcPct val="20000"/>
              </a:spcBef>
              <a:buClr>
                <a:schemeClr val="accent2"/>
              </a:buClr>
            </a:pPr>
            <a:r>
              <a:rPr lang="fi-FI" sz="1400" dirty="0">
                <a:solidFill>
                  <a:schemeClr val="bg1"/>
                </a:solidFill>
                <a:latin typeface="Arial Narrow" pitchFamily="34" charset="0"/>
              </a:rPr>
              <a:t>TIETOKANTA-AINEISTOT</a:t>
            </a:r>
          </a:p>
          <a:p>
            <a:pPr marL="342900" indent="-342900">
              <a:spcBef>
                <a:spcPct val="20000"/>
              </a:spcBef>
              <a:buClr>
                <a:schemeClr val="accent2"/>
              </a:buClr>
              <a:buFontTx/>
              <a:buChar char="•"/>
            </a:pPr>
            <a:r>
              <a:rPr lang="fi-FI" sz="1400" dirty="0">
                <a:solidFill>
                  <a:schemeClr val="bg1"/>
                </a:solidFill>
              </a:rPr>
              <a:t>Tallennetaan kannoissa</a:t>
            </a:r>
          </a:p>
          <a:p>
            <a:pPr marL="342900" indent="-342900">
              <a:spcBef>
                <a:spcPct val="20000"/>
              </a:spcBef>
              <a:buClr>
                <a:schemeClr val="accent2"/>
              </a:buClr>
              <a:buFontTx/>
              <a:buChar char="•"/>
            </a:pPr>
            <a:r>
              <a:rPr lang="fi-FI" sz="1400" dirty="0">
                <a:solidFill>
                  <a:schemeClr val="bg1"/>
                </a:solidFill>
              </a:rPr>
              <a:t>Kokonaisuus mahdollisesti hajautettu, eheysvaatimuksia kunnioitettava</a:t>
            </a:r>
          </a:p>
          <a:p>
            <a:pPr marL="342900" indent="-342900">
              <a:spcBef>
                <a:spcPct val="20000"/>
              </a:spcBef>
              <a:buClr>
                <a:schemeClr val="accent2"/>
              </a:buClr>
              <a:buFontTx/>
              <a:buChar char="•"/>
            </a:pPr>
            <a:r>
              <a:rPr lang="fi-FI" sz="1400" dirty="0">
                <a:solidFill>
                  <a:schemeClr val="bg1"/>
                </a:solidFill>
              </a:rPr>
              <a:t>Aineistomassat tuotannonkaltaisessa tilanteessa merkittäviä, siirtäminen työlästä / kallista</a:t>
            </a:r>
            <a:endParaRPr lang="en-US" sz="1400" dirty="0">
              <a:solidFill>
                <a:schemeClr val="bg1"/>
              </a:solidFill>
            </a:endParaRPr>
          </a:p>
        </p:txBody>
      </p:sp>
      <p:sp>
        <p:nvSpPr>
          <p:cNvPr id="23" name="Slide Number Placeholder 22"/>
          <p:cNvSpPr>
            <a:spLocks noGrp="1"/>
          </p:cNvSpPr>
          <p:nvPr>
            <p:ph type="sldNum" sz="quarter" idx="12"/>
          </p:nvPr>
        </p:nvSpPr>
        <p:spPr/>
        <p:txBody>
          <a:bodyPr/>
          <a:lstStyle/>
          <a:p>
            <a:fld id="{7A750B4A-325E-4AA4-BC07-A8C35B32A4F3}" type="slidenum">
              <a:rPr lang="fi-FI" smtClean="0"/>
              <a:pPr/>
              <a:t>138</a:t>
            </a:fld>
            <a:endParaRPr lang="fi-FI"/>
          </a:p>
        </p:txBody>
      </p:sp>
    </p:spTree>
  </p:cSld>
  <p:clrMapOvr>
    <a:masterClrMapping/>
  </p:clrMapOvr>
  <p:timing>
    <p:tnLst>
      <p:par>
        <p:cTn xmlns:p14="http://schemas.microsoft.com/office/powerpoint/2010/mai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4" name="Rectangle 4"/>
          <p:cNvSpPr>
            <a:spLocks noGrp="1" noChangeArrowheads="1"/>
          </p:cNvSpPr>
          <p:nvPr>
            <p:ph type="title"/>
          </p:nvPr>
        </p:nvSpPr>
        <p:spPr/>
        <p:txBody>
          <a:bodyPr/>
          <a:lstStyle/>
          <a:p>
            <a:r>
              <a:rPr lang="fi-FI"/>
              <a:t>Testiaineistoprosessi</a:t>
            </a:r>
            <a:endParaRPr lang="en-US"/>
          </a:p>
        </p:txBody>
      </p:sp>
      <p:sp>
        <p:nvSpPr>
          <p:cNvPr id="56325" name="Rectangle 5"/>
          <p:cNvSpPr>
            <a:spLocks noChangeArrowheads="1"/>
          </p:cNvSpPr>
          <p:nvPr/>
        </p:nvSpPr>
        <p:spPr bwMode="auto">
          <a:xfrm>
            <a:off x="323850" y="1557338"/>
            <a:ext cx="2087563" cy="792162"/>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r>
              <a:rPr lang="fi-FI">
                <a:latin typeface="Arial Narrow" pitchFamily="34" charset="0"/>
              </a:rPr>
              <a:t>VALIKOINTI</a:t>
            </a:r>
            <a:endParaRPr lang="en-US">
              <a:latin typeface="Arial Narrow" pitchFamily="34" charset="0"/>
            </a:endParaRPr>
          </a:p>
        </p:txBody>
      </p:sp>
      <p:sp>
        <p:nvSpPr>
          <p:cNvPr id="56326" name="Rectangle 6"/>
          <p:cNvSpPr>
            <a:spLocks noChangeArrowheads="1"/>
          </p:cNvSpPr>
          <p:nvPr/>
        </p:nvSpPr>
        <p:spPr bwMode="auto">
          <a:xfrm>
            <a:off x="3421063" y="1557338"/>
            <a:ext cx="2087562" cy="792162"/>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r>
              <a:rPr lang="fi-FI">
                <a:latin typeface="Arial Narrow" pitchFamily="34" charset="0"/>
              </a:rPr>
              <a:t>POIMINTA/LUONTI JA </a:t>
            </a:r>
            <a:br>
              <a:rPr lang="fi-FI">
                <a:latin typeface="Arial Narrow" pitchFamily="34" charset="0"/>
              </a:rPr>
            </a:br>
            <a:r>
              <a:rPr lang="fi-FI">
                <a:latin typeface="Arial Narrow" pitchFamily="34" charset="0"/>
              </a:rPr>
              <a:t>VARAUS</a:t>
            </a:r>
            <a:endParaRPr lang="en-US">
              <a:latin typeface="Arial Narrow" pitchFamily="34" charset="0"/>
            </a:endParaRPr>
          </a:p>
        </p:txBody>
      </p:sp>
      <p:sp>
        <p:nvSpPr>
          <p:cNvPr id="56327" name="Text Box 7"/>
          <p:cNvSpPr txBox="1">
            <a:spLocks noChangeArrowheads="1"/>
          </p:cNvSpPr>
          <p:nvPr/>
        </p:nvSpPr>
        <p:spPr bwMode="auto">
          <a:xfrm>
            <a:off x="323850" y="2492375"/>
            <a:ext cx="2087563" cy="1328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fi-FI">
                <a:latin typeface="Arial Narrow" pitchFamily="34" charset="0"/>
              </a:rPr>
              <a:t>Aineistokriteerit</a:t>
            </a:r>
          </a:p>
          <a:p>
            <a:pPr>
              <a:spcBef>
                <a:spcPct val="50000"/>
              </a:spcBef>
            </a:pPr>
            <a:r>
              <a:rPr lang="fi-FI">
                <a:latin typeface="Arial Narrow" pitchFamily="34" charset="0"/>
              </a:rPr>
              <a:t>Kriteerejä vastaavan avaimen (hetu/vakno) löytäminen</a:t>
            </a:r>
            <a:endParaRPr lang="en-US">
              <a:latin typeface="Arial Narrow" pitchFamily="34" charset="0"/>
            </a:endParaRPr>
          </a:p>
        </p:txBody>
      </p:sp>
      <p:sp>
        <p:nvSpPr>
          <p:cNvPr id="56328" name="Text Box 8"/>
          <p:cNvSpPr txBox="1">
            <a:spLocks noChangeArrowheads="1"/>
          </p:cNvSpPr>
          <p:nvPr/>
        </p:nvSpPr>
        <p:spPr bwMode="auto">
          <a:xfrm>
            <a:off x="3419475" y="2492375"/>
            <a:ext cx="2087563" cy="160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fi-FI">
                <a:latin typeface="Arial Narrow" pitchFamily="34" charset="0"/>
              </a:rPr>
              <a:t>Aineiston tuominen käytettävään testiympäristöön</a:t>
            </a:r>
          </a:p>
          <a:p>
            <a:pPr>
              <a:spcBef>
                <a:spcPct val="50000"/>
              </a:spcBef>
            </a:pPr>
            <a:r>
              <a:rPr lang="fi-FI">
                <a:latin typeface="Arial Narrow" pitchFamily="34" charset="0"/>
              </a:rPr>
              <a:t>Aineiston varaaminen omaan käyttöön</a:t>
            </a:r>
            <a:endParaRPr lang="en-US">
              <a:latin typeface="Arial Narrow" pitchFamily="34" charset="0"/>
            </a:endParaRPr>
          </a:p>
        </p:txBody>
      </p:sp>
      <p:sp>
        <p:nvSpPr>
          <p:cNvPr id="56329" name="Rectangle 9"/>
          <p:cNvSpPr>
            <a:spLocks noChangeArrowheads="1"/>
          </p:cNvSpPr>
          <p:nvPr/>
        </p:nvSpPr>
        <p:spPr bwMode="auto">
          <a:xfrm>
            <a:off x="6516688" y="1557338"/>
            <a:ext cx="2087562" cy="792162"/>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r>
              <a:rPr lang="fi-FI">
                <a:latin typeface="Arial Narrow" pitchFamily="34" charset="0"/>
              </a:rPr>
              <a:t>MUOKKAAMINEN</a:t>
            </a:r>
            <a:endParaRPr lang="en-US">
              <a:latin typeface="Arial Narrow" pitchFamily="34" charset="0"/>
            </a:endParaRPr>
          </a:p>
        </p:txBody>
      </p:sp>
      <p:sp>
        <p:nvSpPr>
          <p:cNvPr id="56330" name="Text Box 10"/>
          <p:cNvSpPr txBox="1">
            <a:spLocks noChangeArrowheads="1"/>
          </p:cNvSpPr>
          <p:nvPr/>
        </p:nvSpPr>
        <p:spPr bwMode="auto">
          <a:xfrm>
            <a:off x="6516688" y="2492375"/>
            <a:ext cx="2087562" cy="215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fi-FI">
                <a:latin typeface="Arial Narrow" pitchFamily="34" charset="0"/>
              </a:rPr>
              <a:t>Aineiston ominaisuuksien muuntaminen sovelluksia käyttäen</a:t>
            </a:r>
          </a:p>
          <a:p>
            <a:pPr>
              <a:spcBef>
                <a:spcPct val="50000"/>
              </a:spcBef>
            </a:pPr>
            <a:r>
              <a:rPr lang="fi-FI">
                <a:latin typeface="Arial Narrow" pitchFamily="34" charset="0"/>
              </a:rPr>
              <a:t>Viimeisimmän tilanteen päivitys tuotannosta</a:t>
            </a:r>
            <a:endParaRPr lang="en-US">
              <a:latin typeface="Arial Narrow" pitchFamily="34" charset="0"/>
            </a:endParaRPr>
          </a:p>
        </p:txBody>
      </p:sp>
      <p:sp>
        <p:nvSpPr>
          <p:cNvPr id="56331" name="Text Box 11"/>
          <p:cNvSpPr txBox="1">
            <a:spLocks noChangeArrowheads="1"/>
          </p:cNvSpPr>
          <p:nvPr/>
        </p:nvSpPr>
        <p:spPr bwMode="auto">
          <a:xfrm>
            <a:off x="323850" y="4005263"/>
            <a:ext cx="2087563" cy="2103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fi-FI" sz="1200" u="sng">
                <a:solidFill>
                  <a:schemeClr val="accent2"/>
                </a:solidFill>
                <a:latin typeface="Arial Narrow" pitchFamily="34" charset="0"/>
              </a:rPr>
              <a:t>KEINOJA</a:t>
            </a:r>
            <a:r>
              <a:rPr lang="fi-FI" sz="1200">
                <a:solidFill>
                  <a:schemeClr val="accent2"/>
                </a:solidFill>
                <a:latin typeface="Arial Narrow" pitchFamily="34" charset="0"/>
              </a:rPr>
              <a:t>: </a:t>
            </a:r>
          </a:p>
          <a:p>
            <a:pPr>
              <a:spcBef>
                <a:spcPct val="50000"/>
              </a:spcBef>
            </a:pPr>
            <a:r>
              <a:rPr lang="fi-FI" sz="1200">
                <a:solidFill>
                  <a:schemeClr val="accent2"/>
                </a:solidFill>
                <a:latin typeface="Arial Narrow" pitchFamily="34" charset="0"/>
              </a:rPr>
              <a:t>Kriteerien muuntaminen kantakyselyiksi kantoihin joihin riittävät oikeudet</a:t>
            </a:r>
          </a:p>
          <a:p>
            <a:pPr>
              <a:spcBef>
                <a:spcPct val="50000"/>
              </a:spcBef>
            </a:pPr>
            <a:r>
              <a:rPr lang="fi-FI" sz="1200">
                <a:solidFill>
                  <a:schemeClr val="accent2"/>
                </a:solidFill>
                <a:latin typeface="Arial Narrow" pitchFamily="34" charset="0"/>
              </a:rPr>
              <a:t>Kyseleminen omilta käsittelijöiltä</a:t>
            </a:r>
            <a:endParaRPr lang="fi-FI" sz="900">
              <a:solidFill>
                <a:schemeClr val="accent2"/>
              </a:solidFill>
              <a:latin typeface="Arial Narrow" pitchFamily="34" charset="0"/>
            </a:endParaRPr>
          </a:p>
          <a:p>
            <a:pPr>
              <a:spcBef>
                <a:spcPct val="50000"/>
              </a:spcBef>
            </a:pPr>
            <a:r>
              <a:rPr lang="fi-FI" sz="1200">
                <a:solidFill>
                  <a:schemeClr val="accent2"/>
                </a:solidFill>
                <a:latin typeface="Arial Narrow" pitchFamily="34" charset="0"/>
              </a:rPr>
              <a:t>Kantakyselyiden pyytäminen muilta toimijoilta</a:t>
            </a:r>
          </a:p>
          <a:p>
            <a:pPr>
              <a:spcBef>
                <a:spcPct val="50000"/>
              </a:spcBef>
            </a:pPr>
            <a:r>
              <a:rPr lang="fi-FI" sz="1200">
                <a:solidFill>
                  <a:schemeClr val="accent2"/>
                </a:solidFill>
                <a:latin typeface="Arial Narrow" pitchFamily="34" charset="0"/>
              </a:rPr>
              <a:t>Aiemmin valikoidun aineiston uudelleenkäyttö</a:t>
            </a:r>
            <a:endParaRPr lang="en-US" sz="1200">
              <a:solidFill>
                <a:schemeClr val="accent2"/>
              </a:solidFill>
              <a:latin typeface="Arial Narrow" pitchFamily="34" charset="0"/>
            </a:endParaRPr>
          </a:p>
        </p:txBody>
      </p:sp>
      <p:sp>
        <p:nvSpPr>
          <p:cNvPr id="56332" name="AutoShape 12"/>
          <p:cNvSpPr>
            <a:spLocks noChangeArrowheads="1"/>
          </p:cNvSpPr>
          <p:nvPr/>
        </p:nvSpPr>
        <p:spPr bwMode="auto">
          <a:xfrm>
            <a:off x="2484438" y="1773238"/>
            <a:ext cx="863600" cy="431800"/>
          </a:xfrm>
          <a:prstGeom prst="rightArrow">
            <a:avLst>
              <a:gd name="adj1" fmla="val 50000"/>
              <a:gd name="adj2" fmla="val 50000"/>
            </a:avLst>
          </a:prstGeom>
          <a:solidFill>
            <a:schemeClr val="folHlink"/>
          </a:solidFill>
          <a:ln w="9525" algn="ctr">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6333" name="AutoShape 13"/>
          <p:cNvSpPr>
            <a:spLocks noChangeArrowheads="1"/>
          </p:cNvSpPr>
          <p:nvPr/>
        </p:nvSpPr>
        <p:spPr bwMode="auto">
          <a:xfrm>
            <a:off x="5580063" y="1773238"/>
            <a:ext cx="863600" cy="431800"/>
          </a:xfrm>
          <a:prstGeom prst="rightArrow">
            <a:avLst>
              <a:gd name="adj1" fmla="val 50000"/>
              <a:gd name="adj2" fmla="val 50000"/>
            </a:avLst>
          </a:prstGeom>
          <a:solidFill>
            <a:schemeClr val="folHlink"/>
          </a:solidFill>
          <a:ln w="9525" algn="ctr">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6334" name="Text Box 14"/>
          <p:cNvSpPr txBox="1">
            <a:spLocks noChangeArrowheads="1"/>
          </p:cNvSpPr>
          <p:nvPr/>
        </p:nvSpPr>
        <p:spPr bwMode="auto">
          <a:xfrm>
            <a:off x="3421063" y="4100513"/>
            <a:ext cx="2087562" cy="2195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fi-FI" sz="1200" u="sng">
                <a:solidFill>
                  <a:schemeClr val="accent2"/>
                </a:solidFill>
                <a:latin typeface="Arial Narrow" pitchFamily="34" charset="0"/>
              </a:rPr>
              <a:t>KEINOJA</a:t>
            </a:r>
            <a:r>
              <a:rPr lang="fi-FI" sz="1200">
                <a:solidFill>
                  <a:schemeClr val="accent2"/>
                </a:solidFill>
                <a:latin typeface="Arial Narrow" pitchFamily="34" charset="0"/>
              </a:rPr>
              <a:t>: </a:t>
            </a:r>
          </a:p>
          <a:p>
            <a:pPr>
              <a:spcBef>
                <a:spcPct val="50000"/>
              </a:spcBef>
            </a:pPr>
            <a:r>
              <a:rPr lang="fi-FI" sz="1200">
                <a:solidFill>
                  <a:schemeClr val="accent2"/>
                </a:solidFill>
                <a:latin typeface="Arial Narrow" pitchFamily="34" charset="0"/>
              </a:rPr>
              <a:t>Tuotannon aineiston täysi kopiointi testiympäristöön</a:t>
            </a:r>
          </a:p>
          <a:p>
            <a:pPr>
              <a:spcBef>
                <a:spcPct val="50000"/>
              </a:spcBef>
            </a:pPr>
            <a:r>
              <a:rPr lang="fi-FI" sz="1200">
                <a:solidFill>
                  <a:schemeClr val="accent2"/>
                </a:solidFill>
                <a:latin typeface="Arial Narrow" pitchFamily="34" charset="0"/>
              </a:rPr>
              <a:t>Tuotannon aineiston osakopiointi eheänä osana testiympäristöön</a:t>
            </a:r>
          </a:p>
          <a:p>
            <a:pPr>
              <a:spcBef>
                <a:spcPct val="50000"/>
              </a:spcBef>
              <a:buFont typeface="Wingdings" pitchFamily="2" charset="2"/>
              <a:buChar char="à"/>
            </a:pPr>
            <a:r>
              <a:rPr lang="fi-FI" sz="1200">
                <a:solidFill>
                  <a:schemeClr val="accent2"/>
                </a:solidFill>
                <a:latin typeface="Arial Narrow" pitchFamily="34" charset="0"/>
                <a:sym typeface="Wingdings" pitchFamily="2" charset="2"/>
              </a:rPr>
              <a:t>Itsenäisesti välineellä (Arek)</a:t>
            </a:r>
          </a:p>
          <a:p>
            <a:pPr>
              <a:spcBef>
                <a:spcPct val="50000"/>
              </a:spcBef>
              <a:buFont typeface="Wingdings" pitchFamily="2" charset="2"/>
              <a:buChar char="à"/>
            </a:pPr>
            <a:r>
              <a:rPr lang="fi-FI" sz="1200">
                <a:solidFill>
                  <a:schemeClr val="accent2"/>
                </a:solidFill>
                <a:latin typeface="Arial Narrow" pitchFamily="34" charset="0"/>
              </a:rPr>
              <a:t>Pyytämällä (Kela, muut eläkelaitokset)</a:t>
            </a:r>
          </a:p>
          <a:p>
            <a:pPr>
              <a:spcBef>
                <a:spcPct val="50000"/>
              </a:spcBef>
              <a:buFont typeface="Wingdings" pitchFamily="2" charset="2"/>
              <a:buNone/>
            </a:pPr>
            <a:r>
              <a:rPr lang="fi-FI" sz="1200">
                <a:solidFill>
                  <a:schemeClr val="accent2"/>
                </a:solidFill>
                <a:latin typeface="Arial Narrow" pitchFamily="34" charset="0"/>
              </a:rPr>
              <a:t>Varaustietojen kirjaaminen</a:t>
            </a:r>
            <a:endParaRPr lang="en-US" sz="1200">
              <a:solidFill>
                <a:schemeClr val="accent2"/>
              </a:solidFill>
              <a:latin typeface="Arial Narrow" pitchFamily="34" charset="0"/>
            </a:endParaRPr>
          </a:p>
        </p:txBody>
      </p:sp>
      <p:sp>
        <p:nvSpPr>
          <p:cNvPr id="56335" name="Text Box 15"/>
          <p:cNvSpPr txBox="1">
            <a:spLocks noChangeArrowheads="1"/>
          </p:cNvSpPr>
          <p:nvPr/>
        </p:nvSpPr>
        <p:spPr bwMode="auto">
          <a:xfrm>
            <a:off x="6516688" y="4813300"/>
            <a:ext cx="2087562"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fi-FI" sz="1200" u="sng">
                <a:solidFill>
                  <a:schemeClr val="accent2"/>
                </a:solidFill>
                <a:latin typeface="Arial Narrow" pitchFamily="34" charset="0"/>
              </a:rPr>
              <a:t>KEINOJA</a:t>
            </a:r>
            <a:r>
              <a:rPr lang="fi-FI" sz="1200">
                <a:solidFill>
                  <a:schemeClr val="accent2"/>
                </a:solidFill>
                <a:latin typeface="Arial Narrow" pitchFamily="34" charset="0"/>
              </a:rPr>
              <a:t>: </a:t>
            </a:r>
          </a:p>
          <a:p>
            <a:pPr>
              <a:spcBef>
                <a:spcPct val="50000"/>
              </a:spcBef>
            </a:pPr>
            <a:r>
              <a:rPr lang="fi-FI" sz="1200">
                <a:solidFill>
                  <a:schemeClr val="accent2"/>
                </a:solidFill>
                <a:latin typeface="Arial Narrow" pitchFamily="34" charset="0"/>
              </a:rPr>
              <a:t>Sovellusten käyttö</a:t>
            </a:r>
          </a:p>
          <a:p>
            <a:pPr>
              <a:spcBef>
                <a:spcPct val="50000"/>
              </a:spcBef>
            </a:pPr>
            <a:r>
              <a:rPr lang="fi-FI" sz="1200">
                <a:solidFill>
                  <a:schemeClr val="accent2"/>
                </a:solidFill>
                <a:latin typeface="Arial Narrow" pitchFamily="34" charset="0"/>
              </a:rPr>
              <a:t>Tietojen muokkaaminen kannassa eheys huomioiden</a:t>
            </a:r>
            <a:endParaRPr lang="en-US" sz="1200">
              <a:solidFill>
                <a:schemeClr val="accent2"/>
              </a:solidFill>
              <a:latin typeface="Arial Narrow" pitchFamily="34" charset="0"/>
            </a:endParaRPr>
          </a:p>
        </p:txBody>
      </p:sp>
      <p:sp>
        <p:nvSpPr>
          <p:cNvPr id="14" name="Slide Number Placeholder 13"/>
          <p:cNvSpPr>
            <a:spLocks noGrp="1"/>
          </p:cNvSpPr>
          <p:nvPr>
            <p:ph type="sldNum" sz="quarter" idx="12"/>
          </p:nvPr>
        </p:nvSpPr>
        <p:spPr/>
        <p:txBody>
          <a:bodyPr/>
          <a:lstStyle/>
          <a:p>
            <a:fld id="{1FC54B03-E980-44E0-A0F1-6CAD9D10ECFB}" type="slidenum">
              <a:rPr lang="fi-FI" smtClean="0"/>
              <a:pPr/>
              <a:t>139</a:t>
            </a:fld>
            <a:endParaRPr lang="fi-FI"/>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6" name="Rectangle 4"/>
          <p:cNvSpPr>
            <a:spLocks noGrp="1" noChangeArrowheads="1"/>
          </p:cNvSpPr>
          <p:nvPr>
            <p:ph type="title"/>
          </p:nvPr>
        </p:nvSpPr>
        <p:spPr/>
        <p:txBody>
          <a:bodyPr>
            <a:normAutofit fontScale="90000"/>
          </a:bodyPr>
          <a:lstStyle/>
          <a:p>
            <a:r>
              <a:rPr lang="fi-FI"/>
              <a:t>Testiaineiston saamisen vaihtoehtoja</a:t>
            </a:r>
            <a:endParaRPr lang="en-US"/>
          </a:p>
        </p:txBody>
      </p:sp>
      <p:sp>
        <p:nvSpPr>
          <p:cNvPr id="54277" name="Text Box 5"/>
          <p:cNvSpPr txBox="1">
            <a:spLocks noChangeArrowheads="1"/>
          </p:cNvSpPr>
          <p:nvPr/>
        </p:nvSpPr>
        <p:spPr bwMode="auto">
          <a:xfrm>
            <a:off x="468313" y="1916113"/>
            <a:ext cx="2232025" cy="641350"/>
          </a:xfrm>
          <a:prstGeom prst="rect">
            <a:avLst/>
          </a:prstGeom>
          <a:solidFill>
            <a:srgbClr val="FFFF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fi-FI"/>
              <a:t>Aineisto tuotannosta</a:t>
            </a:r>
            <a:endParaRPr lang="en-US"/>
          </a:p>
        </p:txBody>
      </p:sp>
      <p:sp>
        <p:nvSpPr>
          <p:cNvPr id="54278" name="Text Box 6"/>
          <p:cNvSpPr txBox="1">
            <a:spLocks noChangeArrowheads="1"/>
          </p:cNvSpPr>
          <p:nvPr/>
        </p:nvSpPr>
        <p:spPr bwMode="auto">
          <a:xfrm>
            <a:off x="468313" y="4083050"/>
            <a:ext cx="2232025" cy="641350"/>
          </a:xfrm>
          <a:prstGeom prst="rect">
            <a:avLst/>
          </a:prstGeom>
          <a:solidFill>
            <a:srgbClr val="FFFF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fi-FI"/>
              <a:t>Aineisto luotu testaustarkoituksiin</a:t>
            </a:r>
            <a:endParaRPr lang="en-US"/>
          </a:p>
        </p:txBody>
      </p:sp>
      <p:sp>
        <p:nvSpPr>
          <p:cNvPr id="54279" name="Text Box 7"/>
          <p:cNvSpPr txBox="1">
            <a:spLocks noChangeArrowheads="1"/>
          </p:cNvSpPr>
          <p:nvPr/>
        </p:nvSpPr>
        <p:spPr bwMode="auto">
          <a:xfrm>
            <a:off x="3059113" y="1557338"/>
            <a:ext cx="2232025" cy="641350"/>
          </a:xfrm>
          <a:prstGeom prst="rect">
            <a:avLst/>
          </a:prstGeom>
          <a:solidFill>
            <a:srgbClr val="FFFF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fi-FI"/>
              <a:t>Täysi kopio ajanhetkeltä</a:t>
            </a:r>
            <a:endParaRPr lang="en-US"/>
          </a:p>
        </p:txBody>
      </p:sp>
      <p:sp>
        <p:nvSpPr>
          <p:cNvPr id="54280" name="Text Box 8"/>
          <p:cNvSpPr txBox="1">
            <a:spLocks noChangeArrowheads="1"/>
          </p:cNvSpPr>
          <p:nvPr/>
        </p:nvSpPr>
        <p:spPr bwMode="auto">
          <a:xfrm>
            <a:off x="3059113" y="2420938"/>
            <a:ext cx="2232025" cy="641350"/>
          </a:xfrm>
          <a:prstGeom prst="rect">
            <a:avLst/>
          </a:prstGeom>
          <a:solidFill>
            <a:srgbClr val="FFFF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fi-FI"/>
              <a:t>Valikoitu osa ajanhetkeltä</a:t>
            </a:r>
            <a:endParaRPr lang="en-US"/>
          </a:p>
        </p:txBody>
      </p:sp>
      <p:sp>
        <p:nvSpPr>
          <p:cNvPr id="54281" name="AutoShape 9"/>
          <p:cNvSpPr>
            <a:spLocks noChangeArrowheads="1"/>
          </p:cNvSpPr>
          <p:nvPr/>
        </p:nvSpPr>
        <p:spPr bwMode="auto">
          <a:xfrm>
            <a:off x="6046788" y="3213100"/>
            <a:ext cx="3097212" cy="1657350"/>
          </a:xfrm>
          <a:prstGeom prst="irregularSeal2">
            <a:avLst/>
          </a:prstGeom>
          <a:solidFill>
            <a:schemeClr val="accent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r>
              <a:rPr lang="fi-FI">
                <a:latin typeface="Arial Narrow" pitchFamily="34" charset="0"/>
              </a:rPr>
              <a:t>Konversiot </a:t>
            </a:r>
            <a:br>
              <a:rPr lang="fi-FI">
                <a:latin typeface="Arial Narrow" pitchFamily="34" charset="0"/>
              </a:rPr>
            </a:br>
            <a:r>
              <a:rPr lang="fi-FI">
                <a:latin typeface="Arial Narrow" pitchFamily="34" charset="0"/>
              </a:rPr>
              <a:t>rakennemuutoksissa</a:t>
            </a:r>
            <a:endParaRPr lang="en-US">
              <a:latin typeface="Arial Narrow" pitchFamily="34" charset="0"/>
            </a:endParaRPr>
          </a:p>
        </p:txBody>
      </p:sp>
      <p:sp>
        <p:nvSpPr>
          <p:cNvPr id="54282" name="Text Box 10"/>
          <p:cNvSpPr txBox="1">
            <a:spLocks noChangeArrowheads="1"/>
          </p:cNvSpPr>
          <p:nvPr/>
        </p:nvSpPr>
        <p:spPr bwMode="auto">
          <a:xfrm>
            <a:off x="3132138" y="3716338"/>
            <a:ext cx="2232025" cy="641350"/>
          </a:xfrm>
          <a:prstGeom prst="rect">
            <a:avLst/>
          </a:prstGeom>
          <a:solidFill>
            <a:srgbClr val="FFFF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fi-FI"/>
              <a:t>Alustettava perusjoukko </a:t>
            </a:r>
            <a:endParaRPr lang="en-US"/>
          </a:p>
        </p:txBody>
      </p:sp>
      <p:sp>
        <p:nvSpPr>
          <p:cNvPr id="54283" name="Text Box 11"/>
          <p:cNvSpPr txBox="1">
            <a:spLocks noChangeArrowheads="1"/>
          </p:cNvSpPr>
          <p:nvPr/>
        </p:nvSpPr>
        <p:spPr bwMode="auto">
          <a:xfrm>
            <a:off x="3132138" y="4514850"/>
            <a:ext cx="2232025" cy="641350"/>
          </a:xfrm>
          <a:prstGeom prst="rect">
            <a:avLst/>
          </a:prstGeom>
          <a:solidFill>
            <a:srgbClr val="FFFF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fi-FI"/>
              <a:t>Luodaan tarpeeseen</a:t>
            </a:r>
            <a:endParaRPr lang="en-US"/>
          </a:p>
        </p:txBody>
      </p:sp>
      <p:sp>
        <p:nvSpPr>
          <p:cNvPr id="54284" name="Text Box 12"/>
          <p:cNvSpPr txBox="1">
            <a:spLocks noChangeArrowheads="1"/>
          </p:cNvSpPr>
          <p:nvPr/>
        </p:nvSpPr>
        <p:spPr bwMode="auto">
          <a:xfrm>
            <a:off x="5795963" y="1916113"/>
            <a:ext cx="2232025" cy="366712"/>
          </a:xfrm>
          <a:prstGeom prst="rect">
            <a:avLst/>
          </a:prstGeom>
          <a:solidFill>
            <a:srgbClr val="FF99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fi-FI"/>
              <a:t>Sotkettu</a:t>
            </a:r>
            <a:endParaRPr lang="en-US"/>
          </a:p>
        </p:txBody>
      </p:sp>
      <p:sp>
        <p:nvSpPr>
          <p:cNvPr id="54285" name="Text Box 13"/>
          <p:cNvSpPr txBox="1">
            <a:spLocks noChangeArrowheads="1"/>
          </p:cNvSpPr>
          <p:nvPr/>
        </p:nvSpPr>
        <p:spPr bwMode="auto">
          <a:xfrm>
            <a:off x="5795963" y="2420938"/>
            <a:ext cx="2232025" cy="366712"/>
          </a:xfrm>
          <a:prstGeom prst="rect">
            <a:avLst/>
          </a:prstGeom>
          <a:solidFill>
            <a:srgbClr val="FF99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fi-FI"/>
              <a:t>Aito, sotkematon</a:t>
            </a:r>
            <a:endParaRPr lang="en-US"/>
          </a:p>
        </p:txBody>
      </p:sp>
      <p:grpSp>
        <p:nvGrpSpPr>
          <p:cNvPr id="2" name="Group 32"/>
          <p:cNvGrpSpPr>
            <a:grpSpLocks/>
          </p:cNvGrpSpPr>
          <p:nvPr/>
        </p:nvGrpSpPr>
        <p:grpSpPr bwMode="auto">
          <a:xfrm>
            <a:off x="107950" y="1557338"/>
            <a:ext cx="7920038" cy="4752975"/>
            <a:chOff x="68" y="981"/>
            <a:chExt cx="4989" cy="2994"/>
          </a:xfrm>
        </p:grpSpPr>
        <p:sp>
          <p:nvSpPr>
            <p:cNvPr id="54286" name="Rectangle 14"/>
            <p:cNvSpPr>
              <a:spLocks noChangeArrowheads="1"/>
            </p:cNvSpPr>
            <p:nvPr/>
          </p:nvSpPr>
          <p:spPr bwMode="auto">
            <a:xfrm>
              <a:off x="295" y="1207"/>
              <a:ext cx="1406" cy="409"/>
            </a:xfrm>
            <a:prstGeom prst="rect">
              <a:avLst/>
            </a:prstGeom>
            <a:noFill/>
            <a:ln w="38100" algn="ctr">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4287" name="Rectangle 15"/>
            <p:cNvSpPr>
              <a:spLocks noChangeArrowheads="1"/>
            </p:cNvSpPr>
            <p:nvPr/>
          </p:nvSpPr>
          <p:spPr bwMode="auto">
            <a:xfrm>
              <a:off x="68" y="3612"/>
              <a:ext cx="952" cy="363"/>
            </a:xfrm>
            <a:prstGeom prst="rect">
              <a:avLst/>
            </a:prstGeom>
            <a:noFill/>
            <a:ln w="38100" algn="ctr">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r>
                <a:rPr lang="fi-FI" dirty="0" smtClean="0">
                  <a:latin typeface="Arial Narrow" pitchFamily="34" charset="0"/>
                </a:rPr>
                <a:t>A</a:t>
              </a:r>
              <a:r>
                <a:rPr lang="fi-FI" dirty="0">
                  <a:latin typeface="Arial Narrow" pitchFamily="34" charset="0"/>
                </a:rPr>
                <a:t/>
              </a:r>
              <a:br>
                <a:rPr lang="fi-FI" dirty="0">
                  <a:latin typeface="Arial Narrow" pitchFamily="34" charset="0"/>
                </a:rPr>
              </a:br>
              <a:r>
                <a:rPr lang="fi-FI" dirty="0">
                  <a:latin typeface="Arial Narrow" pitchFamily="34" charset="0"/>
                </a:rPr>
                <a:t>nykyvalinnat JAR</a:t>
              </a:r>
              <a:endParaRPr lang="en-US" dirty="0">
                <a:latin typeface="Arial Narrow" pitchFamily="34" charset="0"/>
              </a:endParaRPr>
            </a:p>
          </p:txBody>
        </p:sp>
        <p:sp>
          <p:nvSpPr>
            <p:cNvPr id="54288" name="Rectangle 16"/>
            <p:cNvSpPr>
              <a:spLocks noChangeArrowheads="1"/>
            </p:cNvSpPr>
            <p:nvPr/>
          </p:nvSpPr>
          <p:spPr bwMode="auto">
            <a:xfrm>
              <a:off x="1928" y="981"/>
              <a:ext cx="1406" cy="409"/>
            </a:xfrm>
            <a:prstGeom prst="rect">
              <a:avLst/>
            </a:prstGeom>
            <a:noFill/>
            <a:ln w="38100" algn="ctr">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4289" name="Rectangle 17"/>
            <p:cNvSpPr>
              <a:spLocks noChangeArrowheads="1"/>
            </p:cNvSpPr>
            <p:nvPr/>
          </p:nvSpPr>
          <p:spPr bwMode="auto">
            <a:xfrm>
              <a:off x="3651" y="1524"/>
              <a:ext cx="1406" cy="228"/>
            </a:xfrm>
            <a:prstGeom prst="rect">
              <a:avLst/>
            </a:prstGeom>
            <a:noFill/>
            <a:ln w="38100" algn="ctr">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nvGrpSpPr>
          <p:cNvPr id="3" name="Group 33"/>
          <p:cNvGrpSpPr>
            <a:grpSpLocks/>
          </p:cNvGrpSpPr>
          <p:nvPr/>
        </p:nvGrpSpPr>
        <p:grpSpPr bwMode="auto">
          <a:xfrm>
            <a:off x="395288" y="1844675"/>
            <a:ext cx="7705725" cy="4465638"/>
            <a:chOff x="249" y="1162"/>
            <a:chExt cx="4854" cy="2813"/>
          </a:xfrm>
        </p:grpSpPr>
        <p:sp>
          <p:nvSpPr>
            <p:cNvPr id="54290" name="Rectangle 18"/>
            <p:cNvSpPr>
              <a:spLocks noChangeArrowheads="1"/>
            </p:cNvSpPr>
            <p:nvPr/>
          </p:nvSpPr>
          <p:spPr bwMode="auto">
            <a:xfrm>
              <a:off x="1111" y="3612"/>
              <a:ext cx="952" cy="363"/>
            </a:xfrm>
            <a:prstGeom prst="rect">
              <a:avLst/>
            </a:prstGeom>
            <a:noFill/>
            <a:ln w="38100" algn="ctr">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r>
                <a:rPr lang="fi-FI" dirty="0" smtClean="0">
                  <a:latin typeface="Arial Narrow" pitchFamily="34" charset="0"/>
                </a:rPr>
                <a:t>B</a:t>
              </a:r>
              <a:r>
                <a:rPr lang="fi-FI" dirty="0">
                  <a:latin typeface="Arial Narrow" pitchFamily="34" charset="0"/>
                </a:rPr>
                <a:t/>
              </a:r>
              <a:br>
                <a:rPr lang="fi-FI" dirty="0">
                  <a:latin typeface="Arial Narrow" pitchFamily="34" charset="0"/>
                </a:rPr>
              </a:br>
              <a:r>
                <a:rPr lang="fi-FI" dirty="0">
                  <a:latin typeface="Arial Narrow" pitchFamily="34" charset="0"/>
                </a:rPr>
                <a:t>nykyvalinnat</a:t>
              </a:r>
              <a:endParaRPr lang="en-US" dirty="0">
                <a:latin typeface="Arial Narrow" pitchFamily="34" charset="0"/>
              </a:endParaRPr>
            </a:p>
          </p:txBody>
        </p:sp>
        <p:sp>
          <p:nvSpPr>
            <p:cNvPr id="54291" name="Rectangle 19"/>
            <p:cNvSpPr>
              <a:spLocks noChangeArrowheads="1"/>
            </p:cNvSpPr>
            <p:nvPr/>
          </p:nvSpPr>
          <p:spPr bwMode="auto">
            <a:xfrm>
              <a:off x="249" y="1162"/>
              <a:ext cx="1497" cy="499"/>
            </a:xfrm>
            <a:prstGeom prst="rect">
              <a:avLst/>
            </a:prstGeom>
            <a:noFill/>
            <a:ln w="38100" algn="ctr">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4292" name="Rectangle 20"/>
            <p:cNvSpPr>
              <a:spLocks noChangeArrowheads="1"/>
            </p:cNvSpPr>
            <p:nvPr/>
          </p:nvSpPr>
          <p:spPr bwMode="auto">
            <a:xfrm>
              <a:off x="1882" y="1480"/>
              <a:ext cx="1497" cy="499"/>
            </a:xfrm>
            <a:prstGeom prst="rect">
              <a:avLst/>
            </a:prstGeom>
            <a:noFill/>
            <a:ln w="38100" algn="ctr">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4293" name="Rectangle 21"/>
            <p:cNvSpPr>
              <a:spLocks noChangeArrowheads="1"/>
            </p:cNvSpPr>
            <p:nvPr/>
          </p:nvSpPr>
          <p:spPr bwMode="auto">
            <a:xfrm>
              <a:off x="3606" y="1162"/>
              <a:ext cx="1497" cy="635"/>
            </a:xfrm>
            <a:prstGeom prst="rect">
              <a:avLst/>
            </a:prstGeom>
            <a:noFill/>
            <a:ln w="38100" algn="ctr">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nvGrpSpPr>
          <p:cNvPr id="4" name="Group 34"/>
          <p:cNvGrpSpPr>
            <a:grpSpLocks/>
          </p:cNvGrpSpPr>
          <p:nvPr/>
        </p:nvGrpSpPr>
        <p:grpSpPr bwMode="auto">
          <a:xfrm>
            <a:off x="323850" y="1773238"/>
            <a:ext cx="7848600" cy="4537075"/>
            <a:chOff x="204" y="1117"/>
            <a:chExt cx="4944" cy="2858"/>
          </a:xfrm>
        </p:grpSpPr>
        <p:sp>
          <p:nvSpPr>
            <p:cNvPr id="54294" name="Rectangle 22"/>
            <p:cNvSpPr>
              <a:spLocks noChangeArrowheads="1"/>
            </p:cNvSpPr>
            <p:nvPr/>
          </p:nvSpPr>
          <p:spPr bwMode="auto">
            <a:xfrm>
              <a:off x="2155" y="3612"/>
              <a:ext cx="952" cy="363"/>
            </a:xfrm>
            <a:prstGeom prst="rect">
              <a:avLst/>
            </a:prstGeom>
            <a:noFill/>
            <a:ln w="38100" algn="ctr">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r>
                <a:rPr lang="fi-FI" dirty="0" smtClean="0">
                  <a:latin typeface="Arial Narrow" pitchFamily="34" charset="0"/>
                </a:rPr>
                <a:t>C</a:t>
              </a:r>
              <a:r>
                <a:rPr lang="fi-FI" dirty="0">
                  <a:latin typeface="Arial Narrow" pitchFamily="34" charset="0"/>
                </a:rPr>
                <a:t/>
              </a:r>
              <a:br>
                <a:rPr lang="fi-FI" dirty="0">
                  <a:latin typeface="Arial Narrow" pitchFamily="34" charset="0"/>
                </a:rPr>
              </a:br>
              <a:r>
                <a:rPr lang="fi-FI" dirty="0">
                  <a:latin typeface="Arial Narrow" pitchFamily="34" charset="0"/>
                </a:rPr>
                <a:t>nykyvalinnat</a:t>
              </a:r>
              <a:endParaRPr lang="en-US" dirty="0">
                <a:latin typeface="Arial Narrow" pitchFamily="34" charset="0"/>
              </a:endParaRPr>
            </a:p>
          </p:txBody>
        </p:sp>
        <p:sp>
          <p:nvSpPr>
            <p:cNvPr id="54295" name="Rectangle 23"/>
            <p:cNvSpPr>
              <a:spLocks noChangeArrowheads="1"/>
            </p:cNvSpPr>
            <p:nvPr/>
          </p:nvSpPr>
          <p:spPr bwMode="auto">
            <a:xfrm>
              <a:off x="204" y="1117"/>
              <a:ext cx="1587" cy="589"/>
            </a:xfrm>
            <a:prstGeom prst="rect">
              <a:avLst/>
            </a:prstGeom>
            <a:noFill/>
            <a:ln w="38100" algn="ctr">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4296" name="Rectangle 24"/>
            <p:cNvSpPr>
              <a:spLocks noChangeArrowheads="1"/>
            </p:cNvSpPr>
            <p:nvPr/>
          </p:nvSpPr>
          <p:spPr bwMode="auto">
            <a:xfrm>
              <a:off x="1837" y="1435"/>
              <a:ext cx="1587" cy="589"/>
            </a:xfrm>
            <a:prstGeom prst="rect">
              <a:avLst/>
            </a:prstGeom>
            <a:noFill/>
            <a:ln w="38100" algn="ctr">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4297" name="Rectangle 25"/>
            <p:cNvSpPr>
              <a:spLocks noChangeArrowheads="1"/>
            </p:cNvSpPr>
            <p:nvPr/>
          </p:nvSpPr>
          <p:spPr bwMode="auto">
            <a:xfrm>
              <a:off x="3561" y="1480"/>
              <a:ext cx="1587" cy="362"/>
            </a:xfrm>
            <a:prstGeom prst="rect">
              <a:avLst/>
            </a:prstGeom>
            <a:noFill/>
            <a:ln w="38100" algn="ctr">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nvGrpSpPr>
          <p:cNvPr id="5" name="Group 31"/>
          <p:cNvGrpSpPr>
            <a:grpSpLocks/>
          </p:cNvGrpSpPr>
          <p:nvPr/>
        </p:nvGrpSpPr>
        <p:grpSpPr bwMode="auto">
          <a:xfrm>
            <a:off x="107950" y="1987550"/>
            <a:ext cx="7848600" cy="3673475"/>
            <a:chOff x="68" y="1252"/>
            <a:chExt cx="4944" cy="2314"/>
          </a:xfrm>
        </p:grpSpPr>
        <p:sp>
          <p:nvSpPr>
            <p:cNvPr id="54299" name="Rectangle 27"/>
            <p:cNvSpPr>
              <a:spLocks noChangeArrowheads="1"/>
            </p:cNvSpPr>
            <p:nvPr/>
          </p:nvSpPr>
          <p:spPr bwMode="auto">
            <a:xfrm>
              <a:off x="68" y="3203"/>
              <a:ext cx="952" cy="363"/>
            </a:xfrm>
            <a:prstGeom prst="rect">
              <a:avLst/>
            </a:prstGeom>
            <a:noFill/>
            <a:ln w="381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r>
                <a:rPr lang="fi-FI" dirty="0" smtClean="0">
                  <a:latin typeface="Arial Narrow" pitchFamily="34" charset="0"/>
                </a:rPr>
                <a:t>A</a:t>
              </a:r>
              <a:r>
                <a:rPr lang="fi-FI" dirty="0">
                  <a:latin typeface="Arial Narrow" pitchFamily="34" charset="0"/>
                </a:rPr>
                <a:t/>
              </a:r>
              <a:br>
                <a:rPr lang="fi-FI" dirty="0">
                  <a:latin typeface="Arial Narrow" pitchFamily="34" charset="0"/>
                </a:rPr>
              </a:br>
              <a:r>
                <a:rPr lang="fi-FI" dirty="0">
                  <a:latin typeface="Arial Narrow" pitchFamily="34" charset="0"/>
                </a:rPr>
                <a:t>nykyvalinnat INT</a:t>
              </a:r>
              <a:endParaRPr lang="en-US" dirty="0">
                <a:latin typeface="Arial Narrow" pitchFamily="34" charset="0"/>
              </a:endParaRPr>
            </a:p>
          </p:txBody>
        </p:sp>
        <p:sp>
          <p:nvSpPr>
            <p:cNvPr id="54300" name="Rectangle 28"/>
            <p:cNvSpPr>
              <a:spLocks noChangeArrowheads="1"/>
            </p:cNvSpPr>
            <p:nvPr/>
          </p:nvSpPr>
          <p:spPr bwMode="auto">
            <a:xfrm>
              <a:off x="340" y="1252"/>
              <a:ext cx="1315" cy="318"/>
            </a:xfrm>
            <a:prstGeom prst="rect">
              <a:avLst/>
            </a:prstGeom>
            <a:noFill/>
            <a:ln w="381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4301" name="Rectangle 29"/>
            <p:cNvSpPr>
              <a:spLocks noChangeArrowheads="1"/>
            </p:cNvSpPr>
            <p:nvPr/>
          </p:nvSpPr>
          <p:spPr bwMode="auto">
            <a:xfrm>
              <a:off x="1927" y="1570"/>
              <a:ext cx="1315" cy="318"/>
            </a:xfrm>
            <a:prstGeom prst="rect">
              <a:avLst/>
            </a:prstGeom>
            <a:noFill/>
            <a:ln w="381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4302" name="Rectangle 30"/>
            <p:cNvSpPr>
              <a:spLocks noChangeArrowheads="1"/>
            </p:cNvSpPr>
            <p:nvPr/>
          </p:nvSpPr>
          <p:spPr bwMode="auto">
            <a:xfrm>
              <a:off x="3697" y="1570"/>
              <a:ext cx="1315" cy="136"/>
            </a:xfrm>
            <a:prstGeom prst="rect">
              <a:avLst/>
            </a:prstGeom>
            <a:noFill/>
            <a:ln w="381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54307" name="AutoShape 35"/>
          <p:cNvSpPr>
            <a:spLocks noChangeArrowheads="1"/>
          </p:cNvSpPr>
          <p:nvPr/>
        </p:nvSpPr>
        <p:spPr bwMode="auto">
          <a:xfrm>
            <a:off x="6084888" y="4724400"/>
            <a:ext cx="3097212" cy="1657350"/>
          </a:xfrm>
          <a:prstGeom prst="irregularSeal2">
            <a:avLst/>
          </a:prstGeom>
          <a:solidFill>
            <a:schemeClr val="accent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r>
              <a:rPr lang="fi-FI">
                <a:latin typeface="Arial Narrow" pitchFamily="34" charset="0"/>
              </a:rPr>
              <a:t>Muuntuminen</a:t>
            </a:r>
            <a:br>
              <a:rPr lang="fi-FI">
                <a:latin typeface="Arial Narrow" pitchFamily="34" charset="0"/>
              </a:rPr>
            </a:br>
            <a:r>
              <a:rPr lang="fi-FI">
                <a:latin typeface="Arial Narrow" pitchFamily="34" charset="0"/>
              </a:rPr>
              <a:t>käytössä</a:t>
            </a:r>
            <a:endParaRPr lang="en-US">
              <a:latin typeface="Arial Narrow" pitchFamily="34" charset="0"/>
            </a:endParaRPr>
          </a:p>
        </p:txBody>
      </p:sp>
      <p:sp>
        <p:nvSpPr>
          <p:cNvPr id="33" name="Slide Number Placeholder 32"/>
          <p:cNvSpPr>
            <a:spLocks noGrp="1"/>
          </p:cNvSpPr>
          <p:nvPr>
            <p:ph type="sldNum" sz="quarter" idx="12"/>
          </p:nvPr>
        </p:nvSpPr>
        <p:spPr/>
        <p:txBody>
          <a:bodyPr/>
          <a:lstStyle/>
          <a:p>
            <a:fld id="{1FC54B03-E980-44E0-A0F1-6CAD9D10ECFB}" type="slidenum">
              <a:rPr lang="fi-FI" smtClean="0"/>
              <a:pPr/>
              <a:t>140</a:t>
            </a:fld>
            <a:endParaRPr lang="fi-FI"/>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fi-FI"/>
              <a:t>Testiaineiston käsittelyn haasteita</a:t>
            </a:r>
            <a:endParaRPr lang="en-US"/>
          </a:p>
        </p:txBody>
      </p:sp>
      <p:sp>
        <p:nvSpPr>
          <p:cNvPr id="44035" name="Rectangle 3"/>
          <p:cNvSpPr>
            <a:spLocks noGrp="1" noChangeArrowheads="1"/>
          </p:cNvSpPr>
          <p:nvPr>
            <p:ph type="body" sz="half" idx="1"/>
          </p:nvPr>
        </p:nvSpPr>
        <p:spPr/>
        <p:txBody>
          <a:bodyPr/>
          <a:lstStyle/>
          <a:p>
            <a:pPr>
              <a:lnSpc>
                <a:spcPct val="80000"/>
              </a:lnSpc>
            </a:pPr>
            <a:r>
              <a:rPr lang="fi-FI" sz="1600"/>
              <a:t>Aineistoketjun siirtäminen tuotannosta</a:t>
            </a:r>
          </a:p>
          <a:p>
            <a:pPr lvl="1">
              <a:lnSpc>
                <a:spcPct val="80000"/>
              </a:lnSpc>
            </a:pPr>
            <a:r>
              <a:rPr lang="fi-FI" sz="1600"/>
              <a:t>Valittu eheä kokonaisuus useiden järjestelmien ja erityyppisten aineistojen ketjussa</a:t>
            </a:r>
          </a:p>
          <a:p>
            <a:pPr>
              <a:lnSpc>
                <a:spcPct val="80000"/>
              </a:lnSpc>
            </a:pPr>
            <a:r>
              <a:rPr lang="fi-FI" sz="1600"/>
              <a:t>Aineiston varaaminen / jakaminen</a:t>
            </a:r>
          </a:p>
          <a:p>
            <a:pPr lvl="1">
              <a:lnSpc>
                <a:spcPct val="80000"/>
              </a:lnSpc>
            </a:pPr>
            <a:r>
              <a:rPr lang="fi-FI" sz="1600"/>
              <a:t>Tila muuttuu käytön myötä</a:t>
            </a:r>
          </a:p>
          <a:p>
            <a:pPr>
              <a:lnSpc>
                <a:spcPct val="80000"/>
              </a:lnSpc>
            </a:pPr>
            <a:r>
              <a:rPr lang="fi-FI" sz="1600"/>
              <a:t>Aika osana aineistoja</a:t>
            </a:r>
          </a:p>
          <a:p>
            <a:pPr lvl="1">
              <a:lnSpc>
                <a:spcPct val="80000"/>
              </a:lnSpc>
            </a:pPr>
            <a:r>
              <a:rPr lang="fi-FI" sz="1600"/>
              <a:t>Aika muuttaa tilaa, tulevaisuuden pyöritys</a:t>
            </a:r>
            <a:endParaRPr lang="en-US" sz="1600"/>
          </a:p>
          <a:p>
            <a:pPr>
              <a:lnSpc>
                <a:spcPct val="80000"/>
              </a:lnSpc>
            </a:pPr>
            <a:r>
              <a:rPr lang="fi-FI" sz="1600"/>
              <a:t>Sotketun aineiston linkitys muihin järjestelmiin</a:t>
            </a:r>
          </a:p>
          <a:p>
            <a:pPr lvl="1">
              <a:lnSpc>
                <a:spcPct val="80000"/>
              </a:lnSpc>
            </a:pPr>
            <a:r>
              <a:rPr lang="fi-FI" sz="1600"/>
              <a:t>Eroavat sotkemistavat</a:t>
            </a:r>
          </a:p>
          <a:p>
            <a:pPr>
              <a:lnSpc>
                <a:spcPct val="80000"/>
              </a:lnSpc>
            </a:pPr>
            <a:r>
              <a:rPr lang="fi-FI" sz="1600"/>
              <a:t>Ymmärrys ympäristöjen yhdistämisistä</a:t>
            </a:r>
          </a:p>
          <a:p>
            <a:pPr lvl="1">
              <a:lnSpc>
                <a:spcPct val="80000"/>
              </a:lnSpc>
            </a:pPr>
            <a:r>
              <a:rPr lang="fi-FI" sz="1600"/>
              <a:t>Onko aineistot oikeassa ympäristössä testausta varten ei itsestäänselvää</a:t>
            </a:r>
          </a:p>
          <a:p>
            <a:pPr>
              <a:lnSpc>
                <a:spcPct val="80000"/>
              </a:lnSpc>
            </a:pPr>
            <a:r>
              <a:rPr lang="fi-FI" sz="1600"/>
              <a:t>Käyttöoikeusrajaukset</a:t>
            </a:r>
          </a:p>
          <a:p>
            <a:pPr lvl="1">
              <a:lnSpc>
                <a:spcPct val="80000"/>
              </a:lnSpc>
            </a:pPr>
            <a:r>
              <a:rPr lang="fi-FI" sz="1600"/>
              <a:t>Aineiston yksityiskohdat tietää vasta testaamalla</a:t>
            </a:r>
          </a:p>
        </p:txBody>
      </p:sp>
      <p:sp>
        <p:nvSpPr>
          <p:cNvPr id="44036" name="Rectangle 4"/>
          <p:cNvSpPr>
            <a:spLocks noGrp="1" noChangeArrowheads="1"/>
          </p:cNvSpPr>
          <p:nvPr>
            <p:ph type="body" sz="half" idx="2"/>
          </p:nvPr>
        </p:nvSpPr>
        <p:spPr/>
        <p:txBody>
          <a:bodyPr/>
          <a:lstStyle/>
          <a:p>
            <a:pPr>
              <a:lnSpc>
                <a:spcPct val="80000"/>
              </a:lnSpc>
            </a:pPr>
            <a:r>
              <a:rPr lang="fi-FI" sz="1600"/>
              <a:t>Tiedotus/sopiminen aineistojen päivittämisestä ja ajan säätämisestä</a:t>
            </a:r>
          </a:p>
          <a:p>
            <a:pPr lvl="1">
              <a:lnSpc>
                <a:spcPct val="80000"/>
              </a:lnSpc>
            </a:pPr>
            <a:r>
              <a:rPr lang="fi-FI" sz="1600"/>
              <a:t>Muutokset kriittisinä aikoina sotkevat testauksia</a:t>
            </a:r>
          </a:p>
          <a:p>
            <a:pPr lvl="1">
              <a:lnSpc>
                <a:spcPct val="80000"/>
              </a:lnSpc>
            </a:pPr>
            <a:r>
              <a:rPr lang="fi-FI" sz="1600"/>
              <a:t>Tarve vuodenvaihteen / tulevaisuuden testauksille</a:t>
            </a:r>
          </a:p>
          <a:p>
            <a:pPr>
              <a:lnSpc>
                <a:spcPct val="80000"/>
              </a:lnSpc>
            </a:pPr>
            <a:r>
              <a:rPr lang="fi-FI" sz="1600"/>
              <a:t>Aineiston nopea löytäminen</a:t>
            </a:r>
          </a:p>
          <a:p>
            <a:pPr lvl="1">
              <a:lnSpc>
                <a:spcPct val="80000"/>
              </a:lnSpc>
            </a:pPr>
            <a:r>
              <a:rPr lang="fi-FI" sz="1600"/>
              <a:t>Kriteeristöstä (testitapaus) aineistoon </a:t>
            </a:r>
          </a:p>
          <a:p>
            <a:pPr>
              <a:lnSpc>
                <a:spcPct val="80000"/>
              </a:lnSpc>
            </a:pPr>
            <a:r>
              <a:rPr lang="fi-FI" sz="1600"/>
              <a:t>Aineiston sotkeminen omassa järjestelmässä</a:t>
            </a:r>
          </a:p>
          <a:p>
            <a:pPr lvl="1">
              <a:lnSpc>
                <a:spcPct val="80000"/>
              </a:lnSpc>
            </a:pPr>
            <a:r>
              <a:rPr lang="fi-FI" sz="1600"/>
              <a:t>Luottamuksellisen tiedon käsittelyn minimointi, oleellinen etenkin kun aineistoa toimitetaan offshore-testaukseen</a:t>
            </a:r>
          </a:p>
          <a:p>
            <a:pPr>
              <a:lnSpc>
                <a:spcPct val="80000"/>
              </a:lnSpc>
            </a:pPr>
            <a:r>
              <a:rPr lang="fi-FI" sz="1600"/>
              <a:t>Aineiston kloonaaminen ja sotkeminen</a:t>
            </a:r>
          </a:p>
          <a:p>
            <a:pPr lvl="1">
              <a:lnSpc>
                <a:spcPct val="80000"/>
              </a:lnSpc>
            </a:pPr>
            <a:r>
              <a:rPr lang="fi-FI" sz="1600"/>
              <a:t>Aineiston kloonaaminen ja kloonin sotkeminen ei kaikissa ympäristöissä mahdollista</a:t>
            </a:r>
            <a:endParaRPr lang="en-US" sz="1600"/>
          </a:p>
        </p:txBody>
      </p:sp>
      <p:sp>
        <p:nvSpPr>
          <p:cNvPr id="5" name="Slide Number Placeholder 4"/>
          <p:cNvSpPr>
            <a:spLocks noGrp="1"/>
          </p:cNvSpPr>
          <p:nvPr>
            <p:ph type="sldNum" sz="quarter" idx="12"/>
          </p:nvPr>
        </p:nvSpPr>
        <p:spPr/>
        <p:txBody>
          <a:bodyPr/>
          <a:lstStyle/>
          <a:p>
            <a:fld id="{1FC54B03-E980-44E0-A0F1-6CAD9D10ECFB}" type="slidenum">
              <a:rPr lang="fi-FI" smtClean="0"/>
              <a:pPr/>
              <a:t>141</a:t>
            </a:fld>
            <a:endParaRPr lang="fi-FI"/>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sz="3600" dirty="0" smtClean="0"/>
              <a:t>Testiympäristö / Sidosryhmät</a:t>
            </a:r>
            <a:endParaRPr lang="en-US" sz="3600" dirty="0"/>
          </a:p>
        </p:txBody>
      </p:sp>
      <p:sp>
        <p:nvSpPr>
          <p:cNvPr id="4" name="Oval 3"/>
          <p:cNvSpPr/>
          <p:nvPr/>
        </p:nvSpPr>
        <p:spPr>
          <a:xfrm>
            <a:off x="3131840" y="3212976"/>
            <a:ext cx="2016224" cy="936104"/>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fi-FI" dirty="0" smtClean="0"/>
              <a:t>Testi-ympäristöt</a:t>
            </a:r>
            <a:endParaRPr lang="en-US" dirty="0"/>
          </a:p>
        </p:txBody>
      </p:sp>
      <p:sp>
        <p:nvSpPr>
          <p:cNvPr id="5" name="TextBox 4"/>
          <p:cNvSpPr txBox="1"/>
          <p:nvPr/>
        </p:nvSpPr>
        <p:spPr>
          <a:xfrm>
            <a:off x="5004048" y="2837364"/>
            <a:ext cx="1296144" cy="584775"/>
          </a:xfrm>
          <a:prstGeom prst="rect">
            <a:avLst/>
          </a:prstGeom>
          <a:noFill/>
        </p:spPr>
        <p:txBody>
          <a:bodyPr wrap="square" rtlCol="0">
            <a:spAutoFit/>
          </a:bodyPr>
          <a:lstStyle/>
          <a:p>
            <a:pPr algn="ctr"/>
            <a:r>
              <a:rPr lang="fi-FI" sz="1600" b="1" dirty="0" smtClean="0"/>
              <a:t>Sovellus-toimittaja</a:t>
            </a:r>
            <a:endParaRPr lang="en-US" sz="1600" b="1" dirty="0"/>
          </a:p>
        </p:txBody>
      </p:sp>
      <p:sp>
        <p:nvSpPr>
          <p:cNvPr id="6" name="TextBox 5"/>
          <p:cNvSpPr txBox="1"/>
          <p:nvPr/>
        </p:nvSpPr>
        <p:spPr>
          <a:xfrm>
            <a:off x="6156176" y="2708920"/>
            <a:ext cx="2952328" cy="830997"/>
          </a:xfrm>
          <a:prstGeom prst="rect">
            <a:avLst/>
          </a:prstGeom>
          <a:noFill/>
        </p:spPr>
        <p:txBody>
          <a:bodyPr wrap="square" rtlCol="0">
            <a:spAutoFit/>
          </a:bodyPr>
          <a:lstStyle/>
          <a:p>
            <a:r>
              <a:rPr lang="fi-FI" sz="1200" dirty="0" smtClean="0"/>
              <a:t>Saavutettavuus</a:t>
            </a:r>
          </a:p>
          <a:p>
            <a:r>
              <a:rPr lang="fi-FI" sz="1200" dirty="0" smtClean="0"/>
              <a:t>Versioiva kehittäminen</a:t>
            </a:r>
          </a:p>
          <a:p>
            <a:r>
              <a:rPr lang="fi-FI" sz="1200" dirty="0" smtClean="0"/>
              <a:t>Projektin ulkoiset yhteydet</a:t>
            </a:r>
          </a:p>
          <a:p>
            <a:r>
              <a:rPr lang="fi-FI" sz="1200" dirty="0" smtClean="0"/>
              <a:t>Operointimahdollisuudet, joustavuus</a:t>
            </a:r>
            <a:endParaRPr lang="en-US" sz="1200" dirty="0"/>
          </a:p>
        </p:txBody>
      </p:sp>
      <p:sp>
        <p:nvSpPr>
          <p:cNvPr id="8" name="TextBox 7"/>
          <p:cNvSpPr txBox="1"/>
          <p:nvPr/>
        </p:nvSpPr>
        <p:spPr>
          <a:xfrm>
            <a:off x="4800600" y="4067780"/>
            <a:ext cx="1787624" cy="584775"/>
          </a:xfrm>
          <a:prstGeom prst="rect">
            <a:avLst/>
          </a:prstGeom>
          <a:noFill/>
        </p:spPr>
        <p:txBody>
          <a:bodyPr wrap="square" rtlCol="0">
            <a:spAutoFit/>
          </a:bodyPr>
          <a:lstStyle/>
          <a:p>
            <a:pPr algn="ctr"/>
            <a:r>
              <a:rPr lang="fi-FI" sz="1600" b="1" dirty="0" smtClean="0"/>
              <a:t>Liiketoiminta-testaus</a:t>
            </a:r>
            <a:endParaRPr lang="en-US" sz="1600" b="1" dirty="0"/>
          </a:p>
        </p:txBody>
      </p:sp>
      <p:sp>
        <p:nvSpPr>
          <p:cNvPr id="9" name="TextBox 8"/>
          <p:cNvSpPr txBox="1"/>
          <p:nvPr/>
        </p:nvSpPr>
        <p:spPr>
          <a:xfrm>
            <a:off x="4860032" y="4931876"/>
            <a:ext cx="1728192" cy="338554"/>
          </a:xfrm>
          <a:prstGeom prst="rect">
            <a:avLst/>
          </a:prstGeom>
          <a:noFill/>
        </p:spPr>
        <p:txBody>
          <a:bodyPr wrap="square" rtlCol="0">
            <a:spAutoFit/>
          </a:bodyPr>
          <a:lstStyle/>
          <a:p>
            <a:pPr algn="ctr"/>
            <a:r>
              <a:rPr lang="fi-FI" sz="1600" b="1" dirty="0" smtClean="0"/>
              <a:t>Taloushallinto</a:t>
            </a:r>
            <a:endParaRPr lang="en-US" sz="1600" b="1" dirty="0"/>
          </a:p>
        </p:txBody>
      </p:sp>
      <p:sp>
        <p:nvSpPr>
          <p:cNvPr id="10" name="TextBox 9"/>
          <p:cNvSpPr txBox="1"/>
          <p:nvPr/>
        </p:nvSpPr>
        <p:spPr>
          <a:xfrm>
            <a:off x="6552728" y="3789040"/>
            <a:ext cx="2555776" cy="1015663"/>
          </a:xfrm>
          <a:prstGeom prst="rect">
            <a:avLst/>
          </a:prstGeom>
          <a:noFill/>
        </p:spPr>
        <p:txBody>
          <a:bodyPr wrap="square" rtlCol="0">
            <a:spAutoFit/>
          </a:bodyPr>
          <a:lstStyle/>
          <a:p>
            <a:r>
              <a:rPr lang="fi-FI" sz="1200" dirty="0" smtClean="0"/>
              <a:t>Selkeys ja helppous</a:t>
            </a:r>
          </a:p>
          <a:p>
            <a:r>
              <a:rPr lang="fi-FI" sz="1200" dirty="0" smtClean="0"/>
              <a:t>Testausrauha</a:t>
            </a:r>
          </a:p>
          <a:p>
            <a:r>
              <a:rPr lang="fi-FI" sz="1200" dirty="0" smtClean="0"/>
              <a:t>Luottamus </a:t>
            </a:r>
            <a:r>
              <a:rPr lang="fi-FI" sz="1200" dirty="0" err="1" smtClean="0"/>
              <a:t>tuotantoonsiirtoon</a:t>
            </a:r>
            <a:endParaRPr lang="fi-FI" sz="1200" dirty="0" smtClean="0"/>
          </a:p>
          <a:p>
            <a:r>
              <a:rPr lang="fi-FI" sz="1200" dirty="0" smtClean="0"/>
              <a:t>Aineisto ja yhteydet</a:t>
            </a:r>
          </a:p>
          <a:p>
            <a:r>
              <a:rPr lang="fi-FI" sz="1200" dirty="0" smtClean="0"/>
              <a:t>Ajankulun nopeuttaminen</a:t>
            </a:r>
            <a:endParaRPr lang="en-US" sz="1200" dirty="0"/>
          </a:p>
        </p:txBody>
      </p:sp>
      <p:sp>
        <p:nvSpPr>
          <p:cNvPr id="11" name="TextBox 10"/>
          <p:cNvSpPr txBox="1"/>
          <p:nvPr/>
        </p:nvSpPr>
        <p:spPr>
          <a:xfrm>
            <a:off x="5004048" y="5238492"/>
            <a:ext cx="3672408" cy="276999"/>
          </a:xfrm>
          <a:prstGeom prst="rect">
            <a:avLst/>
          </a:prstGeom>
          <a:noFill/>
        </p:spPr>
        <p:txBody>
          <a:bodyPr wrap="square" rtlCol="0">
            <a:spAutoFit/>
          </a:bodyPr>
          <a:lstStyle/>
          <a:p>
            <a:r>
              <a:rPr lang="fi-FI" sz="1200" dirty="0" smtClean="0"/>
              <a:t>Kustannustehokkuus (hankinnat &amp; palvelut)</a:t>
            </a:r>
            <a:endParaRPr lang="en-US" sz="1200" dirty="0"/>
          </a:p>
        </p:txBody>
      </p:sp>
      <p:sp>
        <p:nvSpPr>
          <p:cNvPr id="12" name="TextBox 11"/>
          <p:cNvSpPr txBox="1"/>
          <p:nvPr/>
        </p:nvSpPr>
        <p:spPr>
          <a:xfrm>
            <a:off x="3131840" y="2348880"/>
            <a:ext cx="1728192" cy="584775"/>
          </a:xfrm>
          <a:prstGeom prst="rect">
            <a:avLst/>
          </a:prstGeom>
          <a:noFill/>
        </p:spPr>
        <p:txBody>
          <a:bodyPr wrap="square" rtlCol="0">
            <a:spAutoFit/>
          </a:bodyPr>
          <a:lstStyle/>
          <a:p>
            <a:pPr algn="ctr"/>
            <a:r>
              <a:rPr lang="fi-FI" sz="1600" b="1" dirty="0" smtClean="0"/>
              <a:t>Tuotannon tuki</a:t>
            </a:r>
            <a:endParaRPr lang="en-US" sz="1600" b="1" dirty="0"/>
          </a:p>
        </p:txBody>
      </p:sp>
      <p:sp>
        <p:nvSpPr>
          <p:cNvPr id="13" name="TextBox 12"/>
          <p:cNvSpPr txBox="1"/>
          <p:nvPr/>
        </p:nvSpPr>
        <p:spPr>
          <a:xfrm>
            <a:off x="2699792" y="1916832"/>
            <a:ext cx="3277662" cy="461665"/>
          </a:xfrm>
          <a:prstGeom prst="rect">
            <a:avLst/>
          </a:prstGeom>
          <a:noFill/>
        </p:spPr>
        <p:txBody>
          <a:bodyPr wrap="square" rtlCol="0">
            <a:spAutoFit/>
          </a:bodyPr>
          <a:lstStyle/>
          <a:p>
            <a:r>
              <a:rPr lang="fi-FI" sz="1200" dirty="0" smtClean="0"/>
              <a:t>Helppous jatkuvuuden varmentamiseen</a:t>
            </a:r>
          </a:p>
          <a:p>
            <a:r>
              <a:rPr lang="fi-FI" sz="1200" dirty="0" smtClean="0"/>
              <a:t>Näkyvyys tulevaan kokonaisuuteen</a:t>
            </a:r>
            <a:endParaRPr lang="en-US" sz="1200" dirty="0"/>
          </a:p>
        </p:txBody>
      </p:sp>
      <p:sp>
        <p:nvSpPr>
          <p:cNvPr id="14" name="TextBox 13"/>
          <p:cNvSpPr txBox="1"/>
          <p:nvPr/>
        </p:nvSpPr>
        <p:spPr>
          <a:xfrm>
            <a:off x="1259632" y="2924944"/>
            <a:ext cx="1448544" cy="584775"/>
          </a:xfrm>
          <a:prstGeom prst="rect">
            <a:avLst/>
          </a:prstGeom>
          <a:noFill/>
        </p:spPr>
        <p:txBody>
          <a:bodyPr wrap="square" rtlCol="0">
            <a:spAutoFit/>
          </a:bodyPr>
          <a:lstStyle/>
          <a:p>
            <a:pPr algn="ctr"/>
            <a:r>
              <a:rPr lang="fi-FI" sz="1600" b="1" dirty="0" smtClean="0"/>
              <a:t>Teknologia-toimittaja</a:t>
            </a:r>
            <a:endParaRPr lang="en-US" sz="1600" b="1" dirty="0"/>
          </a:p>
        </p:txBody>
      </p:sp>
      <p:sp>
        <p:nvSpPr>
          <p:cNvPr id="15" name="TextBox 14"/>
          <p:cNvSpPr txBox="1"/>
          <p:nvPr/>
        </p:nvSpPr>
        <p:spPr>
          <a:xfrm>
            <a:off x="288032" y="2780928"/>
            <a:ext cx="2555776" cy="276999"/>
          </a:xfrm>
          <a:prstGeom prst="rect">
            <a:avLst/>
          </a:prstGeom>
          <a:noFill/>
        </p:spPr>
        <p:txBody>
          <a:bodyPr wrap="square" rtlCol="0">
            <a:spAutoFit/>
          </a:bodyPr>
          <a:lstStyle/>
          <a:p>
            <a:r>
              <a:rPr lang="fi-FI" sz="1200" dirty="0" smtClean="0"/>
              <a:t>Tasonnostot</a:t>
            </a:r>
            <a:endParaRPr lang="en-US" sz="1200" dirty="0"/>
          </a:p>
        </p:txBody>
      </p:sp>
      <p:sp>
        <p:nvSpPr>
          <p:cNvPr id="16" name="TextBox 15"/>
          <p:cNvSpPr txBox="1"/>
          <p:nvPr/>
        </p:nvSpPr>
        <p:spPr>
          <a:xfrm>
            <a:off x="288032" y="3789040"/>
            <a:ext cx="2339752" cy="338554"/>
          </a:xfrm>
          <a:prstGeom prst="rect">
            <a:avLst/>
          </a:prstGeom>
          <a:noFill/>
        </p:spPr>
        <p:txBody>
          <a:bodyPr wrap="square" rtlCol="0">
            <a:spAutoFit/>
          </a:bodyPr>
          <a:lstStyle/>
          <a:p>
            <a:pPr algn="ctr"/>
            <a:r>
              <a:rPr lang="fi-FI" sz="1600" b="1" dirty="0" smtClean="0"/>
              <a:t>Täydentävä testaus</a:t>
            </a:r>
            <a:endParaRPr lang="en-US" sz="1600" b="1" dirty="0"/>
          </a:p>
        </p:txBody>
      </p:sp>
      <p:sp>
        <p:nvSpPr>
          <p:cNvPr id="17" name="TextBox 16"/>
          <p:cNvSpPr txBox="1"/>
          <p:nvPr/>
        </p:nvSpPr>
        <p:spPr>
          <a:xfrm>
            <a:off x="323528" y="4077072"/>
            <a:ext cx="2555776" cy="461665"/>
          </a:xfrm>
          <a:prstGeom prst="rect">
            <a:avLst/>
          </a:prstGeom>
          <a:noFill/>
        </p:spPr>
        <p:txBody>
          <a:bodyPr wrap="square" rtlCol="0">
            <a:spAutoFit/>
          </a:bodyPr>
          <a:lstStyle/>
          <a:p>
            <a:r>
              <a:rPr lang="fi-FI" sz="1200" dirty="0" smtClean="0"/>
              <a:t>Tuotannonkaltaisuus</a:t>
            </a:r>
          </a:p>
          <a:p>
            <a:r>
              <a:rPr lang="fi-FI" sz="1200" dirty="0" smtClean="0"/>
              <a:t>Ongelmanselvittely</a:t>
            </a:r>
            <a:endParaRPr lang="en-US" sz="1200" dirty="0"/>
          </a:p>
        </p:txBody>
      </p:sp>
      <p:sp>
        <p:nvSpPr>
          <p:cNvPr id="18" name="TextBox 17"/>
          <p:cNvSpPr txBox="1"/>
          <p:nvPr/>
        </p:nvSpPr>
        <p:spPr>
          <a:xfrm>
            <a:off x="899592" y="4581128"/>
            <a:ext cx="1728192" cy="338554"/>
          </a:xfrm>
          <a:prstGeom prst="rect">
            <a:avLst/>
          </a:prstGeom>
          <a:noFill/>
        </p:spPr>
        <p:txBody>
          <a:bodyPr wrap="square" rtlCol="0">
            <a:spAutoFit/>
          </a:bodyPr>
          <a:lstStyle/>
          <a:p>
            <a:pPr algn="ctr"/>
            <a:r>
              <a:rPr lang="fi-FI" sz="1600" b="1" dirty="0" smtClean="0"/>
              <a:t>Ylläpito</a:t>
            </a:r>
            <a:endParaRPr lang="en-US" sz="1600" b="1" dirty="0"/>
          </a:p>
        </p:txBody>
      </p:sp>
      <p:sp>
        <p:nvSpPr>
          <p:cNvPr id="19" name="TextBox 18"/>
          <p:cNvSpPr txBox="1"/>
          <p:nvPr/>
        </p:nvSpPr>
        <p:spPr>
          <a:xfrm>
            <a:off x="1043608" y="4869160"/>
            <a:ext cx="3672408" cy="461665"/>
          </a:xfrm>
          <a:prstGeom prst="rect">
            <a:avLst/>
          </a:prstGeom>
          <a:noFill/>
        </p:spPr>
        <p:txBody>
          <a:bodyPr wrap="square" rtlCol="0">
            <a:spAutoFit/>
          </a:bodyPr>
          <a:lstStyle/>
          <a:p>
            <a:r>
              <a:rPr lang="fi-FI" sz="1200" dirty="0" smtClean="0"/>
              <a:t>Palvelun ennustettavuus</a:t>
            </a:r>
          </a:p>
          <a:p>
            <a:r>
              <a:rPr lang="fi-FI" sz="1200" dirty="0" smtClean="0"/>
              <a:t>Vastuunjako</a:t>
            </a:r>
            <a:endParaRPr lang="en-US" sz="1200" dirty="0"/>
          </a:p>
        </p:txBody>
      </p:sp>
      <p:sp>
        <p:nvSpPr>
          <p:cNvPr id="20" name="TextBox 19"/>
          <p:cNvSpPr txBox="1"/>
          <p:nvPr/>
        </p:nvSpPr>
        <p:spPr>
          <a:xfrm>
            <a:off x="6228184" y="1811431"/>
            <a:ext cx="2230016" cy="338554"/>
          </a:xfrm>
          <a:prstGeom prst="rect">
            <a:avLst/>
          </a:prstGeom>
          <a:noFill/>
        </p:spPr>
        <p:txBody>
          <a:bodyPr wrap="square" rtlCol="0">
            <a:spAutoFit/>
          </a:bodyPr>
          <a:lstStyle/>
          <a:p>
            <a:pPr algn="ctr"/>
            <a:r>
              <a:rPr lang="fi-FI" sz="1600" b="1" dirty="0" smtClean="0"/>
              <a:t>Liiketoimintajohto</a:t>
            </a:r>
            <a:endParaRPr lang="en-US" sz="1600" b="1" dirty="0"/>
          </a:p>
        </p:txBody>
      </p:sp>
      <p:sp>
        <p:nvSpPr>
          <p:cNvPr id="21" name="TextBox 20"/>
          <p:cNvSpPr txBox="1"/>
          <p:nvPr/>
        </p:nvSpPr>
        <p:spPr>
          <a:xfrm>
            <a:off x="6548707" y="1321604"/>
            <a:ext cx="2555776" cy="461665"/>
          </a:xfrm>
          <a:prstGeom prst="rect">
            <a:avLst/>
          </a:prstGeom>
          <a:noFill/>
        </p:spPr>
        <p:txBody>
          <a:bodyPr wrap="square" rtlCol="0">
            <a:spAutoFit/>
          </a:bodyPr>
          <a:lstStyle/>
          <a:p>
            <a:r>
              <a:rPr lang="fi-FI" sz="1200" dirty="0" smtClean="0"/>
              <a:t>Useat rinnakkain läpivietävät sovellusmuutokset</a:t>
            </a:r>
            <a:endParaRPr lang="en-US" sz="1200" dirty="0"/>
          </a:p>
        </p:txBody>
      </p:sp>
      <p:sp>
        <p:nvSpPr>
          <p:cNvPr id="22" name="TextBox 21"/>
          <p:cNvSpPr txBox="1"/>
          <p:nvPr/>
        </p:nvSpPr>
        <p:spPr>
          <a:xfrm>
            <a:off x="35496" y="1484784"/>
            <a:ext cx="3131840" cy="646331"/>
          </a:xfrm>
          <a:prstGeom prst="rect">
            <a:avLst/>
          </a:prstGeom>
          <a:noFill/>
        </p:spPr>
        <p:txBody>
          <a:bodyPr wrap="square" rtlCol="0">
            <a:spAutoFit/>
          </a:bodyPr>
          <a:lstStyle/>
          <a:p>
            <a:r>
              <a:rPr lang="fi-FI" sz="1200" dirty="0" smtClean="0"/>
              <a:t>Teknologiaversioiden tukeminen</a:t>
            </a:r>
          </a:p>
          <a:p>
            <a:r>
              <a:rPr lang="fi-FI" sz="1200" dirty="0" smtClean="0"/>
              <a:t>Teknologiavalikoiman rajoittaminen</a:t>
            </a:r>
          </a:p>
          <a:p>
            <a:r>
              <a:rPr lang="fi-FI" sz="1200" dirty="0" smtClean="0"/>
              <a:t>Sovellusversioiden hallinta</a:t>
            </a:r>
            <a:endParaRPr lang="en-US" sz="1200" dirty="0"/>
          </a:p>
        </p:txBody>
      </p:sp>
      <p:sp>
        <p:nvSpPr>
          <p:cNvPr id="23" name="TextBox 22"/>
          <p:cNvSpPr txBox="1"/>
          <p:nvPr/>
        </p:nvSpPr>
        <p:spPr>
          <a:xfrm>
            <a:off x="1043608" y="2134597"/>
            <a:ext cx="1664568" cy="338554"/>
          </a:xfrm>
          <a:prstGeom prst="rect">
            <a:avLst/>
          </a:prstGeom>
          <a:noFill/>
        </p:spPr>
        <p:txBody>
          <a:bodyPr wrap="square" rtlCol="0">
            <a:spAutoFit/>
          </a:bodyPr>
          <a:lstStyle/>
          <a:p>
            <a:pPr algn="ctr"/>
            <a:r>
              <a:rPr lang="fi-FI" sz="1600" b="1" dirty="0" smtClean="0"/>
              <a:t>Arkkitehtuuri</a:t>
            </a:r>
            <a:endParaRPr lang="en-US" sz="1600" b="1" dirty="0"/>
          </a:p>
        </p:txBody>
      </p:sp>
      <p:sp>
        <p:nvSpPr>
          <p:cNvPr id="26" name="TextBox 25"/>
          <p:cNvSpPr txBox="1"/>
          <p:nvPr/>
        </p:nvSpPr>
        <p:spPr>
          <a:xfrm>
            <a:off x="4183437" y="5589240"/>
            <a:ext cx="1728192" cy="338554"/>
          </a:xfrm>
          <a:prstGeom prst="rect">
            <a:avLst/>
          </a:prstGeom>
          <a:noFill/>
        </p:spPr>
        <p:txBody>
          <a:bodyPr wrap="square" rtlCol="0">
            <a:spAutoFit/>
          </a:bodyPr>
          <a:lstStyle/>
          <a:p>
            <a:pPr algn="ctr"/>
            <a:r>
              <a:rPr lang="fi-FI" sz="1600" b="1" dirty="0" smtClean="0"/>
              <a:t>Tietoturva</a:t>
            </a:r>
            <a:endParaRPr lang="en-US" sz="1600" b="1" dirty="0"/>
          </a:p>
        </p:txBody>
      </p:sp>
      <p:sp>
        <p:nvSpPr>
          <p:cNvPr id="27" name="TextBox 26"/>
          <p:cNvSpPr txBox="1"/>
          <p:nvPr/>
        </p:nvSpPr>
        <p:spPr>
          <a:xfrm>
            <a:off x="4463988" y="5877272"/>
            <a:ext cx="3672408" cy="276999"/>
          </a:xfrm>
          <a:prstGeom prst="rect">
            <a:avLst/>
          </a:prstGeom>
          <a:noFill/>
        </p:spPr>
        <p:txBody>
          <a:bodyPr wrap="square" rtlCol="0">
            <a:spAutoFit/>
          </a:bodyPr>
          <a:lstStyle/>
          <a:p>
            <a:r>
              <a:rPr lang="fi-FI" sz="1200" dirty="0" smtClean="0"/>
              <a:t>Tietojen suojaaminen</a:t>
            </a:r>
            <a:endParaRPr lang="en-US" sz="1200" dirty="0"/>
          </a:p>
        </p:txBody>
      </p:sp>
      <p:sp>
        <p:nvSpPr>
          <p:cNvPr id="28" name="TextBox 27"/>
          <p:cNvSpPr txBox="1"/>
          <p:nvPr/>
        </p:nvSpPr>
        <p:spPr>
          <a:xfrm>
            <a:off x="1331640" y="5486400"/>
            <a:ext cx="1728192" cy="338554"/>
          </a:xfrm>
          <a:prstGeom prst="rect">
            <a:avLst/>
          </a:prstGeom>
          <a:noFill/>
        </p:spPr>
        <p:txBody>
          <a:bodyPr wrap="square" rtlCol="0">
            <a:spAutoFit/>
          </a:bodyPr>
          <a:lstStyle/>
          <a:p>
            <a:pPr algn="ctr"/>
            <a:r>
              <a:rPr lang="fi-FI" sz="1600" b="1" dirty="0" smtClean="0"/>
              <a:t>Hankinta</a:t>
            </a:r>
            <a:endParaRPr lang="en-US" sz="1600" b="1" dirty="0"/>
          </a:p>
        </p:txBody>
      </p:sp>
      <p:sp>
        <p:nvSpPr>
          <p:cNvPr id="29" name="TextBox 28"/>
          <p:cNvSpPr txBox="1"/>
          <p:nvPr/>
        </p:nvSpPr>
        <p:spPr>
          <a:xfrm>
            <a:off x="1691680" y="5782816"/>
            <a:ext cx="3672408" cy="461665"/>
          </a:xfrm>
          <a:prstGeom prst="rect">
            <a:avLst/>
          </a:prstGeom>
          <a:noFill/>
        </p:spPr>
        <p:txBody>
          <a:bodyPr wrap="square" rtlCol="0">
            <a:spAutoFit/>
          </a:bodyPr>
          <a:lstStyle/>
          <a:p>
            <a:r>
              <a:rPr lang="fi-FI" sz="1200" dirty="0" smtClean="0"/>
              <a:t>Rinnakkaistoimituksien läpivienti</a:t>
            </a:r>
          </a:p>
          <a:p>
            <a:r>
              <a:rPr lang="fi-FI" sz="1200" dirty="0" smtClean="0"/>
              <a:t>Toimituksien hajauttaminen</a:t>
            </a:r>
            <a:endParaRPr lang="en-US" sz="1200" dirty="0"/>
          </a:p>
        </p:txBody>
      </p:sp>
      <p:sp>
        <p:nvSpPr>
          <p:cNvPr id="30" name="Slide Number Placeholder 29"/>
          <p:cNvSpPr>
            <a:spLocks noGrp="1"/>
          </p:cNvSpPr>
          <p:nvPr>
            <p:ph type="sldNum" sz="quarter" idx="12"/>
          </p:nvPr>
        </p:nvSpPr>
        <p:spPr/>
        <p:txBody>
          <a:bodyPr/>
          <a:lstStyle/>
          <a:p>
            <a:fld id="{1FC54B03-E980-44E0-A0F1-6CAD9D10ECFB}" type="slidenum">
              <a:rPr lang="fi-FI" smtClean="0"/>
              <a:pPr/>
              <a:t>142</a:t>
            </a:fld>
            <a:endParaRPr lang="fi-FI"/>
          </a:p>
        </p:txBody>
      </p:sp>
    </p:spTree>
    <p:extLst>
      <p:ext uri="{BB962C8B-B14F-4D97-AF65-F5344CB8AC3E}">
        <p14:creationId xmlns:p14="http://schemas.microsoft.com/office/powerpoint/2010/main" val="4263432348"/>
      </p:ext>
    </p:extLst>
  </p:cSld>
  <p:clrMapOvr>
    <a:masterClrMapping/>
  </p:clrMapOvr>
  <p:timing>
    <p:tnLst>
      <p:par>
        <p:cTn xmlns:p14="http://schemas.microsoft.com/office/powerpoint/2010/mai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Testiympäristön jakaminen toimittajan kanssa hyväksymistestauskaudella</a:t>
            </a:r>
            <a:endParaRPr lang="en-US" dirty="0"/>
          </a:p>
        </p:txBody>
      </p:sp>
      <p:sp>
        <p:nvSpPr>
          <p:cNvPr id="3" name="Content Placeholder 2"/>
          <p:cNvSpPr>
            <a:spLocks noGrp="1"/>
          </p:cNvSpPr>
          <p:nvPr>
            <p:ph idx="1"/>
          </p:nvPr>
        </p:nvSpPr>
        <p:spPr/>
        <p:txBody>
          <a:bodyPr>
            <a:normAutofit/>
          </a:bodyPr>
          <a:lstStyle/>
          <a:p>
            <a:r>
              <a:rPr lang="fi-FI" sz="2400" dirty="0" smtClean="0"/>
              <a:t>Virheen löytyminen hyväksymistestausvaiheessa vaatii paluuta toimittajan testausvaiheisiin: muutoksen testaaminen + regressiotestaus muutoksen sivuvaikutuksille. </a:t>
            </a:r>
          </a:p>
          <a:p>
            <a:r>
              <a:rPr lang="fi-FI" sz="2400" dirty="0" smtClean="0"/>
              <a:t>Mikäli ympäristö on jaettu, hyväksymistestauskaudella ympäristö on ensisijaisesti varattu hyväksymistestauksen tarkoituksiin. </a:t>
            </a:r>
          </a:p>
        </p:txBody>
      </p:sp>
      <p:sp>
        <p:nvSpPr>
          <p:cNvPr id="4" name="Slide Number Placeholder 3"/>
          <p:cNvSpPr>
            <a:spLocks noGrp="1"/>
          </p:cNvSpPr>
          <p:nvPr>
            <p:ph type="sldNum" sz="quarter" idx="12"/>
          </p:nvPr>
        </p:nvSpPr>
        <p:spPr/>
        <p:txBody>
          <a:bodyPr/>
          <a:lstStyle/>
          <a:p>
            <a:fld id="{1FC54B03-E980-44E0-A0F1-6CAD9D10ECFB}" type="slidenum">
              <a:rPr lang="fi-FI" smtClean="0"/>
              <a:pPr/>
              <a:t>143</a:t>
            </a:fld>
            <a:endParaRPr lang="fi-FI"/>
          </a:p>
        </p:txBody>
      </p:sp>
    </p:spTree>
    <p:extLst>
      <p:ext uri="{BB962C8B-B14F-4D97-AF65-F5344CB8AC3E}">
        <p14:creationId xmlns:p14="http://schemas.microsoft.com/office/powerpoint/2010/main" val="3282118523"/>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i-FI" dirty="0" smtClean="0"/>
              <a:t>Malli 1: Ympäristöjen eriyttäminen</a:t>
            </a:r>
            <a:endParaRPr lang="en-US" dirty="0"/>
          </a:p>
        </p:txBody>
      </p:sp>
      <p:sp>
        <p:nvSpPr>
          <p:cNvPr id="5" name="Content Placeholder 4"/>
          <p:cNvSpPr>
            <a:spLocks noGrp="1"/>
          </p:cNvSpPr>
          <p:nvPr>
            <p:ph sz="half" idx="2"/>
          </p:nvPr>
        </p:nvSpPr>
        <p:spPr/>
        <p:txBody>
          <a:bodyPr>
            <a:normAutofit/>
          </a:bodyPr>
          <a:lstStyle/>
          <a:p>
            <a:r>
              <a:rPr lang="fi-FI" sz="1400" dirty="0" smtClean="0"/>
              <a:t>Keskeinen idea:</a:t>
            </a:r>
          </a:p>
          <a:p>
            <a:pPr lvl="1"/>
            <a:r>
              <a:rPr lang="fi-FI" sz="1200" dirty="0" smtClean="0"/>
              <a:t>JÄRJ. varattu hyväksymistestaukselle, virheistä johtuvat korjaukset testattava muualla</a:t>
            </a:r>
          </a:p>
          <a:p>
            <a:r>
              <a:rPr lang="fi-FI" sz="1400" dirty="0" smtClean="0"/>
              <a:t>Vahvuudet:</a:t>
            </a:r>
          </a:p>
          <a:p>
            <a:pPr lvl="1"/>
            <a:r>
              <a:rPr lang="fi-FI" sz="1200" dirty="0" smtClean="0"/>
              <a:t>Nykyisen hyväksymistestauksen suunnittelun </a:t>
            </a:r>
            <a:r>
              <a:rPr lang="fi-FI" sz="1200" dirty="0" err="1" smtClean="0"/>
              <a:t>lähtöolettama</a:t>
            </a:r>
            <a:r>
              <a:rPr lang="fi-FI" sz="1200" dirty="0" smtClean="0"/>
              <a:t>: toisinkaan ei ole sovittu. </a:t>
            </a:r>
          </a:p>
          <a:p>
            <a:pPr lvl="1"/>
            <a:r>
              <a:rPr lang="fi-FI" sz="1200" dirty="0" smtClean="0"/>
              <a:t>Pitää hyväksymistestauksen luovutusten ”hygieniatason” korkealla – hyväksymistestausta voidaan edistää hallitusti ottaen vastaan testattuja korjauksia säännöllisesti (kahdesti viikossa)</a:t>
            </a:r>
          </a:p>
          <a:p>
            <a:pPr lvl="1"/>
            <a:r>
              <a:rPr lang="fi-FI" sz="1200" dirty="0" smtClean="0"/>
              <a:t>Hyväksymistestauksen kalenteriajan riittävyys voidaan turvata ottamalla usein pieniä korjausversioita – suppeampi liiketoiminnan regressiotestaustarve</a:t>
            </a:r>
          </a:p>
          <a:p>
            <a:r>
              <a:rPr lang="fi-FI" sz="1400" dirty="0" smtClean="0"/>
              <a:t>Heikkoudet:</a:t>
            </a:r>
          </a:p>
          <a:p>
            <a:pPr lvl="1"/>
            <a:r>
              <a:rPr lang="fi-FI" sz="1200" dirty="0" smtClean="0"/>
              <a:t>Toimittaja joutuu panostamaan merkittävän työmäärän ympäristön aineistojen ajantasaistamiseen testauksen tarpeisiin</a:t>
            </a:r>
          </a:p>
          <a:p>
            <a:pPr lvl="1"/>
            <a:r>
              <a:rPr lang="fi-FI" sz="1200" dirty="0" smtClean="0"/>
              <a:t>Toimittaja ei pysty näkemään toimittamaansa laatua rajallisessa </a:t>
            </a:r>
            <a:r>
              <a:rPr lang="fi-FI" sz="1200" dirty="0" err="1" smtClean="0"/>
              <a:t>INTE-ympäristössä</a:t>
            </a:r>
            <a:r>
              <a:rPr lang="fi-FI" sz="1200" dirty="0" smtClean="0"/>
              <a:t> ja toimittaa puutteellista laatua hyväksymistestaukseen</a:t>
            </a:r>
          </a:p>
        </p:txBody>
      </p:sp>
      <p:sp>
        <p:nvSpPr>
          <p:cNvPr id="7" name="Rectangle 6"/>
          <p:cNvSpPr/>
          <p:nvPr/>
        </p:nvSpPr>
        <p:spPr>
          <a:xfrm rot="16200000">
            <a:off x="-1224644" y="3176971"/>
            <a:ext cx="3456383" cy="50405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i-FI" sz="1400" dirty="0" smtClean="0"/>
              <a:t>Hyväksymistestaukselle sovittu kalenteriaika</a:t>
            </a:r>
            <a:endParaRPr lang="en-US" sz="1400" dirty="0"/>
          </a:p>
        </p:txBody>
      </p:sp>
      <p:sp>
        <p:nvSpPr>
          <p:cNvPr id="9" name="Rectangle 8"/>
          <p:cNvSpPr/>
          <p:nvPr/>
        </p:nvSpPr>
        <p:spPr>
          <a:xfrm rot="16200000">
            <a:off x="-648580" y="3176972"/>
            <a:ext cx="3456384" cy="504056"/>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fi-FI" sz="1400" dirty="0" smtClean="0"/>
              <a:t>Hyväksymistestaukselle varattava kalenteriaika</a:t>
            </a:r>
            <a:endParaRPr lang="en-US" sz="1400" dirty="0"/>
          </a:p>
        </p:txBody>
      </p:sp>
      <p:sp>
        <p:nvSpPr>
          <p:cNvPr id="28" name="Rectangle 27"/>
          <p:cNvSpPr/>
          <p:nvPr/>
        </p:nvSpPr>
        <p:spPr>
          <a:xfrm>
            <a:off x="1475656" y="1700808"/>
            <a:ext cx="720080" cy="34563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HYTE</a:t>
            </a:r>
            <a:endParaRPr lang="fi-FI" dirty="0" smtClean="0"/>
          </a:p>
        </p:txBody>
      </p:sp>
      <p:sp>
        <p:nvSpPr>
          <p:cNvPr id="29" name="TextBox 28"/>
          <p:cNvSpPr txBox="1"/>
          <p:nvPr/>
        </p:nvSpPr>
        <p:spPr>
          <a:xfrm>
            <a:off x="1475656" y="1340768"/>
            <a:ext cx="720080" cy="369332"/>
          </a:xfrm>
          <a:prstGeom prst="rect">
            <a:avLst/>
          </a:prstGeom>
          <a:noFill/>
        </p:spPr>
        <p:txBody>
          <a:bodyPr wrap="square" rtlCol="0">
            <a:spAutoFit/>
          </a:bodyPr>
          <a:lstStyle/>
          <a:p>
            <a:pPr algn="ctr"/>
            <a:r>
              <a:rPr lang="fi-FI" dirty="0" smtClean="0"/>
              <a:t>JÄRJ.</a:t>
            </a:r>
            <a:endParaRPr lang="en-US" dirty="0"/>
          </a:p>
        </p:txBody>
      </p:sp>
      <p:sp>
        <p:nvSpPr>
          <p:cNvPr id="31" name="Rectangle 30"/>
          <p:cNvSpPr/>
          <p:nvPr/>
        </p:nvSpPr>
        <p:spPr>
          <a:xfrm>
            <a:off x="2915816" y="1700808"/>
            <a:ext cx="720080" cy="3456383"/>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fi-FI" dirty="0" smtClean="0"/>
              <a:t>JÄTE</a:t>
            </a:r>
          </a:p>
        </p:txBody>
      </p:sp>
      <p:sp>
        <p:nvSpPr>
          <p:cNvPr id="32" name="TextBox 31"/>
          <p:cNvSpPr txBox="1"/>
          <p:nvPr/>
        </p:nvSpPr>
        <p:spPr>
          <a:xfrm>
            <a:off x="2915816" y="1340768"/>
            <a:ext cx="720080" cy="369332"/>
          </a:xfrm>
          <a:prstGeom prst="rect">
            <a:avLst/>
          </a:prstGeom>
          <a:noFill/>
        </p:spPr>
        <p:txBody>
          <a:bodyPr wrap="square" rtlCol="0">
            <a:spAutoFit/>
          </a:bodyPr>
          <a:lstStyle/>
          <a:p>
            <a:pPr algn="ctr"/>
            <a:r>
              <a:rPr lang="fi-FI" dirty="0" smtClean="0"/>
              <a:t>INTE.</a:t>
            </a:r>
            <a:endParaRPr lang="en-US" dirty="0"/>
          </a:p>
        </p:txBody>
      </p:sp>
      <p:cxnSp>
        <p:nvCxnSpPr>
          <p:cNvPr id="34" name="Straight Connector 33"/>
          <p:cNvCxnSpPr/>
          <p:nvPr/>
        </p:nvCxnSpPr>
        <p:spPr>
          <a:xfrm>
            <a:off x="2555776" y="1484784"/>
            <a:ext cx="0" cy="3888432"/>
          </a:xfrm>
          <a:prstGeom prst="line">
            <a:avLst/>
          </a:prstGeom>
          <a:ln>
            <a:prstDash val="sysDash"/>
            <a:headEnd type="oval" w="med" len="med"/>
            <a:tailEnd type="oval" w="med" len="med"/>
          </a:ln>
        </p:spPr>
        <p:style>
          <a:lnRef idx="2">
            <a:schemeClr val="accent5"/>
          </a:lnRef>
          <a:fillRef idx="0">
            <a:schemeClr val="accent5"/>
          </a:fillRef>
          <a:effectRef idx="1">
            <a:schemeClr val="accent5"/>
          </a:effectRef>
          <a:fontRef idx="minor">
            <a:schemeClr val="tx1"/>
          </a:fontRef>
        </p:style>
      </p:cxnSp>
      <p:sp>
        <p:nvSpPr>
          <p:cNvPr id="11" name="Slide Number Placeholder 10"/>
          <p:cNvSpPr>
            <a:spLocks noGrp="1"/>
          </p:cNvSpPr>
          <p:nvPr>
            <p:ph type="sldNum" sz="quarter" idx="12"/>
          </p:nvPr>
        </p:nvSpPr>
        <p:spPr/>
        <p:txBody>
          <a:bodyPr/>
          <a:lstStyle/>
          <a:p>
            <a:fld id="{1FC54B03-E980-44E0-A0F1-6CAD9D10ECFB}" type="slidenum">
              <a:rPr lang="fi-FI" smtClean="0"/>
              <a:pPr/>
              <a:t>144</a:t>
            </a:fld>
            <a:endParaRPr lang="fi-FI"/>
          </a:p>
        </p:txBody>
      </p:sp>
    </p:spTree>
    <p:extLst>
      <p:ext uri="{BB962C8B-B14F-4D97-AF65-F5344CB8AC3E}">
        <p14:creationId xmlns:p14="http://schemas.microsoft.com/office/powerpoint/2010/main" val="3115778574"/>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Malli 2: Ympäristön jakaminen pelisäännöin</a:t>
            </a:r>
            <a:endParaRPr lang="en-US" dirty="0"/>
          </a:p>
        </p:txBody>
      </p:sp>
      <p:sp>
        <p:nvSpPr>
          <p:cNvPr id="5" name="Content Placeholder 4"/>
          <p:cNvSpPr>
            <a:spLocks noGrp="1"/>
          </p:cNvSpPr>
          <p:nvPr>
            <p:ph sz="half" idx="2"/>
          </p:nvPr>
        </p:nvSpPr>
        <p:spPr/>
        <p:txBody>
          <a:bodyPr/>
          <a:lstStyle/>
          <a:p>
            <a:r>
              <a:rPr lang="fi-FI" sz="1400" dirty="0" smtClean="0"/>
              <a:t>Keskeinen idea:</a:t>
            </a:r>
          </a:p>
          <a:p>
            <a:pPr lvl="1"/>
            <a:r>
              <a:rPr lang="fi-FI" sz="1200" dirty="0" smtClean="0"/>
              <a:t>Säännölliset asennukset sisältävät sekä toimittajan testiin että hyväksymistestiin luovutettavia asioita jotka erotellaan julkaisuselosteella</a:t>
            </a:r>
          </a:p>
          <a:p>
            <a:r>
              <a:rPr lang="fi-FI" sz="1400" dirty="0" smtClean="0"/>
              <a:t>Vahvuudet:</a:t>
            </a:r>
          </a:p>
          <a:p>
            <a:pPr lvl="1"/>
            <a:r>
              <a:rPr lang="fi-FI" sz="1200" dirty="0" smtClean="0"/>
              <a:t>Toimittajan ja asiakkaan testaukset voivat edetä rinnan, kalenteriaika voidaan optimoida</a:t>
            </a:r>
          </a:p>
          <a:p>
            <a:pPr lvl="1"/>
            <a:r>
              <a:rPr lang="fi-FI" sz="1200" dirty="0" smtClean="0"/>
              <a:t>Voidaan hyödyntää jaetusti tuotannonkaltaisinta testausympäristöä</a:t>
            </a:r>
          </a:p>
          <a:p>
            <a:pPr lvl="1"/>
            <a:r>
              <a:rPr lang="fi-FI" sz="1200" dirty="0" smtClean="0"/>
              <a:t>Pelisäännöin sovittavissa miten muutokset eritellään osapuolien vastuille, laaturiskiä voidaan hallita hyödyntäen koodikatselmointeja sekä </a:t>
            </a:r>
            <a:r>
              <a:rPr lang="fi-FI" sz="1200" dirty="0" err="1" smtClean="0"/>
              <a:t>INTE:ää</a:t>
            </a:r>
            <a:endParaRPr lang="fi-FI" sz="1200" dirty="0" smtClean="0"/>
          </a:p>
          <a:p>
            <a:r>
              <a:rPr lang="fi-FI" sz="1400" dirty="0" smtClean="0"/>
              <a:t>Heikkoudet:</a:t>
            </a:r>
          </a:p>
          <a:p>
            <a:pPr lvl="1"/>
            <a:r>
              <a:rPr lang="fi-FI" sz="1200" dirty="0" smtClean="0"/>
              <a:t>Laaturiski: korjausten vaatimat muutokset voivat olla korjaamatta tarkoitettua asiaa tai aiheuttaa sivuvaikutuksia, jotka haittaavat liiketoiminnan hyväksymistestausta</a:t>
            </a:r>
          </a:p>
          <a:p>
            <a:pPr lvl="1"/>
            <a:r>
              <a:rPr lang="fi-FI" sz="1200" dirty="0" smtClean="0"/>
              <a:t>Voi olla haastava hallittava vastuukysymysten osalta etenkin jos tarvitaan jatkoaikaa hidastuneelle hyväksymistestaukselle</a:t>
            </a:r>
            <a:endParaRPr lang="en-US" sz="1200" dirty="0"/>
          </a:p>
        </p:txBody>
      </p:sp>
      <p:sp>
        <p:nvSpPr>
          <p:cNvPr id="7" name="Rectangle 6"/>
          <p:cNvSpPr/>
          <p:nvPr/>
        </p:nvSpPr>
        <p:spPr>
          <a:xfrm rot="16200000">
            <a:off x="-1224644" y="3176971"/>
            <a:ext cx="3456383" cy="50405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i-FI" sz="1400" dirty="0" smtClean="0"/>
              <a:t>Hyväksymistestaukselle sovittu kalenteriaika</a:t>
            </a:r>
            <a:endParaRPr lang="en-US" sz="1400" dirty="0"/>
          </a:p>
        </p:txBody>
      </p:sp>
      <p:sp>
        <p:nvSpPr>
          <p:cNvPr id="9" name="Rectangle 8"/>
          <p:cNvSpPr/>
          <p:nvPr/>
        </p:nvSpPr>
        <p:spPr>
          <a:xfrm rot="16200000">
            <a:off x="-648580" y="3176972"/>
            <a:ext cx="3456384" cy="504056"/>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fi-FI" sz="1400" dirty="0" smtClean="0"/>
              <a:t>Hyväksymistestaukselle varattava kalenteriaika</a:t>
            </a:r>
            <a:endParaRPr lang="en-US" sz="1400" dirty="0"/>
          </a:p>
        </p:txBody>
      </p:sp>
      <p:grpSp>
        <p:nvGrpSpPr>
          <p:cNvPr id="3" name="Group 22"/>
          <p:cNvGrpSpPr/>
          <p:nvPr/>
        </p:nvGrpSpPr>
        <p:grpSpPr>
          <a:xfrm>
            <a:off x="1475656" y="1700808"/>
            <a:ext cx="1584176" cy="2664296"/>
            <a:chOff x="1475656" y="1700808"/>
            <a:chExt cx="1584176" cy="3456384"/>
          </a:xfrm>
        </p:grpSpPr>
        <p:sp>
          <p:nvSpPr>
            <p:cNvPr id="6" name="Rectangle 5"/>
            <p:cNvSpPr/>
            <p:nvPr/>
          </p:nvSpPr>
          <p:spPr>
            <a:xfrm>
              <a:off x="1475656" y="1700808"/>
              <a:ext cx="720080"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HYTE</a:t>
              </a:r>
            </a:p>
          </p:txBody>
        </p:sp>
        <p:sp>
          <p:nvSpPr>
            <p:cNvPr id="10" name="Rectangle 9"/>
            <p:cNvSpPr/>
            <p:nvPr/>
          </p:nvSpPr>
          <p:spPr>
            <a:xfrm>
              <a:off x="1475656" y="2204864"/>
              <a:ext cx="720080"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HYTE</a:t>
              </a:r>
            </a:p>
          </p:txBody>
        </p:sp>
        <p:sp>
          <p:nvSpPr>
            <p:cNvPr id="11" name="Rectangle 10"/>
            <p:cNvSpPr/>
            <p:nvPr/>
          </p:nvSpPr>
          <p:spPr>
            <a:xfrm>
              <a:off x="2339752" y="2204864"/>
              <a:ext cx="720080" cy="43204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fi-FI" dirty="0" smtClean="0"/>
                <a:t>JÄTE</a:t>
              </a:r>
            </a:p>
          </p:txBody>
        </p:sp>
        <p:sp>
          <p:nvSpPr>
            <p:cNvPr id="12" name="Rectangle 11"/>
            <p:cNvSpPr/>
            <p:nvPr/>
          </p:nvSpPr>
          <p:spPr>
            <a:xfrm>
              <a:off x="1475656" y="2708920"/>
              <a:ext cx="720080"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HYTE</a:t>
              </a:r>
            </a:p>
          </p:txBody>
        </p:sp>
        <p:sp>
          <p:nvSpPr>
            <p:cNvPr id="14" name="Rectangle 13"/>
            <p:cNvSpPr/>
            <p:nvPr/>
          </p:nvSpPr>
          <p:spPr>
            <a:xfrm>
              <a:off x="1475656" y="3212976"/>
              <a:ext cx="720080"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HYTE</a:t>
              </a:r>
            </a:p>
          </p:txBody>
        </p:sp>
        <p:sp>
          <p:nvSpPr>
            <p:cNvPr id="15" name="Rectangle 14"/>
            <p:cNvSpPr/>
            <p:nvPr/>
          </p:nvSpPr>
          <p:spPr>
            <a:xfrm>
              <a:off x="2339752" y="3697570"/>
              <a:ext cx="720080" cy="43204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fi-FI" dirty="0" smtClean="0"/>
                <a:t>JÄTE</a:t>
              </a:r>
            </a:p>
          </p:txBody>
        </p:sp>
        <p:sp>
          <p:nvSpPr>
            <p:cNvPr id="16" name="Rectangle 15"/>
            <p:cNvSpPr/>
            <p:nvPr/>
          </p:nvSpPr>
          <p:spPr>
            <a:xfrm>
              <a:off x="1475656" y="3717032"/>
              <a:ext cx="720080"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HYTE</a:t>
              </a:r>
            </a:p>
          </p:txBody>
        </p:sp>
        <p:sp>
          <p:nvSpPr>
            <p:cNvPr id="18" name="Rectangle 17"/>
            <p:cNvSpPr/>
            <p:nvPr/>
          </p:nvSpPr>
          <p:spPr>
            <a:xfrm>
              <a:off x="1475656" y="4221088"/>
              <a:ext cx="720080"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HYTE</a:t>
              </a:r>
            </a:p>
          </p:txBody>
        </p:sp>
        <p:sp>
          <p:nvSpPr>
            <p:cNvPr id="20" name="Rectangle 19"/>
            <p:cNvSpPr/>
            <p:nvPr/>
          </p:nvSpPr>
          <p:spPr>
            <a:xfrm>
              <a:off x="1475656" y="4725144"/>
              <a:ext cx="720080"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HYTE</a:t>
              </a:r>
            </a:p>
          </p:txBody>
        </p:sp>
        <p:sp>
          <p:nvSpPr>
            <p:cNvPr id="21" name="Rectangle 20"/>
            <p:cNvSpPr/>
            <p:nvPr/>
          </p:nvSpPr>
          <p:spPr>
            <a:xfrm>
              <a:off x="2339752" y="4725144"/>
              <a:ext cx="720080" cy="43204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fi-FI" dirty="0" smtClean="0"/>
                <a:t>JÄTE</a:t>
              </a:r>
            </a:p>
          </p:txBody>
        </p:sp>
      </p:grpSp>
      <p:sp>
        <p:nvSpPr>
          <p:cNvPr id="22" name="Rectangle 21"/>
          <p:cNvSpPr/>
          <p:nvPr/>
        </p:nvSpPr>
        <p:spPr>
          <a:xfrm rot="16200000">
            <a:off x="665566" y="5319209"/>
            <a:ext cx="828093" cy="504057"/>
          </a:xfrm>
          <a:prstGeom prst="rect">
            <a:avLst/>
          </a:prstGeom>
          <a:ln>
            <a:prstDash val="sysDash"/>
          </a:ln>
        </p:spPr>
        <p:style>
          <a:lnRef idx="2">
            <a:schemeClr val="accent2"/>
          </a:lnRef>
          <a:fillRef idx="1">
            <a:schemeClr val="lt1"/>
          </a:fillRef>
          <a:effectRef idx="0">
            <a:schemeClr val="accent2"/>
          </a:effectRef>
          <a:fontRef idx="minor">
            <a:schemeClr val="dk1"/>
          </a:fontRef>
        </p:style>
        <p:txBody>
          <a:bodyPr rtlCol="0" anchor="ctr"/>
          <a:lstStyle/>
          <a:p>
            <a:pPr algn="ctr"/>
            <a:r>
              <a:rPr lang="fi-FI" sz="1050" dirty="0" smtClean="0"/>
              <a:t>Laaturiskin aikataulu-vaikutus</a:t>
            </a:r>
            <a:endParaRPr lang="en-US" sz="1050" dirty="0"/>
          </a:p>
        </p:txBody>
      </p:sp>
      <p:sp>
        <p:nvSpPr>
          <p:cNvPr id="24" name="Rectangle 23"/>
          <p:cNvSpPr/>
          <p:nvPr/>
        </p:nvSpPr>
        <p:spPr>
          <a:xfrm>
            <a:off x="1475656" y="4437112"/>
            <a:ext cx="720080" cy="3330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HYTE</a:t>
            </a:r>
          </a:p>
        </p:txBody>
      </p:sp>
      <p:sp>
        <p:nvSpPr>
          <p:cNvPr id="26" name="Rectangle 25"/>
          <p:cNvSpPr/>
          <p:nvPr/>
        </p:nvSpPr>
        <p:spPr>
          <a:xfrm>
            <a:off x="1475656" y="4824155"/>
            <a:ext cx="720080" cy="3330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HYTE</a:t>
            </a:r>
          </a:p>
        </p:txBody>
      </p:sp>
      <p:sp>
        <p:nvSpPr>
          <p:cNvPr id="27" name="Rectangle 26"/>
          <p:cNvSpPr/>
          <p:nvPr/>
        </p:nvSpPr>
        <p:spPr>
          <a:xfrm>
            <a:off x="2339752" y="4464115"/>
            <a:ext cx="720080" cy="333037"/>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fi-FI" dirty="0" smtClean="0"/>
              <a:t>JÄTE</a:t>
            </a:r>
          </a:p>
        </p:txBody>
      </p:sp>
      <p:sp>
        <p:nvSpPr>
          <p:cNvPr id="25" name="TextBox 24"/>
          <p:cNvSpPr txBox="1"/>
          <p:nvPr/>
        </p:nvSpPr>
        <p:spPr>
          <a:xfrm>
            <a:off x="1475656" y="1340768"/>
            <a:ext cx="720080" cy="369332"/>
          </a:xfrm>
          <a:prstGeom prst="rect">
            <a:avLst/>
          </a:prstGeom>
          <a:noFill/>
        </p:spPr>
        <p:txBody>
          <a:bodyPr wrap="square" rtlCol="0">
            <a:spAutoFit/>
          </a:bodyPr>
          <a:lstStyle/>
          <a:p>
            <a:pPr algn="ctr"/>
            <a:r>
              <a:rPr lang="fi-FI" dirty="0" smtClean="0"/>
              <a:t>JÄRJ.</a:t>
            </a:r>
            <a:endParaRPr lang="en-US" dirty="0"/>
          </a:p>
        </p:txBody>
      </p:sp>
      <p:sp>
        <p:nvSpPr>
          <p:cNvPr id="28" name="TextBox 27"/>
          <p:cNvSpPr txBox="1"/>
          <p:nvPr/>
        </p:nvSpPr>
        <p:spPr>
          <a:xfrm>
            <a:off x="2339752" y="1340768"/>
            <a:ext cx="720080" cy="369332"/>
          </a:xfrm>
          <a:prstGeom prst="rect">
            <a:avLst/>
          </a:prstGeom>
          <a:noFill/>
        </p:spPr>
        <p:txBody>
          <a:bodyPr wrap="square" rtlCol="0">
            <a:spAutoFit/>
          </a:bodyPr>
          <a:lstStyle/>
          <a:p>
            <a:pPr algn="ctr"/>
            <a:r>
              <a:rPr lang="fi-FI" dirty="0" smtClean="0"/>
              <a:t>INTE.</a:t>
            </a:r>
            <a:endParaRPr lang="en-US" dirty="0"/>
          </a:p>
        </p:txBody>
      </p:sp>
      <p:sp>
        <p:nvSpPr>
          <p:cNvPr id="23" name="Slide Number Placeholder 22"/>
          <p:cNvSpPr>
            <a:spLocks noGrp="1"/>
          </p:cNvSpPr>
          <p:nvPr>
            <p:ph type="sldNum" sz="quarter" idx="12"/>
          </p:nvPr>
        </p:nvSpPr>
        <p:spPr/>
        <p:txBody>
          <a:bodyPr/>
          <a:lstStyle/>
          <a:p>
            <a:fld id="{1FC54B03-E980-44E0-A0F1-6CAD9D10ECFB}" type="slidenum">
              <a:rPr lang="fi-FI" smtClean="0"/>
              <a:pPr/>
              <a:t>145</a:t>
            </a:fld>
            <a:endParaRPr lang="fi-FI"/>
          </a:p>
        </p:txBody>
      </p:sp>
    </p:spTree>
    <p:extLst>
      <p:ext uri="{BB962C8B-B14F-4D97-AF65-F5344CB8AC3E}">
        <p14:creationId xmlns:p14="http://schemas.microsoft.com/office/powerpoint/2010/main" val="406189908"/>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Malli 3: Hyväksymistestauksen keskeyttäminen</a:t>
            </a:r>
            <a:endParaRPr lang="en-US" dirty="0"/>
          </a:p>
        </p:txBody>
      </p:sp>
      <p:sp>
        <p:nvSpPr>
          <p:cNvPr id="5" name="Content Placeholder 4"/>
          <p:cNvSpPr>
            <a:spLocks noGrp="1"/>
          </p:cNvSpPr>
          <p:nvPr>
            <p:ph sz="half" idx="2"/>
          </p:nvPr>
        </p:nvSpPr>
        <p:spPr>
          <a:xfrm>
            <a:off x="4644008" y="1639341"/>
            <a:ext cx="4038600" cy="4525963"/>
          </a:xfrm>
        </p:spPr>
        <p:txBody>
          <a:bodyPr>
            <a:noAutofit/>
          </a:bodyPr>
          <a:lstStyle/>
          <a:p>
            <a:r>
              <a:rPr lang="fi-FI" sz="1400" dirty="0" smtClean="0"/>
              <a:t>Keskeinen idea:</a:t>
            </a:r>
          </a:p>
          <a:p>
            <a:pPr lvl="1"/>
            <a:r>
              <a:rPr lang="fi-FI" sz="1200" dirty="0" smtClean="0"/>
              <a:t>Hyväksymistestaus keskeytetään ja aloitetaan uudelleen kun virhekorjauksia sisältänyt uusi luovutus on testattu </a:t>
            </a:r>
            <a:r>
              <a:rPr lang="fi-FI" sz="1200" dirty="0" err="1" smtClean="0"/>
              <a:t>JÄRJ:llä</a:t>
            </a:r>
            <a:endParaRPr lang="fi-FI" sz="1200" dirty="0" smtClean="0"/>
          </a:p>
          <a:p>
            <a:r>
              <a:rPr lang="fi-FI" sz="1400" dirty="0" smtClean="0"/>
              <a:t>Vahvuudet:</a:t>
            </a:r>
          </a:p>
          <a:p>
            <a:pPr lvl="1"/>
            <a:r>
              <a:rPr lang="fi-FI" sz="1200" dirty="0" smtClean="0"/>
              <a:t>Pääasiallinen ”perinteinen malli” millä asiat on hoidettu aiemmin</a:t>
            </a:r>
          </a:p>
          <a:p>
            <a:pPr lvl="1"/>
            <a:r>
              <a:rPr lang="fi-FI" sz="1200" dirty="0" smtClean="0"/>
              <a:t>Selkeät vastuukysymykset</a:t>
            </a:r>
          </a:p>
          <a:p>
            <a:pPr lvl="1"/>
            <a:r>
              <a:rPr lang="fi-FI" sz="1200" dirty="0" smtClean="0"/>
              <a:t>Toimittajalla mahdollisuus varata aikaikkuna omalle testaukselleen, jolla lähes suora vaikutus toimituksen myöhästymisenä. </a:t>
            </a:r>
          </a:p>
          <a:p>
            <a:r>
              <a:rPr lang="fi-FI" sz="1400" dirty="0" smtClean="0"/>
              <a:t>Heikkoudet:</a:t>
            </a:r>
          </a:p>
          <a:p>
            <a:pPr lvl="1"/>
            <a:r>
              <a:rPr lang="fi-FI" sz="1200" dirty="0" smtClean="0"/>
              <a:t>Pidentää tarvittavaa kalenteriaikaa</a:t>
            </a:r>
          </a:p>
          <a:p>
            <a:pPr lvl="2"/>
            <a:r>
              <a:rPr lang="fi-FI" sz="1100" dirty="0" smtClean="0"/>
              <a:t>30 päivään ei yleensä mahdu yhtään keskeytystä</a:t>
            </a:r>
          </a:p>
          <a:p>
            <a:pPr lvl="1"/>
            <a:r>
              <a:rPr lang="fi-FI" sz="1200" smtClean="0"/>
              <a:t>Hyväksymistestauksen </a:t>
            </a:r>
            <a:r>
              <a:rPr lang="fi-FI" sz="1200" dirty="0" smtClean="0"/>
              <a:t>työmäärä kasvaa: virheet hidastavat testausta ja monta yhtäaikaista korjausta tuottaa laajemman liiketoiminnan regressiotestaustarpeen</a:t>
            </a:r>
            <a:endParaRPr lang="en-US" sz="1200" dirty="0"/>
          </a:p>
        </p:txBody>
      </p:sp>
      <p:sp>
        <p:nvSpPr>
          <p:cNvPr id="6" name="Rectangle 5"/>
          <p:cNvSpPr/>
          <p:nvPr/>
        </p:nvSpPr>
        <p:spPr>
          <a:xfrm>
            <a:off x="1475656" y="1772816"/>
            <a:ext cx="2376264" cy="10081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HYTE</a:t>
            </a:r>
          </a:p>
          <a:p>
            <a:pPr marL="285750" indent="-285750" algn="ctr">
              <a:buFontTx/>
              <a:buChar char="-"/>
            </a:pPr>
            <a:r>
              <a:rPr lang="fi-FI" sz="1400" dirty="0" smtClean="0"/>
              <a:t>Testataan ilman korjauksia</a:t>
            </a:r>
          </a:p>
          <a:p>
            <a:pPr marL="285750" indent="-285750" algn="ctr">
              <a:buFontTx/>
              <a:buChar char="-"/>
            </a:pPr>
            <a:r>
              <a:rPr lang="fi-FI" sz="1100" dirty="0" smtClean="0"/>
              <a:t>Keskeytys: testauksen estävä virhe / lista nyt mahdollisessa laajuudessa käyty läpi</a:t>
            </a:r>
            <a:endParaRPr lang="en-US" sz="1100" dirty="0"/>
          </a:p>
        </p:txBody>
      </p:sp>
      <p:sp>
        <p:nvSpPr>
          <p:cNvPr id="7" name="Rectangle 6"/>
          <p:cNvSpPr/>
          <p:nvPr/>
        </p:nvSpPr>
        <p:spPr>
          <a:xfrm rot="16200000">
            <a:off x="-828600" y="2780928"/>
            <a:ext cx="2664296" cy="50405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i-FI" sz="1400" dirty="0" smtClean="0"/>
              <a:t>Hyväksymistestaukselle sovittu kalenteriaika</a:t>
            </a:r>
            <a:endParaRPr lang="en-US" sz="1400" dirty="0"/>
          </a:p>
        </p:txBody>
      </p:sp>
      <p:sp>
        <p:nvSpPr>
          <p:cNvPr id="8" name="Rectangle 7"/>
          <p:cNvSpPr/>
          <p:nvPr/>
        </p:nvSpPr>
        <p:spPr>
          <a:xfrm>
            <a:off x="1475656" y="2852936"/>
            <a:ext cx="2376264" cy="1008112"/>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fi-FI" dirty="0" smtClean="0"/>
              <a:t>JÄTE</a:t>
            </a:r>
          </a:p>
          <a:p>
            <a:pPr algn="ctr"/>
            <a:r>
              <a:rPr lang="fi-FI" sz="1400" dirty="0" smtClean="0"/>
              <a:t>- Keskeytetään hyväksymistestaus korjausten testaamisen ajaksi</a:t>
            </a:r>
            <a:endParaRPr lang="en-US" sz="1400" dirty="0"/>
          </a:p>
        </p:txBody>
      </p:sp>
      <p:sp>
        <p:nvSpPr>
          <p:cNvPr id="9" name="Rectangle 8"/>
          <p:cNvSpPr/>
          <p:nvPr/>
        </p:nvSpPr>
        <p:spPr>
          <a:xfrm>
            <a:off x="1475656" y="3933056"/>
            <a:ext cx="2376264" cy="10081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HYTE</a:t>
            </a:r>
          </a:p>
          <a:p>
            <a:pPr marL="285750" indent="-285750" algn="ctr">
              <a:buFontTx/>
              <a:buChar char="-"/>
            </a:pPr>
            <a:r>
              <a:rPr lang="fi-FI" sz="1400" dirty="0" smtClean="0"/>
              <a:t>Testataan ilman korjauksia</a:t>
            </a:r>
          </a:p>
          <a:p>
            <a:pPr marL="285750" indent="-285750" algn="ctr">
              <a:buFontTx/>
              <a:buChar char="-"/>
            </a:pPr>
            <a:r>
              <a:rPr lang="fi-FI" sz="1100" dirty="0" smtClean="0"/>
              <a:t>Merkittävä uusintalaajuus hyväksymistesteissä -</a:t>
            </a:r>
            <a:endParaRPr lang="en-US" sz="1200" dirty="0"/>
          </a:p>
        </p:txBody>
      </p:sp>
      <p:sp>
        <p:nvSpPr>
          <p:cNvPr id="10" name="Rectangle 9"/>
          <p:cNvSpPr/>
          <p:nvPr/>
        </p:nvSpPr>
        <p:spPr>
          <a:xfrm>
            <a:off x="1475656" y="5013176"/>
            <a:ext cx="2376264" cy="1008112"/>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fi-FI" dirty="0" smtClean="0"/>
              <a:t>JÄTE</a:t>
            </a:r>
          </a:p>
          <a:p>
            <a:pPr algn="ctr"/>
            <a:r>
              <a:rPr lang="fi-FI" sz="1400" dirty="0" smtClean="0"/>
              <a:t>- Keskeytetään hyväksymistestaus korjausten testaamisen ajaksi</a:t>
            </a:r>
            <a:endParaRPr lang="en-US" sz="1400" dirty="0"/>
          </a:p>
        </p:txBody>
      </p:sp>
      <p:sp>
        <p:nvSpPr>
          <p:cNvPr id="11" name="TextBox 10"/>
          <p:cNvSpPr txBox="1"/>
          <p:nvPr/>
        </p:nvSpPr>
        <p:spPr>
          <a:xfrm>
            <a:off x="1475656" y="6096000"/>
            <a:ext cx="2376264" cy="276999"/>
          </a:xfrm>
          <a:prstGeom prst="rect">
            <a:avLst/>
          </a:prstGeom>
          <a:noFill/>
        </p:spPr>
        <p:txBody>
          <a:bodyPr wrap="square" rtlCol="0">
            <a:spAutoFit/>
          </a:bodyPr>
          <a:lstStyle/>
          <a:p>
            <a:r>
              <a:rPr lang="fi-FI" sz="1200" dirty="0" smtClean="0"/>
              <a:t>… toistuu kunnes virheitä ei löydy. </a:t>
            </a:r>
            <a:endParaRPr lang="en-US" sz="1200" dirty="0"/>
          </a:p>
        </p:txBody>
      </p:sp>
      <p:sp>
        <p:nvSpPr>
          <p:cNvPr id="12" name="Rectangle 11"/>
          <p:cNvSpPr/>
          <p:nvPr/>
        </p:nvSpPr>
        <p:spPr>
          <a:xfrm rot="16200000">
            <a:off x="-1332656" y="3861048"/>
            <a:ext cx="4824536" cy="504056"/>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fi-FI" sz="1400" dirty="0" smtClean="0"/>
              <a:t>Hyväksymistestaukselle varattava kalenteriaika</a:t>
            </a:r>
            <a:endParaRPr lang="en-US" sz="1400" dirty="0"/>
          </a:p>
        </p:txBody>
      </p:sp>
      <p:sp>
        <p:nvSpPr>
          <p:cNvPr id="13" name="TextBox 12"/>
          <p:cNvSpPr txBox="1"/>
          <p:nvPr/>
        </p:nvSpPr>
        <p:spPr>
          <a:xfrm>
            <a:off x="2339752" y="1403484"/>
            <a:ext cx="720080" cy="369332"/>
          </a:xfrm>
          <a:prstGeom prst="rect">
            <a:avLst/>
          </a:prstGeom>
          <a:noFill/>
        </p:spPr>
        <p:txBody>
          <a:bodyPr wrap="square" rtlCol="0">
            <a:spAutoFit/>
          </a:bodyPr>
          <a:lstStyle/>
          <a:p>
            <a:pPr algn="ctr"/>
            <a:r>
              <a:rPr lang="fi-FI" dirty="0" smtClean="0"/>
              <a:t>JÄRJ.</a:t>
            </a:r>
            <a:endParaRPr lang="en-US" dirty="0"/>
          </a:p>
        </p:txBody>
      </p:sp>
      <p:sp>
        <p:nvSpPr>
          <p:cNvPr id="14" name="Slide Number Placeholder 13"/>
          <p:cNvSpPr>
            <a:spLocks noGrp="1"/>
          </p:cNvSpPr>
          <p:nvPr>
            <p:ph type="sldNum" sz="quarter" idx="12"/>
          </p:nvPr>
        </p:nvSpPr>
        <p:spPr/>
        <p:txBody>
          <a:bodyPr/>
          <a:lstStyle/>
          <a:p>
            <a:fld id="{1FC54B03-E980-44E0-A0F1-6CAD9D10ECFB}" type="slidenum">
              <a:rPr lang="fi-FI" smtClean="0"/>
              <a:pPr/>
              <a:t>146</a:t>
            </a:fld>
            <a:endParaRPr lang="fi-FI"/>
          </a:p>
        </p:txBody>
      </p:sp>
    </p:spTree>
    <p:extLst>
      <p:ext uri="{BB962C8B-B14F-4D97-AF65-F5344CB8AC3E}">
        <p14:creationId xmlns:p14="http://schemas.microsoft.com/office/powerpoint/2010/main" val="3026968802"/>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fi-FI"/>
              <a:t>Testimateriaalit</a:t>
            </a:r>
            <a:endParaRPr lang="en-US"/>
          </a:p>
        </p:txBody>
      </p:sp>
      <p:sp>
        <p:nvSpPr>
          <p:cNvPr id="43011" name="Rectangle 3"/>
          <p:cNvSpPr>
            <a:spLocks noGrp="1" noChangeArrowheads="1"/>
          </p:cNvSpPr>
          <p:nvPr>
            <p:ph type="body" idx="1"/>
          </p:nvPr>
        </p:nvSpPr>
        <p:spPr/>
        <p:txBody>
          <a:bodyPr/>
          <a:lstStyle/>
          <a:p>
            <a:r>
              <a:rPr lang="fi-FI" sz="2000"/>
              <a:t>Testimateriaali on kokoava termi erilaiselle testauksessa tarvittavalle materiaalille</a:t>
            </a:r>
          </a:p>
          <a:p>
            <a:pPr lvl="1"/>
            <a:r>
              <a:rPr lang="fi-FI" sz="2000" b="1"/>
              <a:t>Testiaineistot</a:t>
            </a:r>
            <a:r>
              <a:rPr lang="fi-FI" sz="2000"/>
              <a:t>: kantasisältöjä, tiedostoja – sovelluksiin tallennettua tietoa</a:t>
            </a:r>
          </a:p>
          <a:p>
            <a:pPr lvl="1"/>
            <a:r>
              <a:rPr lang="fi-FI" sz="2000" b="1"/>
              <a:t>Testitapaukset</a:t>
            </a:r>
            <a:r>
              <a:rPr lang="fi-FI" sz="2000"/>
              <a:t>: kuvauksia testi-ideoista, testauksen muistilista</a:t>
            </a:r>
          </a:p>
          <a:p>
            <a:pPr lvl="1"/>
            <a:r>
              <a:rPr lang="fi-FI" sz="2000" b="1"/>
              <a:t>Testisanomat</a:t>
            </a:r>
            <a:r>
              <a:rPr lang="fi-FI" sz="2000"/>
              <a:t>: teknisen sanomarajapinnan kautta laitettava viesti, joka toteuttaa jotain testejä ja sisältää jonkin aineiston</a:t>
            </a:r>
          </a:p>
          <a:p>
            <a:pPr lvl="1"/>
            <a:r>
              <a:rPr lang="fi-FI" sz="2000" b="1"/>
              <a:t>Testiskriptit</a:t>
            </a:r>
            <a:r>
              <a:rPr lang="fi-FI" sz="2000"/>
              <a:t>: Koneluettavat tietokonetuetut testit, ”testiautomaatio”</a:t>
            </a:r>
          </a:p>
          <a:p>
            <a:pPr lvl="1"/>
            <a:r>
              <a:rPr lang="fi-FI" sz="2000" b="1"/>
              <a:t>Testauksen suunnitelmat</a:t>
            </a:r>
            <a:r>
              <a:rPr lang="fi-FI" sz="2000"/>
              <a:t>: Riskilistat, kattavuuskriteerit, …</a:t>
            </a:r>
            <a:endParaRPr lang="en-US" sz="2000"/>
          </a:p>
        </p:txBody>
      </p:sp>
      <p:sp>
        <p:nvSpPr>
          <p:cNvPr id="4" name="Slide Number Placeholder 3"/>
          <p:cNvSpPr>
            <a:spLocks noGrp="1"/>
          </p:cNvSpPr>
          <p:nvPr>
            <p:ph type="sldNum" sz="quarter" idx="12"/>
          </p:nvPr>
        </p:nvSpPr>
        <p:spPr/>
        <p:txBody>
          <a:bodyPr/>
          <a:lstStyle/>
          <a:p>
            <a:fld id="{1FC54B03-E980-44E0-A0F1-6CAD9D10ECFB}" type="slidenum">
              <a:rPr lang="fi-FI" smtClean="0"/>
              <a:pPr/>
              <a:t>147</a:t>
            </a:fld>
            <a:endParaRPr lang="fi-FI"/>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p:txBody>
          <a:bodyPr/>
          <a:lstStyle/>
          <a:p>
            <a:r>
              <a:rPr lang="fi-FI" dirty="0" smtClean="0"/>
              <a:t>Tilanteen raportoiminen</a:t>
            </a:r>
            <a:endParaRPr lang="en-US" dirty="0"/>
          </a:p>
        </p:txBody>
      </p:sp>
      <p:sp>
        <p:nvSpPr>
          <p:cNvPr id="2051" name="Rectangle 3"/>
          <p:cNvSpPr>
            <a:spLocks noGrp="1" noChangeArrowheads="1"/>
          </p:cNvSpPr>
          <p:nvPr>
            <p:ph type="body" idx="1"/>
          </p:nvPr>
        </p:nvSpPr>
        <p:spPr/>
        <p:txBody>
          <a:bodyPr>
            <a:normAutofit/>
          </a:bodyPr>
          <a:lstStyle/>
          <a:p>
            <a:endParaRPr lang="en-US"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148</a:t>
            </a:fld>
            <a:endParaRPr lang="fi-FI"/>
          </a:p>
        </p:txBody>
      </p:sp>
    </p:spTree>
  </p:cSld>
  <p:clrMapOvr>
    <a:masterClrMapping/>
  </p:clrMapOvr>
  <p:timing>
    <p:tnLst>
      <p:par>
        <p:cTn xmlns:p14="http://schemas.microsoft.com/office/powerpoint/2010/mai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Hyväksymistestauksen raportointitarpeet</a:t>
            </a:r>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676386964"/>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Box 7"/>
          <p:cNvSpPr txBox="1"/>
          <p:nvPr/>
        </p:nvSpPr>
        <p:spPr>
          <a:xfrm>
            <a:off x="539552" y="1340768"/>
            <a:ext cx="2016224" cy="369332"/>
          </a:xfrm>
          <a:prstGeom prst="rect">
            <a:avLst/>
          </a:prstGeom>
          <a:noFill/>
        </p:spPr>
        <p:txBody>
          <a:bodyPr wrap="square" rtlCol="0">
            <a:spAutoFit/>
          </a:bodyPr>
          <a:lstStyle/>
          <a:p>
            <a:pPr algn="ctr"/>
            <a:r>
              <a:rPr lang="fi-FI" b="1" u="sng" dirty="0" smtClean="0"/>
              <a:t>NYKYTILA</a:t>
            </a:r>
            <a:endParaRPr lang="en-US" b="1" u="sng" dirty="0"/>
          </a:p>
        </p:txBody>
      </p:sp>
      <p:sp>
        <p:nvSpPr>
          <p:cNvPr id="9" name="TextBox 8"/>
          <p:cNvSpPr txBox="1"/>
          <p:nvPr/>
        </p:nvSpPr>
        <p:spPr>
          <a:xfrm>
            <a:off x="6444208" y="1340768"/>
            <a:ext cx="2016224" cy="369332"/>
          </a:xfrm>
          <a:prstGeom prst="rect">
            <a:avLst/>
          </a:prstGeom>
          <a:noFill/>
        </p:spPr>
        <p:txBody>
          <a:bodyPr wrap="square" rtlCol="0">
            <a:spAutoFit/>
          </a:bodyPr>
          <a:lstStyle/>
          <a:p>
            <a:pPr algn="ctr"/>
            <a:r>
              <a:rPr lang="fi-FI" b="1" u="sng" dirty="0" smtClean="0"/>
              <a:t>TAVOITETILA</a:t>
            </a:r>
            <a:endParaRPr lang="en-US" b="1" u="sng" dirty="0"/>
          </a:p>
        </p:txBody>
      </p:sp>
      <p:sp>
        <p:nvSpPr>
          <p:cNvPr id="10" name="TextBox 9"/>
          <p:cNvSpPr txBox="1"/>
          <p:nvPr/>
        </p:nvSpPr>
        <p:spPr>
          <a:xfrm>
            <a:off x="251520" y="1772816"/>
            <a:ext cx="2520280" cy="923330"/>
          </a:xfrm>
          <a:prstGeom prst="rect">
            <a:avLst/>
          </a:prstGeom>
          <a:noFill/>
        </p:spPr>
        <p:txBody>
          <a:bodyPr wrap="square" rtlCol="0">
            <a:spAutoFit/>
          </a:bodyPr>
          <a:lstStyle/>
          <a:p>
            <a:pPr algn="ctr"/>
            <a:r>
              <a:rPr lang="fi-FI" dirty="0" smtClean="0"/>
              <a:t>Ei systemaattista raportointia, seuranta viikkopalavereissa</a:t>
            </a:r>
            <a:endParaRPr lang="en-US" dirty="0"/>
          </a:p>
        </p:txBody>
      </p:sp>
      <p:sp>
        <p:nvSpPr>
          <p:cNvPr id="11" name="TextBox 10"/>
          <p:cNvSpPr txBox="1"/>
          <p:nvPr/>
        </p:nvSpPr>
        <p:spPr>
          <a:xfrm>
            <a:off x="6300192" y="1796804"/>
            <a:ext cx="2520280" cy="923330"/>
          </a:xfrm>
          <a:prstGeom prst="rect">
            <a:avLst/>
          </a:prstGeom>
          <a:noFill/>
        </p:spPr>
        <p:txBody>
          <a:bodyPr wrap="square" rtlCol="0">
            <a:spAutoFit/>
          </a:bodyPr>
          <a:lstStyle/>
          <a:p>
            <a:pPr algn="ctr"/>
            <a:r>
              <a:rPr lang="fi-FI" dirty="0" smtClean="0"/>
              <a:t>Valmiusaste %</a:t>
            </a:r>
          </a:p>
          <a:p>
            <a:pPr algn="ctr"/>
            <a:r>
              <a:rPr lang="fi-FI" dirty="0" smtClean="0">
                <a:solidFill>
                  <a:schemeClr val="accent1"/>
                </a:solidFill>
              </a:rPr>
              <a:t>OHRY: aikataulussa / tarvitsee korjaustoimia</a:t>
            </a:r>
            <a:endParaRPr lang="en-US" dirty="0">
              <a:solidFill>
                <a:schemeClr val="accent1"/>
              </a:solidFill>
            </a:endParaRPr>
          </a:p>
        </p:txBody>
      </p:sp>
      <p:sp>
        <p:nvSpPr>
          <p:cNvPr id="12" name="TextBox 11"/>
          <p:cNvSpPr txBox="1"/>
          <p:nvPr/>
        </p:nvSpPr>
        <p:spPr>
          <a:xfrm>
            <a:off x="323528" y="3308791"/>
            <a:ext cx="2520280" cy="1200329"/>
          </a:xfrm>
          <a:prstGeom prst="rect">
            <a:avLst/>
          </a:prstGeom>
          <a:noFill/>
        </p:spPr>
        <p:txBody>
          <a:bodyPr wrap="square" rtlCol="0">
            <a:spAutoFit/>
          </a:bodyPr>
          <a:lstStyle/>
          <a:p>
            <a:pPr algn="ctr"/>
            <a:r>
              <a:rPr lang="fi-FI" dirty="0" err="1" smtClean="0"/>
              <a:t>QC:n</a:t>
            </a:r>
            <a:r>
              <a:rPr lang="fi-FI" dirty="0" smtClean="0"/>
              <a:t> perusraportit kuitatut testit ja havainnot</a:t>
            </a:r>
          </a:p>
          <a:p>
            <a:pPr algn="ctr"/>
            <a:r>
              <a:rPr lang="fi-FI" dirty="0" smtClean="0"/>
              <a:t>Erilaisia ”pilotteja”</a:t>
            </a:r>
            <a:endParaRPr lang="en-US" dirty="0"/>
          </a:p>
        </p:txBody>
      </p:sp>
      <p:sp>
        <p:nvSpPr>
          <p:cNvPr id="13" name="TextBox 12"/>
          <p:cNvSpPr txBox="1"/>
          <p:nvPr/>
        </p:nvSpPr>
        <p:spPr>
          <a:xfrm>
            <a:off x="6300192" y="3356992"/>
            <a:ext cx="2520280" cy="923330"/>
          </a:xfrm>
          <a:prstGeom prst="rect">
            <a:avLst/>
          </a:prstGeom>
          <a:noFill/>
        </p:spPr>
        <p:txBody>
          <a:bodyPr wrap="square" rtlCol="0">
            <a:spAutoFit/>
          </a:bodyPr>
          <a:lstStyle/>
          <a:p>
            <a:pPr algn="ctr"/>
            <a:r>
              <a:rPr lang="fi-FI" dirty="0" smtClean="0"/>
              <a:t>Valmiusaste %, tulokset</a:t>
            </a:r>
          </a:p>
          <a:p>
            <a:pPr algn="ctr"/>
            <a:r>
              <a:rPr lang="fi-FI" dirty="0" smtClean="0">
                <a:solidFill>
                  <a:schemeClr val="accent1"/>
                </a:solidFill>
              </a:rPr>
              <a:t>OHRY: aikataulussa / tarvitsee korjaustoimia</a:t>
            </a:r>
            <a:endParaRPr lang="en-US" dirty="0">
              <a:solidFill>
                <a:schemeClr val="accent1"/>
              </a:solidFill>
            </a:endParaRPr>
          </a:p>
        </p:txBody>
      </p:sp>
      <p:sp>
        <p:nvSpPr>
          <p:cNvPr id="14" name="TextBox 13"/>
          <p:cNvSpPr txBox="1"/>
          <p:nvPr/>
        </p:nvSpPr>
        <p:spPr>
          <a:xfrm>
            <a:off x="6084168" y="4797152"/>
            <a:ext cx="2952328" cy="1754326"/>
          </a:xfrm>
          <a:prstGeom prst="rect">
            <a:avLst/>
          </a:prstGeom>
          <a:noFill/>
        </p:spPr>
        <p:txBody>
          <a:bodyPr wrap="square" rtlCol="0">
            <a:spAutoFit/>
          </a:bodyPr>
          <a:lstStyle/>
          <a:p>
            <a:pPr algn="ctr"/>
            <a:r>
              <a:rPr lang="fi-FI" dirty="0" smtClean="0">
                <a:solidFill>
                  <a:schemeClr val="accent1"/>
                </a:solidFill>
              </a:rPr>
              <a:t>OHRY: hyväksymissuositus + perusteet</a:t>
            </a:r>
          </a:p>
          <a:p>
            <a:pPr algn="ctr"/>
            <a:r>
              <a:rPr lang="fi-FI" dirty="0" smtClean="0">
                <a:solidFill>
                  <a:schemeClr val="accent1"/>
                </a:solidFill>
              </a:rPr>
              <a:t>Aikataulupidennyssuositus</a:t>
            </a:r>
            <a:r>
              <a:rPr lang="en-US" dirty="0" smtClean="0">
                <a:solidFill>
                  <a:schemeClr val="accent1"/>
                </a:solidFill>
              </a:rPr>
              <a:t> + </a:t>
            </a:r>
            <a:r>
              <a:rPr lang="en-US" dirty="0" err="1" smtClean="0">
                <a:solidFill>
                  <a:schemeClr val="accent1"/>
                </a:solidFill>
              </a:rPr>
              <a:t>perusteet</a:t>
            </a:r>
            <a:endParaRPr lang="en-US" dirty="0" smtClean="0">
              <a:solidFill>
                <a:schemeClr val="accent1"/>
              </a:solidFill>
            </a:endParaRPr>
          </a:p>
          <a:p>
            <a:pPr algn="ctr"/>
            <a:r>
              <a:rPr lang="fi-FI" dirty="0" smtClean="0">
                <a:solidFill>
                  <a:schemeClr val="accent1"/>
                </a:solidFill>
              </a:rPr>
              <a:t>Tehokkuusmittarit (IT+JT:HT, kustannus / virhe)</a:t>
            </a:r>
          </a:p>
        </p:txBody>
      </p:sp>
      <p:sp>
        <p:nvSpPr>
          <p:cNvPr id="15" name="TextBox 14"/>
          <p:cNvSpPr txBox="1"/>
          <p:nvPr/>
        </p:nvSpPr>
        <p:spPr>
          <a:xfrm>
            <a:off x="395536" y="4941168"/>
            <a:ext cx="2520280" cy="1477328"/>
          </a:xfrm>
          <a:prstGeom prst="rect">
            <a:avLst/>
          </a:prstGeom>
          <a:noFill/>
        </p:spPr>
        <p:txBody>
          <a:bodyPr wrap="square" rtlCol="0">
            <a:spAutoFit/>
          </a:bodyPr>
          <a:lstStyle/>
          <a:p>
            <a:pPr algn="ctr"/>
            <a:r>
              <a:rPr lang="fi-FI" dirty="0" err="1" smtClean="0"/>
              <a:t>QC:n</a:t>
            </a:r>
            <a:r>
              <a:rPr lang="fi-FI" dirty="0" smtClean="0"/>
              <a:t> perusraportit kuitatut testit ja havainnot, oma rapsu vs. osa projektirapsua</a:t>
            </a:r>
          </a:p>
          <a:p>
            <a:pPr algn="ctr"/>
            <a:endParaRPr lang="en-US" dirty="0"/>
          </a:p>
        </p:txBody>
      </p:sp>
      <p:sp>
        <p:nvSpPr>
          <p:cNvPr id="16" name="Slide Number Placeholder 15"/>
          <p:cNvSpPr>
            <a:spLocks noGrp="1"/>
          </p:cNvSpPr>
          <p:nvPr>
            <p:ph type="sldNum" sz="quarter" idx="12"/>
          </p:nvPr>
        </p:nvSpPr>
        <p:spPr/>
        <p:txBody>
          <a:bodyPr/>
          <a:lstStyle/>
          <a:p>
            <a:fld id="{1FC54B03-E980-44E0-A0F1-6CAD9D10ECFB}" type="slidenum">
              <a:rPr lang="fi-FI" smtClean="0"/>
              <a:pPr/>
              <a:t>149</a:t>
            </a:fld>
            <a:endParaRPr lang="fi-FI"/>
          </a:p>
        </p:txBody>
      </p:sp>
    </p:spTree>
    <p:extLst>
      <p:ext uri="{BB962C8B-B14F-4D97-AF65-F5344CB8AC3E}">
        <p14:creationId xmlns:p14="http://schemas.microsoft.com/office/powerpoint/2010/main" val="3272897052"/>
      </p:ext>
    </p:extLst>
  </p:cSld>
  <p:clrMapOvr>
    <a:masterClrMapping/>
  </p:clrMapOvr>
  <p:timing>
    <p:tnLst>
      <p:par>
        <p:cTn xmlns:p14="http://schemas.microsoft.com/office/powerpoint/2010/mai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Testauksen raportointi</a:t>
            </a:r>
            <a:endParaRPr lang="fi-FI" dirty="0"/>
          </a:p>
        </p:txBody>
      </p:sp>
      <p:sp>
        <p:nvSpPr>
          <p:cNvPr id="3" name="Rectangle 4"/>
          <p:cNvSpPr>
            <a:spLocks noChangeArrowheads="1"/>
          </p:cNvSpPr>
          <p:nvPr/>
        </p:nvSpPr>
        <p:spPr bwMode="auto">
          <a:xfrm>
            <a:off x="285720" y="1714488"/>
            <a:ext cx="3143272" cy="4429156"/>
          </a:xfrm>
          <a:prstGeom prst="rect">
            <a:avLst/>
          </a:prstGeom>
          <a:solidFill>
            <a:schemeClr val="bg2"/>
          </a:solidFill>
          <a:ln w="12700">
            <a:noFill/>
            <a:miter lim="800000"/>
            <a:headEnd/>
            <a:tailEnd/>
          </a:ln>
          <a:effectLst/>
        </p:spPr>
        <p:txBody>
          <a:bodyPr lIns="90000" tIns="46800" rIns="90000" bIns="46800" anchor="ctr"/>
          <a:lstStyle/>
          <a:p>
            <a:pPr algn="l"/>
            <a:r>
              <a:rPr lang="en-GB" sz="1600" b="1" dirty="0" err="1" smtClean="0"/>
              <a:t>Viikkoraportti</a:t>
            </a:r>
            <a:endParaRPr lang="en-GB" sz="1600" b="1" dirty="0"/>
          </a:p>
          <a:p>
            <a:pPr algn="l">
              <a:buFontTx/>
              <a:buChar char="•"/>
            </a:pPr>
            <a:r>
              <a:rPr lang="en-GB" sz="1600" dirty="0"/>
              <a:t> </a:t>
            </a:r>
            <a:r>
              <a:rPr lang="en-GB" sz="1400" b="1" dirty="0" err="1" smtClean="0"/>
              <a:t>Testitapausten</a:t>
            </a:r>
            <a:r>
              <a:rPr lang="en-GB" sz="1400" b="1" dirty="0" smtClean="0"/>
              <a:t> </a:t>
            </a:r>
            <a:r>
              <a:rPr lang="en-GB" sz="1400" b="1" dirty="0" err="1" smtClean="0"/>
              <a:t>määrät</a:t>
            </a:r>
            <a:r>
              <a:rPr lang="en-GB" sz="1400" b="1" dirty="0" smtClean="0"/>
              <a:t> </a:t>
            </a:r>
            <a:r>
              <a:rPr lang="en-GB" sz="1400" dirty="0" smtClean="0"/>
              <a:t>(</a:t>
            </a:r>
            <a:r>
              <a:rPr lang="en-GB" sz="1400" dirty="0" err="1" smtClean="0"/>
              <a:t>suunniteltu</a:t>
            </a:r>
            <a:r>
              <a:rPr lang="en-GB" sz="1400" dirty="0" smtClean="0"/>
              <a:t>, </a:t>
            </a:r>
            <a:r>
              <a:rPr lang="en-GB" sz="1400" dirty="0" err="1" smtClean="0"/>
              <a:t>suoritettu</a:t>
            </a:r>
            <a:r>
              <a:rPr lang="en-GB" sz="1400" dirty="0" smtClean="0"/>
              <a:t>, </a:t>
            </a:r>
            <a:r>
              <a:rPr lang="en-GB" sz="1400" dirty="0" err="1" smtClean="0"/>
              <a:t>jäljellä</a:t>
            </a:r>
            <a:r>
              <a:rPr lang="en-GB" sz="1400" dirty="0" smtClean="0"/>
              <a:t>; </a:t>
            </a:r>
            <a:r>
              <a:rPr lang="en-GB" sz="1400" dirty="0" err="1" smtClean="0"/>
              <a:t>prioriteeteittäin</a:t>
            </a:r>
            <a:r>
              <a:rPr lang="en-GB" sz="1400" dirty="0" smtClean="0"/>
              <a:t>; </a:t>
            </a:r>
            <a:r>
              <a:rPr lang="en-GB" sz="1400" dirty="0" err="1" smtClean="0"/>
              <a:t>laskenta</a:t>
            </a:r>
            <a:r>
              <a:rPr lang="en-GB" sz="1400" dirty="0" smtClean="0"/>
              <a:t> </a:t>
            </a:r>
            <a:r>
              <a:rPr lang="en-GB" sz="1400" dirty="0" err="1" smtClean="0"/>
              <a:t>alkaen</a:t>
            </a:r>
            <a:r>
              <a:rPr lang="en-GB" sz="1400" dirty="0" smtClean="0"/>
              <a:t> </a:t>
            </a:r>
            <a:r>
              <a:rPr lang="en-GB" sz="1400" dirty="0" err="1" smtClean="0"/>
              <a:t>vaiheen</a:t>
            </a:r>
            <a:r>
              <a:rPr lang="en-GB" sz="1400" dirty="0" smtClean="0"/>
              <a:t> </a:t>
            </a:r>
            <a:r>
              <a:rPr lang="en-GB" sz="1400" dirty="0" err="1" smtClean="0"/>
              <a:t>alusta</a:t>
            </a:r>
            <a:r>
              <a:rPr lang="en-GB" sz="1400" dirty="0" smtClean="0"/>
              <a:t> </a:t>
            </a:r>
            <a:r>
              <a:rPr lang="en-GB" sz="1400" dirty="0" err="1" smtClean="0"/>
              <a:t>sekä</a:t>
            </a:r>
            <a:r>
              <a:rPr lang="en-GB" sz="1400" dirty="0" smtClean="0"/>
              <a:t> </a:t>
            </a:r>
            <a:r>
              <a:rPr lang="en-GB" sz="1400" dirty="0" err="1" smtClean="0"/>
              <a:t>viimeisimmästä</a:t>
            </a:r>
            <a:r>
              <a:rPr lang="en-GB" sz="1400" dirty="0" smtClean="0"/>
              <a:t> </a:t>
            </a:r>
            <a:r>
              <a:rPr lang="en-GB" sz="1400" dirty="0" err="1" smtClean="0"/>
              <a:t>merkittävästä</a:t>
            </a:r>
            <a:r>
              <a:rPr lang="en-GB" sz="1400" dirty="0" smtClean="0"/>
              <a:t> </a:t>
            </a:r>
            <a:r>
              <a:rPr lang="en-GB" sz="1400" dirty="0" err="1" smtClean="0"/>
              <a:t>muutoksesta</a:t>
            </a:r>
            <a:r>
              <a:rPr lang="en-GB" sz="1400" dirty="0" smtClean="0"/>
              <a:t>) </a:t>
            </a:r>
            <a:endParaRPr lang="en-GB" sz="1400" dirty="0"/>
          </a:p>
          <a:p>
            <a:pPr algn="l">
              <a:buFontTx/>
              <a:buChar char="•"/>
            </a:pPr>
            <a:r>
              <a:rPr lang="en-GB" sz="1400" dirty="0"/>
              <a:t> </a:t>
            </a:r>
            <a:r>
              <a:rPr lang="en-GB" sz="1400" b="1" dirty="0" err="1" smtClean="0"/>
              <a:t>Avointen</a:t>
            </a:r>
            <a:r>
              <a:rPr lang="en-GB" sz="1400" b="1" dirty="0" smtClean="0"/>
              <a:t> </a:t>
            </a:r>
            <a:r>
              <a:rPr lang="en-GB" sz="1400" b="1" dirty="0" err="1" smtClean="0"/>
              <a:t>havaintojen</a:t>
            </a:r>
            <a:r>
              <a:rPr lang="en-GB" sz="1400" b="1" dirty="0" smtClean="0"/>
              <a:t> </a:t>
            </a:r>
            <a:r>
              <a:rPr lang="en-GB" sz="1400" b="1" dirty="0" err="1" smtClean="0"/>
              <a:t>määrä</a:t>
            </a:r>
            <a:r>
              <a:rPr lang="en-GB" sz="1400" b="1" dirty="0" smtClean="0"/>
              <a:t> </a:t>
            </a:r>
            <a:r>
              <a:rPr lang="en-GB" sz="1400" dirty="0" smtClean="0"/>
              <a:t>(</a:t>
            </a:r>
            <a:r>
              <a:rPr lang="en-GB" sz="1400" dirty="0" err="1" smtClean="0"/>
              <a:t>löytynyt</a:t>
            </a:r>
            <a:r>
              <a:rPr lang="en-GB" sz="1400" dirty="0" smtClean="0"/>
              <a:t>, </a:t>
            </a:r>
            <a:r>
              <a:rPr lang="en-GB" sz="1400" dirty="0" err="1" smtClean="0"/>
              <a:t>kerrottu</a:t>
            </a:r>
            <a:r>
              <a:rPr lang="en-GB" sz="1400" dirty="0" smtClean="0"/>
              <a:t> </a:t>
            </a:r>
            <a:r>
              <a:rPr lang="en-GB" sz="1400" dirty="0" err="1" smtClean="0"/>
              <a:t>korjatuksi</a:t>
            </a:r>
            <a:r>
              <a:rPr lang="en-GB" sz="1400" dirty="0" smtClean="0"/>
              <a:t>, </a:t>
            </a:r>
            <a:r>
              <a:rPr lang="en-GB" sz="1400" dirty="0" err="1" smtClean="0"/>
              <a:t>varmistettu</a:t>
            </a:r>
            <a:r>
              <a:rPr lang="en-GB" sz="1400" dirty="0" smtClean="0"/>
              <a:t> </a:t>
            </a:r>
            <a:r>
              <a:rPr lang="en-GB" sz="1400" dirty="0" err="1" smtClean="0"/>
              <a:t>korjatuksi</a:t>
            </a:r>
            <a:r>
              <a:rPr lang="en-GB" sz="1400" dirty="0" smtClean="0"/>
              <a:t>; </a:t>
            </a:r>
            <a:r>
              <a:rPr lang="en-GB" sz="1400" dirty="0" err="1" smtClean="0"/>
              <a:t>prioriteeteittäin</a:t>
            </a:r>
            <a:r>
              <a:rPr lang="en-GB" sz="1400" dirty="0" smtClean="0"/>
              <a:t>) </a:t>
            </a:r>
            <a:endParaRPr lang="en-GB" sz="1400" dirty="0"/>
          </a:p>
          <a:p>
            <a:pPr algn="l">
              <a:buFontTx/>
              <a:buChar char="•"/>
            </a:pPr>
            <a:r>
              <a:rPr lang="en-GB" sz="1400" dirty="0"/>
              <a:t> </a:t>
            </a:r>
            <a:r>
              <a:rPr lang="en-GB" sz="1400" b="1" dirty="0" err="1" smtClean="0"/>
              <a:t>Kattavuus</a:t>
            </a:r>
            <a:r>
              <a:rPr lang="en-GB" sz="1400" b="1" dirty="0" smtClean="0"/>
              <a:t> </a:t>
            </a:r>
            <a:r>
              <a:rPr lang="en-GB" sz="1400" dirty="0" smtClean="0"/>
              <a:t>(</a:t>
            </a:r>
            <a:r>
              <a:rPr lang="en-GB" sz="1400" dirty="0" err="1" smtClean="0"/>
              <a:t>suunnittelemattomat</a:t>
            </a:r>
            <a:r>
              <a:rPr lang="en-GB" sz="1400" dirty="0" smtClean="0"/>
              <a:t> / </a:t>
            </a:r>
            <a:r>
              <a:rPr lang="en-GB" sz="1400" dirty="0" err="1" smtClean="0"/>
              <a:t>ajamattomat</a:t>
            </a:r>
            <a:r>
              <a:rPr lang="en-GB" sz="1400" dirty="0" smtClean="0"/>
              <a:t> </a:t>
            </a:r>
            <a:r>
              <a:rPr lang="en-GB" sz="1400" dirty="0" err="1" smtClean="0"/>
              <a:t>testit</a:t>
            </a:r>
            <a:r>
              <a:rPr lang="en-GB" sz="1400" dirty="0" smtClean="0"/>
              <a:t> </a:t>
            </a:r>
            <a:r>
              <a:rPr lang="en-GB" sz="1400" dirty="0" err="1" smtClean="0"/>
              <a:t>suhteessa</a:t>
            </a:r>
            <a:r>
              <a:rPr lang="en-GB" sz="1400" dirty="0" smtClean="0"/>
              <a:t> </a:t>
            </a:r>
            <a:r>
              <a:rPr lang="en-GB" sz="1400" dirty="0" err="1" smtClean="0"/>
              <a:t>vaatimuksiin</a:t>
            </a:r>
            <a:r>
              <a:rPr lang="en-GB" sz="1400" dirty="0" smtClean="0"/>
              <a:t> tai </a:t>
            </a:r>
            <a:r>
              <a:rPr lang="en-GB" sz="1400" dirty="0" err="1" smtClean="0"/>
              <a:t>oletuksiin</a:t>
            </a:r>
            <a:r>
              <a:rPr lang="en-GB" sz="1400" dirty="0" smtClean="0"/>
              <a:t>)</a:t>
            </a:r>
            <a:endParaRPr lang="en-GB" sz="1400" dirty="0"/>
          </a:p>
          <a:p>
            <a:pPr algn="l">
              <a:buFontTx/>
              <a:buChar char="•"/>
            </a:pPr>
            <a:r>
              <a:rPr lang="en-GB" sz="1400" dirty="0"/>
              <a:t> </a:t>
            </a:r>
            <a:r>
              <a:rPr lang="en-GB" sz="1400" b="1" dirty="0" err="1" smtClean="0"/>
              <a:t>Tuntemattomien</a:t>
            </a:r>
            <a:r>
              <a:rPr lang="en-GB" sz="1400" b="1" dirty="0" smtClean="0"/>
              <a:t> </a:t>
            </a:r>
            <a:r>
              <a:rPr lang="en-GB" sz="1400" b="1" dirty="0" err="1" smtClean="0"/>
              <a:t>havaintojen</a:t>
            </a:r>
            <a:r>
              <a:rPr lang="en-GB" sz="1400" b="1" dirty="0" smtClean="0"/>
              <a:t> </a:t>
            </a:r>
            <a:r>
              <a:rPr lang="en-GB" sz="1400" b="1" dirty="0" err="1" smtClean="0"/>
              <a:t>määrä</a:t>
            </a:r>
            <a:r>
              <a:rPr lang="en-GB" sz="1400" b="1" dirty="0" smtClean="0"/>
              <a:t> </a:t>
            </a:r>
            <a:r>
              <a:rPr lang="en-GB" sz="1400" dirty="0" smtClean="0"/>
              <a:t>(</a:t>
            </a:r>
            <a:r>
              <a:rPr lang="en-GB" sz="1400" dirty="0" err="1" smtClean="0"/>
              <a:t>arvaus</a:t>
            </a:r>
            <a:r>
              <a:rPr lang="en-GB" sz="1400" dirty="0" smtClean="0"/>
              <a:t> / </a:t>
            </a:r>
            <a:r>
              <a:rPr lang="en-GB" sz="1400" dirty="0" err="1" smtClean="0"/>
              <a:t>tuntuma</a:t>
            </a:r>
            <a:r>
              <a:rPr lang="en-GB" sz="1400" dirty="0" smtClean="0"/>
              <a:t> </a:t>
            </a:r>
            <a:r>
              <a:rPr lang="en-GB" sz="1400" dirty="0" err="1" smtClean="0"/>
              <a:t>määrästä</a:t>
            </a:r>
            <a:r>
              <a:rPr lang="en-GB" sz="1400" dirty="0" smtClean="0"/>
              <a:t> </a:t>
            </a:r>
            <a:r>
              <a:rPr lang="en-GB" sz="1400" dirty="0" err="1" smtClean="0"/>
              <a:t>havaintoja</a:t>
            </a:r>
            <a:r>
              <a:rPr lang="en-GB" sz="1400" dirty="0" smtClean="0"/>
              <a:t> </a:t>
            </a:r>
            <a:r>
              <a:rPr lang="en-GB" sz="1400" dirty="0" err="1" smtClean="0"/>
              <a:t>joita</a:t>
            </a:r>
            <a:r>
              <a:rPr lang="en-GB" sz="1400" dirty="0" smtClean="0"/>
              <a:t> </a:t>
            </a:r>
            <a:r>
              <a:rPr lang="en-GB" sz="1400" dirty="0" err="1" smtClean="0"/>
              <a:t>testaus</a:t>
            </a:r>
            <a:r>
              <a:rPr lang="en-GB" sz="1400" dirty="0" smtClean="0"/>
              <a:t> </a:t>
            </a:r>
            <a:r>
              <a:rPr lang="en-GB" sz="1400" dirty="0" err="1" smtClean="0"/>
              <a:t>tuottaa</a:t>
            </a:r>
            <a:r>
              <a:rPr lang="en-GB" sz="1400" dirty="0" smtClean="0"/>
              <a:t> </a:t>
            </a:r>
            <a:r>
              <a:rPr lang="en-GB" sz="1400" dirty="0" err="1" smtClean="0"/>
              <a:t>vielä</a:t>
            </a:r>
            <a:r>
              <a:rPr lang="en-GB" sz="1400" dirty="0" smtClean="0"/>
              <a:t> </a:t>
            </a:r>
            <a:r>
              <a:rPr lang="en-GB" sz="1400" dirty="0" err="1" smtClean="0"/>
              <a:t>näkyviin</a:t>
            </a:r>
            <a:r>
              <a:rPr lang="en-GB" sz="1400" dirty="0" smtClean="0"/>
              <a:t>)</a:t>
            </a:r>
            <a:endParaRPr lang="en-GB" sz="1400" dirty="0"/>
          </a:p>
        </p:txBody>
      </p:sp>
      <p:pic>
        <p:nvPicPr>
          <p:cNvPr id="5" name="Picture 181"/>
          <p:cNvPicPr>
            <a:picLocks noChangeAspect="1" noChangeArrowheads="1"/>
          </p:cNvPicPr>
          <p:nvPr/>
        </p:nvPicPr>
        <p:blipFill>
          <a:blip r:embed="rId3" cstate="print"/>
          <a:srcRect/>
          <a:stretch>
            <a:fillRect/>
          </a:stretch>
        </p:blipFill>
        <p:spPr bwMode="auto">
          <a:xfrm>
            <a:off x="4086999" y="1357298"/>
            <a:ext cx="4699843" cy="5429288"/>
          </a:xfrm>
          <a:prstGeom prst="rect">
            <a:avLst/>
          </a:prstGeom>
          <a:noFill/>
          <a:ln w="12700">
            <a:noFill/>
            <a:miter lim="800000"/>
            <a:headEnd/>
            <a:tailEnd/>
          </a:ln>
          <a:effectLst/>
        </p:spPr>
      </p:pic>
      <p:sp>
        <p:nvSpPr>
          <p:cNvPr id="6" name="Slide Number Placeholder 5"/>
          <p:cNvSpPr>
            <a:spLocks noGrp="1"/>
          </p:cNvSpPr>
          <p:nvPr>
            <p:ph type="sldNum" sz="quarter" idx="12"/>
          </p:nvPr>
        </p:nvSpPr>
        <p:spPr/>
        <p:txBody>
          <a:bodyPr/>
          <a:lstStyle/>
          <a:p>
            <a:fld id="{7A750B4A-325E-4AA4-BC07-A8C35B32A4F3}" type="slidenum">
              <a:rPr lang="fi-FI" smtClean="0"/>
              <a:pPr/>
              <a:t>150</a:t>
            </a:fld>
            <a:endParaRPr lang="fi-FI"/>
          </a:p>
        </p:txBody>
      </p:sp>
    </p:spTree>
  </p:cSld>
  <p:clrMapOvr>
    <a:masterClrMapping/>
  </p:clrMapOvr>
  <p:timing>
    <p:tnLst>
      <p:par>
        <p:cTn xmlns:p14="http://schemas.microsoft.com/office/powerpoint/2010/mai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Rectangle 2"/>
          <p:cNvSpPr>
            <a:spLocks noChangeArrowheads="1"/>
          </p:cNvSpPr>
          <p:nvPr/>
        </p:nvSpPr>
        <p:spPr bwMode="auto">
          <a:xfrm>
            <a:off x="6477000" y="1600200"/>
            <a:ext cx="2514600" cy="4724400"/>
          </a:xfrm>
          <a:prstGeom prst="rect">
            <a:avLst/>
          </a:prstGeom>
          <a:solidFill>
            <a:schemeClr val="folHlink">
              <a:alpha val="50000"/>
            </a:schemeClr>
          </a:solidFill>
          <a:ln w="9525">
            <a:noFill/>
            <a:miter lim="800000"/>
            <a:headEnd/>
            <a:tailEnd/>
          </a:ln>
          <a:effectLst/>
        </p:spPr>
        <p:txBody>
          <a:bodyPr wrap="none" anchor="ctr"/>
          <a:lstStyle/>
          <a:p>
            <a:pPr algn="ctr"/>
            <a:endParaRPr lang="en-GB">
              <a:solidFill>
                <a:schemeClr val="folHlink"/>
              </a:solidFill>
              <a:latin typeface="Trebuchet MS" pitchFamily="34" charset="0"/>
            </a:endParaRPr>
          </a:p>
        </p:txBody>
      </p:sp>
      <p:sp>
        <p:nvSpPr>
          <p:cNvPr id="321539" name="Rectangle 3"/>
          <p:cNvSpPr>
            <a:spLocks noGrp="1" noChangeArrowheads="1"/>
          </p:cNvSpPr>
          <p:nvPr>
            <p:ph type="title"/>
          </p:nvPr>
        </p:nvSpPr>
        <p:spPr/>
        <p:txBody>
          <a:bodyPr>
            <a:normAutofit fontScale="90000"/>
          </a:bodyPr>
          <a:lstStyle/>
          <a:p>
            <a:r>
              <a:rPr lang="fi-FI"/>
              <a:t>Testitapausten määrän mittaaminen</a:t>
            </a:r>
          </a:p>
        </p:txBody>
      </p:sp>
      <p:pic>
        <p:nvPicPr>
          <p:cNvPr id="321540" name="Picture 4" descr="BS00982_"/>
          <p:cNvPicPr>
            <a:picLocks noChangeAspect="1" noChangeArrowheads="1"/>
          </p:cNvPicPr>
          <p:nvPr/>
        </p:nvPicPr>
        <p:blipFill>
          <a:blip r:embed="rId3" cstate="print"/>
          <a:srcRect/>
          <a:stretch>
            <a:fillRect/>
          </a:stretch>
        </p:blipFill>
        <p:spPr bwMode="auto">
          <a:xfrm>
            <a:off x="4325938" y="2819400"/>
            <a:ext cx="1800225" cy="1828800"/>
          </a:xfrm>
          <a:prstGeom prst="rect">
            <a:avLst/>
          </a:prstGeom>
          <a:noFill/>
        </p:spPr>
      </p:pic>
      <p:pic>
        <p:nvPicPr>
          <p:cNvPr id="321541" name="Picture 5" descr="BS01062_"/>
          <p:cNvPicPr>
            <a:picLocks noChangeAspect="1" noChangeArrowheads="1"/>
          </p:cNvPicPr>
          <p:nvPr/>
        </p:nvPicPr>
        <p:blipFill>
          <a:blip r:embed="rId4" cstate="print"/>
          <a:srcRect/>
          <a:stretch>
            <a:fillRect/>
          </a:stretch>
        </p:blipFill>
        <p:spPr bwMode="auto">
          <a:xfrm>
            <a:off x="608013" y="2743200"/>
            <a:ext cx="1549400" cy="1828800"/>
          </a:xfrm>
          <a:prstGeom prst="rect">
            <a:avLst/>
          </a:prstGeom>
          <a:noFill/>
        </p:spPr>
      </p:pic>
      <p:pic>
        <p:nvPicPr>
          <p:cNvPr id="321542" name="Picture 6" descr="j0287138"/>
          <p:cNvPicPr>
            <a:picLocks noChangeAspect="1" noChangeArrowheads="1"/>
          </p:cNvPicPr>
          <p:nvPr/>
        </p:nvPicPr>
        <p:blipFill>
          <a:blip r:embed="rId5" cstate="print"/>
          <a:srcRect/>
          <a:stretch>
            <a:fillRect/>
          </a:stretch>
        </p:blipFill>
        <p:spPr bwMode="auto">
          <a:xfrm>
            <a:off x="2921000" y="5346700"/>
            <a:ext cx="825500" cy="822325"/>
          </a:xfrm>
          <a:prstGeom prst="rect">
            <a:avLst/>
          </a:prstGeom>
          <a:noFill/>
        </p:spPr>
      </p:pic>
      <p:pic>
        <p:nvPicPr>
          <p:cNvPr id="321543" name="Picture 7" descr="BS00272_"/>
          <p:cNvPicPr>
            <a:picLocks noChangeAspect="1" noChangeArrowheads="1"/>
          </p:cNvPicPr>
          <p:nvPr/>
        </p:nvPicPr>
        <p:blipFill>
          <a:blip r:embed="rId6" cstate="print"/>
          <a:srcRect/>
          <a:stretch>
            <a:fillRect/>
          </a:stretch>
        </p:blipFill>
        <p:spPr bwMode="auto">
          <a:xfrm>
            <a:off x="381000" y="5284788"/>
            <a:ext cx="1295400" cy="876300"/>
          </a:xfrm>
          <a:prstGeom prst="rect">
            <a:avLst/>
          </a:prstGeom>
          <a:noFill/>
        </p:spPr>
      </p:pic>
      <p:sp>
        <p:nvSpPr>
          <p:cNvPr id="321544" name="Line 8"/>
          <p:cNvSpPr>
            <a:spLocks noChangeShapeType="1"/>
          </p:cNvSpPr>
          <p:nvPr/>
        </p:nvSpPr>
        <p:spPr bwMode="auto">
          <a:xfrm flipH="1">
            <a:off x="800100" y="4648200"/>
            <a:ext cx="193675" cy="381000"/>
          </a:xfrm>
          <a:prstGeom prst="line">
            <a:avLst/>
          </a:prstGeom>
          <a:noFill/>
          <a:ln w="38100">
            <a:solidFill>
              <a:schemeClr val="tx1"/>
            </a:solidFill>
            <a:round/>
            <a:headEnd/>
            <a:tailEnd type="triangle" w="med" len="med"/>
          </a:ln>
          <a:effectLst/>
        </p:spPr>
        <p:txBody>
          <a:bodyPr/>
          <a:lstStyle/>
          <a:p>
            <a:endParaRPr lang="fi-FI"/>
          </a:p>
        </p:txBody>
      </p:sp>
      <p:sp>
        <p:nvSpPr>
          <p:cNvPr id="321545" name="Line 9"/>
          <p:cNvSpPr>
            <a:spLocks noChangeShapeType="1"/>
          </p:cNvSpPr>
          <p:nvPr/>
        </p:nvSpPr>
        <p:spPr bwMode="auto">
          <a:xfrm>
            <a:off x="5529263" y="4767263"/>
            <a:ext cx="176212" cy="338137"/>
          </a:xfrm>
          <a:prstGeom prst="line">
            <a:avLst/>
          </a:prstGeom>
          <a:noFill/>
          <a:ln w="38100">
            <a:solidFill>
              <a:schemeClr val="tx1"/>
            </a:solidFill>
            <a:round/>
            <a:headEnd/>
            <a:tailEnd type="triangle" w="med" len="med"/>
          </a:ln>
          <a:effectLst/>
        </p:spPr>
        <p:txBody>
          <a:bodyPr/>
          <a:lstStyle/>
          <a:p>
            <a:endParaRPr lang="fi-FI"/>
          </a:p>
        </p:txBody>
      </p:sp>
      <p:pic>
        <p:nvPicPr>
          <p:cNvPr id="321546" name="Picture 10" descr="BS01062_"/>
          <p:cNvPicPr>
            <a:picLocks noChangeAspect="1" noChangeArrowheads="1"/>
          </p:cNvPicPr>
          <p:nvPr/>
        </p:nvPicPr>
        <p:blipFill>
          <a:blip r:embed="rId4" cstate="print"/>
          <a:srcRect/>
          <a:stretch>
            <a:fillRect/>
          </a:stretch>
        </p:blipFill>
        <p:spPr bwMode="auto">
          <a:xfrm>
            <a:off x="2514600" y="2743200"/>
            <a:ext cx="1549400" cy="1828800"/>
          </a:xfrm>
          <a:prstGeom prst="rect">
            <a:avLst/>
          </a:prstGeom>
          <a:noFill/>
        </p:spPr>
      </p:pic>
      <p:pic>
        <p:nvPicPr>
          <p:cNvPr id="321547" name="Picture 11" descr="BS00272_"/>
          <p:cNvPicPr>
            <a:picLocks noChangeAspect="1" noChangeArrowheads="1"/>
          </p:cNvPicPr>
          <p:nvPr/>
        </p:nvPicPr>
        <p:blipFill>
          <a:blip r:embed="rId6" cstate="print"/>
          <a:srcRect/>
          <a:stretch>
            <a:fillRect/>
          </a:stretch>
        </p:blipFill>
        <p:spPr bwMode="auto">
          <a:xfrm>
            <a:off x="4978400" y="5360988"/>
            <a:ext cx="1295400" cy="876300"/>
          </a:xfrm>
          <a:prstGeom prst="rect">
            <a:avLst/>
          </a:prstGeom>
          <a:noFill/>
        </p:spPr>
      </p:pic>
      <p:sp>
        <p:nvSpPr>
          <p:cNvPr id="321548" name="Line 12"/>
          <p:cNvSpPr>
            <a:spLocks noChangeShapeType="1"/>
          </p:cNvSpPr>
          <p:nvPr/>
        </p:nvSpPr>
        <p:spPr bwMode="auto">
          <a:xfrm flipH="1">
            <a:off x="3171825" y="4724400"/>
            <a:ext cx="193675" cy="381000"/>
          </a:xfrm>
          <a:prstGeom prst="line">
            <a:avLst/>
          </a:prstGeom>
          <a:noFill/>
          <a:ln w="38100">
            <a:solidFill>
              <a:schemeClr val="tx1"/>
            </a:solidFill>
            <a:round/>
            <a:headEnd/>
            <a:tailEnd type="triangle" w="med" len="med"/>
          </a:ln>
          <a:effectLst/>
        </p:spPr>
        <p:txBody>
          <a:bodyPr/>
          <a:lstStyle/>
          <a:p>
            <a:endParaRPr lang="fi-FI"/>
          </a:p>
        </p:txBody>
      </p:sp>
      <p:pic>
        <p:nvPicPr>
          <p:cNvPr id="321549" name="Picture 13" descr="j0078746"/>
          <p:cNvPicPr>
            <a:picLocks noChangeAspect="1" noChangeArrowheads="1"/>
          </p:cNvPicPr>
          <p:nvPr/>
        </p:nvPicPr>
        <p:blipFill>
          <a:blip r:embed="rId7" cstate="print"/>
          <a:srcRect/>
          <a:stretch>
            <a:fillRect/>
          </a:stretch>
        </p:blipFill>
        <p:spPr bwMode="auto">
          <a:xfrm>
            <a:off x="6553200" y="1866900"/>
            <a:ext cx="2362200" cy="2171700"/>
          </a:xfrm>
          <a:prstGeom prst="rect">
            <a:avLst/>
          </a:prstGeom>
          <a:noFill/>
        </p:spPr>
      </p:pic>
      <p:pic>
        <p:nvPicPr>
          <p:cNvPr id="321550" name="Picture 14" descr="j0078752"/>
          <p:cNvPicPr>
            <a:picLocks noChangeAspect="1" noChangeArrowheads="1"/>
          </p:cNvPicPr>
          <p:nvPr/>
        </p:nvPicPr>
        <p:blipFill>
          <a:blip r:embed="rId8" cstate="print"/>
          <a:srcRect/>
          <a:stretch>
            <a:fillRect/>
          </a:stretch>
        </p:blipFill>
        <p:spPr bwMode="auto">
          <a:xfrm>
            <a:off x="6781800" y="4219575"/>
            <a:ext cx="2200275" cy="2105025"/>
          </a:xfrm>
          <a:prstGeom prst="rect">
            <a:avLst/>
          </a:prstGeom>
          <a:noFill/>
        </p:spPr>
      </p:pic>
      <p:sp>
        <p:nvSpPr>
          <p:cNvPr id="321551" name="Line 15"/>
          <p:cNvSpPr>
            <a:spLocks noChangeShapeType="1"/>
          </p:cNvSpPr>
          <p:nvPr/>
        </p:nvSpPr>
        <p:spPr bwMode="auto">
          <a:xfrm>
            <a:off x="6400800" y="1600200"/>
            <a:ext cx="0" cy="4572000"/>
          </a:xfrm>
          <a:prstGeom prst="line">
            <a:avLst/>
          </a:prstGeom>
          <a:noFill/>
          <a:ln w="9525" cap="rnd">
            <a:solidFill>
              <a:schemeClr val="folHlink"/>
            </a:solidFill>
            <a:prstDash val="sysDot"/>
            <a:round/>
            <a:headEnd type="triangle" w="med" len="med"/>
            <a:tailEnd/>
          </a:ln>
          <a:effectLst/>
        </p:spPr>
        <p:txBody>
          <a:bodyPr/>
          <a:lstStyle/>
          <a:p>
            <a:endParaRPr lang="fi-FI"/>
          </a:p>
        </p:txBody>
      </p:sp>
      <p:sp>
        <p:nvSpPr>
          <p:cNvPr id="321552" name="Text Box 16"/>
          <p:cNvSpPr txBox="1">
            <a:spLocks noChangeArrowheads="1"/>
          </p:cNvSpPr>
          <p:nvPr/>
        </p:nvSpPr>
        <p:spPr bwMode="auto">
          <a:xfrm>
            <a:off x="6400800" y="1600200"/>
            <a:ext cx="762000" cy="366713"/>
          </a:xfrm>
          <a:prstGeom prst="rect">
            <a:avLst/>
          </a:prstGeom>
          <a:noFill/>
          <a:ln w="9525">
            <a:noFill/>
            <a:miter lim="800000"/>
            <a:headEnd/>
            <a:tailEnd/>
          </a:ln>
          <a:effectLst/>
        </p:spPr>
        <p:txBody>
          <a:bodyPr>
            <a:spAutoFit/>
          </a:bodyPr>
          <a:lstStyle/>
          <a:p>
            <a:pPr algn="l">
              <a:spcBef>
                <a:spcPct val="50000"/>
              </a:spcBef>
            </a:pPr>
            <a:r>
              <a:rPr lang="fi-FI">
                <a:latin typeface="Trebuchet MS" pitchFamily="34" charset="0"/>
              </a:rPr>
              <a:t>aika</a:t>
            </a:r>
            <a:endParaRPr lang="en-GB">
              <a:latin typeface="Trebuchet MS" pitchFamily="34" charset="0"/>
            </a:endParaRPr>
          </a:p>
        </p:txBody>
      </p:sp>
      <p:sp>
        <p:nvSpPr>
          <p:cNvPr id="18" name="TextBox 17"/>
          <p:cNvSpPr txBox="1"/>
          <p:nvPr/>
        </p:nvSpPr>
        <p:spPr>
          <a:xfrm rot="16200000">
            <a:off x="7602044" y="3744400"/>
            <a:ext cx="2286016" cy="369332"/>
          </a:xfrm>
          <a:prstGeom prst="rect">
            <a:avLst/>
          </a:prstGeom>
          <a:noFill/>
        </p:spPr>
        <p:txBody>
          <a:bodyPr wrap="square" rtlCol="0">
            <a:spAutoFit/>
          </a:bodyPr>
          <a:lstStyle/>
          <a:p>
            <a:r>
              <a:rPr lang="fi-FI" dirty="0" smtClean="0"/>
              <a:t>Järjestelmän laatu</a:t>
            </a:r>
            <a:endParaRPr lang="fi-FI" dirty="0"/>
          </a:p>
        </p:txBody>
      </p:sp>
      <p:sp>
        <p:nvSpPr>
          <p:cNvPr id="19" name="Slide Number Placeholder 18"/>
          <p:cNvSpPr>
            <a:spLocks noGrp="1"/>
          </p:cNvSpPr>
          <p:nvPr>
            <p:ph type="sldNum" sz="quarter" idx="12"/>
          </p:nvPr>
        </p:nvSpPr>
        <p:spPr/>
        <p:txBody>
          <a:bodyPr/>
          <a:lstStyle/>
          <a:p>
            <a:fld id="{7A750B4A-325E-4AA4-BC07-A8C35B32A4F3}" type="slidenum">
              <a:rPr lang="fi-FI" smtClean="0"/>
              <a:pPr/>
              <a:t>151</a:t>
            </a:fld>
            <a:endParaRPr lang="fi-FI"/>
          </a:p>
        </p:txBody>
      </p:sp>
    </p:spTree>
  </p:cSld>
  <p:clrMapOvr>
    <a:masterClrMapping/>
  </p:clrMapOvr>
  <p:timing>
    <p:tnLst>
      <p:par>
        <p:cTn xmlns:p14="http://schemas.microsoft.com/office/powerpoint/2010/mai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tsikko 3"/>
          <p:cNvSpPr>
            <a:spLocks noGrp="1"/>
          </p:cNvSpPr>
          <p:nvPr>
            <p:ph type="title"/>
          </p:nvPr>
        </p:nvSpPr>
        <p:spPr>
          <a:xfrm>
            <a:off x="457200" y="274638"/>
            <a:ext cx="8229600" cy="634082"/>
          </a:xfrm>
        </p:spPr>
        <p:txBody>
          <a:bodyPr>
            <a:normAutofit fontScale="90000"/>
          </a:bodyPr>
          <a:lstStyle/>
          <a:p>
            <a:r>
              <a:rPr lang="fi-FI" dirty="0" smtClean="0"/>
              <a:t>Esimerkki: HT 10.10.2011</a:t>
            </a:r>
            <a:endParaRPr lang="fi-FI" dirty="0"/>
          </a:p>
        </p:txBody>
      </p:sp>
      <p:graphicFrame>
        <p:nvGraphicFramePr>
          <p:cNvPr id="6" name="Chart 4"/>
          <p:cNvGraphicFramePr>
            <a:graphicFrameLocks/>
          </p:cNvGraphicFramePr>
          <p:nvPr>
            <p:extLst>
              <p:ext uri="{D42A27DB-BD31-4B8C-83A1-F6EECF244321}">
                <p14:modId xmlns:p14="http://schemas.microsoft.com/office/powerpoint/2010/main" val="3629130764"/>
              </p:ext>
            </p:extLst>
          </p:nvPr>
        </p:nvGraphicFramePr>
        <p:xfrm>
          <a:off x="4572000" y="3140968"/>
          <a:ext cx="4572000" cy="3259832"/>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8"/>
          <p:cNvSpPr txBox="1"/>
          <p:nvPr/>
        </p:nvSpPr>
        <p:spPr>
          <a:xfrm>
            <a:off x="5004048" y="1844824"/>
            <a:ext cx="3672408" cy="1107996"/>
          </a:xfrm>
          <a:prstGeom prst="rect">
            <a:avLst/>
          </a:prstGeom>
          <a:noFill/>
        </p:spPr>
        <p:txBody>
          <a:bodyPr wrap="square" rtlCol="0">
            <a:spAutoFit/>
          </a:bodyPr>
          <a:lstStyle/>
          <a:p>
            <a:pPr algn="ctr"/>
            <a:r>
              <a:rPr lang="fi-FI" b="1" dirty="0" smtClean="0"/>
              <a:t>Hyväksymistestaus alkoi: 24.8. </a:t>
            </a:r>
            <a:br>
              <a:rPr lang="fi-FI" b="1" dirty="0" smtClean="0"/>
            </a:br>
            <a:r>
              <a:rPr lang="fi-FI" sz="1400" b="1" dirty="0" smtClean="0"/>
              <a:t>(5 kalenterityöpäivää aikataulusta myöhässä)</a:t>
            </a:r>
          </a:p>
          <a:p>
            <a:pPr algn="ctr"/>
            <a:r>
              <a:rPr lang="fi-FI" sz="1600" dirty="0" smtClean="0"/>
              <a:t>Testausta tehty raportointiajankohtana 34 kalenterityöpäivää </a:t>
            </a:r>
            <a:r>
              <a:rPr lang="fi-FI" dirty="0" smtClean="0"/>
              <a:t>(34/50 = 68 %) </a:t>
            </a:r>
          </a:p>
        </p:txBody>
      </p:sp>
      <p:graphicFrame>
        <p:nvGraphicFramePr>
          <p:cNvPr id="8" name="Chart 7"/>
          <p:cNvGraphicFramePr>
            <a:graphicFrameLocks/>
          </p:cNvGraphicFramePr>
          <p:nvPr>
            <p:extLst>
              <p:ext uri="{D42A27DB-BD31-4B8C-83A1-F6EECF244321}">
                <p14:modId xmlns:p14="http://schemas.microsoft.com/office/powerpoint/2010/main" val="3065205283"/>
              </p:ext>
            </p:extLst>
          </p:nvPr>
        </p:nvGraphicFramePr>
        <p:xfrm>
          <a:off x="0" y="1295400"/>
          <a:ext cx="4938713" cy="3419475"/>
        </p:xfrm>
        <a:graphic>
          <a:graphicData uri="http://schemas.openxmlformats.org/drawingml/2006/chart">
            <c:chart xmlns:c="http://schemas.openxmlformats.org/drawingml/2006/chart" xmlns:r="http://schemas.openxmlformats.org/officeDocument/2006/relationships" r:id="rId3"/>
          </a:graphicData>
        </a:graphic>
      </p:graphicFrame>
      <p:sp>
        <p:nvSpPr>
          <p:cNvPr id="9" name="Slide Number Placeholder 8"/>
          <p:cNvSpPr>
            <a:spLocks noGrp="1"/>
          </p:cNvSpPr>
          <p:nvPr>
            <p:ph type="sldNum" sz="quarter" idx="12"/>
          </p:nvPr>
        </p:nvSpPr>
        <p:spPr/>
        <p:txBody>
          <a:bodyPr/>
          <a:lstStyle/>
          <a:p>
            <a:fld id="{1FC54B03-E980-44E0-A0F1-6CAD9D10ECFB}" type="slidenum">
              <a:rPr lang="fi-FI" smtClean="0"/>
              <a:pPr/>
              <a:t>152</a:t>
            </a:fld>
            <a:endParaRPr lang="fi-FI"/>
          </a:p>
        </p:txBody>
      </p:sp>
    </p:spTree>
    <p:extLst>
      <p:ext uri="{BB962C8B-B14F-4D97-AF65-F5344CB8AC3E}">
        <p14:creationId xmlns:p14="http://schemas.microsoft.com/office/powerpoint/2010/main" val="532044064"/>
      </p:ext>
    </p:extLst>
  </p:cSld>
  <p:clrMapOvr>
    <a:masterClrMapping/>
  </p:clrMapOvr>
  <p:timing>
    <p:tnLst>
      <p:par>
        <p:cTn xmlns:p14="http://schemas.microsoft.com/office/powerpoint/2010/mai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p:cNvSpPr>
            <a:spLocks noGrp="1"/>
          </p:cNvSpPr>
          <p:nvPr>
            <p:ph type="title"/>
          </p:nvPr>
        </p:nvSpPr>
        <p:spPr/>
        <p:txBody>
          <a:bodyPr>
            <a:noAutofit/>
          </a:bodyPr>
          <a:lstStyle/>
          <a:p>
            <a:r>
              <a:rPr lang="fi-FI" sz="3600" dirty="0" smtClean="0"/>
              <a:t>Esimerkki: Hyväksymistestausajanjakson suunnitteluolettamat</a:t>
            </a:r>
            <a:endParaRPr lang="fi-FI" sz="3600" dirty="0"/>
          </a:p>
        </p:txBody>
      </p:sp>
      <p:sp>
        <p:nvSpPr>
          <p:cNvPr id="3" name="Sisällön paikkamerkki 2"/>
          <p:cNvSpPr>
            <a:spLocks noGrp="1"/>
          </p:cNvSpPr>
          <p:nvPr>
            <p:ph idx="1"/>
          </p:nvPr>
        </p:nvSpPr>
        <p:spPr/>
        <p:txBody>
          <a:bodyPr>
            <a:normAutofit fontScale="47500" lnSpcReduction="20000"/>
          </a:bodyPr>
          <a:lstStyle/>
          <a:p>
            <a:r>
              <a:rPr lang="fi-FI" dirty="0" smtClean="0"/>
              <a:t>Ohjelmisto on lähes virheetön</a:t>
            </a:r>
          </a:p>
          <a:p>
            <a:pPr lvl="1"/>
            <a:r>
              <a:rPr lang="fi-FI" dirty="0" smtClean="0"/>
              <a:t>Ei ole pitänyt paikkaansa, virhekorjauksia tehty 12 kpl, korjausta odottaa edelleen 4 hyten aikaista ja 2 järjestelmätestauksen aikaista  </a:t>
            </a:r>
          </a:p>
          <a:p>
            <a:pPr lvl="1"/>
            <a:r>
              <a:rPr lang="fi-FI" dirty="0" smtClean="0"/>
              <a:t>Lisäksi 2 uutta automaattisten muutosten järjestelmätestauksesta löytynyttä virhettä</a:t>
            </a:r>
          </a:p>
          <a:p>
            <a:r>
              <a:rPr lang="fi-FI" dirty="0" smtClean="0"/>
              <a:t>Pitkä aikaväli tarvitaan </a:t>
            </a:r>
          </a:p>
          <a:p>
            <a:pPr lvl="1"/>
            <a:r>
              <a:rPr lang="fi-FI" dirty="0" smtClean="0"/>
              <a:t>Laitosyhteistyöhön – toiminut erinomaisesti, erityisesti julkisten vapaakirjavastaukset</a:t>
            </a:r>
          </a:p>
          <a:p>
            <a:pPr lvl="1"/>
            <a:r>
              <a:rPr lang="fi-FI" dirty="0" smtClean="0"/>
              <a:t>Omien resurssien ajoittamiseen – testaajat suunnitellusti osapäiväisiä asiantuntijoita</a:t>
            </a:r>
          </a:p>
          <a:p>
            <a:pPr lvl="1"/>
            <a:r>
              <a:rPr lang="fi-FI" dirty="0" smtClean="0"/>
              <a:t>Muutospyyntöihin tunnistetulla määrittelytasolla</a:t>
            </a:r>
          </a:p>
          <a:p>
            <a:pPr lvl="1"/>
            <a:r>
              <a:rPr lang="fi-FI" dirty="0" smtClean="0"/>
              <a:t>Muuttumaton versio testauksessa käytössä 20 kalenterityöpäivää ennen tuotantohyväksyntää.</a:t>
            </a:r>
          </a:p>
          <a:p>
            <a:r>
              <a:rPr lang="fi-FI" dirty="0" smtClean="0"/>
              <a:t>Päivänä 34 olemme saaneet tehtyä 42 % testauksestamme, ja suhteessa suunniteltuun, merkittävä hidaste on toimituksen puutteellinen laatu</a:t>
            </a:r>
          </a:p>
          <a:p>
            <a:pPr lvl="1"/>
            <a:r>
              <a:rPr lang="fi-FI" dirty="0" smtClean="0"/>
              <a:t>Joudumme toistamaan samoja testejä korjausten jälkeen</a:t>
            </a:r>
          </a:p>
          <a:p>
            <a:pPr lvl="1"/>
            <a:r>
              <a:rPr lang="fi-FI" dirty="0" smtClean="0"/>
              <a:t>Joudumme väistelemään tapauksia joissa vastaavia tilanteita ja palaamaan näihin uudelleen korjausten tultua saataville</a:t>
            </a:r>
          </a:p>
          <a:p>
            <a:pPr lvl="1"/>
            <a:r>
              <a:rPr lang="fi-FI" dirty="0" smtClean="0"/>
              <a:t>Joudumme toistuvasti pyytämään (sitä saamatta) automaattisten muutosten yhteistestauksen aikataulua</a:t>
            </a:r>
          </a:p>
          <a:p>
            <a:pPr lvl="1"/>
            <a:r>
              <a:rPr lang="fi-FI" dirty="0" smtClean="0"/>
              <a:t>Joudumme tekemään regressiotestausta laajenevassa määrin testiemme edetessä ja korjausten viipyessä korjatuille versioille</a:t>
            </a:r>
          </a:p>
          <a:p>
            <a:r>
              <a:rPr lang="fi-FI" dirty="0" smtClean="0"/>
              <a:t>Tulemme tarvitsemaan tästä päivästä 40 kalenterityöpäivää hyväksymistestauksemme loppuunsaattamiseen </a:t>
            </a:r>
            <a:r>
              <a:rPr lang="fi-FI" dirty="0" smtClean="0">
                <a:sym typeface="Wingdings" pitchFamily="2" charset="2"/>
              </a:rPr>
              <a:t> 5.12.2011</a:t>
            </a:r>
          </a:p>
          <a:p>
            <a:pPr lvl="1"/>
            <a:r>
              <a:rPr lang="fi-FI" dirty="0" smtClean="0">
                <a:sym typeface="Wingdings" pitchFamily="2" charset="2"/>
              </a:rPr>
              <a:t>Tämä perustuu olettamaan että tunnetut virheet korjataan viipymättä ja uusia merkittäviä virheitä ei löydetä. Lisävirheet viivästyttävät aikataulua entisestään. </a:t>
            </a:r>
          </a:p>
        </p:txBody>
      </p:sp>
      <p:sp>
        <p:nvSpPr>
          <p:cNvPr id="4" name="Slide Number Placeholder 3"/>
          <p:cNvSpPr>
            <a:spLocks noGrp="1"/>
          </p:cNvSpPr>
          <p:nvPr>
            <p:ph type="sldNum" sz="quarter" idx="12"/>
          </p:nvPr>
        </p:nvSpPr>
        <p:spPr/>
        <p:txBody>
          <a:bodyPr/>
          <a:lstStyle/>
          <a:p>
            <a:fld id="{1FC54B03-E980-44E0-A0F1-6CAD9D10ECFB}" type="slidenum">
              <a:rPr lang="fi-FI" smtClean="0"/>
              <a:pPr/>
              <a:t>153</a:t>
            </a:fld>
            <a:endParaRPr lang="fi-FI"/>
          </a:p>
        </p:txBody>
      </p:sp>
    </p:spTree>
    <p:extLst>
      <p:ext uri="{BB962C8B-B14F-4D97-AF65-F5344CB8AC3E}">
        <p14:creationId xmlns:p14="http://schemas.microsoft.com/office/powerpoint/2010/main" val="3701257216"/>
      </p:ext>
    </p:extLst>
  </p:cSld>
  <p:clrMapOvr>
    <a:masterClrMapping/>
  </p:clrMapOvr>
  <p:timing>
    <p:tnLst>
      <p:par>
        <p:cTn xmlns:p14="http://schemas.microsoft.com/office/powerpoint/2010/mai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p:txBody>
          <a:bodyPr/>
          <a:lstStyle/>
          <a:p>
            <a:r>
              <a:rPr lang="fi-FI"/>
              <a:t>Testausvastaavan rooli</a:t>
            </a:r>
            <a:endParaRPr lang="en-US"/>
          </a:p>
        </p:txBody>
      </p:sp>
      <p:sp>
        <p:nvSpPr>
          <p:cNvPr id="2051" name="Rectangle 3"/>
          <p:cNvSpPr>
            <a:spLocks noGrp="1" noChangeArrowheads="1"/>
          </p:cNvSpPr>
          <p:nvPr>
            <p:ph type="body" idx="1"/>
          </p:nvPr>
        </p:nvSpPr>
        <p:spPr/>
        <p:txBody>
          <a:bodyPr>
            <a:normAutofit/>
          </a:bodyPr>
          <a:lstStyle/>
          <a:p>
            <a:r>
              <a:rPr lang="fi-FI"/>
              <a:t>Testausvastaavan tuottamat palvelut ja työnjako projektinjohdossa</a:t>
            </a:r>
            <a:endParaRPr lang="en-US"/>
          </a:p>
        </p:txBody>
      </p:sp>
      <p:sp>
        <p:nvSpPr>
          <p:cNvPr id="4" name="Slide Number Placeholder 3"/>
          <p:cNvSpPr>
            <a:spLocks noGrp="1"/>
          </p:cNvSpPr>
          <p:nvPr>
            <p:ph type="sldNum" sz="quarter" idx="12"/>
          </p:nvPr>
        </p:nvSpPr>
        <p:spPr/>
        <p:txBody>
          <a:bodyPr/>
          <a:lstStyle/>
          <a:p>
            <a:fld id="{7A750B4A-325E-4AA4-BC07-A8C35B32A4F3}" type="slidenum">
              <a:rPr lang="fi-FI" smtClean="0"/>
              <a:pPr/>
              <a:t>154</a:t>
            </a:fld>
            <a:endParaRPr lang="fi-FI"/>
          </a:p>
        </p:txBody>
      </p:sp>
    </p:spTree>
  </p:cSld>
  <p:clrMapOvr>
    <a:masterClrMapping/>
  </p:clrMapOvr>
  <p:timing>
    <p:tnLst>
      <p:par>
        <p:cTn xmlns:p14="http://schemas.microsoft.com/office/powerpoint/2010/mai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noAutofit/>
          </a:bodyPr>
          <a:lstStyle/>
          <a:p>
            <a:r>
              <a:rPr lang="fi-FI" dirty="0"/>
              <a:t>Projektipäällikön ja testausvastaavan tehtävistä</a:t>
            </a:r>
            <a:endParaRPr lang="en-US" dirty="0"/>
          </a:p>
        </p:txBody>
      </p:sp>
      <p:sp>
        <p:nvSpPr>
          <p:cNvPr id="10243" name="Rectangle 3"/>
          <p:cNvSpPr>
            <a:spLocks noGrp="1" noChangeArrowheads="1"/>
          </p:cNvSpPr>
          <p:nvPr>
            <p:ph type="body" idx="1"/>
          </p:nvPr>
        </p:nvSpPr>
        <p:spPr/>
        <p:txBody>
          <a:bodyPr/>
          <a:lstStyle/>
          <a:p>
            <a:r>
              <a:rPr lang="fi-FI" sz="2400" dirty="0"/>
              <a:t>Tukemisen ja koordinoinnin </a:t>
            </a:r>
            <a:r>
              <a:rPr lang="fi-FI" sz="2400" dirty="0" smtClean="0"/>
              <a:t>kaksikko</a:t>
            </a:r>
          </a:p>
          <a:p>
            <a:pPr lvl="1"/>
            <a:r>
              <a:rPr lang="fi-FI" sz="2000" dirty="0" smtClean="0"/>
              <a:t>Voi yhdistyä yhteen henkilöön erityisesti asiakasorganisaatiossa, jonka tehtävät ovat pääasiallisesti hyväksymisen valmistelua</a:t>
            </a:r>
            <a:endParaRPr lang="fi-FI" sz="2000" dirty="0"/>
          </a:p>
          <a:p>
            <a:r>
              <a:rPr lang="fi-FI" sz="2400" dirty="0"/>
              <a:t>Töiden jakaminen persoonien, osaamisten ja annettujen toimintapuitteiden perusteella vaihtelee merkittävästi</a:t>
            </a:r>
          </a:p>
          <a:p>
            <a:r>
              <a:rPr lang="fi-FI" sz="2400" dirty="0"/>
              <a:t>Kaksikkona toisiaan tasapainottava: saadaan sekä aikataulu, laajuus, kustannukset että laatu hallintaan!</a:t>
            </a:r>
            <a:endParaRPr lang="en-US" sz="2400" dirty="0"/>
          </a:p>
        </p:txBody>
      </p:sp>
      <p:sp>
        <p:nvSpPr>
          <p:cNvPr id="10244" name="Rectangle 4"/>
          <p:cNvSpPr>
            <a:spLocks noChangeArrowheads="1"/>
          </p:cNvSpPr>
          <p:nvPr/>
        </p:nvSpPr>
        <p:spPr bwMode="auto">
          <a:xfrm>
            <a:off x="4067175" y="4437063"/>
            <a:ext cx="3960813" cy="1728787"/>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fi-FI"/>
              <a:t>Joskus molemmat hatut yhdistyvät samaan henkilöön. Tähän liittyy kilpailevien tavoitteiden ristiriitoja, joiden kanssa toimimisesta ihmisillä on erilaiset taidot selvitä. </a:t>
            </a:r>
            <a:endParaRPr lang="en-US"/>
          </a:p>
        </p:txBody>
      </p:sp>
      <p:sp>
        <p:nvSpPr>
          <p:cNvPr id="5" name="Slide Number Placeholder 4"/>
          <p:cNvSpPr>
            <a:spLocks noGrp="1"/>
          </p:cNvSpPr>
          <p:nvPr>
            <p:ph type="sldNum" sz="quarter" idx="12"/>
          </p:nvPr>
        </p:nvSpPr>
        <p:spPr/>
        <p:txBody>
          <a:bodyPr/>
          <a:lstStyle/>
          <a:p>
            <a:fld id="{7A750B4A-325E-4AA4-BC07-A8C35B32A4F3}" type="slidenum">
              <a:rPr lang="fi-FI" smtClean="0"/>
              <a:pPr/>
              <a:t>155</a:t>
            </a:fld>
            <a:endParaRPr lang="fi-FI"/>
          </a:p>
        </p:txBody>
      </p:sp>
    </p:spTree>
  </p:cSld>
  <p:clrMapOvr>
    <a:masterClrMapping/>
  </p:clrMapOvr>
  <p:timing>
    <p:tnLst>
      <p:par>
        <p:cTn xmlns:p14="http://schemas.microsoft.com/office/powerpoint/2010/mai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fi-FI" dirty="0" smtClean="0"/>
              <a:t>Testauspäällikön lisäarvo suhteessa projektipäällikköön</a:t>
            </a:r>
            <a:endParaRPr lang="fi-FI" dirty="0"/>
          </a:p>
        </p:txBody>
      </p:sp>
      <p:sp>
        <p:nvSpPr>
          <p:cNvPr id="21507" name="Rectangle 3"/>
          <p:cNvSpPr>
            <a:spLocks noGrp="1" noChangeArrowheads="1"/>
          </p:cNvSpPr>
          <p:nvPr>
            <p:ph idx="1"/>
          </p:nvPr>
        </p:nvSpPr>
        <p:spPr/>
        <p:txBody>
          <a:bodyPr>
            <a:normAutofit/>
          </a:bodyPr>
          <a:lstStyle/>
          <a:p>
            <a:r>
              <a:rPr lang="fi-FI" sz="2800" dirty="0"/>
              <a:t>Hyväksymistestauksen </a:t>
            </a:r>
            <a:r>
              <a:rPr lang="fi-FI" sz="2800" u="sng" dirty="0"/>
              <a:t>tuloksellinen ja tehokas</a:t>
            </a:r>
            <a:r>
              <a:rPr lang="fi-FI" sz="2800" dirty="0"/>
              <a:t> läpivienti vaatii ymmärrystä:</a:t>
            </a:r>
          </a:p>
          <a:p>
            <a:pPr lvl="1"/>
            <a:r>
              <a:rPr lang="fi-FI" sz="2400" dirty="0"/>
              <a:t>Toimittajan testauksen kohdistuksista</a:t>
            </a:r>
          </a:p>
          <a:p>
            <a:pPr lvl="1"/>
            <a:r>
              <a:rPr lang="fi-FI" sz="2400" dirty="0"/>
              <a:t>Hankitun osajärjestelmän käyttötilanteesta ja –tarkoituksesta</a:t>
            </a:r>
          </a:p>
          <a:p>
            <a:pPr lvl="1"/>
            <a:r>
              <a:rPr lang="fi-FI" sz="2400" dirty="0"/>
              <a:t>Liiketoiminnan tarpeista ja muiden sidosryhmien tarpeista</a:t>
            </a:r>
          </a:p>
          <a:p>
            <a:pPr lvl="1"/>
            <a:r>
              <a:rPr lang="fi-FI" sz="2400" dirty="0"/>
              <a:t>Tavoista saavuttaa riittävän kattava testaus</a:t>
            </a:r>
          </a:p>
          <a:p>
            <a:endParaRPr lang="en-US" sz="2800" dirty="0"/>
          </a:p>
        </p:txBody>
      </p:sp>
      <p:sp>
        <p:nvSpPr>
          <p:cNvPr id="21508" name="Text Box 4"/>
          <p:cNvSpPr txBox="1">
            <a:spLocks noChangeArrowheads="1"/>
          </p:cNvSpPr>
          <p:nvPr/>
        </p:nvSpPr>
        <p:spPr bwMode="auto">
          <a:xfrm>
            <a:off x="1066800" y="4830663"/>
            <a:ext cx="7058025" cy="1190625"/>
          </a:xfrm>
          <a:prstGeom prst="rect">
            <a:avLst/>
          </a:prstGeom>
          <a:solidFill>
            <a:schemeClr val="accent1"/>
          </a:solidFill>
          <a:ln w="9525" algn="ctr">
            <a:noFill/>
            <a:miter lim="800000"/>
            <a:headEnd/>
            <a:tailEnd/>
          </a:ln>
          <a:effectLst/>
        </p:spPr>
        <p:txBody>
          <a:bodyPr>
            <a:spAutoFit/>
          </a:bodyPr>
          <a:lstStyle/>
          <a:p>
            <a:pPr algn="ctr">
              <a:spcBef>
                <a:spcPct val="50000"/>
              </a:spcBef>
            </a:pPr>
            <a:r>
              <a:rPr lang="fi-FI" dirty="0">
                <a:solidFill>
                  <a:schemeClr val="bg1"/>
                </a:solidFill>
              </a:rPr>
              <a:t>Vaatimukset eivät ole vain yksi dokumenttinippu. Jos järjestelmällä ei saavuteta asioita joiden takia sitä hankittiin tai saadaan yllättäviä ei-toivottuja sivuvaikutuksia, se on syytä tietää viimeistään </a:t>
            </a:r>
            <a:r>
              <a:rPr lang="fi-FI" b="1" dirty="0">
                <a:solidFill>
                  <a:schemeClr val="bg1"/>
                </a:solidFill>
              </a:rPr>
              <a:t>hyväksymis</a:t>
            </a:r>
            <a:r>
              <a:rPr lang="fi-FI" dirty="0">
                <a:solidFill>
                  <a:schemeClr val="bg1"/>
                </a:solidFill>
              </a:rPr>
              <a:t>testauksen tuloksena. </a:t>
            </a:r>
            <a:endParaRPr lang="en-US" dirty="0">
              <a:solidFill>
                <a:schemeClr val="bg1"/>
              </a:solidFill>
            </a:endParaRPr>
          </a:p>
        </p:txBody>
      </p:sp>
      <p:sp>
        <p:nvSpPr>
          <p:cNvPr id="6" name="Slide Number Placeholder 5"/>
          <p:cNvSpPr>
            <a:spLocks noGrp="1"/>
          </p:cNvSpPr>
          <p:nvPr>
            <p:ph type="sldNum" sz="quarter" idx="12"/>
          </p:nvPr>
        </p:nvSpPr>
        <p:spPr/>
        <p:txBody>
          <a:bodyPr/>
          <a:lstStyle/>
          <a:p>
            <a:fld id="{7A750B4A-325E-4AA4-BC07-A8C35B32A4F3}" type="slidenum">
              <a:rPr lang="fi-FI" smtClean="0"/>
              <a:pPr/>
              <a:t>156</a:t>
            </a:fld>
            <a:endParaRPr lang="fi-FI"/>
          </a:p>
        </p:txBody>
      </p:sp>
    </p:spTree>
  </p:cSld>
  <p:clrMapOvr>
    <a:masterClrMapping/>
  </p:clrMapOvr>
  <p:timing>
    <p:tnLst>
      <p:par>
        <p:cTn xmlns:p14="http://schemas.microsoft.com/office/powerpoint/2010/mai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3"/>
          <p:cNvSpPr>
            <a:spLocks noGrp="1"/>
          </p:cNvSpPr>
          <p:nvPr>
            <p:ph type="title"/>
          </p:nvPr>
        </p:nvSpPr>
        <p:spPr/>
        <p:txBody>
          <a:bodyPr>
            <a:normAutofit/>
          </a:bodyPr>
          <a:lstStyle/>
          <a:p>
            <a:r>
              <a:rPr lang="fi-FI" dirty="0" smtClean="0"/>
              <a:t>Testauksen vastuita voi jakaa</a:t>
            </a:r>
          </a:p>
        </p:txBody>
      </p:sp>
      <p:graphicFrame>
        <p:nvGraphicFramePr>
          <p:cNvPr id="6" name="Content Placeholder 5"/>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076" name="Text Box 4"/>
          <p:cNvSpPr txBox="1">
            <a:spLocks noChangeArrowheads="1"/>
          </p:cNvSpPr>
          <p:nvPr/>
        </p:nvSpPr>
        <p:spPr bwMode="auto">
          <a:xfrm>
            <a:off x="5580063" y="1466850"/>
            <a:ext cx="3384550" cy="1314450"/>
          </a:xfrm>
          <a:prstGeom prst="rect">
            <a:avLst/>
          </a:prstGeom>
          <a:noFill/>
          <a:ln w="9525" algn="ctr">
            <a:noFill/>
            <a:miter lim="800000"/>
            <a:headEnd/>
            <a:tailEnd/>
          </a:ln>
        </p:spPr>
        <p:txBody>
          <a:bodyPr>
            <a:spAutoFit/>
          </a:bodyPr>
          <a:lstStyle/>
          <a:p>
            <a:pPr>
              <a:spcBef>
                <a:spcPct val="50000"/>
              </a:spcBef>
            </a:pPr>
            <a:r>
              <a:rPr lang="fi-FI" sz="1600" dirty="0">
                <a:latin typeface="Arial Narrow" pitchFamily="34" charset="0"/>
              </a:rPr>
              <a:t>Liiketoiminnan testitapaukset, sisältövastuu</a:t>
            </a:r>
          </a:p>
          <a:p>
            <a:pPr>
              <a:spcBef>
                <a:spcPct val="50000"/>
              </a:spcBef>
            </a:pPr>
            <a:r>
              <a:rPr lang="fi-FI" sz="1600" dirty="0">
                <a:latin typeface="Arial Narrow" pitchFamily="34" charset="0"/>
              </a:rPr>
              <a:t>Testiaineistot</a:t>
            </a:r>
          </a:p>
          <a:p>
            <a:pPr>
              <a:spcBef>
                <a:spcPct val="50000"/>
              </a:spcBef>
            </a:pPr>
            <a:r>
              <a:rPr lang="fi-FI" sz="1600" dirty="0">
                <a:latin typeface="Arial Narrow" pitchFamily="34" charset="0"/>
              </a:rPr>
              <a:t>Projektinaikainen ja projektinjälkeinen liiketoiminnallinen testaussisältö</a:t>
            </a:r>
            <a:endParaRPr lang="en-US" sz="1600" dirty="0">
              <a:latin typeface="Arial Narrow" pitchFamily="34" charset="0"/>
            </a:endParaRPr>
          </a:p>
        </p:txBody>
      </p:sp>
      <p:sp>
        <p:nvSpPr>
          <p:cNvPr id="3077" name="Text Box 5"/>
          <p:cNvSpPr txBox="1">
            <a:spLocks noChangeArrowheads="1"/>
          </p:cNvSpPr>
          <p:nvPr/>
        </p:nvSpPr>
        <p:spPr bwMode="auto">
          <a:xfrm>
            <a:off x="179388" y="2708275"/>
            <a:ext cx="2376487" cy="2414588"/>
          </a:xfrm>
          <a:prstGeom prst="rect">
            <a:avLst/>
          </a:prstGeom>
          <a:noFill/>
          <a:ln w="9525" algn="ctr">
            <a:noFill/>
            <a:miter lim="800000"/>
            <a:headEnd/>
            <a:tailEnd/>
          </a:ln>
        </p:spPr>
        <p:txBody>
          <a:bodyPr>
            <a:spAutoFit/>
          </a:bodyPr>
          <a:lstStyle/>
          <a:p>
            <a:pPr>
              <a:spcBef>
                <a:spcPct val="50000"/>
              </a:spcBef>
            </a:pPr>
            <a:r>
              <a:rPr lang="fi-FI" sz="1600" dirty="0">
                <a:latin typeface="Arial Narrow" pitchFamily="34" charset="0"/>
              </a:rPr>
              <a:t>Hyväksymistestauksen aikataulutus ja resursointi</a:t>
            </a:r>
          </a:p>
          <a:p>
            <a:pPr>
              <a:spcBef>
                <a:spcPct val="50000"/>
              </a:spcBef>
            </a:pPr>
            <a:r>
              <a:rPr lang="fi-FI" sz="1600" dirty="0">
                <a:latin typeface="Arial Narrow" pitchFamily="34" charset="0"/>
              </a:rPr>
              <a:t>Toimittajan testauksen laadunvalvonta</a:t>
            </a:r>
          </a:p>
          <a:p>
            <a:pPr>
              <a:spcBef>
                <a:spcPct val="50000"/>
              </a:spcBef>
            </a:pPr>
            <a:r>
              <a:rPr lang="fi-FI" sz="1600" dirty="0">
                <a:latin typeface="Arial Narrow" pitchFamily="34" charset="0"/>
              </a:rPr>
              <a:t>Testauksien eteneminen ja seuranta</a:t>
            </a:r>
          </a:p>
          <a:p>
            <a:pPr>
              <a:spcBef>
                <a:spcPct val="50000"/>
              </a:spcBef>
            </a:pPr>
            <a:r>
              <a:rPr lang="fi-FI" sz="1600" dirty="0">
                <a:latin typeface="Arial Narrow" pitchFamily="34" charset="0"/>
              </a:rPr>
              <a:t>Testauksen perusosaaminen hyväksymistestaukseen</a:t>
            </a:r>
            <a:endParaRPr lang="en-US" sz="1600" dirty="0">
              <a:latin typeface="Arial Narrow" pitchFamily="34" charset="0"/>
            </a:endParaRPr>
          </a:p>
        </p:txBody>
      </p:sp>
      <p:sp>
        <p:nvSpPr>
          <p:cNvPr id="3078" name="Text Box 6"/>
          <p:cNvSpPr txBox="1">
            <a:spLocks noChangeArrowheads="1"/>
          </p:cNvSpPr>
          <p:nvPr/>
        </p:nvSpPr>
        <p:spPr bwMode="auto">
          <a:xfrm>
            <a:off x="1547813" y="5286388"/>
            <a:ext cx="3384550" cy="1077218"/>
          </a:xfrm>
          <a:prstGeom prst="rect">
            <a:avLst/>
          </a:prstGeom>
          <a:noFill/>
          <a:ln w="9525" algn="ctr">
            <a:noFill/>
            <a:miter lim="800000"/>
            <a:headEnd/>
            <a:tailEnd/>
          </a:ln>
        </p:spPr>
        <p:txBody>
          <a:bodyPr>
            <a:spAutoFit/>
          </a:bodyPr>
          <a:lstStyle/>
          <a:p>
            <a:pPr>
              <a:spcBef>
                <a:spcPct val="50000"/>
              </a:spcBef>
            </a:pPr>
            <a:r>
              <a:rPr lang="fi-FI" sz="1600" dirty="0" smtClean="0">
                <a:latin typeface="Arial Narrow" pitchFamily="34" charset="0"/>
              </a:rPr>
              <a:t>Katselmointien pyörittäminen</a:t>
            </a:r>
          </a:p>
          <a:p>
            <a:pPr>
              <a:spcBef>
                <a:spcPct val="50000"/>
              </a:spcBef>
            </a:pPr>
            <a:r>
              <a:rPr lang="fi-FI" sz="1600" dirty="0" smtClean="0">
                <a:latin typeface="Arial Narrow" pitchFamily="34" charset="0"/>
              </a:rPr>
              <a:t>Testattavan </a:t>
            </a:r>
            <a:r>
              <a:rPr lang="fi-FI" sz="1600" dirty="0">
                <a:latin typeface="Arial Narrow" pitchFamily="34" charset="0"/>
              </a:rPr>
              <a:t>kohteen saatavuus ja sisältö</a:t>
            </a:r>
          </a:p>
          <a:p>
            <a:pPr>
              <a:spcBef>
                <a:spcPct val="50000"/>
              </a:spcBef>
            </a:pPr>
            <a:r>
              <a:rPr lang="fi-FI" sz="1600" dirty="0">
                <a:latin typeface="Arial Narrow" pitchFamily="34" charset="0"/>
              </a:rPr>
              <a:t>Laatupalautteeseen reagointi</a:t>
            </a:r>
            <a:endParaRPr lang="en-US" sz="1600" dirty="0">
              <a:latin typeface="Arial Narrow" pitchFamily="34" charset="0"/>
            </a:endParaRPr>
          </a:p>
        </p:txBody>
      </p:sp>
      <p:sp>
        <p:nvSpPr>
          <p:cNvPr id="3081" name="Text Box 9"/>
          <p:cNvSpPr txBox="1">
            <a:spLocks noChangeArrowheads="1"/>
          </p:cNvSpPr>
          <p:nvPr/>
        </p:nvSpPr>
        <p:spPr bwMode="auto">
          <a:xfrm>
            <a:off x="7019925" y="3644900"/>
            <a:ext cx="2016125" cy="584775"/>
          </a:xfrm>
          <a:prstGeom prst="rect">
            <a:avLst/>
          </a:prstGeom>
          <a:noFill/>
          <a:ln w="9525" algn="ctr">
            <a:noFill/>
            <a:miter lim="800000"/>
            <a:headEnd/>
            <a:tailEnd/>
          </a:ln>
        </p:spPr>
        <p:txBody>
          <a:bodyPr>
            <a:spAutoFit/>
          </a:bodyPr>
          <a:lstStyle/>
          <a:p>
            <a:pPr algn="ctr">
              <a:spcBef>
                <a:spcPct val="50000"/>
              </a:spcBef>
            </a:pPr>
            <a:r>
              <a:rPr lang="fi-FI" sz="1600" b="1" dirty="0" smtClean="0">
                <a:latin typeface="Arial Narrow" pitchFamily="34" charset="0"/>
              </a:rPr>
              <a:t>LAADUNVARMISTUS &amp; KORJAUS</a:t>
            </a:r>
            <a:endParaRPr lang="en-US" sz="1600" b="1" dirty="0">
              <a:latin typeface="Arial Narrow" pitchFamily="34" charset="0"/>
            </a:endParaRPr>
          </a:p>
        </p:txBody>
      </p:sp>
      <p:sp>
        <p:nvSpPr>
          <p:cNvPr id="3082" name="Text Box 10"/>
          <p:cNvSpPr txBox="1">
            <a:spLocks noChangeArrowheads="1"/>
          </p:cNvSpPr>
          <p:nvPr/>
        </p:nvSpPr>
        <p:spPr bwMode="auto">
          <a:xfrm>
            <a:off x="2124075" y="2420938"/>
            <a:ext cx="2016125" cy="336550"/>
          </a:xfrm>
          <a:prstGeom prst="rect">
            <a:avLst/>
          </a:prstGeom>
          <a:noFill/>
          <a:ln w="9525" algn="ctr">
            <a:noFill/>
            <a:miter lim="800000"/>
            <a:headEnd/>
            <a:tailEnd/>
          </a:ln>
        </p:spPr>
        <p:txBody>
          <a:bodyPr>
            <a:spAutoFit/>
          </a:bodyPr>
          <a:lstStyle/>
          <a:p>
            <a:pPr algn="ctr">
              <a:spcBef>
                <a:spcPct val="50000"/>
              </a:spcBef>
            </a:pPr>
            <a:r>
              <a:rPr lang="fi-FI" sz="1600" b="1">
                <a:latin typeface="Arial Narrow" pitchFamily="34" charset="0"/>
              </a:rPr>
              <a:t>TESTAUS</a:t>
            </a:r>
            <a:endParaRPr lang="en-US" sz="1600" b="1">
              <a:latin typeface="Arial Narrow" pitchFamily="34" charset="0"/>
            </a:endParaRPr>
          </a:p>
        </p:txBody>
      </p:sp>
      <p:sp>
        <p:nvSpPr>
          <p:cNvPr id="9" name="Slide Number Placeholder 8"/>
          <p:cNvSpPr>
            <a:spLocks noGrp="1"/>
          </p:cNvSpPr>
          <p:nvPr>
            <p:ph type="sldNum" sz="quarter" idx="12"/>
          </p:nvPr>
        </p:nvSpPr>
        <p:spPr/>
        <p:txBody>
          <a:bodyPr/>
          <a:lstStyle/>
          <a:p>
            <a:fld id="{7A750B4A-325E-4AA4-BC07-A8C35B32A4F3}" type="slidenum">
              <a:rPr lang="fi-FI" smtClean="0"/>
              <a:pPr/>
              <a:t>157</a:t>
            </a:fld>
            <a:endParaRPr lang="fi-FI"/>
          </a:p>
        </p:txBody>
      </p:sp>
    </p:spTree>
  </p:cSld>
  <p:clrMapOvr>
    <a:masterClrMapping/>
  </p:clrMapOvr>
  <p:timing>
    <p:tnLst>
      <p:par>
        <p:cTn xmlns:p14="http://schemas.microsoft.com/office/powerpoint/2010/mai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Isosceles Triangle 13"/>
          <p:cNvSpPr/>
          <p:nvPr/>
        </p:nvSpPr>
        <p:spPr>
          <a:xfrm rot="7683337">
            <a:off x="5481482" y="4550885"/>
            <a:ext cx="1152128" cy="1009853"/>
          </a:xfrm>
          <a:prstGeom prst="triangle">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12" name="Isosceles Triangle 11"/>
          <p:cNvSpPr/>
          <p:nvPr/>
        </p:nvSpPr>
        <p:spPr>
          <a:xfrm rot="2730750">
            <a:off x="5248264" y="1528629"/>
            <a:ext cx="1152128" cy="1009853"/>
          </a:xfrm>
          <a:prstGeom prst="triangle">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11" name="Isosceles Triangle 10"/>
          <p:cNvSpPr/>
          <p:nvPr/>
        </p:nvSpPr>
        <p:spPr>
          <a:xfrm rot="12885795">
            <a:off x="2524836" y="4989116"/>
            <a:ext cx="1152128" cy="1009853"/>
          </a:xfrm>
          <a:prstGeom prst="triangle">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10" name="Isosceles Triangle 9"/>
          <p:cNvSpPr/>
          <p:nvPr/>
        </p:nvSpPr>
        <p:spPr>
          <a:xfrm rot="15779211">
            <a:off x="1591122" y="3455174"/>
            <a:ext cx="1152128" cy="1009853"/>
          </a:xfrm>
          <a:prstGeom prst="triangle">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9" name="Isosceles Triangle 8"/>
          <p:cNvSpPr/>
          <p:nvPr/>
        </p:nvSpPr>
        <p:spPr>
          <a:xfrm rot="18848565">
            <a:off x="2239194" y="1672893"/>
            <a:ext cx="1152128" cy="1009853"/>
          </a:xfrm>
          <a:prstGeom prst="triangle">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4" name="Title 3"/>
          <p:cNvSpPr>
            <a:spLocks noGrp="1"/>
          </p:cNvSpPr>
          <p:nvPr>
            <p:ph type="title"/>
          </p:nvPr>
        </p:nvSpPr>
        <p:spPr/>
        <p:txBody>
          <a:bodyPr>
            <a:normAutofit fontScale="90000"/>
          </a:bodyPr>
          <a:lstStyle/>
          <a:p>
            <a:r>
              <a:rPr lang="fi-FI" dirty="0" smtClean="0"/>
              <a:t>Testauspäällikön odotukset</a:t>
            </a:r>
            <a:br>
              <a:rPr lang="fi-FI" dirty="0" smtClean="0"/>
            </a:br>
            <a:r>
              <a:rPr lang="fi-FI" dirty="0" smtClean="0"/>
              <a:t>(tietämys vastuun kantamiseen)</a:t>
            </a:r>
            <a:endParaRPr lang="en-US" dirty="0"/>
          </a:p>
        </p:txBody>
      </p:sp>
      <p:sp>
        <p:nvSpPr>
          <p:cNvPr id="5" name="Oval 4"/>
          <p:cNvSpPr/>
          <p:nvPr/>
        </p:nvSpPr>
        <p:spPr>
          <a:xfrm>
            <a:off x="2483768" y="1772816"/>
            <a:ext cx="3744416" cy="3744416"/>
          </a:xfrm>
          <a:prstGeom prst="ellipse">
            <a:avLst/>
          </a:prstGeom>
        </p:spPr>
        <p:style>
          <a:lnRef idx="3">
            <a:schemeClr val="lt1"/>
          </a:lnRef>
          <a:fillRef idx="1">
            <a:schemeClr val="accent1"/>
          </a:fillRef>
          <a:effectRef idx="1">
            <a:schemeClr val="accent1"/>
          </a:effectRef>
          <a:fontRef idx="minor">
            <a:schemeClr val="lt1"/>
          </a:fontRef>
        </p:style>
        <p:txBody>
          <a:bodyPr rtlCol="0" anchor="t" anchorCtr="0"/>
          <a:lstStyle/>
          <a:p>
            <a:pPr algn="ctr"/>
            <a:r>
              <a:rPr lang="fi-FI" dirty="0" smtClean="0"/>
              <a:t>”Normaali” testauspäällikkö-osaaminen</a:t>
            </a:r>
            <a:endParaRPr lang="en-US" dirty="0"/>
          </a:p>
        </p:txBody>
      </p:sp>
      <p:sp>
        <p:nvSpPr>
          <p:cNvPr id="7" name="TextBox 6"/>
          <p:cNvSpPr txBox="1"/>
          <p:nvPr/>
        </p:nvSpPr>
        <p:spPr>
          <a:xfrm>
            <a:off x="803613" y="1412776"/>
            <a:ext cx="1584176" cy="1723549"/>
          </a:xfrm>
          <a:prstGeom prst="rect">
            <a:avLst/>
          </a:prstGeom>
          <a:noFill/>
        </p:spPr>
        <p:txBody>
          <a:bodyPr wrap="square" rtlCol="0">
            <a:spAutoFit/>
          </a:bodyPr>
          <a:lstStyle/>
          <a:p>
            <a:r>
              <a:rPr lang="fi-FI" dirty="0" smtClean="0"/>
              <a:t>Arkkitehtuuri &amp; teknologia</a:t>
            </a:r>
          </a:p>
          <a:p>
            <a:pPr marL="285750" indent="-285750">
              <a:buFontTx/>
              <a:buChar char="-"/>
            </a:pPr>
            <a:r>
              <a:rPr lang="fi-FI" sz="1400" dirty="0" smtClean="0"/>
              <a:t>Teknisten osien esihyväksyntä</a:t>
            </a:r>
          </a:p>
          <a:p>
            <a:pPr marL="285750" indent="-285750">
              <a:buFontTx/>
              <a:buChar char="-"/>
            </a:pPr>
            <a:r>
              <a:rPr lang="fi-FI" sz="1400" dirty="0" smtClean="0"/>
              <a:t>Testattavuus-vaatimukset &amp; ratkaisut</a:t>
            </a:r>
            <a:endParaRPr lang="en-US" sz="1400" dirty="0"/>
          </a:p>
        </p:txBody>
      </p:sp>
      <p:sp>
        <p:nvSpPr>
          <p:cNvPr id="8" name="TextBox 7"/>
          <p:cNvSpPr txBox="1"/>
          <p:nvPr/>
        </p:nvSpPr>
        <p:spPr>
          <a:xfrm>
            <a:off x="6256662" y="1772816"/>
            <a:ext cx="2347786" cy="1723549"/>
          </a:xfrm>
          <a:prstGeom prst="rect">
            <a:avLst/>
          </a:prstGeom>
          <a:noFill/>
        </p:spPr>
        <p:txBody>
          <a:bodyPr wrap="square" rtlCol="0">
            <a:spAutoFit/>
          </a:bodyPr>
          <a:lstStyle/>
          <a:p>
            <a:r>
              <a:rPr lang="fi-FI" dirty="0" err="1" smtClean="0"/>
              <a:t>Liiketoimintavaati-mukset</a:t>
            </a:r>
            <a:r>
              <a:rPr lang="fi-FI" dirty="0" smtClean="0"/>
              <a:t> &amp;määrittelyt</a:t>
            </a:r>
          </a:p>
          <a:p>
            <a:pPr marL="171450" indent="-171450">
              <a:buFontTx/>
              <a:buChar char="-"/>
            </a:pPr>
            <a:r>
              <a:rPr lang="fi-FI" sz="1400" dirty="0" smtClean="0"/>
              <a:t>Ei-toiminnallisten vaatimusten kustannusvaikutukset</a:t>
            </a:r>
          </a:p>
          <a:p>
            <a:pPr marL="171450" indent="-171450">
              <a:buFontTx/>
              <a:buChar char="-"/>
            </a:pPr>
            <a:r>
              <a:rPr lang="fi-FI" sz="1400" dirty="0" smtClean="0"/>
              <a:t>Kyky testata, hyväksynnän pohja</a:t>
            </a:r>
            <a:endParaRPr lang="en-US" sz="1600" dirty="0"/>
          </a:p>
        </p:txBody>
      </p:sp>
      <p:sp>
        <p:nvSpPr>
          <p:cNvPr id="13" name="TextBox 12"/>
          <p:cNvSpPr txBox="1"/>
          <p:nvPr/>
        </p:nvSpPr>
        <p:spPr>
          <a:xfrm>
            <a:off x="6588224" y="4290961"/>
            <a:ext cx="2088232" cy="2000548"/>
          </a:xfrm>
          <a:prstGeom prst="rect">
            <a:avLst/>
          </a:prstGeom>
          <a:noFill/>
        </p:spPr>
        <p:txBody>
          <a:bodyPr wrap="square" rtlCol="0">
            <a:spAutoFit/>
          </a:bodyPr>
          <a:lstStyle/>
          <a:p>
            <a:r>
              <a:rPr lang="fi-FI" dirty="0" smtClean="0"/>
              <a:t>Liiketoiminnan testausosaamisen kasvattaminen</a:t>
            </a:r>
          </a:p>
          <a:p>
            <a:pPr marL="285750" indent="-285750">
              <a:buFontTx/>
              <a:buChar char="-"/>
            </a:pPr>
            <a:r>
              <a:rPr lang="fi-FI" sz="1400" dirty="0" smtClean="0"/>
              <a:t>Testaamisen dynamiikka</a:t>
            </a:r>
          </a:p>
          <a:p>
            <a:pPr marL="285750" indent="-285750">
              <a:buFontTx/>
              <a:buChar char="-"/>
            </a:pPr>
            <a:r>
              <a:rPr lang="fi-FI" sz="1400" dirty="0" smtClean="0"/>
              <a:t>Yksityiskohtaisen sisällön mahdollistaminen</a:t>
            </a:r>
          </a:p>
        </p:txBody>
      </p:sp>
      <p:sp>
        <p:nvSpPr>
          <p:cNvPr id="15" name="TextBox 14"/>
          <p:cNvSpPr txBox="1"/>
          <p:nvPr/>
        </p:nvSpPr>
        <p:spPr>
          <a:xfrm>
            <a:off x="78954" y="3370347"/>
            <a:ext cx="2088232" cy="1138773"/>
          </a:xfrm>
          <a:prstGeom prst="rect">
            <a:avLst/>
          </a:prstGeom>
          <a:noFill/>
        </p:spPr>
        <p:txBody>
          <a:bodyPr wrap="square" rtlCol="0">
            <a:spAutoFit/>
          </a:bodyPr>
          <a:lstStyle/>
          <a:p>
            <a:r>
              <a:rPr lang="fi-FI" dirty="0" err="1" smtClean="0"/>
              <a:t>Moniprojekti</a:t>
            </a:r>
            <a:r>
              <a:rPr lang="fi-FI" dirty="0" smtClean="0"/>
              <a:t> &amp; sovellushallinta-yhdistely</a:t>
            </a:r>
          </a:p>
          <a:p>
            <a:pPr marL="285750" indent="-285750">
              <a:buFontTx/>
              <a:buChar char="-"/>
            </a:pPr>
            <a:r>
              <a:rPr lang="fi-FI" sz="1400" dirty="0" smtClean="0"/>
              <a:t>Järjestelmäajattelu</a:t>
            </a:r>
          </a:p>
        </p:txBody>
      </p:sp>
      <p:sp>
        <p:nvSpPr>
          <p:cNvPr id="16" name="TextBox 15"/>
          <p:cNvSpPr txBox="1"/>
          <p:nvPr/>
        </p:nvSpPr>
        <p:spPr>
          <a:xfrm>
            <a:off x="228600" y="5029200"/>
            <a:ext cx="2736304" cy="1292662"/>
          </a:xfrm>
          <a:prstGeom prst="rect">
            <a:avLst/>
          </a:prstGeom>
          <a:noFill/>
        </p:spPr>
        <p:txBody>
          <a:bodyPr wrap="square" rtlCol="0">
            <a:spAutoFit/>
          </a:bodyPr>
          <a:lstStyle/>
          <a:p>
            <a:r>
              <a:rPr lang="fi-FI" dirty="0" smtClean="0"/>
              <a:t>Laadun ja kustannuksen dynamiikka</a:t>
            </a:r>
          </a:p>
          <a:p>
            <a:pPr marL="285750" indent="-285750">
              <a:buFontTx/>
              <a:buChar char="-"/>
            </a:pPr>
            <a:r>
              <a:rPr lang="fi-FI" sz="1400" dirty="0" smtClean="0"/>
              <a:t>Laatumittarit</a:t>
            </a:r>
          </a:p>
          <a:p>
            <a:pPr marL="285750" indent="-285750">
              <a:buFontTx/>
              <a:buChar char="-"/>
            </a:pPr>
            <a:r>
              <a:rPr lang="fi-FI" sz="1400" dirty="0" smtClean="0"/>
              <a:t>Laatu (ja testaus) investoinnin kohdistaminen</a:t>
            </a:r>
          </a:p>
        </p:txBody>
      </p:sp>
      <p:sp>
        <p:nvSpPr>
          <p:cNvPr id="17" name="Rounded Rectangle 16"/>
          <p:cNvSpPr/>
          <p:nvPr/>
        </p:nvSpPr>
        <p:spPr>
          <a:xfrm>
            <a:off x="2663788" y="3242791"/>
            <a:ext cx="1080120" cy="804465"/>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fi-FI" sz="1200" dirty="0" smtClean="0"/>
              <a:t>Testaajien paimentaminen</a:t>
            </a:r>
            <a:endParaRPr lang="en-US" sz="1200" dirty="0"/>
          </a:p>
        </p:txBody>
      </p:sp>
      <p:sp>
        <p:nvSpPr>
          <p:cNvPr id="18" name="Rounded Rectangle 17"/>
          <p:cNvSpPr/>
          <p:nvPr/>
        </p:nvSpPr>
        <p:spPr>
          <a:xfrm>
            <a:off x="4742949" y="3370347"/>
            <a:ext cx="1080120" cy="804465"/>
          </a:xfrm>
          <a:prstGeom prst="roundRect">
            <a:avLst/>
          </a:prstGeom>
          <a:ln>
            <a:prstDash val="dash"/>
          </a:ln>
        </p:spPr>
        <p:style>
          <a:lnRef idx="2">
            <a:schemeClr val="accent4"/>
          </a:lnRef>
          <a:fillRef idx="1">
            <a:schemeClr val="lt1"/>
          </a:fillRef>
          <a:effectRef idx="0">
            <a:schemeClr val="accent4"/>
          </a:effectRef>
          <a:fontRef idx="minor">
            <a:schemeClr val="dk1"/>
          </a:fontRef>
        </p:style>
        <p:txBody>
          <a:bodyPr rtlCol="0" anchor="ctr"/>
          <a:lstStyle/>
          <a:p>
            <a:pPr algn="ctr"/>
            <a:r>
              <a:rPr lang="fi-FI" sz="1200" dirty="0" smtClean="0"/>
              <a:t>Defekti-korjaukset</a:t>
            </a:r>
            <a:endParaRPr lang="en-US" sz="1200" dirty="0"/>
          </a:p>
        </p:txBody>
      </p:sp>
      <p:sp>
        <p:nvSpPr>
          <p:cNvPr id="19" name="Rounded Rectangle 18"/>
          <p:cNvSpPr/>
          <p:nvPr/>
        </p:nvSpPr>
        <p:spPr>
          <a:xfrm>
            <a:off x="3677578" y="4251346"/>
            <a:ext cx="1080120" cy="804465"/>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fi-FI" sz="1200" dirty="0" smtClean="0"/>
              <a:t>Testaus-projektin suunnittelu</a:t>
            </a:r>
            <a:endParaRPr lang="en-US" sz="1200" dirty="0"/>
          </a:p>
        </p:txBody>
      </p:sp>
      <p:sp>
        <p:nvSpPr>
          <p:cNvPr id="20" name="Slide Number Placeholder 19"/>
          <p:cNvSpPr>
            <a:spLocks noGrp="1"/>
          </p:cNvSpPr>
          <p:nvPr>
            <p:ph type="sldNum" sz="quarter" idx="12"/>
          </p:nvPr>
        </p:nvSpPr>
        <p:spPr/>
        <p:txBody>
          <a:bodyPr/>
          <a:lstStyle/>
          <a:p>
            <a:fld id="{1FC54B03-E980-44E0-A0F1-6CAD9D10ECFB}" type="slidenum">
              <a:rPr lang="fi-FI" smtClean="0"/>
              <a:pPr/>
              <a:t>158</a:t>
            </a:fld>
            <a:endParaRPr lang="fi-FI"/>
          </a:p>
        </p:txBody>
      </p:sp>
    </p:spTree>
    <p:extLst>
      <p:ext uri="{BB962C8B-B14F-4D97-AF65-F5344CB8AC3E}">
        <p14:creationId xmlns:p14="http://schemas.microsoft.com/office/powerpoint/2010/main" val="881440561"/>
      </p:ext>
    </p:extLst>
  </p:cSld>
  <p:clrMapOvr>
    <a:masterClrMapping/>
  </p:clrMapOvr>
  <p:timing>
    <p:tnLst>
      <p:par>
        <p:cTn xmlns:p14="http://schemas.microsoft.com/office/powerpoint/2010/mai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Projekti- ja testaus(projekti)päälliköt</a:t>
            </a:r>
            <a:endParaRPr lang="en-US" dirty="0"/>
          </a:p>
        </p:txBody>
      </p:sp>
      <p:sp>
        <p:nvSpPr>
          <p:cNvPr id="3" name="TextBox 2"/>
          <p:cNvSpPr txBox="1"/>
          <p:nvPr/>
        </p:nvSpPr>
        <p:spPr>
          <a:xfrm>
            <a:off x="304800" y="4711005"/>
            <a:ext cx="2160240" cy="138499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fi-FI" sz="1400" b="1" dirty="0" smtClean="0"/>
              <a:t>Rooli </a:t>
            </a:r>
            <a:r>
              <a:rPr lang="fi-FI" sz="1400" dirty="0" smtClean="0"/>
              <a:t>on ryhmä vastuita, joiden hoitaminen vaatii tietynlaiset osaamiset sekä roolin haltijalta riittävän panoksen näiden vastuiden hoitamiseen. </a:t>
            </a:r>
            <a:endParaRPr lang="en-US" sz="1400" dirty="0"/>
          </a:p>
        </p:txBody>
      </p:sp>
      <p:sp>
        <p:nvSpPr>
          <p:cNvPr id="7" name="Rectangle 6"/>
          <p:cNvSpPr/>
          <p:nvPr/>
        </p:nvSpPr>
        <p:spPr>
          <a:xfrm>
            <a:off x="539552" y="1411957"/>
            <a:ext cx="8208912"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i="1" dirty="0" smtClean="0"/>
              <a:t>Projektipäällikkö = tavoitekokonaisuuden vetovastuullinen</a:t>
            </a:r>
            <a:endParaRPr lang="en-US" i="1" dirty="0"/>
          </a:p>
        </p:txBody>
      </p:sp>
      <p:sp>
        <p:nvSpPr>
          <p:cNvPr id="10" name="Rectangle 9"/>
          <p:cNvSpPr/>
          <p:nvPr/>
        </p:nvSpPr>
        <p:spPr>
          <a:xfrm>
            <a:off x="467544" y="3212157"/>
            <a:ext cx="8208912"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i="1" dirty="0" smtClean="0"/>
              <a:t>Asiantuntija = tehtävän sisällön vastuullinen</a:t>
            </a:r>
            <a:endParaRPr lang="en-US" i="1" dirty="0"/>
          </a:p>
        </p:txBody>
      </p:sp>
      <p:sp>
        <p:nvSpPr>
          <p:cNvPr id="11" name="Rectangle 10"/>
          <p:cNvSpPr/>
          <p:nvPr/>
        </p:nvSpPr>
        <p:spPr>
          <a:xfrm>
            <a:off x="467544" y="3572197"/>
            <a:ext cx="1584176" cy="57606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fi-FI" sz="1200" dirty="0" smtClean="0"/>
              <a:t>MÄÄRITTELY-MENETELMÄT</a:t>
            </a:r>
            <a:endParaRPr lang="en-US" sz="1200" dirty="0"/>
          </a:p>
        </p:txBody>
      </p:sp>
      <p:sp>
        <p:nvSpPr>
          <p:cNvPr id="12" name="Rectangle 11"/>
          <p:cNvSpPr/>
          <p:nvPr/>
        </p:nvSpPr>
        <p:spPr>
          <a:xfrm>
            <a:off x="2123728" y="3572197"/>
            <a:ext cx="1584176"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200" dirty="0" smtClean="0"/>
              <a:t>TESTAUS-MENETELMÄT</a:t>
            </a:r>
            <a:endParaRPr lang="en-US" sz="1200" dirty="0"/>
          </a:p>
        </p:txBody>
      </p:sp>
      <p:grpSp>
        <p:nvGrpSpPr>
          <p:cNvPr id="14" name="Group 13"/>
          <p:cNvGrpSpPr/>
          <p:nvPr/>
        </p:nvGrpSpPr>
        <p:grpSpPr>
          <a:xfrm>
            <a:off x="539552" y="1771997"/>
            <a:ext cx="8208912" cy="576064"/>
            <a:chOff x="539552" y="1556792"/>
            <a:chExt cx="7704856" cy="576064"/>
          </a:xfrm>
        </p:grpSpPr>
        <p:sp>
          <p:nvSpPr>
            <p:cNvPr id="4" name="Rectangle 3"/>
            <p:cNvSpPr/>
            <p:nvPr/>
          </p:nvSpPr>
          <p:spPr>
            <a:xfrm>
              <a:off x="539552" y="1556792"/>
              <a:ext cx="1224136"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200" dirty="0" smtClean="0"/>
                <a:t>PROJEKTIJOHTO</a:t>
              </a:r>
              <a:endParaRPr lang="en-US" sz="1200" dirty="0"/>
            </a:p>
          </p:txBody>
        </p:sp>
        <p:sp>
          <p:nvSpPr>
            <p:cNvPr id="5" name="Rectangle 4"/>
            <p:cNvSpPr/>
            <p:nvPr/>
          </p:nvSpPr>
          <p:spPr>
            <a:xfrm>
              <a:off x="5724128" y="1556792"/>
              <a:ext cx="1224136"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200" dirty="0" smtClean="0"/>
                <a:t>HYVÄKSYMIS-TESTAUSJOHTO</a:t>
              </a:r>
              <a:endParaRPr lang="en-US" sz="1200" dirty="0"/>
            </a:p>
          </p:txBody>
        </p:sp>
        <p:sp>
          <p:nvSpPr>
            <p:cNvPr id="6" name="Rectangle 5"/>
            <p:cNvSpPr/>
            <p:nvPr/>
          </p:nvSpPr>
          <p:spPr>
            <a:xfrm>
              <a:off x="7020272" y="1556792"/>
              <a:ext cx="1224136"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200" dirty="0" smtClean="0"/>
                <a:t>HAVAINTOKÄ-SITTELYJOHTO</a:t>
              </a:r>
              <a:endParaRPr lang="en-US" sz="1200" dirty="0"/>
            </a:p>
          </p:txBody>
        </p:sp>
        <p:sp>
          <p:nvSpPr>
            <p:cNvPr id="8" name="Rectangle 7"/>
            <p:cNvSpPr/>
            <p:nvPr/>
          </p:nvSpPr>
          <p:spPr>
            <a:xfrm>
              <a:off x="1835696" y="1556792"/>
              <a:ext cx="1224136" cy="57606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fi-FI" sz="1200" dirty="0" smtClean="0"/>
                <a:t>MÄÄRITTELY-JOHTO</a:t>
              </a:r>
              <a:endParaRPr lang="en-US" sz="1200" dirty="0"/>
            </a:p>
          </p:txBody>
        </p:sp>
        <p:sp>
          <p:nvSpPr>
            <p:cNvPr id="9" name="Rectangle 8"/>
            <p:cNvSpPr/>
            <p:nvPr/>
          </p:nvSpPr>
          <p:spPr>
            <a:xfrm>
              <a:off x="4427984" y="1556792"/>
              <a:ext cx="1224136" cy="57606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fi-FI" sz="1200" dirty="0" smtClean="0"/>
                <a:t>ARKKITEHTUU-RIJOHTO</a:t>
              </a:r>
              <a:endParaRPr lang="en-US" sz="1200" dirty="0"/>
            </a:p>
          </p:txBody>
        </p:sp>
        <p:sp>
          <p:nvSpPr>
            <p:cNvPr id="13" name="Rectangle 12"/>
            <p:cNvSpPr/>
            <p:nvPr/>
          </p:nvSpPr>
          <p:spPr>
            <a:xfrm>
              <a:off x="3131840" y="1556792"/>
              <a:ext cx="1224136"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200" dirty="0" smtClean="0"/>
                <a:t>TOIMITUS-JOHTO</a:t>
              </a:r>
              <a:endParaRPr lang="en-US" sz="1200" dirty="0"/>
            </a:p>
          </p:txBody>
        </p:sp>
      </p:grpSp>
      <p:sp>
        <p:nvSpPr>
          <p:cNvPr id="15" name="Rectangle 14"/>
          <p:cNvSpPr/>
          <p:nvPr/>
        </p:nvSpPr>
        <p:spPr>
          <a:xfrm>
            <a:off x="3779912" y="3572197"/>
            <a:ext cx="1584176" cy="57606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fi-FI" sz="1200" dirty="0" smtClean="0"/>
              <a:t>ARKKITEHTUURI-MENETELMÄT</a:t>
            </a:r>
            <a:endParaRPr lang="en-US" sz="1200" dirty="0"/>
          </a:p>
        </p:txBody>
      </p:sp>
      <p:sp>
        <p:nvSpPr>
          <p:cNvPr id="16" name="Rectangle 15"/>
          <p:cNvSpPr/>
          <p:nvPr/>
        </p:nvSpPr>
        <p:spPr>
          <a:xfrm>
            <a:off x="5436096" y="3572197"/>
            <a:ext cx="1584176"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200" dirty="0" smtClean="0"/>
              <a:t>TESTIYMPÄRISTÖT JA -AINEISTOT</a:t>
            </a:r>
            <a:endParaRPr lang="en-US" sz="1200" dirty="0"/>
          </a:p>
        </p:txBody>
      </p:sp>
      <p:sp>
        <p:nvSpPr>
          <p:cNvPr id="17" name="Rectangle 16"/>
          <p:cNvSpPr/>
          <p:nvPr/>
        </p:nvSpPr>
        <p:spPr>
          <a:xfrm>
            <a:off x="7092280" y="3572197"/>
            <a:ext cx="1584176" cy="57606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fi-FI" sz="1200" dirty="0" smtClean="0"/>
              <a:t>TOIMISTOYMPÄRIS-TÖT (KVH, FW)</a:t>
            </a:r>
            <a:endParaRPr lang="en-US" sz="1200" dirty="0"/>
          </a:p>
        </p:txBody>
      </p:sp>
      <p:sp>
        <p:nvSpPr>
          <p:cNvPr id="18" name="TextBox 17"/>
          <p:cNvSpPr txBox="1"/>
          <p:nvPr/>
        </p:nvSpPr>
        <p:spPr>
          <a:xfrm>
            <a:off x="539552" y="2420069"/>
            <a:ext cx="1304220" cy="230832"/>
          </a:xfrm>
          <a:prstGeom prst="rect">
            <a:avLst/>
          </a:prstGeom>
          <a:noFill/>
        </p:spPr>
        <p:txBody>
          <a:bodyPr wrap="square" rtlCol="0">
            <a:spAutoFit/>
          </a:bodyPr>
          <a:lstStyle/>
          <a:p>
            <a:pPr algn="ctr"/>
            <a:r>
              <a:rPr lang="fi-FI" sz="900" dirty="0" smtClean="0"/>
              <a:t>”Projektin johtaminen”</a:t>
            </a:r>
            <a:endParaRPr lang="en-US" sz="900" dirty="0"/>
          </a:p>
        </p:txBody>
      </p:sp>
      <p:sp>
        <p:nvSpPr>
          <p:cNvPr id="19" name="TextBox 18"/>
          <p:cNvSpPr txBox="1"/>
          <p:nvPr/>
        </p:nvSpPr>
        <p:spPr>
          <a:xfrm>
            <a:off x="1899628" y="2420069"/>
            <a:ext cx="1304220" cy="369332"/>
          </a:xfrm>
          <a:prstGeom prst="rect">
            <a:avLst/>
          </a:prstGeom>
          <a:noFill/>
        </p:spPr>
        <p:txBody>
          <a:bodyPr wrap="square" rtlCol="0">
            <a:spAutoFit/>
          </a:bodyPr>
          <a:lstStyle/>
          <a:p>
            <a:pPr algn="ctr"/>
            <a:r>
              <a:rPr lang="fi-FI" sz="900" dirty="0" smtClean="0"/>
              <a:t>”Riittävät määrittelyt katselmointeineen”</a:t>
            </a:r>
            <a:endParaRPr lang="en-US" sz="900" dirty="0"/>
          </a:p>
        </p:txBody>
      </p:sp>
      <p:sp>
        <p:nvSpPr>
          <p:cNvPr id="20" name="TextBox 19"/>
          <p:cNvSpPr txBox="1"/>
          <p:nvPr/>
        </p:nvSpPr>
        <p:spPr>
          <a:xfrm>
            <a:off x="3275856" y="2420069"/>
            <a:ext cx="1304220" cy="507831"/>
          </a:xfrm>
          <a:prstGeom prst="rect">
            <a:avLst/>
          </a:prstGeom>
          <a:noFill/>
        </p:spPr>
        <p:txBody>
          <a:bodyPr wrap="square" rtlCol="0">
            <a:spAutoFit/>
          </a:bodyPr>
          <a:lstStyle/>
          <a:p>
            <a:pPr algn="ctr"/>
            <a:r>
              <a:rPr lang="fi-FI" sz="900" dirty="0" smtClean="0"/>
              <a:t>”Toimitukset aikataulussa ja kustannuksissa”</a:t>
            </a:r>
            <a:endParaRPr lang="en-US" sz="900" dirty="0"/>
          </a:p>
        </p:txBody>
      </p:sp>
      <p:sp>
        <p:nvSpPr>
          <p:cNvPr id="21" name="TextBox 20"/>
          <p:cNvSpPr txBox="1"/>
          <p:nvPr/>
        </p:nvSpPr>
        <p:spPr>
          <a:xfrm>
            <a:off x="4707940" y="2420069"/>
            <a:ext cx="1304220" cy="369332"/>
          </a:xfrm>
          <a:prstGeom prst="rect">
            <a:avLst/>
          </a:prstGeom>
          <a:noFill/>
        </p:spPr>
        <p:txBody>
          <a:bodyPr wrap="square" rtlCol="0">
            <a:spAutoFit/>
          </a:bodyPr>
          <a:lstStyle/>
          <a:p>
            <a:r>
              <a:rPr lang="fi-FI" sz="900" dirty="0" smtClean="0"/>
              <a:t>”Kokonaisarkkitehtuuri ja tekniset linjaukset”</a:t>
            </a:r>
            <a:endParaRPr lang="en-US" sz="900" dirty="0"/>
          </a:p>
        </p:txBody>
      </p:sp>
      <p:sp>
        <p:nvSpPr>
          <p:cNvPr id="22" name="TextBox 21"/>
          <p:cNvSpPr txBox="1"/>
          <p:nvPr/>
        </p:nvSpPr>
        <p:spPr>
          <a:xfrm>
            <a:off x="6076092" y="2420069"/>
            <a:ext cx="1304220" cy="507831"/>
          </a:xfrm>
          <a:prstGeom prst="rect">
            <a:avLst/>
          </a:prstGeom>
          <a:noFill/>
        </p:spPr>
        <p:txBody>
          <a:bodyPr wrap="square" rtlCol="0">
            <a:spAutoFit/>
          </a:bodyPr>
          <a:lstStyle/>
          <a:p>
            <a:pPr algn="ctr"/>
            <a:r>
              <a:rPr lang="fi-FI" sz="900" dirty="0" smtClean="0"/>
              <a:t>”Testauksen osaprojektin johtaminen”</a:t>
            </a:r>
            <a:endParaRPr lang="en-US" sz="900" dirty="0"/>
          </a:p>
        </p:txBody>
      </p:sp>
      <p:sp>
        <p:nvSpPr>
          <p:cNvPr id="25" name="Oval 24"/>
          <p:cNvSpPr/>
          <p:nvPr/>
        </p:nvSpPr>
        <p:spPr>
          <a:xfrm>
            <a:off x="3192128" y="4724324"/>
            <a:ext cx="1054968" cy="968971"/>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i-FI" sz="1050" b="1" dirty="0" smtClean="0"/>
              <a:t>Projektipäällikkö</a:t>
            </a:r>
            <a:endParaRPr lang="en-US" sz="1050" b="1" dirty="0"/>
          </a:p>
        </p:txBody>
      </p:sp>
      <p:sp>
        <p:nvSpPr>
          <p:cNvPr id="26" name="Oval 25"/>
          <p:cNvSpPr/>
          <p:nvPr/>
        </p:nvSpPr>
        <p:spPr>
          <a:xfrm>
            <a:off x="5029200" y="4746028"/>
            <a:ext cx="1054968" cy="968971"/>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i-FI" sz="1050" b="1" dirty="0" smtClean="0"/>
              <a:t>Testauspäällikkö</a:t>
            </a:r>
            <a:endParaRPr lang="en-US" sz="1050" b="1" dirty="0"/>
          </a:p>
        </p:txBody>
      </p:sp>
      <p:sp>
        <p:nvSpPr>
          <p:cNvPr id="29" name="TextBox 28"/>
          <p:cNvSpPr txBox="1"/>
          <p:nvPr/>
        </p:nvSpPr>
        <p:spPr>
          <a:xfrm>
            <a:off x="7380312" y="2420069"/>
            <a:ext cx="1304220" cy="646331"/>
          </a:xfrm>
          <a:prstGeom prst="rect">
            <a:avLst/>
          </a:prstGeom>
          <a:noFill/>
        </p:spPr>
        <p:txBody>
          <a:bodyPr wrap="square" rtlCol="0">
            <a:spAutoFit/>
          </a:bodyPr>
          <a:lstStyle/>
          <a:p>
            <a:pPr algn="ctr"/>
            <a:r>
              <a:rPr lang="fi-FI" sz="900" dirty="0" smtClean="0"/>
              <a:t>”Havaintoprosessin johtaminen – oikeat ja tarpeelliset korjaukset sovitusti”</a:t>
            </a:r>
            <a:endParaRPr lang="en-US" sz="900" dirty="0"/>
          </a:p>
        </p:txBody>
      </p:sp>
      <p:cxnSp>
        <p:nvCxnSpPr>
          <p:cNvPr id="31" name="Straight Arrow Connector 30"/>
          <p:cNvCxnSpPr>
            <a:stCxn id="25" idx="0"/>
            <a:endCxn id="4" idx="2"/>
          </p:cNvCxnSpPr>
          <p:nvPr/>
        </p:nvCxnSpPr>
        <p:spPr>
          <a:xfrm flipH="1" flipV="1">
            <a:off x="1191662" y="2348061"/>
            <a:ext cx="2527950" cy="2376263"/>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33" name="Straight Arrow Connector 32"/>
          <p:cNvCxnSpPr>
            <a:stCxn id="25" idx="0"/>
            <a:endCxn id="20" idx="2"/>
          </p:cNvCxnSpPr>
          <p:nvPr/>
        </p:nvCxnSpPr>
        <p:spPr>
          <a:xfrm flipV="1">
            <a:off x="3719612" y="2927900"/>
            <a:ext cx="208354" cy="1796424"/>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35" name="Straight Arrow Connector 34"/>
          <p:cNvCxnSpPr>
            <a:stCxn id="26" idx="0"/>
            <a:endCxn id="22" idx="2"/>
          </p:cNvCxnSpPr>
          <p:nvPr/>
        </p:nvCxnSpPr>
        <p:spPr>
          <a:xfrm flipV="1">
            <a:off x="5556684" y="2927900"/>
            <a:ext cx="1171518" cy="181812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37" name="Straight Arrow Connector 36"/>
          <p:cNvCxnSpPr>
            <a:stCxn id="26" idx="0"/>
            <a:endCxn id="12" idx="2"/>
          </p:cNvCxnSpPr>
          <p:nvPr/>
        </p:nvCxnSpPr>
        <p:spPr>
          <a:xfrm flipH="1" flipV="1">
            <a:off x="2915816" y="4148261"/>
            <a:ext cx="2640868" cy="597767"/>
          </a:xfrm>
          <a:prstGeom prst="straightConnector1">
            <a:avLst/>
          </a:prstGeom>
          <a:ln w="76200">
            <a:tailEnd type="arrow"/>
          </a:ln>
        </p:spPr>
        <p:style>
          <a:lnRef idx="3">
            <a:schemeClr val="accent3"/>
          </a:lnRef>
          <a:fillRef idx="0">
            <a:schemeClr val="accent3"/>
          </a:fillRef>
          <a:effectRef idx="2">
            <a:schemeClr val="accent3"/>
          </a:effectRef>
          <a:fontRef idx="minor">
            <a:schemeClr val="tx1"/>
          </a:fontRef>
        </p:style>
      </p:cxnSp>
      <p:cxnSp>
        <p:nvCxnSpPr>
          <p:cNvPr id="39" name="Straight Arrow Connector 38"/>
          <p:cNvCxnSpPr>
            <a:stCxn id="26" idx="0"/>
            <a:endCxn id="29" idx="2"/>
          </p:cNvCxnSpPr>
          <p:nvPr/>
        </p:nvCxnSpPr>
        <p:spPr>
          <a:xfrm flipV="1">
            <a:off x="5556684" y="3066400"/>
            <a:ext cx="2475738" cy="167962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1" name="Straight Arrow Connector 40"/>
          <p:cNvCxnSpPr>
            <a:stCxn id="26" idx="0"/>
            <a:endCxn id="16" idx="2"/>
          </p:cNvCxnSpPr>
          <p:nvPr/>
        </p:nvCxnSpPr>
        <p:spPr>
          <a:xfrm flipV="1">
            <a:off x="5556684" y="4148261"/>
            <a:ext cx="671500" cy="597767"/>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sp>
        <p:nvSpPr>
          <p:cNvPr id="32" name="Slide Number Placeholder 31"/>
          <p:cNvSpPr>
            <a:spLocks noGrp="1"/>
          </p:cNvSpPr>
          <p:nvPr>
            <p:ph type="sldNum" sz="quarter" idx="12"/>
          </p:nvPr>
        </p:nvSpPr>
        <p:spPr/>
        <p:txBody>
          <a:bodyPr/>
          <a:lstStyle/>
          <a:p>
            <a:fld id="{1FC54B03-E980-44E0-A0F1-6CAD9D10ECFB}" type="slidenum">
              <a:rPr lang="fi-FI" smtClean="0"/>
              <a:pPr/>
              <a:t>159</a:t>
            </a:fld>
            <a:endParaRPr lang="fi-FI"/>
          </a:p>
        </p:txBody>
      </p:sp>
    </p:spTree>
    <p:extLst>
      <p:ext uri="{BB962C8B-B14F-4D97-AF65-F5344CB8AC3E}">
        <p14:creationId xmlns:p14="http://schemas.microsoft.com/office/powerpoint/2010/main" val="1926421549"/>
      </p:ext>
    </p:extLst>
  </p:cSld>
  <p:clrMapOvr>
    <a:masterClrMapping/>
  </p:clrMapOvr>
  <p:timing>
    <p:tnLst>
      <p:par>
        <p:cTn xmlns:p14="http://schemas.microsoft.com/office/powerpoint/2010/mai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smtClean="0"/>
              <a:t>Testauspalvelukatalogi</a:t>
            </a:r>
            <a:endParaRPr lang="en-US" dirty="0"/>
          </a:p>
        </p:txBody>
      </p:sp>
      <p:sp>
        <p:nvSpPr>
          <p:cNvPr id="3" name="Rectangle 2"/>
          <p:cNvSpPr/>
          <p:nvPr/>
        </p:nvSpPr>
        <p:spPr>
          <a:xfrm>
            <a:off x="251520" y="1124744"/>
            <a:ext cx="1584176"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200" dirty="0" smtClean="0"/>
              <a:t>TESTAUS-MENETELMÄT</a:t>
            </a:r>
            <a:endParaRPr lang="en-US" sz="1200" dirty="0"/>
          </a:p>
        </p:txBody>
      </p:sp>
      <p:sp>
        <p:nvSpPr>
          <p:cNvPr id="4" name="Rectangle 3"/>
          <p:cNvSpPr/>
          <p:nvPr/>
        </p:nvSpPr>
        <p:spPr>
          <a:xfrm>
            <a:off x="5560897" y="1268760"/>
            <a:ext cx="1304220" cy="576064"/>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fi-FI" sz="1200" dirty="0" smtClean="0"/>
              <a:t>HYVÄKSYMIS-TESTAUSJOHTO</a:t>
            </a:r>
            <a:endParaRPr lang="en-US" sz="1200" dirty="0"/>
          </a:p>
        </p:txBody>
      </p:sp>
      <p:sp>
        <p:nvSpPr>
          <p:cNvPr id="5" name="Rectangle 4"/>
          <p:cNvSpPr/>
          <p:nvPr/>
        </p:nvSpPr>
        <p:spPr>
          <a:xfrm>
            <a:off x="7444244" y="1268760"/>
            <a:ext cx="1304220" cy="576064"/>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fi-FI" sz="1200" dirty="0" smtClean="0"/>
              <a:t>HAVAINTOKÄ-SITTELYJOHTO</a:t>
            </a:r>
            <a:endParaRPr lang="en-US" sz="1200" dirty="0"/>
          </a:p>
        </p:txBody>
      </p:sp>
      <p:sp>
        <p:nvSpPr>
          <p:cNvPr id="6" name="Rectangle 5"/>
          <p:cNvSpPr/>
          <p:nvPr/>
        </p:nvSpPr>
        <p:spPr>
          <a:xfrm>
            <a:off x="7444244" y="3028890"/>
            <a:ext cx="1584176" cy="57606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i-FI" sz="1200" dirty="0" smtClean="0"/>
              <a:t>TESTIYMPÄRISTÖT JA -AINEISTOT</a:t>
            </a:r>
            <a:endParaRPr lang="en-US" sz="1200" dirty="0"/>
          </a:p>
        </p:txBody>
      </p:sp>
      <p:sp>
        <p:nvSpPr>
          <p:cNvPr id="7" name="TextBox 6"/>
          <p:cNvSpPr txBox="1"/>
          <p:nvPr/>
        </p:nvSpPr>
        <p:spPr>
          <a:xfrm>
            <a:off x="251520" y="1700808"/>
            <a:ext cx="1584176" cy="1631216"/>
          </a:xfrm>
          <a:prstGeom prst="rect">
            <a:avLst/>
          </a:prstGeom>
          <a:noFill/>
        </p:spPr>
        <p:txBody>
          <a:bodyPr wrap="square" rtlCol="0">
            <a:spAutoFit/>
          </a:bodyPr>
          <a:lstStyle/>
          <a:p>
            <a:pPr marL="171450" indent="-171450">
              <a:buFont typeface="Arial" pitchFamily="34" charset="0"/>
              <a:buChar char="•"/>
            </a:pPr>
            <a:r>
              <a:rPr lang="fi-FI" sz="1000" dirty="0" smtClean="0"/>
              <a:t>Testausvälineistö testaamiseen</a:t>
            </a:r>
          </a:p>
          <a:p>
            <a:pPr marL="171450" indent="-171450">
              <a:buFont typeface="Arial" pitchFamily="34" charset="0"/>
              <a:buChar char="•"/>
            </a:pPr>
            <a:r>
              <a:rPr lang="fi-FI" sz="1000" dirty="0" smtClean="0"/>
              <a:t>Testausvälineistö testisuunnitteluun ja havaintoihin</a:t>
            </a:r>
          </a:p>
          <a:p>
            <a:pPr marL="171450" indent="-171450">
              <a:buFont typeface="Arial" pitchFamily="34" charset="0"/>
              <a:buChar char="•"/>
            </a:pPr>
            <a:r>
              <a:rPr lang="fi-FI" sz="1000" dirty="0" smtClean="0"/>
              <a:t>Testausvälineistö testauksen suunnitteluun (mallipohjat, tarkistuslistat)</a:t>
            </a:r>
            <a:endParaRPr lang="en-US" sz="1000" dirty="0"/>
          </a:p>
        </p:txBody>
      </p:sp>
      <p:sp>
        <p:nvSpPr>
          <p:cNvPr id="8" name="TextBox 7"/>
          <p:cNvSpPr txBox="1"/>
          <p:nvPr/>
        </p:nvSpPr>
        <p:spPr>
          <a:xfrm>
            <a:off x="5580112" y="1948770"/>
            <a:ext cx="1584176" cy="400110"/>
          </a:xfrm>
          <a:prstGeom prst="rect">
            <a:avLst/>
          </a:prstGeom>
          <a:noFill/>
        </p:spPr>
        <p:txBody>
          <a:bodyPr wrap="square" rtlCol="0">
            <a:spAutoFit/>
          </a:bodyPr>
          <a:lstStyle/>
          <a:p>
            <a:pPr marL="171450" indent="-171450">
              <a:buFont typeface="Arial" pitchFamily="34" charset="0"/>
              <a:buChar char="•"/>
            </a:pPr>
            <a:r>
              <a:rPr lang="fi-FI" sz="1000" dirty="0" smtClean="0"/>
              <a:t>Testauksen etenemisen seuranta</a:t>
            </a:r>
            <a:endParaRPr lang="en-US" sz="1000" dirty="0"/>
          </a:p>
        </p:txBody>
      </p:sp>
      <p:sp>
        <p:nvSpPr>
          <p:cNvPr id="9" name="TextBox 8"/>
          <p:cNvSpPr txBox="1"/>
          <p:nvPr/>
        </p:nvSpPr>
        <p:spPr>
          <a:xfrm>
            <a:off x="5580112" y="2298938"/>
            <a:ext cx="1584176" cy="553998"/>
          </a:xfrm>
          <a:prstGeom prst="rect">
            <a:avLst/>
          </a:prstGeom>
          <a:noFill/>
        </p:spPr>
        <p:txBody>
          <a:bodyPr wrap="square" rtlCol="0">
            <a:spAutoFit/>
          </a:bodyPr>
          <a:lstStyle/>
          <a:p>
            <a:pPr marL="171450" indent="-171450">
              <a:buFont typeface="Arial" pitchFamily="34" charset="0"/>
              <a:buChar char="•"/>
            </a:pPr>
            <a:r>
              <a:rPr lang="fi-FI" sz="1000" dirty="0" smtClean="0"/>
              <a:t>Testaustöiden jakaminen ja koordinointi</a:t>
            </a:r>
            <a:endParaRPr lang="en-US" sz="1000" dirty="0"/>
          </a:p>
        </p:txBody>
      </p:sp>
      <p:sp>
        <p:nvSpPr>
          <p:cNvPr id="10" name="TextBox 9"/>
          <p:cNvSpPr txBox="1"/>
          <p:nvPr/>
        </p:nvSpPr>
        <p:spPr>
          <a:xfrm>
            <a:off x="228600" y="3276600"/>
            <a:ext cx="1584176" cy="400110"/>
          </a:xfrm>
          <a:prstGeom prst="rect">
            <a:avLst/>
          </a:prstGeom>
          <a:noFill/>
        </p:spPr>
        <p:txBody>
          <a:bodyPr wrap="square" rtlCol="0">
            <a:spAutoFit/>
          </a:bodyPr>
          <a:lstStyle/>
          <a:p>
            <a:pPr marL="171450" indent="-171450">
              <a:buFont typeface="Arial" pitchFamily="34" charset="0"/>
              <a:buChar char="•"/>
            </a:pPr>
            <a:r>
              <a:rPr lang="fi-FI" sz="1000" dirty="0" smtClean="0"/>
              <a:t>Testauksien aikataulu- ja työmääräoptimointi</a:t>
            </a:r>
            <a:endParaRPr lang="en-US" sz="1000" dirty="0"/>
          </a:p>
        </p:txBody>
      </p:sp>
      <p:sp>
        <p:nvSpPr>
          <p:cNvPr id="11" name="TextBox 10"/>
          <p:cNvSpPr txBox="1"/>
          <p:nvPr/>
        </p:nvSpPr>
        <p:spPr>
          <a:xfrm>
            <a:off x="228600" y="3657600"/>
            <a:ext cx="1584176" cy="553998"/>
          </a:xfrm>
          <a:prstGeom prst="rect">
            <a:avLst/>
          </a:prstGeom>
          <a:noFill/>
        </p:spPr>
        <p:txBody>
          <a:bodyPr wrap="square" rtlCol="0">
            <a:spAutoFit/>
          </a:bodyPr>
          <a:lstStyle/>
          <a:p>
            <a:pPr marL="171450" indent="-171450">
              <a:buFont typeface="Arial" pitchFamily="34" charset="0"/>
              <a:buChar char="•"/>
            </a:pPr>
            <a:r>
              <a:rPr lang="fi-FI" sz="1000" dirty="0" smtClean="0"/>
              <a:t>Tarpeettoman testaamisen tunnistaminen</a:t>
            </a:r>
            <a:endParaRPr lang="en-US" sz="1000" dirty="0"/>
          </a:p>
        </p:txBody>
      </p:sp>
      <p:sp>
        <p:nvSpPr>
          <p:cNvPr id="12" name="TextBox 11"/>
          <p:cNvSpPr txBox="1"/>
          <p:nvPr/>
        </p:nvSpPr>
        <p:spPr>
          <a:xfrm>
            <a:off x="228600" y="4170402"/>
            <a:ext cx="1584176" cy="553998"/>
          </a:xfrm>
          <a:prstGeom prst="rect">
            <a:avLst/>
          </a:prstGeom>
          <a:noFill/>
        </p:spPr>
        <p:txBody>
          <a:bodyPr wrap="square" rtlCol="0">
            <a:spAutoFit/>
          </a:bodyPr>
          <a:lstStyle/>
          <a:p>
            <a:pPr marL="171450" indent="-171450">
              <a:buFont typeface="Arial" pitchFamily="34" charset="0"/>
              <a:buChar char="•"/>
            </a:pPr>
            <a:r>
              <a:rPr lang="fi-FI" sz="1000" dirty="0" smtClean="0"/>
              <a:t>Puuttuvan testaamisen tunnistaminen</a:t>
            </a:r>
            <a:endParaRPr lang="en-US" sz="1000" dirty="0"/>
          </a:p>
        </p:txBody>
      </p:sp>
      <p:sp>
        <p:nvSpPr>
          <p:cNvPr id="14" name="TextBox 13"/>
          <p:cNvSpPr txBox="1"/>
          <p:nvPr/>
        </p:nvSpPr>
        <p:spPr>
          <a:xfrm>
            <a:off x="7452320" y="1916832"/>
            <a:ext cx="1584176" cy="400110"/>
          </a:xfrm>
          <a:prstGeom prst="rect">
            <a:avLst/>
          </a:prstGeom>
          <a:noFill/>
        </p:spPr>
        <p:txBody>
          <a:bodyPr wrap="square" rtlCol="0">
            <a:spAutoFit/>
          </a:bodyPr>
          <a:lstStyle/>
          <a:p>
            <a:pPr marL="171450" indent="-171450">
              <a:buFont typeface="Arial" pitchFamily="34" charset="0"/>
              <a:buChar char="•"/>
            </a:pPr>
            <a:r>
              <a:rPr lang="fi-FI" sz="1000" dirty="0" smtClean="0"/>
              <a:t>Havaintojen käsittelyn edistäminen</a:t>
            </a:r>
            <a:endParaRPr lang="en-US" sz="1000" dirty="0"/>
          </a:p>
        </p:txBody>
      </p:sp>
      <p:sp>
        <p:nvSpPr>
          <p:cNvPr id="15" name="TextBox 14"/>
          <p:cNvSpPr txBox="1"/>
          <p:nvPr/>
        </p:nvSpPr>
        <p:spPr>
          <a:xfrm>
            <a:off x="7452320" y="2287905"/>
            <a:ext cx="1584176" cy="400110"/>
          </a:xfrm>
          <a:prstGeom prst="rect">
            <a:avLst/>
          </a:prstGeom>
          <a:noFill/>
        </p:spPr>
        <p:txBody>
          <a:bodyPr wrap="square" rtlCol="0">
            <a:spAutoFit/>
          </a:bodyPr>
          <a:lstStyle/>
          <a:p>
            <a:pPr marL="171450" indent="-171450">
              <a:buFont typeface="Arial" pitchFamily="34" charset="0"/>
              <a:buChar char="•"/>
            </a:pPr>
            <a:r>
              <a:rPr lang="fi-FI" sz="1000" dirty="0" smtClean="0"/>
              <a:t>Korjaustoimituksista sopiminen</a:t>
            </a:r>
            <a:endParaRPr lang="en-US" sz="1000" dirty="0"/>
          </a:p>
        </p:txBody>
      </p:sp>
      <p:sp>
        <p:nvSpPr>
          <p:cNvPr id="16" name="TextBox 15"/>
          <p:cNvSpPr txBox="1"/>
          <p:nvPr/>
        </p:nvSpPr>
        <p:spPr>
          <a:xfrm>
            <a:off x="7452320" y="3644332"/>
            <a:ext cx="1584176" cy="400110"/>
          </a:xfrm>
          <a:prstGeom prst="rect">
            <a:avLst/>
          </a:prstGeom>
          <a:noFill/>
        </p:spPr>
        <p:txBody>
          <a:bodyPr wrap="square" rtlCol="0">
            <a:spAutoFit/>
          </a:bodyPr>
          <a:lstStyle/>
          <a:p>
            <a:pPr marL="171450" indent="-171450">
              <a:buFont typeface="Arial" pitchFamily="34" charset="0"/>
              <a:buChar char="•"/>
            </a:pPr>
            <a:r>
              <a:rPr lang="fi-FI" sz="1000" dirty="0" smtClean="0"/>
              <a:t>Ympäristötarveristiriitojen sovitteleminen</a:t>
            </a:r>
            <a:endParaRPr lang="en-US" sz="1000" dirty="0"/>
          </a:p>
        </p:txBody>
      </p:sp>
      <p:sp>
        <p:nvSpPr>
          <p:cNvPr id="17" name="TextBox 16"/>
          <p:cNvSpPr txBox="1"/>
          <p:nvPr/>
        </p:nvSpPr>
        <p:spPr>
          <a:xfrm>
            <a:off x="7452320" y="3964994"/>
            <a:ext cx="1584176" cy="707886"/>
          </a:xfrm>
          <a:prstGeom prst="rect">
            <a:avLst/>
          </a:prstGeom>
          <a:noFill/>
        </p:spPr>
        <p:txBody>
          <a:bodyPr wrap="square" rtlCol="0">
            <a:spAutoFit/>
          </a:bodyPr>
          <a:lstStyle/>
          <a:p>
            <a:pPr marL="171450" indent="-171450">
              <a:buFont typeface="Arial" pitchFamily="34" charset="0"/>
              <a:buChar char="•"/>
            </a:pPr>
            <a:r>
              <a:rPr lang="fi-FI" sz="1000" dirty="0" smtClean="0"/>
              <a:t>Ympäristöjen testausvalmiuksien arvioiminen ja ylläpitäminen</a:t>
            </a:r>
            <a:endParaRPr lang="en-US" sz="1000" dirty="0"/>
          </a:p>
        </p:txBody>
      </p:sp>
      <p:sp>
        <p:nvSpPr>
          <p:cNvPr id="18" name="TextBox 17"/>
          <p:cNvSpPr txBox="1"/>
          <p:nvPr/>
        </p:nvSpPr>
        <p:spPr>
          <a:xfrm>
            <a:off x="1835696" y="2057400"/>
            <a:ext cx="1584176" cy="400110"/>
          </a:xfrm>
          <a:prstGeom prst="rect">
            <a:avLst/>
          </a:prstGeom>
          <a:noFill/>
        </p:spPr>
        <p:txBody>
          <a:bodyPr wrap="square" rtlCol="0">
            <a:spAutoFit/>
          </a:bodyPr>
          <a:lstStyle/>
          <a:p>
            <a:pPr marL="171450" indent="-171450">
              <a:buFont typeface="Arial" pitchFamily="34" charset="0"/>
              <a:buChar char="•"/>
            </a:pPr>
            <a:r>
              <a:rPr lang="fi-FI" sz="1000" dirty="0" smtClean="0"/>
              <a:t>Toimittajatestauksen tilaaminen</a:t>
            </a:r>
            <a:endParaRPr lang="en-US" sz="1000" dirty="0"/>
          </a:p>
        </p:txBody>
      </p:sp>
      <p:sp>
        <p:nvSpPr>
          <p:cNvPr id="19" name="TextBox 18"/>
          <p:cNvSpPr txBox="1"/>
          <p:nvPr/>
        </p:nvSpPr>
        <p:spPr>
          <a:xfrm>
            <a:off x="7452320" y="4613066"/>
            <a:ext cx="1584176" cy="400110"/>
          </a:xfrm>
          <a:prstGeom prst="rect">
            <a:avLst/>
          </a:prstGeom>
          <a:noFill/>
        </p:spPr>
        <p:txBody>
          <a:bodyPr wrap="square" rtlCol="0">
            <a:spAutoFit/>
          </a:bodyPr>
          <a:lstStyle/>
          <a:p>
            <a:pPr marL="171450" indent="-171450">
              <a:buFont typeface="Arial" pitchFamily="34" charset="0"/>
              <a:buChar char="•"/>
            </a:pPr>
            <a:r>
              <a:rPr lang="fi-FI" sz="1000" dirty="0" smtClean="0"/>
              <a:t>Testiympäristöjen opastaminen</a:t>
            </a:r>
            <a:endParaRPr lang="en-US" sz="1000" dirty="0"/>
          </a:p>
        </p:txBody>
      </p:sp>
      <p:sp>
        <p:nvSpPr>
          <p:cNvPr id="20" name="TextBox 19"/>
          <p:cNvSpPr txBox="1"/>
          <p:nvPr/>
        </p:nvSpPr>
        <p:spPr>
          <a:xfrm>
            <a:off x="7452320" y="4973106"/>
            <a:ext cx="1584176" cy="400110"/>
          </a:xfrm>
          <a:prstGeom prst="rect">
            <a:avLst/>
          </a:prstGeom>
          <a:noFill/>
        </p:spPr>
        <p:txBody>
          <a:bodyPr wrap="square" rtlCol="0">
            <a:spAutoFit/>
          </a:bodyPr>
          <a:lstStyle/>
          <a:p>
            <a:pPr marL="171450" indent="-171450">
              <a:buFont typeface="Arial" pitchFamily="34" charset="0"/>
              <a:buChar char="•"/>
            </a:pPr>
            <a:r>
              <a:rPr lang="fi-FI" sz="1000" dirty="0" smtClean="0"/>
              <a:t>Testiympäristöjen pienkehittäminen</a:t>
            </a:r>
            <a:endParaRPr lang="en-US" sz="1000" dirty="0"/>
          </a:p>
        </p:txBody>
      </p:sp>
      <p:sp>
        <p:nvSpPr>
          <p:cNvPr id="21" name="TextBox 20"/>
          <p:cNvSpPr txBox="1"/>
          <p:nvPr/>
        </p:nvSpPr>
        <p:spPr>
          <a:xfrm>
            <a:off x="1835696" y="2381310"/>
            <a:ext cx="1584176" cy="400110"/>
          </a:xfrm>
          <a:prstGeom prst="rect">
            <a:avLst/>
          </a:prstGeom>
          <a:noFill/>
        </p:spPr>
        <p:txBody>
          <a:bodyPr wrap="square" rtlCol="0">
            <a:spAutoFit/>
          </a:bodyPr>
          <a:lstStyle/>
          <a:p>
            <a:pPr marL="171450" indent="-171450">
              <a:buFont typeface="Arial" pitchFamily="34" charset="0"/>
              <a:buChar char="•"/>
            </a:pPr>
            <a:r>
              <a:rPr lang="fi-FI" sz="1000" dirty="0" err="1" smtClean="0"/>
              <a:t>Testiaineistokäytäntö-jen</a:t>
            </a:r>
            <a:r>
              <a:rPr lang="fi-FI" sz="1000" dirty="0" smtClean="0"/>
              <a:t> opastaminen</a:t>
            </a:r>
            <a:endParaRPr lang="en-US" sz="1000" dirty="0"/>
          </a:p>
        </p:txBody>
      </p:sp>
      <p:sp>
        <p:nvSpPr>
          <p:cNvPr id="22" name="TextBox 21"/>
          <p:cNvSpPr txBox="1"/>
          <p:nvPr/>
        </p:nvSpPr>
        <p:spPr>
          <a:xfrm>
            <a:off x="1835696" y="2762310"/>
            <a:ext cx="1656184" cy="400110"/>
          </a:xfrm>
          <a:prstGeom prst="rect">
            <a:avLst/>
          </a:prstGeom>
          <a:noFill/>
        </p:spPr>
        <p:txBody>
          <a:bodyPr wrap="square" rtlCol="0">
            <a:spAutoFit/>
          </a:bodyPr>
          <a:lstStyle/>
          <a:p>
            <a:pPr marL="171450" indent="-171450">
              <a:buFont typeface="Arial" pitchFamily="34" charset="0"/>
              <a:buChar char="•"/>
            </a:pPr>
            <a:r>
              <a:rPr lang="fi-FI" sz="1000" dirty="0" smtClean="0"/>
              <a:t>Testausoppiverkostojen ylläpitäminen</a:t>
            </a:r>
            <a:endParaRPr lang="en-US" sz="1000" dirty="0"/>
          </a:p>
        </p:txBody>
      </p:sp>
      <p:sp>
        <p:nvSpPr>
          <p:cNvPr id="23" name="TextBox 22"/>
          <p:cNvSpPr txBox="1"/>
          <p:nvPr/>
        </p:nvSpPr>
        <p:spPr>
          <a:xfrm>
            <a:off x="1835696" y="3124200"/>
            <a:ext cx="1656184" cy="400110"/>
          </a:xfrm>
          <a:prstGeom prst="rect">
            <a:avLst/>
          </a:prstGeom>
          <a:noFill/>
        </p:spPr>
        <p:txBody>
          <a:bodyPr wrap="square" rtlCol="0">
            <a:spAutoFit/>
          </a:bodyPr>
          <a:lstStyle/>
          <a:p>
            <a:pPr marL="171450" indent="-171450">
              <a:buFont typeface="Arial" pitchFamily="34" charset="0"/>
              <a:buChar char="•"/>
            </a:pPr>
            <a:r>
              <a:rPr lang="fi-FI" sz="1000" dirty="0" smtClean="0"/>
              <a:t>Testauksen sopimustulkinta</a:t>
            </a:r>
            <a:endParaRPr lang="en-US" sz="1000" dirty="0"/>
          </a:p>
        </p:txBody>
      </p:sp>
      <p:sp>
        <p:nvSpPr>
          <p:cNvPr id="24" name="TextBox 23"/>
          <p:cNvSpPr txBox="1"/>
          <p:nvPr/>
        </p:nvSpPr>
        <p:spPr>
          <a:xfrm>
            <a:off x="1835696" y="3448110"/>
            <a:ext cx="1656184" cy="553998"/>
          </a:xfrm>
          <a:prstGeom prst="rect">
            <a:avLst/>
          </a:prstGeom>
          <a:noFill/>
        </p:spPr>
        <p:txBody>
          <a:bodyPr wrap="square" rtlCol="0">
            <a:spAutoFit/>
          </a:bodyPr>
          <a:lstStyle/>
          <a:p>
            <a:pPr marL="171450" indent="-171450">
              <a:buFont typeface="Arial" pitchFamily="34" charset="0"/>
              <a:buChar char="•"/>
            </a:pPr>
            <a:r>
              <a:rPr lang="fi-FI" sz="1000" dirty="0" smtClean="0"/>
              <a:t>Talotasoisen testausosaamisen kehittäminen</a:t>
            </a:r>
            <a:endParaRPr lang="en-US" sz="1000" dirty="0"/>
          </a:p>
        </p:txBody>
      </p:sp>
      <p:sp>
        <p:nvSpPr>
          <p:cNvPr id="25" name="TextBox 24"/>
          <p:cNvSpPr txBox="1"/>
          <p:nvPr/>
        </p:nvSpPr>
        <p:spPr>
          <a:xfrm>
            <a:off x="1835696" y="3962400"/>
            <a:ext cx="1656184" cy="400110"/>
          </a:xfrm>
          <a:prstGeom prst="rect">
            <a:avLst/>
          </a:prstGeom>
          <a:noFill/>
        </p:spPr>
        <p:txBody>
          <a:bodyPr wrap="square" rtlCol="0">
            <a:spAutoFit/>
          </a:bodyPr>
          <a:lstStyle/>
          <a:p>
            <a:pPr marL="171450" indent="-171450">
              <a:buFont typeface="Arial" pitchFamily="34" charset="0"/>
              <a:buChar char="•"/>
            </a:pPr>
            <a:r>
              <a:rPr lang="fi-FI" sz="1000" dirty="0" smtClean="0"/>
              <a:t>Testausmenetelmien projektikoulutukset</a:t>
            </a:r>
            <a:endParaRPr lang="en-US" sz="1000" dirty="0"/>
          </a:p>
        </p:txBody>
      </p:sp>
      <p:sp>
        <p:nvSpPr>
          <p:cNvPr id="26" name="TextBox 25"/>
          <p:cNvSpPr txBox="1"/>
          <p:nvPr/>
        </p:nvSpPr>
        <p:spPr>
          <a:xfrm>
            <a:off x="1835696" y="4276328"/>
            <a:ext cx="1584176" cy="553998"/>
          </a:xfrm>
          <a:prstGeom prst="rect">
            <a:avLst/>
          </a:prstGeom>
          <a:noFill/>
        </p:spPr>
        <p:txBody>
          <a:bodyPr wrap="square" rtlCol="0">
            <a:spAutoFit/>
          </a:bodyPr>
          <a:lstStyle/>
          <a:p>
            <a:pPr marL="171450" indent="-171450">
              <a:buFont typeface="Arial" pitchFamily="34" charset="0"/>
              <a:buChar char="•"/>
            </a:pPr>
            <a:r>
              <a:rPr lang="fi-FI" sz="1000" dirty="0" smtClean="0"/>
              <a:t>Testausmateriaalien sisältö/menetelmäkatselmointi</a:t>
            </a:r>
            <a:endParaRPr lang="en-US" sz="1000" dirty="0"/>
          </a:p>
        </p:txBody>
      </p:sp>
      <p:sp>
        <p:nvSpPr>
          <p:cNvPr id="27" name="TextBox 26"/>
          <p:cNvSpPr txBox="1"/>
          <p:nvPr/>
        </p:nvSpPr>
        <p:spPr>
          <a:xfrm>
            <a:off x="5580112" y="2780928"/>
            <a:ext cx="1584176" cy="400110"/>
          </a:xfrm>
          <a:prstGeom prst="rect">
            <a:avLst/>
          </a:prstGeom>
          <a:noFill/>
        </p:spPr>
        <p:txBody>
          <a:bodyPr wrap="square" rtlCol="0">
            <a:spAutoFit/>
          </a:bodyPr>
          <a:lstStyle/>
          <a:p>
            <a:pPr marL="171450" indent="-171450">
              <a:buFont typeface="Arial" pitchFamily="34" charset="0"/>
              <a:buChar char="•"/>
            </a:pPr>
            <a:r>
              <a:rPr lang="fi-FI" sz="1000" dirty="0" smtClean="0"/>
              <a:t>Testaussuunnitelmien kirjaaminen</a:t>
            </a:r>
            <a:endParaRPr lang="en-US" sz="1000" dirty="0"/>
          </a:p>
        </p:txBody>
      </p:sp>
      <p:sp>
        <p:nvSpPr>
          <p:cNvPr id="28" name="TextBox 27"/>
          <p:cNvSpPr txBox="1"/>
          <p:nvPr/>
        </p:nvSpPr>
        <p:spPr>
          <a:xfrm>
            <a:off x="1835696" y="1425714"/>
            <a:ext cx="1584176" cy="707886"/>
          </a:xfrm>
          <a:prstGeom prst="rect">
            <a:avLst/>
          </a:prstGeom>
          <a:noFill/>
        </p:spPr>
        <p:txBody>
          <a:bodyPr wrap="square" rtlCol="0">
            <a:spAutoFit/>
          </a:bodyPr>
          <a:lstStyle/>
          <a:p>
            <a:pPr marL="171450" indent="-171450">
              <a:buFont typeface="Arial" pitchFamily="34" charset="0"/>
              <a:buChar char="•"/>
            </a:pPr>
            <a:r>
              <a:rPr lang="fi-FI" sz="1000" dirty="0" smtClean="0"/>
              <a:t>Täydentävien (suorituskyky, tietoturva) testien suunnittelu ja läpivienti</a:t>
            </a:r>
            <a:endParaRPr lang="en-US" sz="1000" dirty="0"/>
          </a:p>
        </p:txBody>
      </p:sp>
      <p:sp>
        <p:nvSpPr>
          <p:cNvPr id="29" name="TextBox 28"/>
          <p:cNvSpPr txBox="1"/>
          <p:nvPr/>
        </p:nvSpPr>
        <p:spPr>
          <a:xfrm>
            <a:off x="1828800" y="1123890"/>
            <a:ext cx="1584176" cy="400110"/>
          </a:xfrm>
          <a:prstGeom prst="rect">
            <a:avLst/>
          </a:prstGeom>
          <a:noFill/>
        </p:spPr>
        <p:txBody>
          <a:bodyPr wrap="square" rtlCol="0">
            <a:spAutoFit/>
          </a:bodyPr>
          <a:lstStyle/>
          <a:p>
            <a:pPr marL="171450" indent="-171450">
              <a:buFont typeface="Arial" pitchFamily="34" charset="0"/>
              <a:buChar char="•"/>
            </a:pPr>
            <a:r>
              <a:rPr lang="fi-FI" sz="1000" dirty="0" smtClean="0"/>
              <a:t>Testauksen ohjauksen kehittäminen</a:t>
            </a:r>
            <a:endParaRPr lang="en-US" sz="1000" dirty="0"/>
          </a:p>
        </p:txBody>
      </p:sp>
      <p:sp>
        <p:nvSpPr>
          <p:cNvPr id="30" name="TextBox 29"/>
          <p:cNvSpPr txBox="1"/>
          <p:nvPr/>
        </p:nvSpPr>
        <p:spPr>
          <a:xfrm>
            <a:off x="228600" y="4552890"/>
            <a:ext cx="1584176" cy="400110"/>
          </a:xfrm>
          <a:prstGeom prst="rect">
            <a:avLst/>
          </a:prstGeom>
          <a:noFill/>
        </p:spPr>
        <p:txBody>
          <a:bodyPr wrap="square" rtlCol="0">
            <a:spAutoFit/>
          </a:bodyPr>
          <a:lstStyle/>
          <a:p>
            <a:pPr marL="171450" indent="-171450">
              <a:buFont typeface="Arial" pitchFamily="34" charset="0"/>
              <a:buChar char="•"/>
            </a:pPr>
            <a:r>
              <a:rPr lang="fi-FI" sz="1000" dirty="0" smtClean="0"/>
              <a:t>Toimittajan testauksen laadunvalvonta</a:t>
            </a:r>
            <a:endParaRPr lang="en-US" sz="1000" dirty="0"/>
          </a:p>
        </p:txBody>
      </p:sp>
      <p:sp>
        <p:nvSpPr>
          <p:cNvPr id="31" name="TextBox 30"/>
          <p:cNvSpPr txBox="1"/>
          <p:nvPr/>
        </p:nvSpPr>
        <p:spPr>
          <a:xfrm>
            <a:off x="228600" y="4932402"/>
            <a:ext cx="1584176" cy="553998"/>
          </a:xfrm>
          <a:prstGeom prst="rect">
            <a:avLst/>
          </a:prstGeom>
          <a:noFill/>
        </p:spPr>
        <p:txBody>
          <a:bodyPr wrap="square" rtlCol="0">
            <a:spAutoFit/>
          </a:bodyPr>
          <a:lstStyle/>
          <a:p>
            <a:pPr marL="171450" indent="-171450">
              <a:buFont typeface="Arial" pitchFamily="34" charset="0"/>
              <a:buChar char="•"/>
            </a:pPr>
            <a:r>
              <a:rPr lang="fi-FI" sz="1000" dirty="0" smtClean="0"/>
              <a:t>Riskipohjainen tavoiteasetanta testaukselle</a:t>
            </a:r>
            <a:endParaRPr lang="en-US" sz="1000" dirty="0"/>
          </a:p>
        </p:txBody>
      </p:sp>
      <p:sp>
        <p:nvSpPr>
          <p:cNvPr id="32" name="TextBox 31"/>
          <p:cNvSpPr txBox="1"/>
          <p:nvPr/>
        </p:nvSpPr>
        <p:spPr>
          <a:xfrm>
            <a:off x="228600" y="5462826"/>
            <a:ext cx="1584176" cy="861774"/>
          </a:xfrm>
          <a:prstGeom prst="rect">
            <a:avLst/>
          </a:prstGeom>
          <a:noFill/>
        </p:spPr>
        <p:txBody>
          <a:bodyPr wrap="square" rtlCol="0">
            <a:spAutoFit/>
          </a:bodyPr>
          <a:lstStyle/>
          <a:p>
            <a:pPr marL="171450" indent="-171450">
              <a:buFont typeface="Arial" pitchFamily="34" charset="0"/>
              <a:buChar char="•"/>
            </a:pPr>
            <a:r>
              <a:rPr lang="fi-FI" sz="1000" dirty="0" smtClean="0"/>
              <a:t>Muutospyyntöjen testausvaikutusten arviointi asiakas-toimittaja -kokonaisuudelle</a:t>
            </a:r>
            <a:endParaRPr lang="en-US" sz="1000" dirty="0"/>
          </a:p>
        </p:txBody>
      </p:sp>
      <p:sp>
        <p:nvSpPr>
          <p:cNvPr id="33" name="TextBox 32"/>
          <p:cNvSpPr txBox="1"/>
          <p:nvPr/>
        </p:nvSpPr>
        <p:spPr>
          <a:xfrm>
            <a:off x="1835696" y="4780384"/>
            <a:ext cx="1656184" cy="400110"/>
          </a:xfrm>
          <a:prstGeom prst="rect">
            <a:avLst/>
          </a:prstGeom>
          <a:noFill/>
        </p:spPr>
        <p:txBody>
          <a:bodyPr wrap="square" rtlCol="0">
            <a:spAutoFit/>
          </a:bodyPr>
          <a:lstStyle/>
          <a:p>
            <a:pPr marL="171450" indent="-171450">
              <a:buFont typeface="Arial" pitchFamily="34" charset="0"/>
              <a:buChar char="•"/>
            </a:pPr>
            <a:r>
              <a:rPr lang="fi-FI" sz="1000" dirty="0" smtClean="0"/>
              <a:t>Hyväksymistestausajan tarvearviointi</a:t>
            </a:r>
            <a:endParaRPr lang="en-US" sz="1000" dirty="0"/>
          </a:p>
        </p:txBody>
      </p:sp>
      <p:sp>
        <p:nvSpPr>
          <p:cNvPr id="34" name="TextBox 33"/>
          <p:cNvSpPr txBox="1"/>
          <p:nvPr/>
        </p:nvSpPr>
        <p:spPr>
          <a:xfrm>
            <a:off x="5580112" y="3100898"/>
            <a:ext cx="1656184" cy="400110"/>
          </a:xfrm>
          <a:prstGeom prst="rect">
            <a:avLst/>
          </a:prstGeom>
          <a:noFill/>
        </p:spPr>
        <p:txBody>
          <a:bodyPr wrap="square" rtlCol="0">
            <a:spAutoFit/>
          </a:bodyPr>
          <a:lstStyle/>
          <a:p>
            <a:pPr marL="171450" indent="-171450">
              <a:buFont typeface="Arial" pitchFamily="34" charset="0"/>
              <a:buChar char="•"/>
            </a:pPr>
            <a:r>
              <a:rPr lang="fi-FI" sz="1000" dirty="0" smtClean="0"/>
              <a:t>Hyväksymistestausajan suojaaminen</a:t>
            </a:r>
            <a:endParaRPr lang="en-US" sz="1000" dirty="0"/>
          </a:p>
        </p:txBody>
      </p:sp>
      <p:sp>
        <p:nvSpPr>
          <p:cNvPr id="35" name="TextBox 34"/>
          <p:cNvSpPr txBox="1"/>
          <p:nvPr/>
        </p:nvSpPr>
        <p:spPr>
          <a:xfrm>
            <a:off x="1835696" y="5140424"/>
            <a:ext cx="1584176" cy="553998"/>
          </a:xfrm>
          <a:prstGeom prst="rect">
            <a:avLst/>
          </a:prstGeom>
          <a:noFill/>
        </p:spPr>
        <p:txBody>
          <a:bodyPr wrap="square" rtlCol="0">
            <a:spAutoFit/>
          </a:bodyPr>
          <a:lstStyle/>
          <a:p>
            <a:pPr marL="171450" indent="-171450">
              <a:buFont typeface="Arial" pitchFamily="34" charset="0"/>
              <a:buChar char="•"/>
            </a:pPr>
            <a:r>
              <a:rPr lang="fi-FI" sz="1000" dirty="0" smtClean="0"/>
              <a:t>Testausasioiden tulkinta (sanakirjana toimiminen)</a:t>
            </a:r>
            <a:endParaRPr lang="en-US" sz="1000" dirty="0"/>
          </a:p>
        </p:txBody>
      </p:sp>
      <p:sp>
        <p:nvSpPr>
          <p:cNvPr id="36" name="TextBox 35"/>
          <p:cNvSpPr txBox="1"/>
          <p:nvPr/>
        </p:nvSpPr>
        <p:spPr>
          <a:xfrm>
            <a:off x="3347864" y="4246240"/>
            <a:ext cx="1584176" cy="400110"/>
          </a:xfrm>
          <a:prstGeom prst="rect">
            <a:avLst/>
          </a:prstGeom>
          <a:noFill/>
        </p:spPr>
        <p:txBody>
          <a:bodyPr wrap="square" rtlCol="0">
            <a:spAutoFit/>
          </a:bodyPr>
          <a:lstStyle/>
          <a:p>
            <a:pPr marL="171450" indent="-171450">
              <a:buFont typeface="Arial" pitchFamily="34" charset="0"/>
              <a:buChar char="•"/>
            </a:pPr>
            <a:r>
              <a:rPr lang="fi-FI" sz="1000" dirty="0" smtClean="0"/>
              <a:t>Projektiriskien testausoptimointi</a:t>
            </a:r>
            <a:endParaRPr lang="en-US" sz="1000" dirty="0"/>
          </a:p>
        </p:txBody>
      </p:sp>
      <p:sp>
        <p:nvSpPr>
          <p:cNvPr id="37" name="TextBox 36"/>
          <p:cNvSpPr txBox="1"/>
          <p:nvPr/>
        </p:nvSpPr>
        <p:spPr>
          <a:xfrm>
            <a:off x="1835695" y="5638800"/>
            <a:ext cx="1782231" cy="861774"/>
          </a:xfrm>
          <a:prstGeom prst="rect">
            <a:avLst/>
          </a:prstGeom>
          <a:noFill/>
        </p:spPr>
        <p:txBody>
          <a:bodyPr wrap="square" rtlCol="0">
            <a:spAutoFit/>
          </a:bodyPr>
          <a:lstStyle/>
          <a:p>
            <a:pPr marL="171450" indent="-171450">
              <a:buFont typeface="Arial" pitchFamily="34" charset="0"/>
              <a:buChar char="•"/>
            </a:pPr>
            <a:r>
              <a:rPr lang="fi-FI" sz="1000" dirty="0" smtClean="0"/>
              <a:t>Regressiotestaustarpeen määrittäminen arkkitehtuurin ja liiketoiminnan yhteisasiana</a:t>
            </a:r>
            <a:endParaRPr lang="en-US" sz="1000" dirty="0"/>
          </a:p>
        </p:txBody>
      </p:sp>
      <p:sp>
        <p:nvSpPr>
          <p:cNvPr id="38" name="TextBox 37"/>
          <p:cNvSpPr txBox="1"/>
          <p:nvPr/>
        </p:nvSpPr>
        <p:spPr>
          <a:xfrm>
            <a:off x="3347864" y="3429000"/>
            <a:ext cx="1800200" cy="553998"/>
          </a:xfrm>
          <a:prstGeom prst="rect">
            <a:avLst/>
          </a:prstGeom>
          <a:noFill/>
        </p:spPr>
        <p:txBody>
          <a:bodyPr wrap="square" rtlCol="0">
            <a:spAutoFit/>
          </a:bodyPr>
          <a:lstStyle/>
          <a:p>
            <a:pPr marL="171450" indent="-171450">
              <a:buFont typeface="Arial" pitchFamily="34" charset="0"/>
              <a:buChar char="•"/>
            </a:pPr>
            <a:r>
              <a:rPr lang="fi-FI" sz="1000" dirty="0" err="1" smtClean="0"/>
              <a:t>Monitoimittajatilanteen</a:t>
            </a:r>
            <a:r>
              <a:rPr lang="fi-FI" sz="1000" dirty="0" smtClean="0"/>
              <a:t> kokoavan järjestelmä-testauksen määrittäminen</a:t>
            </a:r>
            <a:endParaRPr lang="en-US" sz="1000" dirty="0"/>
          </a:p>
        </p:txBody>
      </p:sp>
      <p:sp>
        <p:nvSpPr>
          <p:cNvPr id="39" name="TextBox 38"/>
          <p:cNvSpPr txBox="1"/>
          <p:nvPr/>
        </p:nvSpPr>
        <p:spPr>
          <a:xfrm>
            <a:off x="3347864" y="1143000"/>
            <a:ext cx="1584176" cy="553998"/>
          </a:xfrm>
          <a:prstGeom prst="rect">
            <a:avLst/>
          </a:prstGeom>
          <a:noFill/>
        </p:spPr>
        <p:txBody>
          <a:bodyPr wrap="square" rtlCol="0">
            <a:spAutoFit/>
          </a:bodyPr>
          <a:lstStyle/>
          <a:p>
            <a:pPr marL="171450" indent="-171450">
              <a:buFont typeface="Arial" pitchFamily="34" charset="0"/>
              <a:buChar char="•"/>
            </a:pPr>
            <a:r>
              <a:rPr lang="fi-FI" sz="1000" dirty="0" smtClean="0"/>
              <a:t>Testausresursoinnin kokoluokan arvioiminen</a:t>
            </a:r>
            <a:endParaRPr lang="en-US" sz="1000" dirty="0"/>
          </a:p>
        </p:txBody>
      </p:sp>
      <p:sp>
        <p:nvSpPr>
          <p:cNvPr id="40" name="TextBox 39"/>
          <p:cNvSpPr txBox="1"/>
          <p:nvPr/>
        </p:nvSpPr>
        <p:spPr>
          <a:xfrm>
            <a:off x="5580112" y="3429000"/>
            <a:ext cx="1584176" cy="400110"/>
          </a:xfrm>
          <a:prstGeom prst="rect">
            <a:avLst/>
          </a:prstGeom>
          <a:noFill/>
        </p:spPr>
        <p:txBody>
          <a:bodyPr wrap="square" rtlCol="0">
            <a:spAutoFit/>
          </a:bodyPr>
          <a:lstStyle/>
          <a:p>
            <a:pPr marL="171450" indent="-171450">
              <a:buFont typeface="Arial" pitchFamily="34" charset="0"/>
              <a:buChar char="•"/>
            </a:pPr>
            <a:r>
              <a:rPr lang="fi-FI" sz="1000" dirty="0" smtClean="0"/>
              <a:t>Testausresursoinnin suunnitteleminen</a:t>
            </a:r>
            <a:endParaRPr lang="en-US" sz="1000" dirty="0"/>
          </a:p>
        </p:txBody>
      </p:sp>
      <p:sp>
        <p:nvSpPr>
          <p:cNvPr id="41" name="TextBox 40"/>
          <p:cNvSpPr txBox="1"/>
          <p:nvPr/>
        </p:nvSpPr>
        <p:spPr>
          <a:xfrm>
            <a:off x="3347864" y="1647056"/>
            <a:ext cx="1584176" cy="400110"/>
          </a:xfrm>
          <a:prstGeom prst="rect">
            <a:avLst/>
          </a:prstGeom>
          <a:noFill/>
        </p:spPr>
        <p:txBody>
          <a:bodyPr wrap="square" rtlCol="0">
            <a:spAutoFit/>
          </a:bodyPr>
          <a:lstStyle/>
          <a:p>
            <a:pPr marL="171450" indent="-171450">
              <a:buFont typeface="Arial" pitchFamily="34" charset="0"/>
              <a:buChar char="•"/>
            </a:pPr>
            <a:r>
              <a:rPr lang="fi-FI" sz="1000" dirty="0" smtClean="0"/>
              <a:t>Testausresursoinnin suunnitteleminen</a:t>
            </a:r>
            <a:endParaRPr lang="en-US" sz="1000" dirty="0"/>
          </a:p>
        </p:txBody>
      </p:sp>
      <p:sp>
        <p:nvSpPr>
          <p:cNvPr id="42" name="TextBox 41"/>
          <p:cNvSpPr txBox="1"/>
          <p:nvPr/>
        </p:nvSpPr>
        <p:spPr>
          <a:xfrm>
            <a:off x="5580112" y="3739098"/>
            <a:ext cx="1584176" cy="553998"/>
          </a:xfrm>
          <a:prstGeom prst="rect">
            <a:avLst/>
          </a:prstGeom>
          <a:noFill/>
        </p:spPr>
        <p:txBody>
          <a:bodyPr wrap="square" rtlCol="0">
            <a:spAutoFit/>
          </a:bodyPr>
          <a:lstStyle/>
          <a:p>
            <a:pPr marL="171450" indent="-171450">
              <a:buFont typeface="Arial" pitchFamily="34" charset="0"/>
              <a:buChar char="•"/>
            </a:pPr>
            <a:r>
              <a:rPr lang="fi-FI" sz="1000" dirty="0" smtClean="0"/>
              <a:t>Hyväksymistestauksen raportointi (viikko, </a:t>
            </a:r>
            <a:r>
              <a:rPr lang="fi-FI" sz="1000" dirty="0" err="1" smtClean="0"/>
              <a:t>ohry</a:t>
            </a:r>
            <a:r>
              <a:rPr lang="fi-FI" sz="1000" dirty="0" smtClean="0"/>
              <a:t>, yhteenveto)</a:t>
            </a:r>
            <a:endParaRPr lang="en-US" sz="1000" dirty="0"/>
          </a:p>
        </p:txBody>
      </p:sp>
      <p:sp>
        <p:nvSpPr>
          <p:cNvPr id="43" name="TextBox 42"/>
          <p:cNvSpPr txBox="1"/>
          <p:nvPr/>
        </p:nvSpPr>
        <p:spPr>
          <a:xfrm>
            <a:off x="5560897" y="4233282"/>
            <a:ext cx="1584176" cy="707886"/>
          </a:xfrm>
          <a:prstGeom prst="rect">
            <a:avLst/>
          </a:prstGeom>
          <a:noFill/>
        </p:spPr>
        <p:txBody>
          <a:bodyPr wrap="square" rtlCol="0">
            <a:spAutoFit/>
          </a:bodyPr>
          <a:lstStyle/>
          <a:p>
            <a:pPr marL="171450" indent="-171450">
              <a:buFont typeface="Arial" pitchFamily="34" charset="0"/>
              <a:buChar char="•"/>
            </a:pPr>
            <a:r>
              <a:rPr lang="fi-FI" sz="1000" dirty="0" smtClean="0"/>
              <a:t>Hyväksymistestauksen kokemusten kerääminen ja raportointi</a:t>
            </a:r>
            <a:endParaRPr lang="en-US" sz="1000" dirty="0"/>
          </a:p>
        </p:txBody>
      </p:sp>
      <p:sp>
        <p:nvSpPr>
          <p:cNvPr id="44" name="TextBox 43"/>
          <p:cNvSpPr txBox="1"/>
          <p:nvPr/>
        </p:nvSpPr>
        <p:spPr>
          <a:xfrm>
            <a:off x="3347864" y="3886200"/>
            <a:ext cx="1584176" cy="400110"/>
          </a:xfrm>
          <a:prstGeom prst="rect">
            <a:avLst/>
          </a:prstGeom>
          <a:noFill/>
        </p:spPr>
        <p:txBody>
          <a:bodyPr wrap="square" rtlCol="0">
            <a:spAutoFit/>
          </a:bodyPr>
          <a:lstStyle/>
          <a:p>
            <a:pPr marL="171450" indent="-171450">
              <a:buFont typeface="Arial" pitchFamily="34" charset="0"/>
              <a:buChar char="•"/>
            </a:pPr>
            <a:r>
              <a:rPr lang="fi-FI" sz="1000" dirty="0" smtClean="0"/>
              <a:t>Hyväksymistestauksen laadunvalvonta</a:t>
            </a:r>
            <a:endParaRPr lang="en-US" sz="1000" dirty="0"/>
          </a:p>
        </p:txBody>
      </p:sp>
      <p:sp>
        <p:nvSpPr>
          <p:cNvPr id="45" name="TextBox 44"/>
          <p:cNvSpPr txBox="1"/>
          <p:nvPr/>
        </p:nvSpPr>
        <p:spPr>
          <a:xfrm>
            <a:off x="3347864" y="5562600"/>
            <a:ext cx="1584176" cy="400110"/>
          </a:xfrm>
          <a:prstGeom prst="rect">
            <a:avLst/>
          </a:prstGeom>
          <a:noFill/>
        </p:spPr>
        <p:txBody>
          <a:bodyPr wrap="square" rtlCol="0">
            <a:spAutoFit/>
          </a:bodyPr>
          <a:lstStyle/>
          <a:p>
            <a:pPr marL="171450" indent="-171450">
              <a:buFont typeface="Arial" pitchFamily="34" charset="0"/>
              <a:buChar char="•"/>
            </a:pPr>
            <a:r>
              <a:rPr lang="fi-FI" sz="1000" dirty="0" smtClean="0">
                <a:solidFill>
                  <a:srgbClr val="FF0000"/>
                </a:solidFill>
              </a:rPr>
              <a:t>Testaukseen osallistuminen</a:t>
            </a:r>
            <a:endParaRPr lang="en-US" sz="1000" dirty="0">
              <a:solidFill>
                <a:srgbClr val="FF0000"/>
              </a:solidFill>
            </a:endParaRPr>
          </a:p>
        </p:txBody>
      </p:sp>
      <p:sp>
        <p:nvSpPr>
          <p:cNvPr id="46" name="TextBox 45"/>
          <p:cNvSpPr txBox="1"/>
          <p:nvPr/>
        </p:nvSpPr>
        <p:spPr>
          <a:xfrm>
            <a:off x="3347864" y="1969348"/>
            <a:ext cx="1584176" cy="400110"/>
          </a:xfrm>
          <a:prstGeom prst="rect">
            <a:avLst/>
          </a:prstGeom>
          <a:noFill/>
        </p:spPr>
        <p:txBody>
          <a:bodyPr wrap="square" rtlCol="0">
            <a:spAutoFit/>
          </a:bodyPr>
          <a:lstStyle/>
          <a:p>
            <a:pPr marL="171450" indent="-171450">
              <a:buFont typeface="Arial" pitchFamily="34" charset="0"/>
              <a:buChar char="•"/>
            </a:pPr>
            <a:r>
              <a:rPr lang="fi-FI" sz="1000" dirty="0" smtClean="0"/>
              <a:t>Testausmenettelyiden kehittäminen</a:t>
            </a:r>
            <a:endParaRPr lang="en-US" sz="1000" dirty="0"/>
          </a:p>
        </p:txBody>
      </p:sp>
      <p:sp>
        <p:nvSpPr>
          <p:cNvPr id="47" name="TextBox 46"/>
          <p:cNvSpPr txBox="1"/>
          <p:nvPr/>
        </p:nvSpPr>
        <p:spPr>
          <a:xfrm>
            <a:off x="3347864" y="2297450"/>
            <a:ext cx="1584176" cy="553998"/>
          </a:xfrm>
          <a:prstGeom prst="rect">
            <a:avLst/>
          </a:prstGeom>
          <a:noFill/>
        </p:spPr>
        <p:txBody>
          <a:bodyPr wrap="square" rtlCol="0">
            <a:spAutoFit/>
          </a:bodyPr>
          <a:lstStyle/>
          <a:p>
            <a:pPr marL="171450" indent="-171450">
              <a:buFont typeface="Arial" pitchFamily="34" charset="0"/>
              <a:buChar char="•"/>
            </a:pPr>
            <a:r>
              <a:rPr lang="fi-FI" sz="1000" dirty="0" smtClean="0"/>
              <a:t>Oman ja toisten </a:t>
            </a:r>
            <a:r>
              <a:rPr lang="fi-FI" sz="1000" dirty="0" err="1" smtClean="0"/>
              <a:t>testausmenetelmistön</a:t>
            </a:r>
            <a:r>
              <a:rPr lang="fi-FI" sz="1000" dirty="0" smtClean="0"/>
              <a:t> yhteensovitukset</a:t>
            </a:r>
            <a:endParaRPr lang="en-US" sz="1000" dirty="0"/>
          </a:p>
        </p:txBody>
      </p:sp>
      <p:sp>
        <p:nvSpPr>
          <p:cNvPr id="48" name="TextBox 47"/>
          <p:cNvSpPr txBox="1"/>
          <p:nvPr/>
        </p:nvSpPr>
        <p:spPr>
          <a:xfrm>
            <a:off x="5560896" y="4869160"/>
            <a:ext cx="1675399" cy="553998"/>
          </a:xfrm>
          <a:prstGeom prst="rect">
            <a:avLst/>
          </a:prstGeom>
          <a:noFill/>
        </p:spPr>
        <p:txBody>
          <a:bodyPr wrap="square" rtlCol="0">
            <a:spAutoFit/>
          </a:bodyPr>
          <a:lstStyle/>
          <a:p>
            <a:pPr marL="171450" indent="-171450">
              <a:buFont typeface="Arial" pitchFamily="34" charset="0"/>
              <a:buChar char="•"/>
            </a:pPr>
            <a:r>
              <a:rPr lang="fi-FI" sz="1000" dirty="0" smtClean="0"/>
              <a:t>Toimittajan testauksen arviointi hyväksymis-testin pohjana</a:t>
            </a:r>
            <a:endParaRPr lang="en-US" sz="1000" dirty="0"/>
          </a:p>
        </p:txBody>
      </p:sp>
      <p:sp>
        <p:nvSpPr>
          <p:cNvPr id="49" name="TextBox 48"/>
          <p:cNvSpPr txBox="1"/>
          <p:nvPr/>
        </p:nvSpPr>
        <p:spPr>
          <a:xfrm>
            <a:off x="3326516" y="2801506"/>
            <a:ext cx="1584176" cy="861774"/>
          </a:xfrm>
          <a:prstGeom prst="rect">
            <a:avLst/>
          </a:prstGeom>
          <a:noFill/>
        </p:spPr>
        <p:txBody>
          <a:bodyPr wrap="square" rtlCol="0">
            <a:spAutoFit/>
          </a:bodyPr>
          <a:lstStyle/>
          <a:p>
            <a:pPr marL="171450" indent="-171450">
              <a:buFont typeface="Arial" pitchFamily="34" charset="0"/>
              <a:buChar char="•"/>
            </a:pPr>
            <a:r>
              <a:rPr lang="fi-FI" sz="1000" dirty="0" smtClean="0"/>
              <a:t>Tuotanto-ongelmien seuranta riskipohjaisen testauksen suuntaamiseksi</a:t>
            </a:r>
            <a:endParaRPr lang="en-US" sz="1000" dirty="0"/>
          </a:p>
        </p:txBody>
      </p:sp>
      <p:cxnSp>
        <p:nvCxnSpPr>
          <p:cNvPr id="51" name="Straight Connector 50"/>
          <p:cNvCxnSpPr/>
          <p:nvPr/>
        </p:nvCxnSpPr>
        <p:spPr>
          <a:xfrm>
            <a:off x="5364088" y="1679050"/>
            <a:ext cx="0" cy="4091190"/>
          </a:xfrm>
          <a:prstGeom prst="line">
            <a:avLst/>
          </a:prstGeom>
        </p:spPr>
        <p:style>
          <a:lnRef idx="2">
            <a:schemeClr val="accent4"/>
          </a:lnRef>
          <a:fillRef idx="0">
            <a:schemeClr val="accent4"/>
          </a:fillRef>
          <a:effectRef idx="1">
            <a:schemeClr val="accent4"/>
          </a:effectRef>
          <a:fontRef idx="minor">
            <a:schemeClr val="tx1"/>
          </a:fontRef>
        </p:style>
      </p:cxnSp>
      <p:cxnSp>
        <p:nvCxnSpPr>
          <p:cNvPr id="53" name="Straight Connector 52"/>
          <p:cNvCxnSpPr/>
          <p:nvPr/>
        </p:nvCxnSpPr>
        <p:spPr>
          <a:xfrm>
            <a:off x="7308304" y="2780928"/>
            <a:ext cx="1728192" cy="0"/>
          </a:xfrm>
          <a:prstGeom prst="line">
            <a:avLst/>
          </a:prstGeom>
        </p:spPr>
        <p:style>
          <a:lnRef idx="2">
            <a:schemeClr val="accent4"/>
          </a:lnRef>
          <a:fillRef idx="0">
            <a:schemeClr val="accent4"/>
          </a:fillRef>
          <a:effectRef idx="1">
            <a:schemeClr val="accent4"/>
          </a:effectRef>
          <a:fontRef idx="minor">
            <a:schemeClr val="tx1"/>
          </a:fontRef>
        </p:style>
      </p:cxnSp>
      <p:cxnSp>
        <p:nvCxnSpPr>
          <p:cNvPr id="55" name="Straight Connector 54"/>
          <p:cNvCxnSpPr/>
          <p:nvPr/>
        </p:nvCxnSpPr>
        <p:spPr>
          <a:xfrm>
            <a:off x="7308304" y="2780928"/>
            <a:ext cx="0" cy="2848382"/>
          </a:xfrm>
          <a:prstGeom prst="line">
            <a:avLst/>
          </a:prstGeom>
        </p:spPr>
        <p:style>
          <a:lnRef idx="2">
            <a:schemeClr val="accent4"/>
          </a:lnRef>
          <a:fillRef idx="0">
            <a:schemeClr val="accent4"/>
          </a:fillRef>
          <a:effectRef idx="1">
            <a:schemeClr val="accent4"/>
          </a:effectRef>
          <a:fontRef idx="minor">
            <a:schemeClr val="tx1"/>
          </a:fontRef>
        </p:style>
      </p:cxnSp>
      <p:sp>
        <p:nvSpPr>
          <p:cNvPr id="57" name="TextBox 56"/>
          <p:cNvSpPr txBox="1"/>
          <p:nvPr/>
        </p:nvSpPr>
        <p:spPr>
          <a:xfrm>
            <a:off x="5364088" y="5490985"/>
            <a:ext cx="1944215" cy="26161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fi-FI" sz="1100" dirty="0" smtClean="0"/>
              <a:t>Testauksen johtaminen</a:t>
            </a:r>
            <a:endParaRPr lang="en-US" sz="1100" dirty="0"/>
          </a:p>
        </p:txBody>
      </p:sp>
      <p:sp>
        <p:nvSpPr>
          <p:cNvPr id="60" name="TextBox 59"/>
          <p:cNvSpPr txBox="1"/>
          <p:nvPr/>
        </p:nvSpPr>
        <p:spPr>
          <a:xfrm>
            <a:off x="7380312" y="5487571"/>
            <a:ext cx="1728192" cy="26161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r>
              <a:rPr lang="fi-FI" sz="1100" dirty="0" smtClean="0"/>
              <a:t>Yleiset palvelut</a:t>
            </a:r>
            <a:endParaRPr lang="en-US" sz="1100" dirty="0"/>
          </a:p>
        </p:txBody>
      </p:sp>
      <p:cxnSp>
        <p:nvCxnSpPr>
          <p:cNvPr id="62" name="Straight Arrow Connector 61"/>
          <p:cNvCxnSpPr/>
          <p:nvPr/>
        </p:nvCxnSpPr>
        <p:spPr>
          <a:xfrm flipV="1">
            <a:off x="7380312" y="2924944"/>
            <a:ext cx="0" cy="260216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64" name="Straight Connector 63"/>
          <p:cNvCxnSpPr/>
          <p:nvPr/>
        </p:nvCxnSpPr>
        <p:spPr>
          <a:xfrm>
            <a:off x="7380312" y="2924944"/>
            <a:ext cx="1699756"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65" name="Straight Arrow Connector 64"/>
          <p:cNvCxnSpPr/>
          <p:nvPr/>
        </p:nvCxnSpPr>
        <p:spPr>
          <a:xfrm flipV="1">
            <a:off x="9108504" y="2924944"/>
            <a:ext cx="0" cy="260216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66" name="TextBox 65"/>
          <p:cNvSpPr txBox="1"/>
          <p:nvPr/>
        </p:nvSpPr>
        <p:spPr>
          <a:xfrm>
            <a:off x="3596579" y="5952838"/>
            <a:ext cx="1314113" cy="2616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fi-FI" sz="1100" dirty="0" smtClean="0"/>
              <a:t>Muu testaus</a:t>
            </a:r>
            <a:endParaRPr lang="en-US" sz="1100" dirty="0"/>
          </a:p>
        </p:txBody>
      </p:sp>
      <p:sp>
        <p:nvSpPr>
          <p:cNvPr id="67" name="TextBox 66"/>
          <p:cNvSpPr txBox="1"/>
          <p:nvPr/>
        </p:nvSpPr>
        <p:spPr>
          <a:xfrm>
            <a:off x="3347864" y="4566210"/>
            <a:ext cx="1584176" cy="400110"/>
          </a:xfrm>
          <a:prstGeom prst="rect">
            <a:avLst/>
          </a:prstGeom>
          <a:noFill/>
        </p:spPr>
        <p:txBody>
          <a:bodyPr wrap="square" rtlCol="0">
            <a:spAutoFit/>
          </a:bodyPr>
          <a:lstStyle/>
          <a:p>
            <a:pPr marL="171450" indent="-171450">
              <a:buFont typeface="Arial" pitchFamily="34" charset="0"/>
              <a:buChar char="•"/>
            </a:pPr>
            <a:r>
              <a:rPr lang="fi-FI" sz="1000" dirty="0" err="1" smtClean="0"/>
              <a:t>Auditointitarpeiden</a:t>
            </a:r>
            <a:r>
              <a:rPr lang="fi-FI" sz="1000" dirty="0" smtClean="0"/>
              <a:t> tunnistaminen</a:t>
            </a:r>
            <a:endParaRPr lang="en-US" sz="1000" dirty="0"/>
          </a:p>
        </p:txBody>
      </p:sp>
      <p:sp>
        <p:nvSpPr>
          <p:cNvPr id="68" name="TextBox 67"/>
          <p:cNvSpPr txBox="1"/>
          <p:nvPr/>
        </p:nvSpPr>
        <p:spPr>
          <a:xfrm>
            <a:off x="3347864" y="4926250"/>
            <a:ext cx="1584176" cy="707886"/>
          </a:xfrm>
          <a:prstGeom prst="rect">
            <a:avLst/>
          </a:prstGeom>
          <a:noFill/>
        </p:spPr>
        <p:txBody>
          <a:bodyPr wrap="square" rtlCol="0">
            <a:spAutoFit/>
          </a:bodyPr>
          <a:lstStyle/>
          <a:p>
            <a:pPr marL="171450" indent="-171450">
              <a:buFont typeface="Arial" pitchFamily="34" charset="0"/>
              <a:buChar char="•"/>
            </a:pPr>
            <a:r>
              <a:rPr lang="fi-FI" sz="1000" dirty="0" smtClean="0"/>
              <a:t>Katselmointien suuntaaminen (sääntöpohjainen katselmointitapa)</a:t>
            </a:r>
            <a:endParaRPr lang="en-US" sz="1000" dirty="0"/>
          </a:p>
        </p:txBody>
      </p:sp>
      <p:sp>
        <p:nvSpPr>
          <p:cNvPr id="61" name="Slide Number Placeholder 60"/>
          <p:cNvSpPr>
            <a:spLocks noGrp="1"/>
          </p:cNvSpPr>
          <p:nvPr>
            <p:ph type="sldNum" sz="quarter" idx="12"/>
          </p:nvPr>
        </p:nvSpPr>
        <p:spPr/>
        <p:txBody>
          <a:bodyPr/>
          <a:lstStyle/>
          <a:p>
            <a:fld id="{1FC54B03-E980-44E0-A0F1-6CAD9D10ECFB}" type="slidenum">
              <a:rPr lang="fi-FI" smtClean="0"/>
              <a:pPr/>
              <a:t>160</a:t>
            </a:fld>
            <a:endParaRPr lang="fi-FI" dirty="0"/>
          </a:p>
        </p:txBody>
      </p:sp>
    </p:spTree>
    <p:extLst>
      <p:ext uri="{BB962C8B-B14F-4D97-AF65-F5344CB8AC3E}">
        <p14:creationId xmlns:p14="http://schemas.microsoft.com/office/powerpoint/2010/main" val="3846089238"/>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4"/>
          <p:cNvSpPr>
            <a:spLocks noGrp="1" noChangeArrowheads="1"/>
          </p:cNvSpPr>
          <p:nvPr>
            <p:ph type="title"/>
          </p:nvPr>
        </p:nvSpPr>
        <p:spPr/>
        <p:txBody>
          <a:bodyPr/>
          <a:lstStyle/>
          <a:p>
            <a:r>
              <a:rPr lang="fi-FI"/>
              <a:t>Pääteemat</a:t>
            </a:r>
            <a:endParaRPr lang="en-US"/>
          </a:p>
        </p:txBody>
      </p:sp>
      <p:sp>
        <p:nvSpPr>
          <p:cNvPr id="11269" name="Rectangle 5"/>
          <p:cNvSpPr>
            <a:spLocks noGrp="1" noChangeArrowheads="1"/>
          </p:cNvSpPr>
          <p:nvPr>
            <p:ph type="body" sz="half" idx="1"/>
          </p:nvPr>
        </p:nvSpPr>
        <p:spPr/>
        <p:txBody>
          <a:bodyPr/>
          <a:lstStyle/>
          <a:p>
            <a:pPr>
              <a:buFontTx/>
              <a:buNone/>
            </a:pPr>
            <a:r>
              <a:rPr lang="fi-FI" sz="2000" dirty="0">
                <a:solidFill>
                  <a:schemeClr val="folHlink"/>
                </a:solidFill>
              </a:rPr>
              <a:t>PROJEKTIPÄÄLLIKKÖ</a:t>
            </a:r>
          </a:p>
          <a:p>
            <a:r>
              <a:rPr lang="fi-FI" sz="2000" dirty="0">
                <a:solidFill>
                  <a:schemeClr val="folHlink"/>
                </a:solidFill>
              </a:rPr>
              <a:t>Yleinen hallinta ja ohjaus</a:t>
            </a:r>
          </a:p>
          <a:p>
            <a:r>
              <a:rPr lang="fi-FI" sz="2000" dirty="0">
                <a:solidFill>
                  <a:schemeClr val="folHlink"/>
                </a:solidFill>
              </a:rPr>
              <a:t>Laajuuden hallinta</a:t>
            </a:r>
          </a:p>
          <a:p>
            <a:r>
              <a:rPr lang="fi-FI" sz="2000" dirty="0">
                <a:solidFill>
                  <a:schemeClr val="folHlink"/>
                </a:solidFill>
              </a:rPr>
              <a:t>Esteiden poistaminen</a:t>
            </a:r>
          </a:p>
          <a:p>
            <a:r>
              <a:rPr lang="fi-FI" sz="2000" dirty="0">
                <a:solidFill>
                  <a:schemeClr val="folHlink"/>
                </a:solidFill>
              </a:rPr>
              <a:t>Resursointi</a:t>
            </a:r>
          </a:p>
          <a:p>
            <a:r>
              <a:rPr lang="fi-FI" sz="2000" dirty="0">
                <a:solidFill>
                  <a:schemeClr val="folHlink"/>
                </a:solidFill>
              </a:rPr>
              <a:t>Osaamisen ja kyvykkyyden kehittäminen</a:t>
            </a:r>
          </a:p>
          <a:p>
            <a:r>
              <a:rPr lang="fi-FI" sz="2000" dirty="0">
                <a:solidFill>
                  <a:schemeClr val="folHlink"/>
                </a:solidFill>
              </a:rPr>
              <a:t>Virheiden hallinta</a:t>
            </a:r>
          </a:p>
          <a:p>
            <a:r>
              <a:rPr lang="fi-FI" sz="2000" dirty="0">
                <a:solidFill>
                  <a:schemeClr val="folHlink"/>
                </a:solidFill>
              </a:rPr>
              <a:t>Raportointi ja eskalointi</a:t>
            </a:r>
          </a:p>
          <a:p>
            <a:r>
              <a:rPr lang="fi-FI" sz="2000" dirty="0" smtClean="0">
                <a:solidFill>
                  <a:schemeClr val="folHlink"/>
                </a:solidFill>
              </a:rPr>
              <a:t>Asiakas-toimittaja-käyttäjäyhteistyö</a:t>
            </a:r>
            <a:endParaRPr lang="en-US" sz="2000" dirty="0">
              <a:solidFill>
                <a:schemeClr val="folHlink"/>
              </a:solidFill>
            </a:endParaRPr>
          </a:p>
        </p:txBody>
      </p:sp>
      <p:sp>
        <p:nvSpPr>
          <p:cNvPr id="11270" name="Rectangle 6"/>
          <p:cNvSpPr>
            <a:spLocks noGrp="1" noChangeArrowheads="1"/>
          </p:cNvSpPr>
          <p:nvPr>
            <p:ph type="body" sz="half" idx="2"/>
          </p:nvPr>
        </p:nvSpPr>
        <p:spPr/>
        <p:txBody>
          <a:bodyPr/>
          <a:lstStyle/>
          <a:p>
            <a:pPr>
              <a:buFontTx/>
              <a:buNone/>
            </a:pPr>
            <a:r>
              <a:rPr lang="fi-FI" sz="2000"/>
              <a:t>TESTAUSVASTAAVA</a:t>
            </a:r>
          </a:p>
          <a:p>
            <a:r>
              <a:rPr lang="fi-FI" sz="2000"/>
              <a:t>Testauksen hallinta ja ohjaus</a:t>
            </a:r>
          </a:p>
          <a:p>
            <a:r>
              <a:rPr lang="fi-FI" sz="2000"/>
              <a:t>Testauksen resursointi</a:t>
            </a:r>
          </a:p>
          <a:p>
            <a:r>
              <a:rPr lang="fi-FI" sz="2000"/>
              <a:t>Testauksen osaamisen ja kyvykkyyden kehittäminen</a:t>
            </a:r>
          </a:p>
          <a:p>
            <a:r>
              <a:rPr lang="fi-FI" sz="2000"/>
              <a:t>Päätöksenteon tuki</a:t>
            </a:r>
          </a:p>
          <a:p>
            <a:r>
              <a:rPr lang="fi-FI" sz="2000"/>
              <a:t>Ympäristöjen ja versioiden hallinta</a:t>
            </a:r>
          </a:p>
          <a:p>
            <a:r>
              <a:rPr lang="fi-FI" sz="2000"/>
              <a:t>Virheiden hallinta</a:t>
            </a:r>
          </a:p>
          <a:p>
            <a:r>
              <a:rPr lang="fi-FI" sz="2000"/>
              <a:t>Raportointi ja eskalointi</a:t>
            </a:r>
          </a:p>
          <a:p>
            <a:r>
              <a:rPr lang="fi-FI" sz="2000"/>
              <a:t>Asiakkaan laatupalautteen käsittely</a:t>
            </a:r>
            <a:endParaRPr lang="en-US" sz="2000"/>
          </a:p>
        </p:txBody>
      </p:sp>
      <p:sp>
        <p:nvSpPr>
          <p:cNvPr id="11271" name="Rectangle 7"/>
          <p:cNvSpPr>
            <a:spLocks noChangeArrowheads="1"/>
          </p:cNvSpPr>
          <p:nvPr/>
        </p:nvSpPr>
        <p:spPr bwMode="auto">
          <a:xfrm>
            <a:off x="2051050" y="5589588"/>
            <a:ext cx="2016125" cy="1008062"/>
          </a:xfrm>
          <a:prstGeom prst="rect">
            <a:avLst/>
          </a:prstGeom>
          <a:solidFill>
            <a:schemeClr val="accent1"/>
          </a:solidFill>
          <a:ln w="9525">
            <a:solidFill>
              <a:schemeClr val="tx1"/>
            </a:solidFill>
            <a:miter lim="800000"/>
            <a:headEnd/>
            <a:tailEnd/>
          </a:ln>
          <a:effectLst/>
        </p:spPr>
        <p:txBody>
          <a:bodyPr anchor="ctr"/>
          <a:lstStyle/>
          <a:p>
            <a:pPr algn="ctr"/>
            <a:r>
              <a:rPr lang="fi-FI" sz="1600" dirty="0">
                <a:solidFill>
                  <a:schemeClr val="bg1"/>
                </a:solidFill>
              </a:rPr>
              <a:t>Projektipäällikön tehtävät testauksen näkökulmasta.</a:t>
            </a:r>
            <a:endParaRPr lang="en-US" sz="1600" dirty="0">
              <a:solidFill>
                <a:schemeClr val="bg1"/>
              </a:solidFill>
            </a:endParaRPr>
          </a:p>
        </p:txBody>
      </p:sp>
      <p:sp>
        <p:nvSpPr>
          <p:cNvPr id="6" name="Slide Number Placeholder 5"/>
          <p:cNvSpPr>
            <a:spLocks noGrp="1"/>
          </p:cNvSpPr>
          <p:nvPr>
            <p:ph type="sldNum" sz="quarter" idx="12"/>
          </p:nvPr>
        </p:nvSpPr>
        <p:spPr/>
        <p:txBody>
          <a:bodyPr/>
          <a:lstStyle/>
          <a:p>
            <a:fld id="{7A750B4A-325E-4AA4-BC07-A8C35B32A4F3}" type="slidenum">
              <a:rPr lang="fi-FI" smtClean="0"/>
              <a:pPr/>
              <a:t>161</a:t>
            </a:fld>
            <a:endParaRPr lang="fi-FI"/>
          </a:p>
        </p:txBody>
      </p:sp>
    </p:spTree>
  </p:cSld>
  <p:clrMapOvr>
    <a:masterClrMapping/>
  </p:clrMapOvr>
  <p:timing>
    <p:tnLst>
      <p:par>
        <p:cTn xmlns:p14="http://schemas.microsoft.com/office/powerpoint/2010/mai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fi-FI" dirty="0" smtClean="0"/>
              <a:t>Hyväksymistestauksen suunnittelu</a:t>
            </a:r>
            <a:endParaRPr lang="fi-FI" dirty="0"/>
          </a:p>
        </p:txBody>
      </p:sp>
      <p:sp>
        <p:nvSpPr>
          <p:cNvPr id="8" name="Subtitle 7"/>
          <p:cNvSpPr>
            <a:spLocks noGrp="1"/>
          </p:cNvSpPr>
          <p:nvPr>
            <p:ph type="body" idx="1"/>
          </p:nvPr>
        </p:nvSpPr>
        <p:spPr/>
        <p:txBody>
          <a:bodyPr/>
          <a:lstStyle/>
          <a:p>
            <a:r>
              <a:rPr lang="fi-FI" dirty="0" smtClean="0"/>
              <a:t>Suunnittelu ja suunnitelma</a:t>
            </a:r>
            <a:endParaRPr lang="fi-FI" dirty="0"/>
          </a:p>
        </p:txBody>
      </p:sp>
      <p:sp>
        <p:nvSpPr>
          <p:cNvPr id="5" name="Slide Number Placeholder 4"/>
          <p:cNvSpPr>
            <a:spLocks noGrp="1"/>
          </p:cNvSpPr>
          <p:nvPr>
            <p:ph type="sldNum" sz="quarter" idx="12"/>
          </p:nvPr>
        </p:nvSpPr>
        <p:spPr/>
        <p:txBody>
          <a:bodyPr/>
          <a:lstStyle/>
          <a:p>
            <a:fld id="{7A750B4A-325E-4AA4-BC07-A8C35B32A4F3}" type="slidenum">
              <a:rPr lang="fi-FI" smtClean="0"/>
              <a:pPr/>
              <a:t>162</a:t>
            </a:fld>
            <a:endParaRPr lang="fi-FI"/>
          </a:p>
        </p:txBody>
      </p:sp>
    </p:spTree>
  </p:cSld>
  <p:clrMapOvr>
    <a:masterClrMapping/>
  </p:clrMapOvr>
  <p:timing>
    <p:tnLst>
      <p:par>
        <p:cTn xmlns:p14="http://schemas.microsoft.com/office/powerpoint/2010/mai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6578" name="Rectangle 2"/>
          <p:cNvSpPr>
            <a:spLocks noGrp="1" noChangeArrowheads="1"/>
          </p:cNvSpPr>
          <p:nvPr>
            <p:ph type="title"/>
          </p:nvPr>
        </p:nvSpPr>
        <p:spPr/>
        <p:txBody>
          <a:bodyPr/>
          <a:lstStyle/>
          <a:p>
            <a:r>
              <a:rPr lang="fi-FI" dirty="0"/>
              <a:t>Testauksen </a:t>
            </a:r>
            <a:r>
              <a:rPr lang="fi-FI" dirty="0" smtClean="0"/>
              <a:t>suunnittelu (</a:t>
            </a:r>
            <a:r>
              <a:rPr lang="fi-FI" i="1" dirty="0" err="1" smtClean="0"/>
              <a:t>planning</a:t>
            </a:r>
            <a:r>
              <a:rPr lang="fi-FI" dirty="0" smtClean="0"/>
              <a:t>)</a:t>
            </a:r>
            <a:endParaRPr lang="en-GB" dirty="0"/>
          </a:p>
        </p:txBody>
      </p:sp>
      <p:sp>
        <p:nvSpPr>
          <p:cNvPr id="1176579" name="Rectangle 3"/>
          <p:cNvSpPr>
            <a:spLocks noGrp="1" noChangeArrowheads="1"/>
          </p:cNvSpPr>
          <p:nvPr>
            <p:ph type="body" idx="1"/>
          </p:nvPr>
        </p:nvSpPr>
        <p:spPr/>
        <p:txBody>
          <a:bodyPr/>
          <a:lstStyle/>
          <a:p>
            <a:r>
              <a:rPr lang="en-GB" sz="2400"/>
              <a:t>Lyhyesti: suunnittelu pakottaa kurinalaiseen, ajoissa tehtyyn pohdintaan sen osalta mitä</a:t>
            </a:r>
          </a:p>
          <a:p>
            <a:pPr lvl="1"/>
            <a:r>
              <a:rPr lang="en-GB" sz="2000"/>
              <a:t>Testaajat tulevat tekemään</a:t>
            </a:r>
          </a:p>
          <a:p>
            <a:pPr lvl="1"/>
            <a:r>
              <a:rPr lang="en-GB" sz="2000"/>
              <a:t>Kuinka he tulevat sen tekemään</a:t>
            </a:r>
          </a:p>
          <a:p>
            <a:pPr lvl="1"/>
            <a:r>
              <a:rPr lang="en-GB" sz="2000"/>
              <a:t>Kauanko se vie</a:t>
            </a:r>
          </a:p>
          <a:p>
            <a:pPr lvl="1"/>
            <a:r>
              <a:rPr lang="en-GB" sz="2000"/>
              <a:t>Mitä resursseja tarvitaan</a:t>
            </a:r>
          </a:p>
          <a:p>
            <a:pPr lvl="1"/>
            <a:r>
              <a:rPr lang="en-GB" sz="2000"/>
              <a:t>Mitä se tulee maksamaan</a:t>
            </a:r>
          </a:p>
          <a:p>
            <a:endParaRPr lang="en-GB" sz="2400"/>
          </a:p>
        </p:txBody>
      </p:sp>
      <p:sp>
        <p:nvSpPr>
          <p:cNvPr id="4" name="Slide Number Placeholder 3"/>
          <p:cNvSpPr>
            <a:spLocks noGrp="1"/>
          </p:cNvSpPr>
          <p:nvPr>
            <p:ph type="sldNum" sz="quarter" idx="12"/>
          </p:nvPr>
        </p:nvSpPr>
        <p:spPr/>
        <p:txBody>
          <a:bodyPr/>
          <a:lstStyle/>
          <a:p>
            <a:fld id="{7A750B4A-325E-4AA4-BC07-A8C35B32A4F3}" type="slidenum">
              <a:rPr lang="fi-FI" smtClean="0"/>
              <a:pPr/>
              <a:t>163</a:t>
            </a:fld>
            <a:endParaRPr lang="fi-FI"/>
          </a:p>
        </p:txBody>
      </p:sp>
    </p:spTree>
  </p:cSld>
  <p:clrMapOvr>
    <a:masterClrMapping/>
  </p:clrMapOvr>
  <p:timing>
    <p:tnLst>
      <p:par>
        <p:cTn xmlns:p14="http://schemas.microsoft.com/office/powerpoint/2010/mai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Nuoli oikealle 6"/>
          <p:cNvSpPr/>
          <p:nvPr/>
        </p:nvSpPr>
        <p:spPr>
          <a:xfrm>
            <a:off x="107503" y="3025552"/>
            <a:ext cx="9008787" cy="1080120"/>
          </a:xfrm>
          <a:prstGeom prst="rightArrow">
            <a:avLst>
              <a:gd name="adj1" fmla="val 50000"/>
              <a:gd name="adj2" fmla="val 25201"/>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fi-FI"/>
          </a:p>
        </p:txBody>
      </p:sp>
      <p:sp>
        <p:nvSpPr>
          <p:cNvPr id="4" name="Otsikko 3"/>
          <p:cNvSpPr>
            <a:spLocks noGrp="1"/>
          </p:cNvSpPr>
          <p:nvPr>
            <p:ph type="title"/>
          </p:nvPr>
        </p:nvSpPr>
        <p:spPr/>
        <p:txBody>
          <a:bodyPr>
            <a:normAutofit/>
          </a:bodyPr>
          <a:lstStyle/>
          <a:p>
            <a:r>
              <a:rPr lang="fi-FI" dirty="0" smtClean="0"/>
              <a:t>Testauksen suunnittelun ajoitukset</a:t>
            </a:r>
            <a:endParaRPr lang="fi-FI" dirty="0"/>
          </a:p>
        </p:txBody>
      </p:sp>
      <p:graphicFrame>
        <p:nvGraphicFramePr>
          <p:cNvPr id="6" name="Sisällön paikkamerkki 5"/>
          <p:cNvGraphicFramePr>
            <a:graphicFrameLocks noGrp="1"/>
          </p:cNvGraphicFramePr>
          <p:nvPr>
            <p:ph idx="1"/>
            <p:extLst>
              <p:ext uri="{D42A27DB-BD31-4B8C-83A1-F6EECF244321}">
                <p14:modId xmlns:p14="http://schemas.microsoft.com/office/powerpoint/2010/main" val="2830401953"/>
              </p:ext>
            </p:extLst>
          </p:nvPr>
        </p:nvGraphicFramePr>
        <p:xfrm>
          <a:off x="457200" y="1196752"/>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kstiruutu 7"/>
          <p:cNvSpPr txBox="1"/>
          <p:nvPr/>
        </p:nvSpPr>
        <p:spPr>
          <a:xfrm>
            <a:off x="467544" y="5229200"/>
            <a:ext cx="8280920" cy="1169551"/>
          </a:xfrm>
          <a:prstGeom prst="rect">
            <a:avLst/>
          </a:prstGeom>
          <a:noFill/>
        </p:spPr>
        <p:txBody>
          <a:bodyPr wrap="square" rtlCol="0">
            <a:spAutoFit/>
          </a:bodyPr>
          <a:lstStyle/>
          <a:p>
            <a:pPr algn="ctr"/>
            <a:r>
              <a:rPr lang="fi-FI" sz="1400" dirty="0" smtClean="0"/>
              <a:t>Osaava testausorganisaatio toimittajalla keventää merkittävästi asiakkaan vastuita ja velvoitteita. Tämä varmistetaan tilaamalla hyvä testauksen vetäjä ja tukemalla testauksen suunnittelua. Asiakkaan tulisi keskittyä asiakasorganisaatiolle luonnolliseen toimintaan: seuranta, rajallinen oma hyväksymistestaus, liiketoimintatuen tarjoaminen toimitusprojektille. Lopussa huonoa laatua voi sopimusmekanismeista huolimatta korjata vain testaamalla itse laajasti silloin. </a:t>
            </a:r>
            <a:endParaRPr lang="fi-FI" sz="1400" dirty="0"/>
          </a:p>
        </p:txBody>
      </p:sp>
      <p:sp>
        <p:nvSpPr>
          <p:cNvPr id="9" name="Slide Number Placeholder 8"/>
          <p:cNvSpPr>
            <a:spLocks noGrp="1"/>
          </p:cNvSpPr>
          <p:nvPr>
            <p:ph type="sldNum" sz="quarter" idx="12"/>
          </p:nvPr>
        </p:nvSpPr>
        <p:spPr/>
        <p:txBody>
          <a:bodyPr/>
          <a:lstStyle/>
          <a:p>
            <a:fld id="{1FC54B03-E980-44E0-A0F1-6CAD9D10ECFB}" type="slidenum">
              <a:rPr lang="fi-FI" smtClean="0"/>
              <a:pPr/>
              <a:t>164</a:t>
            </a:fld>
            <a:endParaRPr lang="fi-FI"/>
          </a:p>
        </p:txBody>
      </p:sp>
    </p:spTree>
    <p:extLst>
      <p:ext uri="{BB962C8B-B14F-4D97-AF65-F5344CB8AC3E}">
        <p14:creationId xmlns:p14="http://schemas.microsoft.com/office/powerpoint/2010/main" val="4123467341"/>
      </p:ext>
    </p:extLst>
  </p:cSld>
  <p:clrMapOvr>
    <a:masterClrMapping/>
  </p:clrMapOvr>
  <p:timing>
    <p:tnLst>
      <p:par>
        <p:cTn xmlns:p14="http://schemas.microsoft.com/office/powerpoint/2010/mai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Ryhmä 3"/>
          <p:cNvGrpSpPr/>
          <p:nvPr/>
        </p:nvGrpSpPr>
        <p:grpSpPr>
          <a:xfrm>
            <a:off x="461057" y="5382465"/>
            <a:ext cx="1478756" cy="408735"/>
            <a:chOff x="3857" y="770608"/>
            <a:chExt cx="1478756" cy="408735"/>
          </a:xfrm>
        </p:grpSpPr>
        <p:sp>
          <p:nvSpPr>
            <p:cNvPr id="17" name="Suorakulmio 16"/>
            <p:cNvSpPr/>
            <p:nvPr/>
          </p:nvSpPr>
          <p:spPr>
            <a:xfrm>
              <a:off x="3857" y="770608"/>
              <a:ext cx="1478756" cy="408735"/>
            </a:xfrm>
            <a:prstGeom prst="rect">
              <a:avLst/>
            </a:pr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sp>
        <p:sp>
          <p:nvSpPr>
            <p:cNvPr id="18" name="Suorakulmio 17"/>
            <p:cNvSpPr/>
            <p:nvPr/>
          </p:nvSpPr>
          <p:spPr>
            <a:xfrm>
              <a:off x="3857" y="770608"/>
              <a:ext cx="1478756" cy="40873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6896" tIns="32512" rIns="56896" bIns="32512" numCol="1" spcCol="1270" anchor="ctr" anchorCtr="0">
              <a:noAutofit/>
            </a:bodyPr>
            <a:lstStyle/>
            <a:p>
              <a:pPr lvl="0" algn="ctr" defTabSz="355600" rtl="0">
                <a:lnSpc>
                  <a:spcPct val="90000"/>
                </a:lnSpc>
                <a:spcBef>
                  <a:spcPct val="0"/>
                </a:spcBef>
                <a:spcAft>
                  <a:spcPct val="35000"/>
                </a:spcAft>
              </a:pPr>
              <a:r>
                <a:rPr lang="fi-FI" sz="800" kern="1200" dirty="0" smtClean="0"/>
                <a:t>Testaussuunnitteluun valmistautuminen (pakolliset varhaiset teemat)</a:t>
              </a:r>
              <a:endParaRPr lang="fi-FI" sz="800" kern="1200" dirty="0"/>
            </a:p>
          </p:txBody>
        </p:sp>
      </p:grpSp>
      <p:grpSp>
        <p:nvGrpSpPr>
          <p:cNvPr id="3" name="Ryhmä 4"/>
          <p:cNvGrpSpPr/>
          <p:nvPr/>
        </p:nvGrpSpPr>
        <p:grpSpPr>
          <a:xfrm>
            <a:off x="2146839" y="5382465"/>
            <a:ext cx="1478756" cy="408735"/>
            <a:chOff x="1689639" y="770608"/>
            <a:chExt cx="1478756" cy="408735"/>
          </a:xfrm>
        </p:grpSpPr>
        <p:sp>
          <p:nvSpPr>
            <p:cNvPr id="15" name="Suorakulmio 14"/>
            <p:cNvSpPr/>
            <p:nvPr/>
          </p:nvSpPr>
          <p:spPr>
            <a:xfrm>
              <a:off x="1689639" y="770608"/>
              <a:ext cx="1478756" cy="408735"/>
            </a:xfrm>
            <a:prstGeom prst="rect">
              <a:avLst/>
            </a:prstGeom>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sp>
          <p:nvSpPr>
            <p:cNvPr id="16" name="Suorakulmio 15"/>
            <p:cNvSpPr/>
            <p:nvPr/>
          </p:nvSpPr>
          <p:spPr>
            <a:xfrm>
              <a:off x="1689639" y="770608"/>
              <a:ext cx="1478756" cy="40873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6896" tIns="32512" rIns="56896" bIns="32512" numCol="1" spcCol="1270" anchor="ctr" anchorCtr="0">
              <a:noAutofit/>
            </a:bodyPr>
            <a:lstStyle/>
            <a:p>
              <a:pPr lvl="0" algn="ctr" defTabSz="355600" rtl="0">
                <a:lnSpc>
                  <a:spcPct val="90000"/>
                </a:lnSpc>
                <a:spcBef>
                  <a:spcPct val="0"/>
                </a:spcBef>
                <a:spcAft>
                  <a:spcPct val="35000"/>
                </a:spcAft>
              </a:pPr>
              <a:r>
                <a:rPr lang="fi-FI" sz="800" kern="1200" smtClean="0"/>
                <a:t>Kokonaistestaussuunnittelu (toimittajan ohjaaminen, työpaja + katselmointi)</a:t>
              </a:r>
              <a:endParaRPr lang="fi-FI" sz="800" kern="1200"/>
            </a:p>
          </p:txBody>
        </p:sp>
      </p:grpSp>
      <p:grpSp>
        <p:nvGrpSpPr>
          <p:cNvPr id="4" name="Ryhmä 5"/>
          <p:cNvGrpSpPr/>
          <p:nvPr/>
        </p:nvGrpSpPr>
        <p:grpSpPr>
          <a:xfrm>
            <a:off x="3832621" y="5382465"/>
            <a:ext cx="1478756" cy="408735"/>
            <a:chOff x="3375421" y="770608"/>
            <a:chExt cx="1478756" cy="408735"/>
          </a:xfrm>
        </p:grpSpPr>
        <p:sp>
          <p:nvSpPr>
            <p:cNvPr id="13" name="Suorakulmio 12"/>
            <p:cNvSpPr/>
            <p:nvPr/>
          </p:nvSpPr>
          <p:spPr>
            <a:xfrm>
              <a:off x="3375421" y="770608"/>
              <a:ext cx="1478756" cy="408735"/>
            </a:xfrm>
            <a:prstGeom prst="rect">
              <a:avLst/>
            </a:prstGeom>
          </p:spPr>
          <p:style>
            <a:lnRef idx="2">
              <a:schemeClr val="accent4">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sp>
        <p:sp>
          <p:nvSpPr>
            <p:cNvPr id="14" name="Suorakulmio 13"/>
            <p:cNvSpPr/>
            <p:nvPr/>
          </p:nvSpPr>
          <p:spPr>
            <a:xfrm>
              <a:off x="3375421" y="770608"/>
              <a:ext cx="1478756" cy="40873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6896" tIns="32512" rIns="56896" bIns="32512" numCol="1" spcCol="1270" anchor="ctr" anchorCtr="0">
              <a:noAutofit/>
            </a:bodyPr>
            <a:lstStyle/>
            <a:p>
              <a:pPr lvl="0" algn="ctr" defTabSz="355600" rtl="0">
                <a:lnSpc>
                  <a:spcPct val="90000"/>
                </a:lnSpc>
                <a:spcBef>
                  <a:spcPct val="0"/>
                </a:spcBef>
                <a:spcAft>
                  <a:spcPct val="35000"/>
                </a:spcAft>
              </a:pPr>
              <a:r>
                <a:rPr lang="fi-FI" sz="800" kern="1200" smtClean="0"/>
                <a:t>Hyväksymistestaussuunnittelu</a:t>
              </a:r>
              <a:endParaRPr lang="fi-FI" sz="800" kern="1200"/>
            </a:p>
          </p:txBody>
        </p:sp>
      </p:grpSp>
      <p:grpSp>
        <p:nvGrpSpPr>
          <p:cNvPr id="5" name="Ryhmä 6"/>
          <p:cNvGrpSpPr/>
          <p:nvPr/>
        </p:nvGrpSpPr>
        <p:grpSpPr>
          <a:xfrm>
            <a:off x="5518404" y="5382465"/>
            <a:ext cx="1478756" cy="408735"/>
            <a:chOff x="5061204" y="770608"/>
            <a:chExt cx="1478756" cy="408735"/>
          </a:xfrm>
        </p:grpSpPr>
        <p:sp>
          <p:nvSpPr>
            <p:cNvPr id="11" name="Suorakulmio 10"/>
            <p:cNvSpPr/>
            <p:nvPr/>
          </p:nvSpPr>
          <p:spPr>
            <a:xfrm>
              <a:off x="5061204" y="770608"/>
              <a:ext cx="1478756" cy="408735"/>
            </a:xfrm>
            <a:prstGeom prst="rect">
              <a:avLst/>
            </a:prstGeom>
          </p:spPr>
          <p:style>
            <a:lnRef idx="2">
              <a:schemeClr val="accent5">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sp>
        <p:sp>
          <p:nvSpPr>
            <p:cNvPr id="12" name="Suorakulmio 11"/>
            <p:cNvSpPr/>
            <p:nvPr/>
          </p:nvSpPr>
          <p:spPr>
            <a:xfrm>
              <a:off x="5061204" y="770608"/>
              <a:ext cx="1478756" cy="40873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6896" tIns="32512" rIns="56896" bIns="32512" numCol="1" spcCol="1270" anchor="ctr" anchorCtr="0">
              <a:noAutofit/>
            </a:bodyPr>
            <a:lstStyle/>
            <a:p>
              <a:pPr lvl="0" algn="ctr" defTabSz="355600" rtl="0">
                <a:lnSpc>
                  <a:spcPct val="90000"/>
                </a:lnSpc>
                <a:spcBef>
                  <a:spcPct val="0"/>
                </a:spcBef>
                <a:spcAft>
                  <a:spcPct val="35000"/>
                </a:spcAft>
              </a:pPr>
              <a:r>
                <a:rPr lang="fi-FI" sz="800" kern="1200" dirty="0" smtClean="0"/>
                <a:t>Hyväksymistestien suunnittelu</a:t>
              </a:r>
              <a:endParaRPr lang="fi-FI" sz="800" kern="1200" dirty="0"/>
            </a:p>
          </p:txBody>
        </p:sp>
      </p:grpSp>
      <p:grpSp>
        <p:nvGrpSpPr>
          <p:cNvPr id="6" name="Ryhmä 7"/>
          <p:cNvGrpSpPr/>
          <p:nvPr/>
        </p:nvGrpSpPr>
        <p:grpSpPr>
          <a:xfrm>
            <a:off x="7204186" y="5382465"/>
            <a:ext cx="1478756" cy="408735"/>
            <a:chOff x="6746986" y="770608"/>
            <a:chExt cx="1478756" cy="408735"/>
          </a:xfrm>
        </p:grpSpPr>
        <p:sp>
          <p:nvSpPr>
            <p:cNvPr id="9" name="Suorakulmio 8"/>
            <p:cNvSpPr/>
            <p:nvPr/>
          </p:nvSpPr>
          <p:spPr>
            <a:xfrm>
              <a:off x="6746986" y="770608"/>
              <a:ext cx="1478756" cy="408735"/>
            </a:xfrm>
            <a:prstGeom prst="rect">
              <a:avLst/>
            </a:prstGeom>
          </p:spPr>
          <p:style>
            <a:lnRef idx="2">
              <a:schemeClr val="accent6">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sp>
        <p:sp>
          <p:nvSpPr>
            <p:cNvPr id="10" name="Suorakulmio 9"/>
            <p:cNvSpPr/>
            <p:nvPr/>
          </p:nvSpPr>
          <p:spPr>
            <a:xfrm>
              <a:off x="6746986" y="770608"/>
              <a:ext cx="1478756" cy="40873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6896" tIns="32512" rIns="56896" bIns="32512" numCol="1" spcCol="1270" anchor="ctr" anchorCtr="0">
              <a:noAutofit/>
            </a:bodyPr>
            <a:lstStyle/>
            <a:p>
              <a:pPr lvl="0" algn="ctr" defTabSz="355600" rtl="0">
                <a:lnSpc>
                  <a:spcPct val="90000"/>
                </a:lnSpc>
                <a:spcBef>
                  <a:spcPct val="0"/>
                </a:spcBef>
                <a:spcAft>
                  <a:spcPct val="35000"/>
                </a:spcAft>
              </a:pPr>
              <a:r>
                <a:rPr lang="fi-FI" sz="800" kern="1200" smtClean="0"/>
                <a:t>Testaaminen</a:t>
              </a:r>
              <a:endParaRPr lang="fi-FI" sz="800" kern="1200"/>
            </a:p>
          </p:txBody>
        </p:sp>
      </p:grpSp>
      <p:sp>
        <p:nvSpPr>
          <p:cNvPr id="19" name="Suorakulmio 18"/>
          <p:cNvSpPr/>
          <p:nvPr/>
        </p:nvSpPr>
        <p:spPr>
          <a:xfrm>
            <a:off x="461057" y="4783088"/>
            <a:ext cx="8221885" cy="36004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fi-FI" sz="1200" dirty="0" smtClean="0"/>
              <a:t>Testaus/laadunvarmistusnäkökulma projektin läpiviennissä</a:t>
            </a:r>
            <a:endParaRPr lang="fi-FI" sz="1200" dirty="0"/>
          </a:p>
        </p:txBody>
      </p:sp>
      <p:sp>
        <p:nvSpPr>
          <p:cNvPr id="20" name="Suorakulmio 19"/>
          <p:cNvSpPr/>
          <p:nvPr/>
        </p:nvSpPr>
        <p:spPr>
          <a:xfrm>
            <a:off x="3707904" y="4351040"/>
            <a:ext cx="4975038" cy="36004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fi-FI" sz="1200" dirty="0" smtClean="0"/>
              <a:t>Hyväksymistestauksen läpivienti</a:t>
            </a:r>
            <a:endParaRPr lang="fi-FI" sz="1200" dirty="0"/>
          </a:p>
        </p:txBody>
      </p:sp>
      <p:sp>
        <p:nvSpPr>
          <p:cNvPr id="21" name="Suorakulmio 20"/>
          <p:cNvSpPr/>
          <p:nvPr/>
        </p:nvSpPr>
        <p:spPr>
          <a:xfrm>
            <a:off x="1979712" y="3918992"/>
            <a:ext cx="5017447" cy="36004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fi-FI" sz="1200" dirty="0" smtClean="0"/>
              <a:t>Toimittajien testauksen valvonta ja liiketoiminnan testaustuen organisointi</a:t>
            </a:r>
            <a:endParaRPr lang="fi-FI" sz="1200" dirty="0"/>
          </a:p>
        </p:txBody>
      </p:sp>
      <p:sp>
        <p:nvSpPr>
          <p:cNvPr id="22" name="Suorakulmio 21"/>
          <p:cNvSpPr/>
          <p:nvPr/>
        </p:nvSpPr>
        <p:spPr>
          <a:xfrm>
            <a:off x="3707904" y="3486944"/>
            <a:ext cx="4975037" cy="36004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fi-FI" sz="1200" dirty="0" smtClean="0"/>
              <a:t>Vaatimusten ja määrittelyjen tuki, muutokset ja virheet</a:t>
            </a:r>
            <a:endParaRPr lang="fi-FI" sz="1200" dirty="0"/>
          </a:p>
        </p:txBody>
      </p:sp>
      <p:sp>
        <p:nvSpPr>
          <p:cNvPr id="23" name="Suorakulmio 22"/>
          <p:cNvSpPr/>
          <p:nvPr/>
        </p:nvSpPr>
        <p:spPr>
          <a:xfrm>
            <a:off x="3707904" y="3054896"/>
            <a:ext cx="4975037" cy="36004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fi-FI" sz="1200" dirty="0" smtClean="0"/>
              <a:t>Testitapaukset ja aineistot, tuki</a:t>
            </a:r>
            <a:endParaRPr lang="fi-FI" sz="1200" dirty="0"/>
          </a:p>
        </p:txBody>
      </p:sp>
      <p:sp>
        <p:nvSpPr>
          <p:cNvPr id="24" name="Suorakulmio 23"/>
          <p:cNvSpPr/>
          <p:nvPr/>
        </p:nvSpPr>
        <p:spPr>
          <a:xfrm>
            <a:off x="3707904" y="2622848"/>
            <a:ext cx="4975037" cy="36004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fi-FI" sz="1200" dirty="0" smtClean="0"/>
              <a:t>Testauksen erityislajit (aloitus, suorituskyky, tietoturva, koodin laatu, luotettavuus, automaatio, ympäristöjen luominen ja muuttaminen)</a:t>
            </a:r>
            <a:endParaRPr lang="fi-FI" sz="1200" dirty="0"/>
          </a:p>
        </p:txBody>
      </p:sp>
      <p:sp>
        <p:nvSpPr>
          <p:cNvPr id="41" name="Otsikko 40"/>
          <p:cNvSpPr>
            <a:spLocks noGrp="1"/>
          </p:cNvSpPr>
          <p:nvPr>
            <p:ph type="title"/>
          </p:nvPr>
        </p:nvSpPr>
        <p:spPr/>
        <p:txBody>
          <a:bodyPr/>
          <a:lstStyle/>
          <a:p>
            <a:r>
              <a:rPr lang="fi-FI" dirty="0" smtClean="0"/>
              <a:t>Testauksen tehtäväryhmät</a:t>
            </a:r>
            <a:endParaRPr lang="fi-FI" dirty="0"/>
          </a:p>
        </p:txBody>
      </p:sp>
      <p:sp>
        <p:nvSpPr>
          <p:cNvPr id="42" name="Suorakulmio 41"/>
          <p:cNvSpPr/>
          <p:nvPr/>
        </p:nvSpPr>
        <p:spPr>
          <a:xfrm>
            <a:off x="3707904" y="2190800"/>
            <a:ext cx="4975037" cy="36004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fi-FI" sz="1200" dirty="0" smtClean="0"/>
              <a:t>Testaustoimintatapojen sopeuttaminen ja kehittäminen</a:t>
            </a:r>
            <a:endParaRPr lang="fi-FI" sz="1200" dirty="0"/>
          </a:p>
        </p:txBody>
      </p:sp>
      <p:sp>
        <p:nvSpPr>
          <p:cNvPr id="40" name="Suorakulmio 39"/>
          <p:cNvSpPr/>
          <p:nvPr/>
        </p:nvSpPr>
        <p:spPr>
          <a:xfrm>
            <a:off x="1979712" y="1758752"/>
            <a:ext cx="5017447" cy="36004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fi-FI" sz="1200" dirty="0" smtClean="0"/>
              <a:t>Toimittajan testauskysymyksiin (aikataulu, laajuus, kustannukset, esteet) vastaaminen ja ratkominen</a:t>
            </a:r>
            <a:endParaRPr lang="fi-FI" sz="1200" dirty="0"/>
          </a:p>
        </p:txBody>
      </p:sp>
      <p:sp>
        <p:nvSpPr>
          <p:cNvPr id="47" name="Suorakulmio 46"/>
          <p:cNvSpPr/>
          <p:nvPr/>
        </p:nvSpPr>
        <p:spPr>
          <a:xfrm>
            <a:off x="467544" y="1326704"/>
            <a:ext cx="8208912" cy="36004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fi-FI" sz="1200" dirty="0" smtClean="0"/>
              <a:t>Testauksen linjausasioiden valmistelu &amp; esittäminen </a:t>
            </a:r>
            <a:r>
              <a:rPr lang="fi-FI" sz="1200" dirty="0" err="1" smtClean="0"/>
              <a:t>ohry-tasolla</a:t>
            </a:r>
            <a:endParaRPr lang="fi-FI" sz="1200" dirty="0"/>
          </a:p>
        </p:txBody>
      </p:sp>
      <p:sp>
        <p:nvSpPr>
          <p:cNvPr id="27" name="Slide Number Placeholder 26"/>
          <p:cNvSpPr>
            <a:spLocks noGrp="1"/>
          </p:cNvSpPr>
          <p:nvPr>
            <p:ph type="sldNum" sz="quarter" idx="12"/>
          </p:nvPr>
        </p:nvSpPr>
        <p:spPr/>
        <p:txBody>
          <a:bodyPr/>
          <a:lstStyle/>
          <a:p>
            <a:fld id="{1FC54B03-E980-44E0-A0F1-6CAD9D10ECFB}" type="slidenum">
              <a:rPr lang="fi-FI" smtClean="0"/>
              <a:pPr/>
              <a:t>165</a:t>
            </a:fld>
            <a:endParaRPr lang="fi-FI"/>
          </a:p>
        </p:txBody>
      </p:sp>
    </p:spTree>
    <p:extLst>
      <p:ext uri="{BB962C8B-B14F-4D97-AF65-F5344CB8AC3E}">
        <p14:creationId xmlns:p14="http://schemas.microsoft.com/office/powerpoint/2010/main" val="264032162"/>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Hyväksymistestauksen materiaalien antaminen toimittajalle</a:t>
            </a:r>
            <a:endParaRPr lang="fi-FI" dirty="0"/>
          </a:p>
        </p:txBody>
      </p:sp>
      <p:sp>
        <p:nvSpPr>
          <p:cNvPr id="3" name="Content Placeholder 2"/>
          <p:cNvSpPr>
            <a:spLocks noGrp="1"/>
          </p:cNvSpPr>
          <p:nvPr>
            <p:ph idx="1"/>
          </p:nvPr>
        </p:nvSpPr>
        <p:spPr/>
        <p:txBody>
          <a:bodyPr>
            <a:normAutofit fontScale="62500" lnSpcReduction="20000"/>
          </a:bodyPr>
          <a:lstStyle/>
          <a:p>
            <a:r>
              <a:rPr lang="fi-FI" dirty="0" smtClean="0"/>
              <a:t>Hyväksymistestauksen materiaaleja ovat:</a:t>
            </a:r>
          </a:p>
          <a:p>
            <a:pPr lvl="1"/>
            <a:r>
              <a:rPr lang="fi-FI" dirty="0" smtClean="0"/>
              <a:t>Testaussuunnitelma</a:t>
            </a:r>
          </a:p>
          <a:p>
            <a:pPr lvl="1"/>
            <a:r>
              <a:rPr lang="fi-FI" dirty="0" smtClean="0"/>
              <a:t>Testitapaukset</a:t>
            </a:r>
          </a:p>
          <a:p>
            <a:pPr lvl="1"/>
            <a:r>
              <a:rPr lang="fi-FI" dirty="0" smtClean="0"/>
              <a:t>Testiaineistot</a:t>
            </a:r>
          </a:p>
          <a:p>
            <a:pPr lvl="1"/>
            <a:r>
              <a:rPr lang="fi-FI" dirty="0" smtClean="0"/>
              <a:t>...</a:t>
            </a:r>
          </a:p>
          <a:p>
            <a:r>
              <a:rPr lang="fi-FI" dirty="0" smtClean="0"/>
              <a:t>Mietittävä:</a:t>
            </a:r>
          </a:p>
          <a:p>
            <a:pPr lvl="1"/>
            <a:r>
              <a:rPr lang="fi-FI" dirty="0" smtClean="0"/>
              <a:t>Sisäiseksi tarkoitettu materiaali saattaa sisältää asioita joita ei ole tarkoitettu toimittajalle: tarvitaanko kaksi suunnitelmaa?</a:t>
            </a:r>
          </a:p>
          <a:p>
            <a:pPr lvl="1"/>
            <a:r>
              <a:rPr lang="fi-FI" dirty="0" smtClean="0"/>
              <a:t>Testitapaukset ohjaavat toimittajan keskittämään voimavaransa sen varmistamiseen että hyväksymistestit läpäistään. Jos hyväksymistestit ovat otos, tämä ei ole riittävää.</a:t>
            </a:r>
          </a:p>
          <a:p>
            <a:r>
              <a:rPr lang="fi-FI" dirty="0" smtClean="0"/>
              <a:t>Materiaalien luovuttaminen toimittajille jakaa mielipiteet</a:t>
            </a:r>
          </a:p>
          <a:p>
            <a:pPr lvl="1"/>
            <a:r>
              <a:rPr lang="fi-FI" dirty="0" smtClean="0"/>
              <a:t>Puolesta: varmistetaan että edes nämä toimivat</a:t>
            </a:r>
          </a:p>
          <a:p>
            <a:pPr lvl="1"/>
            <a:r>
              <a:rPr lang="fi-FI" dirty="0" smtClean="0"/>
              <a:t>Vastaan: toimittajan tulee itse ohjata testaustaan</a:t>
            </a:r>
          </a:p>
          <a:p>
            <a:r>
              <a:rPr lang="fi-FI" dirty="0" smtClean="0"/>
              <a:t>Materiaalin luovuttaminen ei tuota samaa tulosta eri henkilöillä</a:t>
            </a:r>
            <a:endParaRPr lang="fi-FI" dirty="0"/>
          </a:p>
        </p:txBody>
      </p:sp>
      <p:pic>
        <p:nvPicPr>
          <p:cNvPr id="3074" name="Picture 2" descr="E:\Documents and Settings\maarit\Local Settings\Temporary Internet Files\Content.IE5\D5A60OM1\MC900352441[1].wmf"/>
          <p:cNvPicPr>
            <a:picLocks noChangeAspect="1" noChangeArrowheads="1"/>
          </p:cNvPicPr>
          <p:nvPr/>
        </p:nvPicPr>
        <p:blipFill>
          <a:blip r:embed="rId3" cstate="print"/>
          <a:srcRect/>
          <a:stretch>
            <a:fillRect/>
          </a:stretch>
        </p:blipFill>
        <p:spPr bwMode="auto">
          <a:xfrm>
            <a:off x="6718300" y="1730375"/>
            <a:ext cx="1782763" cy="1243013"/>
          </a:xfrm>
          <a:prstGeom prst="rect">
            <a:avLst/>
          </a:prstGeom>
          <a:noFill/>
        </p:spPr>
      </p:pic>
      <p:sp>
        <p:nvSpPr>
          <p:cNvPr id="5" name="Slide Number Placeholder 4"/>
          <p:cNvSpPr>
            <a:spLocks noGrp="1"/>
          </p:cNvSpPr>
          <p:nvPr>
            <p:ph type="sldNum" sz="quarter" idx="12"/>
          </p:nvPr>
        </p:nvSpPr>
        <p:spPr/>
        <p:txBody>
          <a:bodyPr/>
          <a:lstStyle/>
          <a:p>
            <a:fld id="{7A750B4A-325E-4AA4-BC07-A8C35B32A4F3}" type="slidenum">
              <a:rPr lang="fi-FI" smtClean="0"/>
              <a:pPr/>
              <a:t>166</a:t>
            </a:fld>
            <a:endParaRPr lang="fi-FI"/>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8" name="Slide Number Placeholder 5"/>
          <p:cNvSpPr>
            <a:spLocks noGrp="1"/>
          </p:cNvSpPr>
          <p:nvPr>
            <p:ph type="sldNum" sz="quarter" idx="11"/>
          </p:nvPr>
        </p:nvSpPr>
        <p:spPr/>
        <p:txBody>
          <a:bodyPr/>
          <a:lstStyle/>
          <a:p>
            <a:pPr>
              <a:defRPr/>
            </a:pPr>
            <a:fld id="{11386E6F-B126-4757-BE05-CFBEADC00970}" type="slidenum">
              <a:rPr lang="en-GB"/>
              <a:pPr>
                <a:defRPr/>
              </a:pPr>
              <a:t>167</a:t>
            </a:fld>
            <a:endParaRPr lang="en-GB"/>
          </a:p>
        </p:txBody>
      </p:sp>
      <p:sp>
        <p:nvSpPr>
          <p:cNvPr id="169986" name="Rectangle 2"/>
          <p:cNvSpPr>
            <a:spLocks noGrp="1" noChangeArrowheads="1"/>
          </p:cNvSpPr>
          <p:nvPr>
            <p:ph type="title"/>
          </p:nvPr>
        </p:nvSpPr>
        <p:spPr/>
        <p:txBody>
          <a:bodyPr>
            <a:noAutofit/>
          </a:bodyPr>
          <a:lstStyle/>
          <a:p>
            <a:r>
              <a:rPr lang="en-US" sz="2400" dirty="0" err="1" smtClean="0"/>
              <a:t>Esimerkki</a:t>
            </a:r>
            <a:r>
              <a:rPr lang="en-US" sz="2400" dirty="0" smtClean="0"/>
              <a:t>: </a:t>
            </a:r>
            <a:r>
              <a:rPr lang="en-US" sz="2400" dirty="0" err="1" smtClean="0"/>
              <a:t>Testauksen</a:t>
            </a:r>
            <a:r>
              <a:rPr lang="en-US" sz="2400" dirty="0" smtClean="0"/>
              <a:t> </a:t>
            </a:r>
            <a:r>
              <a:rPr lang="en-US" sz="2400" dirty="0" err="1" smtClean="0"/>
              <a:t>suunnittelun</a:t>
            </a:r>
            <a:r>
              <a:rPr lang="en-US" sz="2400" dirty="0" smtClean="0"/>
              <a:t> </a:t>
            </a:r>
            <a:br>
              <a:rPr lang="en-US" sz="2400" dirty="0" smtClean="0"/>
            </a:br>
            <a:r>
              <a:rPr lang="en-US" sz="2400" dirty="0" err="1" smtClean="0"/>
              <a:t>ja</a:t>
            </a:r>
            <a:r>
              <a:rPr lang="en-US" sz="2400" dirty="0" smtClean="0"/>
              <a:t> </a:t>
            </a:r>
            <a:r>
              <a:rPr lang="en-US" sz="2400" dirty="0" err="1" smtClean="0"/>
              <a:t>hallinnan</a:t>
            </a:r>
            <a:r>
              <a:rPr lang="en-US" sz="2400" dirty="0" smtClean="0"/>
              <a:t> </a:t>
            </a:r>
            <a:r>
              <a:rPr lang="en-US" sz="2400" dirty="0" err="1" smtClean="0"/>
              <a:t>tehtäviä</a:t>
            </a:r>
            <a:r>
              <a:rPr lang="en-US" sz="2400" dirty="0" smtClean="0"/>
              <a:t> TMap-</a:t>
            </a:r>
            <a:r>
              <a:rPr lang="en-US" sz="2400" dirty="0" err="1" smtClean="0"/>
              <a:t>testausmenetelmässä</a:t>
            </a:r>
            <a:endParaRPr lang="en-GB" sz="2400" dirty="0"/>
          </a:p>
        </p:txBody>
      </p:sp>
      <p:sp>
        <p:nvSpPr>
          <p:cNvPr id="169987" name="Rectangle 3"/>
          <p:cNvSpPr>
            <a:spLocks noGrp="1"/>
          </p:cNvSpPr>
          <p:nvPr>
            <p:ph type="body" sz="half" idx="1"/>
          </p:nvPr>
        </p:nvSpPr>
        <p:spPr>
          <a:xfrm>
            <a:off x="571500" y="3573463"/>
            <a:ext cx="4260850" cy="2667000"/>
          </a:xfrm>
          <a:solidFill>
            <a:srgbClr val="EAEAEA"/>
          </a:solidFill>
          <a:ln>
            <a:solidFill>
              <a:schemeClr val="hlink"/>
            </a:solidFill>
          </a:ln>
        </p:spPr>
        <p:txBody>
          <a:bodyPr>
            <a:normAutofit/>
          </a:bodyPr>
          <a:lstStyle/>
          <a:p>
            <a:pPr marL="263525" indent="-263525">
              <a:lnSpc>
                <a:spcPct val="90000"/>
              </a:lnSpc>
            </a:pPr>
            <a:r>
              <a:rPr lang="en-GB" sz="1400" b="1" dirty="0" smtClean="0">
                <a:solidFill>
                  <a:srgbClr val="000099"/>
                </a:solidFill>
              </a:rPr>
              <a:t>Planning / </a:t>
            </a:r>
            <a:r>
              <a:rPr lang="en-GB" sz="1400" b="1" dirty="0" err="1" smtClean="0">
                <a:solidFill>
                  <a:srgbClr val="000099"/>
                </a:solidFill>
              </a:rPr>
              <a:t>Suunnittelu</a:t>
            </a:r>
            <a:endParaRPr lang="en-GB" sz="1400" b="1" dirty="0">
              <a:solidFill>
                <a:srgbClr val="000099"/>
              </a:solidFill>
            </a:endParaRPr>
          </a:p>
          <a:p>
            <a:pPr marL="806450" lvl="1" indent="-357188">
              <a:lnSpc>
                <a:spcPct val="90000"/>
              </a:lnSpc>
              <a:buFont typeface="Wingdings" pitchFamily="2" charset="2"/>
              <a:buAutoNum type="arabicPeriod"/>
            </a:pPr>
            <a:r>
              <a:rPr lang="en-US" sz="1400" dirty="0">
                <a:solidFill>
                  <a:srgbClr val="000099"/>
                </a:solidFill>
              </a:rPr>
              <a:t>Formulating the assignment</a:t>
            </a:r>
          </a:p>
          <a:p>
            <a:pPr marL="806450" lvl="1" indent="-357188">
              <a:lnSpc>
                <a:spcPct val="90000"/>
              </a:lnSpc>
              <a:buFont typeface="Wingdings" pitchFamily="2" charset="2"/>
              <a:buAutoNum type="arabicPeriod"/>
            </a:pPr>
            <a:r>
              <a:rPr lang="en-US" sz="1400" dirty="0">
                <a:solidFill>
                  <a:srgbClr val="000099"/>
                </a:solidFill>
              </a:rPr>
              <a:t>Global review and study</a:t>
            </a:r>
          </a:p>
          <a:p>
            <a:pPr marL="806450" lvl="1" indent="-357188">
              <a:lnSpc>
                <a:spcPct val="90000"/>
              </a:lnSpc>
              <a:buFont typeface="Wingdings" pitchFamily="2" charset="2"/>
              <a:buAutoNum type="arabicPeriod"/>
            </a:pPr>
            <a:r>
              <a:rPr lang="en-US" sz="1400" dirty="0">
                <a:solidFill>
                  <a:srgbClr val="000099"/>
                </a:solidFill>
              </a:rPr>
              <a:t>Establishing the test basis</a:t>
            </a:r>
          </a:p>
          <a:p>
            <a:pPr marL="806450" lvl="1" indent="-357188">
              <a:lnSpc>
                <a:spcPct val="90000"/>
              </a:lnSpc>
              <a:buFont typeface="Wingdings" pitchFamily="2" charset="2"/>
              <a:buAutoNum type="arabicPeriod"/>
            </a:pPr>
            <a:r>
              <a:rPr lang="en-US" sz="1400" dirty="0">
                <a:solidFill>
                  <a:srgbClr val="000099"/>
                </a:solidFill>
              </a:rPr>
              <a:t>Determining the test strategy</a:t>
            </a:r>
          </a:p>
          <a:p>
            <a:pPr marL="806450" lvl="1" indent="-357188">
              <a:lnSpc>
                <a:spcPct val="90000"/>
              </a:lnSpc>
              <a:buFont typeface="Wingdings" pitchFamily="2" charset="2"/>
              <a:buAutoNum type="arabicPeriod"/>
            </a:pPr>
            <a:r>
              <a:rPr lang="en-US" sz="1400" dirty="0">
                <a:solidFill>
                  <a:srgbClr val="000099"/>
                </a:solidFill>
              </a:rPr>
              <a:t>Setting up the organization</a:t>
            </a:r>
          </a:p>
          <a:p>
            <a:pPr marL="806450" lvl="1" indent="-357188">
              <a:lnSpc>
                <a:spcPct val="90000"/>
              </a:lnSpc>
              <a:buFont typeface="Wingdings" pitchFamily="2" charset="2"/>
              <a:buAutoNum type="arabicPeriod"/>
            </a:pPr>
            <a:r>
              <a:rPr lang="en-US" sz="1400" dirty="0">
                <a:solidFill>
                  <a:srgbClr val="000099"/>
                </a:solidFill>
              </a:rPr>
              <a:t>Specifying test deliverables</a:t>
            </a:r>
          </a:p>
          <a:p>
            <a:pPr marL="806450" lvl="1" indent="-357188">
              <a:lnSpc>
                <a:spcPct val="90000"/>
              </a:lnSpc>
              <a:buFont typeface="Wingdings" pitchFamily="2" charset="2"/>
              <a:buAutoNum type="arabicPeriod"/>
            </a:pPr>
            <a:r>
              <a:rPr lang="en-US" sz="1400" dirty="0">
                <a:solidFill>
                  <a:srgbClr val="000099"/>
                </a:solidFill>
              </a:rPr>
              <a:t>Specifying the infrastructure</a:t>
            </a:r>
          </a:p>
          <a:p>
            <a:pPr marL="806450" lvl="1" indent="-357188">
              <a:lnSpc>
                <a:spcPct val="90000"/>
              </a:lnSpc>
              <a:buFont typeface="Wingdings" pitchFamily="2" charset="2"/>
              <a:buAutoNum type="arabicPeriod"/>
            </a:pPr>
            <a:r>
              <a:rPr lang="en-US" sz="1400" dirty="0">
                <a:solidFill>
                  <a:srgbClr val="000099"/>
                </a:solidFill>
              </a:rPr>
              <a:t>Organizing management and control</a:t>
            </a:r>
          </a:p>
          <a:p>
            <a:pPr marL="806450" lvl="1" indent="-357188">
              <a:lnSpc>
                <a:spcPct val="90000"/>
              </a:lnSpc>
              <a:buFont typeface="Wingdings" pitchFamily="2" charset="2"/>
              <a:buAutoNum type="arabicPeriod"/>
            </a:pPr>
            <a:r>
              <a:rPr lang="en-US" sz="1400" dirty="0">
                <a:solidFill>
                  <a:srgbClr val="000099"/>
                </a:solidFill>
              </a:rPr>
              <a:t>Setting up schedules</a:t>
            </a:r>
          </a:p>
          <a:p>
            <a:pPr marL="806450" lvl="1" indent="-357188">
              <a:lnSpc>
                <a:spcPct val="90000"/>
              </a:lnSpc>
              <a:buFont typeface="Wingdings" pitchFamily="2" charset="2"/>
              <a:buAutoNum type="arabicPeriod"/>
            </a:pPr>
            <a:r>
              <a:rPr lang="en-US" sz="1400" dirty="0">
                <a:solidFill>
                  <a:srgbClr val="000099"/>
                </a:solidFill>
              </a:rPr>
              <a:t>Consolidating the test plan</a:t>
            </a:r>
            <a:endParaRPr lang="en-GB" sz="1400" dirty="0">
              <a:solidFill>
                <a:srgbClr val="000099"/>
              </a:solidFill>
            </a:endParaRPr>
          </a:p>
        </p:txBody>
      </p:sp>
      <p:sp>
        <p:nvSpPr>
          <p:cNvPr id="169988" name="Rectangle 4"/>
          <p:cNvSpPr>
            <a:spLocks noGrp="1"/>
          </p:cNvSpPr>
          <p:nvPr>
            <p:ph type="body" sz="half" idx="2"/>
          </p:nvPr>
        </p:nvSpPr>
        <p:spPr>
          <a:xfrm>
            <a:off x="5219700" y="3573463"/>
            <a:ext cx="2867025" cy="2667000"/>
          </a:xfrm>
          <a:solidFill>
            <a:srgbClr val="EAEAEA"/>
          </a:solidFill>
          <a:ln>
            <a:solidFill>
              <a:schemeClr val="hlink"/>
            </a:solidFill>
          </a:ln>
        </p:spPr>
        <p:txBody>
          <a:bodyPr>
            <a:normAutofit/>
          </a:bodyPr>
          <a:lstStyle/>
          <a:p>
            <a:pPr marL="263525" indent="-263525"/>
            <a:r>
              <a:rPr lang="en-GB" sz="1400" b="1" dirty="0" smtClean="0">
                <a:solidFill>
                  <a:srgbClr val="000099"/>
                </a:solidFill>
              </a:rPr>
              <a:t>Control / </a:t>
            </a:r>
            <a:r>
              <a:rPr lang="en-GB" sz="1400" b="1" dirty="0" err="1" smtClean="0">
                <a:solidFill>
                  <a:srgbClr val="000099"/>
                </a:solidFill>
              </a:rPr>
              <a:t>Hallinta</a:t>
            </a:r>
            <a:endParaRPr lang="en-GB" sz="1400" b="1" dirty="0">
              <a:solidFill>
                <a:srgbClr val="000099"/>
              </a:solidFill>
            </a:endParaRPr>
          </a:p>
          <a:p>
            <a:pPr marL="898525" lvl="1" indent="-449263">
              <a:buFont typeface="Wingdings" pitchFamily="2" charset="2"/>
              <a:buAutoNum type="arabicPeriod" startAt="11"/>
            </a:pPr>
            <a:r>
              <a:rPr lang="en-US" sz="1400" dirty="0">
                <a:solidFill>
                  <a:srgbClr val="000099"/>
                </a:solidFill>
              </a:rPr>
              <a:t>Maintaining the test plan</a:t>
            </a:r>
          </a:p>
          <a:p>
            <a:pPr marL="898525" lvl="1" indent="-449263">
              <a:buFont typeface="Wingdings" pitchFamily="2" charset="2"/>
              <a:buAutoNum type="arabicPeriod" startAt="11"/>
            </a:pPr>
            <a:r>
              <a:rPr lang="en-US" sz="1400" dirty="0">
                <a:solidFill>
                  <a:srgbClr val="000099"/>
                </a:solidFill>
              </a:rPr>
              <a:t>Controlling the test</a:t>
            </a:r>
          </a:p>
          <a:p>
            <a:pPr marL="898525" lvl="1" indent="-449263">
              <a:buFont typeface="Wingdings" pitchFamily="2" charset="2"/>
              <a:buAutoNum type="arabicPeriod" startAt="11"/>
            </a:pPr>
            <a:r>
              <a:rPr lang="en-US" sz="1400" dirty="0">
                <a:solidFill>
                  <a:srgbClr val="000099"/>
                </a:solidFill>
              </a:rPr>
              <a:t>Reporting</a:t>
            </a:r>
          </a:p>
          <a:p>
            <a:pPr marL="898525" lvl="1" indent="-449263">
              <a:buFont typeface="Wingdings" pitchFamily="2" charset="2"/>
              <a:buAutoNum type="arabicPeriod" startAt="11"/>
            </a:pPr>
            <a:r>
              <a:rPr lang="en-US" sz="1400" dirty="0">
                <a:solidFill>
                  <a:srgbClr val="000099"/>
                </a:solidFill>
              </a:rPr>
              <a:t>Establishing detailed schedules</a:t>
            </a:r>
            <a:endParaRPr lang="en-GB" sz="1400" dirty="0">
              <a:solidFill>
                <a:srgbClr val="000099"/>
              </a:solidFill>
            </a:endParaRPr>
          </a:p>
        </p:txBody>
      </p:sp>
      <p:grpSp>
        <p:nvGrpSpPr>
          <p:cNvPr id="2" name="Group 5"/>
          <p:cNvGrpSpPr>
            <a:grpSpLocks/>
          </p:cNvGrpSpPr>
          <p:nvPr/>
        </p:nvGrpSpPr>
        <p:grpSpPr bwMode="auto">
          <a:xfrm>
            <a:off x="608013" y="1416050"/>
            <a:ext cx="7962900" cy="1919288"/>
            <a:chOff x="227" y="2234"/>
            <a:chExt cx="5016" cy="1209"/>
          </a:xfrm>
        </p:grpSpPr>
        <p:sp>
          <p:nvSpPr>
            <p:cNvPr id="169990" name="Rectangle 6"/>
            <p:cNvSpPr>
              <a:spLocks noChangeArrowheads="1"/>
            </p:cNvSpPr>
            <p:nvPr/>
          </p:nvSpPr>
          <p:spPr bwMode="auto">
            <a:xfrm>
              <a:off x="4267" y="2673"/>
              <a:ext cx="497" cy="339"/>
            </a:xfrm>
            <a:prstGeom prst="rect">
              <a:avLst/>
            </a:prstGeom>
            <a:noFill/>
            <a:ln w="19050">
              <a:solidFill>
                <a:schemeClr val="hlink"/>
              </a:solidFill>
              <a:miter lim="800000"/>
              <a:headEnd/>
              <a:tailEnd/>
            </a:ln>
            <a:effectLst/>
          </p:spPr>
          <p:txBody>
            <a:bodyPr wrap="none" anchor="ctr"/>
            <a:lstStyle/>
            <a:p>
              <a:endParaRPr lang="en-GB"/>
            </a:p>
          </p:txBody>
        </p:sp>
        <p:sp>
          <p:nvSpPr>
            <p:cNvPr id="169991" name="Rectangle 7"/>
            <p:cNvSpPr>
              <a:spLocks noChangeArrowheads="1"/>
            </p:cNvSpPr>
            <p:nvPr/>
          </p:nvSpPr>
          <p:spPr bwMode="auto">
            <a:xfrm>
              <a:off x="4267" y="2341"/>
              <a:ext cx="497" cy="997"/>
            </a:xfrm>
            <a:prstGeom prst="rect">
              <a:avLst/>
            </a:prstGeom>
            <a:noFill/>
            <a:ln w="19050">
              <a:solidFill>
                <a:schemeClr val="hlink"/>
              </a:solidFill>
              <a:miter lim="800000"/>
              <a:headEnd/>
              <a:tailEnd/>
            </a:ln>
            <a:effectLst/>
          </p:spPr>
          <p:txBody>
            <a:bodyPr wrap="none" anchor="ctr"/>
            <a:lstStyle/>
            <a:p>
              <a:endParaRPr lang="en-GB"/>
            </a:p>
          </p:txBody>
        </p:sp>
        <p:sp>
          <p:nvSpPr>
            <p:cNvPr id="169992" name="Rectangle 8"/>
            <p:cNvSpPr>
              <a:spLocks noChangeArrowheads="1"/>
            </p:cNvSpPr>
            <p:nvPr/>
          </p:nvSpPr>
          <p:spPr bwMode="auto">
            <a:xfrm>
              <a:off x="2423" y="2533"/>
              <a:ext cx="497" cy="615"/>
            </a:xfrm>
            <a:prstGeom prst="rect">
              <a:avLst/>
            </a:prstGeom>
            <a:noFill/>
            <a:ln w="19050">
              <a:solidFill>
                <a:schemeClr val="hlink"/>
              </a:solidFill>
              <a:miter lim="800000"/>
              <a:headEnd/>
              <a:tailEnd/>
            </a:ln>
            <a:effectLst/>
          </p:spPr>
          <p:txBody>
            <a:bodyPr wrap="none" anchor="ctr"/>
            <a:lstStyle/>
            <a:p>
              <a:endParaRPr lang="en-GB"/>
            </a:p>
          </p:txBody>
        </p:sp>
        <p:sp>
          <p:nvSpPr>
            <p:cNvPr id="169993" name="Rectangle 9"/>
            <p:cNvSpPr>
              <a:spLocks noChangeArrowheads="1"/>
            </p:cNvSpPr>
            <p:nvPr/>
          </p:nvSpPr>
          <p:spPr bwMode="auto">
            <a:xfrm>
              <a:off x="733" y="2737"/>
              <a:ext cx="335" cy="207"/>
            </a:xfrm>
            <a:prstGeom prst="rect">
              <a:avLst/>
            </a:prstGeom>
            <a:solidFill>
              <a:schemeClr val="bg1"/>
            </a:solidFill>
            <a:ln w="38100">
              <a:solidFill>
                <a:schemeClr val="hlink"/>
              </a:solidFill>
              <a:miter lim="800000"/>
              <a:headEnd/>
              <a:tailEnd/>
            </a:ln>
            <a:effectLst/>
          </p:spPr>
          <p:txBody>
            <a:bodyPr wrap="none" anchor="ctr"/>
            <a:lstStyle/>
            <a:p>
              <a:pPr algn="ctr" eaLnBrk="0" hangingPunct="0"/>
              <a:r>
                <a:rPr lang="en-GB">
                  <a:solidFill>
                    <a:schemeClr val="folHlink"/>
                  </a:solidFill>
                  <a:latin typeface="Verdana" pitchFamily="34" charset="0"/>
                </a:rPr>
                <a:t>1</a:t>
              </a:r>
            </a:p>
          </p:txBody>
        </p:sp>
        <p:sp>
          <p:nvSpPr>
            <p:cNvPr id="169994" name="Rectangle 10"/>
            <p:cNvSpPr>
              <a:spLocks noChangeArrowheads="1"/>
            </p:cNvSpPr>
            <p:nvPr/>
          </p:nvSpPr>
          <p:spPr bwMode="auto">
            <a:xfrm>
              <a:off x="1152" y="2737"/>
              <a:ext cx="335" cy="207"/>
            </a:xfrm>
            <a:prstGeom prst="rect">
              <a:avLst/>
            </a:prstGeom>
            <a:solidFill>
              <a:schemeClr val="bg1"/>
            </a:solidFill>
            <a:ln w="38100">
              <a:solidFill>
                <a:schemeClr val="hlink"/>
              </a:solidFill>
              <a:miter lim="800000"/>
              <a:headEnd/>
              <a:tailEnd/>
            </a:ln>
            <a:effectLst/>
          </p:spPr>
          <p:txBody>
            <a:bodyPr wrap="none" anchor="ctr"/>
            <a:lstStyle/>
            <a:p>
              <a:pPr algn="ctr" eaLnBrk="0" hangingPunct="0"/>
              <a:r>
                <a:rPr lang="en-GB">
                  <a:solidFill>
                    <a:schemeClr val="folHlink"/>
                  </a:solidFill>
                  <a:latin typeface="Verdana" pitchFamily="34" charset="0"/>
                </a:rPr>
                <a:t>2</a:t>
              </a:r>
            </a:p>
          </p:txBody>
        </p:sp>
        <p:sp>
          <p:nvSpPr>
            <p:cNvPr id="169995" name="Rectangle 11"/>
            <p:cNvSpPr>
              <a:spLocks noChangeArrowheads="1"/>
            </p:cNvSpPr>
            <p:nvPr/>
          </p:nvSpPr>
          <p:spPr bwMode="auto">
            <a:xfrm>
              <a:off x="1589" y="2737"/>
              <a:ext cx="335" cy="207"/>
            </a:xfrm>
            <a:prstGeom prst="rect">
              <a:avLst/>
            </a:prstGeom>
            <a:solidFill>
              <a:schemeClr val="bg1"/>
            </a:solidFill>
            <a:ln w="38100">
              <a:solidFill>
                <a:schemeClr val="hlink"/>
              </a:solidFill>
              <a:miter lim="800000"/>
              <a:headEnd/>
              <a:tailEnd/>
            </a:ln>
            <a:effectLst/>
          </p:spPr>
          <p:txBody>
            <a:bodyPr wrap="none" anchor="ctr"/>
            <a:lstStyle/>
            <a:p>
              <a:pPr algn="ctr" eaLnBrk="0" hangingPunct="0"/>
              <a:r>
                <a:rPr lang="en-GB">
                  <a:solidFill>
                    <a:schemeClr val="folHlink"/>
                  </a:solidFill>
                  <a:latin typeface="Verdana" pitchFamily="34" charset="0"/>
                </a:rPr>
                <a:t>3</a:t>
              </a:r>
            </a:p>
          </p:txBody>
        </p:sp>
        <p:sp>
          <p:nvSpPr>
            <p:cNvPr id="169996" name="Rectangle 12"/>
            <p:cNvSpPr>
              <a:spLocks noChangeArrowheads="1"/>
            </p:cNvSpPr>
            <p:nvPr/>
          </p:nvSpPr>
          <p:spPr bwMode="auto">
            <a:xfrm>
              <a:off x="2008" y="2737"/>
              <a:ext cx="335" cy="207"/>
            </a:xfrm>
            <a:prstGeom prst="rect">
              <a:avLst/>
            </a:prstGeom>
            <a:solidFill>
              <a:schemeClr val="bg1"/>
            </a:solidFill>
            <a:ln w="38100">
              <a:solidFill>
                <a:schemeClr val="hlink"/>
              </a:solidFill>
              <a:miter lim="800000"/>
              <a:headEnd/>
              <a:tailEnd/>
            </a:ln>
            <a:effectLst/>
          </p:spPr>
          <p:txBody>
            <a:bodyPr wrap="none" anchor="ctr"/>
            <a:lstStyle/>
            <a:p>
              <a:pPr algn="ctr" eaLnBrk="0" hangingPunct="0"/>
              <a:r>
                <a:rPr lang="en-GB">
                  <a:solidFill>
                    <a:schemeClr val="folHlink"/>
                  </a:solidFill>
                  <a:latin typeface="Verdana" pitchFamily="34" charset="0"/>
                </a:rPr>
                <a:t>4</a:t>
              </a:r>
            </a:p>
          </p:txBody>
        </p:sp>
        <p:sp>
          <p:nvSpPr>
            <p:cNvPr id="169997" name="Rectangle 13"/>
            <p:cNvSpPr>
              <a:spLocks noChangeArrowheads="1"/>
            </p:cNvSpPr>
            <p:nvPr/>
          </p:nvSpPr>
          <p:spPr bwMode="auto">
            <a:xfrm>
              <a:off x="2506" y="2737"/>
              <a:ext cx="335" cy="207"/>
            </a:xfrm>
            <a:prstGeom prst="rect">
              <a:avLst/>
            </a:prstGeom>
            <a:solidFill>
              <a:schemeClr val="bg1"/>
            </a:solidFill>
            <a:ln w="38100">
              <a:solidFill>
                <a:schemeClr val="hlink"/>
              </a:solidFill>
              <a:miter lim="800000"/>
              <a:headEnd/>
              <a:tailEnd/>
            </a:ln>
            <a:effectLst/>
          </p:spPr>
          <p:txBody>
            <a:bodyPr wrap="none" anchor="ctr"/>
            <a:lstStyle/>
            <a:p>
              <a:pPr algn="ctr" eaLnBrk="0" hangingPunct="0"/>
              <a:r>
                <a:rPr lang="en-GB">
                  <a:solidFill>
                    <a:schemeClr val="folHlink"/>
                  </a:solidFill>
                  <a:latin typeface="Verdana" pitchFamily="34" charset="0"/>
                </a:rPr>
                <a:t>6</a:t>
              </a:r>
            </a:p>
          </p:txBody>
        </p:sp>
        <p:sp>
          <p:nvSpPr>
            <p:cNvPr id="169998" name="Rectangle 14"/>
            <p:cNvSpPr>
              <a:spLocks noChangeArrowheads="1"/>
            </p:cNvSpPr>
            <p:nvPr/>
          </p:nvSpPr>
          <p:spPr bwMode="auto">
            <a:xfrm>
              <a:off x="3004" y="2737"/>
              <a:ext cx="335" cy="207"/>
            </a:xfrm>
            <a:prstGeom prst="rect">
              <a:avLst/>
            </a:prstGeom>
            <a:solidFill>
              <a:schemeClr val="bg1"/>
            </a:solidFill>
            <a:ln w="38100">
              <a:solidFill>
                <a:schemeClr val="hlink"/>
              </a:solidFill>
              <a:miter lim="800000"/>
              <a:headEnd/>
              <a:tailEnd/>
            </a:ln>
            <a:effectLst/>
          </p:spPr>
          <p:txBody>
            <a:bodyPr wrap="none" anchor="ctr"/>
            <a:lstStyle/>
            <a:p>
              <a:pPr algn="ctr" eaLnBrk="0" hangingPunct="0"/>
              <a:r>
                <a:rPr lang="en-GB">
                  <a:solidFill>
                    <a:schemeClr val="folHlink"/>
                  </a:solidFill>
                  <a:latin typeface="Verdana" pitchFamily="34" charset="0"/>
                </a:rPr>
                <a:t>8</a:t>
              </a:r>
            </a:p>
          </p:txBody>
        </p:sp>
        <p:sp>
          <p:nvSpPr>
            <p:cNvPr id="169999" name="Rectangle 15"/>
            <p:cNvSpPr>
              <a:spLocks noChangeArrowheads="1"/>
            </p:cNvSpPr>
            <p:nvPr/>
          </p:nvSpPr>
          <p:spPr bwMode="auto">
            <a:xfrm>
              <a:off x="3429" y="2737"/>
              <a:ext cx="335" cy="207"/>
            </a:xfrm>
            <a:prstGeom prst="rect">
              <a:avLst/>
            </a:prstGeom>
            <a:solidFill>
              <a:schemeClr val="bg1"/>
            </a:solidFill>
            <a:ln w="38100">
              <a:solidFill>
                <a:schemeClr val="hlink"/>
              </a:solidFill>
              <a:miter lim="800000"/>
              <a:headEnd/>
              <a:tailEnd/>
            </a:ln>
            <a:effectLst/>
          </p:spPr>
          <p:txBody>
            <a:bodyPr wrap="none" anchor="ctr"/>
            <a:lstStyle/>
            <a:p>
              <a:pPr algn="ctr" eaLnBrk="0" hangingPunct="0"/>
              <a:r>
                <a:rPr lang="en-GB">
                  <a:solidFill>
                    <a:schemeClr val="folHlink"/>
                  </a:solidFill>
                  <a:latin typeface="Verdana" pitchFamily="34" charset="0"/>
                </a:rPr>
                <a:t>9</a:t>
              </a:r>
            </a:p>
          </p:txBody>
        </p:sp>
        <p:sp>
          <p:nvSpPr>
            <p:cNvPr id="170000" name="Rectangle 16"/>
            <p:cNvSpPr>
              <a:spLocks noChangeArrowheads="1"/>
            </p:cNvSpPr>
            <p:nvPr/>
          </p:nvSpPr>
          <p:spPr bwMode="auto">
            <a:xfrm>
              <a:off x="3848" y="2737"/>
              <a:ext cx="335" cy="207"/>
            </a:xfrm>
            <a:prstGeom prst="rect">
              <a:avLst/>
            </a:prstGeom>
            <a:solidFill>
              <a:schemeClr val="bg1"/>
            </a:solidFill>
            <a:ln w="38100">
              <a:solidFill>
                <a:schemeClr val="hlink"/>
              </a:solidFill>
              <a:miter lim="800000"/>
              <a:headEnd/>
              <a:tailEnd/>
            </a:ln>
            <a:effectLst/>
          </p:spPr>
          <p:txBody>
            <a:bodyPr wrap="none" anchor="ctr"/>
            <a:lstStyle/>
            <a:p>
              <a:pPr algn="ctr" eaLnBrk="0" hangingPunct="0"/>
              <a:r>
                <a:rPr lang="en-GB">
                  <a:solidFill>
                    <a:schemeClr val="folHlink"/>
                  </a:solidFill>
                  <a:latin typeface="Verdana" pitchFamily="34" charset="0"/>
                </a:rPr>
                <a:t>10</a:t>
              </a:r>
            </a:p>
          </p:txBody>
        </p:sp>
        <p:sp>
          <p:nvSpPr>
            <p:cNvPr id="170001" name="Rectangle 17"/>
            <p:cNvSpPr>
              <a:spLocks noChangeArrowheads="1"/>
            </p:cNvSpPr>
            <p:nvPr/>
          </p:nvSpPr>
          <p:spPr bwMode="auto">
            <a:xfrm>
              <a:off x="2506" y="3032"/>
              <a:ext cx="335" cy="207"/>
            </a:xfrm>
            <a:prstGeom prst="rect">
              <a:avLst/>
            </a:prstGeom>
            <a:solidFill>
              <a:schemeClr val="bg1"/>
            </a:solidFill>
            <a:ln w="38100">
              <a:solidFill>
                <a:schemeClr val="hlink"/>
              </a:solidFill>
              <a:miter lim="800000"/>
              <a:headEnd/>
              <a:tailEnd/>
            </a:ln>
            <a:effectLst/>
          </p:spPr>
          <p:txBody>
            <a:bodyPr wrap="none" anchor="ctr"/>
            <a:lstStyle/>
            <a:p>
              <a:pPr algn="ctr" eaLnBrk="0" hangingPunct="0"/>
              <a:r>
                <a:rPr lang="en-GB">
                  <a:solidFill>
                    <a:schemeClr val="folHlink"/>
                  </a:solidFill>
                  <a:latin typeface="Verdana" pitchFamily="34" charset="0"/>
                </a:rPr>
                <a:t>7</a:t>
              </a:r>
            </a:p>
          </p:txBody>
        </p:sp>
        <p:sp>
          <p:nvSpPr>
            <p:cNvPr id="170002" name="Rectangle 18"/>
            <p:cNvSpPr>
              <a:spLocks noChangeArrowheads="1"/>
            </p:cNvSpPr>
            <p:nvPr/>
          </p:nvSpPr>
          <p:spPr bwMode="auto">
            <a:xfrm>
              <a:off x="2506" y="2417"/>
              <a:ext cx="335" cy="207"/>
            </a:xfrm>
            <a:prstGeom prst="rect">
              <a:avLst/>
            </a:prstGeom>
            <a:solidFill>
              <a:schemeClr val="bg1"/>
            </a:solidFill>
            <a:ln w="38100">
              <a:solidFill>
                <a:schemeClr val="hlink"/>
              </a:solidFill>
              <a:miter lim="800000"/>
              <a:headEnd/>
              <a:tailEnd/>
            </a:ln>
            <a:effectLst/>
          </p:spPr>
          <p:txBody>
            <a:bodyPr wrap="none" anchor="ctr"/>
            <a:lstStyle/>
            <a:p>
              <a:pPr algn="ctr" eaLnBrk="0" hangingPunct="0"/>
              <a:r>
                <a:rPr lang="en-GB">
                  <a:solidFill>
                    <a:schemeClr val="folHlink"/>
                  </a:solidFill>
                  <a:latin typeface="Verdana" pitchFamily="34" charset="0"/>
                </a:rPr>
                <a:t>5</a:t>
              </a:r>
            </a:p>
          </p:txBody>
        </p:sp>
        <p:sp>
          <p:nvSpPr>
            <p:cNvPr id="170003" name="Rectangle 19"/>
            <p:cNvSpPr>
              <a:spLocks noChangeArrowheads="1"/>
            </p:cNvSpPr>
            <p:nvPr/>
          </p:nvSpPr>
          <p:spPr bwMode="auto">
            <a:xfrm>
              <a:off x="4351" y="2234"/>
              <a:ext cx="335" cy="207"/>
            </a:xfrm>
            <a:prstGeom prst="rect">
              <a:avLst/>
            </a:prstGeom>
            <a:solidFill>
              <a:schemeClr val="bg1"/>
            </a:solidFill>
            <a:ln w="38100">
              <a:solidFill>
                <a:schemeClr val="hlink"/>
              </a:solidFill>
              <a:miter lim="800000"/>
              <a:headEnd/>
              <a:tailEnd/>
            </a:ln>
            <a:effectLst/>
          </p:spPr>
          <p:txBody>
            <a:bodyPr wrap="none" anchor="ctr"/>
            <a:lstStyle/>
            <a:p>
              <a:pPr algn="ctr" eaLnBrk="0" hangingPunct="0"/>
              <a:r>
                <a:rPr lang="en-GB">
                  <a:solidFill>
                    <a:schemeClr val="folHlink"/>
                  </a:solidFill>
                  <a:latin typeface="Verdana" pitchFamily="34" charset="0"/>
                </a:rPr>
                <a:t>11</a:t>
              </a:r>
            </a:p>
          </p:txBody>
        </p:sp>
        <p:sp>
          <p:nvSpPr>
            <p:cNvPr id="170004" name="Rectangle 20"/>
            <p:cNvSpPr>
              <a:spLocks noChangeArrowheads="1"/>
            </p:cNvSpPr>
            <p:nvPr/>
          </p:nvSpPr>
          <p:spPr bwMode="auto">
            <a:xfrm>
              <a:off x="4351" y="2568"/>
              <a:ext cx="335" cy="207"/>
            </a:xfrm>
            <a:prstGeom prst="rect">
              <a:avLst/>
            </a:prstGeom>
            <a:solidFill>
              <a:schemeClr val="bg1"/>
            </a:solidFill>
            <a:ln w="38100">
              <a:solidFill>
                <a:schemeClr val="hlink"/>
              </a:solidFill>
              <a:miter lim="800000"/>
              <a:headEnd/>
              <a:tailEnd/>
            </a:ln>
            <a:effectLst/>
          </p:spPr>
          <p:txBody>
            <a:bodyPr wrap="none" anchor="ctr"/>
            <a:lstStyle/>
            <a:p>
              <a:pPr algn="ctr" eaLnBrk="0" hangingPunct="0"/>
              <a:r>
                <a:rPr lang="en-GB">
                  <a:solidFill>
                    <a:schemeClr val="folHlink"/>
                  </a:solidFill>
                  <a:latin typeface="Verdana" pitchFamily="34" charset="0"/>
                </a:rPr>
                <a:t>12</a:t>
              </a:r>
            </a:p>
          </p:txBody>
        </p:sp>
        <p:sp>
          <p:nvSpPr>
            <p:cNvPr id="170005" name="Rectangle 21"/>
            <p:cNvSpPr>
              <a:spLocks noChangeArrowheads="1"/>
            </p:cNvSpPr>
            <p:nvPr/>
          </p:nvSpPr>
          <p:spPr bwMode="auto">
            <a:xfrm>
              <a:off x="4351" y="2902"/>
              <a:ext cx="335" cy="207"/>
            </a:xfrm>
            <a:prstGeom prst="rect">
              <a:avLst/>
            </a:prstGeom>
            <a:solidFill>
              <a:schemeClr val="bg1"/>
            </a:solidFill>
            <a:ln w="38100">
              <a:solidFill>
                <a:schemeClr val="hlink"/>
              </a:solidFill>
              <a:miter lim="800000"/>
              <a:headEnd/>
              <a:tailEnd/>
            </a:ln>
            <a:effectLst/>
          </p:spPr>
          <p:txBody>
            <a:bodyPr wrap="none" anchor="ctr"/>
            <a:lstStyle/>
            <a:p>
              <a:pPr algn="ctr" eaLnBrk="0" hangingPunct="0"/>
              <a:r>
                <a:rPr lang="en-GB">
                  <a:solidFill>
                    <a:schemeClr val="folHlink"/>
                  </a:solidFill>
                  <a:latin typeface="Verdana" pitchFamily="34" charset="0"/>
                </a:rPr>
                <a:t>13</a:t>
              </a:r>
            </a:p>
          </p:txBody>
        </p:sp>
        <p:sp>
          <p:nvSpPr>
            <p:cNvPr id="170006" name="Rectangle 22"/>
            <p:cNvSpPr>
              <a:spLocks noChangeArrowheads="1"/>
            </p:cNvSpPr>
            <p:nvPr/>
          </p:nvSpPr>
          <p:spPr bwMode="auto">
            <a:xfrm>
              <a:off x="4351" y="3236"/>
              <a:ext cx="335" cy="207"/>
            </a:xfrm>
            <a:prstGeom prst="rect">
              <a:avLst/>
            </a:prstGeom>
            <a:solidFill>
              <a:schemeClr val="bg1"/>
            </a:solidFill>
            <a:ln w="38100">
              <a:solidFill>
                <a:schemeClr val="hlink"/>
              </a:solidFill>
              <a:miter lim="800000"/>
              <a:headEnd/>
              <a:tailEnd/>
            </a:ln>
            <a:effectLst/>
          </p:spPr>
          <p:txBody>
            <a:bodyPr wrap="none" anchor="ctr"/>
            <a:lstStyle/>
            <a:p>
              <a:pPr algn="ctr" eaLnBrk="0" hangingPunct="0"/>
              <a:r>
                <a:rPr lang="en-GB">
                  <a:solidFill>
                    <a:schemeClr val="folHlink"/>
                  </a:solidFill>
                  <a:latin typeface="Verdana" pitchFamily="34" charset="0"/>
                </a:rPr>
                <a:t>14</a:t>
              </a:r>
            </a:p>
          </p:txBody>
        </p:sp>
        <p:cxnSp>
          <p:nvCxnSpPr>
            <p:cNvPr id="170007" name="AutoShape 23"/>
            <p:cNvCxnSpPr>
              <a:cxnSpLocks noChangeShapeType="1"/>
              <a:stCxn id="169994" idx="3"/>
              <a:endCxn id="169995" idx="1"/>
            </p:cNvCxnSpPr>
            <p:nvPr/>
          </p:nvCxnSpPr>
          <p:spPr bwMode="auto">
            <a:xfrm>
              <a:off x="1499" y="2841"/>
              <a:ext cx="78" cy="0"/>
            </a:xfrm>
            <a:prstGeom prst="straightConnector1">
              <a:avLst/>
            </a:prstGeom>
            <a:noFill/>
            <a:ln w="19050">
              <a:solidFill>
                <a:schemeClr val="hlink"/>
              </a:solidFill>
              <a:round/>
              <a:headEnd/>
              <a:tailEnd/>
            </a:ln>
            <a:effectLst/>
          </p:spPr>
        </p:cxnSp>
        <p:cxnSp>
          <p:nvCxnSpPr>
            <p:cNvPr id="170008" name="AutoShape 24"/>
            <p:cNvCxnSpPr>
              <a:cxnSpLocks noChangeShapeType="1"/>
              <a:stCxn id="169993" idx="3"/>
              <a:endCxn id="169994" idx="1"/>
            </p:cNvCxnSpPr>
            <p:nvPr/>
          </p:nvCxnSpPr>
          <p:spPr bwMode="auto">
            <a:xfrm>
              <a:off x="1080" y="2841"/>
              <a:ext cx="60" cy="0"/>
            </a:xfrm>
            <a:prstGeom prst="straightConnector1">
              <a:avLst/>
            </a:prstGeom>
            <a:noFill/>
            <a:ln w="19050">
              <a:solidFill>
                <a:schemeClr val="hlink"/>
              </a:solidFill>
              <a:round/>
              <a:headEnd/>
              <a:tailEnd/>
            </a:ln>
            <a:effectLst/>
          </p:spPr>
        </p:cxnSp>
        <p:cxnSp>
          <p:nvCxnSpPr>
            <p:cNvPr id="170009" name="AutoShape 25"/>
            <p:cNvCxnSpPr>
              <a:cxnSpLocks noChangeShapeType="1"/>
              <a:stCxn id="169995" idx="3"/>
              <a:endCxn id="169996" idx="1"/>
            </p:cNvCxnSpPr>
            <p:nvPr/>
          </p:nvCxnSpPr>
          <p:spPr bwMode="auto">
            <a:xfrm>
              <a:off x="1936" y="2841"/>
              <a:ext cx="60" cy="0"/>
            </a:xfrm>
            <a:prstGeom prst="straightConnector1">
              <a:avLst/>
            </a:prstGeom>
            <a:noFill/>
            <a:ln w="19050">
              <a:solidFill>
                <a:schemeClr val="hlink"/>
              </a:solidFill>
              <a:round/>
              <a:headEnd/>
              <a:tailEnd/>
            </a:ln>
            <a:effectLst/>
          </p:spPr>
        </p:cxnSp>
        <p:cxnSp>
          <p:nvCxnSpPr>
            <p:cNvPr id="170010" name="AutoShape 26"/>
            <p:cNvCxnSpPr>
              <a:cxnSpLocks noChangeShapeType="1"/>
              <a:stCxn id="169998" idx="1"/>
              <a:endCxn id="169992" idx="3"/>
            </p:cNvCxnSpPr>
            <p:nvPr/>
          </p:nvCxnSpPr>
          <p:spPr bwMode="auto">
            <a:xfrm flipH="1">
              <a:off x="2926" y="2841"/>
              <a:ext cx="66" cy="0"/>
            </a:xfrm>
            <a:prstGeom prst="straightConnector1">
              <a:avLst/>
            </a:prstGeom>
            <a:noFill/>
            <a:ln w="19050">
              <a:solidFill>
                <a:schemeClr val="hlink"/>
              </a:solidFill>
              <a:round/>
              <a:headEnd/>
              <a:tailEnd/>
            </a:ln>
            <a:effectLst/>
          </p:spPr>
        </p:cxnSp>
        <p:cxnSp>
          <p:nvCxnSpPr>
            <p:cNvPr id="170011" name="AutoShape 27"/>
            <p:cNvCxnSpPr>
              <a:cxnSpLocks noChangeShapeType="1"/>
              <a:stCxn id="169996" idx="3"/>
              <a:endCxn id="169992" idx="1"/>
            </p:cNvCxnSpPr>
            <p:nvPr/>
          </p:nvCxnSpPr>
          <p:spPr bwMode="auto">
            <a:xfrm>
              <a:off x="2355" y="2841"/>
              <a:ext cx="62" cy="0"/>
            </a:xfrm>
            <a:prstGeom prst="straightConnector1">
              <a:avLst/>
            </a:prstGeom>
            <a:noFill/>
            <a:ln w="19050">
              <a:solidFill>
                <a:schemeClr val="hlink"/>
              </a:solidFill>
              <a:round/>
              <a:headEnd/>
              <a:tailEnd/>
            </a:ln>
            <a:effectLst/>
          </p:spPr>
        </p:cxnSp>
        <p:cxnSp>
          <p:nvCxnSpPr>
            <p:cNvPr id="170012" name="AutoShape 28"/>
            <p:cNvCxnSpPr>
              <a:cxnSpLocks noChangeShapeType="1"/>
              <a:stCxn id="169997" idx="1"/>
              <a:endCxn id="169992" idx="1"/>
            </p:cNvCxnSpPr>
            <p:nvPr/>
          </p:nvCxnSpPr>
          <p:spPr bwMode="auto">
            <a:xfrm flipH="1">
              <a:off x="2417" y="2841"/>
              <a:ext cx="77" cy="0"/>
            </a:xfrm>
            <a:prstGeom prst="straightConnector1">
              <a:avLst/>
            </a:prstGeom>
            <a:noFill/>
            <a:ln w="19050">
              <a:solidFill>
                <a:schemeClr val="hlink"/>
              </a:solidFill>
              <a:round/>
              <a:headEnd/>
              <a:tailEnd/>
            </a:ln>
            <a:effectLst/>
          </p:spPr>
        </p:cxnSp>
        <p:cxnSp>
          <p:nvCxnSpPr>
            <p:cNvPr id="170013" name="AutoShape 29"/>
            <p:cNvCxnSpPr>
              <a:cxnSpLocks noChangeShapeType="1"/>
              <a:stCxn id="169997" idx="3"/>
              <a:endCxn id="169992" idx="3"/>
            </p:cNvCxnSpPr>
            <p:nvPr/>
          </p:nvCxnSpPr>
          <p:spPr bwMode="auto">
            <a:xfrm>
              <a:off x="2853" y="2841"/>
              <a:ext cx="73" cy="0"/>
            </a:xfrm>
            <a:prstGeom prst="straightConnector1">
              <a:avLst/>
            </a:prstGeom>
            <a:noFill/>
            <a:ln w="19050">
              <a:solidFill>
                <a:schemeClr val="hlink"/>
              </a:solidFill>
              <a:round/>
              <a:headEnd/>
              <a:tailEnd/>
            </a:ln>
            <a:effectLst/>
          </p:spPr>
        </p:cxnSp>
        <p:cxnSp>
          <p:nvCxnSpPr>
            <p:cNvPr id="170014" name="AutoShape 30"/>
            <p:cNvCxnSpPr>
              <a:cxnSpLocks noChangeShapeType="1"/>
              <a:stCxn id="169998" idx="3"/>
              <a:endCxn id="169999" idx="1"/>
            </p:cNvCxnSpPr>
            <p:nvPr/>
          </p:nvCxnSpPr>
          <p:spPr bwMode="auto">
            <a:xfrm>
              <a:off x="3351" y="2841"/>
              <a:ext cx="66" cy="0"/>
            </a:xfrm>
            <a:prstGeom prst="straightConnector1">
              <a:avLst/>
            </a:prstGeom>
            <a:noFill/>
            <a:ln w="19050">
              <a:solidFill>
                <a:schemeClr val="hlink"/>
              </a:solidFill>
              <a:round/>
              <a:headEnd/>
              <a:tailEnd/>
            </a:ln>
            <a:effectLst/>
          </p:spPr>
        </p:cxnSp>
        <p:cxnSp>
          <p:nvCxnSpPr>
            <p:cNvPr id="170015" name="AutoShape 31"/>
            <p:cNvCxnSpPr>
              <a:cxnSpLocks noChangeShapeType="1"/>
              <a:stCxn id="169999" idx="3"/>
              <a:endCxn id="170000" idx="1"/>
            </p:cNvCxnSpPr>
            <p:nvPr/>
          </p:nvCxnSpPr>
          <p:spPr bwMode="auto">
            <a:xfrm>
              <a:off x="3776" y="2841"/>
              <a:ext cx="60" cy="0"/>
            </a:xfrm>
            <a:prstGeom prst="straightConnector1">
              <a:avLst/>
            </a:prstGeom>
            <a:noFill/>
            <a:ln w="19050">
              <a:solidFill>
                <a:schemeClr val="hlink"/>
              </a:solidFill>
              <a:round/>
              <a:headEnd/>
              <a:tailEnd/>
            </a:ln>
            <a:effectLst/>
          </p:spPr>
        </p:cxnSp>
        <p:cxnSp>
          <p:nvCxnSpPr>
            <p:cNvPr id="170016" name="AutoShape 32"/>
            <p:cNvCxnSpPr>
              <a:cxnSpLocks noChangeShapeType="1"/>
              <a:stCxn id="170000" idx="3"/>
              <a:endCxn id="169991" idx="1"/>
            </p:cNvCxnSpPr>
            <p:nvPr/>
          </p:nvCxnSpPr>
          <p:spPr bwMode="auto">
            <a:xfrm flipV="1">
              <a:off x="4195" y="2840"/>
              <a:ext cx="66" cy="1"/>
            </a:xfrm>
            <a:prstGeom prst="straightConnector1">
              <a:avLst/>
            </a:prstGeom>
            <a:noFill/>
            <a:ln w="19050">
              <a:solidFill>
                <a:schemeClr val="hlink"/>
              </a:solidFill>
              <a:round/>
              <a:headEnd/>
              <a:tailEnd/>
            </a:ln>
            <a:effectLst/>
          </p:spPr>
        </p:cxnSp>
        <p:sp>
          <p:nvSpPr>
            <p:cNvPr id="170017" name="AutoShape 33"/>
            <p:cNvSpPr>
              <a:spLocks noChangeArrowheads="1"/>
            </p:cNvSpPr>
            <p:nvPr/>
          </p:nvSpPr>
          <p:spPr bwMode="auto">
            <a:xfrm>
              <a:off x="227" y="2735"/>
              <a:ext cx="420" cy="209"/>
            </a:xfrm>
            <a:prstGeom prst="roundRect">
              <a:avLst>
                <a:gd name="adj" fmla="val 16667"/>
              </a:avLst>
            </a:prstGeom>
            <a:solidFill>
              <a:schemeClr val="bg1"/>
            </a:solidFill>
            <a:ln w="38100">
              <a:solidFill>
                <a:schemeClr val="hlink"/>
              </a:solidFill>
              <a:round/>
              <a:headEnd/>
              <a:tailEnd/>
            </a:ln>
            <a:effectLst/>
          </p:spPr>
          <p:txBody>
            <a:bodyPr wrap="none" anchor="ctr">
              <a:spAutoFit/>
            </a:bodyPr>
            <a:lstStyle/>
            <a:p>
              <a:pPr algn="ctr" eaLnBrk="0" hangingPunct="0"/>
              <a:r>
                <a:rPr lang="en-GB" sz="1200" b="1">
                  <a:solidFill>
                    <a:schemeClr val="folHlink"/>
                  </a:solidFill>
                  <a:latin typeface="Verdana" pitchFamily="34" charset="0"/>
                </a:rPr>
                <a:t>Start</a:t>
              </a:r>
            </a:p>
          </p:txBody>
        </p:sp>
        <p:sp>
          <p:nvSpPr>
            <p:cNvPr id="170018" name="AutoShape 34"/>
            <p:cNvSpPr>
              <a:spLocks noChangeArrowheads="1"/>
            </p:cNvSpPr>
            <p:nvPr/>
          </p:nvSpPr>
          <p:spPr bwMode="auto">
            <a:xfrm>
              <a:off x="4855" y="2736"/>
              <a:ext cx="388" cy="209"/>
            </a:xfrm>
            <a:prstGeom prst="roundRect">
              <a:avLst>
                <a:gd name="adj" fmla="val 16667"/>
              </a:avLst>
            </a:prstGeom>
            <a:solidFill>
              <a:schemeClr val="bg1"/>
            </a:solidFill>
            <a:ln w="38100">
              <a:solidFill>
                <a:schemeClr val="hlink"/>
              </a:solidFill>
              <a:round/>
              <a:headEnd/>
              <a:tailEnd/>
            </a:ln>
            <a:effectLst/>
          </p:spPr>
          <p:txBody>
            <a:bodyPr anchor="ctr">
              <a:spAutoFit/>
            </a:bodyPr>
            <a:lstStyle/>
            <a:p>
              <a:pPr algn="ctr" eaLnBrk="0" hangingPunct="0"/>
              <a:r>
                <a:rPr lang="en-GB" sz="1200" b="1">
                  <a:solidFill>
                    <a:schemeClr val="folHlink"/>
                  </a:solidFill>
                  <a:latin typeface="Verdana" pitchFamily="34" charset="0"/>
                </a:rPr>
                <a:t>End</a:t>
              </a:r>
            </a:p>
          </p:txBody>
        </p:sp>
        <p:cxnSp>
          <p:nvCxnSpPr>
            <p:cNvPr id="170019" name="AutoShape 35"/>
            <p:cNvCxnSpPr>
              <a:cxnSpLocks noChangeShapeType="1"/>
              <a:stCxn id="170017" idx="3"/>
              <a:endCxn id="169993" idx="1"/>
            </p:cNvCxnSpPr>
            <p:nvPr/>
          </p:nvCxnSpPr>
          <p:spPr bwMode="auto">
            <a:xfrm>
              <a:off x="659" y="2840"/>
              <a:ext cx="62" cy="1"/>
            </a:xfrm>
            <a:prstGeom prst="straightConnector1">
              <a:avLst/>
            </a:prstGeom>
            <a:noFill/>
            <a:ln w="19050">
              <a:solidFill>
                <a:schemeClr val="hlink"/>
              </a:solidFill>
              <a:round/>
              <a:headEnd/>
              <a:tailEnd/>
            </a:ln>
            <a:effectLst/>
          </p:spPr>
        </p:cxnSp>
        <p:cxnSp>
          <p:nvCxnSpPr>
            <p:cNvPr id="170020" name="AutoShape 36"/>
            <p:cNvCxnSpPr>
              <a:cxnSpLocks noChangeShapeType="1"/>
              <a:stCxn id="169991" idx="3"/>
              <a:endCxn id="170018" idx="1"/>
            </p:cNvCxnSpPr>
            <p:nvPr/>
          </p:nvCxnSpPr>
          <p:spPr bwMode="auto">
            <a:xfrm>
              <a:off x="4770" y="2840"/>
              <a:ext cx="73" cy="1"/>
            </a:xfrm>
            <a:prstGeom prst="straightConnector1">
              <a:avLst/>
            </a:prstGeom>
            <a:noFill/>
            <a:ln w="19050">
              <a:solidFill>
                <a:schemeClr val="hlink"/>
              </a:solidFill>
              <a:round/>
              <a:headEnd/>
              <a:tailEnd/>
            </a:ln>
            <a:effectLst/>
          </p:spPr>
        </p:cxnSp>
      </p:gr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normAutofit fontScale="90000"/>
          </a:bodyPr>
          <a:lstStyle/>
          <a:p>
            <a:r>
              <a:rPr lang="fi-FI" dirty="0" smtClean="0"/>
              <a:t>Hyväksymistestauksen valmistelut</a:t>
            </a:r>
            <a:br>
              <a:rPr lang="fi-FI" dirty="0" smtClean="0"/>
            </a:br>
            <a:endParaRPr lang="en-US" dirty="0" smtClean="0"/>
          </a:p>
        </p:txBody>
      </p:sp>
      <p:sp>
        <p:nvSpPr>
          <p:cNvPr id="4099" name="AutoShape 3"/>
          <p:cNvSpPr>
            <a:spLocks noChangeArrowheads="1"/>
          </p:cNvSpPr>
          <p:nvPr/>
        </p:nvSpPr>
        <p:spPr bwMode="auto">
          <a:xfrm>
            <a:off x="107950" y="3519480"/>
            <a:ext cx="2160588" cy="1057306"/>
          </a:xfrm>
          <a:prstGeom prst="roundRect">
            <a:avLst>
              <a:gd name="adj" fmla="val 16667"/>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fi-FI" dirty="0" smtClean="0"/>
              <a:t>Testiympäristöt</a:t>
            </a:r>
            <a:endParaRPr lang="en-US" dirty="0"/>
          </a:p>
        </p:txBody>
      </p:sp>
      <p:sp>
        <p:nvSpPr>
          <p:cNvPr id="4100" name="AutoShape 4"/>
          <p:cNvSpPr>
            <a:spLocks noChangeArrowheads="1"/>
          </p:cNvSpPr>
          <p:nvPr/>
        </p:nvSpPr>
        <p:spPr bwMode="auto">
          <a:xfrm>
            <a:off x="142844" y="2376471"/>
            <a:ext cx="2122488" cy="1057307"/>
          </a:xfrm>
          <a:prstGeom prst="roundRect">
            <a:avLst>
              <a:gd name="adj" fmla="val 16667"/>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fi-FI" dirty="0"/>
              <a:t>Osaamisen resursointi</a:t>
            </a:r>
            <a:endParaRPr lang="en-US" dirty="0"/>
          </a:p>
        </p:txBody>
      </p:sp>
      <p:sp>
        <p:nvSpPr>
          <p:cNvPr id="4101" name="AutoShape 5"/>
          <p:cNvSpPr>
            <a:spLocks noChangeArrowheads="1"/>
          </p:cNvSpPr>
          <p:nvPr/>
        </p:nvSpPr>
        <p:spPr bwMode="auto">
          <a:xfrm>
            <a:off x="4572000" y="1244578"/>
            <a:ext cx="2160588" cy="1057306"/>
          </a:xfrm>
          <a:prstGeom prst="roundRect">
            <a:avLst>
              <a:gd name="adj" fmla="val 16667"/>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fi-FI"/>
              <a:t>Testiautomaatio</a:t>
            </a:r>
            <a:endParaRPr lang="en-US"/>
          </a:p>
        </p:txBody>
      </p:sp>
      <p:sp>
        <p:nvSpPr>
          <p:cNvPr id="4102" name="AutoShape 6"/>
          <p:cNvSpPr>
            <a:spLocks noChangeArrowheads="1"/>
          </p:cNvSpPr>
          <p:nvPr/>
        </p:nvSpPr>
        <p:spPr bwMode="auto">
          <a:xfrm>
            <a:off x="2374869" y="2376471"/>
            <a:ext cx="2122488" cy="1057307"/>
          </a:xfrm>
          <a:prstGeom prst="roundRect">
            <a:avLst>
              <a:gd name="adj" fmla="val 16667"/>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fi-FI" dirty="0"/>
              <a:t>Testaamisen suorittamisen vaatima sovellusymmärrys</a:t>
            </a:r>
            <a:endParaRPr lang="en-US" dirty="0"/>
          </a:p>
        </p:txBody>
      </p:sp>
      <p:sp>
        <p:nvSpPr>
          <p:cNvPr id="4103" name="AutoShape 7"/>
          <p:cNvSpPr>
            <a:spLocks noChangeArrowheads="1"/>
          </p:cNvSpPr>
          <p:nvPr/>
        </p:nvSpPr>
        <p:spPr bwMode="auto">
          <a:xfrm>
            <a:off x="2339975" y="3519480"/>
            <a:ext cx="2160588" cy="1057306"/>
          </a:xfrm>
          <a:prstGeom prst="roundRect">
            <a:avLst>
              <a:gd name="adj" fmla="val 16667"/>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fi-FI" dirty="0"/>
              <a:t>Liiketoimintatestien suunnittelu</a:t>
            </a:r>
            <a:endParaRPr lang="en-US" dirty="0"/>
          </a:p>
        </p:txBody>
      </p:sp>
      <p:sp>
        <p:nvSpPr>
          <p:cNvPr id="4104" name="AutoShape 8"/>
          <p:cNvSpPr>
            <a:spLocks noChangeArrowheads="1"/>
          </p:cNvSpPr>
          <p:nvPr/>
        </p:nvSpPr>
        <p:spPr bwMode="auto">
          <a:xfrm>
            <a:off x="2339975" y="4668844"/>
            <a:ext cx="2160588" cy="1057306"/>
          </a:xfrm>
          <a:prstGeom prst="roundRect">
            <a:avLst>
              <a:gd name="adj" fmla="val 16667"/>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fi-FI" dirty="0"/>
              <a:t>Täydentävien testien suunnittelu</a:t>
            </a:r>
            <a:endParaRPr lang="en-US" dirty="0"/>
          </a:p>
        </p:txBody>
      </p:sp>
      <p:sp>
        <p:nvSpPr>
          <p:cNvPr id="4105" name="AutoShape 9"/>
          <p:cNvSpPr>
            <a:spLocks noChangeArrowheads="1"/>
          </p:cNvSpPr>
          <p:nvPr/>
        </p:nvSpPr>
        <p:spPr bwMode="auto">
          <a:xfrm>
            <a:off x="4606894" y="2376471"/>
            <a:ext cx="2124075" cy="1057307"/>
          </a:xfrm>
          <a:prstGeom prst="roundRect">
            <a:avLst>
              <a:gd name="adj" fmla="val 16667"/>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fi-FI" dirty="0"/>
              <a:t>Suorituskykytestien suunnittelu</a:t>
            </a:r>
            <a:endParaRPr lang="en-US" dirty="0"/>
          </a:p>
        </p:txBody>
      </p:sp>
      <p:sp>
        <p:nvSpPr>
          <p:cNvPr id="4106" name="AutoShape 10"/>
          <p:cNvSpPr>
            <a:spLocks noChangeArrowheads="1"/>
          </p:cNvSpPr>
          <p:nvPr/>
        </p:nvSpPr>
        <p:spPr bwMode="auto">
          <a:xfrm>
            <a:off x="4572000" y="3519480"/>
            <a:ext cx="2160588" cy="1057306"/>
          </a:xfrm>
          <a:prstGeom prst="roundRect">
            <a:avLst>
              <a:gd name="adj" fmla="val 16667"/>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fi-FI" dirty="0"/>
              <a:t>Muiden ei-toiminnallisten testien suunnittelu</a:t>
            </a:r>
            <a:endParaRPr lang="en-US" dirty="0"/>
          </a:p>
        </p:txBody>
      </p:sp>
      <p:sp>
        <p:nvSpPr>
          <p:cNvPr id="4107" name="Oval 11"/>
          <p:cNvSpPr>
            <a:spLocks noChangeArrowheads="1"/>
          </p:cNvSpPr>
          <p:nvPr/>
        </p:nvSpPr>
        <p:spPr bwMode="auto">
          <a:xfrm>
            <a:off x="107950" y="5862637"/>
            <a:ext cx="142875" cy="144463"/>
          </a:xfrm>
          <a:prstGeom prst="ellipse">
            <a:avLst/>
          </a:prstGeom>
          <a:solidFill>
            <a:srgbClr val="FF6699"/>
          </a:solidFill>
          <a:ln w="9525" algn="ctr">
            <a:solidFill>
              <a:schemeClr val="tx1"/>
            </a:solidFill>
            <a:round/>
            <a:headEnd/>
            <a:tailEnd/>
          </a:ln>
        </p:spPr>
        <p:txBody>
          <a:bodyPr wrap="none" anchor="ctr"/>
          <a:lstStyle/>
          <a:p>
            <a:endParaRPr lang="fi-FI"/>
          </a:p>
        </p:txBody>
      </p:sp>
      <p:sp>
        <p:nvSpPr>
          <p:cNvPr id="4108" name="Text Box 12"/>
          <p:cNvSpPr txBox="1">
            <a:spLocks noChangeArrowheads="1"/>
          </p:cNvSpPr>
          <p:nvPr/>
        </p:nvSpPr>
        <p:spPr bwMode="auto">
          <a:xfrm>
            <a:off x="323850" y="5791200"/>
            <a:ext cx="3240088" cy="274637"/>
          </a:xfrm>
          <a:prstGeom prst="rect">
            <a:avLst/>
          </a:prstGeom>
          <a:noFill/>
          <a:ln w="9525" algn="ctr">
            <a:noFill/>
            <a:miter lim="800000"/>
            <a:headEnd/>
            <a:tailEnd/>
          </a:ln>
        </p:spPr>
        <p:txBody>
          <a:bodyPr>
            <a:spAutoFit/>
          </a:bodyPr>
          <a:lstStyle/>
          <a:p>
            <a:pPr>
              <a:spcBef>
                <a:spcPct val="50000"/>
              </a:spcBef>
            </a:pPr>
            <a:r>
              <a:rPr lang="fi-FI" sz="1200" dirty="0" smtClean="0"/>
              <a:t>Testausasiantuntija</a:t>
            </a:r>
            <a:endParaRPr lang="en-US" sz="1200" dirty="0"/>
          </a:p>
        </p:txBody>
      </p:sp>
      <p:sp>
        <p:nvSpPr>
          <p:cNvPr id="4109" name="Text Box 13"/>
          <p:cNvSpPr txBox="1">
            <a:spLocks noChangeArrowheads="1"/>
          </p:cNvSpPr>
          <p:nvPr/>
        </p:nvSpPr>
        <p:spPr bwMode="auto">
          <a:xfrm>
            <a:off x="323850" y="6080125"/>
            <a:ext cx="2879725" cy="274637"/>
          </a:xfrm>
          <a:prstGeom prst="rect">
            <a:avLst/>
          </a:prstGeom>
          <a:noFill/>
          <a:ln w="9525" algn="ctr">
            <a:noFill/>
            <a:miter lim="800000"/>
            <a:headEnd/>
            <a:tailEnd/>
          </a:ln>
        </p:spPr>
        <p:txBody>
          <a:bodyPr>
            <a:spAutoFit/>
          </a:bodyPr>
          <a:lstStyle/>
          <a:p>
            <a:pPr>
              <a:spcBef>
                <a:spcPct val="50000"/>
              </a:spcBef>
            </a:pPr>
            <a:r>
              <a:rPr lang="fi-FI" sz="1200" dirty="0" smtClean="0"/>
              <a:t>Ammattitestaaja</a:t>
            </a:r>
            <a:endParaRPr lang="en-US" sz="1200" dirty="0"/>
          </a:p>
        </p:txBody>
      </p:sp>
      <p:sp>
        <p:nvSpPr>
          <p:cNvPr id="4110" name="Oval 14"/>
          <p:cNvSpPr>
            <a:spLocks noChangeArrowheads="1"/>
          </p:cNvSpPr>
          <p:nvPr/>
        </p:nvSpPr>
        <p:spPr bwMode="auto">
          <a:xfrm>
            <a:off x="107950" y="6151562"/>
            <a:ext cx="142875" cy="144463"/>
          </a:xfrm>
          <a:prstGeom prst="ellipse">
            <a:avLst/>
          </a:prstGeom>
          <a:solidFill>
            <a:srgbClr val="CC66FF"/>
          </a:solidFill>
          <a:ln w="9525" algn="ctr">
            <a:solidFill>
              <a:schemeClr val="tx1"/>
            </a:solidFill>
            <a:round/>
            <a:headEnd/>
            <a:tailEnd/>
          </a:ln>
        </p:spPr>
        <p:txBody>
          <a:bodyPr wrap="none" anchor="ctr"/>
          <a:lstStyle/>
          <a:p>
            <a:endParaRPr lang="fi-FI"/>
          </a:p>
        </p:txBody>
      </p:sp>
      <p:sp>
        <p:nvSpPr>
          <p:cNvPr id="4111" name="Oval 15"/>
          <p:cNvSpPr>
            <a:spLocks noChangeArrowheads="1"/>
          </p:cNvSpPr>
          <p:nvPr/>
        </p:nvSpPr>
        <p:spPr bwMode="auto">
          <a:xfrm>
            <a:off x="2286000" y="5897563"/>
            <a:ext cx="142875" cy="144462"/>
          </a:xfrm>
          <a:prstGeom prst="ellipse">
            <a:avLst/>
          </a:prstGeom>
          <a:solidFill>
            <a:srgbClr val="00FFFF"/>
          </a:solidFill>
          <a:ln w="9525" algn="ctr">
            <a:solidFill>
              <a:schemeClr val="tx1"/>
            </a:solidFill>
            <a:round/>
            <a:headEnd/>
            <a:tailEnd/>
          </a:ln>
        </p:spPr>
        <p:txBody>
          <a:bodyPr wrap="none" anchor="ctr"/>
          <a:lstStyle/>
          <a:p>
            <a:endParaRPr lang="fi-FI"/>
          </a:p>
        </p:txBody>
      </p:sp>
      <p:sp>
        <p:nvSpPr>
          <p:cNvPr id="4112" name="Text Box 16"/>
          <p:cNvSpPr txBox="1">
            <a:spLocks noChangeArrowheads="1"/>
          </p:cNvSpPr>
          <p:nvPr/>
        </p:nvSpPr>
        <p:spPr bwMode="auto">
          <a:xfrm>
            <a:off x="2501900" y="5826125"/>
            <a:ext cx="3240088" cy="274638"/>
          </a:xfrm>
          <a:prstGeom prst="rect">
            <a:avLst/>
          </a:prstGeom>
          <a:noFill/>
          <a:ln w="9525" algn="ctr">
            <a:noFill/>
            <a:miter lim="800000"/>
            <a:headEnd/>
            <a:tailEnd/>
          </a:ln>
        </p:spPr>
        <p:txBody>
          <a:bodyPr>
            <a:spAutoFit/>
          </a:bodyPr>
          <a:lstStyle/>
          <a:p>
            <a:pPr>
              <a:spcBef>
                <a:spcPct val="50000"/>
              </a:spcBef>
            </a:pPr>
            <a:r>
              <a:rPr lang="fi-FI" sz="1200"/>
              <a:t>Testiautomaation toteuttaja</a:t>
            </a:r>
            <a:endParaRPr lang="en-US" sz="1200"/>
          </a:p>
        </p:txBody>
      </p:sp>
      <p:sp>
        <p:nvSpPr>
          <p:cNvPr id="4113" name="Oval 17"/>
          <p:cNvSpPr>
            <a:spLocks noChangeArrowheads="1"/>
          </p:cNvSpPr>
          <p:nvPr/>
        </p:nvSpPr>
        <p:spPr bwMode="auto">
          <a:xfrm>
            <a:off x="2286000" y="6172200"/>
            <a:ext cx="142875" cy="144463"/>
          </a:xfrm>
          <a:prstGeom prst="ellipse">
            <a:avLst/>
          </a:prstGeom>
          <a:solidFill>
            <a:srgbClr val="99FF33"/>
          </a:solidFill>
          <a:ln w="9525" algn="ctr">
            <a:solidFill>
              <a:schemeClr val="tx1"/>
            </a:solidFill>
            <a:round/>
            <a:headEnd/>
            <a:tailEnd/>
          </a:ln>
        </p:spPr>
        <p:txBody>
          <a:bodyPr wrap="none" anchor="ctr"/>
          <a:lstStyle/>
          <a:p>
            <a:endParaRPr lang="fi-FI"/>
          </a:p>
        </p:txBody>
      </p:sp>
      <p:sp>
        <p:nvSpPr>
          <p:cNvPr id="4114" name="Text Box 18"/>
          <p:cNvSpPr txBox="1">
            <a:spLocks noChangeArrowheads="1"/>
          </p:cNvSpPr>
          <p:nvPr/>
        </p:nvSpPr>
        <p:spPr bwMode="auto">
          <a:xfrm>
            <a:off x="2501900" y="6100763"/>
            <a:ext cx="3240088" cy="274637"/>
          </a:xfrm>
          <a:prstGeom prst="rect">
            <a:avLst/>
          </a:prstGeom>
          <a:noFill/>
          <a:ln w="9525" algn="ctr">
            <a:noFill/>
            <a:miter lim="800000"/>
            <a:headEnd/>
            <a:tailEnd/>
          </a:ln>
        </p:spPr>
        <p:txBody>
          <a:bodyPr>
            <a:spAutoFit/>
          </a:bodyPr>
          <a:lstStyle/>
          <a:p>
            <a:pPr>
              <a:spcBef>
                <a:spcPct val="50000"/>
              </a:spcBef>
            </a:pPr>
            <a:r>
              <a:rPr lang="fi-FI" sz="1200"/>
              <a:t>Liiketoiminnan testaaja</a:t>
            </a:r>
            <a:endParaRPr lang="en-US" sz="1200"/>
          </a:p>
        </p:txBody>
      </p:sp>
      <p:sp>
        <p:nvSpPr>
          <p:cNvPr id="4115" name="Oval 19"/>
          <p:cNvSpPr>
            <a:spLocks noChangeArrowheads="1"/>
          </p:cNvSpPr>
          <p:nvPr/>
        </p:nvSpPr>
        <p:spPr bwMode="auto">
          <a:xfrm>
            <a:off x="5364163" y="5876925"/>
            <a:ext cx="142875" cy="144462"/>
          </a:xfrm>
          <a:prstGeom prst="ellipse">
            <a:avLst/>
          </a:prstGeom>
          <a:solidFill>
            <a:srgbClr val="FF9900"/>
          </a:solidFill>
          <a:ln w="9525" algn="ctr">
            <a:solidFill>
              <a:schemeClr val="tx1"/>
            </a:solidFill>
            <a:round/>
            <a:headEnd/>
            <a:tailEnd/>
          </a:ln>
        </p:spPr>
        <p:txBody>
          <a:bodyPr wrap="none" anchor="ctr"/>
          <a:lstStyle/>
          <a:p>
            <a:endParaRPr lang="fi-FI"/>
          </a:p>
        </p:txBody>
      </p:sp>
      <p:sp>
        <p:nvSpPr>
          <p:cNvPr id="4116" name="Text Box 20"/>
          <p:cNvSpPr txBox="1">
            <a:spLocks noChangeArrowheads="1"/>
          </p:cNvSpPr>
          <p:nvPr/>
        </p:nvSpPr>
        <p:spPr bwMode="auto">
          <a:xfrm>
            <a:off x="5580063" y="5805487"/>
            <a:ext cx="3563937" cy="461665"/>
          </a:xfrm>
          <a:prstGeom prst="rect">
            <a:avLst/>
          </a:prstGeom>
          <a:noFill/>
          <a:ln w="9525" algn="ctr">
            <a:noFill/>
            <a:miter lim="800000"/>
            <a:headEnd/>
            <a:tailEnd/>
          </a:ln>
        </p:spPr>
        <p:txBody>
          <a:bodyPr wrap="square">
            <a:spAutoFit/>
          </a:bodyPr>
          <a:lstStyle/>
          <a:p>
            <a:pPr>
              <a:spcBef>
                <a:spcPct val="50000"/>
              </a:spcBef>
            </a:pPr>
            <a:r>
              <a:rPr lang="fi-FI" sz="1200" dirty="0"/>
              <a:t>Erikoisalueen testausammattilainen </a:t>
            </a:r>
            <a:r>
              <a:rPr lang="fi-FI" sz="1200" dirty="0" smtClean="0"/>
              <a:t>(esim. suorituskyky</a:t>
            </a:r>
            <a:r>
              <a:rPr lang="fi-FI" sz="1200" dirty="0"/>
              <a:t>)</a:t>
            </a:r>
            <a:endParaRPr lang="en-US" sz="1200" dirty="0"/>
          </a:p>
        </p:txBody>
      </p:sp>
      <p:sp>
        <p:nvSpPr>
          <p:cNvPr id="4117" name="Oval 21"/>
          <p:cNvSpPr>
            <a:spLocks noChangeArrowheads="1"/>
          </p:cNvSpPr>
          <p:nvPr/>
        </p:nvSpPr>
        <p:spPr bwMode="auto">
          <a:xfrm>
            <a:off x="4716463" y="1868497"/>
            <a:ext cx="142875" cy="144462"/>
          </a:xfrm>
          <a:prstGeom prst="ellipse">
            <a:avLst/>
          </a:prstGeom>
          <a:solidFill>
            <a:srgbClr val="CC66FF"/>
          </a:solidFill>
          <a:ln w="9525" algn="ctr">
            <a:solidFill>
              <a:schemeClr val="tx1"/>
            </a:solidFill>
            <a:round/>
            <a:headEnd/>
            <a:tailEnd/>
          </a:ln>
        </p:spPr>
        <p:txBody>
          <a:bodyPr wrap="none" anchor="ctr"/>
          <a:lstStyle/>
          <a:p>
            <a:endParaRPr lang="fi-FI"/>
          </a:p>
        </p:txBody>
      </p:sp>
      <p:sp>
        <p:nvSpPr>
          <p:cNvPr id="4118" name="Oval 22"/>
          <p:cNvSpPr>
            <a:spLocks noChangeArrowheads="1"/>
          </p:cNvSpPr>
          <p:nvPr/>
        </p:nvSpPr>
        <p:spPr bwMode="auto">
          <a:xfrm>
            <a:off x="4786314" y="2084397"/>
            <a:ext cx="142875" cy="144462"/>
          </a:xfrm>
          <a:prstGeom prst="ellipse">
            <a:avLst/>
          </a:prstGeom>
          <a:solidFill>
            <a:srgbClr val="00FFFF"/>
          </a:solidFill>
          <a:ln w="9525" algn="ctr">
            <a:solidFill>
              <a:schemeClr val="tx1"/>
            </a:solidFill>
            <a:round/>
            <a:headEnd/>
            <a:tailEnd/>
          </a:ln>
        </p:spPr>
        <p:txBody>
          <a:bodyPr wrap="none" anchor="ctr"/>
          <a:lstStyle/>
          <a:p>
            <a:endParaRPr lang="fi-FI"/>
          </a:p>
        </p:txBody>
      </p:sp>
      <p:sp>
        <p:nvSpPr>
          <p:cNvPr id="4119" name="Oval 23"/>
          <p:cNvSpPr>
            <a:spLocks noChangeArrowheads="1"/>
          </p:cNvSpPr>
          <p:nvPr/>
        </p:nvSpPr>
        <p:spPr bwMode="auto">
          <a:xfrm>
            <a:off x="2714612" y="2447909"/>
            <a:ext cx="142875" cy="144462"/>
          </a:xfrm>
          <a:prstGeom prst="ellipse">
            <a:avLst/>
          </a:prstGeom>
          <a:solidFill>
            <a:srgbClr val="00FFFF"/>
          </a:solidFill>
          <a:ln w="9525" algn="ctr">
            <a:solidFill>
              <a:schemeClr val="tx1"/>
            </a:solidFill>
            <a:round/>
            <a:headEnd/>
            <a:tailEnd/>
          </a:ln>
        </p:spPr>
        <p:txBody>
          <a:bodyPr wrap="none" anchor="ctr"/>
          <a:lstStyle/>
          <a:p>
            <a:endParaRPr lang="fi-FI"/>
          </a:p>
        </p:txBody>
      </p:sp>
      <p:sp>
        <p:nvSpPr>
          <p:cNvPr id="4120" name="Oval 24"/>
          <p:cNvSpPr>
            <a:spLocks noChangeArrowheads="1"/>
          </p:cNvSpPr>
          <p:nvPr/>
        </p:nvSpPr>
        <p:spPr bwMode="auto">
          <a:xfrm>
            <a:off x="2662207" y="2647960"/>
            <a:ext cx="142875" cy="144463"/>
          </a:xfrm>
          <a:prstGeom prst="ellipse">
            <a:avLst/>
          </a:prstGeom>
          <a:solidFill>
            <a:srgbClr val="99FF33"/>
          </a:solidFill>
          <a:ln w="9525" algn="ctr">
            <a:solidFill>
              <a:schemeClr val="tx1"/>
            </a:solidFill>
            <a:round/>
            <a:headEnd/>
            <a:tailEnd/>
          </a:ln>
        </p:spPr>
        <p:txBody>
          <a:bodyPr wrap="none" anchor="ctr"/>
          <a:lstStyle/>
          <a:p>
            <a:endParaRPr lang="fi-FI"/>
          </a:p>
        </p:txBody>
      </p:sp>
      <p:sp>
        <p:nvSpPr>
          <p:cNvPr id="4121" name="Oval 25"/>
          <p:cNvSpPr>
            <a:spLocks noChangeArrowheads="1"/>
          </p:cNvSpPr>
          <p:nvPr/>
        </p:nvSpPr>
        <p:spPr bwMode="auto">
          <a:xfrm>
            <a:off x="2446307" y="2660636"/>
            <a:ext cx="142875" cy="144463"/>
          </a:xfrm>
          <a:prstGeom prst="ellipse">
            <a:avLst/>
          </a:prstGeom>
          <a:solidFill>
            <a:srgbClr val="CC66FF"/>
          </a:solidFill>
          <a:ln w="9525" algn="ctr">
            <a:solidFill>
              <a:schemeClr val="tx1"/>
            </a:solidFill>
            <a:round/>
            <a:headEnd/>
            <a:tailEnd/>
          </a:ln>
        </p:spPr>
        <p:txBody>
          <a:bodyPr wrap="none" anchor="ctr"/>
          <a:lstStyle/>
          <a:p>
            <a:endParaRPr lang="fi-FI"/>
          </a:p>
        </p:txBody>
      </p:sp>
      <p:sp>
        <p:nvSpPr>
          <p:cNvPr id="4122" name="Oval 26"/>
          <p:cNvSpPr>
            <a:spLocks noChangeArrowheads="1"/>
          </p:cNvSpPr>
          <p:nvPr/>
        </p:nvSpPr>
        <p:spPr bwMode="auto">
          <a:xfrm>
            <a:off x="2555875" y="4287861"/>
            <a:ext cx="142875" cy="144463"/>
          </a:xfrm>
          <a:prstGeom prst="ellipse">
            <a:avLst/>
          </a:prstGeom>
          <a:solidFill>
            <a:srgbClr val="99FF33"/>
          </a:solidFill>
          <a:ln w="9525" algn="ctr">
            <a:solidFill>
              <a:schemeClr val="tx1"/>
            </a:solidFill>
            <a:round/>
            <a:headEnd/>
            <a:tailEnd/>
          </a:ln>
        </p:spPr>
        <p:txBody>
          <a:bodyPr wrap="none" anchor="ctr"/>
          <a:lstStyle/>
          <a:p>
            <a:endParaRPr lang="fi-FI"/>
          </a:p>
        </p:txBody>
      </p:sp>
      <p:sp>
        <p:nvSpPr>
          <p:cNvPr id="4123" name="Oval 27"/>
          <p:cNvSpPr>
            <a:spLocks noChangeArrowheads="1"/>
          </p:cNvSpPr>
          <p:nvPr/>
        </p:nvSpPr>
        <p:spPr bwMode="auto">
          <a:xfrm>
            <a:off x="179388" y="4071961"/>
            <a:ext cx="142875" cy="144463"/>
          </a:xfrm>
          <a:prstGeom prst="ellipse">
            <a:avLst/>
          </a:prstGeom>
          <a:solidFill>
            <a:srgbClr val="FF6699"/>
          </a:solidFill>
          <a:ln w="9525" algn="ctr">
            <a:solidFill>
              <a:schemeClr val="tx1"/>
            </a:solidFill>
            <a:round/>
            <a:headEnd/>
            <a:tailEnd/>
          </a:ln>
        </p:spPr>
        <p:txBody>
          <a:bodyPr wrap="none" anchor="ctr"/>
          <a:lstStyle/>
          <a:p>
            <a:endParaRPr lang="fi-FI"/>
          </a:p>
        </p:txBody>
      </p:sp>
      <p:sp>
        <p:nvSpPr>
          <p:cNvPr id="4124" name="Oval 28"/>
          <p:cNvSpPr>
            <a:spLocks noChangeArrowheads="1"/>
          </p:cNvSpPr>
          <p:nvPr/>
        </p:nvSpPr>
        <p:spPr bwMode="auto">
          <a:xfrm>
            <a:off x="323850" y="4287861"/>
            <a:ext cx="142875" cy="144463"/>
          </a:xfrm>
          <a:prstGeom prst="ellipse">
            <a:avLst/>
          </a:prstGeom>
          <a:solidFill>
            <a:srgbClr val="99FF33"/>
          </a:solidFill>
          <a:ln w="9525" algn="ctr">
            <a:solidFill>
              <a:schemeClr val="tx1"/>
            </a:solidFill>
            <a:round/>
            <a:headEnd/>
            <a:tailEnd/>
          </a:ln>
        </p:spPr>
        <p:txBody>
          <a:bodyPr wrap="none" anchor="ctr"/>
          <a:lstStyle/>
          <a:p>
            <a:endParaRPr lang="fi-FI"/>
          </a:p>
        </p:txBody>
      </p:sp>
      <p:sp>
        <p:nvSpPr>
          <p:cNvPr id="4125" name="Oval 29"/>
          <p:cNvSpPr>
            <a:spLocks noChangeArrowheads="1"/>
          </p:cNvSpPr>
          <p:nvPr/>
        </p:nvSpPr>
        <p:spPr bwMode="auto">
          <a:xfrm>
            <a:off x="287307" y="3073415"/>
            <a:ext cx="142875" cy="144463"/>
          </a:xfrm>
          <a:prstGeom prst="ellipse">
            <a:avLst/>
          </a:prstGeom>
          <a:solidFill>
            <a:srgbClr val="FF6699"/>
          </a:solidFill>
          <a:ln w="9525" algn="ctr">
            <a:solidFill>
              <a:schemeClr val="tx1"/>
            </a:solidFill>
            <a:round/>
            <a:headEnd/>
            <a:tailEnd/>
          </a:ln>
        </p:spPr>
        <p:txBody>
          <a:bodyPr wrap="none" anchor="ctr"/>
          <a:lstStyle/>
          <a:p>
            <a:endParaRPr lang="fi-FI"/>
          </a:p>
        </p:txBody>
      </p:sp>
      <p:sp>
        <p:nvSpPr>
          <p:cNvPr id="4126" name="Oval 30"/>
          <p:cNvSpPr>
            <a:spLocks noChangeArrowheads="1"/>
          </p:cNvSpPr>
          <p:nvPr/>
        </p:nvSpPr>
        <p:spPr bwMode="auto">
          <a:xfrm>
            <a:off x="2555875" y="5437225"/>
            <a:ext cx="142875" cy="144463"/>
          </a:xfrm>
          <a:prstGeom prst="ellipse">
            <a:avLst/>
          </a:prstGeom>
          <a:solidFill>
            <a:srgbClr val="CC66FF"/>
          </a:solidFill>
          <a:ln w="9525" algn="ctr">
            <a:solidFill>
              <a:schemeClr val="tx1"/>
            </a:solidFill>
            <a:round/>
            <a:headEnd/>
            <a:tailEnd/>
          </a:ln>
        </p:spPr>
        <p:txBody>
          <a:bodyPr wrap="none" anchor="ctr"/>
          <a:lstStyle/>
          <a:p>
            <a:endParaRPr lang="fi-FI"/>
          </a:p>
        </p:txBody>
      </p:sp>
      <p:sp>
        <p:nvSpPr>
          <p:cNvPr id="4127" name="Oval 31"/>
          <p:cNvSpPr>
            <a:spLocks noChangeArrowheads="1"/>
          </p:cNvSpPr>
          <p:nvPr/>
        </p:nvSpPr>
        <p:spPr bwMode="auto">
          <a:xfrm>
            <a:off x="4822794" y="3144853"/>
            <a:ext cx="142875" cy="144462"/>
          </a:xfrm>
          <a:prstGeom prst="ellipse">
            <a:avLst/>
          </a:prstGeom>
          <a:solidFill>
            <a:srgbClr val="FF9900"/>
          </a:solidFill>
          <a:ln w="9525" algn="ctr">
            <a:solidFill>
              <a:schemeClr val="tx1"/>
            </a:solidFill>
            <a:round/>
            <a:headEnd/>
            <a:tailEnd/>
          </a:ln>
        </p:spPr>
        <p:txBody>
          <a:bodyPr wrap="none" anchor="ctr"/>
          <a:lstStyle/>
          <a:p>
            <a:endParaRPr lang="fi-FI"/>
          </a:p>
        </p:txBody>
      </p:sp>
      <p:sp>
        <p:nvSpPr>
          <p:cNvPr id="4128" name="Oval 32"/>
          <p:cNvSpPr>
            <a:spLocks noChangeArrowheads="1"/>
          </p:cNvSpPr>
          <p:nvPr/>
        </p:nvSpPr>
        <p:spPr bwMode="auto">
          <a:xfrm>
            <a:off x="4716463" y="4287861"/>
            <a:ext cx="142875" cy="144463"/>
          </a:xfrm>
          <a:prstGeom prst="ellipse">
            <a:avLst/>
          </a:prstGeom>
          <a:solidFill>
            <a:srgbClr val="FF9900"/>
          </a:solidFill>
          <a:ln w="9525" algn="ctr">
            <a:solidFill>
              <a:schemeClr val="tx1"/>
            </a:solidFill>
            <a:round/>
            <a:headEnd/>
            <a:tailEnd/>
          </a:ln>
        </p:spPr>
        <p:txBody>
          <a:bodyPr wrap="none" anchor="ctr"/>
          <a:lstStyle/>
          <a:p>
            <a:endParaRPr lang="fi-FI"/>
          </a:p>
        </p:txBody>
      </p:sp>
      <p:sp>
        <p:nvSpPr>
          <p:cNvPr id="4129" name="AutoShape 33"/>
          <p:cNvSpPr>
            <a:spLocks noChangeArrowheads="1"/>
          </p:cNvSpPr>
          <p:nvPr/>
        </p:nvSpPr>
        <p:spPr bwMode="auto">
          <a:xfrm>
            <a:off x="4572000" y="4668844"/>
            <a:ext cx="2160588" cy="1057306"/>
          </a:xfrm>
          <a:prstGeom prst="roundRect">
            <a:avLst>
              <a:gd name="adj" fmla="val 16667"/>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fi-FI" dirty="0"/>
              <a:t>Toimittajan testauksen laadunvalvonta</a:t>
            </a:r>
            <a:endParaRPr lang="en-US" dirty="0"/>
          </a:p>
        </p:txBody>
      </p:sp>
      <p:sp>
        <p:nvSpPr>
          <p:cNvPr id="4130" name="Oval 34"/>
          <p:cNvSpPr>
            <a:spLocks noChangeArrowheads="1"/>
          </p:cNvSpPr>
          <p:nvPr/>
        </p:nvSpPr>
        <p:spPr bwMode="auto">
          <a:xfrm>
            <a:off x="4714875" y="5437225"/>
            <a:ext cx="142875" cy="144463"/>
          </a:xfrm>
          <a:prstGeom prst="ellipse">
            <a:avLst/>
          </a:prstGeom>
          <a:solidFill>
            <a:srgbClr val="FF6699"/>
          </a:solidFill>
          <a:ln w="9525" algn="ctr">
            <a:solidFill>
              <a:schemeClr val="tx1"/>
            </a:solidFill>
            <a:round/>
            <a:headEnd/>
            <a:tailEnd/>
          </a:ln>
        </p:spPr>
        <p:txBody>
          <a:bodyPr wrap="none" anchor="ctr"/>
          <a:lstStyle/>
          <a:p>
            <a:endParaRPr lang="fi-FI"/>
          </a:p>
        </p:txBody>
      </p:sp>
      <p:sp>
        <p:nvSpPr>
          <p:cNvPr id="4131" name="AutoShape 35"/>
          <p:cNvSpPr>
            <a:spLocks noChangeArrowheads="1"/>
          </p:cNvSpPr>
          <p:nvPr/>
        </p:nvSpPr>
        <p:spPr bwMode="auto">
          <a:xfrm>
            <a:off x="6838919" y="2376471"/>
            <a:ext cx="2124075" cy="1057307"/>
          </a:xfrm>
          <a:prstGeom prst="roundRect">
            <a:avLst>
              <a:gd name="adj" fmla="val 16667"/>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fi-FI" dirty="0"/>
              <a:t>Testauksen pohjamateriaalin katselmoinnit</a:t>
            </a:r>
            <a:endParaRPr lang="en-US" dirty="0"/>
          </a:p>
        </p:txBody>
      </p:sp>
      <p:sp>
        <p:nvSpPr>
          <p:cNvPr id="4132" name="Oval 36"/>
          <p:cNvSpPr>
            <a:spLocks noChangeArrowheads="1"/>
          </p:cNvSpPr>
          <p:nvPr/>
        </p:nvSpPr>
        <p:spPr bwMode="auto">
          <a:xfrm>
            <a:off x="5364163" y="6426200"/>
            <a:ext cx="142875" cy="144463"/>
          </a:xfrm>
          <a:prstGeom prst="ellipse">
            <a:avLst/>
          </a:prstGeom>
          <a:solidFill>
            <a:srgbClr val="009999"/>
          </a:solidFill>
          <a:ln w="9525" algn="ctr">
            <a:solidFill>
              <a:schemeClr val="tx1"/>
            </a:solidFill>
            <a:round/>
            <a:headEnd/>
            <a:tailEnd/>
          </a:ln>
        </p:spPr>
        <p:txBody>
          <a:bodyPr wrap="none" anchor="ctr"/>
          <a:lstStyle/>
          <a:p>
            <a:endParaRPr lang="fi-FI"/>
          </a:p>
        </p:txBody>
      </p:sp>
      <p:sp>
        <p:nvSpPr>
          <p:cNvPr id="4133" name="Text Box 37"/>
          <p:cNvSpPr txBox="1">
            <a:spLocks noChangeArrowheads="1"/>
          </p:cNvSpPr>
          <p:nvPr/>
        </p:nvSpPr>
        <p:spPr bwMode="auto">
          <a:xfrm>
            <a:off x="5580063" y="6354763"/>
            <a:ext cx="3240087" cy="274637"/>
          </a:xfrm>
          <a:prstGeom prst="rect">
            <a:avLst/>
          </a:prstGeom>
          <a:noFill/>
          <a:ln w="9525" algn="ctr">
            <a:noFill/>
            <a:miter lim="800000"/>
            <a:headEnd/>
            <a:tailEnd/>
          </a:ln>
        </p:spPr>
        <p:txBody>
          <a:bodyPr>
            <a:spAutoFit/>
          </a:bodyPr>
          <a:lstStyle/>
          <a:p>
            <a:pPr>
              <a:spcBef>
                <a:spcPct val="50000"/>
              </a:spcBef>
            </a:pPr>
            <a:r>
              <a:rPr lang="fi-FI" sz="1200" dirty="0"/>
              <a:t>Testaustietoinen tekninen arkkitehti</a:t>
            </a:r>
            <a:endParaRPr lang="en-US" sz="1200" dirty="0"/>
          </a:p>
        </p:txBody>
      </p:sp>
      <p:sp>
        <p:nvSpPr>
          <p:cNvPr id="4134" name="Oval 38"/>
          <p:cNvSpPr>
            <a:spLocks noChangeArrowheads="1"/>
          </p:cNvSpPr>
          <p:nvPr/>
        </p:nvSpPr>
        <p:spPr bwMode="auto">
          <a:xfrm>
            <a:off x="6929454" y="2933712"/>
            <a:ext cx="142875" cy="144463"/>
          </a:xfrm>
          <a:prstGeom prst="ellipse">
            <a:avLst/>
          </a:prstGeom>
          <a:solidFill>
            <a:srgbClr val="009999"/>
          </a:solidFill>
          <a:ln w="9525" algn="ctr">
            <a:solidFill>
              <a:schemeClr val="tx1"/>
            </a:solidFill>
            <a:round/>
            <a:headEnd/>
            <a:tailEnd/>
          </a:ln>
        </p:spPr>
        <p:txBody>
          <a:bodyPr wrap="none" anchor="ctr"/>
          <a:lstStyle/>
          <a:p>
            <a:endParaRPr lang="fi-FI"/>
          </a:p>
        </p:txBody>
      </p:sp>
      <p:sp>
        <p:nvSpPr>
          <p:cNvPr id="4135" name="Oval 39"/>
          <p:cNvSpPr>
            <a:spLocks noChangeArrowheads="1"/>
          </p:cNvSpPr>
          <p:nvPr/>
        </p:nvSpPr>
        <p:spPr bwMode="auto">
          <a:xfrm>
            <a:off x="6929454" y="2576522"/>
            <a:ext cx="142875" cy="144463"/>
          </a:xfrm>
          <a:prstGeom prst="ellipse">
            <a:avLst/>
          </a:prstGeom>
          <a:solidFill>
            <a:srgbClr val="99FF33"/>
          </a:solidFill>
          <a:ln w="9525" algn="ctr">
            <a:solidFill>
              <a:schemeClr val="tx1"/>
            </a:solidFill>
            <a:round/>
            <a:headEnd/>
            <a:tailEnd/>
          </a:ln>
        </p:spPr>
        <p:txBody>
          <a:bodyPr wrap="none" anchor="ctr"/>
          <a:lstStyle/>
          <a:p>
            <a:endParaRPr lang="fi-FI"/>
          </a:p>
        </p:txBody>
      </p:sp>
      <p:sp>
        <p:nvSpPr>
          <p:cNvPr id="4136" name="Oval 40"/>
          <p:cNvSpPr>
            <a:spLocks noChangeArrowheads="1"/>
          </p:cNvSpPr>
          <p:nvPr/>
        </p:nvSpPr>
        <p:spPr bwMode="auto">
          <a:xfrm>
            <a:off x="7143768" y="2505084"/>
            <a:ext cx="142875" cy="144462"/>
          </a:xfrm>
          <a:prstGeom prst="ellipse">
            <a:avLst/>
          </a:prstGeom>
          <a:solidFill>
            <a:srgbClr val="CC66FF"/>
          </a:solidFill>
          <a:ln w="9525" algn="ctr">
            <a:solidFill>
              <a:schemeClr val="tx1"/>
            </a:solidFill>
            <a:round/>
            <a:headEnd/>
            <a:tailEnd/>
          </a:ln>
        </p:spPr>
        <p:txBody>
          <a:bodyPr wrap="none" anchor="ctr"/>
          <a:lstStyle/>
          <a:p>
            <a:endParaRPr lang="fi-FI"/>
          </a:p>
        </p:txBody>
      </p:sp>
      <p:sp>
        <p:nvSpPr>
          <p:cNvPr id="4137" name="AutoShape 41"/>
          <p:cNvSpPr>
            <a:spLocks noChangeArrowheads="1"/>
          </p:cNvSpPr>
          <p:nvPr/>
        </p:nvSpPr>
        <p:spPr bwMode="auto">
          <a:xfrm>
            <a:off x="6842125" y="3517892"/>
            <a:ext cx="2122488" cy="1057307"/>
          </a:xfrm>
          <a:prstGeom prst="roundRect">
            <a:avLst>
              <a:gd name="adj" fmla="val 16667"/>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fi-FI" dirty="0"/>
              <a:t>Työnjako isossa ja pienessä mittakaavassa sekä aikataulutus</a:t>
            </a:r>
            <a:endParaRPr lang="en-US" dirty="0"/>
          </a:p>
        </p:txBody>
      </p:sp>
      <p:sp>
        <p:nvSpPr>
          <p:cNvPr id="4138" name="Oval 42"/>
          <p:cNvSpPr>
            <a:spLocks noChangeArrowheads="1"/>
          </p:cNvSpPr>
          <p:nvPr/>
        </p:nvSpPr>
        <p:spPr bwMode="auto">
          <a:xfrm>
            <a:off x="7021513" y="4287861"/>
            <a:ext cx="142875" cy="144463"/>
          </a:xfrm>
          <a:prstGeom prst="ellipse">
            <a:avLst/>
          </a:prstGeom>
          <a:solidFill>
            <a:srgbClr val="FF6699"/>
          </a:solidFill>
          <a:ln w="9525" algn="ctr">
            <a:solidFill>
              <a:schemeClr val="tx1"/>
            </a:solidFill>
            <a:round/>
            <a:headEnd/>
            <a:tailEnd/>
          </a:ln>
        </p:spPr>
        <p:txBody>
          <a:bodyPr wrap="none" anchor="ctr"/>
          <a:lstStyle/>
          <a:p>
            <a:endParaRPr lang="fi-FI"/>
          </a:p>
        </p:txBody>
      </p:sp>
      <p:sp>
        <p:nvSpPr>
          <p:cNvPr id="4139" name="AutoShape 43"/>
          <p:cNvSpPr>
            <a:spLocks noChangeArrowheads="1"/>
          </p:cNvSpPr>
          <p:nvPr/>
        </p:nvSpPr>
        <p:spPr bwMode="auto">
          <a:xfrm>
            <a:off x="6804025" y="4668844"/>
            <a:ext cx="2122488" cy="1057306"/>
          </a:xfrm>
          <a:prstGeom prst="roundRect">
            <a:avLst>
              <a:gd name="adj" fmla="val 16667"/>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fi-FI"/>
              <a:t>Tavoiteohjaus ja mittarit</a:t>
            </a:r>
            <a:endParaRPr lang="en-US"/>
          </a:p>
        </p:txBody>
      </p:sp>
      <p:sp>
        <p:nvSpPr>
          <p:cNvPr id="4140" name="Oval 44"/>
          <p:cNvSpPr>
            <a:spLocks noChangeArrowheads="1"/>
          </p:cNvSpPr>
          <p:nvPr/>
        </p:nvSpPr>
        <p:spPr bwMode="auto">
          <a:xfrm>
            <a:off x="6948488" y="5365788"/>
            <a:ext cx="142875" cy="144462"/>
          </a:xfrm>
          <a:prstGeom prst="ellipse">
            <a:avLst/>
          </a:prstGeom>
          <a:solidFill>
            <a:srgbClr val="FF6699"/>
          </a:solidFill>
          <a:ln w="9525" algn="ctr">
            <a:solidFill>
              <a:schemeClr val="tx1"/>
            </a:solidFill>
            <a:round/>
            <a:headEnd/>
            <a:tailEnd/>
          </a:ln>
        </p:spPr>
        <p:txBody>
          <a:bodyPr wrap="none" anchor="ctr"/>
          <a:lstStyle/>
          <a:p>
            <a:endParaRPr lang="fi-FI"/>
          </a:p>
        </p:txBody>
      </p:sp>
      <p:sp>
        <p:nvSpPr>
          <p:cNvPr id="4141" name="AutoShape 45"/>
          <p:cNvSpPr>
            <a:spLocks noChangeArrowheads="1"/>
          </p:cNvSpPr>
          <p:nvPr/>
        </p:nvSpPr>
        <p:spPr bwMode="auto">
          <a:xfrm>
            <a:off x="6804025" y="1219200"/>
            <a:ext cx="2122488" cy="1057307"/>
          </a:xfrm>
          <a:prstGeom prst="roundRect">
            <a:avLst>
              <a:gd name="adj" fmla="val 16667"/>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fi-FI" dirty="0"/>
              <a:t>Havaintojen käsittely ja tiedonkeruu</a:t>
            </a:r>
            <a:endParaRPr lang="en-US" dirty="0"/>
          </a:p>
        </p:txBody>
      </p:sp>
      <p:sp>
        <p:nvSpPr>
          <p:cNvPr id="4142" name="Oval 46"/>
          <p:cNvSpPr>
            <a:spLocks noChangeArrowheads="1"/>
          </p:cNvSpPr>
          <p:nvPr/>
        </p:nvSpPr>
        <p:spPr bwMode="auto">
          <a:xfrm>
            <a:off x="6948488" y="1916144"/>
            <a:ext cx="142875" cy="144463"/>
          </a:xfrm>
          <a:prstGeom prst="ellipse">
            <a:avLst/>
          </a:prstGeom>
          <a:solidFill>
            <a:srgbClr val="FF6699"/>
          </a:solidFill>
          <a:ln w="9525" algn="ctr">
            <a:solidFill>
              <a:schemeClr val="tx1"/>
            </a:solidFill>
            <a:round/>
            <a:headEnd/>
            <a:tailEnd/>
          </a:ln>
        </p:spPr>
        <p:txBody>
          <a:bodyPr wrap="none" anchor="ctr"/>
          <a:lstStyle/>
          <a:p>
            <a:endParaRPr lang="fi-FI"/>
          </a:p>
        </p:txBody>
      </p:sp>
      <p:sp>
        <p:nvSpPr>
          <p:cNvPr id="4143" name="Oval 47"/>
          <p:cNvSpPr>
            <a:spLocks noChangeArrowheads="1"/>
          </p:cNvSpPr>
          <p:nvPr/>
        </p:nvSpPr>
        <p:spPr bwMode="auto">
          <a:xfrm>
            <a:off x="7164388" y="2060607"/>
            <a:ext cx="142875" cy="144462"/>
          </a:xfrm>
          <a:prstGeom prst="ellipse">
            <a:avLst/>
          </a:prstGeom>
          <a:solidFill>
            <a:srgbClr val="99FF33"/>
          </a:solidFill>
          <a:ln w="9525" algn="ctr">
            <a:solidFill>
              <a:schemeClr val="tx1"/>
            </a:solidFill>
            <a:round/>
            <a:headEnd/>
            <a:tailEnd/>
          </a:ln>
        </p:spPr>
        <p:txBody>
          <a:bodyPr wrap="none" anchor="ctr"/>
          <a:lstStyle/>
          <a:p>
            <a:endParaRPr lang="fi-FI"/>
          </a:p>
        </p:txBody>
      </p:sp>
      <p:sp>
        <p:nvSpPr>
          <p:cNvPr id="4144" name="Oval 48"/>
          <p:cNvSpPr>
            <a:spLocks noChangeArrowheads="1"/>
          </p:cNvSpPr>
          <p:nvPr/>
        </p:nvSpPr>
        <p:spPr bwMode="auto">
          <a:xfrm>
            <a:off x="2286000" y="6438900"/>
            <a:ext cx="142875" cy="144462"/>
          </a:xfrm>
          <a:prstGeom prst="ellipse">
            <a:avLst/>
          </a:prstGeom>
          <a:solidFill>
            <a:srgbClr val="FFFF00"/>
          </a:solidFill>
          <a:ln w="9525" algn="ctr">
            <a:solidFill>
              <a:schemeClr val="tx1"/>
            </a:solidFill>
            <a:round/>
            <a:headEnd/>
            <a:tailEnd/>
          </a:ln>
        </p:spPr>
        <p:txBody>
          <a:bodyPr wrap="none" anchor="ctr"/>
          <a:lstStyle/>
          <a:p>
            <a:endParaRPr lang="fi-FI"/>
          </a:p>
        </p:txBody>
      </p:sp>
      <p:sp>
        <p:nvSpPr>
          <p:cNvPr id="4145" name="Text Box 49"/>
          <p:cNvSpPr txBox="1">
            <a:spLocks noChangeArrowheads="1"/>
          </p:cNvSpPr>
          <p:nvPr/>
        </p:nvSpPr>
        <p:spPr bwMode="auto">
          <a:xfrm>
            <a:off x="2501900" y="6388100"/>
            <a:ext cx="3240088" cy="274638"/>
          </a:xfrm>
          <a:prstGeom prst="rect">
            <a:avLst/>
          </a:prstGeom>
          <a:noFill/>
          <a:ln w="9525" algn="ctr">
            <a:noFill/>
            <a:miter lim="800000"/>
            <a:headEnd/>
            <a:tailEnd/>
          </a:ln>
        </p:spPr>
        <p:txBody>
          <a:bodyPr>
            <a:spAutoFit/>
          </a:bodyPr>
          <a:lstStyle/>
          <a:p>
            <a:pPr>
              <a:spcBef>
                <a:spcPct val="50000"/>
              </a:spcBef>
            </a:pPr>
            <a:r>
              <a:rPr lang="fi-FI" sz="1200" dirty="0"/>
              <a:t>Liiketoiminnan testausvastaava </a:t>
            </a:r>
            <a:endParaRPr lang="en-US" sz="1200" dirty="0"/>
          </a:p>
        </p:txBody>
      </p:sp>
      <p:sp>
        <p:nvSpPr>
          <p:cNvPr id="4146" name="Oval 50"/>
          <p:cNvSpPr>
            <a:spLocks noChangeArrowheads="1"/>
          </p:cNvSpPr>
          <p:nvPr/>
        </p:nvSpPr>
        <p:spPr bwMode="auto">
          <a:xfrm>
            <a:off x="395288" y="4071961"/>
            <a:ext cx="142875" cy="144463"/>
          </a:xfrm>
          <a:prstGeom prst="ellipse">
            <a:avLst/>
          </a:prstGeom>
          <a:solidFill>
            <a:srgbClr val="FFFF00"/>
          </a:solidFill>
          <a:ln w="9525" algn="ctr">
            <a:solidFill>
              <a:schemeClr val="tx1"/>
            </a:solidFill>
            <a:round/>
            <a:headEnd/>
            <a:tailEnd/>
          </a:ln>
        </p:spPr>
        <p:txBody>
          <a:bodyPr wrap="none" anchor="ctr"/>
          <a:lstStyle/>
          <a:p>
            <a:endParaRPr lang="fi-FI"/>
          </a:p>
        </p:txBody>
      </p:sp>
      <p:sp>
        <p:nvSpPr>
          <p:cNvPr id="4147" name="Oval 51"/>
          <p:cNvSpPr>
            <a:spLocks noChangeArrowheads="1"/>
          </p:cNvSpPr>
          <p:nvPr/>
        </p:nvSpPr>
        <p:spPr bwMode="auto">
          <a:xfrm>
            <a:off x="4932363" y="1931993"/>
            <a:ext cx="142875" cy="144463"/>
          </a:xfrm>
          <a:prstGeom prst="ellipse">
            <a:avLst/>
          </a:prstGeom>
          <a:solidFill>
            <a:srgbClr val="FFFF00"/>
          </a:solidFill>
          <a:ln w="9525" algn="ctr">
            <a:solidFill>
              <a:schemeClr val="tx1"/>
            </a:solidFill>
            <a:round/>
            <a:headEnd/>
            <a:tailEnd/>
          </a:ln>
        </p:spPr>
        <p:txBody>
          <a:bodyPr wrap="none" anchor="ctr"/>
          <a:lstStyle/>
          <a:p>
            <a:endParaRPr lang="fi-FI"/>
          </a:p>
        </p:txBody>
      </p:sp>
      <p:sp>
        <p:nvSpPr>
          <p:cNvPr id="4148" name="Oval 52"/>
          <p:cNvSpPr>
            <a:spLocks noChangeArrowheads="1"/>
          </p:cNvSpPr>
          <p:nvPr/>
        </p:nvSpPr>
        <p:spPr bwMode="auto">
          <a:xfrm>
            <a:off x="2411413" y="4071961"/>
            <a:ext cx="142875" cy="144463"/>
          </a:xfrm>
          <a:prstGeom prst="ellipse">
            <a:avLst/>
          </a:prstGeom>
          <a:solidFill>
            <a:srgbClr val="FFFF00"/>
          </a:solidFill>
          <a:ln w="9525" algn="ctr">
            <a:solidFill>
              <a:schemeClr val="tx1"/>
            </a:solidFill>
            <a:round/>
            <a:headEnd/>
            <a:tailEnd/>
          </a:ln>
        </p:spPr>
        <p:txBody>
          <a:bodyPr wrap="none" anchor="ctr"/>
          <a:lstStyle/>
          <a:p>
            <a:endParaRPr lang="fi-FI"/>
          </a:p>
        </p:txBody>
      </p:sp>
      <p:sp>
        <p:nvSpPr>
          <p:cNvPr id="4149" name="Oval 53"/>
          <p:cNvSpPr>
            <a:spLocks noChangeArrowheads="1"/>
          </p:cNvSpPr>
          <p:nvPr/>
        </p:nvSpPr>
        <p:spPr bwMode="auto">
          <a:xfrm>
            <a:off x="2535192" y="2446322"/>
            <a:ext cx="142875" cy="144463"/>
          </a:xfrm>
          <a:prstGeom prst="ellipse">
            <a:avLst/>
          </a:prstGeom>
          <a:solidFill>
            <a:srgbClr val="FFFF00"/>
          </a:solidFill>
          <a:ln w="9525" algn="ctr">
            <a:solidFill>
              <a:schemeClr val="tx1"/>
            </a:solidFill>
            <a:round/>
            <a:headEnd/>
            <a:tailEnd/>
          </a:ln>
        </p:spPr>
        <p:txBody>
          <a:bodyPr wrap="none" anchor="ctr"/>
          <a:lstStyle/>
          <a:p>
            <a:endParaRPr lang="fi-FI"/>
          </a:p>
        </p:txBody>
      </p:sp>
      <p:sp>
        <p:nvSpPr>
          <p:cNvPr id="4150" name="Oval 54"/>
          <p:cNvSpPr>
            <a:spLocks noChangeArrowheads="1"/>
          </p:cNvSpPr>
          <p:nvPr/>
        </p:nvSpPr>
        <p:spPr bwMode="auto">
          <a:xfrm>
            <a:off x="6877050" y="4143399"/>
            <a:ext cx="142875" cy="144462"/>
          </a:xfrm>
          <a:prstGeom prst="ellipse">
            <a:avLst/>
          </a:prstGeom>
          <a:solidFill>
            <a:srgbClr val="FFFF00"/>
          </a:solidFill>
          <a:ln w="9525" algn="ctr">
            <a:solidFill>
              <a:schemeClr val="tx1"/>
            </a:solidFill>
            <a:round/>
            <a:headEnd/>
            <a:tailEnd/>
          </a:ln>
        </p:spPr>
        <p:txBody>
          <a:bodyPr wrap="none" anchor="ctr"/>
          <a:lstStyle/>
          <a:p>
            <a:endParaRPr lang="fi-FI"/>
          </a:p>
        </p:txBody>
      </p:sp>
      <p:sp>
        <p:nvSpPr>
          <p:cNvPr id="4151" name="Oval 55"/>
          <p:cNvSpPr>
            <a:spLocks noChangeArrowheads="1"/>
          </p:cNvSpPr>
          <p:nvPr/>
        </p:nvSpPr>
        <p:spPr bwMode="auto">
          <a:xfrm>
            <a:off x="6877050" y="5149888"/>
            <a:ext cx="142875" cy="144462"/>
          </a:xfrm>
          <a:prstGeom prst="ellipse">
            <a:avLst/>
          </a:prstGeom>
          <a:solidFill>
            <a:srgbClr val="FFFF00"/>
          </a:solidFill>
          <a:ln w="9525" algn="ctr">
            <a:solidFill>
              <a:schemeClr val="tx1"/>
            </a:solidFill>
            <a:round/>
            <a:headEnd/>
            <a:tailEnd/>
          </a:ln>
        </p:spPr>
        <p:txBody>
          <a:bodyPr wrap="none" anchor="ctr"/>
          <a:lstStyle/>
          <a:p>
            <a:endParaRPr lang="fi-FI"/>
          </a:p>
        </p:txBody>
      </p:sp>
      <p:sp>
        <p:nvSpPr>
          <p:cNvPr id="56" name="Oval 48"/>
          <p:cNvSpPr>
            <a:spLocks noChangeArrowheads="1"/>
          </p:cNvSpPr>
          <p:nvPr/>
        </p:nvSpPr>
        <p:spPr bwMode="auto">
          <a:xfrm>
            <a:off x="463490" y="3224222"/>
            <a:ext cx="142875" cy="144462"/>
          </a:xfrm>
          <a:prstGeom prst="ellipse">
            <a:avLst/>
          </a:prstGeom>
          <a:solidFill>
            <a:srgbClr val="FFFF00"/>
          </a:solidFill>
          <a:ln w="9525" algn="ctr">
            <a:solidFill>
              <a:schemeClr val="tx1"/>
            </a:solidFill>
            <a:round/>
            <a:headEnd/>
            <a:tailEnd/>
          </a:ln>
        </p:spPr>
        <p:txBody>
          <a:bodyPr wrap="none" anchor="ctr"/>
          <a:lstStyle/>
          <a:p>
            <a:endParaRPr lang="fi-FI"/>
          </a:p>
        </p:txBody>
      </p:sp>
      <p:sp>
        <p:nvSpPr>
          <p:cNvPr id="57" name="AutoShape 5"/>
          <p:cNvSpPr>
            <a:spLocks noChangeArrowheads="1"/>
          </p:cNvSpPr>
          <p:nvPr/>
        </p:nvSpPr>
        <p:spPr bwMode="auto">
          <a:xfrm>
            <a:off x="71406" y="4662499"/>
            <a:ext cx="2160588" cy="1057306"/>
          </a:xfrm>
          <a:prstGeom prst="roundRect">
            <a:avLst>
              <a:gd name="adj" fmla="val 16667"/>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fi-FI" dirty="0" smtClean="0"/>
              <a:t>Testiaineistot</a:t>
            </a:r>
            <a:endParaRPr lang="en-US" dirty="0"/>
          </a:p>
        </p:txBody>
      </p:sp>
      <p:sp>
        <p:nvSpPr>
          <p:cNvPr id="60" name="Oval 51"/>
          <p:cNvSpPr>
            <a:spLocks noChangeArrowheads="1"/>
          </p:cNvSpPr>
          <p:nvPr/>
        </p:nvSpPr>
        <p:spPr bwMode="auto">
          <a:xfrm>
            <a:off x="428597" y="5424537"/>
            <a:ext cx="142875" cy="144463"/>
          </a:xfrm>
          <a:prstGeom prst="ellipse">
            <a:avLst/>
          </a:prstGeom>
          <a:solidFill>
            <a:srgbClr val="FFFF00"/>
          </a:solidFill>
          <a:ln w="9525" algn="ctr">
            <a:solidFill>
              <a:schemeClr val="tx1"/>
            </a:solidFill>
            <a:round/>
            <a:headEnd/>
            <a:tailEnd/>
          </a:ln>
        </p:spPr>
        <p:txBody>
          <a:bodyPr wrap="none" anchor="ctr"/>
          <a:lstStyle/>
          <a:p>
            <a:endParaRPr lang="fi-FI"/>
          </a:p>
        </p:txBody>
      </p:sp>
      <p:sp>
        <p:nvSpPr>
          <p:cNvPr id="61" name="Oval 26"/>
          <p:cNvSpPr>
            <a:spLocks noChangeArrowheads="1"/>
          </p:cNvSpPr>
          <p:nvPr/>
        </p:nvSpPr>
        <p:spPr bwMode="auto">
          <a:xfrm>
            <a:off x="214282" y="5281661"/>
            <a:ext cx="142875" cy="144463"/>
          </a:xfrm>
          <a:prstGeom prst="ellipse">
            <a:avLst/>
          </a:prstGeom>
          <a:solidFill>
            <a:srgbClr val="99FF33"/>
          </a:solidFill>
          <a:ln w="9525" algn="ctr">
            <a:solidFill>
              <a:schemeClr val="tx1"/>
            </a:solidFill>
            <a:round/>
            <a:headEnd/>
            <a:tailEnd/>
          </a:ln>
        </p:spPr>
        <p:txBody>
          <a:bodyPr wrap="none" anchor="ctr"/>
          <a:lstStyle/>
          <a:p>
            <a:endParaRPr lang="fi-FI"/>
          </a:p>
        </p:txBody>
      </p:sp>
      <p:pic>
        <p:nvPicPr>
          <p:cNvPr id="2" name="Picture 2" descr="E:\Documents and Settings\maarit\Local Settings\Temporary Internet Files\Content.IE5\D5A60OM1\MC900078741[1].wmf"/>
          <p:cNvPicPr>
            <a:picLocks noChangeAspect="1" noChangeArrowheads="1"/>
          </p:cNvPicPr>
          <p:nvPr/>
        </p:nvPicPr>
        <p:blipFill>
          <a:blip r:embed="rId3" cstate="print"/>
          <a:srcRect/>
          <a:stretch>
            <a:fillRect/>
          </a:stretch>
        </p:blipFill>
        <p:spPr bwMode="auto">
          <a:xfrm>
            <a:off x="285720" y="685800"/>
            <a:ext cx="807839" cy="1214446"/>
          </a:xfrm>
          <a:prstGeom prst="rect">
            <a:avLst/>
          </a:prstGeom>
          <a:noFill/>
        </p:spPr>
      </p:pic>
      <p:pic>
        <p:nvPicPr>
          <p:cNvPr id="63" name="Picture 2" descr="E:\Documents and Settings\maarit\Local Settings\Temporary Internet Files\Content.IE5\D5A60OM1\MC900078741[1].wmf"/>
          <p:cNvPicPr>
            <a:picLocks noChangeAspect="1" noChangeArrowheads="1"/>
          </p:cNvPicPr>
          <p:nvPr/>
        </p:nvPicPr>
        <p:blipFill>
          <a:blip r:embed="rId3" cstate="print"/>
          <a:srcRect/>
          <a:stretch>
            <a:fillRect/>
          </a:stretch>
        </p:blipFill>
        <p:spPr bwMode="auto">
          <a:xfrm>
            <a:off x="1142976" y="685800"/>
            <a:ext cx="807839" cy="1214446"/>
          </a:xfrm>
          <a:prstGeom prst="rect">
            <a:avLst/>
          </a:prstGeom>
          <a:noFill/>
        </p:spPr>
      </p:pic>
      <p:sp>
        <p:nvSpPr>
          <p:cNvPr id="64" name="TextBox 63"/>
          <p:cNvSpPr txBox="1"/>
          <p:nvPr/>
        </p:nvSpPr>
        <p:spPr>
          <a:xfrm>
            <a:off x="214282" y="1900246"/>
            <a:ext cx="857256" cy="461665"/>
          </a:xfrm>
          <a:prstGeom prst="rect">
            <a:avLst/>
          </a:prstGeom>
          <a:noFill/>
        </p:spPr>
        <p:txBody>
          <a:bodyPr wrap="square" rtlCol="0">
            <a:spAutoFit/>
          </a:bodyPr>
          <a:lstStyle/>
          <a:p>
            <a:pPr algn="ctr"/>
            <a:r>
              <a:rPr lang="fi-FI" sz="1200" dirty="0" smtClean="0"/>
              <a:t>Projekti-päällikkö</a:t>
            </a:r>
            <a:endParaRPr lang="fi-FI" sz="1200" dirty="0"/>
          </a:p>
        </p:txBody>
      </p:sp>
      <p:sp>
        <p:nvSpPr>
          <p:cNvPr id="65" name="TextBox 64"/>
          <p:cNvSpPr txBox="1"/>
          <p:nvPr/>
        </p:nvSpPr>
        <p:spPr>
          <a:xfrm>
            <a:off x="1142976" y="1900246"/>
            <a:ext cx="857256" cy="461665"/>
          </a:xfrm>
          <a:prstGeom prst="rect">
            <a:avLst/>
          </a:prstGeom>
          <a:noFill/>
        </p:spPr>
        <p:txBody>
          <a:bodyPr wrap="square" rtlCol="0">
            <a:spAutoFit/>
          </a:bodyPr>
          <a:lstStyle/>
          <a:p>
            <a:pPr algn="ctr"/>
            <a:r>
              <a:rPr lang="fi-FI" sz="1200" dirty="0" smtClean="0"/>
              <a:t>Testaus-päällikkö</a:t>
            </a:r>
            <a:endParaRPr lang="fi-FI" sz="1200" dirty="0"/>
          </a:p>
        </p:txBody>
      </p:sp>
      <p:sp>
        <p:nvSpPr>
          <p:cNvPr id="66" name="Slide Number Placeholder 65"/>
          <p:cNvSpPr>
            <a:spLocks noGrp="1"/>
          </p:cNvSpPr>
          <p:nvPr>
            <p:ph type="sldNum" sz="quarter" idx="12"/>
          </p:nvPr>
        </p:nvSpPr>
        <p:spPr/>
        <p:txBody>
          <a:bodyPr/>
          <a:lstStyle/>
          <a:p>
            <a:fld id="{7A750B4A-325E-4AA4-BC07-A8C35B32A4F3}" type="slidenum">
              <a:rPr lang="fi-FI" smtClean="0"/>
              <a:pPr/>
              <a:t>168</a:t>
            </a:fld>
            <a:endParaRPr lang="fi-FI"/>
          </a:p>
        </p:txBody>
      </p:sp>
      <p:sp>
        <p:nvSpPr>
          <p:cNvPr id="67" name="Explosion 1 66"/>
          <p:cNvSpPr/>
          <p:nvPr/>
        </p:nvSpPr>
        <p:spPr>
          <a:xfrm>
            <a:off x="2714612" y="1290638"/>
            <a:ext cx="1285884" cy="928694"/>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Riskit</a:t>
            </a:r>
            <a:endParaRPr lang="fi-FI" dirty="0"/>
          </a:p>
        </p:txBody>
      </p:sp>
    </p:spTree>
  </p:cSld>
  <p:clrMapOvr>
    <a:masterClrMapping/>
  </p:clrMapOvr>
  <p:timing>
    <p:tnLst>
      <p:par>
        <p:cTn xmlns:p14="http://schemas.microsoft.com/office/powerpoint/2010/mai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fi-FI" dirty="0" smtClean="0"/>
              <a:t>Harjoitus: Valmistelukohteet käytännössä</a:t>
            </a:r>
            <a:endParaRPr lang="fi-FI" dirty="0"/>
          </a:p>
        </p:txBody>
      </p:sp>
      <p:sp>
        <p:nvSpPr>
          <p:cNvPr id="4" name="Content Placeholder 3"/>
          <p:cNvSpPr>
            <a:spLocks noGrp="1"/>
          </p:cNvSpPr>
          <p:nvPr>
            <p:ph idx="1"/>
          </p:nvPr>
        </p:nvSpPr>
        <p:spPr/>
        <p:txBody>
          <a:bodyPr/>
          <a:lstStyle/>
          <a:p>
            <a:r>
              <a:rPr lang="fi-FI" dirty="0" smtClean="0"/>
              <a:t>Keskustellaan ryhmissä: </a:t>
            </a:r>
          </a:p>
          <a:p>
            <a:pPr lvl="1"/>
            <a:r>
              <a:rPr lang="fi-FI" dirty="0" smtClean="0"/>
              <a:t>Mitä ”hyväksymistestauksen valmistelut” –kokonaisuuksia teillä kuuluu hyväksymistestauksen valmisteluun? </a:t>
            </a:r>
          </a:p>
          <a:p>
            <a:pPr lvl="1"/>
            <a:r>
              <a:rPr lang="fi-FI" dirty="0" smtClean="0"/>
              <a:t>Mitkä valmistelukohteet ovat teillä keskeisiä, minkä painotusta pitäisi lisätä? </a:t>
            </a:r>
          </a:p>
          <a:p>
            <a:pPr lvl="1"/>
            <a:r>
              <a:rPr lang="fi-FI" dirty="0" smtClean="0"/>
              <a:t>Miten valmistelut käytännössä tehdään?</a:t>
            </a:r>
          </a:p>
          <a:p>
            <a:endParaRPr lang="fi-FI" dirty="0"/>
          </a:p>
        </p:txBody>
      </p:sp>
      <p:pic>
        <p:nvPicPr>
          <p:cNvPr id="10242" name="Picture 2" descr="E:\Documents and Settings\maarit\Local Settings\Temporary Internet Files\Content.IE5\SNIUDFF1\MC900078749[1].wmf"/>
          <p:cNvPicPr>
            <a:picLocks noChangeAspect="1" noChangeArrowheads="1"/>
          </p:cNvPicPr>
          <p:nvPr/>
        </p:nvPicPr>
        <p:blipFill>
          <a:blip r:embed="rId3" cstate="print"/>
          <a:srcRect/>
          <a:stretch>
            <a:fillRect/>
          </a:stretch>
        </p:blipFill>
        <p:spPr bwMode="auto">
          <a:xfrm>
            <a:off x="5181600" y="4964208"/>
            <a:ext cx="3571900" cy="1489128"/>
          </a:xfrm>
          <a:prstGeom prst="rect">
            <a:avLst/>
          </a:prstGeom>
          <a:noFill/>
        </p:spPr>
      </p:pic>
      <p:sp>
        <p:nvSpPr>
          <p:cNvPr id="5" name="Slide Number Placeholder 4"/>
          <p:cNvSpPr>
            <a:spLocks noGrp="1"/>
          </p:cNvSpPr>
          <p:nvPr>
            <p:ph type="sldNum" sz="quarter" idx="12"/>
          </p:nvPr>
        </p:nvSpPr>
        <p:spPr/>
        <p:txBody>
          <a:bodyPr/>
          <a:lstStyle/>
          <a:p>
            <a:fld id="{7A750B4A-325E-4AA4-BC07-A8C35B32A4F3}" type="slidenum">
              <a:rPr lang="fi-FI" smtClean="0"/>
              <a:pPr/>
              <a:t>169</a:t>
            </a:fld>
            <a:endParaRPr lang="fi-FI"/>
          </a:p>
        </p:txBody>
      </p:sp>
    </p:spTree>
  </p:cSld>
  <p:clrMapOvr>
    <a:masterClrMapping/>
  </p:clrMapOvr>
  <p:timing>
    <p:tnLst>
      <p:par>
        <p:cTn xmlns:p14="http://schemas.microsoft.com/office/powerpoint/2010/mai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09346" name="Rectangle 2"/>
          <p:cNvSpPr>
            <a:spLocks noGrp="1" noChangeArrowheads="1"/>
          </p:cNvSpPr>
          <p:nvPr>
            <p:ph type="title"/>
          </p:nvPr>
        </p:nvSpPr>
        <p:spPr/>
        <p:txBody>
          <a:bodyPr/>
          <a:lstStyle/>
          <a:p>
            <a:r>
              <a:rPr lang="en-GB"/>
              <a:t>Testaus on investointi laatutietoon</a:t>
            </a:r>
          </a:p>
        </p:txBody>
      </p:sp>
      <p:sp>
        <p:nvSpPr>
          <p:cNvPr id="1209347" name="Rectangle 3"/>
          <p:cNvSpPr>
            <a:spLocks noChangeArrowheads="1"/>
          </p:cNvSpPr>
          <p:nvPr/>
        </p:nvSpPr>
        <p:spPr bwMode="auto">
          <a:xfrm>
            <a:off x="2590800" y="1295400"/>
            <a:ext cx="6324600" cy="5105400"/>
          </a:xfrm>
          <a:prstGeom prst="rect">
            <a:avLst/>
          </a:prstGeom>
          <a:gradFill rotWithShape="0">
            <a:gsLst>
              <a:gs pos="0">
                <a:srgbClr val="FF3300"/>
              </a:gs>
              <a:gs pos="100000">
                <a:srgbClr val="FFFFFF"/>
              </a:gs>
            </a:gsLst>
            <a:path path="rect">
              <a:fillToRect l="100000" b="100000"/>
            </a:path>
          </a:gradFill>
          <a:ln w="9525">
            <a:noFill/>
            <a:miter lim="800000"/>
            <a:headEnd/>
            <a:tailEnd/>
          </a:ln>
          <a:effectLst/>
        </p:spPr>
        <p:txBody>
          <a:bodyPr wrap="none" anchor="ctr"/>
          <a:lstStyle/>
          <a:p>
            <a:endParaRPr lang="fi-FI"/>
          </a:p>
        </p:txBody>
      </p:sp>
      <p:sp>
        <p:nvSpPr>
          <p:cNvPr id="1209348" name="Freeform 4"/>
          <p:cNvSpPr>
            <a:spLocks/>
          </p:cNvSpPr>
          <p:nvPr/>
        </p:nvSpPr>
        <p:spPr bwMode="auto">
          <a:xfrm>
            <a:off x="2590800" y="1295400"/>
            <a:ext cx="6248400" cy="5105400"/>
          </a:xfrm>
          <a:custGeom>
            <a:avLst/>
            <a:gdLst/>
            <a:ahLst/>
            <a:cxnLst>
              <a:cxn ang="0">
                <a:pos x="5" y="86"/>
              </a:cxn>
              <a:cxn ang="0">
                <a:pos x="5" y="1142"/>
              </a:cxn>
              <a:cxn ang="0">
                <a:pos x="1205" y="1142"/>
              </a:cxn>
              <a:cxn ang="0">
                <a:pos x="1191" y="851"/>
              </a:cxn>
              <a:cxn ang="0">
                <a:pos x="1173" y="815"/>
              </a:cxn>
              <a:cxn ang="0">
                <a:pos x="1138" y="708"/>
              </a:cxn>
              <a:cxn ang="0">
                <a:pos x="1084" y="583"/>
              </a:cxn>
              <a:cxn ang="0">
                <a:pos x="1031" y="512"/>
              </a:cxn>
              <a:cxn ang="0">
                <a:pos x="1007" y="476"/>
              </a:cxn>
              <a:cxn ang="0">
                <a:pos x="995" y="459"/>
              </a:cxn>
              <a:cxn ang="0">
                <a:pos x="888" y="310"/>
              </a:cxn>
              <a:cxn ang="0">
                <a:pos x="829" y="245"/>
              </a:cxn>
              <a:cxn ang="0">
                <a:pos x="698" y="144"/>
              </a:cxn>
              <a:cxn ang="0">
                <a:pos x="520" y="67"/>
              </a:cxn>
              <a:cxn ang="0">
                <a:pos x="170" y="43"/>
              </a:cxn>
              <a:cxn ang="0">
                <a:pos x="5" y="86"/>
              </a:cxn>
            </a:cxnLst>
            <a:rect l="0" t="0" r="r" b="b"/>
            <a:pathLst>
              <a:path w="1249" h="1142">
                <a:moveTo>
                  <a:pt x="5" y="86"/>
                </a:moveTo>
                <a:lnTo>
                  <a:pt x="5" y="1142"/>
                </a:lnTo>
                <a:lnTo>
                  <a:pt x="1205" y="1142"/>
                </a:lnTo>
                <a:cubicBezTo>
                  <a:pt x="1226" y="1047"/>
                  <a:pt x="1249" y="933"/>
                  <a:pt x="1191" y="851"/>
                </a:cubicBezTo>
                <a:cubicBezTo>
                  <a:pt x="1169" y="785"/>
                  <a:pt x="1204" y="885"/>
                  <a:pt x="1173" y="815"/>
                </a:cubicBezTo>
                <a:cubicBezTo>
                  <a:pt x="1158" y="782"/>
                  <a:pt x="1150" y="743"/>
                  <a:pt x="1138" y="708"/>
                </a:cubicBezTo>
                <a:cubicBezTo>
                  <a:pt x="1124" y="667"/>
                  <a:pt x="1112" y="616"/>
                  <a:pt x="1084" y="583"/>
                </a:cubicBezTo>
                <a:cubicBezTo>
                  <a:pt x="1060" y="555"/>
                  <a:pt x="1049" y="544"/>
                  <a:pt x="1031" y="512"/>
                </a:cubicBezTo>
                <a:cubicBezTo>
                  <a:pt x="1024" y="499"/>
                  <a:pt x="1015" y="488"/>
                  <a:pt x="1007" y="476"/>
                </a:cubicBezTo>
                <a:cubicBezTo>
                  <a:pt x="1003" y="470"/>
                  <a:pt x="995" y="459"/>
                  <a:pt x="995" y="459"/>
                </a:cubicBezTo>
                <a:cubicBezTo>
                  <a:pt x="974" y="397"/>
                  <a:pt x="943" y="347"/>
                  <a:pt x="888" y="310"/>
                </a:cubicBezTo>
                <a:cubicBezTo>
                  <a:pt x="872" y="286"/>
                  <a:pt x="853" y="261"/>
                  <a:pt x="829" y="245"/>
                </a:cubicBezTo>
                <a:cubicBezTo>
                  <a:pt x="798" y="198"/>
                  <a:pt x="748" y="169"/>
                  <a:pt x="698" y="144"/>
                </a:cubicBezTo>
                <a:cubicBezTo>
                  <a:pt x="642" y="116"/>
                  <a:pt x="584" y="76"/>
                  <a:pt x="520" y="67"/>
                </a:cubicBezTo>
                <a:cubicBezTo>
                  <a:pt x="400" y="49"/>
                  <a:pt x="292" y="47"/>
                  <a:pt x="170" y="43"/>
                </a:cubicBezTo>
                <a:cubicBezTo>
                  <a:pt x="53" y="47"/>
                  <a:pt x="0" y="0"/>
                  <a:pt x="5" y="86"/>
                </a:cubicBezTo>
                <a:close/>
              </a:path>
            </a:pathLst>
          </a:custGeom>
          <a:gradFill rotWithShape="0">
            <a:gsLst>
              <a:gs pos="0">
                <a:schemeClr val="hlink"/>
              </a:gs>
              <a:gs pos="100000">
                <a:srgbClr val="FFCCFF"/>
              </a:gs>
            </a:gsLst>
            <a:path path="rect">
              <a:fillToRect t="100000" r="100000"/>
            </a:path>
          </a:gradFill>
          <a:ln w="9525">
            <a:noFill/>
            <a:round/>
            <a:headEnd/>
            <a:tailEnd/>
          </a:ln>
          <a:effectLst/>
        </p:spPr>
        <p:txBody>
          <a:bodyPr/>
          <a:lstStyle/>
          <a:p>
            <a:endParaRPr lang="fi-FI"/>
          </a:p>
        </p:txBody>
      </p:sp>
      <p:sp>
        <p:nvSpPr>
          <p:cNvPr id="1209349" name="Freeform 5"/>
          <p:cNvSpPr>
            <a:spLocks/>
          </p:cNvSpPr>
          <p:nvPr/>
        </p:nvSpPr>
        <p:spPr bwMode="auto">
          <a:xfrm>
            <a:off x="2590800" y="2209800"/>
            <a:ext cx="4876800" cy="4191000"/>
          </a:xfrm>
          <a:custGeom>
            <a:avLst/>
            <a:gdLst/>
            <a:ahLst/>
            <a:cxnLst>
              <a:cxn ang="0">
                <a:pos x="5" y="86"/>
              </a:cxn>
              <a:cxn ang="0">
                <a:pos x="5" y="1142"/>
              </a:cxn>
              <a:cxn ang="0">
                <a:pos x="1205" y="1142"/>
              </a:cxn>
              <a:cxn ang="0">
                <a:pos x="1191" y="851"/>
              </a:cxn>
              <a:cxn ang="0">
                <a:pos x="1173" y="815"/>
              </a:cxn>
              <a:cxn ang="0">
                <a:pos x="1138" y="708"/>
              </a:cxn>
              <a:cxn ang="0">
                <a:pos x="1084" y="583"/>
              </a:cxn>
              <a:cxn ang="0">
                <a:pos x="1031" y="512"/>
              </a:cxn>
              <a:cxn ang="0">
                <a:pos x="1007" y="476"/>
              </a:cxn>
              <a:cxn ang="0">
                <a:pos x="995" y="459"/>
              </a:cxn>
              <a:cxn ang="0">
                <a:pos x="888" y="310"/>
              </a:cxn>
              <a:cxn ang="0">
                <a:pos x="829" y="245"/>
              </a:cxn>
              <a:cxn ang="0">
                <a:pos x="698" y="144"/>
              </a:cxn>
              <a:cxn ang="0">
                <a:pos x="520" y="67"/>
              </a:cxn>
              <a:cxn ang="0">
                <a:pos x="170" y="43"/>
              </a:cxn>
              <a:cxn ang="0">
                <a:pos x="5" y="86"/>
              </a:cxn>
            </a:cxnLst>
            <a:rect l="0" t="0" r="r" b="b"/>
            <a:pathLst>
              <a:path w="1249" h="1142">
                <a:moveTo>
                  <a:pt x="5" y="86"/>
                </a:moveTo>
                <a:lnTo>
                  <a:pt x="5" y="1142"/>
                </a:lnTo>
                <a:lnTo>
                  <a:pt x="1205" y="1142"/>
                </a:lnTo>
                <a:cubicBezTo>
                  <a:pt x="1226" y="1047"/>
                  <a:pt x="1249" y="933"/>
                  <a:pt x="1191" y="851"/>
                </a:cubicBezTo>
                <a:cubicBezTo>
                  <a:pt x="1169" y="785"/>
                  <a:pt x="1204" y="885"/>
                  <a:pt x="1173" y="815"/>
                </a:cubicBezTo>
                <a:cubicBezTo>
                  <a:pt x="1158" y="782"/>
                  <a:pt x="1150" y="743"/>
                  <a:pt x="1138" y="708"/>
                </a:cubicBezTo>
                <a:cubicBezTo>
                  <a:pt x="1124" y="667"/>
                  <a:pt x="1112" y="616"/>
                  <a:pt x="1084" y="583"/>
                </a:cubicBezTo>
                <a:cubicBezTo>
                  <a:pt x="1060" y="555"/>
                  <a:pt x="1049" y="544"/>
                  <a:pt x="1031" y="512"/>
                </a:cubicBezTo>
                <a:cubicBezTo>
                  <a:pt x="1024" y="499"/>
                  <a:pt x="1015" y="488"/>
                  <a:pt x="1007" y="476"/>
                </a:cubicBezTo>
                <a:cubicBezTo>
                  <a:pt x="1003" y="470"/>
                  <a:pt x="995" y="459"/>
                  <a:pt x="995" y="459"/>
                </a:cubicBezTo>
                <a:cubicBezTo>
                  <a:pt x="974" y="397"/>
                  <a:pt x="943" y="347"/>
                  <a:pt x="888" y="310"/>
                </a:cubicBezTo>
                <a:cubicBezTo>
                  <a:pt x="872" y="286"/>
                  <a:pt x="853" y="261"/>
                  <a:pt x="829" y="245"/>
                </a:cubicBezTo>
                <a:cubicBezTo>
                  <a:pt x="798" y="198"/>
                  <a:pt x="748" y="169"/>
                  <a:pt x="698" y="144"/>
                </a:cubicBezTo>
                <a:cubicBezTo>
                  <a:pt x="642" y="116"/>
                  <a:pt x="584" y="76"/>
                  <a:pt x="520" y="67"/>
                </a:cubicBezTo>
                <a:cubicBezTo>
                  <a:pt x="400" y="49"/>
                  <a:pt x="292" y="47"/>
                  <a:pt x="170" y="43"/>
                </a:cubicBezTo>
                <a:cubicBezTo>
                  <a:pt x="53" y="47"/>
                  <a:pt x="0" y="0"/>
                  <a:pt x="5" y="86"/>
                </a:cubicBezTo>
                <a:close/>
              </a:path>
            </a:pathLst>
          </a:custGeom>
          <a:gradFill rotWithShape="0">
            <a:gsLst>
              <a:gs pos="0">
                <a:schemeClr val="hlink"/>
              </a:gs>
              <a:gs pos="100000">
                <a:srgbClr val="FFFF99"/>
              </a:gs>
            </a:gsLst>
            <a:path path="rect">
              <a:fillToRect t="100000" r="100000"/>
            </a:path>
          </a:gradFill>
          <a:ln w="9525">
            <a:noFill/>
            <a:round/>
            <a:headEnd/>
            <a:tailEnd/>
          </a:ln>
          <a:effectLst/>
        </p:spPr>
        <p:txBody>
          <a:bodyPr/>
          <a:lstStyle/>
          <a:p>
            <a:endParaRPr lang="fi-FI"/>
          </a:p>
        </p:txBody>
      </p:sp>
      <p:sp>
        <p:nvSpPr>
          <p:cNvPr id="1209350" name="Freeform 6"/>
          <p:cNvSpPr>
            <a:spLocks/>
          </p:cNvSpPr>
          <p:nvPr/>
        </p:nvSpPr>
        <p:spPr bwMode="auto">
          <a:xfrm>
            <a:off x="2582863" y="3200400"/>
            <a:ext cx="3513137" cy="3200400"/>
          </a:xfrm>
          <a:custGeom>
            <a:avLst/>
            <a:gdLst/>
            <a:ahLst/>
            <a:cxnLst>
              <a:cxn ang="0">
                <a:pos x="5" y="86"/>
              </a:cxn>
              <a:cxn ang="0">
                <a:pos x="5" y="1142"/>
              </a:cxn>
              <a:cxn ang="0">
                <a:pos x="1205" y="1142"/>
              </a:cxn>
              <a:cxn ang="0">
                <a:pos x="1191" y="851"/>
              </a:cxn>
              <a:cxn ang="0">
                <a:pos x="1173" y="815"/>
              </a:cxn>
              <a:cxn ang="0">
                <a:pos x="1138" y="708"/>
              </a:cxn>
              <a:cxn ang="0">
                <a:pos x="1084" y="583"/>
              </a:cxn>
              <a:cxn ang="0">
                <a:pos x="1031" y="512"/>
              </a:cxn>
              <a:cxn ang="0">
                <a:pos x="1007" y="476"/>
              </a:cxn>
              <a:cxn ang="0">
                <a:pos x="995" y="459"/>
              </a:cxn>
              <a:cxn ang="0">
                <a:pos x="888" y="310"/>
              </a:cxn>
              <a:cxn ang="0">
                <a:pos x="829" y="245"/>
              </a:cxn>
              <a:cxn ang="0">
                <a:pos x="698" y="144"/>
              </a:cxn>
              <a:cxn ang="0">
                <a:pos x="520" y="67"/>
              </a:cxn>
              <a:cxn ang="0">
                <a:pos x="170" y="43"/>
              </a:cxn>
              <a:cxn ang="0">
                <a:pos x="5" y="86"/>
              </a:cxn>
            </a:cxnLst>
            <a:rect l="0" t="0" r="r" b="b"/>
            <a:pathLst>
              <a:path w="1249" h="1142">
                <a:moveTo>
                  <a:pt x="5" y="86"/>
                </a:moveTo>
                <a:lnTo>
                  <a:pt x="5" y="1142"/>
                </a:lnTo>
                <a:lnTo>
                  <a:pt x="1205" y="1142"/>
                </a:lnTo>
                <a:cubicBezTo>
                  <a:pt x="1226" y="1047"/>
                  <a:pt x="1249" y="933"/>
                  <a:pt x="1191" y="851"/>
                </a:cubicBezTo>
                <a:cubicBezTo>
                  <a:pt x="1169" y="785"/>
                  <a:pt x="1204" y="885"/>
                  <a:pt x="1173" y="815"/>
                </a:cubicBezTo>
                <a:cubicBezTo>
                  <a:pt x="1158" y="782"/>
                  <a:pt x="1150" y="743"/>
                  <a:pt x="1138" y="708"/>
                </a:cubicBezTo>
                <a:cubicBezTo>
                  <a:pt x="1124" y="667"/>
                  <a:pt x="1112" y="616"/>
                  <a:pt x="1084" y="583"/>
                </a:cubicBezTo>
                <a:cubicBezTo>
                  <a:pt x="1060" y="555"/>
                  <a:pt x="1049" y="544"/>
                  <a:pt x="1031" y="512"/>
                </a:cubicBezTo>
                <a:cubicBezTo>
                  <a:pt x="1024" y="499"/>
                  <a:pt x="1015" y="488"/>
                  <a:pt x="1007" y="476"/>
                </a:cubicBezTo>
                <a:cubicBezTo>
                  <a:pt x="1003" y="470"/>
                  <a:pt x="995" y="459"/>
                  <a:pt x="995" y="459"/>
                </a:cubicBezTo>
                <a:cubicBezTo>
                  <a:pt x="974" y="397"/>
                  <a:pt x="943" y="347"/>
                  <a:pt x="888" y="310"/>
                </a:cubicBezTo>
                <a:cubicBezTo>
                  <a:pt x="872" y="286"/>
                  <a:pt x="853" y="261"/>
                  <a:pt x="829" y="245"/>
                </a:cubicBezTo>
                <a:cubicBezTo>
                  <a:pt x="798" y="198"/>
                  <a:pt x="748" y="169"/>
                  <a:pt x="698" y="144"/>
                </a:cubicBezTo>
                <a:cubicBezTo>
                  <a:pt x="642" y="116"/>
                  <a:pt x="584" y="76"/>
                  <a:pt x="520" y="67"/>
                </a:cubicBezTo>
                <a:cubicBezTo>
                  <a:pt x="400" y="49"/>
                  <a:pt x="292" y="47"/>
                  <a:pt x="170" y="43"/>
                </a:cubicBezTo>
                <a:cubicBezTo>
                  <a:pt x="53" y="47"/>
                  <a:pt x="0" y="0"/>
                  <a:pt x="5" y="86"/>
                </a:cubicBezTo>
                <a:close/>
              </a:path>
            </a:pathLst>
          </a:custGeom>
          <a:gradFill rotWithShape="0">
            <a:gsLst>
              <a:gs pos="0">
                <a:schemeClr val="hlink"/>
              </a:gs>
              <a:gs pos="100000">
                <a:srgbClr val="CCFFCC"/>
              </a:gs>
            </a:gsLst>
            <a:path path="rect">
              <a:fillToRect t="100000" r="100000"/>
            </a:path>
          </a:gradFill>
          <a:ln w="9525">
            <a:noFill/>
            <a:round/>
            <a:headEnd/>
            <a:tailEnd/>
          </a:ln>
          <a:effectLst/>
        </p:spPr>
        <p:txBody>
          <a:bodyPr/>
          <a:lstStyle/>
          <a:p>
            <a:endParaRPr lang="fi-FI"/>
          </a:p>
        </p:txBody>
      </p:sp>
      <p:sp>
        <p:nvSpPr>
          <p:cNvPr id="1209351" name="Freeform 7"/>
          <p:cNvSpPr>
            <a:spLocks/>
          </p:cNvSpPr>
          <p:nvPr/>
        </p:nvSpPr>
        <p:spPr bwMode="auto">
          <a:xfrm>
            <a:off x="2590800" y="4587875"/>
            <a:ext cx="1982788" cy="1812925"/>
          </a:xfrm>
          <a:custGeom>
            <a:avLst/>
            <a:gdLst/>
            <a:ahLst/>
            <a:cxnLst>
              <a:cxn ang="0">
                <a:pos x="5" y="86"/>
              </a:cxn>
              <a:cxn ang="0">
                <a:pos x="5" y="1142"/>
              </a:cxn>
              <a:cxn ang="0">
                <a:pos x="1205" y="1142"/>
              </a:cxn>
              <a:cxn ang="0">
                <a:pos x="1191" y="851"/>
              </a:cxn>
              <a:cxn ang="0">
                <a:pos x="1173" y="815"/>
              </a:cxn>
              <a:cxn ang="0">
                <a:pos x="1138" y="708"/>
              </a:cxn>
              <a:cxn ang="0">
                <a:pos x="1084" y="583"/>
              </a:cxn>
              <a:cxn ang="0">
                <a:pos x="1031" y="512"/>
              </a:cxn>
              <a:cxn ang="0">
                <a:pos x="1007" y="476"/>
              </a:cxn>
              <a:cxn ang="0">
                <a:pos x="995" y="459"/>
              </a:cxn>
              <a:cxn ang="0">
                <a:pos x="888" y="310"/>
              </a:cxn>
              <a:cxn ang="0">
                <a:pos x="829" y="245"/>
              </a:cxn>
              <a:cxn ang="0">
                <a:pos x="698" y="144"/>
              </a:cxn>
              <a:cxn ang="0">
                <a:pos x="520" y="67"/>
              </a:cxn>
              <a:cxn ang="0">
                <a:pos x="170" y="43"/>
              </a:cxn>
              <a:cxn ang="0">
                <a:pos x="5" y="86"/>
              </a:cxn>
            </a:cxnLst>
            <a:rect l="0" t="0" r="r" b="b"/>
            <a:pathLst>
              <a:path w="1249" h="1142">
                <a:moveTo>
                  <a:pt x="5" y="86"/>
                </a:moveTo>
                <a:lnTo>
                  <a:pt x="5" y="1142"/>
                </a:lnTo>
                <a:lnTo>
                  <a:pt x="1205" y="1142"/>
                </a:lnTo>
                <a:cubicBezTo>
                  <a:pt x="1226" y="1047"/>
                  <a:pt x="1249" y="933"/>
                  <a:pt x="1191" y="851"/>
                </a:cubicBezTo>
                <a:cubicBezTo>
                  <a:pt x="1169" y="785"/>
                  <a:pt x="1204" y="885"/>
                  <a:pt x="1173" y="815"/>
                </a:cubicBezTo>
                <a:cubicBezTo>
                  <a:pt x="1158" y="782"/>
                  <a:pt x="1150" y="743"/>
                  <a:pt x="1138" y="708"/>
                </a:cubicBezTo>
                <a:cubicBezTo>
                  <a:pt x="1124" y="667"/>
                  <a:pt x="1112" y="616"/>
                  <a:pt x="1084" y="583"/>
                </a:cubicBezTo>
                <a:cubicBezTo>
                  <a:pt x="1060" y="555"/>
                  <a:pt x="1049" y="544"/>
                  <a:pt x="1031" y="512"/>
                </a:cubicBezTo>
                <a:cubicBezTo>
                  <a:pt x="1024" y="499"/>
                  <a:pt x="1015" y="488"/>
                  <a:pt x="1007" y="476"/>
                </a:cubicBezTo>
                <a:cubicBezTo>
                  <a:pt x="1003" y="470"/>
                  <a:pt x="995" y="459"/>
                  <a:pt x="995" y="459"/>
                </a:cubicBezTo>
                <a:cubicBezTo>
                  <a:pt x="974" y="397"/>
                  <a:pt x="943" y="347"/>
                  <a:pt x="888" y="310"/>
                </a:cubicBezTo>
                <a:cubicBezTo>
                  <a:pt x="872" y="286"/>
                  <a:pt x="853" y="261"/>
                  <a:pt x="829" y="245"/>
                </a:cubicBezTo>
                <a:cubicBezTo>
                  <a:pt x="798" y="198"/>
                  <a:pt x="748" y="169"/>
                  <a:pt x="698" y="144"/>
                </a:cubicBezTo>
                <a:cubicBezTo>
                  <a:pt x="642" y="116"/>
                  <a:pt x="584" y="76"/>
                  <a:pt x="520" y="67"/>
                </a:cubicBezTo>
                <a:cubicBezTo>
                  <a:pt x="400" y="49"/>
                  <a:pt x="292" y="47"/>
                  <a:pt x="170" y="43"/>
                </a:cubicBezTo>
                <a:cubicBezTo>
                  <a:pt x="53" y="47"/>
                  <a:pt x="0" y="0"/>
                  <a:pt x="5" y="86"/>
                </a:cubicBezTo>
                <a:close/>
              </a:path>
            </a:pathLst>
          </a:custGeom>
          <a:gradFill rotWithShape="0">
            <a:gsLst>
              <a:gs pos="0">
                <a:schemeClr val="hlink"/>
              </a:gs>
              <a:gs pos="100000">
                <a:schemeClr val="accent1"/>
              </a:gs>
            </a:gsLst>
            <a:path path="rect">
              <a:fillToRect t="100000" r="100000"/>
            </a:path>
          </a:gradFill>
          <a:ln w="9525">
            <a:noFill/>
            <a:round/>
            <a:headEnd/>
            <a:tailEnd/>
          </a:ln>
          <a:effectLst/>
        </p:spPr>
        <p:txBody>
          <a:bodyPr/>
          <a:lstStyle/>
          <a:p>
            <a:endParaRPr lang="fi-FI"/>
          </a:p>
        </p:txBody>
      </p:sp>
      <p:sp>
        <p:nvSpPr>
          <p:cNvPr id="1209352" name="Text Box 8"/>
          <p:cNvSpPr txBox="1">
            <a:spLocks noChangeArrowheads="1"/>
          </p:cNvSpPr>
          <p:nvPr/>
        </p:nvSpPr>
        <p:spPr bwMode="auto">
          <a:xfrm>
            <a:off x="2667000" y="5486400"/>
            <a:ext cx="1600200" cy="549275"/>
          </a:xfrm>
          <a:prstGeom prst="rect">
            <a:avLst/>
          </a:prstGeom>
          <a:noFill/>
          <a:ln w="9525">
            <a:noFill/>
            <a:miter lim="800000"/>
            <a:headEnd/>
            <a:tailEnd/>
          </a:ln>
          <a:effectLst/>
        </p:spPr>
        <p:txBody>
          <a:bodyPr>
            <a:spAutoFit/>
          </a:bodyPr>
          <a:lstStyle/>
          <a:p>
            <a:pPr algn="ctr" eaLnBrk="1" hangingPunct="1">
              <a:spcBef>
                <a:spcPct val="50000"/>
              </a:spcBef>
            </a:pPr>
            <a:r>
              <a:rPr lang="en-US" sz="1800" b="1">
                <a:latin typeface="Arial" pitchFamily="34" charset="0"/>
              </a:rPr>
              <a:t>Tuki</a:t>
            </a:r>
            <a:r>
              <a:rPr lang="en-US" sz="1800">
                <a:latin typeface="Arial" pitchFamily="34" charset="0"/>
              </a:rPr>
              <a:t/>
            </a:r>
            <a:br>
              <a:rPr lang="en-US" sz="1800">
                <a:latin typeface="Arial" pitchFamily="34" charset="0"/>
              </a:rPr>
            </a:br>
            <a:r>
              <a:rPr lang="en-US" sz="1200">
                <a:latin typeface="Arial" pitchFamily="34" charset="0"/>
              </a:rPr>
              <a:t>(3 mtkk)</a:t>
            </a:r>
            <a:endParaRPr lang="en-GB" sz="1200">
              <a:latin typeface="Arial" pitchFamily="34" charset="0"/>
            </a:endParaRPr>
          </a:p>
        </p:txBody>
      </p:sp>
      <p:sp>
        <p:nvSpPr>
          <p:cNvPr id="1209353" name="Text Box 9"/>
          <p:cNvSpPr txBox="1">
            <a:spLocks noChangeArrowheads="1"/>
          </p:cNvSpPr>
          <p:nvPr/>
        </p:nvSpPr>
        <p:spPr bwMode="auto">
          <a:xfrm>
            <a:off x="2819400" y="3794125"/>
            <a:ext cx="1752600" cy="549275"/>
          </a:xfrm>
          <a:prstGeom prst="rect">
            <a:avLst/>
          </a:prstGeom>
          <a:noFill/>
          <a:ln w="9525">
            <a:noFill/>
            <a:miter lim="800000"/>
            <a:headEnd/>
            <a:tailEnd/>
          </a:ln>
          <a:effectLst/>
        </p:spPr>
        <p:txBody>
          <a:bodyPr>
            <a:spAutoFit/>
          </a:bodyPr>
          <a:lstStyle/>
          <a:p>
            <a:pPr algn="ctr" eaLnBrk="1" hangingPunct="1">
              <a:spcBef>
                <a:spcPct val="50000"/>
              </a:spcBef>
            </a:pPr>
            <a:r>
              <a:rPr lang="en-US" sz="1800" b="1">
                <a:latin typeface="Arial" pitchFamily="34" charset="0"/>
              </a:rPr>
              <a:t>Minimaalinen</a:t>
            </a:r>
            <a:r>
              <a:rPr lang="en-US" sz="1800">
                <a:latin typeface="Arial" pitchFamily="34" charset="0"/>
              </a:rPr>
              <a:t/>
            </a:r>
            <a:br>
              <a:rPr lang="en-US" sz="1800">
                <a:latin typeface="Arial" pitchFamily="34" charset="0"/>
              </a:rPr>
            </a:br>
            <a:r>
              <a:rPr lang="en-US" sz="1200">
                <a:latin typeface="Arial" pitchFamily="34" charset="0"/>
              </a:rPr>
              <a:t>(+6 mtkk)</a:t>
            </a:r>
            <a:endParaRPr lang="en-GB" sz="1200">
              <a:latin typeface="Arial" pitchFamily="34" charset="0"/>
            </a:endParaRPr>
          </a:p>
        </p:txBody>
      </p:sp>
      <p:sp>
        <p:nvSpPr>
          <p:cNvPr id="1209354" name="Text Box 10"/>
          <p:cNvSpPr txBox="1">
            <a:spLocks noChangeArrowheads="1"/>
          </p:cNvSpPr>
          <p:nvPr/>
        </p:nvSpPr>
        <p:spPr bwMode="auto">
          <a:xfrm>
            <a:off x="2895600" y="2574925"/>
            <a:ext cx="1981200" cy="549275"/>
          </a:xfrm>
          <a:prstGeom prst="rect">
            <a:avLst/>
          </a:prstGeom>
          <a:noFill/>
          <a:ln w="9525">
            <a:noFill/>
            <a:miter lim="800000"/>
            <a:headEnd/>
            <a:tailEnd/>
          </a:ln>
          <a:effectLst/>
        </p:spPr>
        <p:txBody>
          <a:bodyPr>
            <a:spAutoFit/>
          </a:bodyPr>
          <a:lstStyle/>
          <a:p>
            <a:pPr algn="ctr" eaLnBrk="1" hangingPunct="1">
              <a:spcBef>
                <a:spcPct val="50000"/>
              </a:spcBef>
            </a:pPr>
            <a:r>
              <a:rPr lang="en-US" sz="1800" b="1">
                <a:latin typeface="Arial" pitchFamily="34" charset="0"/>
              </a:rPr>
              <a:t>Riskisuunnattu</a:t>
            </a:r>
            <a:r>
              <a:rPr lang="en-US" sz="1800">
                <a:latin typeface="Arial" pitchFamily="34" charset="0"/>
              </a:rPr>
              <a:t/>
            </a:r>
            <a:br>
              <a:rPr lang="en-US" sz="1800">
                <a:latin typeface="Arial" pitchFamily="34" charset="0"/>
              </a:rPr>
            </a:br>
            <a:r>
              <a:rPr lang="en-US" sz="1200">
                <a:latin typeface="Arial" pitchFamily="34" charset="0"/>
              </a:rPr>
              <a:t>(+3 mtkk)</a:t>
            </a:r>
            <a:endParaRPr lang="en-GB" sz="1200">
              <a:latin typeface="Arial" pitchFamily="34" charset="0"/>
            </a:endParaRPr>
          </a:p>
        </p:txBody>
      </p:sp>
      <p:sp>
        <p:nvSpPr>
          <p:cNvPr id="1209355" name="Text Box 11"/>
          <p:cNvSpPr txBox="1">
            <a:spLocks noChangeArrowheads="1"/>
          </p:cNvSpPr>
          <p:nvPr/>
        </p:nvSpPr>
        <p:spPr bwMode="auto">
          <a:xfrm>
            <a:off x="3124200" y="1676400"/>
            <a:ext cx="2286000" cy="549275"/>
          </a:xfrm>
          <a:prstGeom prst="rect">
            <a:avLst/>
          </a:prstGeom>
          <a:noFill/>
          <a:ln w="9525">
            <a:noFill/>
            <a:miter lim="800000"/>
            <a:headEnd/>
            <a:tailEnd/>
          </a:ln>
          <a:effectLst/>
        </p:spPr>
        <p:txBody>
          <a:bodyPr>
            <a:spAutoFit/>
          </a:bodyPr>
          <a:lstStyle/>
          <a:p>
            <a:pPr algn="ctr" eaLnBrk="1" hangingPunct="1">
              <a:spcBef>
                <a:spcPct val="50000"/>
              </a:spcBef>
            </a:pPr>
            <a:r>
              <a:rPr lang="en-US" sz="1800" b="1">
                <a:latin typeface="Arial" pitchFamily="34" charset="0"/>
              </a:rPr>
              <a:t>Riskejä torjuva</a:t>
            </a:r>
            <a:r>
              <a:rPr lang="en-US" sz="1800">
                <a:latin typeface="Arial" pitchFamily="34" charset="0"/>
              </a:rPr>
              <a:t/>
            </a:r>
            <a:br>
              <a:rPr lang="en-US" sz="1800">
                <a:latin typeface="Arial" pitchFamily="34" charset="0"/>
              </a:rPr>
            </a:br>
            <a:r>
              <a:rPr lang="en-US" sz="1200">
                <a:latin typeface="Arial" pitchFamily="34" charset="0"/>
              </a:rPr>
              <a:t>(+4 mtkk)</a:t>
            </a:r>
            <a:endParaRPr lang="en-GB" sz="1200">
              <a:latin typeface="Arial" pitchFamily="34" charset="0"/>
            </a:endParaRPr>
          </a:p>
        </p:txBody>
      </p:sp>
      <p:sp>
        <p:nvSpPr>
          <p:cNvPr id="1209356" name="Text Box 12"/>
          <p:cNvSpPr txBox="1">
            <a:spLocks noChangeArrowheads="1"/>
          </p:cNvSpPr>
          <p:nvPr/>
        </p:nvSpPr>
        <p:spPr bwMode="auto">
          <a:xfrm>
            <a:off x="6934200" y="1828800"/>
            <a:ext cx="1828800" cy="549275"/>
          </a:xfrm>
          <a:prstGeom prst="rect">
            <a:avLst/>
          </a:prstGeom>
          <a:noFill/>
          <a:ln w="9525">
            <a:noFill/>
            <a:miter lim="800000"/>
            <a:headEnd/>
            <a:tailEnd/>
          </a:ln>
          <a:effectLst/>
        </p:spPr>
        <p:txBody>
          <a:bodyPr>
            <a:spAutoFit/>
          </a:bodyPr>
          <a:lstStyle/>
          <a:p>
            <a:pPr algn="ctr" eaLnBrk="1" hangingPunct="1">
              <a:spcBef>
                <a:spcPct val="50000"/>
              </a:spcBef>
            </a:pPr>
            <a:r>
              <a:rPr lang="en-US" sz="1800" b="1">
                <a:latin typeface="Arial" pitchFamily="34" charset="0"/>
              </a:rPr>
              <a:t>Kehittävä </a:t>
            </a:r>
            <a:br>
              <a:rPr lang="en-US" sz="1800" b="1">
                <a:latin typeface="Arial" pitchFamily="34" charset="0"/>
              </a:rPr>
            </a:br>
            <a:r>
              <a:rPr lang="en-US" sz="1200">
                <a:latin typeface="Arial" pitchFamily="34" charset="0"/>
              </a:rPr>
              <a:t>(+ 10 mtkk)</a:t>
            </a:r>
            <a:endParaRPr lang="en-GB" sz="1200">
              <a:latin typeface="Arial" pitchFamily="34" charset="0"/>
            </a:endParaRPr>
          </a:p>
        </p:txBody>
      </p:sp>
      <p:sp>
        <p:nvSpPr>
          <p:cNvPr id="1209357" name="Text Box 13"/>
          <p:cNvSpPr txBox="1">
            <a:spLocks noChangeArrowheads="1"/>
          </p:cNvSpPr>
          <p:nvPr/>
        </p:nvSpPr>
        <p:spPr bwMode="auto">
          <a:xfrm>
            <a:off x="785813" y="2530475"/>
            <a:ext cx="1643062" cy="581025"/>
          </a:xfrm>
          <a:prstGeom prst="rect">
            <a:avLst/>
          </a:prstGeom>
          <a:noFill/>
          <a:ln w="9525">
            <a:noFill/>
            <a:miter lim="800000"/>
            <a:headEnd/>
            <a:tailEnd/>
          </a:ln>
          <a:effectLst/>
        </p:spPr>
        <p:txBody>
          <a:bodyPr>
            <a:spAutoFit/>
          </a:bodyPr>
          <a:lstStyle/>
          <a:p>
            <a:pPr algn="ctr" eaLnBrk="1" hangingPunct="1">
              <a:spcBef>
                <a:spcPct val="50000"/>
              </a:spcBef>
            </a:pPr>
            <a:r>
              <a:rPr lang="fi-FI">
                <a:latin typeface="Arial" pitchFamily="34" charset="0"/>
              </a:rPr>
              <a:t>Minimi-resursointi</a:t>
            </a:r>
            <a:endParaRPr lang="en-GB">
              <a:latin typeface="Arial" pitchFamily="34" charset="0"/>
            </a:endParaRPr>
          </a:p>
        </p:txBody>
      </p:sp>
      <p:sp>
        <p:nvSpPr>
          <p:cNvPr id="1209358" name="Text Box 14"/>
          <p:cNvSpPr txBox="1">
            <a:spLocks noChangeArrowheads="1"/>
          </p:cNvSpPr>
          <p:nvPr/>
        </p:nvSpPr>
        <p:spPr bwMode="auto">
          <a:xfrm>
            <a:off x="762000" y="1539875"/>
            <a:ext cx="1752600" cy="923330"/>
          </a:xfrm>
          <a:prstGeom prst="rect">
            <a:avLst/>
          </a:prstGeom>
          <a:noFill/>
          <a:ln w="9525">
            <a:noFill/>
            <a:miter lim="800000"/>
            <a:headEnd/>
            <a:tailEnd/>
          </a:ln>
          <a:effectLst/>
        </p:spPr>
        <p:txBody>
          <a:bodyPr>
            <a:spAutoFit/>
          </a:bodyPr>
          <a:lstStyle/>
          <a:p>
            <a:pPr algn="ctr" eaLnBrk="1" hangingPunct="1">
              <a:spcBef>
                <a:spcPct val="50000"/>
              </a:spcBef>
            </a:pPr>
            <a:r>
              <a:rPr lang="fi-FI" dirty="0">
                <a:latin typeface="Arial" pitchFamily="34" charset="0"/>
              </a:rPr>
              <a:t>Varaus </a:t>
            </a:r>
            <a:r>
              <a:rPr lang="fi-FI" dirty="0" smtClean="0">
                <a:latin typeface="Arial" pitchFamily="34" charset="0"/>
              </a:rPr>
              <a:t>testaus-suunnittelussa</a:t>
            </a:r>
            <a:endParaRPr lang="en-GB" dirty="0">
              <a:latin typeface="Arial" pitchFamily="34" charset="0"/>
            </a:endParaRPr>
          </a:p>
        </p:txBody>
      </p:sp>
      <p:sp>
        <p:nvSpPr>
          <p:cNvPr id="1209359" name="Rectangle 15"/>
          <p:cNvSpPr>
            <a:spLocks noChangeArrowheads="1"/>
          </p:cNvSpPr>
          <p:nvPr/>
        </p:nvSpPr>
        <p:spPr bwMode="auto">
          <a:xfrm>
            <a:off x="152400" y="4038600"/>
            <a:ext cx="2057400" cy="1981200"/>
          </a:xfrm>
          <a:prstGeom prst="rect">
            <a:avLst/>
          </a:prstGeom>
          <a:solidFill>
            <a:srgbClr val="99CCFF"/>
          </a:solidFill>
          <a:ln w="12700">
            <a:solidFill>
              <a:schemeClr val="tx1"/>
            </a:solidFill>
            <a:miter lim="800000"/>
            <a:headEnd/>
            <a:tailEnd/>
          </a:ln>
          <a:effectLst>
            <a:outerShdw dist="107763" dir="18900000" algn="ctr" rotWithShape="0">
              <a:schemeClr val="bg2"/>
            </a:outerShdw>
          </a:effectLst>
        </p:spPr>
        <p:txBody>
          <a:bodyPr lIns="90000" tIns="46800" rIns="90000" bIns="46800" anchor="ctr"/>
          <a:lstStyle/>
          <a:p>
            <a:pPr algn="ctr"/>
            <a:r>
              <a:rPr lang="en-US" sz="1800"/>
              <a:t>Tarvetasojen tunnistaminen jättää liikkumavaraa kokonaisuudelle</a:t>
            </a:r>
            <a:endParaRPr lang="en-GB" sz="1800"/>
          </a:p>
        </p:txBody>
      </p:sp>
      <p:sp>
        <p:nvSpPr>
          <p:cNvPr id="16" name="Slide Number Placeholder 15"/>
          <p:cNvSpPr>
            <a:spLocks noGrp="1"/>
          </p:cNvSpPr>
          <p:nvPr>
            <p:ph type="sldNum" sz="quarter" idx="12"/>
          </p:nvPr>
        </p:nvSpPr>
        <p:spPr/>
        <p:txBody>
          <a:bodyPr/>
          <a:lstStyle/>
          <a:p>
            <a:fld id="{7A750B4A-325E-4AA4-BC07-A8C35B32A4F3}" type="slidenum">
              <a:rPr lang="fi-FI" smtClean="0"/>
              <a:pPr/>
              <a:t>170</a:t>
            </a:fld>
            <a:endParaRPr lang="fi-FI"/>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Hyväksymistestauksen aikataulu ja työmäärä</a:t>
            </a:r>
            <a:endParaRPr lang="fi-FI" dirty="0"/>
          </a:p>
        </p:txBody>
      </p:sp>
      <p:sp>
        <p:nvSpPr>
          <p:cNvPr id="3" name="Content Placeholder 2"/>
          <p:cNvSpPr>
            <a:spLocks noGrp="1"/>
          </p:cNvSpPr>
          <p:nvPr>
            <p:ph idx="1"/>
          </p:nvPr>
        </p:nvSpPr>
        <p:spPr/>
        <p:txBody>
          <a:bodyPr>
            <a:normAutofit fontScale="77500" lnSpcReduction="20000"/>
          </a:bodyPr>
          <a:lstStyle/>
          <a:p>
            <a:r>
              <a:rPr lang="fi-FI" dirty="0" smtClean="0"/>
              <a:t>ITILin mukainen hyväksymistestausajanjakso 30 pv</a:t>
            </a:r>
          </a:p>
          <a:p>
            <a:pPr lvl="1"/>
            <a:r>
              <a:rPr lang="fi-FI" dirty="0" smtClean="0"/>
              <a:t>Varsin lyhyt suurille järjestelmille</a:t>
            </a:r>
          </a:p>
          <a:p>
            <a:pPr lvl="1"/>
            <a:r>
              <a:rPr lang="fi-FI" dirty="0" smtClean="0"/>
              <a:t>Varsin lyhyt mikäli testausta ei voida syystä tai toisesta edistää</a:t>
            </a:r>
          </a:p>
          <a:p>
            <a:r>
              <a:rPr lang="fi-FI" dirty="0" smtClean="0"/>
              <a:t>Omat nyrkkisääntöni: </a:t>
            </a:r>
          </a:p>
          <a:p>
            <a:pPr lvl="1"/>
            <a:r>
              <a:rPr lang="fi-FI" dirty="0" smtClean="0"/>
              <a:t>Varaudu vähintään kolmeen kierrokseen samoja testejä – jos aikaa säästyy lopusta, parempi niin</a:t>
            </a:r>
          </a:p>
          <a:p>
            <a:pPr lvl="1"/>
            <a:r>
              <a:rPr lang="fi-FI" dirty="0" smtClean="0"/>
              <a:t>Jos korjauksia tehdään vielä rinnalla, lisää testikierroksia</a:t>
            </a:r>
          </a:p>
          <a:p>
            <a:pPr lvl="1"/>
            <a:r>
              <a:rPr lang="fi-FI" dirty="0" smtClean="0"/>
              <a:t>Selvitä paljonko testaukseen ollaan valmiita resursoimaan ja paljonko henkilöiden aikaa olisi realistista odottaa irroitettavan testaukseen</a:t>
            </a:r>
          </a:p>
          <a:p>
            <a:pPr lvl="1"/>
            <a:r>
              <a:rPr lang="fi-FI" dirty="0" smtClean="0"/>
              <a:t>Muodosta mielikuva tarpeellisen testauksen suuruudesta: testausaika / vaatimus tai testitapaus, sekä suhteessa toimittajan testaukseen</a:t>
            </a:r>
          </a:p>
          <a:p>
            <a:pPr lvl="1"/>
            <a:r>
              <a:rPr lang="fi-FI" dirty="0" smtClean="0"/>
              <a:t>Perustele riskeillä</a:t>
            </a:r>
          </a:p>
        </p:txBody>
      </p:sp>
      <p:sp>
        <p:nvSpPr>
          <p:cNvPr id="4" name="Slide Number Placeholder 3"/>
          <p:cNvSpPr>
            <a:spLocks noGrp="1"/>
          </p:cNvSpPr>
          <p:nvPr>
            <p:ph type="sldNum" sz="quarter" idx="12"/>
          </p:nvPr>
        </p:nvSpPr>
        <p:spPr/>
        <p:txBody>
          <a:bodyPr/>
          <a:lstStyle/>
          <a:p>
            <a:fld id="{7A750B4A-325E-4AA4-BC07-A8C35B32A4F3}" type="slidenum">
              <a:rPr lang="fi-FI" smtClean="0"/>
              <a:pPr/>
              <a:t>171</a:t>
            </a:fld>
            <a:endParaRPr lang="fi-FI"/>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6034" name="Rectangle 2"/>
          <p:cNvSpPr>
            <a:spLocks noGrp="1" noChangeArrowheads="1"/>
          </p:cNvSpPr>
          <p:nvPr>
            <p:ph type="title"/>
          </p:nvPr>
        </p:nvSpPr>
        <p:spPr/>
        <p:txBody>
          <a:bodyPr>
            <a:normAutofit fontScale="90000"/>
          </a:bodyPr>
          <a:lstStyle/>
          <a:p>
            <a:r>
              <a:rPr lang="fi-FI" dirty="0" smtClean="0"/>
              <a:t>Testaussuunnitelman muistisäännöt</a:t>
            </a:r>
            <a:br>
              <a:rPr lang="fi-FI" dirty="0" smtClean="0"/>
            </a:br>
            <a:r>
              <a:rPr lang="fi-FI" sz="1300" dirty="0" smtClean="0"/>
              <a:t>Morgan, Peter. 2003. Dig the SPACEDIRT. Professional Tester, October 2003. pp. 24- 25</a:t>
            </a:r>
            <a:endParaRPr lang="fi-FI" dirty="0"/>
          </a:p>
        </p:txBody>
      </p:sp>
      <p:sp>
        <p:nvSpPr>
          <p:cNvPr id="1196035" name="Rectangle 3"/>
          <p:cNvSpPr>
            <a:spLocks noGrp="1" noChangeArrowheads="1"/>
          </p:cNvSpPr>
          <p:nvPr>
            <p:ph type="body" sz="half" idx="1"/>
          </p:nvPr>
        </p:nvSpPr>
        <p:spPr/>
        <p:txBody>
          <a:bodyPr>
            <a:normAutofit fontScale="77500" lnSpcReduction="20000"/>
          </a:bodyPr>
          <a:lstStyle/>
          <a:p>
            <a:r>
              <a:rPr lang="fi-FI" smtClean="0"/>
              <a:t>S Scope = Laajuus (testauksen kohteet, mitä testata, mitä ei testata)</a:t>
            </a:r>
          </a:p>
          <a:p>
            <a:r>
              <a:rPr lang="fi-FI" smtClean="0"/>
              <a:t>P People = Ihmiset (koulutus, vastuut, aikataulu)</a:t>
            </a:r>
          </a:p>
          <a:p>
            <a:r>
              <a:rPr lang="fi-FI" smtClean="0"/>
              <a:t>A Approach = Lähestymistapa (testaukseen otettava lähestymistapa)</a:t>
            </a:r>
          </a:p>
          <a:p>
            <a:r>
              <a:rPr lang="fi-FI" smtClean="0"/>
              <a:t>C Criteria = Kriteerit (aloitus- /lopetuskriteerit,  keskeytys-/jatkamiskriteerit) </a:t>
            </a:r>
          </a:p>
          <a:p>
            <a:r>
              <a:rPr lang="fi-FI" smtClean="0"/>
              <a:t>E Environment = Ympäristö (testausympäristötarpeet)</a:t>
            </a:r>
            <a:endParaRPr lang="fi-FI"/>
          </a:p>
        </p:txBody>
      </p:sp>
      <p:sp>
        <p:nvSpPr>
          <p:cNvPr id="1196036" name="Rectangle 4"/>
          <p:cNvSpPr>
            <a:spLocks noGrp="1" noChangeArrowheads="1"/>
          </p:cNvSpPr>
          <p:nvPr>
            <p:ph type="body" sz="half" idx="2"/>
          </p:nvPr>
        </p:nvSpPr>
        <p:spPr/>
        <p:txBody>
          <a:bodyPr>
            <a:normAutofit fontScale="85000" lnSpcReduction="10000"/>
          </a:bodyPr>
          <a:lstStyle/>
          <a:p>
            <a:r>
              <a:rPr lang="fi-FI" smtClean="0"/>
              <a:t>D Deliverables = Tuotokset (mitä testausprosessin osana toimitetaan)</a:t>
            </a:r>
          </a:p>
          <a:p>
            <a:r>
              <a:rPr lang="fi-FI" smtClean="0"/>
              <a:t>I Incidentals = Satunnaiset (esittely, tunnistus (dokumentin), hyväksyvät auktoriteetit)</a:t>
            </a:r>
          </a:p>
          <a:p>
            <a:r>
              <a:rPr lang="fi-FI" smtClean="0"/>
              <a:t>R Risks = Riskit (riskit ja torjunta)</a:t>
            </a:r>
          </a:p>
          <a:p>
            <a:r>
              <a:rPr lang="fi-FI" smtClean="0"/>
              <a:t>T Tasks = Tehtävät (testauksen tehtävät, jotka kuuluvat testausprosessiin)</a:t>
            </a:r>
          </a:p>
          <a:p>
            <a:endParaRPr lang="fi-FI"/>
          </a:p>
        </p:txBody>
      </p:sp>
      <p:sp>
        <p:nvSpPr>
          <p:cNvPr id="5" name="Slide Number Placeholder 4"/>
          <p:cNvSpPr>
            <a:spLocks noGrp="1"/>
          </p:cNvSpPr>
          <p:nvPr>
            <p:ph type="sldNum" sz="quarter" idx="12"/>
          </p:nvPr>
        </p:nvSpPr>
        <p:spPr/>
        <p:txBody>
          <a:bodyPr/>
          <a:lstStyle/>
          <a:p>
            <a:fld id="{7A750B4A-325E-4AA4-BC07-A8C35B32A4F3}" type="slidenum">
              <a:rPr lang="fi-FI" smtClean="0"/>
              <a:pPr/>
              <a:t>172</a:t>
            </a:fld>
            <a:endParaRPr lang="fi-FI"/>
          </a:p>
        </p:txBody>
      </p:sp>
    </p:spTree>
  </p:cSld>
  <p:clrMapOvr>
    <a:masterClrMapping/>
  </p:clrMapOvr>
  <p:timing>
    <p:tnLst>
      <p:par>
        <p:cTn xmlns:p14="http://schemas.microsoft.com/office/powerpoint/2010/mai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85794" name="Rectangle 2"/>
          <p:cNvSpPr>
            <a:spLocks noGrp="1" noChangeArrowheads="1"/>
          </p:cNvSpPr>
          <p:nvPr>
            <p:ph type="title"/>
          </p:nvPr>
        </p:nvSpPr>
        <p:spPr/>
        <p:txBody>
          <a:bodyPr/>
          <a:lstStyle/>
          <a:p>
            <a:r>
              <a:rPr lang="fi-FI"/>
              <a:t>Testaussuunnitelman kehitys</a:t>
            </a:r>
            <a:endParaRPr lang="en-GB"/>
          </a:p>
        </p:txBody>
      </p:sp>
      <p:grpSp>
        <p:nvGrpSpPr>
          <p:cNvPr id="2" name="Group 3"/>
          <p:cNvGrpSpPr>
            <a:grpSpLocks/>
          </p:cNvGrpSpPr>
          <p:nvPr/>
        </p:nvGrpSpPr>
        <p:grpSpPr bwMode="auto">
          <a:xfrm>
            <a:off x="695325" y="1600200"/>
            <a:ext cx="7753350" cy="3805238"/>
            <a:chOff x="438" y="915"/>
            <a:chExt cx="4884" cy="2397"/>
          </a:xfrm>
        </p:grpSpPr>
        <p:graphicFrame>
          <p:nvGraphicFramePr>
            <p:cNvPr id="1185796" name="Object 4"/>
            <p:cNvGraphicFramePr>
              <a:graphicFrameLocks noChangeAspect="1"/>
            </p:cNvGraphicFramePr>
            <p:nvPr/>
          </p:nvGraphicFramePr>
          <p:xfrm>
            <a:off x="438" y="915"/>
            <a:ext cx="4884" cy="813"/>
          </p:xfrm>
          <a:graphic>
            <a:graphicData uri="http://schemas.openxmlformats.org/presentationml/2006/ole">
              <mc:AlternateContent xmlns:mc="http://schemas.openxmlformats.org/markup-compatibility/2006">
                <mc:Choice xmlns:v="urn:schemas-microsoft-com:vml" Requires="v">
                  <p:oleObj spid="_x0000_s512021" name="Visio" r:id="rId4" imgW="7756698" imgH="1294674" progId="">
                    <p:embed/>
                  </p:oleObj>
                </mc:Choice>
                <mc:Fallback>
                  <p:oleObj name="Visio" r:id="rId4" imgW="7756698" imgH="1294674" progId="">
                    <p:embed/>
                    <p:pic>
                      <p:nvPicPr>
                        <p:cNvPr id="0"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8" y="915"/>
                          <a:ext cx="4884" cy="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1185797" name="Object 5"/>
            <p:cNvGraphicFramePr>
              <a:graphicFrameLocks noChangeAspect="1"/>
            </p:cNvGraphicFramePr>
            <p:nvPr/>
          </p:nvGraphicFramePr>
          <p:xfrm>
            <a:off x="1056" y="2499"/>
            <a:ext cx="3648" cy="813"/>
          </p:xfrm>
          <a:graphic>
            <a:graphicData uri="http://schemas.openxmlformats.org/presentationml/2006/ole">
              <mc:AlternateContent xmlns:mc="http://schemas.openxmlformats.org/markup-compatibility/2006">
                <mc:Choice xmlns:v="urn:schemas-microsoft-com:vml" Requires="v">
                  <p:oleObj spid="_x0000_s512022" name="Visio" r:id="rId6" imgW="5794525" imgH="1294674" progId="">
                    <p:embed/>
                  </p:oleObj>
                </mc:Choice>
                <mc:Fallback>
                  <p:oleObj name="Visio" r:id="rId6" imgW="5794525" imgH="1294674" progId="">
                    <p:embed/>
                    <p:pic>
                      <p:nvPicPr>
                        <p:cNvPr id="0"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56" y="2499"/>
                          <a:ext cx="3648" cy="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pSp>
      <p:graphicFrame>
        <p:nvGraphicFramePr>
          <p:cNvPr id="1185798" name="Object 6"/>
          <p:cNvGraphicFramePr>
            <a:graphicFrameLocks noChangeAspect="1"/>
          </p:cNvGraphicFramePr>
          <p:nvPr/>
        </p:nvGraphicFramePr>
        <p:xfrm>
          <a:off x="762000" y="2509838"/>
          <a:ext cx="1831975" cy="1282700"/>
        </p:xfrm>
        <a:graphic>
          <a:graphicData uri="http://schemas.openxmlformats.org/presentationml/2006/ole">
            <mc:AlternateContent xmlns:mc="http://schemas.openxmlformats.org/markup-compatibility/2006">
              <mc:Choice xmlns:v="urn:schemas-microsoft-com:vml" Requires="v">
                <p:oleObj spid="_x0000_s512023" name="Visio" r:id="rId8" imgW="1834711" imgH="1285603" progId="">
                  <p:embed/>
                </p:oleObj>
              </mc:Choice>
              <mc:Fallback>
                <p:oleObj name="Visio" r:id="rId8" imgW="1834711" imgH="1285603" progId="">
                  <p:embed/>
                  <p:pic>
                    <p:nvPicPr>
                      <p:cNvPr id="0" name="Picture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62000" y="2509838"/>
                        <a:ext cx="1831975" cy="128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1185799" name="Object 7"/>
          <p:cNvGraphicFramePr>
            <a:graphicFrameLocks noChangeAspect="1"/>
          </p:cNvGraphicFramePr>
          <p:nvPr/>
        </p:nvGraphicFramePr>
        <p:xfrm>
          <a:off x="2743200" y="2514600"/>
          <a:ext cx="1831975" cy="1290638"/>
        </p:xfrm>
        <a:graphic>
          <a:graphicData uri="http://schemas.openxmlformats.org/presentationml/2006/ole">
            <mc:AlternateContent xmlns:mc="http://schemas.openxmlformats.org/markup-compatibility/2006">
              <mc:Choice xmlns:v="urn:schemas-microsoft-com:vml" Requires="v">
                <p:oleObj spid="_x0000_s512024" name="Visio" r:id="rId10" imgW="1834711" imgH="1294674" progId="">
                  <p:embed/>
                </p:oleObj>
              </mc:Choice>
              <mc:Fallback>
                <p:oleObj name="Visio" r:id="rId10" imgW="1834711" imgH="1294674" progId="">
                  <p:embed/>
                  <p:pic>
                    <p:nvPicPr>
                      <p:cNvPr id="0" name="Picture 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43200" y="2514600"/>
                        <a:ext cx="1831975" cy="1290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1185800" name="Object 8"/>
          <p:cNvGraphicFramePr>
            <a:graphicFrameLocks noChangeAspect="1"/>
          </p:cNvGraphicFramePr>
          <p:nvPr/>
        </p:nvGraphicFramePr>
        <p:xfrm>
          <a:off x="4724400" y="2509838"/>
          <a:ext cx="1808163" cy="1290637"/>
        </p:xfrm>
        <a:graphic>
          <a:graphicData uri="http://schemas.openxmlformats.org/presentationml/2006/ole">
            <mc:AlternateContent xmlns:mc="http://schemas.openxmlformats.org/markup-compatibility/2006">
              <mc:Choice xmlns:v="urn:schemas-microsoft-com:vml" Requires="v">
                <p:oleObj spid="_x0000_s512025" name="Visio" r:id="rId12" imgW="1810697" imgH="1294674" progId="">
                  <p:embed/>
                </p:oleObj>
              </mc:Choice>
              <mc:Fallback>
                <p:oleObj name="Visio" r:id="rId12" imgW="1810697" imgH="1294674" progId="">
                  <p:embed/>
                  <p:pic>
                    <p:nvPicPr>
                      <p:cNvPr id="0" name="Picture 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24400" y="2509838"/>
                        <a:ext cx="1808163" cy="1290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1185801" name="Object 9"/>
          <p:cNvGraphicFramePr>
            <a:graphicFrameLocks noChangeAspect="1"/>
          </p:cNvGraphicFramePr>
          <p:nvPr/>
        </p:nvGraphicFramePr>
        <p:xfrm>
          <a:off x="6700465" y="2509838"/>
          <a:ext cx="1831975" cy="1290637"/>
        </p:xfrm>
        <a:graphic>
          <a:graphicData uri="http://schemas.openxmlformats.org/presentationml/2006/ole">
            <mc:AlternateContent xmlns:mc="http://schemas.openxmlformats.org/markup-compatibility/2006">
              <mc:Choice xmlns:v="urn:schemas-microsoft-com:vml" Requires="v">
                <p:oleObj spid="_x0000_s512026" name="Visio" r:id="rId14" imgW="1834711" imgH="1294674" progId="">
                  <p:embed/>
                </p:oleObj>
              </mc:Choice>
              <mc:Fallback>
                <p:oleObj name="Visio" r:id="rId14" imgW="1834711" imgH="1294674" progId="">
                  <p:embed/>
                  <p:pic>
                    <p:nvPicPr>
                      <p:cNvPr id="0" name="Picture 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700465" y="2509838"/>
                        <a:ext cx="1831975" cy="1290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1185802" name="Object 10"/>
          <p:cNvGraphicFramePr>
            <a:graphicFrameLocks noChangeAspect="1"/>
          </p:cNvGraphicFramePr>
          <p:nvPr/>
        </p:nvGraphicFramePr>
        <p:xfrm>
          <a:off x="1752600" y="5024438"/>
          <a:ext cx="1855788" cy="1290637"/>
        </p:xfrm>
        <a:graphic>
          <a:graphicData uri="http://schemas.openxmlformats.org/presentationml/2006/ole">
            <mc:AlternateContent xmlns:mc="http://schemas.openxmlformats.org/markup-compatibility/2006">
              <mc:Choice xmlns:v="urn:schemas-microsoft-com:vml" Requires="v">
                <p:oleObj spid="_x0000_s512027" name="Visio" r:id="rId16" imgW="1858726" imgH="1294674" progId="">
                  <p:embed/>
                </p:oleObj>
              </mc:Choice>
              <mc:Fallback>
                <p:oleObj name="Visio" r:id="rId16" imgW="1858726" imgH="1294674" progId="">
                  <p:embed/>
                  <p:pic>
                    <p:nvPicPr>
                      <p:cNvPr id="0" name="Picture 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752600" y="5024438"/>
                        <a:ext cx="1855788" cy="1290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1185803" name="Object 11"/>
          <p:cNvGraphicFramePr>
            <a:graphicFrameLocks noChangeAspect="1"/>
          </p:cNvGraphicFramePr>
          <p:nvPr/>
        </p:nvGraphicFramePr>
        <p:xfrm>
          <a:off x="3733800" y="5024438"/>
          <a:ext cx="1831975" cy="1290637"/>
        </p:xfrm>
        <a:graphic>
          <a:graphicData uri="http://schemas.openxmlformats.org/presentationml/2006/ole">
            <mc:AlternateContent xmlns:mc="http://schemas.openxmlformats.org/markup-compatibility/2006">
              <mc:Choice xmlns:v="urn:schemas-microsoft-com:vml" Requires="v">
                <p:oleObj spid="_x0000_s512028" name="Visio" r:id="rId18" imgW="1834711" imgH="1294674" progId="">
                  <p:embed/>
                </p:oleObj>
              </mc:Choice>
              <mc:Fallback>
                <p:oleObj name="Visio" r:id="rId18" imgW="1834711" imgH="1294674" progId="">
                  <p:embed/>
                  <p:pic>
                    <p:nvPicPr>
                      <p:cNvPr id="0" name="Picture 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733800" y="5024438"/>
                        <a:ext cx="1831975" cy="1290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1185804" name="Object 12"/>
          <p:cNvGraphicFramePr>
            <a:graphicFrameLocks noChangeAspect="1"/>
          </p:cNvGraphicFramePr>
          <p:nvPr/>
        </p:nvGraphicFramePr>
        <p:xfrm>
          <a:off x="5692353" y="5024438"/>
          <a:ext cx="1831975" cy="1290637"/>
        </p:xfrm>
        <a:graphic>
          <a:graphicData uri="http://schemas.openxmlformats.org/presentationml/2006/ole">
            <mc:AlternateContent xmlns:mc="http://schemas.openxmlformats.org/markup-compatibility/2006">
              <mc:Choice xmlns:v="urn:schemas-microsoft-com:vml" Requires="v">
                <p:oleObj spid="_x0000_s512029" name="Visio" r:id="rId20" imgW="1834711" imgH="1294674" progId="">
                  <p:embed/>
                </p:oleObj>
              </mc:Choice>
              <mc:Fallback>
                <p:oleObj name="Visio" r:id="rId20" imgW="1834711" imgH="1294674" progId="">
                  <p:embed/>
                  <p:pic>
                    <p:nvPicPr>
                      <p:cNvPr id="0" name="Picture 8"/>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692353" y="5024438"/>
                        <a:ext cx="1831975" cy="1290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13" name="Slide Number Placeholder 12"/>
          <p:cNvSpPr>
            <a:spLocks noGrp="1"/>
          </p:cNvSpPr>
          <p:nvPr>
            <p:ph type="sldNum" sz="quarter" idx="12"/>
          </p:nvPr>
        </p:nvSpPr>
        <p:spPr/>
        <p:txBody>
          <a:bodyPr/>
          <a:lstStyle/>
          <a:p>
            <a:fld id="{7A750B4A-325E-4AA4-BC07-A8C35B32A4F3}" type="slidenum">
              <a:rPr lang="fi-FI" smtClean="0"/>
              <a:pPr/>
              <a:t>173</a:t>
            </a:fld>
            <a:endParaRPr lang="fi-FI"/>
          </a:p>
        </p:txBody>
      </p:sp>
    </p:spTree>
  </p:cSld>
  <p:clrMapOvr>
    <a:masterClrMapping/>
  </p:clrMapOvr>
  <p:transition xmlns:p14="http://schemas.microsoft.com/office/powerpoint/2010/mai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185798"/>
                                        </p:tgtEl>
                                        <p:attrNameLst>
                                          <p:attrName>style.visibility</p:attrName>
                                        </p:attrNameLst>
                                      </p:cBhvr>
                                      <p:to>
                                        <p:strVal val="visible"/>
                                      </p:to>
                                    </p:set>
                                    <p:anim calcmode="lin" valueType="num">
                                      <p:cBhvr additive="base">
                                        <p:cTn id="7" dur="500" fill="hold"/>
                                        <p:tgtEl>
                                          <p:spTgt spid="1185798"/>
                                        </p:tgtEl>
                                        <p:attrNameLst>
                                          <p:attrName>ppt_x</p:attrName>
                                        </p:attrNameLst>
                                      </p:cBhvr>
                                      <p:tavLst>
                                        <p:tav tm="0">
                                          <p:val>
                                            <p:strVal val="0-#ppt_w/2"/>
                                          </p:val>
                                        </p:tav>
                                        <p:tav tm="100000">
                                          <p:val>
                                            <p:strVal val="#ppt_x"/>
                                          </p:val>
                                        </p:tav>
                                      </p:tavLst>
                                    </p:anim>
                                    <p:anim calcmode="lin" valueType="num">
                                      <p:cBhvr additive="base">
                                        <p:cTn id="8" dur="500" fill="hold"/>
                                        <p:tgtEl>
                                          <p:spTgt spid="118579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185799"/>
                                        </p:tgtEl>
                                        <p:attrNameLst>
                                          <p:attrName>style.visibility</p:attrName>
                                        </p:attrNameLst>
                                      </p:cBhvr>
                                      <p:to>
                                        <p:strVal val="visible"/>
                                      </p:to>
                                    </p:set>
                                    <p:anim calcmode="lin" valueType="num">
                                      <p:cBhvr additive="base">
                                        <p:cTn id="13" dur="500" fill="hold"/>
                                        <p:tgtEl>
                                          <p:spTgt spid="1185799"/>
                                        </p:tgtEl>
                                        <p:attrNameLst>
                                          <p:attrName>ppt_x</p:attrName>
                                        </p:attrNameLst>
                                      </p:cBhvr>
                                      <p:tavLst>
                                        <p:tav tm="0">
                                          <p:val>
                                            <p:strVal val="0-#ppt_w/2"/>
                                          </p:val>
                                        </p:tav>
                                        <p:tav tm="100000">
                                          <p:val>
                                            <p:strVal val="#ppt_x"/>
                                          </p:val>
                                        </p:tav>
                                      </p:tavLst>
                                    </p:anim>
                                    <p:anim calcmode="lin" valueType="num">
                                      <p:cBhvr additive="base">
                                        <p:cTn id="14" dur="500" fill="hold"/>
                                        <p:tgtEl>
                                          <p:spTgt spid="118579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185800"/>
                                        </p:tgtEl>
                                        <p:attrNameLst>
                                          <p:attrName>style.visibility</p:attrName>
                                        </p:attrNameLst>
                                      </p:cBhvr>
                                      <p:to>
                                        <p:strVal val="visible"/>
                                      </p:to>
                                    </p:set>
                                    <p:anim calcmode="lin" valueType="num">
                                      <p:cBhvr additive="base">
                                        <p:cTn id="19" dur="500" fill="hold"/>
                                        <p:tgtEl>
                                          <p:spTgt spid="1185800"/>
                                        </p:tgtEl>
                                        <p:attrNameLst>
                                          <p:attrName>ppt_x</p:attrName>
                                        </p:attrNameLst>
                                      </p:cBhvr>
                                      <p:tavLst>
                                        <p:tav tm="0">
                                          <p:val>
                                            <p:strVal val="0-#ppt_w/2"/>
                                          </p:val>
                                        </p:tav>
                                        <p:tav tm="100000">
                                          <p:val>
                                            <p:strVal val="#ppt_x"/>
                                          </p:val>
                                        </p:tav>
                                      </p:tavLst>
                                    </p:anim>
                                    <p:anim calcmode="lin" valueType="num">
                                      <p:cBhvr additive="base">
                                        <p:cTn id="20" dur="500" fill="hold"/>
                                        <p:tgtEl>
                                          <p:spTgt spid="118580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185801"/>
                                        </p:tgtEl>
                                        <p:attrNameLst>
                                          <p:attrName>style.visibility</p:attrName>
                                        </p:attrNameLst>
                                      </p:cBhvr>
                                      <p:to>
                                        <p:strVal val="visible"/>
                                      </p:to>
                                    </p:set>
                                    <p:anim calcmode="lin" valueType="num">
                                      <p:cBhvr additive="base">
                                        <p:cTn id="25" dur="500" fill="hold"/>
                                        <p:tgtEl>
                                          <p:spTgt spid="1185801"/>
                                        </p:tgtEl>
                                        <p:attrNameLst>
                                          <p:attrName>ppt_x</p:attrName>
                                        </p:attrNameLst>
                                      </p:cBhvr>
                                      <p:tavLst>
                                        <p:tav tm="0">
                                          <p:val>
                                            <p:strVal val="0-#ppt_w/2"/>
                                          </p:val>
                                        </p:tav>
                                        <p:tav tm="100000">
                                          <p:val>
                                            <p:strVal val="#ppt_x"/>
                                          </p:val>
                                        </p:tav>
                                      </p:tavLst>
                                    </p:anim>
                                    <p:anim calcmode="lin" valueType="num">
                                      <p:cBhvr additive="base">
                                        <p:cTn id="26" dur="500" fill="hold"/>
                                        <p:tgtEl>
                                          <p:spTgt spid="1185801"/>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1185802"/>
                                        </p:tgtEl>
                                        <p:attrNameLst>
                                          <p:attrName>style.visibility</p:attrName>
                                        </p:attrNameLst>
                                      </p:cBhvr>
                                      <p:to>
                                        <p:strVal val="visible"/>
                                      </p:to>
                                    </p:set>
                                    <p:anim calcmode="lin" valueType="num">
                                      <p:cBhvr additive="base">
                                        <p:cTn id="31" dur="500" fill="hold"/>
                                        <p:tgtEl>
                                          <p:spTgt spid="1185802"/>
                                        </p:tgtEl>
                                        <p:attrNameLst>
                                          <p:attrName>ppt_x</p:attrName>
                                        </p:attrNameLst>
                                      </p:cBhvr>
                                      <p:tavLst>
                                        <p:tav tm="0">
                                          <p:val>
                                            <p:strVal val="0-#ppt_w/2"/>
                                          </p:val>
                                        </p:tav>
                                        <p:tav tm="100000">
                                          <p:val>
                                            <p:strVal val="#ppt_x"/>
                                          </p:val>
                                        </p:tav>
                                      </p:tavLst>
                                    </p:anim>
                                    <p:anim calcmode="lin" valueType="num">
                                      <p:cBhvr additive="base">
                                        <p:cTn id="32" dur="500" fill="hold"/>
                                        <p:tgtEl>
                                          <p:spTgt spid="1185802"/>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1185803"/>
                                        </p:tgtEl>
                                        <p:attrNameLst>
                                          <p:attrName>style.visibility</p:attrName>
                                        </p:attrNameLst>
                                      </p:cBhvr>
                                      <p:to>
                                        <p:strVal val="visible"/>
                                      </p:to>
                                    </p:set>
                                    <p:anim calcmode="lin" valueType="num">
                                      <p:cBhvr additive="base">
                                        <p:cTn id="37" dur="500" fill="hold"/>
                                        <p:tgtEl>
                                          <p:spTgt spid="1185803"/>
                                        </p:tgtEl>
                                        <p:attrNameLst>
                                          <p:attrName>ppt_x</p:attrName>
                                        </p:attrNameLst>
                                      </p:cBhvr>
                                      <p:tavLst>
                                        <p:tav tm="0">
                                          <p:val>
                                            <p:strVal val="0-#ppt_w/2"/>
                                          </p:val>
                                        </p:tav>
                                        <p:tav tm="100000">
                                          <p:val>
                                            <p:strVal val="#ppt_x"/>
                                          </p:val>
                                        </p:tav>
                                      </p:tavLst>
                                    </p:anim>
                                    <p:anim calcmode="lin" valueType="num">
                                      <p:cBhvr additive="base">
                                        <p:cTn id="38" dur="500" fill="hold"/>
                                        <p:tgtEl>
                                          <p:spTgt spid="1185803"/>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1185804"/>
                                        </p:tgtEl>
                                        <p:attrNameLst>
                                          <p:attrName>style.visibility</p:attrName>
                                        </p:attrNameLst>
                                      </p:cBhvr>
                                      <p:to>
                                        <p:strVal val="visible"/>
                                      </p:to>
                                    </p:set>
                                    <p:anim calcmode="lin" valueType="num">
                                      <p:cBhvr additive="base">
                                        <p:cTn id="43" dur="500" fill="hold"/>
                                        <p:tgtEl>
                                          <p:spTgt spid="1185804"/>
                                        </p:tgtEl>
                                        <p:attrNameLst>
                                          <p:attrName>ppt_x</p:attrName>
                                        </p:attrNameLst>
                                      </p:cBhvr>
                                      <p:tavLst>
                                        <p:tav tm="0">
                                          <p:val>
                                            <p:strVal val="0-#ppt_w/2"/>
                                          </p:val>
                                        </p:tav>
                                        <p:tav tm="100000">
                                          <p:val>
                                            <p:strVal val="#ppt_x"/>
                                          </p:val>
                                        </p:tav>
                                      </p:tavLst>
                                    </p:anim>
                                    <p:anim calcmode="lin" valueType="num">
                                      <p:cBhvr additive="base">
                                        <p:cTn id="44" dur="500" fill="hold"/>
                                        <p:tgtEl>
                                          <p:spTgt spid="118580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normAutofit fontScale="90000"/>
          </a:bodyPr>
          <a:lstStyle/>
          <a:p>
            <a:r>
              <a:rPr lang="fi-FI" dirty="0" smtClean="0"/>
              <a:t>Testauksen suunnittelun heuristiikkoja</a:t>
            </a:r>
            <a:br>
              <a:rPr lang="fi-FI" dirty="0" smtClean="0"/>
            </a:br>
            <a:r>
              <a:rPr lang="fi-FI" sz="1300" dirty="0" smtClean="0"/>
              <a:t>Lähde: </a:t>
            </a:r>
            <a:r>
              <a:rPr lang="en-US" sz="1300" dirty="0" err="1" smtClean="0"/>
              <a:t>Kaner</a:t>
            </a:r>
            <a:r>
              <a:rPr lang="en-US" sz="1300" dirty="0" smtClean="0"/>
              <a:t>, Bach, </a:t>
            </a:r>
            <a:r>
              <a:rPr lang="en-US" sz="1300" dirty="0" err="1" smtClean="0"/>
              <a:t>Pettichord</a:t>
            </a:r>
            <a:r>
              <a:rPr lang="en-US" sz="1300" dirty="0" smtClean="0"/>
              <a:t>. Lessons Learned in Software Testing. 2001.</a:t>
            </a:r>
            <a:endParaRPr lang="en-GB" sz="1300" dirty="0"/>
          </a:p>
        </p:txBody>
      </p:sp>
      <p:sp>
        <p:nvSpPr>
          <p:cNvPr id="10243" name="Rectangle 3"/>
          <p:cNvSpPr>
            <a:spLocks noGrp="1" noChangeArrowheads="1"/>
          </p:cNvSpPr>
          <p:nvPr>
            <p:ph idx="1"/>
          </p:nvPr>
        </p:nvSpPr>
        <p:spPr/>
        <p:txBody>
          <a:bodyPr>
            <a:normAutofit fontScale="55000" lnSpcReduction="20000"/>
          </a:bodyPr>
          <a:lstStyle/>
          <a:p>
            <a:r>
              <a:rPr lang="fi-FI" dirty="0" smtClean="0"/>
              <a:t>Tärkeät ongelmat esiin nopeasti</a:t>
            </a:r>
          </a:p>
          <a:p>
            <a:r>
              <a:rPr lang="fi-FI" dirty="0" smtClean="0"/>
              <a:t>Keskity riskeihin</a:t>
            </a:r>
          </a:p>
          <a:p>
            <a:r>
              <a:rPr lang="fi-FI" dirty="0" smtClean="0"/>
              <a:t>Maksimoi moninaisuus</a:t>
            </a:r>
          </a:p>
          <a:p>
            <a:r>
              <a:rPr lang="fi-FI" dirty="0" smtClean="0"/>
              <a:t>Vältä liian tarkkaa skriptausta</a:t>
            </a:r>
          </a:p>
          <a:p>
            <a:r>
              <a:rPr lang="fi-FI" dirty="0" smtClean="0"/>
              <a:t>Testaa tarkoituksenmukaisesti</a:t>
            </a:r>
          </a:p>
          <a:p>
            <a:r>
              <a:rPr lang="fi-FI" dirty="0" smtClean="0"/>
              <a:t>Emme ole yksin</a:t>
            </a:r>
          </a:p>
          <a:p>
            <a:r>
              <a:rPr lang="fi-FI" dirty="0" smtClean="0"/>
              <a:t>Edistä testattavuutta</a:t>
            </a:r>
          </a:p>
          <a:p>
            <a:r>
              <a:rPr lang="fi-FI" dirty="0" smtClean="0"/>
              <a:t>Testaussuunnitelmat eivät ole yleistettäviä</a:t>
            </a:r>
          </a:p>
          <a:p>
            <a:r>
              <a:rPr lang="fi-FI" dirty="0" smtClean="0"/>
              <a:t>Sisältöä tai ei mitään</a:t>
            </a:r>
          </a:p>
          <a:p>
            <a:r>
              <a:rPr lang="fi-FI" dirty="0" smtClean="0"/>
              <a:t>Älä ohjelmoi ihmisiä</a:t>
            </a:r>
          </a:p>
          <a:p>
            <a:r>
              <a:rPr lang="fi-FI" dirty="0" smtClean="0"/>
              <a:t>Testausaikataulussa on riippuvuuksia</a:t>
            </a:r>
          </a:p>
          <a:p>
            <a:r>
              <a:rPr lang="fi-FI" dirty="0" smtClean="0"/>
              <a:t>Vältä pullonkauloja</a:t>
            </a:r>
          </a:p>
          <a:p>
            <a:r>
              <a:rPr lang="fi-FI" dirty="0" smtClean="0"/>
              <a:t>Nopea palautesykli</a:t>
            </a:r>
          </a:p>
          <a:p>
            <a:r>
              <a:rPr lang="fi-FI" dirty="0" smtClean="0"/>
              <a:t>Testaajat eivät ole ainoita testaajia</a:t>
            </a:r>
          </a:p>
          <a:p>
            <a:r>
              <a:rPr lang="fi-FI" dirty="0" smtClean="0"/>
              <a:t>Katselmoi dokumentit</a:t>
            </a:r>
            <a:endParaRPr lang="en-GB" dirty="0"/>
          </a:p>
        </p:txBody>
      </p:sp>
      <p:sp>
        <p:nvSpPr>
          <p:cNvPr id="10244" name="AutoShape 4"/>
          <p:cNvSpPr>
            <a:spLocks noChangeArrowheads="1"/>
          </p:cNvSpPr>
          <p:nvPr/>
        </p:nvSpPr>
        <p:spPr bwMode="auto">
          <a:xfrm>
            <a:off x="5943600" y="1905000"/>
            <a:ext cx="2952750" cy="2490788"/>
          </a:xfrm>
          <a:prstGeom prst="cloudCallout">
            <a:avLst>
              <a:gd name="adj1" fmla="val -41935"/>
              <a:gd name="adj2" fmla="val -64213"/>
            </a:avLst>
          </a:prstGeom>
          <a:ln>
            <a:headEnd/>
            <a:tailEnd/>
          </a:ln>
        </p:spPr>
        <p:style>
          <a:lnRef idx="3">
            <a:schemeClr val="lt1"/>
          </a:lnRef>
          <a:fillRef idx="1">
            <a:schemeClr val="accent1"/>
          </a:fillRef>
          <a:effectRef idx="1">
            <a:schemeClr val="accent1"/>
          </a:effectRef>
          <a:fontRef idx="minor">
            <a:schemeClr val="lt1"/>
          </a:fontRef>
        </p:style>
        <p:txBody>
          <a:bodyPr/>
          <a:lstStyle/>
          <a:p>
            <a:pPr algn="ctr" eaLnBrk="1" hangingPunct="1"/>
            <a:r>
              <a:rPr lang="fi-FI" sz="2000"/>
              <a:t>Heuristiikka on nyrkkisääntö, perusteltu veikkaus toimintatavaksi</a:t>
            </a:r>
            <a:endParaRPr lang="en-GB" sz="2000"/>
          </a:p>
        </p:txBody>
      </p:sp>
      <p:sp>
        <p:nvSpPr>
          <p:cNvPr id="5" name="Slide Number Placeholder 4"/>
          <p:cNvSpPr>
            <a:spLocks noGrp="1"/>
          </p:cNvSpPr>
          <p:nvPr>
            <p:ph type="sldNum" sz="quarter" idx="12"/>
          </p:nvPr>
        </p:nvSpPr>
        <p:spPr/>
        <p:txBody>
          <a:bodyPr/>
          <a:lstStyle/>
          <a:p>
            <a:fld id="{7A750B4A-325E-4AA4-BC07-A8C35B32A4F3}" type="slidenum">
              <a:rPr lang="fi-FI" smtClean="0"/>
              <a:pPr/>
              <a:t>174</a:t>
            </a:fld>
            <a:endParaRPr lang="fi-FI"/>
          </a:p>
        </p:txBody>
      </p:sp>
    </p:spTree>
  </p:cSld>
  <p:clrMapOvr>
    <a:masterClrMapping/>
  </p:clrMapOvr>
  <p:timing>
    <p:tnLst>
      <p:par>
        <p:cTn xmlns:p14="http://schemas.microsoft.com/office/powerpoint/2010/mai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normAutofit/>
          </a:bodyPr>
          <a:lstStyle/>
          <a:p>
            <a:r>
              <a:rPr lang="fi-FI" sz="4000"/>
              <a:t>Testaussuunnitelman laatukriteerit</a:t>
            </a:r>
            <a:br>
              <a:rPr lang="fi-FI" sz="4000"/>
            </a:br>
            <a:r>
              <a:rPr lang="en-US" sz="1400"/>
              <a:t>Kaner, Bach, Pettichord. Lessons Learned in Software Testing. 2001.</a:t>
            </a:r>
            <a:endParaRPr lang="en-GB" sz="1400"/>
          </a:p>
        </p:txBody>
      </p:sp>
      <p:graphicFrame>
        <p:nvGraphicFramePr>
          <p:cNvPr id="9219" name="Object 3"/>
          <p:cNvGraphicFramePr>
            <a:graphicFrameLocks noChangeAspect="1"/>
          </p:cNvGraphicFramePr>
          <p:nvPr/>
        </p:nvGraphicFramePr>
        <p:xfrm>
          <a:off x="107950" y="2133600"/>
          <a:ext cx="8763000" cy="3048000"/>
        </p:xfrm>
        <a:graphic>
          <a:graphicData uri="http://schemas.openxmlformats.org/presentationml/2006/ole">
            <mc:AlternateContent xmlns:mc="http://schemas.openxmlformats.org/markup-compatibility/2006">
              <mc:Choice xmlns:v="urn:schemas-microsoft-com:vml" Requires="v">
                <p:oleObj spid="_x0000_s513029" name="Visio" r:id="rId4" imgW="8326800" imgH="2746800" progId="">
                  <p:embed/>
                </p:oleObj>
              </mc:Choice>
              <mc:Fallback>
                <p:oleObj name="Visio" r:id="rId4" imgW="8326800" imgH="2746800" progId="">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950" y="2133600"/>
                        <a:ext cx="8763000"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4" name="Slide Number Placeholder 3"/>
          <p:cNvSpPr>
            <a:spLocks noGrp="1"/>
          </p:cNvSpPr>
          <p:nvPr>
            <p:ph type="sldNum" sz="quarter" idx="12"/>
          </p:nvPr>
        </p:nvSpPr>
        <p:spPr/>
        <p:txBody>
          <a:bodyPr/>
          <a:lstStyle/>
          <a:p>
            <a:fld id="{7A750B4A-325E-4AA4-BC07-A8C35B32A4F3}" type="slidenum">
              <a:rPr lang="fi-FI" smtClean="0"/>
              <a:pPr/>
              <a:t>175</a:t>
            </a:fld>
            <a:endParaRPr lang="fi-FI"/>
          </a:p>
        </p:txBody>
      </p:sp>
    </p:spTree>
  </p:cSld>
  <p:clrMapOvr>
    <a:masterClrMapping/>
  </p:clrMapOvr>
  <p:timing>
    <p:tnLst>
      <p:par>
        <p:cTn xmlns:p14="http://schemas.microsoft.com/office/powerpoint/2010/mai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Harjoitus: Hyväksymistestauksen suunnittelu</a:t>
            </a:r>
            <a:endParaRPr lang="fi-FI" dirty="0"/>
          </a:p>
        </p:txBody>
      </p:sp>
      <p:sp>
        <p:nvSpPr>
          <p:cNvPr id="3" name="Content Placeholder 2"/>
          <p:cNvSpPr>
            <a:spLocks noGrp="1"/>
          </p:cNvSpPr>
          <p:nvPr>
            <p:ph idx="1"/>
          </p:nvPr>
        </p:nvSpPr>
        <p:spPr/>
        <p:txBody>
          <a:bodyPr>
            <a:normAutofit fontScale="92500"/>
          </a:bodyPr>
          <a:lstStyle/>
          <a:p>
            <a:pPr algn="ctr">
              <a:buNone/>
            </a:pPr>
            <a:r>
              <a:rPr lang="fi-FI" dirty="0" smtClean="0">
                <a:solidFill>
                  <a:schemeClr val="accent1"/>
                </a:solidFill>
              </a:rPr>
              <a:t>Työstetään pienryhmissä alustava testaussuunnitelma</a:t>
            </a:r>
          </a:p>
          <a:p>
            <a:r>
              <a:rPr lang="fi-FI" dirty="0" smtClean="0"/>
              <a:t>Organisaatiossanne otetaan käyttöön FreeMind-ideakarttasovelluksen uusi versio ja teille on juuri kerrottu, että seuraava työtehtävänne on suunnitella sen hyväksymistestaus</a:t>
            </a:r>
          </a:p>
          <a:p>
            <a:r>
              <a:rPr lang="fi-FI" dirty="0" smtClean="0"/>
              <a:t>Uusi versio tuo mukanaan uusia ominaisuuksia: </a:t>
            </a:r>
          </a:p>
          <a:p>
            <a:pPr lvl="1"/>
            <a:r>
              <a:rPr lang="fi-FI" dirty="0" smtClean="0"/>
              <a:t>Search-and-replace –toiminnallisuus</a:t>
            </a:r>
          </a:p>
          <a:p>
            <a:pPr lvl="1"/>
            <a:r>
              <a:rPr lang="fi-FI" dirty="0" smtClean="0"/>
              <a:t>Attributes and filters –toiminnallisuus </a:t>
            </a:r>
          </a:p>
          <a:p>
            <a:endParaRPr lang="fi-FI"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176</a:t>
            </a:fld>
            <a:endParaRPr lang="fi-FI"/>
          </a:p>
        </p:txBody>
      </p:sp>
    </p:spTree>
  </p:cSld>
  <p:clrMapOvr>
    <a:masterClrMapping/>
  </p:clrMapOvr>
  <p:timing>
    <p:tnLst>
      <p:par>
        <p:cTn xmlns:p14="http://schemas.microsoft.com/office/powerpoint/2010/mai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Harjoitus, jatkuu: Vaiheistetaan suunnittelu</a:t>
            </a:r>
            <a:endParaRPr lang="fi-FI" dirty="0"/>
          </a:p>
        </p:txBody>
      </p:sp>
      <p:sp>
        <p:nvSpPr>
          <p:cNvPr id="3" name="Content Placeholder 2"/>
          <p:cNvSpPr>
            <a:spLocks noGrp="1"/>
          </p:cNvSpPr>
          <p:nvPr>
            <p:ph idx="1"/>
          </p:nvPr>
        </p:nvSpPr>
        <p:spPr/>
        <p:txBody>
          <a:bodyPr/>
          <a:lstStyle/>
          <a:p>
            <a:pPr marL="514350" indent="-514350">
              <a:buFont typeface="+mj-lt"/>
              <a:buAutoNum type="arabicPeriod"/>
            </a:pPr>
            <a:r>
              <a:rPr lang="fi-FI" dirty="0" smtClean="0"/>
              <a:t>Investointitaso: mikä ja miksi? </a:t>
            </a:r>
          </a:p>
          <a:p>
            <a:pPr marL="514350" indent="-514350">
              <a:buFont typeface="+mj-lt"/>
              <a:buAutoNum type="arabicPeriod"/>
            </a:pPr>
            <a:r>
              <a:rPr lang="fi-FI" dirty="0" smtClean="0"/>
              <a:t>Painopisteet: mitä testataan ja mitä ei? </a:t>
            </a:r>
          </a:p>
          <a:p>
            <a:pPr marL="514350" indent="-514350">
              <a:buFont typeface="+mj-lt"/>
              <a:buAutoNum type="arabicPeriod"/>
            </a:pPr>
            <a:r>
              <a:rPr lang="fi-FI" dirty="0" smtClean="0"/>
              <a:t>Edellytykset: ympäristöt ja ihmiset</a:t>
            </a:r>
          </a:p>
          <a:p>
            <a:pPr marL="514350" indent="-514350">
              <a:buFont typeface="+mj-lt"/>
              <a:buAutoNum type="arabicPeriod"/>
            </a:pPr>
            <a:r>
              <a:rPr lang="fi-FI" dirty="0" smtClean="0"/>
              <a:t>Tehtävät hyväksymistestaukselle</a:t>
            </a:r>
          </a:p>
          <a:p>
            <a:pPr marL="514350" indent="-514350">
              <a:buFont typeface="+mj-lt"/>
              <a:buAutoNum type="arabicPeriod"/>
            </a:pPr>
            <a:r>
              <a:rPr lang="fi-FI" dirty="0" smtClean="0"/>
              <a:t>Hallinnoinnin käytännöt: etenemisen seuranta, havaintojen kirjaaminen, hyväksymispäätöksen tekeminen </a:t>
            </a:r>
          </a:p>
          <a:p>
            <a:pPr marL="514350" indent="-514350">
              <a:buFont typeface="+mj-lt"/>
              <a:buAutoNum type="arabicPeriod"/>
            </a:pPr>
            <a:r>
              <a:rPr lang="fi-FI" dirty="0" smtClean="0"/>
              <a:t>Testauksen riskit</a:t>
            </a:r>
          </a:p>
          <a:p>
            <a:pPr marL="514350" indent="-514350">
              <a:buFont typeface="+mj-lt"/>
              <a:buAutoNum type="arabicPeriod"/>
            </a:pPr>
            <a:endParaRPr lang="fi-FI" dirty="0" smtClean="0"/>
          </a:p>
          <a:p>
            <a:pPr marL="514350" indent="-514350">
              <a:buFont typeface="+mj-lt"/>
              <a:buAutoNum type="arabicPeriod"/>
            </a:pPr>
            <a:endParaRPr lang="fi-FI" dirty="0" smtClean="0"/>
          </a:p>
        </p:txBody>
      </p:sp>
      <p:sp>
        <p:nvSpPr>
          <p:cNvPr id="4" name="Slide Number Placeholder 3"/>
          <p:cNvSpPr>
            <a:spLocks noGrp="1"/>
          </p:cNvSpPr>
          <p:nvPr>
            <p:ph type="sldNum" sz="quarter" idx="12"/>
          </p:nvPr>
        </p:nvSpPr>
        <p:spPr/>
        <p:txBody>
          <a:bodyPr/>
          <a:lstStyle/>
          <a:p>
            <a:fld id="{7A750B4A-325E-4AA4-BC07-A8C35B32A4F3}" type="slidenum">
              <a:rPr lang="fi-FI" smtClean="0"/>
              <a:pPr/>
              <a:t>177</a:t>
            </a:fld>
            <a:endParaRPr lang="fi-FI"/>
          </a:p>
        </p:txBody>
      </p:sp>
    </p:spTree>
  </p:cSld>
  <p:clrMapOvr>
    <a:masterClrMapping/>
  </p:clrMapOvr>
  <p:timing>
    <p:tnLst>
      <p:par>
        <p:cTn xmlns:p14="http://schemas.microsoft.com/office/powerpoint/2010/mai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fi-FI" dirty="0" smtClean="0"/>
              <a:t>Testaaminen ja hyväksyminen</a:t>
            </a:r>
            <a:endParaRPr lang="fi-FI" dirty="0"/>
          </a:p>
        </p:txBody>
      </p:sp>
      <p:sp>
        <p:nvSpPr>
          <p:cNvPr id="8" name="Subtitle 7"/>
          <p:cNvSpPr>
            <a:spLocks noGrp="1"/>
          </p:cNvSpPr>
          <p:nvPr>
            <p:ph type="body" idx="1"/>
          </p:nvPr>
        </p:nvSpPr>
        <p:spPr/>
        <p:txBody>
          <a:bodyPr/>
          <a:lstStyle/>
          <a:p>
            <a:endParaRPr lang="fi-FI" dirty="0"/>
          </a:p>
        </p:txBody>
      </p:sp>
      <p:sp>
        <p:nvSpPr>
          <p:cNvPr id="5" name="Slide Number Placeholder 4"/>
          <p:cNvSpPr>
            <a:spLocks noGrp="1"/>
          </p:cNvSpPr>
          <p:nvPr>
            <p:ph type="sldNum" sz="quarter" idx="12"/>
          </p:nvPr>
        </p:nvSpPr>
        <p:spPr/>
        <p:txBody>
          <a:bodyPr/>
          <a:lstStyle/>
          <a:p>
            <a:fld id="{7A750B4A-325E-4AA4-BC07-A8C35B32A4F3}" type="slidenum">
              <a:rPr lang="fi-FI" smtClean="0"/>
              <a:pPr/>
              <a:t>178</a:t>
            </a:fld>
            <a:endParaRPr lang="fi-FI"/>
          </a:p>
        </p:txBody>
      </p:sp>
    </p:spTree>
  </p:cSld>
  <p:clrMapOvr>
    <a:masterClrMapping/>
  </p:clrMapOvr>
  <p:timing>
    <p:tnLst>
      <p:par>
        <p:cTn xmlns:p14="http://schemas.microsoft.com/office/powerpoint/2010/mai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Kuinka ”testaaminen” tapahtuu</a:t>
            </a:r>
            <a:endParaRPr lang="fi-FI" dirty="0"/>
          </a:p>
        </p:txBody>
      </p:sp>
      <p:sp>
        <p:nvSpPr>
          <p:cNvPr id="3" name="Content Placeholder 2"/>
          <p:cNvSpPr>
            <a:spLocks noGrp="1"/>
          </p:cNvSpPr>
          <p:nvPr>
            <p:ph idx="1"/>
          </p:nvPr>
        </p:nvSpPr>
        <p:spPr/>
        <p:txBody>
          <a:bodyPr>
            <a:noAutofit/>
          </a:bodyPr>
          <a:lstStyle/>
          <a:p>
            <a:r>
              <a:rPr lang="fi-FI" sz="1800" dirty="0" smtClean="0"/>
              <a:t>Sovitaan testauksen puitteet</a:t>
            </a:r>
          </a:p>
          <a:p>
            <a:pPr lvl="1"/>
            <a:r>
              <a:rPr lang="fi-FI" sz="1400" dirty="0" smtClean="0"/>
              <a:t>Koska testataan ja että saatavilla on testattavaa (testauksen kohde riittävällä laatutasolla)</a:t>
            </a:r>
          </a:p>
          <a:p>
            <a:pPr lvl="1"/>
            <a:r>
              <a:rPr lang="fi-FI" sz="1400" dirty="0" smtClean="0"/>
              <a:t>Riittävä aika käytettäväksi testaukseen</a:t>
            </a:r>
          </a:p>
          <a:p>
            <a:r>
              <a:rPr lang="fi-FI" sz="1800" dirty="0" smtClean="0"/>
              <a:t>Sovitaan mistä osasta kukin lähtee järjestelmää tarkastelemaan</a:t>
            </a:r>
          </a:p>
          <a:p>
            <a:pPr lvl="1"/>
            <a:r>
              <a:rPr lang="fi-FI" sz="1400" dirty="0" smtClean="0"/>
              <a:t>Testitapaus: mitä asioita minä kuittaan katsotuiksi</a:t>
            </a:r>
          </a:p>
          <a:p>
            <a:r>
              <a:rPr lang="fi-FI" sz="1800" dirty="0" smtClean="0"/>
              <a:t>Tarkastellaan kriittisesti ja monipuolisesti</a:t>
            </a:r>
          </a:p>
          <a:p>
            <a:pPr lvl="1"/>
            <a:r>
              <a:rPr lang="fi-FI" sz="1400" dirty="0" smtClean="0"/>
              <a:t>Täydennetään testitapausta – oma maalaisjärki on paras työkalu</a:t>
            </a:r>
          </a:p>
          <a:p>
            <a:pPr lvl="1"/>
            <a:r>
              <a:rPr lang="fi-FI" sz="1400" dirty="0" smtClean="0"/>
              <a:t>Kokeillaan useita kertoja vähän muuttaen, kuitenkin samaa asiaa</a:t>
            </a:r>
          </a:p>
          <a:p>
            <a:pPr lvl="1"/>
            <a:r>
              <a:rPr lang="fi-FI" sz="1400" dirty="0" smtClean="0"/>
              <a:t>Tehdään havaintoja, luokitellaan: onko pakko korjata ennen tuotantoon siirtymistä, miksi? </a:t>
            </a:r>
          </a:p>
          <a:p>
            <a:r>
              <a:rPr lang="fi-FI" sz="1800" dirty="0" smtClean="0"/>
              <a:t>Kirjataan ongelmatilanne, jotta ketjun seuraava voi selvitellä eteenpäin</a:t>
            </a:r>
          </a:p>
          <a:p>
            <a:pPr lvl="1"/>
            <a:r>
              <a:rPr lang="fi-FI" sz="1400" dirty="0" smtClean="0"/>
              <a:t>Havaintokirjaus</a:t>
            </a:r>
          </a:p>
          <a:p>
            <a:pPr lvl="1"/>
            <a:r>
              <a:rPr lang="fi-FI" sz="1400" dirty="0" smtClean="0"/>
              <a:t>Jos paljon ongelmia, testaaja päättää minkä näistä raportoi ensin</a:t>
            </a:r>
            <a:endParaRPr lang="fi-FI" sz="1400" dirty="0"/>
          </a:p>
          <a:p>
            <a:r>
              <a:rPr lang="fi-FI" sz="1800" dirty="0" smtClean="0"/>
              <a:t>Mietitään huomasiko testatessaan jotain muuta mitä pitäisi tarkastella erikseen</a:t>
            </a:r>
          </a:p>
          <a:p>
            <a:pPr lvl="1"/>
            <a:r>
              <a:rPr lang="fi-FI" sz="1400" dirty="0" smtClean="0"/>
              <a:t>Tarkistetaan onko jo muissa testitapauksissa, lisätään jos tärkeää katsoa</a:t>
            </a:r>
          </a:p>
          <a:p>
            <a:r>
              <a:rPr lang="fi-FI" sz="1800" dirty="0" smtClean="0"/>
              <a:t>Edellytyksiä taustalla</a:t>
            </a:r>
          </a:p>
          <a:p>
            <a:pPr lvl="1"/>
            <a:r>
              <a:rPr lang="fi-FI" sz="1400" dirty="0" smtClean="0"/>
              <a:t>Olet virkeä, motivoinut ja keskittynyt tavoitteeseen huomata jos on huomattavaa</a:t>
            </a:r>
            <a:endParaRPr lang="fi-FI" sz="1400"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179</a:t>
            </a:fld>
            <a:endParaRPr lang="fi-FI"/>
          </a:p>
        </p:txBody>
      </p:sp>
    </p:spTree>
  </p:cSld>
  <p:clrMapOvr>
    <a:masterClrMapping/>
  </p:clrMapOvr>
  <p:timing>
    <p:tnLst>
      <p:par>
        <p:cTn xmlns:p14="http://schemas.microsoft.com/office/powerpoint/2010/mai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2"/>
          <p:cNvSpPr>
            <a:spLocks noGrp="1" noChangeArrowheads="1"/>
          </p:cNvSpPr>
          <p:nvPr>
            <p:ph type="title"/>
          </p:nvPr>
        </p:nvSpPr>
        <p:spPr>
          <a:xfrm>
            <a:off x="457200" y="267494"/>
            <a:ext cx="8229600" cy="1399032"/>
          </a:xfrm>
        </p:spPr>
        <p:txBody>
          <a:bodyPr>
            <a:normAutofit fontScale="90000"/>
          </a:bodyPr>
          <a:lstStyle/>
          <a:p>
            <a:pPr marL="484632" indent="0" fontAlgn="auto">
              <a:spcAft>
                <a:spcPts val="0"/>
              </a:spcAft>
              <a:defRPr/>
            </a:pPr>
            <a:r>
              <a:rPr lang="fi-FI" dirty="0" smtClean="0"/>
              <a:t>Testaajat testaavat osia kokonaisuudesta</a:t>
            </a:r>
            <a:endParaRPr lang="fi-FI" dirty="0"/>
          </a:p>
        </p:txBody>
      </p:sp>
      <p:sp>
        <p:nvSpPr>
          <p:cNvPr id="3076" name="Rectangle 3"/>
          <p:cNvSpPr>
            <a:spLocks noChangeArrowheads="1"/>
          </p:cNvSpPr>
          <p:nvPr/>
        </p:nvSpPr>
        <p:spPr bwMode="auto">
          <a:xfrm>
            <a:off x="1514475" y="1481138"/>
            <a:ext cx="9144000" cy="0"/>
          </a:xfrm>
          <a:prstGeom prst="rect">
            <a:avLst/>
          </a:prstGeom>
          <a:noFill/>
          <a:ln w="9525">
            <a:noFill/>
            <a:miter lim="800000"/>
            <a:headEnd/>
            <a:tailEnd/>
          </a:ln>
        </p:spPr>
        <p:txBody>
          <a:bodyPr>
            <a:spAutoFit/>
          </a:bodyPr>
          <a:lstStyle/>
          <a:p>
            <a:endParaRPr lang="en-US">
              <a:latin typeface="Century Gothic" pitchFamily="34" charset="0"/>
            </a:endParaRPr>
          </a:p>
        </p:txBody>
      </p:sp>
      <p:graphicFrame>
        <p:nvGraphicFramePr>
          <p:cNvPr id="3074" name="Object 2"/>
          <p:cNvGraphicFramePr>
            <a:graphicFrameLocks noChangeAspect="1"/>
          </p:cNvGraphicFramePr>
          <p:nvPr/>
        </p:nvGraphicFramePr>
        <p:xfrm>
          <a:off x="1295400" y="1752600"/>
          <a:ext cx="6553200" cy="4175125"/>
        </p:xfrm>
        <a:graphic>
          <a:graphicData uri="http://schemas.openxmlformats.org/presentationml/2006/ole">
            <mc:AlternateContent xmlns:mc="http://schemas.openxmlformats.org/markup-compatibility/2006">
              <mc:Choice xmlns:v="urn:schemas-microsoft-com:vml" Requires="v">
                <p:oleObj spid="_x0000_s514053" r:id="rId4" imgW="6492568" imgH="4083009" progId="">
                  <p:embed/>
                </p:oleObj>
              </mc:Choice>
              <mc:Fallback>
                <p:oleObj r:id="rId4" imgW="6492568" imgH="4083009" progId="">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5400" y="1752600"/>
                        <a:ext cx="6553200" cy="4175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7" name="Slide Number Placeholder 5"/>
          <p:cNvSpPr>
            <a:spLocks noGrp="1"/>
          </p:cNvSpPr>
          <p:nvPr>
            <p:ph type="sldNum" sz="quarter" idx="12"/>
          </p:nvPr>
        </p:nvSpPr>
        <p:spPr bwMode="auto">
          <a:noFill/>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pPr>
            <a:fld id="{1D62D9A7-05A7-4E1E-B453-C6AFB714C9FC}" type="slidenum">
              <a:rPr lang="en-US"/>
              <a:pPr fontAlgn="base">
                <a:spcBef>
                  <a:spcPct val="0"/>
                </a:spcBef>
                <a:spcAft>
                  <a:spcPct val="0"/>
                </a:spcAft>
              </a:pPr>
              <a:t>180</a:t>
            </a:fld>
            <a:endParaRPr lang="en-US"/>
          </a:p>
        </p:txBody>
      </p:sp>
    </p:spTree>
  </p:cSld>
  <p:clrMapOvr>
    <a:masterClrMapping/>
  </p:clrMapOvr>
  <p:timing>
    <p:tnLst>
      <p:par>
        <p:cTn xmlns:p14="http://schemas.microsoft.com/office/powerpoint/2010/mai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pPr lvl="0"/>
            <a:r>
              <a:rPr lang="fi-FI" dirty="0" smtClean="0"/>
              <a:t>Testauksen suorittaminen ja testityön kirjaaminen testipäiväkirjaan</a:t>
            </a:r>
            <a:endParaRPr lang="fi-FI" dirty="0"/>
          </a:p>
        </p:txBody>
      </p:sp>
      <p:sp>
        <p:nvSpPr>
          <p:cNvPr id="6" name="Content Placeholder 5"/>
          <p:cNvSpPr>
            <a:spLocks noGrp="1"/>
          </p:cNvSpPr>
          <p:nvPr>
            <p:ph idx="1"/>
          </p:nvPr>
        </p:nvSpPr>
        <p:spPr/>
        <p:txBody>
          <a:bodyPr>
            <a:normAutofit lnSpcReduction="10000"/>
          </a:bodyPr>
          <a:lstStyle/>
          <a:p>
            <a:r>
              <a:rPr lang="fi-FI" dirty="0" smtClean="0"/>
              <a:t>Testausta suorittaessa tarvitaan rakenne tukemaan toistoa: </a:t>
            </a:r>
            <a:r>
              <a:rPr lang="fi-FI" i="1" dirty="0" smtClean="0"/>
              <a:t>testipäiväkirja</a:t>
            </a:r>
            <a:endParaRPr lang="fi-FI" dirty="0" smtClean="0"/>
          </a:p>
          <a:p>
            <a:r>
              <a:rPr lang="fi-FI" dirty="0" smtClean="0"/>
              <a:t>Samaa testiä käytetään</a:t>
            </a:r>
          </a:p>
          <a:p>
            <a:pPr lvl="1"/>
            <a:r>
              <a:rPr lang="fi-FI" dirty="0" smtClean="0"/>
              <a:t>Ensimmäiselle versiolle testauksessa ja jokaiselle korjausversiolle </a:t>
            </a:r>
          </a:p>
          <a:p>
            <a:r>
              <a:rPr lang="fi-FI" dirty="0" smtClean="0"/>
              <a:t>Pitää pystyä kertomaan mille versiolle / ympäristökokoonpanolle testi on tehty, ei vain viimeisintä ajoa vaan analysointi takautuvasti oppimisen tueksi </a:t>
            </a:r>
            <a:endParaRPr lang="fi-FI"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181</a:t>
            </a:fld>
            <a:endParaRPr lang="fi-FI"/>
          </a:p>
        </p:txBody>
      </p:sp>
    </p:spTree>
  </p:cSld>
  <p:clrMapOvr>
    <a:masterClrMapping/>
  </p:clrMapOvr>
  <p:timing>
    <p:tnLst>
      <p:par>
        <p:cTn xmlns:p14="http://schemas.microsoft.com/office/powerpoint/2010/mai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6EC9AE22-300D-474E-8332-298EA3086E64}" type="slidenum">
              <a:rPr lang="en-US" smtClean="0"/>
              <a:pPr/>
              <a:t>182</a:t>
            </a:fld>
            <a:endParaRPr lang="en-US"/>
          </a:p>
        </p:txBody>
      </p:sp>
      <p:sp>
        <p:nvSpPr>
          <p:cNvPr id="188418" name="Rectangle 2"/>
          <p:cNvSpPr>
            <a:spLocks noGrp="1" noChangeArrowheads="1"/>
          </p:cNvSpPr>
          <p:nvPr>
            <p:ph type="title" idx="4294967295"/>
          </p:nvPr>
        </p:nvSpPr>
        <p:spPr>
          <a:xfrm>
            <a:off x="457200" y="381000"/>
            <a:ext cx="6870700" cy="1600200"/>
          </a:xfrm>
        </p:spPr>
        <p:txBody>
          <a:bodyPr>
            <a:normAutofit fontScale="90000"/>
          </a:bodyPr>
          <a:lstStyle/>
          <a:p>
            <a:pPr defTabSz="762000"/>
            <a:r>
              <a:rPr lang="en-GB" sz="4000" dirty="0" err="1"/>
              <a:t>Esimerkki</a:t>
            </a:r>
            <a:r>
              <a:rPr lang="en-GB" sz="4000" dirty="0"/>
              <a:t>: “</a:t>
            </a:r>
            <a:r>
              <a:rPr lang="en-GB" sz="4000" dirty="0" err="1"/>
              <a:t>Testihallinnan</a:t>
            </a:r>
            <a:r>
              <a:rPr lang="en-GB" sz="4000" dirty="0"/>
              <a:t> </a:t>
            </a:r>
            <a:r>
              <a:rPr lang="en-GB" sz="4000" dirty="0" err="1"/>
              <a:t>väline</a:t>
            </a:r>
            <a:r>
              <a:rPr lang="en-GB" sz="4000" dirty="0"/>
              <a:t>” </a:t>
            </a:r>
            <a:r>
              <a:rPr lang="en-GB" sz="4000" dirty="0" err="1"/>
              <a:t>voi</a:t>
            </a:r>
            <a:r>
              <a:rPr lang="en-GB" sz="4000" dirty="0"/>
              <a:t> olla </a:t>
            </a:r>
            <a:r>
              <a:rPr lang="en-GB" sz="4000" dirty="0" err="1"/>
              <a:t>jotain</a:t>
            </a:r>
            <a:r>
              <a:rPr lang="en-GB" sz="4000" dirty="0"/>
              <a:t> </a:t>
            </a:r>
            <a:r>
              <a:rPr lang="en-GB" sz="4000" dirty="0" err="1"/>
              <a:t>näinkin</a:t>
            </a:r>
            <a:r>
              <a:rPr lang="en-GB" sz="4000" dirty="0"/>
              <a:t> </a:t>
            </a:r>
            <a:r>
              <a:rPr lang="en-GB" sz="4000" dirty="0" err="1"/>
              <a:t>yksinkertaista</a:t>
            </a:r>
            <a:endParaRPr lang="en-GB" sz="4000" dirty="0"/>
          </a:p>
        </p:txBody>
      </p:sp>
      <p:sp>
        <p:nvSpPr>
          <p:cNvPr id="188419" name="Rectangle 3"/>
          <p:cNvSpPr>
            <a:spLocks noGrp="1" noChangeArrowheads="1"/>
          </p:cNvSpPr>
          <p:nvPr>
            <p:ph type="body" idx="4294967295"/>
          </p:nvPr>
        </p:nvSpPr>
        <p:spPr>
          <a:xfrm>
            <a:off x="304800" y="2133600"/>
            <a:ext cx="7696200" cy="3657600"/>
          </a:xfrm>
        </p:spPr>
        <p:txBody>
          <a:bodyPr/>
          <a:lstStyle/>
          <a:p>
            <a:pPr marL="0" indent="0" defTabSz="762000"/>
            <a:r>
              <a:rPr lang="en-GB" dirty="0"/>
              <a:t>Demo: </a:t>
            </a:r>
            <a:r>
              <a:rPr lang="en-GB" dirty="0" err="1"/>
              <a:t>Testimäärittely</a:t>
            </a:r>
            <a:r>
              <a:rPr lang="en-GB" dirty="0"/>
              <a:t>, </a:t>
            </a:r>
            <a:r>
              <a:rPr lang="en-GB" dirty="0" err="1"/>
              <a:t>testiloki</a:t>
            </a:r>
            <a:r>
              <a:rPr lang="en-GB" dirty="0"/>
              <a:t>, </a:t>
            </a:r>
            <a:r>
              <a:rPr lang="en-GB" dirty="0" err="1"/>
              <a:t>koontiversiot</a:t>
            </a:r>
            <a:endParaRPr lang="en-GB" dirty="0"/>
          </a:p>
        </p:txBody>
      </p:sp>
      <p:pic>
        <p:nvPicPr>
          <p:cNvPr id="188420" name="Picture 4"/>
          <p:cNvPicPr>
            <a:picLocks noChangeAspect="1" noChangeArrowheads="1"/>
          </p:cNvPicPr>
          <p:nvPr/>
        </p:nvPicPr>
        <p:blipFill>
          <a:blip r:embed="rId3" cstate="print"/>
          <a:srcRect/>
          <a:stretch>
            <a:fillRect/>
          </a:stretch>
        </p:blipFill>
        <p:spPr bwMode="auto">
          <a:xfrm>
            <a:off x="5638800" y="2895600"/>
            <a:ext cx="2924175" cy="2192338"/>
          </a:xfrm>
          <a:prstGeom prst="rect">
            <a:avLst/>
          </a:prstGeom>
          <a:noFill/>
          <a:ln w="12700">
            <a:noFill/>
            <a:miter lim="800000"/>
            <a:headEnd/>
            <a:tailEnd/>
          </a:ln>
          <a:effectLst/>
        </p:spPr>
      </p:pic>
      <p:pic>
        <p:nvPicPr>
          <p:cNvPr id="188421" name="Picture 5"/>
          <p:cNvPicPr>
            <a:picLocks noChangeAspect="1" noChangeArrowheads="1"/>
          </p:cNvPicPr>
          <p:nvPr/>
        </p:nvPicPr>
        <p:blipFill>
          <a:blip r:embed="rId4" cstate="print"/>
          <a:srcRect/>
          <a:stretch>
            <a:fillRect/>
          </a:stretch>
        </p:blipFill>
        <p:spPr bwMode="auto">
          <a:xfrm>
            <a:off x="2195513" y="4183063"/>
            <a:ext cx="3017837" cy="2051050"/>
          </a:xfrm>
          <a:prstGeom prst="rect">
            <a:avLst/>
          </a:prstGeom>
          <a:noFill/>
          <a:ln w="12700">
            <a:noFill/>
            <a:miter lim="800000"/>
            <a:headEnd/>
            <a:tailEnd/>
          </a:ln>
          <a:effectLst/>
        </p:spPr>
      </p:pic>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fi-FI" dirty="0" smtClean="0"/>
              <a:t>Toimittajan testauksien tarkastelu osana hyväksymistestausta</a:t>
            </a:r>
            <a:endParaRPr lang="fi-FI" dirty="0"/>
          </a:p>
        </p:txBody>
      </p:sp>
      <p:sp>
        <p:nvSpPr>
          <p:cNvPr id="3" name="Content Placeholder 2"/>
          <p:cNvSpPr>
            <a:spLocks noGrp="1"/>
          </p:cNvSpPr>
          <p:nvPr>
            <p:ph idx="1"/>
          </p:nvPr>
        </p:nvSpPr>
        <p:spPr/>
        <p:txBody>
          <a:bodyPr>
            <a:normAutofit fontScale="77500" lnSpcReduction="20000"/>
          </a:bodyPr>
          <a:lstStyle/>
          <a:p>
            <a:r>
              <a:rPr lang="fi-FI" dirty="0" smtClean="0"/>
              <a:t>Hyväksymistestauksen ei tarvitse olla vain omaa työtä, osa siitä voi olla toimittajan testauksen laadunvalvontaa</a:t>
            </a:r>
          </a:p>
          <a:p>
            <a:pPr lvl="1"/>
            <a:r>
              <a:rPr lang="fi-FI" dirty="0" smtClean="0"/>
              <a:t>Toimittajan testauksen dokumentaation laadunvarmistus (testitapausten katselmoinnit)</a:t>
            </a:r>
          </a:p>
          <a:p>
            <a:pPr lvl="1"/>
            <a:r>
              <a:rPr lang="fi-FI" dirty="0" smtClean="0"/>
              <a:t>Toimittajan testisuorituksen laadunvarmistus (otos testeistä uudelleen)</a:t>
            </a:r>
          </a:p>
          <a:p>
            <a:pPr lvl="1"/>
            <a:r>
              <a:rPr lang="fi-FI" dirty="0" smtClean="0"/>
              <a:t>Toimittajan havaintokirjausten dokumentoinnin ja käsittelyn laadunvarmistus (tietojen kirjaaminen sovitusti / tietojen käsittely sovitusti)</a:t>
            </a:r>
          </a:p>
          <a:p>
            <a:pPr lvl="1"/>
            <a:r>
              <a:rPr lang="fi-FI" dirty="0" smtClean="0"/>
              <a:t>Toimittajan testausraportoinnin laadunvarmistus (suunnittellun vs. suoritetun erot) </a:t>
            </a:r>
          </a:p>
          <a:p>
            <a:r>
              <a:rPr lang="fi-FI" dirty="0" smtClean="0"/>
              <a:t>Puutteellisella toimittajan testauksella voidaan sopia olevan hyväksyntävaikutus</a:t>
            </a:r>
            <a:endParaRPr lang="fi-FI"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183</a:t>
            </a:fld>
            <a:endParaRPr lang="fi-FI"/>
          </a:p>
        </p:txBody>
      </p:sp>
    </p:spTree>
  </p:cSld>
  <p:clrMapOvr>
    <a:masterClrMapping/>
  </p:clrMapOvr>
  <p:timing>
    <p:tnLst>
      <p:par>
        <p:cTn xmlns:p14="http://schemas.microsoft.com/office/powerpoint/2010/mai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fi-FI" dirty="0" smtClean="0"/>
              <a:t>Tutkiva testaus</a:t>
            </a:r>
            <a:endParaRPr lang="fi-FI" dirty="0"/>
          </a:p>
        </p:txBody>
      </p:sp>
      <p:sp>
        <p:nvSpPr>
          <p:cNvPr id="8" name="Subtitle 7"/>
          <p:cNvSpPr>
            <a:spLocks noGrp="1"/>
          </p:cNvSpPr>
          <p:nvPr>
            <p:ph type="body" idx="1"/>
          </p:nvPr>
        </p:nvSpPr>
        <p:spPr/>
        <p:txBody>
          <a:bodyPr/>
          <a:lstStyle/>
          <a:p>
            <a:endParaRPr lang="fi-FI" dirty="0"/>
          </a:p>
        </p:txBody>
      </p:sp>
      <p:sp>
        <p:nvSpPr>
          <p:cNvPr id="5" name="Slide Number Placeholder 4"/>
          <p:cNvSpPr>
            <a:spLocks noGrp="1"/>
          </p:cNvSpPr>
          <p:nvPr>
            <p:ph type="sldNum" sz="quarter" idx="12"/>
          </p:nvPr>
        </p:nvSpPr>
        <p:spPr/>
        <p:txBody>
          <a:bodyPr/>
          <a:lstStyle/>
          <a:p>
            <a:fld id="{7A750B4A-325E-4AA4-BC07-A8C35B32A4F3}" type="slidenum">
              <a:rPr lang="fi-FI" smtClean="0"/>
              <a:pPr/>
              <a:t>184</a:t>
            </a:fld>
            <a:endParaRPr lang="fi-FI"/>
          </a:p>
        </p:txBody>
      </p:sp>
    </p:spTree>
  </p:cSld>
  <p:clrMapOvr>
    <a:masterClrMapping/>
  </p:clrMapOvr>
  <p:timing>
    <p:tnLst>
      <p:par>
        <p:cTn xmlns:p14="http://schemas.microsoft.com/office/powerpoint/2010/mai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Tutkiva Testaus:</a:t>
            </a:r>
            <a:br>
              <a:rPr lang="fi-FI" dirty="0" smtClean="0"/>
            </a:br>
            <a:r>
              <a:rPr lang="fi-FI" dirty="0" smtClean="0"/>
              <a:t>Parempia testejä, parempia testaajia!</a:t>
            </a:r>
            <a:endParaRPr lang="fi-FI" dirty="0"/>
          </a:p>
        </p:txBody>
      </p:sp>
      <p:sp>
        <p:nvSpPr>
          <p:cNvPr id="10" name="Content Placeholder 9"/>
          <p:cNvSpPr>
            <a:spLocks noGrp="1"/>
          </p:cNvSpPr>
          <p:nvPr>
            <p:ph sz="half" idx="1"/>
          </p:nvPr>
        </p:nvSpPr>
        <p:spPr>
          <a:xfrm>
            <a:off x="457200" y="1600200"/>
            <a:ext cx="4329114" cy="4525963"/>
          </a:xfrm>
        </p:spPr>
        <p:txBody>
          <a:bodyPr>
            <a:noAutofit/>
          </a:bodyPr>
          <a:lstStyle/>
          <a:p>
            <a:r>
              <a:rPr lang="fi-FI" sz="2000" dirty="0" smtClean="0"/>
              <a:t>Ohjelmistotestaustyyli</a:t>
            </a:r>
          </a:p>
          <a:p>
            <a:pPr lvl="1"/>
            <a:r>
              <a:rPr lang="fi-FI" sz="1600" dirty="0" smtClean="0"/>
              <a:t>korostaa yksilön vapautta ja vastuuta prosessissa jossa jatkuva tuotetun hyödyn optimointi on tärkeää</a:t>
            </a:r>
          </a:p>
          <a:p>
            <a:r>
              <a:rPr lang="fi-FI" sz="1600" dirty="0" smtClean="0"/>
              <a:t>“Kaikki testaus jossa testaaja aktiivisesti suunnittelee ja suorittaa testejä ja hyödyntää saamaansa tietoa uusien parempien testien suunnitteluun.” – James Bach &amp; Cem Kaner</a:t>
            </a:r>
          </a:p>
          <a:p>
            <a:r>
              <a:rPr lang="fi-FI" sz="1600" dirty="0" smtClean="0"/>
              <a:t>Kurinalainen, suunniteltu ja </a:t>
            </a:r>
            <a:br>
              <a:rPr lang="fi-FI" sz="1600" dirty="0" smtClean="0"/>
            </a:br>
            <a:r>
              <a:rPr lang="fi-FI" sz="1600" dirty="0" smtClean="0"/>
              <a:t>hallittu tapa tehdä testausta </a:t>
            </a:r>
            <a:br>
              <a:rPr lang="fi-FI" sz="1600" dirty="0" smtClean="0"/>
            </a:br>
            <a:r>
              <a:rPr lang="fi-FI" sz="1600" dirty="0" smtClean="0"/>
              <a:t>joka korostaa jatkuvaa </a:t>
            </a:r>
            <a:br>
              <a:rPr lang="fi-FI" sz="1600" dirty="0" smtClean="0"/>
            </a:br>
            <a:r>
              <a:rPr lang="fi-FI" sz="1600" dirty="0" smtClean="0"/>
              <a:t>oppimista</a:t>
            </a:r>
          </a:p>
          <a:p>
            <a:r>
              <a:rPr lang="fi-FI" sz="1600" dirty="0" smtClean="0"/>
              <a:t>Kotimaista tutkimusta Itkonen et al. 2007</a:t>
            </a:r>
          </a:p>
          <a:p>
            <a:pPr lvl="1"/>
            <a:r>
              <a:rPr lang="fi-FI" sz="1400" dirty="0" smtClean="0"/>
              <a:t>Vastaavat tulokset etukäteissuunnitelluilla ja tutkivaan tyyliin tehdyillä testeillä  </a:t>
            </a:r>
          </a:p>
          <a:p>
            <a:pPr lvl="1"/>
            <a:r>
              <a:rPr lang="en-US" sz="1400" dirty="0" err="1" smtClean="0"/>
              <a:t>Testitapauksilla</a:t>
            </a:r>
            <a:r>
              <a:rPr lang="en-US" sz="1400" dirty="0" smtClean="0"/>
              <a:t> </a:t>
            </a:r>
            <a:r>
              <a:rPr lang="en-US" sz="1400" dirty="0" err="1" smtClean="0"/>
              <a:t>enemmän</a:t>
            </a:r>
            <a:r>
              <a:rPr lang="en-US" sz="1400" dirty="0" smtClean="0"/>
              <a:t> </a:t>
            </a:r>
            <a:r>
              <a:rPr lang="en-US" sz="1400" dirty="0" err="1" smtClean="0"/>
              <a:t>vääriä</a:t>
            </a:r>
            <a:r>
              <a:rPr lang="en-US" sz="1400" dirty="0" smtClean="0"/>
              <a:t> </a:t>
            </a:r>
            <a:r>
              <a:rPr lang="en-US" sz="1400" dirty="0" err="1" smtClean="0"/>
              <a:t>hälytyksiä</a:t>
            </a:r>
            <a:endParaRPr lang="en-US" sz="1400" dirty="0" smtClean="0"/>
          </a:p>
          <a:p>
            <a:pPr lvl="1"/>
            <a:r>
              <a:rPr lang="fi-FI" sz="1400" dirty="0" smtClean="0"/>
              <a:t>Vertailtavana testien suoritus: kokonaistyömäärät testitapauksiin perustuvassa testauksessa suuremmat</a:t>
            </a:r>
            <a:endParaRPr lang="en-US" sz="1400" dirty="0" smtClean="0"/>
          </a:p>
          <a:p>
            <a:pPr lvl="1"/>
            <a:endParaRPr lang="en-US" sz="1600" dirty="0" smtClean="0"/>
          </a:p>
        </p:txBody>
      </p:sp>
      <p:grpSp>
        <p:nvGrpSpPr>
          <p:cNvPr id="3" name="Group 3"/>
          <p:cNvGrpSpPr/>
          <p:nvPr/>
        </p:nvGrpSpPr>
        <p:grpSpPr>
          <a:xfrm>
            <a:off x="4714876" y="1643050"/>
            <a:ext cx="4143404" cy="2428892"/>
            <a:chOff x="500034" y="1571612"/>
            <a:chExt cx="8143932" cy="5143512"/>
          </a:xfrm>
        </p:grpSpPr>
        <p:sp>
          <p:nvSpPr>
            <p:cNvPr id="5" name="Cloud Callout 4"/>
            <p:cNvSpPr/>
            <p:nvPr/>
          </p:nvSpPr>
          <p:spPr>
            <a:xfrm>
              <a:off x="4500562" y="5286388"/>
              <a:ext cx="2286016" cy="1428736"/>
            </a:xfrm>
            <a:prstGeom prst="cloudCallout">
              <a:avLst>
                <a:gd name="adj1" fmla="val -89524"/>
                <a:gd name="adj2" fmla="val -52053"/>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fi-FI"/>
            </a:p>
          </p:txBody>
        </p:sp>
        <p:cxnSp>
          <p:nvCxnSpPr>
            <p:cNvPr id="6" name="Straight Connector 5"/>
            <p:cNvCxnSpPr/>
            <p:nvPr/>
          </p:nvCxnSpPr>
          <p:spPr>
            <a:xfrm>
              <a:off x="500034" y="1571612"/>
              <a:ext cx="8143932" cy="5000660"/>
            </a:xfrm>
            <a:prstGeom prst="line">
              <a:avLst/>
            </a:prstGeom>
          </p:spPr>
          <p:style>
            <a:lnRef idx="3">
              <a:schemeClr val="accent1"/>
            </a:lnRef>
            <a:fillRef idx="0">
              <a:schemeClr val="accent1"/>
            </a:fillRef>
            <a:effectRef idx="2">
              <a:schemeClr val="accent1"/>
            </a:effectRef>
            <a:fontRef idx="minor">
              <a:schemeClr val="tx1"/>
            </a:fontRef>
          </p:style>
        </p:cxnSp>
        <p:pic>
          <p:nvPicPr>
            <p:cNvPr id="7" name="Picture 2"/>
            <p:cNvPicPr>
              <a:picLocks noChangeAspect="1" noChangeArrowheads="1"/>
            </p:cNvPicPr>
            <p:nvPr/>
          </p:nvPicPr>
          <p:blipFill>
            <a:blip r:embed="rId3" cstate="print"/>
            <a:srcRect/>
            <a:stretch>
              <a:fillRect/>
            </a:stretch>
          </p:blipFill>
          <p:spPr bwMode="auto">
            <a:xfrm>
              <a:off x="785786" y="3071810"/>
              <a:ext cx="2905125" cy="3000375"/>
            </a:xfrm>
            <a:prstGeom prst="rect">
              <a:avLst/>
            </a:prstGeom>
            <a:noFill/>
            <a:ln w="9525">
              <a:noFill/>
              <a:miter lim="800000"/>
              <a:headEnd/>
              <a:tailEnd/>
            </a:ln>
            <a:effectLst/>
          </p:spPr>
        </p:pic>
        <p:sp>
          <p:nvSpPr>
            <p:cNvPr id="8" name="TextBox 7"/>
            <p:cNvSpPr txBox="1"/>
            <p:nvPr/>
          </p:nvSpPr>
          <p:spPr>
            <a:xfrm>
              <a:off x="4071934" y="2071678"/>
              <a:ext cx="3357586" cy="949713"/>
            </a:xfrm>
            <a:prstGeom prst="rect">
              <a:avLst/>
            </a:prstGeom>
            <a:noFill/>
          </p:spPr>
          <p:txBody>
            <a:bodyPr wrap="square" rtlCol="0">
              <a:spAutoFit/>
            </a:bodyPr>
            <a:lstStyle/>
            <a:p>
              <a:pPr algn="ctr"/>
              <a:r>
                <a:rPr lang="fi-FI" dirty="0" smtClean="0">
                  <a:latin typeface="Batik Regular" pitchFamily="2" charset="0"/>
                </a:rPr>
                <a:t>Tuntematon alue</a:t>
              </a:r>
              <a:endParaRPr lang="fi-FI" dirty="0">
                <a:latin typeface="Batik Regular" pitchFamily="2" charset="0"/>
              </a:endParaRPr>
            </a:p>
          </p:txBody>
        </p:sp>
        <p:pic>
          <p:nvPicPr>
            <p:cNvPr id="9" name="Picture 3"/>
            <p:cNvPicPr>
              <a:picLocks noChangeAspect="1" noChangeArrowheads="1"/>
            </p:cNvPicPr>
            <p:nvPr/>
          </p:nvPicPr>
          <p:blipFill>
            <a:blip r:embed="rId4" cstate="print"/>
            <a:srcRect/>
            <a:stretch>
              <a:fillRect/>
            </a:stretch>
          </p:blipFill>
          <p:spPr bwMode="auto">
            <a:xfrm>
              <a:off x="5214942" y="5500702"/>
              <a:ext cx="1095376" cy="1051561"/>
            </a:xfrm>
            <a:prstGeom prst="rect">
              <a:avLst/>
            </a:prstGeom>
            <a:noFill/>
            <a:ln w="9525">
              <a:noFill/>
              <a:miter lim="800000"/>
              <a:headEnd/>
              <a:tailEnd/>
            </a:ln>
            <a:effectLst/>
          </p:spPr>
        </p:pic>
      </p:grpSp>
      <p:grpSp>
        <p:nvGrpSpPr>
          <p:cNvPr id="4" name="Group 11"/>
          <p:cNvGrpSpPr/>
          <p:nvPr/>
        </p:nvGrpSpPr>
        <p:grpSpPr>
          <a:xfrm>
            <a:off x="4897468" y="4714884"/>
            <a:ext cx="3960812" cy="1655763"/>
            <a:chOff x="4643438" y="4076700"/>
            <a:chExt cx="3960812" cy="1655763"/>
          </a:xfrm>
        </p:grpSpPr>
        <p:sp>
          <p:nvSpPr>
            <p:cNvPr id="13" name="Rectangle 4"/>
            <p:cNvSpPr>
              <a:spLocks noChangeArrowheads="1"/>
            </p:cNvSpPr>
            <p:nvPr/>
          </p:nvSpPr>
          <p:spPr bwMode="auto">
            <a:xfrm>
              <a:off x="4643438" y="4076700"/>
              <a:ext cx="1944687" cy="792163"/>
            </a:xfrm>
            <a:prstGeom prst="rect">
              <a:avLst/>
            </a:prstGeom>
            <a:solidFill>
              <a:schemeClr val="accent1"/>
            </a:solidFill>
            <a:ln w="9525">
              <a:noFill/>
              <a:miter lim="800000"/>
              <a:headEnd/>
              <a:tailEnd/>
            </a:ln>
            <a:effectLst/>
          </p:spPr>
          <p:txBody>
            <a:bodyPr anchor="ctr"/>
            <a:lstStyle/>
            <a:p>
              <a:pPr algn="ctr"/>
              <a:r>
                <a:rPr lang="fi-FI"/>
                <a:t>testeihin liittyvä oppiminen</a:t>
              </a:r>
              <a:endParaRPr lang="en-US"/>
            </a:p>
          </p:txBody>
        </p:sp>
        <p:sp>
          <p:nvSpPr>
            <p:cNvPr id="14" name="Rectangle 5"/>
            <p:cNvSpPr>
              <a:spLocks noChangeArrowheads="1"/>
            </p:cNvSpPr>
            <p:nvPr/>
          </p:nvSpPr>
          <p:spPr bwMode="auto">
            <a:xfrm>
              <a:off x="6659563" y="4076700"/>
              <a:ext cx="1944687" cy="792163"/>
            </a:xfrm>
            <a:prstGeom prst="rect">
              <a:avLst/>
            </a:prstGeom>
            <a:solidFill>
              <a:schemeClr val="accent1"/>
            </a:solidFill>
            <a:ln w="9525">
              <a:noFill/>
              <a:miter lim="800000"/>
              <a:headEnd/>
              <a:tailEnd/>
            </a:ln>
            <a:effectLst/>
          </p:spPr>
          <p:txBody>
            <a:bodyPr anchor="ctr"/>
            <a:lstStyle/>
            <a:p>
              <a:pPr algn="ctr"/>
              <a:r>
                <a:rPr lang="fi-FI"/>
                <a:t>uusien testien suunnittelu</a:t>
              </a:r>
              <a:endParaRPr lang="en-US"/>
            </a:p>
          </p:txBody>
        </p:sp>
        <p:sp>
          <p:nvSpPr>
            <p:cNvPr id="15" name="Rectangle 6"/>
            <p:cNvSpPr>
              <a:spLocks noChangeArrowheads="1"/>
            </p:cNvSpPr>
            <p:nvPr/>
          </p:nvSpPr>
          <p:spPr bwMode="auto">
            <a:xfrm>
              <a:off x="6659563" y="4940300"/>
              <a:ext cx="1944687" cy="792163"/>
            </a:xfrm>
            <a:prstGeom prst="rect">
              <a:avLst/>
            </a:prstGeom>
            <a:solidFill>
              <a:schemeClr val="accent1"/>
            </a:solidFill>
            <a:ln w="9525">
              <a:noFill/>
              <a:miter lim="800000"/>
              <a:headEnd/>
              <a:tailEnd/>
            </a:ln>
            <a:effectLst/>
          </p:spPr>
          <p:txBody>
            <a:bodyPr anchor="ctr"/>
            <a:lstStyle/>
            <a:p>
              <a:pPr algn="ctr"/>
              <a:r>
                <a:rPr lang="fi-FI"/>
                <a:t>testien suoritus</a:t>
              </a:r>
              <a:endParaRPr lang="en-US"/>
            </a:p>
          </p:txBody>
        </p:sp>
        <p:sp>
          <p:nvSpPr>
            <p:cNvPr id="16" name="Rectangle 7"/>
            <p:cNvSpPr>
              <a:spLocks noChangeArrowheads="1"/>
            </p:cNvSpPr>
            <p:nvPr/>
          </p:nvSpPr>
          <p:spPr bwMode="auto">
            <a:xfrm>
              <a:off x="4643438" y="4940300"/>
              <a:ext cx="1944687" cy="792163"/>
            </a:xfrm>
            <a:prstGeom prst="rect">
              <a:avLst/>
            </a:prstGeom>
            <a:solidFill>
              <a:schemeClr val="accent1"/>
            </a:solidFill>
            <a:ln w="9525">
              <a:noFill/>
              <a:miter lim="800000"/>
              <a:headEnd/>
              <a:tailEnd/>
            </a:ln>
            <a:effectLst/>
          </p:spPr>
          <p:txBody>
            <a:bodyPr anchor="ctr"/>
            <a:lstStyle/>
            <a:p>
              <a:pPr algn="ctr"/>
              <a:r>
                <a:rPr lang="fi-FI"/>
                <a:t>testitulosten tulkinta</a:t>
              </a:r>
              <a:endParaRPr lang="en-US"/>
            </a:p>
          </p:txBody>
        </p:sp>
        <p:sp>
          <p:nvSpPr>
            <p:cNvPr id="17" name="AutoShape 8"/>
            <p:cNvSpPr>
              <a:spLocks noChangeArrowheads="1"/>
            </p:cNvSpPr>
            <p:nvPr/>
          </p:nvSpPr>
          <p:spPr bwMode="auto">
            <a:xfrm rot="2768687">
              <a:off x="6228557" y="4580731"/>
              <a:ext cx="719138" cy="720725"/>
            </a:xfrm>
            <a:custGeom>
              <a:avLst/>
              <a:gdLst>
                <a:gd name="G0" fmla="+- 6480 0 0"/>
                <a:gd name="G1" fmla="+- 8640 0 0"/>
                <a:gd name="G2" fmla="+- 4320 0 0"/>
                <a:gd name="G3" fmla="+- 21600 0 6480"/>
                <a:gd name="G4" fmla="+- 21600 0 8640"/>
                <a:gd name="G5" fmla="+- 21600 0 4320"/>
                <a:gd name="G6" fmla="+- 6480 0 10800"/>
                <a:gd name="G7" fmla="+- 8640 0 10800"/>
                <a:gd name="G8" fmla="*/ G7 4320 G6"/>
                <a:gd name="G9" fmla="+- 21600 0 G8"/>
                <a:gd name="T0" fmla="*/ G8 w 21600"/>
                <a:gd name="T1" fmla="*/ G1 h 21600"/>
                <a:gd name="T2" fmla="*/ G9 w 21600"/>
                <a:gd name="T3" fmla="*/ G4 h 21600"/>
              </a:gdLst>
              <a:ahLst/>
              <a:cxnLst>
                <a:cxn ang="0">
                  <a:pos x="r" y="vc"/>
                </a:cxn>
                <a:cxn ang="5400000">
                  <a:pos x="hc" y="b"/>
                </a:cxn>
                <a:cxn ang="10800000">
                  <a:pos x="l" y="vc"/>
                </a:cxn>
                <a:cxn ang="16200000">
                  <a:pos x="hc" y="t"/>
                </a:cxn>
              </a:cxnLst>
              <a:rect l="T0" t="T1" r="T2" b="T3"/>
              <a:pathLst>
                <a:path w="21600" h="21600">
                  <a:moveTo>
                    <a:pt x="10800" y="0"/>
                  </a:moveTo>
                  <a:lnTo>
                    <a:pt x="6480" y="4320"/>
                  </a:lnTo>
                  <a:lnTo>
                    <a:pt x="8640" y="4320"/>
                  </a:lnTo>
                  <a:lnTo>
                    <a:pt x="8640" y="8640"/>
                  </a:lnTo>
                  <a:lnTo>
                    <a:pt x="4320" y="8640"/>
                  </a:lnTo>
                  <a:lnTo>
                    <a:pt x="4320" y="6480"/>
                  </a:lnTo>
                  <a:lnTo>
                    <a:pt x="0" y="10800"/>
                  </a:lnTo>
                  <a:lnTo>
                    <a:pt x="4320" y="15120"/>
                  </a:lnTo>
                  <a:lnTo>
                    <a:pt x="4320" y="12960"/>
                  </a:lnTo>
                  <a:lnTo>
                    <a:pt x="8640" y="12960"/>
                  </a:lnTo>
                  <a:lnTo>
                    <a:pt x="8640" y="17280"/>
                  </a:lnTo>
                  <a:lnTo>
                    <a:pt x="6480" y="17280"/>
                  </a:lnTo>
                  <a:lnTo>
                    <a:pt x="10800" y="21600"/>
                  </a:lnTo>
                  <a:lnTo>
                    <a:pt x="15120" y="17280"/>
                  </a:lnTo>
                  <a:lnTo>
                    <a:pt x="12960" y="17280"/>
                  </a:lnTo>
                  <a:lnTo>
                    <a:pt x="12960" y="12960"/>
                  </a:lnTo>
                  <a:lnTo>
                    <a:pt x="17280" y="12960"/>
                  </a:lnTo>
                  <a:lnTo>
                    <a:pt x="17280" y="15120"/>
                  </a:lnTo>
                  <a:lnTo>
                    <a:pt x="21600" y="10800"/>
                  </a:lnTo>
                  <a:lnTo>
                    <a:pt x="17280" y="6480"/>
                  </a:lnTo>
                  <a:lnTo>
                    <a:pt x="17280" y="8640"/>
                  </a:lnTo>
                  <a:lnTo>
                    <a:pt x="12960" y="8640"/>
                  </a:lnTo>
                  <a:lnTo>
                    <a:pt x="12960" y="4320"/>
                  </a:lnTo>
                  <a:lnTo>
                    <a:pt x="15120" y="4320"/>
                  </a:lnTo>
                  <a:close/>
                </a:path>
              </a:pathLst>
            </a:custGeom>
            <a:solidFill>
              <a:schemeClr val="bg2"/>
            </a:solidFill>
            <a:ln w="9525">
              <a:noFill/>
              <a:miter lim="800000"/>
              <a:headEnd/>
              <a:tailEnd/>
            </a:ln>
            <a:effectLst/>
          </p:spPr>
          <p:txBody>
            <a:bodyPr wrap="none" anchor="ctr"/>
            <a:lstStyle/>
            <a:p>
              <a:endParaRPr lang="fi-FI"/>
            </a:p>
          </p:txBody>
        </p:sp>
      </p:grpSp>
      <p:sp>
        <p:nvSpPr>
          <p:cNvPr id="18" name="Slide Number Placeholder 17"/>
          <p:cNvSpPr>
            <a:spLocks noGrp="1"/>
          </p:cNvSpPr>
          <p:nvPr>
            <p:ph type="sldNum" sz="quarter" idx="12"/>
          </p:nvPr>
        </p:nvSpPr>
        <p:spPr/>
        <p:txBody>
          <a:bodyPr/>
          <a:lstStyle/>
          <a:p>
            <a:fld id="{7A750B4A-325E-4AA4-BC07-A8C35B32A4F3}" type="slidenum">
              <a:rPr lang="fi-FI" smtClean="0"/>
              <a:pPr/>
              <a:t>185</a:t>
            </a:fld>
            <a:endParaRPr lang="fi-FI"/>
          </a:p>
        </p:txBody>
      </p:sp>
    </p:spTree>
  </p:cSld>
  <p:clrMapOvr>
    <a:masterClrMapping/>
  </p:clrMapOvr>
  <p:timing>
    <p:tnLst>
      <p:par>
        <p:cTn xmlns:p14="http://schemas.microsoft.com/office/powerpoint/2010/mai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fi-FI" dirty="0" smtClean="0"/>
              <a:t>Tutkivaan testaukseen valmistautuminen</a:t>
            </a:r>
            <a:endParaRPr lang="fi-FI" dirty="0"/>
          </a:p>
        </p:txBody>
      </p:sp>
      <p:sp>
        <p:nvSpPr>
          <p:cNvPr id="6" name="Content Placeholder 5"/>
          <p:cNvSpPr>
            <a:spLocks noGrp="1"/>
          </p:cNvSpPr>
          <p:nvPr>
            <p:ph idx="1"/>
          </p:nvPr>
        </p:nvSpPr>
        <p:spPr/>
        <p:txBody>
          <a:bodyPr>
            <a:normAutofit fontScale="70000" lnSpcReduction="20000"/>
          </a:bodyPr>
          <a:lstStyle/>
          <a:p>
            <a:r>
              <a:rPr lang="fi-FI" dirty="0" smtClean="0"/>
              <a:t>Tehtäväkentän jäsentäminen</a:t>
            </a:r>
          </a:p>
          <a:p>
            <a:pPr lvl="1"/>
            <a:r>
              <a:rPr lang="fi-FI" dirty="0" smtClean="0"/>
              <a:t>Dokumentaatio, mukaanlukien vaatimusmäärittelyt</a:t>
            </a:r>
          </a:p>
          <a:p>
            <a:pPr lvl="1"/>
            <a:r>
              <a:rPr lang="fi-FI" dirty="0" smtClean="0"/>
              <a:t>Keskustelut, mm. dokumentaation ajantasaisuudesta ja muutoskäytännöistä</a:t>
            </a:r>
          </a:p>
          <a:p>
            <a:pPr lvl="1"/>
            <a:r>
              <a:rPr lang="fi-FI" dirty="0" smtClean="0"/>
              <a:t>Testauksen tärkeysjärjestys, mitä tietoa testauksesta saatava ensin käyttöön</a:t>
            </a:r>
          </a:p>
          <a:p>
            <a:pPr lvl="1"/>
            <a:r>
              <a:rPr lang="fi-FI" dirty="0" smtClean="0"/>
              <a:t>Ohjelmiston toimituslogistiikka, miten saada ajoissa testauskelpoista tavaraa katsottavaksi ja miten palautteeseen reagoidaan riittävän ajoissa</a:t>
            </a:r>
          </a:p>
          <a:p>
            <a:r>
              <a:rPr lang="fi-FI" dirty="0" smtClean="0"/>
              <a:t>Kaikenlainen suunnittelu on sallittua</a:t>
            </a:r>
          </a:p>
          <a:p>
            <a:pPr lvl="1"/>
            <a:r>
              <a:rPr lang="fi-FI" dirty="0" smtClean="0"/>
              <a:t>Yleisimmin puhutaan </a:t>
            </a:r>
            <a:r>
              <a:rPr lang="fi-FI" i="1" dirty="0" smtClean="0"/>
              <a:t>tehtäväannoista</a:t>
            </a:r>
            <a:r>
              <a:rPr lang="fi-FI" dirty="0" smtClean="0"/>
              <a:t> (charter), ei testitapauksista</a:t>
            </a:r>
          </a:p>
          <a:p>
            <a:pPr lvl="1"/>
            <a:r>
              <a:rPr lang="fi-FI" dirty="0" smtClean="0"/>
              <a:t>Vaatimusmäärittelyn lause tai vaatimusmäärittelyn kappale voi olla tehtävänanto sellaisenaan!</a:t>
            </a:r>
          </a:p>
          <a:p>
            <a:pPr lvl="1"/>
            <a:r>
              <a:rPr lang="fi-FI" dirty="0" smtClean="0"/>
              <a:t>Tehtävänantoja käytetään </a:t>
            </a:r>
            <a:r>
              <a:rPr lang="fi-FI" i="1" dirty="0" smtClean="0"/>
              <a:t>sessioissa </a:t>
            </a:r>
            <a:r>
              <a:rPr lang="fi-FI" dirty="0" smtClean="0"/>
              <a:t>– aikarajaus, jonka jälkeen mietitään miten pitkälle päästiin</a:t>
            </a:r>
            <a:endParaRPr lang="fi-FI"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186</a:t>
            </a:fld>
            <a:endParaRPr lang="fi-FI"/>
          </a:p>
        </p:txBody>
      </p:sp>
    </p:spTree>
  </p:cSld>
  <p:clrMapOvr>
    <a:masterClrMapping/>
  </p:clrMapOvr>
  <p:timing>
    <p:tnLst>
      <p:par>
        <p:cTn xmlns:p14="http://schemas.microsoft.com/office/powerpoint/2010/mai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i-FI" sz="4000" dirty="0" smtClean="0">
                <a:latin typeface="+mn-lt"/>
              </a:rPr>
              <a:t>Tutkivan testauksen kehikko</a:t>
            </a:r>
            <a:endParaRPr lang="fi-FI" sz="4000" dirty="0">
              <a:latin typeface="+mn-lt"/>
            </a:endParaRPr>
          </a:p>
        </p:txBody>
      </p:sp>
      <p:sp>
        <p:nvSpPr>
          <p:cNvPr id="4" name="TextBox 3"/>
          <p:cNvSpPr txBox="1"/>
          <p:nvPr/>
        </p:nvSpPr>
        <p:spPr>
          <a:xfrm>
            <a:off x="4567230" y="2438400"/>
            <a:ext cx="2643206" cy="523220"/>
          </a:xfrm>
          <a:prstGeom prst="rect">
            <a:avLst/>
          </a:prstGeom>
          <a:noFill/>
        </p:spPr>
        <p:txBody>
          <a:bodyPr wrap="square" rtlCol="0">
            <a:spAutoFit/>
          </a:bodyPr>
          <a:lstStyle/>
          <a:p>
            <a:r>
              <a:rPr lang="fi-FI" sz="2800" dirty="0" smtClean="0">
                <a:latin typeface="+mn-lt"/>
              </a:rPr>
              <a:t>”Päivän työt”</a:t>
            </a:r>
            <a:endParaRPr lang="fi-FI" sz="2800" dirty="0">
              <a:latin typeface="+mn-lt"/>
            </a:endParaRPr>
          </a:p>
        </p:txBody>
      </p:sp>
      <p:grpSp>
        <p:nvGrpSpPr>
          <p:cNvPr id="3" name="Group 8"/>
          <p:cNvGrpSpPr>
            <a:grpSpLocks/>
          </p:cNvGrpSpPr>
          <p:nvPr/>
        </p:nvGrpSpPr>
        <p:grpSpPr bwMode="auto">
          <a:xfrm>
            <a:off x="4814886" y="2971800"/>
            <a:ext cx="4024314" cy="2143140"/>
            <a:chOff x="432" y="768"/>
            <a:chExt cx="5088" cy="3264"/>
          </a:xfrm>
        </p:grpSpPr>
        <p:sp>
          <p:nvSpPr>
            <p:cNvPr id="6" name="Rectangle 3"/>
            <p:cNvSpPr>
              <a:spLocks noChangeArrowheads="1"/>
            </p:cNvSpPr>
            <p:nvPr/>
          </p:nvSpPr>
          <p:spPr bwMode="auto">
            <a:xfrm>
              <a:off x="432" y="768"/>
              <a:ext cx="2496" cy="1584"/>
            </a:xfrm>
            <a:prstGeom prst="rect">
              <a:avLst/>
            </a:prstGeom>
            <a:solidFill>
              <a:schemeClr val="bg1"/>
            </a:solidFill>
            <a:ln w="57150">
              <a:solidFill>
                <a:schemeClr val="accent2"/>
              </a:solidFill>
              <a:miter lim="800000"/>
              <a:headEnd/>
              <a:tailEnd/>
            </a:ln>
            <a:effectLst/>
          </p:spPr>
          <p:txBody>
            <a:bodyPr wrap="none" lIns="90000" tIns="46800" rIns="90000" bIns="46800" anchor="ctr"/>
            <a:lstStyle/>
            <a:p>
              <a:pPr algn="ctr"/>
              <a:r>
                <a:rPr lang="en-GB" sz="1200" b="1" dirty="0" smtClean="0">
                  <a:latin typeface="+mn-lt"/>
                </a:rPr>
                <a:t>Visio (“</a:t>
              </a:r>
              <a:r>
                <a:rPr lang="en-GB" sz="1200" b="1" dirty="0" err="1" smtClean="0">
                  <a:latin typeface="+mn-lt"/>
                </a:rPr>
                <a:t>hiekkalaatikko</a:t>
              </a:r>
              <a:r>
                <a:rPr lang="en-GB" sz="1200" b="1" dirty="0" smtClean="0">
                  <a:latin typeface="+mn-lt"/>
                </a:rPr>
                <a:t>”)</a:t>
              </a:r>
              <a:endParaRPr lang="en-GB" sz="1200" b="1" dirty="0">
                <a:latin typeface="+mn-lt"/>
              </a:endParaRPr>
            </a:p>
          </p:txBody>
        </p:sp>
        <p:sp>
          <p:nvSpPr>
            <p:cNvPr id="7" name="Rectangle 5"/>
            <p:cNvSpPr>
              <a:spLocks noChangeArrowheads="1"/>
            </p:cNvSpPr>
            <p:nvPr/>
          </p:nvSpPr>
          <p:spPr bwMode="auto">
            <a:xfrm>
              <a:off x="3024" y="768"/>
              <a:ext cx="2496" cy="1584"/>
            </a:xfrm>
            <a:prstGeom prst="rect">
              <a:avLst/>
            </a:prstGeom>
            <a:solidFill>
              <a:schemeClr val="bg1"/>
            </a:solidFill>
            <a:ln w="57150">
              <a:solidFill>
                <a:schemeClr val="accent1"/>
              </a:solidFill>
              <a:miter lim="800000"/>
              <a:headEnd/>
              <a:tailEnd/>
            </a:ln>
            <a:effectLst/>
          </p:spPr>
          <p:txBody>
            <a:bodyPr wrap="none" lIns="90000" tIns="46800" rIns="90000" bIns="46800" anchor="ctr"/>
            <a:lstStyle/>
            <a:p>
              <a:pPr algn="ctr"/>
              <a:r>
                <a:rPr lang="en-GB" sz="1200" b="1" dirty="0" err="1" smtClean="0">
                  <a:latin typeface="+mn-lt"/>
                </a:rPr>
                <a:t>Nykyinen</a:t>
              </a:r>
              <a:r>
                <a:rPr lang="en-GB" sz="1200" b="1" dirty="0" smtClean="0">
                  <a:latin typeface="+mn-lt"/>
                </a:rPr>
                <a:t> </a:t>
              </a:r>
              <a:r>
                <a:rPr lang="en-GB" sz="1200" b="1" dirty="0" err="1" smtClean="0">
                  <a:latin typeface="+mn-lt"/>
                </a:rPr>
                <a:t>tehtävänanto</a:t>
              </a:r>
              <a:endParaRPr lang="en-GB" sz="1200" b="1" dirty="0">
                <a:latin typeface="+mn-lt"/>
              </a:endParaRPr>
            </a:p>
          </p:txBody>
        </p:sp>
        <p:sp>
          <p:nvSpPr>
            <p:cNvPr id="8" name="Rectangle 6"/>
            <p:cNvSpPr>
              <a:spLocks noChangeArrowheads="1"/>
            </p:cNvSpPr>
            <p:nvPr/>
          </p:nvSpPr>
          <p:spPr bwMode="auto">
            <a:xfrm>
              <a:off x="432" y="2448"/>
              <a:ext cx="2496" cy="1584"/>
            </a:xfrm>
            <a:prstGeom prst="rect">
              <a:avLst/>
            </a:prstGeom>
            <a:solidFill>
              <a:schemeClr val="bg1"/>
            </a:solidFill>
            <a:ln w="57150">
              <a:solidFill>
                <a:schemeClr val="folHlink"/>
              </a:solidFill>
              <a:miter lim="800000"/>
              <a:headEnd/>
              <a:tailEnd/>
            </a:ln>
            <a:effectLst/>
          </p:spPr>
          <p:txBody>
            <a:bodyPr wrap="none" lIns="90000" tIns="46800" rIns="90000" bIns="46800" anchor="ctr"/>
            <a:lstStyle/>
            <a:p>
              <a:pPr algn="ctr"/>
              <a:r>
                <a:rPr lang="en-GB" sz="1200" b="1" dirty="0" err="1" smtClean="0">
                  <a:latin typeface="+mn-lt"/>
                </a:rPr>
                <a:t>Muut</a:t>
              </a:r>
              <a:r>
                <a:rPr lang="en-GB" sz="1200" b="1" dirty="0" smtClean="0">
                  <a:latin typeface="+mn-lt"/>
                </a:rPr>
                <a:t> </a:t>
              </a:r>
              <a:r>
                <a:rPr lang="en-GB" sz="1200" b="1" dirty="0" err="1" smtClean="0">
                  <a:latin typeface="+mn-lt"/>
                </a:rPr>
                <a:t>tehtävänannot</a:t>
              </a:r>
              <a:endParaRPr lang="en-GB" sz="1200" b="1" dirty="0">
                <a:latin typeface="+mn-lt"/>
              </a:endParaRPr>
            </a:p>
          </p:txBody>
        </p:sp>
        <p:sp>
          <p:nvSpPr>
            <p:cNvPr id="9" name="Rectangle 7"/>
            <p:cNvSpPr>
              <a:spLocks noChangeArrowheads="1"/>
            </p:cNvSpPr>
            <p:nvPr/>
          </p:nvSpPr>
          <p:spPr bwMode="auto">
            <a:xfrm>
              <a:off x="3024" y="2448"/>
              <a:ext cx="2496" cy="1584"/>
            </a:xfrm>
            <a:prstGeom prst="rect">
              <a:avLst/>
            </a:prstGeom>
            <a:solidFill>
              <a:schemeClr val="bg1"/>
            </a:solidFill>
            <a:ln w="57150">
              <a:solidFill>
                <a:schemeClr val="accent1"/>
              </a:solidFill>
              <a:miter lim="800000"/>
              <a:headEnd/>
              <a:tailEnd/>
            </a:ln>
            <a:effectLst/>
          </p:spPr>
          <p:txBody>
            <a:bodyPr wrap="none" lIns="90000" tIns="46800" rIns="90000" bIns="46800" anchor="ctr"/>
            <a:lstStyle/>
            <a:p>
              <a:pPr algn="ctr"/>
              <a:r>
                <a:rPr lang="en-GB" sz="1200" b="1" dirty="0" err="1" smtClean="0">
                  <a:latin typeface="+mn-lt"/>
                </a:rPr>
                <a:t>Yksityiskohdat</a:t>
              </a:r>
              <a:endParaRPr lang="en-GB" sz="1200" b="1" dirty="0">
                <a:latin typeface="+mn-lt"/>
              </a:endParaRPr>
            </a:p>
          </p:txBody>
        </p:sp>
      </p:grpSp>
      <p:sp>
        <p:nvSpPr>
          <p:cNvPr id="11" name="Folded Corner 10"/>
          <p:cNvSpPr/>
          <p:nvPr/>
        </p:nvSpPr>
        <p:spPr>
          <a:xfrm>
            <a:off x="7491402" y="5548315"/>
            <a:ext cx="1500198" cy="833013"/>
          </a:xfrm>
          <a:prstGeom prst="foldedCorner">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fi-FI" sz="2000" dirty="0" smtClean="0"/>
              <a:t>Havainto-kirjaukset</a:t>
            </a:r>
            <a:endParaRPr lang="fi-FI" sz="2000" dirty="0"/>
          </a:p>
        </p:txBody>
      </p:sp>
      <p:sp>
        <p:nvSpPr>
          <p:cNvPr id="12" name="Cloud 11"/>
          <p:cNvSpPr/>
          <p:nvPr/>
        </p:nvSpPr>
        <p:spPr>
          <a:xfrm>
            <a:off x="3429000" y="1357298"/>
            <a:ext cx="2727176" cy="1143008"/>
          </a:xfrm>
          <a:prstGeom prst="cloud">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fi-FI" dirty="0" smtClean="0"/>
              <a:t>Käsitys laadusta ja kattavuudesta</a:t>
            </a:r>
            <a:endParaRPr lang="fi-FI" dirty="0"/>
          </a:p>
        </p:txBody>
      </p:sp>
      <p:sp>
        <p:nvSpPr>
          <p:cNvPr id="13" name="Folded Corner 12"/>
          <p:cNvSpPr/>
          <p:nvPr/>
        </p:nvSpPr>
        <p:spPr>
          <a:xfrm>
            <a:off x="7010400" y="1219200"/>
            <a:ext cx="1738064" cy="1143000"/>
          </a:xfrm>
          <a:prstGeom prst="foldedCorner">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fi-FI" sz="2000" dirty="0" smtClean="0"/>
              <a:t>Laaturaportti</a:t>
            </a:r>
            <a:endParaRPr lang="fi-FI" sz="2000" dirty="0"/>
          </a:p>
        </p:txBody>
      </p:sp>
      <p:sp>
        <p:nvSpPr>
          <p:cNvPr id="14" name="Rounded Rectangular Callout 13"/>
          <p:cNvSpPr/>
          <p:nvPr/>
        </p:nvSpPr>
        <p:spPr>
          <a:xfrm>
            <a:off x="1600200" y="1500174"/>
            <a:ext cx="1571636" cy="928694"/>
          </a:xfrm>
          <a:prstGeom prst="wedgeRoundRectCallout">
            <a:avLst>
              <a:gd name="adj1" fmla="val 48984"/>
              <a:gd name="adj2" fmla="val 85474"/>
              <a:gd name="adj3" fmla="val 16667"/>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fi-FI" sz="1600" dirty="0" smtClean="0"/>
              <a:t>Tiivis tilannekatsaus (</a:t>
            </a:r>
            <a:r>
              <a:rPr lang="fi-FI" sz="1600" dirty="0" err="1" smtClean="0"/>
              <a:t>Debriefing</a:t>
            </a:r>
            <a:r>
              <a:rPr lang="fi-FI" sz="1600" dirty="0" smtClean="0"/>
              <a:t>)</a:t>
            </a:r>
            <a:endParaRPr lang="fi-FI" sz="1600" dirty="0"/>
          </a:p>
        </p:txBody>
      </p:sp>
      <p:grpSp>
        <p:nvGrpSpPr>
          <p:cNvPr id="5" name="Group 19"/>
          <p:cNvGrpSpPr/>
          <p:nvPr/>
        </p:nvGrpSpPr>
        <p:grpSpPr>
          <a:xfrm>
            <a:off x="3505200" y="2819400"/>
            <a:ext cx="1071570" cy="1266403"/>
            <a:chOff x="4071934" y="4746507"/>
            <a:chExt cx="1071570" cy="1266403"/>
          </a:xfrm>
        </p:grpSpPr>
        <p:pic>
          <p:nvPicPr>
            <p:cNvPr id="3076" name="Picture 4" descr="C:\Documents and Settings\Maaret\My Documents\My Pictures\Microsoft Clip Organizer\j0078753.wmf"/>
            <p:cNvPicPr>
              <a:picLocks noChangeAspect="1" noChangeArrowheads="1"/>
            </p:cNvPicPr>
            <p:nvPr/>
          </p:nvPicPr>
          <p:blipFill>
            <a:blip r:embed="rId3" cstate="print"/>
            <a:srcRect/>
            <a:stretch>
              <a:fillRect/>
            </a:stretch>
          </p:blipFill>
          <p:spPr bwMode="auto">
            <a:xfrm>
              <a:off x="4161898" y="4746507"/>
              <a:ext cx="838730" cy="891773"/>
            </a:xfrm>
            <a:prstGeom prst="rect">
              <a:avLst/>
            </a:prstGeom>
            <a:noFill/>
          </p:spPr>
        </p:pic>
        <p:sp>
          <p:nvSpPr>
            <p:cNvPr id="18" name="TextBox 17"/>
            <p:cNvSpPr txBox="1"/>
            <p:nvPr/>
          </p:nvSpPr>
          <p:spPr>
            <a:xfrm>
              <a:off x="4071934" y="5643578"/>
              <a:ext cx="1071570" cy="369332"/>
            </a:xfrm>
            <a:prstGeom prst="rect">
              <a:avLst/>
            </a:prstGeom>
            <a:noFill/>
          </p:spPr>
          <p:txBody>
            <a:bodyPr wrap="square" rtlCol="0">
              <a:spAutoFit/>
            </a:bodyPr>
            <a:lstStyle/>
            <a:p>
              <a:r>
                <a:rPr lang="fi-FI" dirty="0" smtClean="0">
                  <a:latin typeface="+mn-lt"/>
                </a:rPr>
                <a:t>Testaaja</a:t>
              </a:r>
              <a:endParaRPr lang="fi-FI" dirty="0">
                <a:latin typeface="+mn-lt"/>
              </a:endParaRPr>
            </a:p>
          </p:txBody>
        </p:sp>
      </p:grpSp>
      <p:grpSp>
        <p:nvGrpSpPr>
          <p:cNvPr id="10" name="Group 20"/>
          <p:cNvGrpSpPr/>
          <p:nvPr/>
        </p:nvGrpSpPr>
        <p:grpSpPr>
          <a:xfrm>
            <a:off x="-252394" y="1447800"/>
            <a:ext cx="1928794" cy="1983372"/>
            <a:chOff x="7000892" y="2449149"/>
            <a:chExt cx="1928794" cy="1983372"/>
          </a:xfrm>
        </p:grpSpPr>
        <p:pic>
          <p:nvPicPr>
            <p:cNvPr id="3077" name="Picture 5" descr="C:\Documents and Settings\Maaret\My Documents\My Pictures\Microsoft Clip Organizer\j0078713.wmf"/>
            <p:cNvPicPr>
              <a:picLocks noChangeAspect="1" noChangeArrowheads="1"/>
            </p:cNvPicPr>
            <p:nvPr/>
          </p:nvPicPr>
          <p:blipFill>
            <a:blip r:embed="rId4" cstate="print"/>
            <a:srcRect/>
            <a:stretch>
              <a:fillRect/>
            </a:stretch>
          </p:blipFill>
          <p:spPr bwMode="auto">
            <a:xfrm>
              <a:off x="7641525" y="2449149"/>
              <a:ext cx="645251" cy="1376721"/>
            </a:xfrm>
            <a:prstGeom prst="rect">
              <a:avLst/>
            </a:prstGeom>
            <a:noFill/>
          </p:spPr>
        </p:pic>
        <p:sp>
          <p:nvSpPr>
            <p:cNvPr id="19" name="TextBox 18"/>
            <p:cNvSpPr txBox="1"/>
            <p:nvPr/>
          </p:nvSpPr>
          <p:spPr>
            <a:xfrm>
              <a:off x="7000892" y="3786190"/>
              <a:ext cx="1928794" cy="646331"/>
            </a:xfrm>
            <a:prstGeom prst="rect">
              <a:avLst/>
            </a:prstGeom>
            <a:noFill/>
          </p:spPr>
          <p:txBody>
            <a:bodyPr wrap="square" rtlCol="0">
              <a:spAutoFit/>
            </a:bodyPr>
            <a:lstStyle/>
            <a:p>
              <a:pPr algn="ctr"/>
              <a:r>
                <a:rPr lang="fi-FI" dirty="0" smtClean="0">
                  <a:latin typeface="+mn-lt"/>
                </a:rPr>
                <a:t>Testaus-</a:t>
              </a:r>
              <a:br>
                <a:rPr lang="fi-FI" dirty="0" smtClean="0">
                  <a:latin typeface="+mn-lt"/>
                </a:rPr>
              </a:br>
              <a:r>
                <a:rPr lang="fi-FI" dirty="0" smtClean="0">
                  <a:latin typeface="+mn-lt"/>
                </a:rPr>
                <a:t>vastaava</a:t>
              </a:r>
              <a:endParaRPr lang="fi-FI" dirty="0">
                <a:latin typeface="+mn-lt"/>
              </a:endParaRPr>
            </a:p>
          </p:txBody>
        </p:sp>
      </p:grpSp>
      <p:sp>
        <p:nvSpPr>
          <p:cNvPr id="22" name="TextBox 21"/>
          <p:cNvSpPr txBox="1"/>
          <p:nvPr/>
        </p:nvSpPr>
        <p:spPr>
          <a:xfrm>
            <a:off x="1604954" y="2438400"/>
            <a:ext cx="1382870" cy="1477328"/>
          </a:xfrm>
          <a:prstGeom prst="rect">
            <a:avLst/>
          </a:prstGeom>
          <a:noFill/>
        </p:spPr>
        <p:txBody>
          <a:bodyPr wrap="square" rtlCol="0">
            <a:spAutoFit/>
          </a:bodyPr>
          <a:lstStyle/>
          <a:p>
            <a:r>
              <a:rPr lang="fi-FI" b="1" dirty="0" smtClean="0">
                <a:solidFill>
                  <a:srgbClr val="FF0000"/>
                </a:solidFill>
                <a:latin typeface="+mn-lt"/>
              </a:rPr>
              <a:t>P</a:t>
            </a:r>
            <a:r>
              <a:rPr lang="fi-FI" dirty="0" smtClean="0">
                <a:latin typeface="+mn-lt"/>
              </a:rPr>
              <a:t>ast</a:t>
            </a:r>
          </a:p>
          <a:p>
            <a:r>
              <a:rPr lang="fi-FI" b="1" dirty="0" smtClean="0">
                <a:solidFill>
                  <a:srgbClr val="FF0000"/>
                </a:solidFill>
                <a:latin typeface="+mn-lt"/>
              </a:rPr>
              <a:t>R</a:t>
            </a:r>
            <a:r>
              <a:rPr lang="fi-FI" dirty="0" smtClean="0">
                <a:latin typeface="+mn-lt"/>
              </a:rPr>
              <a:t>esults</a:t>
            </a:r>
          </a:p>
          <a:p>
            <a:r>
              <a:rPr lang="fi-FI" b="1" dirty="0" smtClean="0">
                <a:solidFill>
                  <a:srgbClr val="FF0000"/>
                </a:solidFill>
                <a:latin typeface="+mn-lt"/>
              </a:rPr>
              <a:t>O</a:t>
            </a:r>
            <a:r>
              <a:rPr lang="fi-FI" dirty="0" smtClean="0">
                <a:latin typeface="+mn-lt"/>
              </a:rPr>
              <a:t>bstacles</a:t>
            </a:r>
          </a:p>
          <a:p>
            <a:r>
              <a:rPr lang="fi-FI" b="1" dirty="0" smtClean="0">
                <a:solidFill>
                  <a:srgbClr val="FF0000"/>
                </a:solidFill>
                <a:latin typeface="+mn-lt"/>
              </a:rPr>
              <a:t>O</a:t>
            </a:r>
            <a:r>
              <a:rPr lang="fi-FI" dirty="0" smtClean="0">
                <a:latin typeface="+mn-lt"/>
              </a:rPr>
              <a:t>utlook</a:t>
            </a:r>
          </a:p>
          <a:p>
            <a:r>
              <a:rPr lang="fi-FI" b="1" dirty="0" smtClean="0">
                <a:solidFill>
                  <a:srgbClr val="FF0000"/>
                </a:solidFill>
                <a:latin typeface="+mn-lt"/>
              </a:rPr>
              <a:t>F</a:t>
            </a:r>
            <a:r>
              <a:rPr lang="fi-FI" dirty="0" smtClean="0">
                <a:latin typeface="+mn-lt"/>
              </a:rPr>
              <a:t>eelings</a:t>
            </a:r>
            <a:endParaRPr lang="fi-FI" dirty="0">
              <a:latin typeface="+mn-lt"/>
            </a:endParaRPr>
          </a:p>
        </p:txBody>
      </p:sp>
      <p:sp>
        <p:nvSpPr>
          <p:cNvPr id="23" name="Right Arrow 22"/>
          <p:cNvSpPr/>
          <p:nvPr/>
        </p:nvSpPr>
        <p:spPr>
          <a:xfrm rot="2826998">
            <a:off x="7509485" y="4918687"/>
            <a:ext cx="571504" cy="571504"/>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fi-FI"/>
          </a:p>
        </p:txBody>
      </p:sp>
      <p:sp>
        <p:nvSpPr>
          <p:cNvPr id="24" name="Right Arrow 23"/>
          <p:cNvSpPr/>
          <p:nvPr/>
        </p:nvSpPr>
        <p:spPr>
          <a:xfrm>
            <a:off x="6286512" y="1643050"/>
            <a:ext cx="500066" cy="500066"/>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i-FI"/>
          </a:p>
        </p:txBody>
      </p:sp>
      <p:sp>
        <p:nvSpPr>
          <p:cNvPr id="25" name="Left Arrow 24"/>
          <p:cNvSpPr/>
          <p:nvPr/>
        </p:nvSpPr>
        <p:spPr>
          <a:xfrm rot="19350830">
            <a:off x="4991691" y="4915491"/>
            <a:ext cx="571504" cy="57150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26" name="TextBox 25"/>
          <p:cNvSpPr txBox="1"/>
          <p:nvPr/>
        </p:nvSpPr>
        <p:spPr>
          <a:xfrm>
            <a:off x="8458200" y="4419600"/>
            <a:ext cx="304800" cy="338554"/>
          </a:xfrm>
          <a:prstGeom prst="rect">
            <a:avLst/>
          </a:prstGeom>
          <a:noFill/>
        </p:spPr>
        <p:txBody>
          <a:bodyPr wrap="square" rtlCol="0">
            <a:spAutoFit/>
          </a:bodyPr>
          <a:lstStyle/>
          <a:p>
            <a:pPr algn="ctr"/>
            <a:r>
              <a:rPr lang="fi-FI" sz="1600" dirty="0" smtClean="0">
                <a:latin typeface="+mn-lt"/>
              </a:rPr>
              <a:t>?</a:t>
            </a:r>
            <a:endParaRPr lang="fi-FI" sz="1600" dirty="0">
              <a:latin typeface="+mn-lt"/>
            </a:endParaRPr>
          </a:p>
        </p:txBody>
      </p:sp>
      <p:sp>
        <p:nvSpPr>
          <p:cNvPr id="27" name="TextBox 26"/>
          <p:cNvSpPr txBox="1"/>
          <p:nvPr/>
        </p:nvSpPr>
        <p:spPr>
          <a:xfrm>
            <a:off x="8382000" y="4114800"/>
            <a:ext cx="457200" cy="338554"/>
          </a:xfrm>
          <a:prstGeom prst="rect">
            <a:avLst/>
          </a:prstGeom>
          <a:noFill/>
        </p:spPr>
        <p:txBody>
          <a:bodyPr wrap="square" rtlCol="0">
            <a:spAutoFit/>
          </a:bodyPr>
          <a:lstStyle/>
          <a:p>
            <a:pPr algn="ctr"/>
            <a:r>
              <a:rPr lang="fi-FI" sz="1600" dirty="0" smtClean="0">
                <a:latin typeface="+mn-lt"/>
              </a:rPr>
              <a:t>#</a:t>
            </a:r>
            <a:endParaRPr lang="fi-FI" sz="1600" dirty="0">
              <a:latin typeface="+mn-lt"/>
            </a:endParaRPr>
          </a:p>
        </p:txBody>
      </p:sp>
      <p:sp>
        <p:nvSpPr>
          <p:cNvPr id="28" name="TextBox 27"/>
          <p:cNvSpPr txBox="1"/>
          <p:nvPr/>
        </p:nvSpPr>
        <p:spPr>
          <a:xfrm>
            <a:off x="8382000" y="4724400"/>
            <a:ext cx="457200" cy="338554"/>
          </a:xfrm>
          <a:prstGeom prst="rect">
            <a:avLst/>
          </a:prstGeom>
          <a:noFill/>
        </p:spPr>
        <p:txBody>
          <a:bodyPr wrap="square" rtlCol="0">
            <a:spAutoFit/>
          </a:bodyPr>
          <a:lstStyle/>
          <a:p>
            <a:pPr algn="ctr"/>
            <a:r>
              <a:rPr lang="fi-FI" sz="1600" dirty="0" smtClean="0">
                <a:latin typeface="+mn-lt"/>
              </a:rPr>
              <a:t>x</a:t>
            </a:r>
            <a:endParaRPr lang="fi-FI" sz="1600" dirty="0">
              <a:latin typeface="+mn-lt"/>
            </a:endParaRPr>
          </a:p>
        </p:txBody>
      </p:sp>
      <p:grpSp>
        <p:nvGrpSpPr>
          <p:cNvPr id="15" name="Group 28"/>
          <p:cNvGrpSpPr/>
          <p:nvPr/>
        </p:nvGrpSpPr>
        <p:grpSpPr>
          <a:xfrm>
            <a:off x="1828800" y="4797152"/>
            <a:ext cx="3124200" cy="2088232"/>
            <a:chOff x="4648200" y="1436969"/>
            <a:chExt cx="4114800" cy="4229181"/>
          </a:xfrm>
        </p:grpSpPr>
        <p:sp>
          <p:nvSpPr>
            <p:cNvPr id="30" name="TextBox 29"/>
            <p:cNvSpPr txBox="1"/>
            <p:nvPr/>
          </p:nvSpPr>
          <p:spPr>
            <a:xfrm>
              <a:off x="4648200" y="1436969"/>
              <a:ext cx="4038599" cy="1059649"/>
            </a:xfrm>
            <a:prstGeom prst="rect">
              <a:avLst/>
            </a:prstGeom>
            <a:noFill/>
          </p:spPr>
          <p:txBody>
            <a:bodyPr wrap="square" rtlCol="0">
              <a:spAutoFit/>
            </a:bodyPr>
            <a:lstStyle/>
            <a:p>
              <a:pPr algn="ctr"/>
              <a:r>
                <a:rPr lang="fi-FI" sz="1400" b="1" dirty="0" smtClean="0">
                  <a:latin typeface="+mn-lt"/>
                </a:rPr>
                <a:t>Tulevan testauksen tehtävänantojen työlista</a:t>
              </a:r>
              <a:endParaRPr lang="fi-FI" sz="1400" b="1" dirty="0">
                <a:latin typeface="+mn-lt"/>
              </a:endParaRPr>
            </a:p>
          </p:txBody>
        </p:sp>
        <p:sp>
          <p:nvSpPr>
            <p:cNvPr id="31" name="Rectangle 30"/>
            <p:cNvSpPr/>
            <p:nvPr/>
          </p:nvSpPr>
          <p:spPr>
            <a:xfrm>
              <a:off x="6248400" y="2590800"/>
              <a:ext cx="2438400" cy="76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sz="1200"/>
            </a:p>
          </p:txBody>
        </p:sp>
        <p:sp>
          <p:nvSpPr>
            <p:cNvPr id="32" name="Rectangle 31"/>
            <p:cNvSpPr/>
            <p:nvPr/>
          </p:nvSpPr>
          <p:spPr>
            <a:xfrm>
              <a:off x="6248400" y="2743200"/>
              <a:ext cx="2438400" cy="76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sz="1200"/>
            </a:p>
          </p:txBody>
        </p:sp>
        <p:sp>
          <p:nvSpPr>
            <p:cNvPr id="33" name="Rectangle 32"/>
            <p:cNvSpPr/>
            <p:nvPr/>
          </p:nvSpPr>
          <p:spPr>
            <a:xfrm>
              <a:off x="6248400" y="2895600"/>
              <a:ext cx="2438400" cy="76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sz="1200"/>
            </a:p>
          </p:txBody>
        </p:sp>
        <p:sp>
          <p:nvSpPr>
            <p:cNvPr id="34" name="Rectangle 33"/>
            <p:cNvSpPr/>
            <p:nvPr/>
          </p:nvSpPr>
          <p:spPr>
            <a:xfrm>
              <a:off x="6248400" y="3047999"/>
              <a:ext cx="2438400" cy="76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sz="1200"/>
            </a:p>
          </p:txBody>
        </p:sp>
        <p:sp>
          <p:nvSpPr>
            <p:cNvPr id="35" name="Rectangle 34"/>
            <p:cNvSpPr/>
            <p:nvPr/>
          </p:nvSpPr>
          <p:spPr>
            <a:xfrm>
              <a:off x="6248400" y="3200399"/>
              <a:ext cx="2438400" cy="76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sz="1200"/>
            </a:p>
          </p:txBody>
        </p:sp>
        <p:sp>
          <p:nvSpPr>
            <p:cNvPr id="36" name="Rectangle 35"/>
            <p:cNvSpPr/>
            <p:nvPr/>
          </p:nvSpPr>
          <p:spPr>
            <a:xfrm>
              <a:off x="6248400" y="3352800"/>
              <a:ext cx="2438400" cy="76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sz="1200"/>
            </a:p>
          </p:txBody>
        </p:sp>
        <p:sp>
          <p:nvSpPr>
            <p:cNvPr id="37" name="Rectangle 36"/>
            <p:cNvSpPr/>
            <p:nvPr/>
          </p:nvSpPr>
          <p:spPr>
            <a:xfrm>
              <a:off x="6248400" y="3505200"/>
              <a:ext cx="2438400" cy="76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sz="1200"/>
            </a:p>
          </p:txBody>
        </p:sp>
        <p:sp>
          <p:nvSpPr>
            <p:cNvPr id="38" name="Rectangle 37"/>
            <p:cNvSpPr/>
            <p:nvPr/>
          </p:nvSpPr>
          <p:spPr>
            <a:xfrm>
              <a:off x="6248400" y="3657600"/>
              <a:ext cx="2438400" cy="76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sz="1200"/>
            </a:p>
          </p:txBody>
        </p:sp>
        <p:sp>
          <p:nvSpPr>
            <p:cNvPr id="39" name="Rectangle 38"/>
            <p:cNvSpPr/>
            <p:nvPr/>
          </p:nvSpPr>
          <p:spPr>
            <a:xfrm>
              <a:off x="6248400" y="3810000"/>
              <a:ext cx="2438400" cy="76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sz="1200"/>
            </a:p>
          </p:txBody>
        </p:sp>
        <p:sp>
          <p:nvSpPr>
            <p:cNvPr id="40" name="Rectangle 39"/>
            <p:cNvSpPr/>
            <p:nvPr/>
          </p:nvSpPr>
          <p:spPr>
            <a:xfrm>
              <a:off x="6248400" y="3962400"/>
              <a:ext cx="2438400" cy="76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sz="1200"/>
            </a:p>
          </p:txBody>
        </p:sp>
        <p:sp>
          <p:nvSpPr>
            <p:cNvPr id="41" name="Rectangle 40"/>
            <p:cNvSpPr/>
            <p:nvPr/>
          </p:nvSpPr>
          <p:spPr>
            <a:xfrm>
              <a:off x="6248400" y="4114800"/>
              <a:ext cx="2438400" cy="76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sz="1200"/>
            </a:p>
          </p:txBody>
        </p:sp>
        <p:sp>
          <p:nvSpPr>
            <p:cNvPr id="42" name="Rectangle 41"/>
            <p:cNvSpPr/>
            <p:nvPr/>
          </p:nvSpPr>
          <p:spPr>
            <a:xfrm>
              <a:off x="6248400" y="4267200"/>
              <a:ext cx="2438400" cy="76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sz="1200"/>
            </a:p>
          </p:txBody>
        </p:sp>
        <p:sp>
          <p:nvSpPr>
            <p:cNvPr id="43" name="Rectangle 42"/>
            <p:cNvSpPr/>
            <p:nvPr/>
          </p:nvSpPr>
          <p:spPr>
            <a:xfrm>
              <a:off x="6248400" y="4419600"/>
              <a:ext cx="2438400" cy="76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sz="1200"/>
            </a:p>
          </p:txBody>
        </p:sp>
        <p:sp>
          <p:nvSpPr>
            <p:cNvPr id="44" name="Rectangle 43"/>
            <p:cNvSpPr/>
            <p:nvPr/>
          </p:nvSpPr>
          <p:spPr>
            <a:xfrm>
              <a:off x="6248400" y="4572000"/>
              <a:ext cx="2438400" cy="76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sz="1200"/>
            </a:p>
          </p:txBody>
        </p:sp>
        <p:sp>
          <p:nvSpPr>
            <p:cNvPr id="45" name="Rectangle 44"/>
            <p:cNvSpPr/>
            <p:nvPr/>
          </p:nvSpPr>
          <p:spPr>
            <a:xfrm>
              <a:off x="6248400" y="4800600"/>
              <a:ext cx="2438400" cy="76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sz="1200"/>
            </a:p>
          </p:txBody>
        </p:sp>
        <p:sp>
          <p:nvSpPr>
            <p:cNvPr id="46" name="Rectangle 45"/>
            <p:cNvSpPr/>
            <p:nvPr/>
          </p:nvSpPr>
          <p:spPr>
            <a:xfrm>
              <a:off x="6248400" y="4953000"/>
              <a:ext cx="2438400" cy="76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sz="1200"/>
            </a:p>
          </p:txBody>
        </p:sp>
        <p:sp>
          <p:nvSpPr>
            <p:cNvPr id="47" name="Rectangle 46"/>
            <p:cNvSpPr/>
            <p:nvPr/>
          </p:nvSpPr>
          <p:spPr>
            <a:xfrm>
              <a:off x="6248400" y="5105400"/>
              <a:ext cx="2438400" cy="76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sz="1200"/>
            </a:p>
          </p:txBody>
        </p:sp>
        <p:sp>
          <p:nvSpPr>
            <p:cNvPr id="48" name="Rectangle 47"/>
            <p:cNvSpPr/>
            <p:nvPr/>
          </p:nvSpPr>
          <p:spPr>
            <a:xfrm>
              <a:off x="6248400" y="5257800"/>
              <a:ext cx="2438400" cy="76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sz="1200"/>
            </a:p>
          </p:txBody>
        </p:sp>
        <p:cxnSp>
          <p:nvCxnSpPr>
            <p:cNvPr id="49" name="Straight Connector 48"/>
            <p:cNvCxnSpPr/>
            <p:nvPr/>
          </p:nvCxnSpPr>
          <p:spPr>
            <a:xfrm>
              <a:off x="5334000" y="4724400"/>
              <a:ext cx="3429000" cy="0"/>
            </a:xfrm>
            <a:prstGeom prst="line">
              <a:avLst/>
            </a:prstGeom>
          </p:spPr>
          <p:style>
            <a:lnRef idx="3">
              <a:schemeClr val="accent3"/>
            </a:lnRef>
            <a:fillRef idx="0">
              <a:schemeClr val="accent3"/>
            </a:fillRef>
            <a:effectRef idx="2">
              <a:schemeClr val="accent3"/>
            </a:effectRef>
            <a:fontRef idx="minor">
              <a:schemeClr val="tx1"/>
            </a:fontRef>
          </p:style>
        </p:cxnSp>
        <p:sp>
          <p:nvSpPr>
            <p:cNvPr id="50" name="TextBox 49"/>
            <p:cNvSpPr txBox="1"/>
            <p:nvPr/>
          </p:nvSpPr>
          <p:spPr>
            <a:xfrm>
              <a:off x="4962961" y="4731165"/>
              <a:ext cx="1306598" cy="934985"/>
            </a:xfrm>
            <a:prstGeom prst="rect">
              <a:avLst/>
            </a:prstGeom>
            <a:noFill/>
          </p:spPr>
          <p:txBody>
            <a:bodyPr wrap="square" rtlCol="0">
              <a:spAutoFit/>
            </a:bodyPr>
            <a:lstStyle/>
            <a:p>
              <a:pPr algn="ctr"/>
              <a:r>
                <a:rPr lang="fi-FI" sz="1200" dirty="0" smtClean="0">
                  <a:latin typeface="+mn-lt"/>
                </a:rPr>
                <a:t>Budjetin ulkopuolella</a:t>
              </a:r>
              <a:endParaRPr lang="fi-FI" sz="1200" dirty="0">
                <a:latin typeface="+mn-lt"/>
              </a:endParaRPr>
            </a:p>
          </p:txBody>
        </p:sp>
        <p:sp>
          <p:nvSpPr>
            <p:cNvPr id="51" name="TextBox 50"/>
            <p:cNvSpPr txBox="1"/>
            <p:nvPr/>
          </p:nvSpPr>
          <p:spPr>
            <a:xfrm>
              <a:off x="4708280" y="2689492"/>
              <a:ext cx="1371600" cy="934985"/>
            </a:xfrm>
            <a:prstGeom prst="rect">
              <a:avLst/>
            </a:prstGeom>
            <a:noFill/>
          </p:spPr>
          <p:txBody>
            <a:bodyPr wrap="square" rtlCol="0">
              <a:spAutoFit/>
            </a:bodyPr>
            <a:lstStyle/>
            <a:p>
              <a:pPr algn="ctr"/>
              <a:r>
                <a:rPr lang="fi-FI" sz="1200" dirty="0" smtClean="0">
                  <a:latin typeface="+mn-lt"/>
                </a:rPr>
                <a:t>Seuraavaksi tärkein</a:t>
              </a:r>
              <a:endParaRPr lang="fi-FI" sz="1200" dirty="0">
                <a:latin typeface="+mn-lt"/>
              </a:endParaRPr>
            </a:p>
          </p:txBody>
        </p:sp>
        <p:cxnSp>
          <p:nvCxnSpPr>
            <p:cNvPr id="52" name="Straight Arrow Connector 51"/>
            <p:cNvCxnSpPr/>
            <p:nvPr/>
          </p:nvCxnSpPr>
          <p:spPr>
            <a:xfrm>
              <a:off x="5791200" y="2590800"/>
              <a:ext cx="381000" cy="1588"/>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grpSp>
      <p:grpSp>
        <p:nvGrpSpPr>
          <p:cNvPr id="16" name="Group 61"/>
          <p:cNvGrpSpPr/>
          <p:nvPr/>
        </p:nvGrpSpPr>
        <p:grpSpPr>
          <a:xfrm>
            <a:off x="3448" y="4293096"/>
            <a:ext cx="3200400" cy="1653477"/>
            <a:chOff x="3432448" y="5128319"/>
            <a:chExt cx="3200400" cy="1653477"/>
          </a:xfrm>
        </p:grpSpPr>
        <p:grpSp>
          <p:nvGrpSpPr>
            <p:cNvPr id="17" name="Group 52"/>
            <p:cNvGrpSpPr/>
            <p:nvPr/>
          </p:nvGrpSpPr>
          <p:grpSpPr>
            <a:xfrm>
              <a:off x="3733800" y="5638797"/>
              <a:ext cx="1524000" cy="1142999"/>
              <a:chOff x="457200" y="4038600"/>
              <a:chExt cx="1981200" cy="1524000"/>
            </a:xfrm>
          </p:grpSpPr>
          <p:sp>
            <p:nvSpPr>
              <p:cNvPr id="54" name="Rectangle 53"/>
              <p:cNvSpPr/>
              <p:nvPr/>
            </p:nvSpPr>
            <p:spPr>
              <a:xfrm>
                <a:off x="914400" y="4038600"/>
                <a:ext cx="1524000" cy="1066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sz="1400"/>
              </a:p>
            </p:txBody>
          </p:sp>
          <p:sp>
            <p:nvSpPr>
              <p:cNvPr id="55" name="Rectangle 54"/>
              <p:cNvSpPr/>
              <p:nvPr/>
            </p:nvSpPr>
            <p:spPr>
              <a:xfrm>
                <a:off x="762000" y="4191000"/>
                <a:ext cx="1524000" cy="1066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sz="1400"/>
              </a:p>
            </p:txBody>
          </p:sp>
          <p:sp>
            <p:nvSpPr>
              <p:cNvPr id="56" name="Rectangle 55"/>
              <p:cNvSpPr/>
              <p:nvPr/>
            </p:nvSpPr>
            <p:spPr>
              <a:xfrm>
                <a:off x="609600" y="4343400"/>
                <a:ext cx="1524000" cy="1066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sz="1400"/>
              </a:p>
            </p:txBody>
          </p:sp>
          <p:sp>
            <p:nvSpPr>
              <p:cNvPr id="57" name="Rectangle 56"/>
              <p:cNvSpPr/>
              <p:nvPr/>
            </p:nvSpPr>
            <p:spPr>
              <a:xfrm>
                <a:off x="457200" y="4495800"/>
                <a:ext cx="1524000" cy="1066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sz="1400"/>
              </a:p>
            </p:txBody>
          </p:sp>
          <p:sp>
            <p:nvSpPr>
              <p:cNvPr id="58" name="Rectangle 57"/>
              <p:cNvSpPr/>
              <p:nvPr/>
            </p:nvSpPr>
            <p:spPr>
              <a:xfrm>
                <a:off x="533400" y="4724400"/>
                <a:ext cx="1295400" cy="76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sz="1400"/>
              </a:p>
            </p:txBody>
          </p:sp>
          <p:sp>
            <p:nvSpPr>
              <p:cNvPr id="59" name="TextBox 58"/>
              <p:cNvSpPr txBox="1"/>
              <p:nvPr/>
            </p:nvSpPr>
            <p:spPr>
              <a:xfrm>
                <a:off x="685800" y="4800601"/>
                <a:ext cx="1480734" cy="369332"/>
              </a:xfrm>
              <a:prstGeom prst="rect">
                <a:avLst/>
              </a:prstGeom>
              <a:noFill/>
            </p:spPr>
            <p:txBody>
              <a:bodyPr wrap="square" rtlCol="0">
                <a:spAutoFit/>
              </a:bodyPr>
              <a:lstStyle/>
              <a:p>
                <a:r>
                  <a:rPr lang="fi-FI" sz="1200" dirty="0" smtClean="0">
                    <a:latin typeface="+mn-lt"/>
                  </a:rPr>
                  <a:t>#, ?, x, +</a:t>
                </a:r>
                <a:endParaRPr lang="fi-FI" sz="1200" dirty="0">
                  <a:latin typeface="+mn-lt"/>
                </a:endParaRPr>
              </a:p>
            </p:txBody>
          </p:sp>
          <p:sp>
            <p:nvSpPr>
              <p:cNvPr id="60" name="TextBox 59"/>
              <p:cNvSpPr txBox="1"/>
              <p:nvPr/>
            </p:nvSpPr>
            <p:spPr>
              <a:xfrm>
                <a:off x="685800" y="5105405"/>
                <a:ext cx="1480734" cy="369332"/>
              </a:xfrm>
              <a:prstGeom prst="rect">
                <a:avLst/>
              </a:prstGeom>
              <a:noFill/>
            </p:spPr>
            <p:txBody>
              <a:bodyPr wrap="square" rtlCol="0">
                <a:spAutoFit/>
              </a:bodyPr>
              <a:lstStyle/>
              <a:p>
                <a:r>
                  <a:rPr lang="fi-FI" sz="1200" dirty="0" smtClean="0">
                    <a:latin typeface="+mn-lt"/>
                  </a:rPr>
                  <a:t>20:20:60</a:t>
                </a:r>
                <a:endParaRPr lang="fi-FI" sz="1400" dirty="0">
                  <a:latin typeface="+mn-lt"/>
                </a:endParaRPr>
              </a:p>
            </p:txBody>
          </p:sp>
        </p:grpSp>
        <p:sp>
          <p:nvSpPr>
            <p:cNvPr id="61" name="TextBox 60"/>
            <p:cNvSpPr txBox="1"/>
            <p:nvPr/>
          </p:nvSpPr>
          <p:spPr>
            <a:xfrm>
              <a:off x="3432448" y="5128319"/>
              <a:ext cx="3200400" cy="523220"/>
            </a:xfrm>
            <a:prstGeom prst="rect">
              <a:avLst/>
            </a:prstGeom>
            <a:noFill/>
          </p:spPr>
          <p:txBody>
            <a:bodyPr wrap="square" rtlCol="0">
              <a:spAutoFit/>
            </a:bodyPr>
            <a:lstStyle/>
            <a:p>
              <a:pPr algn="ctr"/>
              <a:r>
                <a:rPr lang="fi-FI" sz="1400" b="1" dirty="0" smtClean="0">
                  <a:latin typeface="+mn-lt"/>
                </a:rPr>
                <a:t>Menneen testauksen sessiomuistiinpanot</a:t>
              </a:r>
              <a:endParaRPr lang="fi-FI" sz="1400" b="1" dirty="0">
                <a:latin typeface="+mn-lt"/>
              </a:endParaRPr>
            </a:p>
          </p:txBody>
        </p:sp>
      </p:grpSp>
      <p:sp>
        <p:nvSpPr>
          <p:cNvPr id="63" name="Cloud 62"/>
          <p:cNvSpPr/>
          <p:nvPr/>
        </p:nvSpPr>
        <p:spPr>
          <a:xfrm>
            <a:off x="5181600" y="5638800"/>
            <a:ext cx="2126704" cy="838200"/>
          </a:xfrm>
          <a:prstGeom prst="cloud">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fi-FI" dirty="0" smtClean="0"/>
              <a:t>Tutkittava idea</a:t>
            </a:r>
            <a:endParaRPr lang="fi-FI" dirty="0"/>
          </a:p>
        </p:txBody>
      </p:sp>
      <p:cxnSp>
        <p:nvCxnSpPr>
          <p:cNvPr id="64" name="Straight Arrow Connector 63"/>
          <p:cNvCxnSpPr/>
          <p:nvPr/>
        </p:nvCxnSpPr>
        <p:spPr>
          <a:xfrm rot="10800000">
            <a:off x="4953000" y="5410200"/>
            <a:ext cx="381000" cy="30480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65" name="Straight Arrow Connector 64"/>
          <p:cNvCxnSpPr/>
          <p:nvPr/>
        </p:nvCxnSpPr>
        <p:spPr>
          <a:xfrm rot="10800000" flipV="1">
            <a:off x="4953000" y="6477000"/>
            <a:ext cx="381000" cy="15240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68" name="Rounded Rectangle 67"/>
          <p:cNvSpPr/>
          <p:nvPr/>
        </p:nvSpPr>
        <p:spPr>
          <a:xfrm>
            <a:off x="76200" y="3717032"/>
            <a:ext cx="1399456" cy="53340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fi-FI" dirty="0" smtClean="0"/>
              <a:t>Mittari-yhteenveto</a:t>
            </a:r>
            <a:endParaRPr lang="fi-FI" dirty="0"/>
          </a:p>
        </p:txBody>
      </p:sp>
      <p:sp>
        <p:nvSpPr>
          <p:cNvPr id="66" name="Cloud Callout 65"/>
          <p:cNvSpPr/>
          <p:nvPr/>
        </p:nvSpPr>
        <p:spPr>
          <a:xfrm>
            <a:off x="4192" y="304800"/>
            <a:ext cx="1399456" cy="838200"/>
          </a:xfrm>
          <a:prstGeom prst="cloudCallout">
            <a:avLst>
              <a:gd name="adj1" fmla="val -29041"/>
              <a:gd name="adj2" fmla="val 95481"/>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fi-FI" sz="1400" dirty="0" smtClean="0"/>
              <a:t>Valmentaminen</a:t>
            </a:r>
            <a:endParaRPr lang="fi-FI" sz="1400" dirty="0"/>
          </a:p>
        </p:txBody>
      </p:sp>
      <p:sp>
        <p:nvSpPr>
          <p:cNvPr id="67" name="Slide Number Placeholder 66"/>
          <p:cNvSpPr>
            <a:spLocks noGrp="1"/>
          </p:cNvSpPr>
          <p:nvPr>
            <p:ph type="sldNum" sz="quarter" idx="12"/>
          </p:nvPr>
        </p:nvSpPr>
        <p:spPr/>
        <p:txBody>
          <a:bodyPr/>
          <a:lstStyle/>
          <a:p>
            <a:fld id="{B6F15528-21DE-4FAA-801E-634DDDAF4B2B}" type="slidenum">
              <a:rPr lang="en-US" smtClean="0"/>
              <a:pPr/>
              <a:t>187</a:t>
            </a:fld>
            <a:endParaRPr lang="en-US"/>
          </a:p>
        </p:txBody>
      </p:sp>
      <p:sp>
        <p:nvSpPr>
          <p:cNvPr id="70" name="Folded Corner 69"/>
          <p:cNvSpPr/>
          <p:nvPr/>
        </p:nvSpPr>
        <p:spPr>
          <a:xfrm>
            <a:off x="323528" y="6021288"/>
            <a:ext cx="1512168" cy="360040"/>
          </a:xfrm>
          <a:prstGeom prst="foldedCorner">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fi-FI" sz="1600" dirty="0" smtClean="0"/>
              <a:t>Ohjekirjaset</a:t>
            </a:r>
            <a:endParaRPr lang="fi-FI" dirty="0"/>
          </a:p>
        </p:txBody>
      </p:sp>
      <p:sp>
        <p:nvSpPr>
          <p:cNvPr id="69" name="Folded Corner 69"/>
          <p:cNvSpPr/>
          <p:nvPr/>
        </p:nvSpPr>
        <p:spPr>
          <a:xfrm>
            <a:off x="323528" y="6453336"/>
            <a:ext cx="1512168" cy="360040"/>
          </a:xfrm>
          <a:prstGeom prst="foldedCorner">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fi-FI" sz="1200" dirty="0" smtClean="0"/>
              <a:t>Kattavuustukilistat</a:t>
            </a:r>
            <a:endParaRPr lang="fi-FI" sz="1200" dirty="0"/>
          </a:p>
        </p:txBody>
      </p:sp>
    </p:spTree>
    <p:extLst>
      <p:ext uri="{BB962C8B-B14F-4D97-AF65-F5344CB8AC3E}">
        <p14:creationId xmlns:p14="http://schemas.microsoft.com/office/powerpoint/2010/main" val="332791811"/>
      </p:ext>
    </p:extLst>
  </p:cSld>
  <p:clrMapOvr>
    <a:masterClrMapping/>
  </p:clrMapOvr>
  <p:timing>
    <p:tnLst>
      <p:par>
        <p:cTn xmlns:p14="http://schemas.microsoft.com/office/powerpoint/2010/mai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fi-FI" dirty="0" smtClean="0"/>
              <a:t>The Pieces in Management Framework</a:t>
            </a:r>
            <a:endParaRPr lang="fi-FI" dirty="0"/>
          </a:p>
        </p:txBody>
      </p:sp>
      <p:sp>
        <p:nvSpPr>
          <p:cNvPr id="5" name="Content Placeholder 4"/>
          <p:cNvSpPr>
            <a:spLocks noGrp="1"/>
          </p:cNvSpPr>
          <p:nvPr>
            <p:ph idx="1"/>
          </p:nvPr>
        </p:nvSpPr>
        <p:spPr/>
        <p:txBody>
          <a:bodyPr>
            <a:noAutofit/>
          </a:bodyPr>
          <a:lstStyle/>
          <a:p>
            <a:r>
              <a:rPr lang="fi-FI" sz="2400" dirty="0" smtClean="0"/>
              <a:t>A </a:t>
            </a:r>
            <a:r>
              <a:rPr lang="fi-FI" sz="2400" u="sng" dirty="0" smtClean="0"/>
              <a:t>disciplined tester</a:t>
            </a:r>
            <a:r>
              <a:rPr lang="fi-FI" sz="2400" dirty="0" smtClean="0"/>
              <a:t> replanning on various levels</a:t>
            </a:r>
          </a:p>
          <a:p>
            <a:r>
              <a:rPr lang="fi-FI" sz="2400" u="sng" dirty="0" smtClean="0"/>
              <a:t>Session</a:t>
            </a:r>
            <a:r>
              <a:rPr lang="fi-FI" sz="2400" dirty="0" smtClean="0"/>
              <a:t> with </a:t>
            </a:r>
            <a:r>
              <a:rPr lang="fi-FI" sz="2400" u="sng" dirty="0" smtClean="0"/>
              <a:t>charter</a:t>
            </a:r>
            <a:r>
              <a:rPr lang="fi-FI" sz="2400" dirty="0" smtClean="0"/>
              <a:t> that provides a </a:t>
            </a:r>
            <a:r>
              <a:rPr lang="fi-FI" sz="2400" u="sng" dirty="0" smtClean="0"/>
              <a:t>report</a:t>
            </a:r>
            <a:r>
              <a:rPr lang="fi-FI" sz="2400" dirty="0" smtClean="0"/>
              <a:t> </a:t>
            </a:r>
          </a:p>
          <a:p>
            <a:r>
              <a:rPr lang="fi-FI" sz="2400" dirty="0" smtClean="0"/>
              <a:t>Classification of information created as </a:t>
            </a:r>
            <a:r>
              <a:rPr lang="fi-FI" sz="2400" u="sng" dirty="0" smtClean="0"/>
              <a:t>metrics</a:t>
            </a:r>
          </a:p>
          <a:p>
            <a:r>
              <a:rPr lang="fi-FI" sz="2400" u="sng" dirty="0" smtClean="0"/>
              <a:t>Prioritizing</a:t>
            </a:r>
            <a:r>
              <a:rPr lang="fi-FI" sz="2400" dirty="0" smtClean="0"/>
              <a:t> of what test idea comes next</a:t>
            </a:r>
          </a:p>
          <a:p>
            <a:r>
              <a:rPr lang="fi-FI" sz="2400" dirty="0" smtClean="0"/>
              <a:t>Supporting reporting by </a:t>
            </a:r>
            <a:r>
              <a:rPr lang="fi-FI" sz="2400" u="sng" dirty="0" smtClean="0"/>
              <a:t>debriefing</a:t>
            </a:r>
          </a:p>
          <a:p>
            <a:r>
              <a:rPr lang="fi-FI" sz="2400" dirty="0" smtClean="0"/>
              <a:t>Supporting skills development by </a:t>
            </a:r>
            <a:r>
              <a:rPr lang="fi-FI" sz="2400" u="sng" dirty="0" smtClean="0"/>
              <a:t>coaching</a:t>
            </a:r>
          </a:p>
          <a:p>
            <a:r>
              <a:rPr lang="en-US" sz="2400" dirty="0" smtClean="0"/>
              <a:t>Documenting in </a:t>
            </a:r>
            <a:r>
              <a:rPr lang="en-US" sz="2400" u="sng" dirty="0" smtClean="0"/>
              <a:t>playbooks</a:t>
            </a:r>
            <a:r>
              <a:rPr lang="en-US" sz="2400" dirty="0" smtClean="0"/>
              <a:t> relevant documentation of things to test to support future productivity</a:t>
            </a:r>
          </a:p>
          <a:p>
            <a:r>
              <a:rPr lang="en-US" sz="2400" dirty="0" smtClean="0"/>
              <a:t>Analyzing coverage against </a:t>
            </a:r>
            <a:r>
              <a:rPr lang="en-US" sz="2400" u="sng" dirty="0" smtClean="0"/>
              <a:t>coverage outlines </a:t>
            </a:r>
            <a:r>
              <a:rPr lang="en-US" sz="2400" dirty="0" smtClean="0"/>
              <a:t>of things you find relevant to report against</a:t>
            </a:r>
          </a:p>
          <a:p>
            <a:r>
              <a:rPr lang="fi-FI" sz="2400" dirty="0" smtClean="0"/>
              <a:t>Creating a combined judgement of quality by </a:t>
            </a:r>
            <a:r>
              <a:rPr lang="fi-FI" sz="2400" u="sng" dirty="0" smtClean="0"/>
              <a:t>quality reporting</a:t>
            </a:r>
          </a:p>
        </p:txBody>
      </p:sp>
      <p:sp>
        <p:nvSpPr>
          <p:cNvPr id="3" name="Slide Number Placeholder 2"/>
          <p:cNvSpPr>
            <a:spLocks noGrp="1"/>
          </p:cNvSpPr>
          <p:nvPr>
            <p:ph type="sldNum" sz="quarter" idx="4294967295"/>
          </p:nvPr>
        </p:nvSpPr>
        <p:spPr>
          <a:xfrm>
            <a:off x="6553200" y="6356350"/>
            <a:ext cx="2133600" cy="365125"/>
          </a:xfrm>
          <a:prstGeom prst="rect">
            <a:avLst/>
          </a:prstGeom>
        </p:spPr>
        <p:txBody>
          <a:bodyPr/>
          <a:lstStyle/>
          <a:p>
            <a:fld id="{B6F15528-21DE-4FAA-801E-634DDDAF4B2B}" type="slidenum">
              <a:rPr lang="en-US" smtClean="0"/>
              <a:pPr/>
              <a:t>188</a:t>
            </a:fld>
            <a:endParaRPr lang="en-US"/>
          </a:p>
        </p:txBody>
      </p:sp>
    </p:spTree>
    <p:extLst>
      <p:ext uri="{BB962C8B-B14F-4D97-AF65-F5344CB8AC3E}">
        <p14:creationId xmlns:p14="http://schemas.microsoft.com/office/powerpoint/2010/main" val="1580897956"/>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(Exploratory) Testing Dynamics</a:t>
            </a:r>
            <a:br>
              <a:rPr lang="fi-FI" dirty="0" smtClean="0"/>
            </a:br>
            <a:r>
              <a:rPr lang="fi-FI" sz="1800" dirty="0" smtClean="0"/>
              <a:t> Source: Adapted from James Bach, Jon Bach, Michael Bolton. Exploratory Testing Dynamics. v.2.2. 2009</a:t>
            </a:r>
            <a:endParaRPr lang="fi-FI" sz="1800" dirty="0"/>
          </a:p>
        </p:txBody>
      </p:sp>
      <p:graphicFrame>
        <p:nvGraphicFramePr>
          <p:cNvPr id="4" name="Content Placeholder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4"/>
          <p:cNvSpPr/>
          <p:nvPr/>
        </p:nvSpPr>
        <p:spPr>
          <a:xfrm>
            <a:off x="6643702" y="4643446"/>
            <a:ext cx="2143140" cy="1169551"/>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gn="ctr"/>
            <a:r>
              <a:rPr lang="fi-FI" sz="1400" dirty="0" smtClean="0"/>
              <a:t>”A </a:t>
            </a:r>
            <a:r>
              <a:rPr lang="fi-FI" sz="1400" dirty="0"/>
              <a:t>set of</a:t>
            </a:r>
          </a:p>
          <a:p>
            <a:pPr algn="ctr"/>
            <a:r>
              <a:rPr lang="en-US" sz="1400" dirty="0"/>
              <a:t>considerations designed to help you test robustly or evaluate someone else’s testing</a:t>
            </a:r>
            <a:r>
              <a:rPr lang="en-US" sz="1400" dirty="0" smtClean="0"/>
              <a:t>.”</a:t>
            </a:r>
            <a:endParaRPr lang="fi-FI" sz="1400" dirty="0"/>
          </a:p>
        </p:txBody>
      </p:sp>
      <p:sp>
        <p:nvSpPr>
          <p:cNvPr id="6" name="Rectangle 5"/>
          <p:cNvSpPr/>
          <p:nvPr/>
        </p:nvSpPr>
        <p:spPr>
          <a:xfrm>
            <a:off x="357158" y="4714884"/>
            <a:ext cx="2143140" cy="1600438"/>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fi-FI" sz="1400" dirty="0" smtClean="0"/>
              <a:t>”</a:t>
            </a:r>
            <a:r>
              <a:rPr lang="en-US" sz="1400" dirty="0"/>
              <a:t> To develop ideas or search a complex space quickly yet thoroughly, not only must you look at the</a:t>
            </a:r>
          </a:p>
          <a:p>
            <a:r>
              <a:rPr lang="en-US" sz="1400" dirty="0"/>
              <a:t>world from many points of view and perform many kinds of </a:t>
            </a:r>
            <a:r>
              <a:rPr lang="en-US" sz="1400" dirty="0" smtClean="0"/>
              <a:t>activities”</a:t>
            </a:r>
            <a:endParaRPr lang="fi-FI" sz="1400" dirty="0"/>
          </a:p>
        </p:txBody>
      </p:sp>
      <p:sp>
        <p:nvSpPr>
          <p:cNvPr id="7" name="Rectangle 6"/>
          <p:cNvSpPr/>
          <p:nvPr/>
        </p:nvSpPr>
        <p:spPr>
          <a:xfrm>
            <a:off x="357158" y="1830821"/>
            <a:ext cx="2143140" cy="95410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fi-FI" sz="1400" dirty="0" smtClean="0"/>
              <a:t>”</a:t>
            </a:r>
            <a:r>
              <a:rPr lang="en-US" sz="1400" dirty="0" smtClean="0"/>
              <a:t>Exploratory </a:t>
            </a:r>
            <a:r>
              <a:rPr lang="en-US" sz="1400" dirty="0"/>
              <a:t>testing spirals upward toward a complete and professional set of test </a:t>
            </a:r>
            <a:r>
              <a:rPr lang="en-US" sz="1400" dirty="0" smtClean="0"/>
              <a:t>artifacts”</a:t>
            </a:r>
            <a:endParaRPr lang="fi-FI" sz="1400" dirty="0"/>
          </a:p>
        </p:txBody>
      </p:sp>
      <p:sp>
        <p:nvSpPr>
          <p:cNvPr id="8" name="Rectangle 7"/>
          <p:cNvSpPr/>
          <p:nvPr/>
        </p:nvSpPr>
        <p:spPr>
          <a:xfrm>
            <a:off x="6643702" y="1428736"/>
            <a:ext cx="2143140" cy="181588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fi-FI" sz="1400" dirty="0" smtClean="0"/>
              <a:t>”</a:t>
            </a:r>
            <a:r>
              <a:rPr lang="en-US" sz="1400" dirty="0"/>
              <a:t> </a:t>
            </a:r>
            <a:r>
              <a:rPr lang="en-US" sz="1400" dirty="0" smtClean="0"/>
              <a:t>…skills </a:t>
            </a:r>
            <a:r>
              <a:rPr lang="en-US" sz="1400" dirty="0"/>
              <a:t>that comprise professional and cost effective exploration of technology. Each is </a:t>
            </a:r>
            <a:r>
              <a:rPr lang="en-US" sz="1400" dirty="0" smtClean="0"/>
              <a:t>distinctly observable </a:t>
            </a:r>
            <a:r>
              <a:rPr lang="en-US" sz="1400" dirty="0"/>
              <a:t>and learnable, and each is necessary to exploratory </a:t>
            </a:r>
            <a:r>
              <a:rPr lang="en-US" sz="1400" dirty="0" smtClean="0"/>
              <a:t>work.”</a:t>
            </a:r>
            <a:endParaRPr lang="fi-FI" sz="1400" dirty="0"/>
          </a:p>
        </p:txBody>
      </p:sp>
      <p:sp>
        <p:nvSpPr>
          <p:cNvPr id="9" name="Slide Number Placeholder 8"/>
          <p:cNvSpPr>
            <a:spLocks noGrp="1"/>
          </p:cNvSpPr>
          <p:nvPr>
            <p:ph type="sldNum" sz="quarter" idx="12"/>
          </p:nvPr>
        </p:nvSpPr>
        <p:spPr/>
        <p:txBody>
          <a:bodyPr/>
          <a:lstStyle/>
          <a:p>
            <a:fld id="{1FC54B03-E980-44E0-A0F1-6CAD9D10ECFB}" type="slidenum">
              <a:rPr lang="fi-FI" smtClean="0"/>
              <a:pPr/>
              <a:t>189</a:t>
            </a:fld>
            <a:endParaRPr lang="fi-FI"/>
          </a:p>
        </p:txBody>
      </p:sp>
    </p:spTree>
    <p:extLst>
      <p:ext uri="{BB962C8B-B14F-4D97-AF65-F5344CB8AC3E}">
        <p14:creationId xmlns:p14="http://schemas.microsoft.com/office/powerpoint/2010/main" val="2019902363"/>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fi-FI" dirty="0" smtClean="0"/>
              <a:t>Keskeisistä taidoista</a:t>
            </a:r>
            <a:br>
              <a:rPr lang="fi-FI" dirty="0" smtClean="0"/>
            </a:br>
            <a:r>
              <a:rPr lang="fi-FI" sz="1800" dirty="0" smtClean="0"/>
              <a:t>Source: Adapted from James Bach, Jon Bach, Michael Bolton. Exploratory Testing Dynamics. v.2.2. 2009</a:t>
            </a:r>
            <a:endParaRPr lang="fi-FI" sz="1800" dirty="0"/>
          </a:p>
        </p:txBody>
      </p:sp>
      <p:graphicFrame>
        <p:nvGraphicFramePr>
          <p:cNvPr id="7" name="Content Placeholder 6"/>
          <p:cNvGraphicFramePr>
            <a:graphicFrameLocks noGrp="1"/>
          </p:cNvGraphicFramePr>
          <p:nvPr>
            <p:ph idx="1"/>
          </p:nvPr>
        </p:nvGraphicFramePr>
        <p:xfrm>
          <a:off x="457200" y="1600200"/>
          <a:ext cx="4757742"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TextBox 9"/>
          <p:cNvSpPr txBox="1"/>
          <p:nvPr/>
        </p:nvSpPr>
        <p:spPr>
          <a:xfrm>
            <a:off x="3428992" y="1800043"/>
            <a:ext cx="2357454" cy="1200329"/>
          </a:xfrm>
          <a:prstGeom prst="rect">
            <a:avLst/>
          </a:prstGeom>
          <a:noFill/>
        </p:spPr>
        <p:txBody>
          <a:bodyPr wrap="square" rtlCol="0">
            <a:spAutoFit/>
          </a:bodyPr>
          <a:lstStyle/>
          <a:p>
            <a:r>
              <a:rPr lang="fi-FI" dirty="0" smtClean="0"/>
              <a:t>Done</a:t>
            </a:r>
          </a:p>
          <a:p>
            <a:r>
              <a:rPr lang="fi-FI" dirty="0" smtClean="0"/>
              <a:t>To Do</a:t>
            </a:r>
          </a:p>
          <a:p>
            <a:r>
              <a:rPr lang="fi-FI" dirty="0" smtClean="0"/>
              <a:t>Issues</a:t>
            </a:r>
          </a:p>
          <a:p>
            <a:r>
              <a:rPr lang="fi-FI" dirty="0" smtClean="0"/>
              <a:t>Coverage</a:t>
            </a:r>
          </a:p>
        </p:txBody>
      </p:sp>
      <p:sp>
        <p:nvSpPr>
          <p:cNvPr id="11" name="TextBox 10"/>
          <p:cNvSpPr txBox="1"/>
          <p:nvPr/>
        </p:nvSpPr>
        <p:spPr>
          <a:xfrm>
            <a:off x="4071934" y="3425611"/>
            <a:ext cx="4633946" cy="646331"/>
          </a:xfrm>
          <a:prstGeom prst="rect">
            <a:avLst/>
          </a:prstGeom>
          <a:noFill/>
        </p:spPr>
        <p:txBody>
          <a:bodyPr wrap="square" rtlCol="0">
            <a:spAutoFit/>
          </a:bodyPr>
          <a:lstStyle/>
          <a:p>
            <a:r>
              <a:rPr lang="fi-FI" dirty="0" smtClean="0"/>
              <a:t>All sources available </a:t>
            </a:r>
          </a:p>
          <a:p>
            <a:r>
              <a:rPr lang="fi-FI" dirty="0" smtClean="0"/>
              <a:t>Best use of time – effective and efficient work</a:t>
            </a:r>
          </a:p>
        </p:txBody>
      </p:sp>
      <p:sp>
        <p:nvSpPr>
          <p:cNvPr id="12" name="TextBox 11"/>
          <p:cNvSpPr txBox="1"/>
          <p:nvPr/>
        </p:nvSpPr>
        <p:spPr>
          <a:xfrm>
            <a:off x="3500430" y="4929198"/>
            <a:ext cx="4633946" cy="1200329"/>
          </a:xfrm>
          <a:prstGeom prst="rect">
            <a:avLst/>
          </a:prstGeom>
          <a:noFill/>
        </p:spPr>
        <p:txBody>
          <a:bodyPr wrap="square" rtlCol="0">
            <a:spAutoFit/>
          </a:bodyPr>
          <a:lstStyle/>
          <a:p>
            <a:r>
              <a:rPr lang="fi-FI" dirty="0" smtClean="0"/>
              <a:t>Making models</a:t>
            </a:r>
          </a:p>
          <a:p>
            <a:r>
              <a:rPr lang="fi-FI" dirty="0" smtClean="0"/>
              <a:t>Tool support – creative solutions</a:t>
            </a:r>
          </a:p>
          <a:p>
            <a:r>
              <a:rPr lang="fi-FI" dirty="0" smtClean="0"/>
              <a:t>Risk-based testing – scientific approach</a:t>
            </a:r>
          </a:p>
          <a:p>
            <a:r>
              <a:rPr lang="fi-FI" dirty="0" smtClean="0"/>
              <a:t>Keeping one’s eyes open</a:t>
            </a:r>
          </a:p>
        </p:txBody>
      </p:sp>
      <p:sp>
        <p:nvSpPr>
          <p:cNvPr id="8" name="Slide Number Placeholder 7"/>
          <p:cNvSpPr>
            <a:spLocks noGrp="1"/>
          </p:cNvSpPr>
          <p:nvPr>
            <p:ph type="sldNum" sz="quarter" idx="12"/>
          </p:nvPr>
        </p:nvSpPr>
        <p:spPr/>
        <p:txBody>
          <a:bodyPr/>
          <a:lstStyle/>
          <a:p>
            <a:fld id="{1FC54B03-E980-44E0-A0F1-6CAD9D10ECFB}" type="slidenum">
              <a:rPr lang="fi-FI" smtClean="0"/>
              <a:pPr/>
              <a:t>190</a:t>
            </a:fld>
            <a:endParaRPr lang="fi-FI"/>
          </a:p>
        </p:txBody>
      </p:sp>
    </p:spTree>
    <p:extLst>
      <p:ext uri="{BB962C8B-B14F-4D97-AF65-F5344CB8AC3E}">
        <p14:creationId xmlns:p14="http://schemas.microsoft.com/office/powerpoint/2010/main" val="3244903029"/>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err="1" smtClean="0"/>
              <a:t>Test</a:t>
            </a:r>
            <a:r>
              <a:rPr lang="fi-FI" dirty="0" smtClean="0"/>
              <a:t> </a:t>
            </a:r>
            <a:r>
              <a:rPr lang="fi-FI" dirty="0" err="1" smtClean="0"/>
              <a:t>Ideas</a:t>
            </a:r>
            <a:r>
              <a:rPr lang="fi-FI" dirty="0" smtClean="0"/>
              <a:t> / </a:t>
            </a:r>
            <a:r>
              <a:rPr lang="fi-FI" dirty="0" err="1" smtClean="0"/>
              <a:t>Quick-and-Dirty</a:t>
            </a:r>
            <a:endParaRPr lang="en-US" dirty="0"/>
          </a:p>
        </p:txBody>
      </p:sp>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6778" y="1282568"/>
            <a:ext cx="8527471" cy="452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323528" y="6093296"/>
            <a:ext cx="8640960" cy="646331"/>
          </a:xfrm>
          <a:prstGeom prst="rect">
            <a:avLst/>
          </a:prstGeom>
          <a:noFill/>
        </p:spPr>
        <p:txBody>
          <a:bodyPr wrap="square" rtlCol="0">
            <a:spAutoFit/>
          </a:bodyPr>
          <a:lstStyle/>
          <a:p>
            <a:pPr algn="ctr"/>
            <a:r>
              <a:rPr lang="fi-FI" dirty="0" err="1" smtClean="0"/>
              <a:t>Download</a:t>
            </a:r>
            <a:r>
              <a:rPr lang="fi-FI" dirty="0" smtClean="0"/>
              <a:t> the </a:t>
            </a:r>
            <a:r>
              <a:rPr lang="fi-FI" dirty="0" err="1" smtClean="0"/>
              <a:t>full</a:t>
            </a:r>
            <a:r>
              <a:rPr lang="fi-FI" dirty="0" smtClean="0"/>
              <a:t> 2-page </a:t>
            </a:r>
            <a:r>
              <a:rPr lang="fi-FI" dirty="0" err="1" smtClean="0"/>
              <a:t>Cheat</a:t>
            </a:r>
            <a:r>
              <a:rPr lang="fi-FI" dirty="0" smtClean="0"/>
              <a:t> </a:t>
            </a:r>
            <a:r>
              <a:rPr lang="fi-FI" dirty="0" err="1" smtClean="0"/>
              <a:t>Sheet</a:t>
            </a:r>
            <a:r>
              <a:rPr lang="fi-FI" dirty="0" smtClean="0"/>
              <a:t> with </a:t>
            </a:r>
            <a:r>
              <a:rPr lang="fi-FI" dirty="0" err="1" smtClean="0"/>
              <a:t>ideas</a:t>
            </a:r>
            <a:r>
              <a:rPr lang="fi-FI" dirty="0" smtClean="0"/>
              <a:t> </a:t>
            </a:r>
            <a:r>
              <a:rPr lang="fi-FI" dirty="0" err="1" smtClean="0"/>
              <a:t>from</a:t>
            </a:r>
            <a:r>
              <a:rPr lang="fi-FI" dirty="0" smtClean="0"/>
              <a:t> </a:t>
            </a:r>
            <a:r>
              <a:rPr lang="en-US" dirty="0" smtClean="0"/>
              <a:t>Elisabeth </a:t>
            </a:r>
            <a:r>
              <a:rPr lang="en-US" dirty="0"/>
              <a:t>Hendrickson, James </a:t>
            </a:r>
            <a:r>
              <a:rPr lang="en-US" dirty="0" err="1"/>
              <a:t>Lyndsay</a:t>
            </a:r>
            <a:r>
              <a:rPr lang="en-US" dirty="0"/>
              <a:t>, and Dale </a:t>
            </a:r>
            <a:r>
              <a:rPr lang="en-US" dirty="0" smtClean="0"/>
              <a:t>Emery on Qualitytree.com </a:t>
            </a:r>
            <a:endParaRPr lang="en-US" dirty="0"/>
          </a:p>
        </p:txBody>
      </p:sp>
      <p:sp>
        <p:nvSpPr>
          <p:cNvPr id="5" name="Slide Number Placeholder 4"/>
          <p:cNvSpPr>
            <a:spLocks noGrp="1"/>
          </p:cNvSpPr>
          <p:nvPr>
            <p:ph type="sldNum" sz="quarter" idx="12"/>
          </p:nvPr>
        </p:nvSpPr>
        <p:spPr/>
        <p:txBody>
          <a:bodyPr/>
          <a:lstStyle/>
          <a:p>
            <a:fld id="{1FC54B03-E980-44E0-A0F1-6CAD9D10ECFB}" type="slidenum">
              <a:rPr lang="fi-FI" smtClean="0"/>
              <a:pPr/>
              <a:t>191</a:t>
            </a:fld>
            <a:endParaRPr lang="fi-FI"/>
          </a:p>
        </p:txBody>
      </p:sp>
    </p:spTree>
    <p:extLst>
      <p:ext uri="{BB962C8B-B14F-4D97-AF65-F5344CB8AC3E}">
        <p14:creationId xmlns:p14="http://schemas.microsoft.com/office/powerpoint/2010/main" val="127419069"/>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a:blip r:embed="rId3" cstate="print"/>
          <a:srcRect/>
          <a:stretch>
            <a:fillRect/>
          </a:stretch>
        </p:blipFill>
        <p:spPr bwMode="auto">
          <a:xfrm>
            <a:off x="3132138" y="1773238"/>
            <a:ext cx="5837237" cy="488950"/>
          </a:xfrm>
          <a:prstGeom prst="rect">
            <a:avLst/>
          </a:prstGeom>
          <a:noFill/>
          <a:ln w="9525">
            <a:noFill/>
            <a:miter lim="800000"/>
            <a:headEnd/>
            <a:tailEnd/>
          </a:ln>
        </p:spPr>
      </p:pic>
      <p:sp>
        <p:nvSpPr>
          <p:cNvPr id="22531" name="Title 4"/>
          <p:cNvSpPr>
            <a:spLocks noGrp="1"/>
          </p:cNvSpPr>
          <p:nvPr>
            <p:ph type="title"/>
          </p:nvPr>
        </p:nvSpPr>
        <p:spPr/>
        <p:txBody>
          <a:bodyPr/>
          <a:lstStyle/>
          <a:p>
            <a:r>
              <a:rPr lang="fi-FI" smtClean="0"/>
              <a:t>Työkalutuettu toteutus</a:t>
            </a:r>
          </a:p>
        </p:txBody>
      </p:sp>
      <p:sp>
        <p:nvSpPr>
          <p:cNvPr id="22532" name="TextBox 5"/>
          <p:cNvSpPr txBox="1">
            <a:spLocks noChangeArrowheads="1"/>
          </p:cNvSpPr>
          <p:nvPr/>
        </p:nvSpPr>
        <p:spPr bwMode="auto">
          <a:xfrm>
            <a:off x="3132138" y="1412875"/>
            <a:ext cx="5616575" cy="369888"/>
          </a:xfrm>
          <a:prstGeom prst="rect">
            <a:avLst/>
          </a:prstGeom>
          <a:noFill/>
          <a:ln w="9525">
            <a:noFill/>
            <a:miter lim="800000"/>
            <a:headEnd/>
            <a:tailEnd/>
          </a:ln>
        </p:spPr>
        <p:txBody>
          <a:bodyPr>
            <a:spAutoFit/>
          </a:bodyPr>
          <a:lstStyle/>
          <a:p>
            <a:r>
              <a:rPr lang="fi-FI"/>
              <a:t>Standalone-työkalu: Rapid Reporter</a:t>
            </a:r>
          </a:p>
        </p:txBody>
      </p:sp>
      <p:sp>
        <p:nvSpPr>
          <p:cNvPr id="7" name="Down Arrow 6"/>
          <p:cNvSpPr/>
          <p:nvPr/>
        </p:nvSpPr>
        <p:spPr>
          <a:xfrm>
            <a:off x="4843463" y="2349500"/>
            <a:ext cx="647700" cy="5746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i-FI"/>
          </a:p>
        </p:txBody>
      </p:sp>
      <p:sp>
        <p:nvSpPr>
          <p:cNvPr id="22534" name="TextBox 7"/>
          <p:cNvSpPr txBox="1">
            <a:spLocks noChangeArrowheads="1"/>
          </p:cNvSpPr>
          <p:nvPr/>
        </p:nvSpPr>
        <p:spPr bwMode="auto">
          <a:xfrm>
            <a:off x="4267200" y="2997200"/>
            <a:ext cx="1871663" cy="368300"/>
          </a:xfrm>
          <a:prstGeom prst="rect">
            <a:avLst/>
          </a:prstGeom>
          <a:noFill/>
          <a:ln w="9525">
            <a:noFill/>
            <a:miter lim="800000"/>
            <a:headEnd/>
            <a:tailEnd/>
          </a:ln>
        </p:spPr>
        <p:txBody>
          <a:bodyPr>
            <a:spAutoFit/>
          </a:bodyPr>
          <a:lstStyle/>
          <a:p>
            <a:pPr algn="ctr"/>
            <a:r>
              <a:rPr lang="fi-FI"/>
              <a:t>CSV-tiedostot</a:t>
            </a:r>
          </a:p>
        </p:txBody>
      </p:sp>
      <p:sp>
        <p:nvSpPr>
          <p:cNvPr id="9" name="Down Arrow 8"/>
          <p:cNvSpPr/>
          <p:nvPr/>
        </p:nvSpPr>
        <p:spPr>
          <a:xfrm>
            <a:off x="4843463" y="3500438"/>
            <a:ext cx="647700" cy="57626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i-FI"/>
          </a:p>
        </p:txBody>
      </p:sp>
      <p:sp>
        <p:nvSpPr>
          <p:cNvPr id="22536" name="TextBox 9"/>
          <p:cNvSpPr txBox="1">
            <a:spLocks noChangeArrowheads="1"/>
          </p:cNvSpPr>
          <p:nvPr/>
        </p:nvSpPr>
        <p:spPr bwMode="auto">
          <a:xfrm>
            <a:off x="3617913" y="4149725"/>
            <a:ext cx="3240087" cy="368300"/>
          </a:xfrm>
          <a:prstGeom prst="rect">
            <a:avLst/>
          </a:prstGeom>
          <a:noFill/>
          <a:ln w="9525">
            <a:noFill/>
            <a:miter lim="800000"/>
            <a:headEnd/>
            <a:tailEnd/>
          </a:ln>
        </p:spPr>
        <p:txBody>
          <a:bodyPr>
            <a:spAutoFit/>
          </a:bodyPr>
          <a:lstStyle/>
          <a:p>
            <a:pPr algn="ctr"/>
            <a:r>
              <a:rPr lang="fi-FI"/>
              <a:t>Skannaustyökalu</a:t>
            </a:r>
          </a:p>
        </p:txBody>
      </p:sp>
      <p:pic>
        <p:nvPicPr>
          <p:cNvPr id="22537" name="Picture 6"/>
          <p:cNvPicPr>
            <a:picLocks noChangeAspect="1" noChangeArrowheads="1"/>
          </p:cNvPicPr>
          <p:nvPr/>
        </p:nvPicPr>
        <p:blipFill>
          <a:blip r:embed="rId4" cstate="print"/>
          <a:srcRect/>
          <a:stretch>
            <a:fillRect/>
          </a:stretch>
        </p:blipFill>
        <p:spPr bwMode="auto">
          <a:xfrm>
            <a:off x="107950" y="4508500"/>
            <a:ext cx="4635500" cy="2216150"/>
          </a:xfrm>
          <a:prstGeom prst="rect">
            <a:avLst/>
          </a:prstGeom>
          <a:noFill/>
          <a:ln w="9525">
            <a:noFill/>
            <a:miter lim="800000"/>
            <a:headEnd/>
            <a:tailEnd/>
          </a:ln>
        </p:spPr>
      </p:pic>
      <p:sp>
        <p:nvSpPr>
          <p:cNvPr id="18" name="Down Arrow 17"/>
          <p:cNvSpPr/>
          <p:nvPr/>
        </p:nvSpPr>
        <p:spPr>
          <a:xfrm rot="2426052">
            <a:off x="4795838" y="4724400"/>
            <a:ext cx="720725" cy="7207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i-FI"/>
          </a:p>
        </p:txBody>
      </p:sp>
      <p:sp>
        <p:nvSpPr>
          <p:cNvPr id="22539" name="TextBox 18"/>
          <p:cNvSpPr txBox="1">
            <a:spLocks noChangeArrowheads="1"/>
          </p:cNvSpPr>
          <p:nvPr/>
        </p:nvSpPr>
        <p:spPr bwMode="auto">
          <a:xfrm>
            <a:off x="179388" y="2565400"/>
            <a:ext cx="4248150" cy="1200150"/>
          </a:xfrm>
          <a:prstGeom prst="rect">
            <a:avLst/>
          </a:prstGeom>
          <a:noFill/>
          <a:ln w="9525">
            <a:noFill/>
            <a:miter lim="800000"/>
            <a:headEnd/>
            <a:tailEnd/>
          </a:ln>
        </p:spPr>
        <p:txBody>
          <a:bodyPr>
            <a:spAutoFit/>
          </a:bodyPr>
          <a:lstStyle/>
          <a:p>
            <a:r>
              <a:rPr lang="fi-FI" b="1"/>
              <a:t>”Kattavuus” / suunnitelma: </a:t>
            </a:r>
          </a:p>
          <a:p>
            <a:pPr>
              <a:buFont typeface="Arial" pitchFamily="34" charset="0"/>
              <a:buChar char="•"/>
            </a:pPr>
            <a:r>
              <a:rPr lang="fi-FI"/>
              <a:t> Area / Idea list (session-sized backlog) </a:t>
            </a:r>
          </a:p>
          <a:p>
            <a:pPr>
              <a:buFont typeface="Arial" pitchFamily="34" charset="0"/>
              <a:buChar char="•"/>
            </a:pPr>
            <a:r>
              <a:rPr lang="fi-FI"/>
              <a:t> ”Per-area playbook” wikissä</a:t>
            </a:r>
          </a:p>
          <a:p>
            <a:pPr>
              <a:buFont typeface="Arial" pitchFamily="34" charset="0"/>
              <a:buChar char="•"/>
            </a:pPr>
            <a:endParaRPr lang="fi-FI"/>
          </a:p>
        </p:txBody>
      </p:sp>
      <p:sp>
        <p:nvSpPr>
          <p:cNvPr id="20" name="Right Arrow 19"/>
          <p:cNvSpPr/>
          <p:nvPr/>
        </p:nvSpPr>
        <p:spPr>
          <a:xfrm rot="19041541">
            <a:off x="2486025" y="2135188"/>
            <a:ext cx="360363" cy="360362"/>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endParaRPr lang="fi-FI"/>
          </a:p>
        </p:txBody>
      </p:sp>
      <p:sp>
        <p:nvSpPr>
          <p:cNvPr id="26" name="Rectangle 25"/>
          <p:cNvSpPr/>
          <p:nvPr/>
        </p:nvSpPr>
        <p:spPr>
          <a:xfrm>
            <a:off x="524087" y="5241974"/>
            <a:ext cx="3687873" cy="923330"/>
          </a:xfrm>
          <a:prstGeom prst="rect">
            <a:avLst/>
          </a:prstGeom>
          <a:noFill/>
        </p:spPr>
        <p:txBody>
          <a:bodyPr>
            <a:spAutoFit/>
          </a:bodyPr>
          <a:lstStyle/>
          <a:p>
            <a:pPr algn="ctr">
              <a:defRPr/>
            </a:pPr>
            <a:r>
              <a:rPr lang="en-US" sz="5400" b="1"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rPr>
              <a:t>Example</a:t>
            </a:r>
          </a:p>
        </p:txBody>
      </p:sp>
      <p:sp>
        <p:nvSpPr>
          <p:cNvPr id="22" name="Rectangle 21"/>
          <p:cNvSpPr/>
          <p:nvPr/>
        </p:nvSpPr>
        <p:spPr>
          <a:xfrm>
            <a:off x="6172200" y="2514600"/>
            <a:ext cx="2667000" cy="38100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a:lstStyle/>
          <a:p>
            <a:pPr algn="ctr">
              <a:defRPr/>
            </a:pPr>
            <a:r>
              <a:rPr lang="fi-FI" dirty="0"/>
              <a:t>Muistiinpanotyypit: </a:t>
            </a:r>
          </a:p>
        </p:txBody>
      </p:sp>
      <p:sp>
        <p:nvSpPr>
          <p:cNvPr id="22543" name="TextBox 22"/>
          <p:cNvSpPr txBox="1">
            <a:spLocks noChangeArrowheads="1"/>
          </p:cNvSpPr>
          <p:nvPr/>
        </p:nvSpPr>
        <p:spPr bwMode="auto">
          <a:xfrm>
            <a:off x="6248400" y="2895600"/>
            <a:ext cx="1524000" cy="1384300"/>
          </a:xfrm>
          <a:prstGeom prst="rect">
            <a:avLst/>
          </a:prstGeom>
          <a:noFill/>
          <a:ln w="9525">
            <a:noFill/>
            <a:miter lim="800000"/>
            <a:headEnd/>
            <a:tailEnd/>
          </a:ln>
        </p:spPr>
        <p:txBody>
          <a:bodyPr>
            <a:spAutoFit/>
          </a:bodyPr>
          <a:lstStyle/>
          <a:p>
            <a:r>
              <a:rPr lang="fi-FI" sz="1400"/>
              <a:t>Ajanlaskentaan vaikuttavat:</a:t>
            </a:r>
          </a:p>
          <a:p>
            <a:pPr>
              <a:buFont typeface="Arial" pitchFamily="34" charset="0"/>
              <a:buChar char="•"/>
            </a:pPr>
            <a:r>
              <a:rPr lang="fi-FI" sz="1400"/>
              <a:t> Test</a:t>
            </a:r>
          </a:p>
          <a:p>
            <a:pPr>
              <a:buFont typeface="Arial" pitchFamily="34" charset="0"/>
              <a:buChar char="•"/>
            </a:pPr>
            <a:r>
              <a:rPr lang="fi-FI" sz="1400"/>
              <a:t> Bug</a:t>
            </a:r>
          </a:p>
          <a:p>
            <a:pPr>
              <a:buFont typeface="Arial" pitchFamily="34" charset="0"/>
              <a:buChar char="•"/>
            </a:pPr>
            <a:r>
              <a:rPr lang="fi-FI" sz="1400"/>
              <a:t> Setup</a:t>
            </a:r>
          </a:p>
          <a:p>
            <a:pPr>
              <a:buFont typeface="Arial" pitchFamily="34" charset="0"/>
              <a:buChar char="•"/>
            </a:pPr>
            <a:r>
              <a:rPr lang="fi-FI" sz="1400"/>
              <a:t> OffCharter</a:t>
            </a:r>
          </a:p>
        </p:txBody>
      </p:sp>
      <p:sp>
        <p:nvSpPr>
          <p:cNvPr id="22544" name="TextBox 23"/>
          <p:cNvSpPr txBox="1">
            <a:spLocks noChangeArrowheads="1"/>
          </p:cNvSpPr>
          <p:nvPr/>
        </p:nvSpPr>
        <p:spPr bwMode="auto">
          <a:xfrm>
            <a:off x="7334250" y="3657600"/>
            <a:ext cx="1504950" cy="1169988"/>
          </a:xfrm>
          <a:prstGeom prst="rect">
            <a:avLst/>
          </a:prstGeom>
          <a:noFill/>
          <a:ln w="9525">
            <a:noFill/>
            <a:miter lim="800000"/>
            <a:headEnd/>
            <a:tailEnd/>
          </a:ln>
        </p:spPr>
        <p:txBody>
          <a:bodyPr>
            <a:spAutoFit/>
          </a:bodyPr>
          <a:lstStyle/>
          <a:p>
            <a:r>
              <a:rPr lang="fi-FI" sz="1400"/>
              <a:t>Tulosmittareihin vaikuttavat:</a:t>
            </a:r>
          </a:p>
          <a:p>
            <a:pPr>
              <a:buFont typeface="Arial" pitchFamily="34" charset="0"/>
              <a:buChar char="•"/>
            </a:pPr>
            <a:r>
              <a:rPr lang="fi-FI" sz="1400"/>
              <a:t> Bug</a:t>
            </a:r>
          </a:p>
          <a:p>
            <a:pPr>
              <a:buFont typeface="Arial" pitchFamily="34" charset="0"/>
              <a:buChar char="•"/>
            </a:pPr>
            <a:r>
              <a:rPr lang="fi-FI" sz="1400"/>
              <a:t> Question</a:t>
            </a:r>
          </a:p>
          <a:p>
            <a:pPr>
              <a:buFont typeface="Arial" pitchFamily="34" charset="0"/>
              <a:buChar char="•"/>
            </a:pPr>
            <a:r>
              <a:rPr lang="fi-FI" sz="1400"/>
              <a:t> NextTime</a:t>
            </a:r>
          </a:p>
        </p:txBody>
      </p:sp>
      <p:sp>
        <p:nvSpPr>
          <p:cNvPr id="22545" name="TextBox 24"/>
          <p:cNvSpPr txBox="1">
            <a:spLocks noChangeArrowheads="1"/>
          </p:cNvSpPr>
          <p:nvPr/>
        </p:nvSpPr>
        <p:spPr bwMode="auto">
          <a:xfrm>
            <a:off x="6248400" y="4760913"/>
            <a:ext cx="2057400" cy="1169987"/>
          </a:xfrm>
          <a:prstGeom prst="rect">
            <a:avLst/>
          </a:prstGeom>
          <a:noFill/>
          <a:ln w="9525">
            <a:noFill/>
            <a:miter lim="800000"/>
            <a:headEnd/>
            <a:tailEnd/>
          </a:ln>
        </p:spPr>
        <p:txBody>
          <a:bodyPr>
            <a:spAutoFit/>
          </a:bodyPr>
          <a:lstStyle/>
          <a:p>
            <a:r>
              <a:rPr lang="fi-FI" sz="1400"/>
              <a:t>Kattavuusarvioon vaikuttavat: </a:t>
            </a:r>
          </a:p>
          <a:p>
            <a:pPr>
              <a:buFont typeface="Arial" pitchFamily="34" charset="0"/>
              <a:buChar char="•"/>
            </a:pPr>
            <a:r>
              <a:rPr lang="fi-FI" sz="1400"/>
              <a:t>  Environment</a:t>
            </a:r>
          </a:p>
          <a:p>
            <a:pPr>
              <a:buFont typeface="Arial" pitchFamily="34" charset="0"/>
              <a:buChar char="•"/>
            </a:pPr>
            <a:r>
              <a:rPr lang="fi-FI" sz="1400"/>
              <a:t>  Area</a:t>
            </a:r>
          </a:p>
          <a:p>
            <a:pPr>
              <a:buFont typeface="Arial" pitchFamily="34" charset="0"/>
              <a:buChar char="•"/>
            </a:pPr>
            <a:r>
              <a:rPr lang="fi-FI" sz="1400"/>
              <a:t>  Data</a:t>
            </a:r>
          </a:p>
        </p:txBody>
      </p:sp>
      <p:sp>
        <p:nvSpPr>
          <p:cNvPr id="22546" name="TextBox 26"/>
          <p:cNvSpPr txBox="1">
            <a:spLocks noChangeArrowheads="1"/>
          </p:cNvSpPr>
          <p:nvPr/>
        </p:nvSpPr>
        <p:spPr bwMode="auto">
          <a:xfrm>
            <a:off x="7315200" y="5562600"/>
            <a:ext cx="1504950" cy="523875"/>
          </a:xfrm>
          <a:prstGeom prst="rect">
            <a:avLst/>
          </a:prstGeom>
          <a:noFill/>
          <a:ln w="9525">
            <a:noFill/>
            <a:miter lim="800000"/>
            <a:headEnd/>
            <a:tailEnd/>
          </a:ln>
        </p:spPr>
        <p:txBody>
          <a:bodyPr>
            <a:spAutoFit/>
          </a:bodyPr>
          <a:lstStyle/>
          <a:p>
            <a:r>
              <a:rPr lang="fi-FI" sz="1400"/>
              <a:t>Muistiinpanot:</a:t>
            </a:r>
          </a:p>
          <a:p>
            <a:pPr>
              <a:buFont typeface="Arial" pitchFamily="34" charset="0"/>
              <a:buChar char="•"/>
            </a:pPr>
            <a:r>
              <a:rPr lang="fi-FI" sz="1400"/>
              <a:t> Note</a:t>
            </a:r>
          </a:p>
        </p:txBody>
      </p:sp>
      <p:sp>
        <p:nvSpPr>
          <p:cNvPr id="19" name="Slide Number Placeholder 18"/>
          <p:cNvSpPr>
            <a:spLocks noGrp="1"/>
          </p:cNvSpPr>
          <p:nvPr>
            <p:ph type="sldNum" sz="quarter" idx="12"/>
          </p:nvPr>
        </p:nvSpPr>
        <p:spPr/>
        <p:txBody>
          <a:bodyPr/>
          <a:lstStyle/>
          <a:p>
            <a:fld id="{1FC54B03-E980-44E0-A0F1-6CAD9D10ECFB}" type="slidenum">
              <a:rPr lang="fi-FI" smtClean="0"/>
              <a:pPr/>
              <a:t>192</a:t>
            </a:fld>
            <a:endParaRPr lang="fi-FI"/>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Otsikko 1"/>
          <p:cNvSpPr>
            <a:spLocks noGrp="1"/>
          </p:cNvSpPr>
          <p:nvPr>
            <p:ph type="title"/>
          </p:nvPr>
        </p:nvSpPr>
        <p:spPr/>
        <p:txBody>
          <a:bodyPr/>
          <a:lstStyle/>
          <a:p>
            <a:pPr eaLnBrk="1" hangingPunct="1"/>
            <a:r>
              <a:rPr lang="fi-FI" smtClean="0"/>
              <a:t>Testausraportti (esimerkki)</a:t>
            </a:r>
          </a:p>
        </p:txBody>
      </p:sp>
      <p:pic>
        <p:nvPicPr>
          <p:cNvPr id="23555" name="Picture 1"/>
          <p:cNvPicPr>
            <a:picLocks noChangeAspect="1" noChangeArrowheads="1"/>
          </p:cNvPicPr>
          <p:nvPr/>
        </p:nvPicPr>
        <p:blipFill>
          <a:blip r:embed="rId2" cstate="print"/>
          <a:srcRect/>
          <a:stretch>
            <a:fillRect/>
          </a:stretch>
        </p:blipFill>
        <p:spPr bwMode="auto">
          <a:xfrm>
            <a:off x="468313" y="3357563"/>
            <a:ext cx="1797050" cy="2303462"/>
          </a:xfrm>
          <a:prstGeom prst="rect">
            <a:avLst/>
          </a:prstGeom>
          <a:noFill/>
          <a:ln w="9525">
            <a:noFill/>
            <a:miter lim="800000"/>
            <a:headEnd/>
            <a:tailEnd/>
          </a:ln>
        </p:spPr>
      </p:pic>
      <p:pic>
        <p:nvPicPr>
          <p:cNvPr id="23556" name="Picture 2"/>
          <p:cNvPicPr>
            <a:picLocks noChangeAspect="1" noChangeArrowheads="1"/>
          </p:cNvPicPr>
          <p:nvPr/>
        </p:nvPicPr>
        <p:blipFill>
          <a:blip r:embed="rId3" cstate="print"/>
          <a:srcRect/>
          <a:stretch>
            <a:fillRect/>
          </a:stretch>
        </p:blipFill>
        <p:spPr bwMode="auto">
          <a:xfrm>
            <a:off x="468313" y="1628775"/>
            <a:ext cx="1800225" cy="1238250"/>
          </a:xfrm>
          <a:prstGeom prst="rect">
            <a:avLst/>
          </a:prstGeom>
          <a:noFill/>
          <a:ln w="9525">
            <a:noFill/>
            <a:miter lim="800000"/>
            <a:headEnd/>
            <a:tailEnd/>
          </a:ln>
        </p:spPr>
      </p:pic>
      <p:graphicFrame>
        <p:nvGraphicFramePr>
          <p:cNvPr id="7" name="Chart 1"/>
          <p:cNvGraphicFramePr>
            <a:graphicFrameLocks/>
          </p:cNvGraphicFramePr>
          <p:nvPr/>
        </p:nvGraphicFramePr>
        <p:xfrm>
          <a:off x="2367136" y="1340768"/>
          <a:ext cx="3212976" cy="172819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Chart 3"/>
          <p:cNvGraphicFramePr>
            <a:graphicFrameLocks/>
          </p:cNvGraphicFramePr>
          <p:nvPr/>
        </p:nvGraphicFramePr>
        <p:xfrm>
          <a:off x="2411760" y="3429000"/>
          <a:ext cx="3240360" cy="1872208"/>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9" name="Chart 2"/>
          <p:cNvGraphicFramePr>
            <a:graphicFrameLocks/>
          </p:cNvGraphicFramePr>
          <p:nvPr/>
        </p:nvGraphicFramePr>
        <p:xfrm>
          <a:off x="5796136" y="1412776"/>
          <a:ext cx="3024336" cy="2232248"/>
        </p:xfrm>
        <a:graphic>
          <a:graphicData uri="http://schemas.openxmlformats.org/drawingml/2006/chart">
            <c:chart xmlns:c="http://schemas.openxmlformats.org/drawingml/2006/chart" xmlns:r="http://schemas.openxmlformats.org/officeDocument/2006/relationships" r:id="rId6"/>
          </a:graphicData>
        </a:graphic>
      </p:graphicFrame>
      <p:pic>
        <p:nvPicPr>
          <p:cNvPr id="23560" name="Picture 3"/>
          <p:cNvPicPr>
            <a:picLocks noChangeAspect="1" noChangeArrowheads="1"/>
          </p:cNvPicPr>
          <p:nvPr/>
        </p:nvPicPr>
        <p:blipFill>
          <a:blip r:embed="rId7" cstate="print"/>
          <a:srcRect/>
          <a:stretch>
            <a:fillRect/>
          </a:stretch>
        </p:blipFill>
        <p:spPr bwMode="auto">
          <a:xfrm>
            <a:off x="5867400" y="4149725"/>
            <a:ext cx="2705100" cy="971550"/>
          </a:xfrm>
          <a:prstGeom prst="rect">
            <a:avLst/>
          </a:prstGeom>
          <a:noFill/>
          <a:ln w="9525">
            <a:noFill/>
            <a:miter lim="800000"/>
            <a:headEnd/>
            <a:tailEnd/>
          </a:ln>
        </p:spPr>
      </p:pic>
      <p:sp>
        <p:nvSpPr>
          <p:cNvPr id="10" name="Slide Number Placeholder 9"/>
          <p:cNvSpPr>
            <a:spLocks noGrp="1"/>
          </p:cNvSpPr>
          <p:nvPr>
            <p:ph type="sldNum" sz="quarter" idx="12"/>
          </p:nvPr>
        </p:nvSpPr>
        <p:spPr/>
        <p:txBody>
          <a:bodyPr/>
          <a:lstStyle/>
          <a:p>
            <a:fld id="{1FC54B03-E980-44E0-A0F1-6CAD9D10ECFB}" type="slidenum">
              <a:rPr lang="fi-FI" smtClean="0"/>
              <a:pPr/>
              <a:t>193</a:t>
            </a:fld>
            <a:endParaRPr lang="fi-FI"/>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6715140" y="1500174"/>
            <a:ext cx="2071702" cy="471490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i-FI"/>
          </a:p>
        </p:txBody>
      </p:sp>
      <p:sp>
        <p:nvSpPr>
          <p:cNvPr id="4" name="Title 3"/>
          <p:cNvSpPr>
            <a:spLocks noGrp="1"/>
          </p:cNvSpPr>
          <p:nvPr>
            <p:ph type="title"/>
          </p:nvPr>
        </p:nvSpPr>
        <p:spPr/>
        <p:txBody>
          <a:bodyPr/>
          <a:lstStyle/>
          <a:p>
            <a:r>
              <a:rPr lang="fi-FI" dirty="0" smtClean="0"/>
              <a:t>Sisältö</a:t>
            </a:r>
            <a:endParaRPr lang="fi-FI" dirty="0"/>
          </a:p>
        </p:txBody>
      </p:sp>
      <p:graphicFrame>
        <p:nvGraphicFramePr>
          <p:cNvPr id="6" name="Content Placeholder 5"/>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Content Placeholder 4"/>
          <p:cNvSpPr>
            <a:spLocks noGrp="1"/>
          </p:cNvSpPr>
          <p:nvPr>
            <p:ph sz="half" idx="4294967295"/>
          </p:nvPr>
        </p:nvSpPr>
        <p:spPr>
          <a:xfrm>
            <a:off x="5105400" y="1600200"/>
            <a:ext cx="4038600" cy="4525963"/>
          </a:xfrm>
        </p:spPr>
        <p:txBody>
          <a:bodyPr>
            <a:normAutofit/>
          </a:bodyPr>
          <a:lstStyle/>
          <a:p>
            <a:endParaRPr lang="fi-FI" dirty="0" smtClean="0"/>
          </a:p>
          <a:p>
            <a:endParaRPr lang="fi-FI" dirty="0" smtClean="0"/>
          </a:p>
          <a:p>
            <a:pPr>
              <a:buNone/>
            </a:pPr>
            <a:endParaRPr lang="fi-FI" dirty="0"/>
          </a:p>
        </p:txBody>
      </p:sp>
      <p:sp>
        <p:nvSpPr>
          <p:cNvPr id="8" name="Up Arrow 7"/>
          <p:cNvSpPr/>
          <p:nvPr/>
        </p:nvSpPr>
        <p:spPr>
          <a:xfrm>
            <a:off x="7429520" y="6286520"/>
            <a:ext cx="785818" cy="28575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9" name="Up Arrow 8"/>
          <p:cNvSpPr/>
          <p:nvPr/>
        </p:nvSpPr>
        <p:spPr>
          <a:xfrm rot="10800000">
            <a:off x="7429520" y="1142984"/>
            <a:ext cx="785818" cy="28575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10" name="Slide Number Placeholder 9"/>
          <p:cNvSpPr>
            <a:spLocks noGrp="1"/>
          </p:cNvSpPr>
          <p:nvPr>
            <p:ph type="sldNum" sz="quarter" idx="12"/>
          </p:nvPr>
        </p:nvSpPr>
        <p:spPr/>
        <p:txBody>
          <a:bodyPr/>
          <a:lstStyle/>
          <a:p>
            <a:fld id="{7A750B4A-325E-4AA4-BC07-A8C35B32A4F3}" type="slidenum">
              <a:rPr lang="fi-FI" smtClean="0"/>
              <a:pPr/>
              <a:t>194</a:t>
            </a:fld>
            <a:endParaRPr lang="fi-FI"/>
          </a:p>
        </p:txBody>
      </p:sp>
    </p:spTree>
  </p:cSld>
  <p:clrMapOvr>
    <a:masterClrMapping/>
  </p:clrMapOvr>
  <p:timing>
    <p:tnLst>
      <p:par>
        <p:cTn xmlns:p14="http://schemas.microsoft.com/office/powerpoint/2010/mai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Testaus vaatimuksia ja odotuksia vastaan</a:t>
            </a:r>
            <a:endParaRPr lang="fi-FI" dirty="0"/>
          </a:p>
        </p:txBody>
      </p:sp>
      <p:sp>
        <p:nvSpPr>
          <p:cNvPr id="4" name="Content Placeholder 3"/>
          <p:cNvSpPr>
            <a:spLocks noGrp="1"/>
          </p:cNvSpPr>
          <p:nvPr>
            <p:ph sz="half" idx="1"/>
          </p:nvPr>
        </p:nvSpPr>
        <p:spPr/>
        <p:txBody>
          <a:bodyPr>
            <a:normAutofit fontScale="70000" lnSpcReduction="20000"/>
          </a:bodyPr>
          <a:lstStyle/>
          <a:p>
            <a:r>
              <a:rPr lang="fi-FI" dirty="0" smtClean="0"/>
              <a:t>Keinoja hyväksymistestien suunnitteluun ja testauksen suorittamiseen</a:t>
            </a:r>
          </a:p>
          <a:p>
            <a:r>
              <a:rPr lang="fi-FI" dirty="0" smtClean="0"/>
              <a:t>Konkreettisia tuloksia</a:t>
            </a:r>
          </a:p>
          <a:p>
            <a:pPr lvl="1"/>
            <a:r>
              <a:rPr lang="fi-FI" dirty="0" smtClean="0"/>
              <a:t>Hyväksymistestauksen testitapaukset</a:t>
            </a:r>
          </a:p>
          <a:p>
            <a:pPr lvl="1"/>
            <a:r>
              <a:rPr lang="fi-FI" dirty="0" smtClean="0"/>
              <a:t>Riittävä ohjaus ja tietämys testien suorittamiseen rajallisessa aikataulussa</a:t>
            </a:r>
          </a:p>
          <a:p>
            <a:endParaRPr lang="fi-FI" dirty="0"/>
          </a:p>
        </p:txBody>
      </p:sp>
      <p:sp>
        <p:nvSpPr>
          <p:cNvPr id="5" name="Content Placeholder 4"/>
          <p:cNvSpPr>
            <a:spLocks noGrp="1"/>
          </p:cNvSpPr>
          <p:nvPr>
            <p:ph sz="half" idx="2"/>
          </p:nvPr>
        </p:nvSpPr>
        <p:spPr/>
        <p:txBody>
          <a:bodyPr>
            <a:normAutofit fontScale="70000" lnSpcReduction="20000"/>
          </a:bodyPr>
          <a:lstStyle/>
          <a:p>
            <a:pPr lvl="0"/>
            <a:r>
              <a:rPr lang="fi-FI" dirty="0" smtClean="0">
                <a:solidFill>
                  <a:schemeClr val="accent1"/>
                </a:solidFill>
              </a:rPr>
              <a:t>Sovellusalueosaamisen ja liiketoimintaprosessin osaamisen käyttö hyväksymistestauksessa</a:t>
            </a:r>
          </a:p>
          <a:p>
            <a:pPr lvl="0"/>
            <a:r>
              <a:rPr lang="fi-FI" dirty="0" smtClean="0">
                <a:solidFill>
                  <a:schemeClr val="accent1"/>
                </a:solidFill>
              </a:rPr>
              <a:t>Vaatimusten järjestelmällinen läpikäynti</a:t>
            </a:r>
          </a:p>
          <a:p>
            <a:pPr lvl="0"/>
            <a:r>
              <a:rPr lang="fi-FI" dirty="0" smtClean="0">
                <a:solidFill>
                  <a:schemeClr val="accent1"/>
                </a:solidFill>
              </a:rPr>
              <a:t>Testitapausten merkitys hyväksymistestaukselle</a:t>
            </a:r>
          </a:p>
          <a:p>
            <a:pPr lvl="0"/>
            <a:r>
              <a:rPr lang="fi-FI" dirty="0" smtClean="0">
                <a:solidFill>
                  <a:schemeClr val="accent1"/>
                </a:solidFill>
              </a:rPr>
              <a:t>Hyväksymistestausta tukevat testitapaukset</a:t>
            </a:r>
          </a:p>
          <a:p>
            <a:pPr lvl="0"/>
            <a:r>
              <a:rPr lang="fi-FI" dirty="0" smtClean="0">
                <a:solidFill>
                  <a:schemeClr val="accent1"/>
                </a:solidFill>
              </a:rPr>
              <a:t>Testitapausten priorisointi hyväksymistestaukselle: mistä tiedetään mikä on tärkeää liiketoiminnalle</a:t>
            </a:r>
          </a:p>
          <a:p>
            <a:pPr lvl="0"/>
            <a:r>
              <a:rPr lang="fi-FI" dirty="0" smtClean="0">
                <a:solidFill>
                  <a:schemeClr val="accent1"/>
                </a:solidFill>
              </a:rPr>
              <a:t>Kelpuuttaminen käyttöön vs. todentaminen suhteessa vaatimuksiin</a:t>
            </a:r>
          </a:p>
        </p:txBody>
      </p:sp>
      <p:sp>
        <p:nvSpPr>
          <p:cNvPr id="6" name="Slide Number Placeholder 5"/>
          <p:cNvSpPr>
            <a:spLocks noGrp="1"/>
          </p:cNvSpPr>
          <p:nvPr>
            <p:ph type="sldNum" sz="quarter" idx="12"/>
          </p:nvPr>
        </p:nvSpPr>
        <p:spPr/>
        <p:txBody>
          <a:bodyPr/>
          <a:lstStyle/>
          <a:p>
            <a:fld id="{7A750B4A-325E-4AA4-BC07-A8C35B32A4F3}" type="slidenum">
              <a:rPr lang="fi-FI" smtClean="0"/>
              <a:pPr/>
              <a:t>195</a:t>
            </a:fld>
            <a:endParaRPr lang="fi-FI"/>
          </a:p>
        </p:txBody>
      </p:sp>
    </p:spTree>
  </p:cSld>
  <p:clrMapOvr>
    <a:masterClrMapping/>
  </p:clrMapOvr>
  <p:timing>
    <p:tnLst>
      <p:par>
        <p:cTn xmlns:p14="http://schemas.microsoft.com/office/powerpoint/2010/mai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cstate="print"/>
          <a:srcRect/>
          <a:stretch>
            <a:fillRect/>
          </a:stretch>
        </p:blipFill>
        <p:spPr bwMode="auto">
          <a:xfrm>
            <a:off x="81059" y="500042"/>
            <a:ext cx="8920097" cy="6000792"/>
          </a:xfrm>
          <a:prstGeom prst="rect">
            <a:avLst/>
          </a:prstGeom>
          <a:noFill/>
          <a:ln w="9525">
            <a:noFill/>
            <a:miter lim="800000"/>
            <a:headEnd/>
            <a:tailEnd/>
          </a:ln>
        </p:spPr>
      </p:pic>
      <p:sp>
        <p:nvSpPr>
          <p:cNvPr id="6" name="Oval 5"/>
          <p:cNvSpPr/>
          <p:nvPr/>
        </p:nvSpPr>
        <p:spPr>
          <a:xfrm>
            <a:off x="7715272" y="142852"/>
            <a:ext cx="1214446" cy="1143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2000" b="1" dirty="0" smtClean="0"/>
              <a:t>Free-Mind</a:t>
            </a:r>
            <a:endParaRPr lang="fi-FI" sz="2000" b="1" dirty="0"/>
          </a:p>
        </p:txBody>
      </p:sp>
      <p:sp>
        <p:nvSpPr>
          <p:cNvPr id="4" name="Oval 3"/>
          <p:cNvSpPr/>
          <p:nvPr/>
        </p:nvSpPr>
        <p:spPr>
          <a:xfrm>
            <a:off x="6715140" y="5572140"/>
            <a:ext cx="2071702" cy="785818"/>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i-FI" sz="2000" b="1" dirty="0" smtClean="0"/>
              <a:t>HARJOITUS</a:t>
            </a:r>
            <a:endParaRPr lang="fi-FI" sz="2000" b="1" dirty="0"/>
          </a:p>
        </p:txBody>
      </p:sp>
      <p:sp>
        <p:nvSpPr>
          <p:cNvPr id="5" name="Slide Number Placeholder 4"/>
          <p:cNvSpPr>
            <a:spLocks noGrp="1"/>
          </p:cNvSpPr>
          <p:nvPr>
            <p:ph type="sldNum" sz="quarter" idx="12"/>
          </p:nvPr>
        </p:nvSpPr>
        <p:spPr/>
        <p:txBody>
          <a:bodyPr/>
          <a:lstStyle/>
          <a:p>
            <a:fld id="{7A750B4A-325E-4AA4-BC07-A8C35B32A4F3}" type="slidenum">
              <a:rPr lang="fi-FI" smtClean="0"/>
              <a:pPr/>
              <a:t>196</a:t>
            </a:fld>
            <a:endParaRPr lang="fi-FI"/>
          </a:p>
        </p:txBody>
      </p:sp>
    </p:spTree>
  </p:cSld>
  <p:clrMapOvr>
    <a:masterClrMapping/>
  </p:clrMapOvr>
  <p:timing>
    <p:tnLst>
      <p:par>
        <p:cTn xmlns:p14="http://schemas.microsoft.com/office/powerpoint/2010/mai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fi-FI" dirty="0" smtClean="0"/>
              <a:t>Ydintaidot</a:t>
            </a:r>
            <a:endParaRPr lang="fi-FI" dirty="0"/>
          </a:p>
        </p:txBody>
      </p:sp>
      <p:sp>
        <p:nvSpPr>
          <p:cNvPr id="5" name="Content Placeholder 4"/>
          <p:cNvSpPr>
            <a:spLocks noGrp="1"/>
          </p:cNvSpPr>
          <p:nvPr>
            <p:ph idx="1"/>
          </p:nvPr>
        </p:nvSpPr>
        <p:spPr/>
        <p:txBody>
          <a:bodyPr/>
          <a:lstStyle/>
          <a:p>
            <a:r>
              <a:rPr lang="fi-FI" b="1" dirty="0" smtClean="0"/>
              <a:t>Löydä ongelmia </a:t>
            </a:r>
            <a:r>
              <a:rPr lang="fi-FI" dirty="0" smtClean="0"/>
              <a:t>– tunnista kun sellainen on nenäsi edessä</a:t>
            </a:r>
            <a:endParaRPr lang="fi-FI" b="1" dirty="0" smtClean="0"/>
          </a:p>
          <a:p>
            <a:r>
              <a:rPr lang="fi-FI" b="1" dirty="0" smtClean="0"/>
              <a:t>Raportoi ongelmia </a:t>
            </a:r>
            <a:r>
              <a:rPr lang="fi-FI" dirty="0" smtClean="0"/>
              <a:t>– saa muille tieto siitä mitä olet oppinut ongelmista testatessa </a:t>
            </a:r>
            <a:endParaRPr lang="fi-FI" b="1" dirty="0" smtClean="0"/>
          </a:p>
          <a:p>
            <a:r>
              <a:rPr lang="fi-FI" b="1" dirty="0" smtClean="0"/>
              <a:t>Luo dokumentaatiota </a:t>
            </a:r>
            <a:r>
              <a:rPr lang="fi-FI" dirty="0" smtClean="0"/>
              <a:t>– tuki tiimille nyt ja myöhemmin, päällekkäisyyksiä välttäen ja avainasiat tunnistaen </a:t>
            </a:r>
          </a:p>
        </p:txBody>
      </p:sp>
      <p:sp>
        <p:nvSpPr>
          <p:cNvPr id="6" name="Dian numeron paikkamerkki 5"/>
          <p:cNvSpPr>
            <a:spLocks noGrp="1"/>
          </p:cNvSpPr>
          <p:nvPr>
            <p:ph type="sldNum" sz="quarter" idx="12"/>
          </p:nvPr>
        </p:nvSpPr>
        <p:spPr/>
        <p:txBody>
          <a:bodyPr/>
          <a:lstStyle/>
          <a:p>
            <a:pPr>
              <a:defRPr/>
            </a:pPr>
            <a:fld id="{F831E2D7-21DB-4A07-8674-10F33214210B}" type="slidenum">
              <a:rPr lang="en-US" smtClean="0"/>
              <a:pPr>
                <a:defRPr/>
              </a:pPr>
              <a:t>197</a:t>
            </a:fld>
            <a:endParaRPr lang="en-US"/>
          </a:p>
        </p:txBody>
      </p:sp>
    </p:spTree>
  </p:cSld>
  <p:clrMapOvr>
    <a:masterClrMapping/>
  </p:clrMapOvr>
  <p:timing>
    <p:tnLst>
      <p:par>
        <p:cTn xmlns:p14="http://schemas.microsoft.com/office/powerpoint/2010/mai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isällön paikkamerkki 2"/>
          <p:cNvSpPr>
            <a:spLocks noGrp="1"/>
          </p:cNvSpPr>
          <p:nvPr>
            <p:ph idx="1"/>
          </p:nvPr>
        </p:nvSpPr>
        <p:spPr/>
        <p:txBody>
          <a:bodyPr>
            <a:normAutofit/>
          </a:bodyPr>
          <a:lstStyle/>
          <a:p>
            <a:pPr algn="ctr">
              <a:buNone/>
            </a:pPr>
            <a:r>
              <a:rPr lang="en-US" sz="6000" dirty="0" smtClean="0"/>
              <a:t>"If it’s your decision to make, it’s design. If it’s not, it’s a requirement.“ </a:t>
            </a:r>
          </a:p>
          <a:p>
            <a:pPr algn="ctr">
              <a:buNone/>
            </a:pPr>
            <a:r>
              <a:rPr lang="en-US" sz="5400" dirty="0" smtClean="0">
                <a:solidFill>
                  <a:schemeClr val="accent1"/>
                </a:solidFill>
              </a:rPr>
              <a:t>– Alistair Cockburn</a:t>
            </a:r>
            <a:endParaRPr lang="en-US" sz="5400" dirty="0">
              <a:solidFill>
                <a:schemeClr val="accent1"/>
              </a:solidFill>
            </a:endParaRPr>
          </a:p>
        </p:txBody>
      </p:sp>
      <p:sp>
        <p:nvSpPr>
          <p:cNvPr id="4" name="Dian numeron paikkamerkki 3"/>
          <p:cNvSpPr>
            <a:spLocks noGrp="1"/>
          </p:cNvSpPr>
          <p:nvPr>
            <p:ph type="sldNum" sz="quarter" idx="12"/>
          </p:nvPr>
        </p:nvSpPr>
        <p:spPr/>
        <p:txBody>
          <a:bodyPr/>
          <a:lstStyle/>
          <a:p>
            <a:fld id="{026D7E99-7AAC-4314-B8CA-6DF60EA686A5}" type="slidenum">
              <a:rPr lang="en-US" smtClean="0"/>
              <a:pPr/>
              <a:t>198</a:t>
            </a:fld>
            <a:endParaRPr lang="en-US"/>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fi-FI" dirty="0" smtClean="0"/>
              <a:t>Pitäisi suunnitella </a:t>
            </a:r>
            <a:r>
              <a:rPr lang="fi-FI" b="1" i="1" dirty="0" smtClean="0"/>
              <a:t>testitapauksia</a:t>
            </a:r>
            <a:r>
              <a:rPr lang="fi-FI" i="1" dirty="0" smtClean="0"/>
              <a:t> </a:t>
            </a:r>
            <a:r>
              <a:rPr lang="fi-FI" dirty="0" smtClean="0"/>
              <a:t>– siis mitä ja miksi? </a:t>
            </a:r>
            <a:endParaRPr lang="fi-FI" dirty="0"/>
          </a:p>
        </p:txBody>
      </p:sp>
      <p:sp>
        <p:nvSpPr>
          <p:cNvPr id="5" name="Content Placeholder 4"/>
          <p:cNvSpPr>
            <a:spLocks noGrp="1"/>
          </p:cNvSpPr>
          <p:nvPr>
            <p:ph idx="1"/>
          </p:nvPr>
        </p:nvSpPr>
        <p:spPr/>
        <p:txBody>
          <a:bodyPr/>
          <a:lstStyle/>
          <a:p>
            <a:r>
              <a:rPr lang="fi-FI" dirty="0" smtClean="0"/>
              <a:t>Testitapaukset ovat testauksen muistilista</a:t>
            </a:r>
          </a:p>
          <a:p>
            <a:pPr lvl="1"/>
            <a:r>
              <a:rPr lang="fi-FI" dirty="0" smtClean="0"/>
              <a:t>Muistettava paljon testauksellisia tavoitteita sekä yksityiskohtia</a:t>
            </a:r>
          </a:p>
          <a:p>
            <a:pPr lvl="1"/>
            <a:r>
              <a:rPr lang="fi-FI" dirty="0" smtClean="0"/>
              <a:t>Työtä jaettava useiden tekijöiden kesken </a:t>
            </a:r>
          </a:p>
          <a:p>
            <a:pPr lvl="1"/>
            <a:r>
              <a:rPr lang="fi-FI" dirty="0" smtClean="0"/>
              <a:t>Testaustyöhön liittyy oleellisesti toistotarve</a:t>
            </a:r>
          </a:p>
          <a:p>
            <a:r>
              <a:rPr lang="fi-FI" dirty="0" smtClean="0"/>
              <a:t>Etukäteissuunnittelun merkitys</a:t>
            </a:r>
          </a:p>
          <a:p>
            <a:pPr lvl="1"/>
            <a:r>
              <a:rPr lang="fi-FI" dirty="0" smtClean="0"/>
              <a:t>Kiireessä kun jo odotetaan tuloksia (löytyneitä ongelmia) on helppoa tulkita valmius tarpeettoman kevyesti</a:t>
            </a:r>
          </a:p>
        </p:txBody>
      </p:sp>
      <p:sp>
        <p:nvSpPr>
          <p:cNvPr id="6" name="Slide Number Placeholder 5"/>
          <p:cNvSpPr>
            <a:spLocks noGrp="1"/>
          </p:cNvSpPr>
          <p:nvPr>
            <p:ph type="sldNum" sz="quarter" idx="12"/>
          </p:nvPr>
        </p:nvSpPr>
        <p:spPr/>
        <p:txBody>
          <a:bodyPr/>
          <a:lstStyle/>
          <a:p>
            <a:fld id="{14372D0E-141A-410E-BF05-6D084166F67B}" type="slidenum">
              <a:rPr lang="fi-FI" smtClean="0"/>
              <a:pPr/>
              <a:t>199</a:t>
            </a:fld>
            <a:endParaRPr lang="fi-FI"/>
          </a:p>
        </p:txBody>
      </p:sp>
    </p:spTree>
  </p:cSld>
  <p:clrMapOvr>
    <a:masterClrMapping/>
  </p:clrMapOvr>
  <p:timing>
    <p:tnLst>
      <p:par>
        <p:cTn xmlns:p14="http://schemas.microsoft.com/office/powerpoint/2010/main" id="1" dur="indefinite" restart="never" nodeType="tmRoot"/>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normAutofit fontScale="90000"/>
          </a:bodyPr>
          <a:lstStyle/>
          <a:p>
            <a:pPr defTabSz="762000"/>
            <a:r>
              <a:rPr lang="en-GB"/>
              <a:t>Vaatimukset testauksen näkökulmasta</a:t>
            </a:r>
          </a:p>
        </p:txBody>
      </p:sp>
      <p:sp>
        <p:nvSpPr>
          <p:cNvPr id="78851" name="Rectangle 3"/>
          <p:cNvSpPr>
            <a:spLocks noGrp="1" noChangeArrowheads="1"/>
          </p:cNvSpPr>
          <p:nvPr>
            <p:ph idx="1"/>
          </p:nvPr>
        </p:nvSpPr>
        <p:spPr/>
        <p:txBody>
          <a:bodyPr>
            <a:noAutofit/>
          </a:bodyPr>
          <a:lstStyle/>
          <a:p>
            <a:pPr marL="0" indent="0" defTabSz="762000">
              <a:lnSpc>
                <a:spcPct val="110000"/>
              </a:lnSpc>
            </a:pPr>
            <a:r>
              <a:rPr lang="en-GB" sz="2400" dirty="0" err="1"/>
              <a:t>Riippuen</a:t>
            </a:r>
            <a:r>
              <a:rPr lang="en-GB" sz="2400" dirty="0"/>
              <a:t> </a:t>
            </a:r>
            <a:r>
              <a:rPr lang="en-GB" sz="2400" dirty="0" err="1"/>
              <a:t>organisaatiokulttuurista</a:t>
            </a:r>
            <a:endParaRPr lang="en-GB" sz="2400" dirty="0"/>
          </a:p>
          <a:p>
            <a:pPr marL="377825" lvl="1" indent="-187325" defTabSz="762000">
              <a:lnSpc>
                <a:spcPct val="90000"/>
              </a:lnSpc>
            </a:pPr>
            <a:r>
              <a:rPr lang="en-GB" sz="2000" dirty="0" err="1"/>
              <a:t>Vaatimukset</a:t>
            </a:r>
            <a:r>
              <a:rPr lang="en-GB" sz="2000" dirty="0"/>
              <a:t> </a:t>
            </a:r>
            <a:r>
              <a:rPr lang="en-GB" sz="2000" dirty="0" err="1"/>
              <a:t>oletettavasti</a:t>
            </a:r>
            <a:r>
              <a:rPr lang="en-GB" sz="2000" dirty="0"/>
              <a:t> </a:t>
            </a:r>
            <a:r>
              <a:rPr lang="en-GB" sz="2000" dirty="0" err="1"/>
              <a:t>löytyvät</a:t>
            </a:r>
            <a:r>
              <a:rPr lang="en-GB" sz="2000" dirty="0"/>
              <a:t> </a:t>
            </a:r>
            <a:r>
              <a:rPr lang="en-GB" sz="2000" dirty="0" err="1"/>
              <a:t>kirjattuna</a:t>
            </a:r>
            <a:r>
              <a:rPr lang="en-GB" sz="2000" dirty="0"/>
              <a:t> </a:t>
            </a:r>
            <a:r>
              <a:rPr lang="en-GB" sz="2000" dirty="0" err="1"/>
              <a:t>sovituista</a:t>
            </a:r>
            <a:r>
              <a:rPr lang="en-GB" sz="2000" dirty="0"/>
              <a:t> </a:t>
            </a:r>
            <a:r>
              <a:rPr lang="en-GB" sz="2000" dirty="0" err="1"/>
              <a:t>dokumenteista</a:t>
            </a:r>
            <a:r>
              <a:rPr lang="en-GB" sz="2000" dirty="0"/>
              <a:t>, </a:t>
            </a:r>
            <a:r>
              <a:rPr lang="en-GB" sz="2000" dirty="0" err="1"/>
              <a:t>sisältäen</a:t>
            </a:r>
            <a:r>
              <a:rPr lang="en-GB" sz="2000" dirty="0"/>
              <a:t> </a:t>
            </a:r>
            <a:r>
              <a:rPr lang="en-GB" sz="2000" dirty="0" err="1"/>
              <a:t>kokousmuistiot</a:t>
            </a:r>
            <a:r>
              <a:rPr lang="en-GB" sz="2000" dirty="0"/>
              <a:t> </a:t>
            </a:r>
            <a:r>
              <a:rPr lang="en-GB" sz="2000" dirty="0" err="1"/>
              <a:t>muutoksista</a:t>
            </a:r>
            <a:endParaRPr lang="en-GB" sz="2000" dirty="0"/>
          </a:p>
          <a:p>
            <a:pPr marL="377825" lvl="1" indent="-187325" algn="ctr" defTabSz="762000">
              <a:lnSpc>
                <a:spcPct val="90000"/>
              </a:lnSpc>
              <a:buFontTx/>
              <a:buNone/>
            </a:pPr>
            <a:r>
              <a:rPr lang="en-GB" sz="2000" dirty="0"/>
              <a:t>TAI</a:t>
            </a:r>
          </a:p>
          <a:p>
            <a:pPr marL="377825" lvl="1" indent="-187325" defTabSz="762000">
              <a:lnSpc>
                <a:spcPct val="90000"/>
              </a:lnSpc>
            </a:pPr>
            <a:r>
              <a:rPr lang="en-GB" sz="2000" dirty="0" err="1"/>
              <a:t>Vaatimukset</a:t>
            </a:r>
            <a:r>
              <a:rPr lang="en-GB" sz="2000" dirty="0"/>
              <a:t> </a:t>
            </a:r>
            <a:r>
              <a:rPr lang="en-GB" sz="2000" dirty="0" err="1"/>
              <a:t>ovat</a:t>
            </a:r>
            <a:r>
              <a:rPr lang="en-GB" sz="2000" dirty="0"/>
              <a:t> </a:t>
            </a:r>
            <a:r>
              <a:rPr lang="en-GB" sz="2000" dirty="0" err="1"/>
              <a:t>mikä</a:t>
            </a:r>
            <a:r>
              <a:rPr lang="en-GB" sz="2000" dirty="0"/>
              <a:t> </a:t>
            </a:r>
            <a:r>
              <a:rPr lang="en-GB" sz="2000" dirty="0" err="1"/>
              <a:t>tahansa</a:t>
            </a:r>
            <a:r>
              <a:rPr lang="en-GB" sz="2000" dirty="0"/>
              <a:t> </a:t>
            </a:r>
            <a:r>
              <a:rPr lang="en-GB" sz="2000" dirty="0" err="1"/>
              <a:t>sellainen</a:t>
            </a:r>
            <a:r>
              <a:rPr lang="en-GB" sz="2000" dirty="0"/>
              <a:t> </a:t>
            </a:r>
            <a:r>
              <a:rPr lang="en-GB" sz="2000" dirty="0" err="1"/>
              <a:t>toive</a:t>
            </a:r>
            <a:r>
              <a:rPr lang="en-GB" sz="2000" dirty="0"/>
              <a:t> tai </a:t>
            </a:r>
            <a:r>
              <a:rPr lang="en-GB" sz="2000" dirty="0" err="1"/>
              <a:t>odotus</a:t>
            </a:r>
            <a:r>
              <a:rPr lang="en-GB" sz="2000" dirty="0"/>
              <a:t>, </a:t>
            </a:r>
            <a:r>
              <a:rPr lang="en-GB" sz="2000" dirty="0" err="1"/>
              <a:t>joka</a:t>
            </a:r>
            <a:r>
              <a:rPr lang="en-GB" sz="2000" dirty="0"/>
              <a:t> </a:t>
            </a:r>
            <a:r>
              <a:rPr lang="en-GB" sz="2000" dirty="0" err="1"/>
              <a:t>merkitsee</a:t>
            </a:r>
            <a:r>
              <a:rPr lang="en-GB" sz="2000" dirty="0"/>
              <a:t> </a:t>
            </a:r>
            <a:r>
              <a:rPr lang="en-GB" sz="2000" dirty="0" err="1"/>
              <a:t>jollekin</a:t>
            </a:r>
            <a:r>
              <a:rPr lang="en-GB" sz="2000" dirty="0"/>
              <a:t> </a:t>
            </a:r>
            <a:r>
              <a:rPr lang="en-GB" sz="2000" dirty="0" err="1"/>
              <a:t>merkittävälle</a:t>
            </a:r>
            <a:r>
              <a:rPr lang="en-GB" sz="2000" dirty="0"/>
              <a:t> </a:t>
            </a:r>
            <a:r>
              <a:rPr lang="en-GB" sz="2000" dirty="0" err="1"/>
              <a:t>sidosryhmälle</a:t>
            </a:r>
            <a:endParaRPr lang="en-GB" sz="2000" dirty="0"/>
          </a:p>
          <a:p>
            <a:pPr marL="0" indent="0" defTabSz="762000">
              <a:lnSpc>
                <a:spcPct val="110000"/>
              </a:lnSpc>
            </a:pPr>
            <a:r>
              <a:rPr lang="en-GB" sz="2400" dirty="0" err="1"/>
              <a:t>Todellisuudessa</a:t>
            </a:r>
            <a:r>
              <a:rPr lang="en-GB" sz="2400" dirty="0"/>
              <a:t> </a:t>
            </a:r>
            <a:r>
              <a:rPr lang="en-GB" sz="2400" dirty="0" err="1"/>
              <a:t>harvoin</a:t>
            </a:r>
            <a:r>
              <a:rPr lang="en-GB" sz="2400" dirty="0"/>
              <a:t> </a:t>
            </a:r>
            <a:r>
              <a:rPr lang="en-GB" sz="2400" dirty="0" err="1"/>
              <a:t>testaus</a:t>
            </a:r>
            <a:r>
              <a:rPr lang="en-GB" sz="2400" dirty="0"/>
              <a:t> </a:t>
            </a:r>
            <a:r>
              <a:rPr lang="en-GB" sz="2400" dirty="0" err="1"/>
              <a:t>rajataan</a:t>
            </a:r>
            <a:r>
              <a:rPr lang="en-GB" sz="2400" dirty="0"/>
              <a:t> vain </a:t>
            </a:r>
            <a:r>
              <a:rPr lang="en-GB" sz="2400" dirty="0" err="1"/>
              <a:t>selkeiden</a:t>
            </a:r>
            <a:r>
              <a:rPr lang="en-GB" sz="2400" dirty="0"/>
              <a:t> </a:t>
            </a:r>
            <a:r>
              <a:rPr lang="en-GB" sz="2400" dirty="0" err="1"/>
              <a:t>kirjallisten</a:t>
            </a:r>
            <a:r>
              <a:rPr lang="en-GB" sz="2400" dirty="0"/>
              <a:t> </a:t>
            </a:r>
            <a:r>
              <a:rPr lang="en-GB" sz="2400" dirty="0" err="1"/>
              <a:t>vaatimusten</a:t>
            </a:r>
            <a:r>
              <a:rPr lang="en-GB" sz="2400" dirty="0"/>
              <a:t> </a:t>
            </a:r>
            <a:r>
              <a:rPr lang="en-GB" sz="2400" dirty="0" err="1"/>
              <a:t>perusteella</a:t>
            </a:r>
            <a:r>
              <a:rPr lang="en-GB" sz="2400" dirty="0"/>
              <a:t> – </a:t>
            </a:r>
            <a:r>
              <a:rPr lang="en-GB" sz="2400" dirty="0" err="1"/>
              <a:t>testisuunnittelu</a:t>
            </a:r>
            <a:r>
              <a:rPr lang="en-GB" sz="2400" dirty="0"/>
              <a:t> </a:t>
            </a:r>
            <a:r>
              <a:rPr lang="en-GB" sz="2400" dirty="0" err="1"/>
              <a:t>laajentaa</a:t>
            </a:r>
            <a:r>
              <a:rPr lang="en-GB" sz="2400" dirty="0"/>
              <a:t> </a:t>
            </a:r>
            <a:r>
              <a:rPr lang="en-GB" sz="2400" dirty="0" err="1"/>
              <a:t>käsityksiin</a:t>
            </a:r>
            <a:r>
              <a:rPr lang="en-GB" sz="2400" dirty="0"/>
              <a:t> </a:t>
            </a:r>
            <a:r>
              <a:rPr lang="en-GB" sz="2400" dirty="0" err="1"/>
              <a:t>ja</a:t>
            </a:r>
            <a:r>
              <a:rPr lang="en-GB" sz="2400" dirty="0"/>
              <a:t> </a:t>
            </a:r>
            <a:r>
              <a:rPr lang="en-GB" sz="2400" dirty="0" err="1"/>
              <a:t>rivien</a:t>
            </a:r>
            <a:r>
              <a:rPr lang="en-GB" sz="2400" dirty="0"/>
              <a:t> </a:t>
            </a:r>
            <a:r>
              <a:rPr lang="en-GB" sz="2400" dirty="0" err="1"/>
              <a:t>välistä</a:t>
            </a:r>
            <a:r>
              <a:rPr lang="en-GB" sz="2400" dirty="0"/>
              <a:t> </a:t>
            </a:r>
            <a:r>
              <a:rPr lang="en-GB" sz="2400" dirty="0" err="1"/>
              <a:t>luettaviin</a:t>
            </a:r>
            <a:r>
              <a:rPr lang="en-GB" sz="2400" dirty="0"/>
              <a:t> </a:t>
            </a:r>
            <a:r>
              <a:rPr lang="en-GB" sz="2400" dirty="0" err="1"/>
              <a:t>asioihin</a:t>
            </a:r>
            <a:endParaRPr lang="en-GB" sz="2400" dirty="0"/>
          </a:p>
          <a:p>
            <a:pPr marL="0" indent="0" defTabSz="762000">
              <a:lnSpc>
                <a:spcPct val="110000"/>
              </a:lnSpc>
            </a:pPr>
            <a:r>
              <a:rPr lang="en-GB" sz="2400" dirty="0" err="1"/>
              <a:t>Eri</a:t>
            </a:r>
            <a:r>
              <a:rPr lang="en-GB" sz="2400" dirty="0"/>
              <a:t> </a:t>
            </a:r>
            <a:r>
              <a:rPr lang="en-GB" sz="2400" dirty="0" err="1"/>
              <a:t>sidosryhmät</a:t>
            </a:r>
            <a:r>
              <a:rPr lang="en-GB" sz="2400" dirty="0"/>
              <a:t> </a:t>
            </a:r>
            <a:r>
              <a:rPr lang="en-GB" sz="2400" dirty="0" err="1"/>
              <a:t>odottavat</a:t>
            </a:r>
            <a:r>
              <a:rPr lang="en-GB" sz="2400" dirty="0"/>
              <a:t> </a:t>
            </a:r>
            <a:r>
              <a:rPr lang="en-GB" sz="2400" dirty="0" err="1"/>
              <a:t>eri</a:t>
            </a:r>
            <a:r>
              <a:rPr lang="en-GB" sz="2400" dirty="0"/>
              <a:t> </a:t>
            </a:r>
            <a:r>
              <a:rPr lang="en-GB" sz="2400" dirty="0" err="1"/>
              <a:t>asioita</a:t>
            </a:r>
            <a:r>
              <a:rPr lang="en-GB" sz="2400" dirty="0"/>
              <a:t>, </a:t>
            </a:r>
            <a:r>
              <a:rPr lang="en-GB" sz="2400" dirty="0" err="1"/>
              <a:t>pitävät</a:t>
            </a:r>
            <a:r>
              <a:rPr lang="en-GB" sz="2400" dirty="0"/>
              <a:t> </a:t>
            </a:r>
            <a:r>
              <a:rPr lang="en-GB" sz="2400" dirty="0" err="1"/>
              <a:t>eri</a:t>
            </a:r>
            <a:r>
              <a:rPr lang="en-GB" sz="2400" dirty="0"/>
              <a:t> </a:t>
            </a:r>
            <a:r>
              <a:rPr lang="en-GB" sz="2400" dirty="0" err="1"/>
              <a:t>asioita</a:t>
            </a:r>
            <a:r>
              <a:rPr lang="en-GB" sz="2400" dirty="0"/>
              <a:t> </a:t>
            </a:r>
            <a:r>
              <a:rPr lang="en-GB" sz="2400" dirty="0" err="1"/>
              <a:t>tärkeinä</a:t>
            </a:r>
            <a:r>
              <a:rPr lang="en-GB" sz="2400" dirty="0"/>
              <a:t>. </a:t>
            </a:r>
          </a:p>
          <a:p>
            <a:pPr marL="377825" lvl="1" indent="-187325" defTabSz="762000">
              <a:lnSpc>
                <a:spcPct val="90000"/>
              </a:lnSpc>
            </a:pPr>
            <a:r>
              <a:rPr lang="en-GB" sz="2000" dirty="0" err="1"/>
              <a:t>Eivät</a:t>
            </a:r>
            <a:r>
              <a:rPr lang="en-GB" sz="2000" dirty="0"/>
              <a:t> </a:t>
            </a:r>
            <a:r>
              <a:rPr lang="en-GB" sz="2000" dirty="0" err="1"/>
              <a:t>tiedä</a:t>
            </a:r>
            <a:r>
              <a:rPr lang="en-GB" sz="2000" dirty="0"/>
              <a:t> </a:t>
            </a:r>
            <a:r>
              <a:rPr lang="en-GB" sz="2000" dirty="0" err="1"/>
              <a:t>mitä</a:t>
            </a:r>
            <a:r>
              <a:rPr lang="en-GB" sz="2000" dirty="0"/>
              <a:t> </a:t>
            </a:r>
            <a:r>
              <a:rPr lang="en-GB" sz="2000" dirty="0" err="1"/>
              <a:t>haluavat</a:t>
            </a:r>
            <a:r>
              <a:rPr lang="en-GB" sz="2000" dirty="0"/>
              <a:t>, </a:t>
            </a:r>
            <a:r>
              <a:rPr lang="en-GB" sz="2000" dirty="0" err="1"/>
              <a:t>ainakaan</a:t>
            </a:r>
            <a:r>
              <a:rPr lang="en-GB" sz="2000" dirty="0"/>
              <a:t> </a:t>
            </a:r>
            <a:r>
              <a:rPr lang="en-GB" sz="2000" dirty="0" err="1"/>
              <a:t>yksityiskohtaisella</a:t>
            </a:r>
            <a:r>
              <a:rPr lang="en-GB" sz="2000" dirty="0"/>
              <a:t> </a:t>
            </a:r>
            <a:r>
              <a:rPr lang="en-GB" sz="2000" dirty="0" err="1"/>
              <a:t>tasolla</a:t>
            </a:r>
            <a:r>
              <a:rPr lang="en-GB" sz="2000" dirty="0"/>
              <a:t>. </a:t>
            </a:r>
          </a:p>
          <a:p>
            <a:pPr marL="377825" lvl="1" indent="-187325" defTabSz="762000">
              <a:lnSpc>
                <a:spcPct val="90000"/>
              </a:lnSpc>
            </a:pPr>
            <a:r>
              <a:rPr lang="en-GB" sz="2000" dirty="0" err="1"/>
              <a:t>Halu</a:t>
            </a:r>
            <a:r>
              <a:rPr lang="en-GB" sz="2000" dirty="0"/>
              <a:t> </a:t>
            </a:r>
            <a:r>
              <a:rPr lang="en-GB" sz="2000" dirty="0" err="1"/>
              <a:t>ja</a:t>
            </a:r>
            <a:r>
              <a:rPr lang="en-GB" sz="2000" dirty="0"/>
              <a:t> </a:t>
            </a:r>
            <a:r>
              <a:rPr lang="en-GB" sz="2000" dirty="0" err="1"/>
              <a:t>tärkeys</a:t>
            </a:r>
            <a:r>
              <a:rPr lang="en-GB" sz="2000" dirty="0"/>
              <a:t> </a:t>
            </a:r>
            <a:r>
              <a:rPr lang="en-GB" sz="2000" dirty="0" err="1"/>
              <a:t>muuttuu</a:t>
            </a:r>
            <a:r>
              <a:rPr lang="en-GB" sz="2000" dirty="0"/>
              <a:t> </a:t>
            </a:r>
            <a:r>
              <a:rPr lang="en-GB" sz="2000" dirty="0" err="1"/>
              <a:t>ajan</a:t>
            </a:r>
            <a:r>
              <a:rPr lang="en-GB" sz="2000" dirty="0"/>
              <a:t> </a:t>
            </a:r>
            <a:r>
              <a:rPr lang="en-GB" sz="2000" dirty="0" err="1"/>
              <a:t>myötä</a:t>
            </a:r>
            <a:r>
              <a:rPr lang="en-GB" sz="2000" dirty="0"/>
              <a:t> </a:t>
            </a:r>
            <a:r>
              <a:rPr lang="en-GB" sz="2000" dirty="0" err="1"/>
              <a:t>opittaessa</a:t>
            </a:r>
            <a:r>
              <a:rPr lang="en-GB" sz="2000" dirty="0"/>
              <a:t> </a:t>
            </a:r>
            <a:r>
              <a:rPr lang="en-GB" sz="2000" dirty="0" err="1"/>
              <a:t>lisää</a:t>
            </a:r>
            <a:r>
              <a:rPr lang="en-GB" sz="2000" dirty="0"/>
              <a:t> </a:t>
            </a:r>
            <a:r>
              <a:rPr lang="en-GB" sz="2000" dirty="0" err="1"/>
              <a:t>ympäristötekijöistä</a:t>
            </a:r>
            <a:r>
              <a:rPr lang="en-GB" sz="2000" dirty="0"/>
              <a:t> </a:t>
            </a:r>
            <a:r>
              <a:rPr lang="en-GB" sz="2000" dirty="0" err="1"/>
              <a:t>ja</a:t>
            </a:r>
            <a:r>
              <a:rPr lang="en-GB" sz="2000" dirty="0"/>
              <a:t> </a:t>
            </a:r>
            <a:r>
              <a:rPr lang="en-GB" sz="2000" dirty="0" err="1"/>
              <a:t>tarpeista</a:t>
            </a:r>
            <a:r>
              <a:rPr lang="en-GB" sz="2000" dirty="0"/>
              <a:t>. </a:t>
            </a:r>
          </a:p>
        </p:txBody>
      </p:sp>
      <p:sp>
        <p:nvSpPr>
          <p:cNvPr id="6" name="Slide Number Placeholder 5"/>
          <p:cNvSpPr>
            <a:spLocks noGrp="1"/>
          </p:cNvSpPr>
          <p:nvPr>
            <p:ph type="sldNum" sz="quarter" idx="12"/>
          </p:nvPr>
        </p:nvSpPr>
        <p:spPr/>
        <p:txBody>
          <a:bodyPr/>
          <a:lstStyle/>
          <a:p>
            <a:fld id="{401C3587-45F2-4197-8EBB-BEA3D2F7847A}" type="slidenum">
              <a:rPr lang="en-US"/>
              <a:pPr/>
              <a:t>200</a:t>
            </a:fld>
            <a:endParaRPr lang="en-US"/>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401C3587-45F2-4197-8EBB-BEA3D2F7847A}" type="slidenum">
              <a:rPr lang="en-US"/>
              <a:pPr/>
              <a:t>201</a:t>
            </a:fld>
            <a:endParaRPr lang="en-US"/>
          </a:p>
        </p:txBody>
      </p:sp>
      <p:sp>
        <p:nvSpPr>
          <p:cNvPr id="78850" name="Rectangle 2"/>
          <p:cNvSpPr>
            <a:spLocks noGrp="1" noChangeArrowheads="1"/>
          </p:cNvSpPr>
          <p:nvPr>
            <p:ph type="title"/>
          </p:nvPr>
        </p:nvSpPr>
        <p:spPr/>
        <p:txBody>
          <a:bodyPr>
            <a:normAutofit fontScale="90000"/>
          </a:bodyPr>
          <a:lstStyle/>
          <a:p>
            <a:pPr defTabSz="762000"/>
            <a:r>
              <a:rPr lang="en-GB"/>
              <a:t>Vaatimukset testauksen näkökulmasta</a:t>
            </a:r>
          </a:p>
        </p:txBody>
      </p:sp>
      <p:sp>
        <p:nvSpPr>
          <p:cNvPr id="78852" name="Rectangle 4"/>
          <p:cNvSpPr>
            <a:spLocks noChangeArrowheads="1"/>
          </p:cNvSpPr>
          <p:nvPr/>
        </p:nvSpPr>
        <p:spPr bwMode="auto">
          <a:xfrm>
            <a:off x="899592" y="1484784"/>
            <a:ext cx="7371928" cy="4483968"/>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lIns="90000" tIns="46800" rIns="90000" bIns="46800" anchor="ctr"/>
          <a:lstStyle/>
          <a:p>
            <a:pPr algn="ctr">
              <a:lnSpc>
                <a:spcPct val="120000"/>
              </a:lnSpc>
              <a:spcBef>
                <a:spcPct val="20000"/>
              </a:spcBef>
              <a:spcAft>
                <a:spcPct val="20000"/>
              </a:spcAft>
              <a:buFont typeface="Times" pitchFamily="18" charset="0"/>
              <a:buNone/>
            </a:pPr>
            <a:endParaRPr lang="fi-FI" sz="2800" dirty="0" smtClean="0">
              <a:solidFill>
                <a:schemeClr val="tx1"/>
              </a:solidFill>
              <a:effectLst>
                <a:outerShdw blurRad="38100" dist="38100" dir="2700000" algn="tl">
                  <a:srgbClr val="000000">
                    <a:alpha val="43137"/>
                  </a:srgbClr>
                </a:outerShdw>
              </a:effectLst>
              <a:cs typeface="Arial" pitchFamily="34" charset="0"/>
            </a:endParaRPr>
          </a:p>
          <a:p>
            <a:pPr algn="ctr">
              <a:lnSpc>
                <a:spcPct val="120000"/>
              </a:lnSpc>
              <a:spcBef>
                <a:spcPct val="20000"/>
              </a:spcBef>
              <a:spcAft>
                <a:spcPct val="20000"/>
              </a:spcAft>
              <a:buFont typeface="Times" pitchFamily="18" charset="0"/>
              <a:buNone/>
            </a:pPr>
            <a:r>
              <a:rPr lang="fi-FI" sz="2800" dirty="0" smtClean="0">
                <a:solidFill>
                  <a:schemeClr val="tx1"/>
                </a:solidFill>
                <a:effectLst>
                  <a:outerShdw blurRad="38100" dist="38100" dir="2700000" algn="tl">
                    <a:srgbClr val="000000">
                      <a:alpha val="43137"/>
                    </a:srgbClr>
                  </a:outerShdw>
                </a:effectLst>
                <a:cs typeface="Arial" pitchFamily="34" charset="0"/>
              </a:rPr>
              <a:t>”</a:t>
            </a:r>
            <a:r>
              <a:rPr lang="fi-FI" sz="2800" dirty="0">
                <a:solidFill>
                  <a:schemeClr val="tx1"/>
                </a:solidFill>
                <a:effectLst>
                  <a:outerShdw blurRad="38100" dist="38100" dir="2700000" algn="tl">
                    <a:srgbClr val="000000">
                      <a:alpha val="43137"/>
                    </a:srgbClr>
                  </a:outerShdw>
                </a:effectLst>
                <a:cs typeface="Arial" pitchFamily="34" charset="0"/>
              </a:rPr>
              <a:t>Jos odotat saavasi vaatimukset paperinippuna joka on leimattu  yleispätevän totuuden leimalla, etsi toinen työ” </a:t>
            </a:r>
            <a:r>
              <a:rPr lang="fi-FI" sz="2800" dirty="0" smtClean="0">
                <a:solidFill>
                  <a:schemeClr val="tx1"/>
                </a:solidFill>
                <a:effectLst>
                  <a:outerShdw blurRad="38100" dist="38100" dir="2700000" algn="tl">
                    <a:srgbClr val="000000">
                      <a:alpha val="43137"/>
                    </a:srgbClr>
                  </a:outerShdw>
                </a:effectLst>
                <a:cs typeface="Arial" pitchFamily="34" charset="0"/>
              </a:rPr>
              <a:t>  – </a:t>
            </a:r>
            <a:r>
              <a:rPr lang="fi-FI" sz="2800" dirty="0" err="1">
                <a:solidFill>
                  <a:schemeClr val="tx1"/>
                </a:solidFill>
                <a:effectLst>
                  <a:outerShdw blurRad="38100" dist="38100" dir="2700000" algn="tl">
                    <a:srgbClr val="000000">
                      <a:alpha val="43137"/>
                    </a:srgbClr>
                  </a:outerShdw>
                </a:effectLst>
                <a:cs typeface="Arial" pitchFamily="34" charset="0"/>
              </a:rPr>
              <a:t>Kaner</a:t>
            </a:r>
            <a:r>
              <a:rPr lang="fi-FI" sz="2800" dirty="0">
                <a:solidFill>
                  <a:schemeClr val="tx1"/>
                </a:solidFill>
                <a:effectLst>
                  <a:outerShdw blurRad="38100" dist="38100" dir="2700000" algn="tl">
                    <a:srgbClr val="000000">
                      <a:alpha val="43137"/>
                    </a:srgbClr>
                  </a:outerShdw>
                </a:effectLst>
                <a:cs typeface="Arial" pitchFamily="34" charset="0"/>
              </a:rPr>
              <a:t> et </a:t>
            </a:r>
            <a:r>
              <a:rPr lang="fi-FI" sz="2800" dirty="0" err="1" smtClean="0">
                <a:solidFill>
                  <a:schemeClr val="tx1"/>
                </a:solidFill>
                <a:effectLst>
                  <a:outerShdw blurRad="38100" dist="38100" dir="2700000" algn="tl">
                    <a:srgbClr val="000000">
                      <a:alpha val="43137"/>
                    </a:srgbClr>
                  </a:outerShdw>
                </a:effectLst>
                <a:cs typeface="Arial" pitchFamily="34" charset="0"/>
              </a:rPr>
              <a:t>al</a:t>
            </a:r>
            <a:r>
              <a:rPr lang="fi-FI" sz="2800" dirty="0">
                <a:solidFill>
                  <a:schemeClr val="tx1"/>
                </a:solidFill>
                <a:effectLst>
                  <a:outerShdw blurRad="38100" dist="38100" dir="2700000" algn="tl">
                    <a:srgbClr val="000000">
                      <a:alpha val="43137"/>
                    </a:srgbClr>
                  </a:outerShdw>
                </a:effectLst>
                <a:cs typeface="Arial" pitchFamily="34" charset="0"/>
              </a:rPr>
              <a:t>:</a:t>
            </a:r>
            <a:r>
              <a:rPr lang="fi-FI" sz="2800" dirty="0" smtClean="0">
                <a:solidFill>
                  <a:schemeClr val="tx1"/>
                </a:solidFill>
                <a:effectLst>
                  <a:outerShdw blurRad="38100" dist="38100" dir="2700000" algn="tl">
                    <a:srgbClr val="000000">
                      <a:alpha val="43137"/>
                    </a:srgbClr>
                  </a:outerShdw>
                </a:effectLst>
                <a:cs typeface="Arial" pitchFamily="34" charset="0"/>
              </a:rPr>
              <a:t> </a:t>
            </a:r>
            <a:br>
              <a:rPr lang="fi-FI" sz="2800" dirty="0" smtClean="0">
                <a:solidFill>
                  <a:schemeClr val="tx1"/>
                </a:solidFill>
                <a:effectLst>
                  <a:outerShdw blurRad="38100" dist="38100" dir="2700000" algn="tl">
                    <a:srgbClr val="000000">
                      <a:alpha val="43137"/>
                    </a:srgbClr>
                  </a:outerShdw>
                </a:effectLst>
                <a:cs typeface="Arial" pitchFamily="34" charset="0"/>
              </a:rPr>
            </a:br>
            <a:r>
              <a:rPr lang="fi-FI" sz="2800" dirty="0" smtClean="0">
                <a:solidFill>
                  <a:schemeClr val="tx1"/>
                </a:solidFill>
                <a:effectLst>
                  <a:outerShdw blurRad="38100" dist="38100" dir="2700000" algn="tl">
                    <a:srgbClr val="000000">
                      <a:alpha val="43137"/>
                    </a:srgbClr>
                  </a:outerShdw>
                </a:effectLst>
                <a:cs typeface="Arial" pitchFamily="34" charset="0"/>
              </a:rPr>
              <a:t>”</a:t>
            </a:r>
            <a:r>
              <a:rPr lang="fi-FI" sz="2800" dirty="0" err="1" smtClean="0">
                <a:solidFill>
                  <a:schemeClr val="tx1"/>
                </a:solidFill>
                <a:effectLst>
                  <a:outerShdw blurRad="38100" dist="38100" dir="2700000" algn="tl">
                    <a:srgbClr val="000000">
                      <a:alpha val="43137"/>
                    </a:srgbClr>
                  </a:outerShdw>
                </a:effectLst>
                <a:cs typeface="Arial" pitchFamily="34" charset="0"/>
              </a:rPr>
              <a:t>Lessons</a:t>
            </a:r>
            <a:r>
              <a:rPr lang="fi-FI" sz="2800" dirty="0" smtClean="0">
                <a:solidFill>
                  <a:schemeClr val="tx1"/>
                </a:solidFill>
                <a:effectLst>
                  <a:outerShdw blurRad="38100" dist="38100" dir="2700000" algn="tl">
                    <a:srgbClr val="000000">
                      <a:alpha val="43137"/>
                    </a:srgbClr>
                  </a:outerShdw>
                </a:effectLst>
                <a:cs typeface="Arial" pitchFamily="34" charset="0"/>
              </a:rPr>
              <a:t> </a:t>
            </a:r>
            <a:r>
              <a:rPr lang="fi-FI" sz="2800" dirty="0" err="1">
                <a:solidFill>
                  <a:schemeClr val="tx1"/>
                </a:solidFill>
                <a:effectLst>
                  <a:outerShdw blurRad="38100" dist="38100" dir="2700000" algn="tl">
                    <a:srgbClr val="000000">
                      <a:alpha val="43137"/>
                    </a:srgbClr>
                  </a:outerShdw>
                </a:effectLst>
                <a:cs typeface="Arial" pitchFamily="34" charset="0"/>
              </a:rPr>
              <a:t>Learned</a:t>
            </a:r>
            <a:r>
              <a:rPr lang="fi-FI" sz="2800" dirty="0">
                <a:solidFill>
                  <a:schemeClr val="tx1"/>
                </a:solidFill>
                <a:effectLst>
                  <a:outerShdw blurRad="38100" dist="38100" dir="2700000" algn="tl">
                    <a:srgbClr val="000000">
                      <a:alpha val="43137"/>
                    </a:srgbClr>
                  </a:outerShdw>
                </a:effectLst>
                <a:cs typeface="Arial" pitchFamily="34" charset="0"/>
              </a:rPr>
              <a:t> in Software </a:t>
            </a:r>
            <a:r>
              <a:rPr lang="fi-FI" sz="2800" dirty="0" err="1" smtClean="0">
                <a:solidFill>
                  <a:schemeClr val="tx1"/>
                </a:solidFill>
                <a:effectLst>
                  <a:outerShdw blurRad="38100" dist="38100" dir="2700000" algn="tl">
                    <a:srgbClr val="000000">
                      <a:alpha val="43137"/>
                    </a:srgbClr>
                  </a:outerShdw>
                </a:effectLst>
                <a:cs typeface="Arial" pitchFamily="34" charset="0"/>
              </a:rPr>
              <a:t>Testing</a:t>
            </a:r>
            <a:r>
              <a:rPr lang="fi-FI" sz="2800" dirty="0" smtClean="0">
                <a:solidFill>
                  <a:schemeClr val="tx1"/>
                </a:solidFill>
                <a:effectLst>
                  <a:outerShdw blurRad="38100" dist="38100" dir="2700000" algn="tl">
                    <a:srgbClr val="000000">
                      <a:alpha val="43137"/>
                    </a:srgbClr>
                  </a:outerShdw>
                </a:effectLst>
                <a:cs typeface="Arial" pitchFamily="34" charset="0"/>
              </a:rPr>
              <a:t>”</a:t>
            </a:r>
            <a:endParaRPr lang="fi-FI" sz="2800" dirty="0">
              <a:solidFill>
                <a:schemeClr val="tx1"/>
              </a:solidFill>
              <a:effectLst>
                <a:outerShdw blurRad="38100" dist="38100" dir="2700000" algn="tl">
                  <a:srgbClr val="000000">
                    <a:alpha val="43137"/>
                  </a:srgbClr>
                </a:outerShdw>
              </a:effectLst>
              <a:cs typeface="Arial" pitchFamily="34" charset="0"/>
            </a:endParaRPr>
          </a:p>
          <a:p>
            <a:pPr algn="ctr">
              <a:lnSpc>
                <a:spcPct val="120000"/>
              </a:lnSpc>
              <a:spcBef>
                <a:spcPct val="20000"/>
              </a:spcBef>
              <a:spcAft>
                <a:spcPct val="20000"/>
              </a:spcAft>
              <a:buFont typeface="Times" pitchFamily="18" charset="0"/>
              <a:buNone/>
            </a:pPr>
            <a:r>
              <a:rPr lang="en-GB" sz="2400" dirty="0" smtClean="0">
                <a:solidFill>
                  <a:schemeClr val="accent2"/>
                </a:solidFill>
                <a:cs typeface="Arial" pitchFamily="34" charset="0"/>
              </a:rPr>
              <a:t/>
            </a:r>
            <a:br>
              <a:rPr lang="en-GB" sz="2400" dirty="0" smtClean="0">
                <a:solidFill>
                  <a:schemeClr val="accent2"/>
                </a:solidFill>
                <a:cs typeface="Arial" pitchFamily="34" charset="0"/>
              </a:rPr>
            </a:br>
            <a:r>
              <a:rPr lang="en-GB" sz="2400" dirty="0" err="1" smtClean="0">
                <a:solidFill>
                  <a:schemeClr val="accent2"/>
                </a:solidFill>
                <a:cs typeface="Arial" pitchFamily="34" charset="0"/>
              </a:rPr>
              <a:t>Parhaissakin</a:t>
            </a:r>
            <a:r>
              <a:rPr lang="en-GB" sz="2400" dirty="0" smtClean="0">
                <a:solidFill>
                  <a:schemeClr val="accent2"/>
                </a:solidFill>
                <a:cs typeface="Arial" pitchFamily="34" charset="0"/>
              </a:rPr>
              <a:t> </a:t>
            </a:r>
            <a:r>
              <a:rPr lang="en-GB" sz="2400" dirty="0" err="1">
                <a:solidFill>
                  <a:schemeClr val="accent2"/>
                </a:solidFill>
                <a:cs typeface="Arial" pitchFamily="34" charset="0"/>
              </a:rPr>
              <a:t>tapauksissa</a:t>
            </a:r>
            <a:r>
              <a:rPr lang="en-GB" sz="2400" dirty="0">
                <a:solidFill>
                  <a:schemeClr val="accent2"/>
                </a:solidFill>
                <a:cs typeface="Arial" pitchFamily="34" charset="0"/>
              </a:rPr>
              <a:t> </a:t>
            </a:r>
            <a:r>
              <a:rPr lang="en-GB" sz="2400" dirty="0" err="1">
                <a:solidFill>
                  <a:schemeClr val="accent2"/>
                </a:solidFill>
                <a:cs typeface="Arial" pitchFamily="34" charset="0"/>
              </a:rPr>
              <a:t>dokumentaatio</a:t>
            </a:r>
            <a:r>
              <a:rPr lang="en-GB" sz="2400" dirty="0">
                <a:solidFill>
                  <a:schemeClr val="accent2"/>
                </a:solidFill>
                <a:cs typeface="Arial" pitchFamily="34" charset="0"/>
              </a:rPr>
              <a:t> </a:t>
            </a:r>
            <a:r>
              <a:rPr lang="en-GB" sz="2400" dirty="0" smtClean="0">
                <a:solidFill>
                  <a:schemeClr val="accent2"/>
                </a:solidFill>
                <a:cs typeface="Arial" pitchFamily="34" charset="0"/>
              </a:rPr>
              <a:t/>
            </a:r>
            <a:br>
              <a:rPr lang="en-GB" sz="2400" dirty="0" smtClean="0">
                <a:solidFill>
                  <a:schemeClr val="accent2"/>
                </a:solidFill>
                <a:cs typeface="Arial" pitchFamily="34" charset="0"/>
              </a:rPr>
            </a:br>
            <a:r>
              <a:rPr lang="en-GB" sz="2400" dirty="0" smtClean="0">
                <a:solidFill>
                  <a:schemeClr val="accent2"/>
                </a:solidFill>
                <a:cs typeface="Arial" pitchFamily="34" charset="0"/>
              </a:rPr>
              <a:t>on </a:t>
            </a:r>
            <a:r>
              <a:rPr lang="en-GB" sz="2400" dirty="0" err="1">
                <a:solidFill>
                  <a:schemeClr val="accent2"/>
                </a:solidFill>
                <a:cs typeface="Arial" pitchFamily="34" charset="0"/>
              </a:rPr>
              <a:t>epätäydellistä</a:t>
            </a:r>
            <a:r>
              <a:rPr lang="en-GB" sz="2400" dirty="0">
                <a:solidFill>
                  <a:schemeClr val="accent2"/>
                </a:solidFill>
                <a:cs typeface="Arial" pitchFamily="34" charset="0"/>
              </a:rPr>
              <a:t> </a:t>
            </a:r>
            <a:r>
              <a:rPr lang="en-GB" sz="2400" dirty="0" err="1">
                <a:solidFill>
                  <a:schemeClr val="accent2"/>
                </a:solidFill>
                <a:cs typeface="Arial" pitchFamily="34" charset="0"/>
              </a:rPr>
              <a:t>ja</a:t>
            </a:r>
            <a:r>
              <a:rPr lang="en-GB" sz="2400" dirty="0">
                <a:solidFill>
                  <a:schemeClr val="accent2"/>
                </a:solidFill>
                <a:cs typeface="Arial" pitchFamily="34" charset="0"/>
              </a:rPr>
              <a:t> </a:t>
            </a:r>
            <a:r>
              <a:rPr lang="en-GB" sz="2400" dirty="0" err="1">
                <a:solidFill>
                  <a:schemeClr val="accent2"/>
                </a:solidFill>
                <a:cs typeface="Arial" pitchFamily="34" charset="0"/>
              </a:rPr>
              <a:t>moniselitteistä</a:t>
            </a:r>
            <a:r>
              <a:rPr lang="en-GB" sz="2400" dirty="0">
                <a:solidFill>
                  <a:schemeClr val="accent2"/>
                </a:solidFill>
                <a:cs typeface="Arial" pitchFamily="34" charset="0"/>
              </a:rPr>
              <a:t>, </a:t>
            </a:r>
            <a:r>
              <a:rPr lang="en-GB" sz="2400" dirty="0" smtClean="0">
                <a:solidFill>
                  <a:schemeClr val="accent2"/>
                </a:solidFill>
                <a:cs typeface="Arial" pitchFamily="34" charset="0"/>
              </a:rPr>
              <a:t/>
            </a:r>
            <a:br>
              <a:rPr lang="en-GB" sz="2400" dirty="0" smtClean="0">
                <a:solidFill>
                  <a:schemeClr val="accent2"/>
                </a:solidFill>
                <a:cs typeface="Arial" pitchFamily="34" charset="0"/>
              </a:rPr>
            </a:br>
            <a:r>
              <a:rPr lang="en-GB" sz="2400" dirty="0" err="1" smtClean="0">
                <a:solidFill>
                  <a:schemeClr val="accent2"/>
                </a:solidFill>
                <a:cs typeface="Arial" pitchFamily="34" charset="0"/>
              </a:rPr>
              <a:t>mutta</a:t>
            </a:r>
            <a:r>
              <a:rPr lang="en-GB" sz="2400" dirty="0" smtClean="0">
                <a:solidFill>
                  <a:schemeClr val="accent2"/>
                </a:solidFill>
                <a:cs typeface="Arial" pitchFamily="34" charset="0"/>
              </a:rPr>
              <a:t> </a:t>
            </a:r>
            <a:r>
              <a:rPr lang="en-GB" sz="2400" dirty="0" err="1">
                <a:solidFill>
                  <a:schemeClr val="accent2"/>
                </a:solidFill>
                <a:cs typeface="Arial" pitchFamily="34" charset="0"/>
              </a:rPr>
              <a:t>silti</a:t>
            </a:r>
            <a:r>
              <a:rPr lang="en-GB" sz="2400" dirty="0">
                <a:solidFill>
                  <a:schemeClr val="accent2"/>
                </a:solidFill>
                <a:cs typeface="Arial" pitchFamily="34" charset="0"/>
              </a:rPr>
              <a:t> </a:t>
            </a:r>
            <a:r>
              <a:rPr lang="en-GB" sz="2400" dirty="0" err="1">
                <a:solidFill>
                  <a:schemeClr val="accent2"/>
                </a:solidFill>
                <a:cs typeface="Arial" pitchFamily="34" charset="0"/>
              </a:rPr>
              <a:t>valaisevaa</a:t>
            </a:r>
            <a:r>
              <a:rPr lang="en-GB" sz="2400" dirty="0">
                <a:solidFill>
                  <a:schemeClr val="accent2"/>
                </a:solidFill>
                <a:cs typeface="Arial" pitchFamily="34" charset="0"/>
              </a:rPr>
              <a:t> </a:t>
            </a:r>
            <a:r>
              <a:rPr lang="en-GB" sz="2400" dirty="0" err="1">
                <a:solidFill>
                  <a:schemeClr val="accent2"/>
                </a:solidFill>
                <a:cs typeface="Arial" pitchFamily="34" charset="0"/>
              </a:rPr>
              <a:t>ja</a:t>
            </a:r>
            <a:r>
              <a:rPr lang="en-GB" sz="2400" dirty="0">
                <a:solidFill>
                  <a:schemeClr val="accent2"/>
                </a:solidFill>
                <a:cs typeface="Arial" pitchFamily="34" charset="0"/>
              </a:rPr>
              <a:t> </a:t>
            </a:r>
            <a:r>
              <a:rPr lang="en-GB" sz="2400" dirty="0" err="1">
                <a:solidFill>
                  <a:schemeClr val="accent2"/>
                </a:solidFill>
                <a:cs typeface="Arial" pitchFamily="34" charset="0"/>
              </a:rPr>
              <a:t>avuksi</a:t>
            </a:r>
            <a:r>
              <a:rPr lang="en-GB" sz="2400" dirty="0">
                <a:solidFill>
                  <a:schemeClr val="accent2"/>
                </a:solidFill>
                <a:cs typeface="Arial" pitchFamily="34" charset="0"/>
              </a:rPr>
              <a:t>.</a:t>
            </a:r>
          </a:p>
          <a:p>
            <a:pPr algn="ctr">
              <a:lnSpc>
                <a:spcPct val="120000"/>
              </a:lnSpc>
              <a:spcBef>
                <a:spcPct val="20000"/>
              </a:spcBef>
              <a:spcAft>
                <a:spcPct val="20000"/>
              </a:spcAft>
              <a:buFont typeface="Times" pitchFamily="18" charset="0"/>
              <a:buNone/>
            </a:pPr>
            <a:endParaRPr lang="en-GB" sz="2000" dirty="0">
              <a:cs typeface="Arial" pitchFamily="34" charset="0"/>
            </a:endParaRP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Kelpuutus vs. Todennus</a:t>
            </a:r>
            <a:br>
              <a:rPr lang="fi-FI" dirty="0" smtClean="0"/>
            </a:br>
            <a:r>
              <a:rPr lang="fi-FI" sz="3100" dirty="0" smtClean="0">
                <a:solidFill>
                  <a:schemeClr val="accent1"/>
                </a:solidFill>
              </a:rPr>
              <a:t>Validation vs. verification</a:t>
            </a:r>
            <a:endParaRPr lang="fi-FI" dirty="0">
              <a:solidFill>
                <a:schemeClr val="accent1"/>
              </a:solidFill>
            </a:endParaRPr>
          </a:p>
        </p:txBody>
      </p:sp>
      <p:sp>
        <p:nvSpPr>
          <p:cNvPr id="3" name="Content Placeholder 2"/>
          <p:cNvSpPr>
            <a:spLocks noGrp="1"/>
          </p:cNvSpPr>
          <p:nvPr>
            <p:ph idx="1"/>
          </p:nvPr>
        </p:nvSpPr>
        <p:spPr/>
        <p:txBody>
          <a:bodyPr>
            <a:normAutofit lnSpcReduction="10000"/>
          </a:bodyPr>
          <a:lstStyle/>
          <a:p>
            <a:pPr lvl="0"/>
            <a:r>
              <a:rPr lang="fi-FI" dirty="0" smtClean="0"/>
              <a:t>Kelpuuttaminen käyttöön</a:t>
            </a:r>
          </a:p>
          <a:p>
            <a:pPr lvl="1"/>
            <a:r>
              <a:rPr lang="fi-FI" dirty="0" smtClean="0"/>
              <a:t>Validation: ”are we building the right product”</a:t>
            </a:r>
          </a:p>
          <a:p>
            <a:pPr lvl="1"/>
            <a:r>
              <a:rPr lang="fi-FI" dirty="0" smtClean="0"/>
              <a:t>Kelpaako järjestelmä näillä ominaisuuksilla ja rajoitteilla käyttöön siten että se parantaa tilannetta ja vastaa hankinnan tarkoitusta? </a:t>
            </a:r>
          </a:p>
          <a:p>
            <a:pPr lvl="0"/>
            <a:r>
              <a:rPr lang="fi-FI" dirty="0" smtClean="0"/>
              <a:t>Todentaminen suhteessa vaatimuksiin</a:t>
            </a:r>
          </a:p>
          <a:p>
            <a:pPr lvl="1"/>
            <a:r>
              <a:rPr lang="fi-FI" dirty="0" smtClean="0"/>
              <a:t>Verification: ”are we building the product right”</a:t>
            </a:r>
          </a:p>
          <a:p>
            <a:pPr lvl="1"/>
            <a:r>
              <a:rPr lang="fi-FI" dirty="0" smtClean="0"/>
              <a:t>Vastaako järjestelmä vaatimuksia ja määrityksiä, vaikka nämä sitten sattuisivatkin olemaan väärin suhteessa tarpeeseen? </a:t>
            </a:r>
            <a:endParaRPr lang="fi-FI"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202</a:t>
            </a:fld>
            <a:endParaRPr lang="fi-FI"/>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AutoShape 2"/>
          <p:cNvSpPr>
            <a:spLocks noChangeArrowheads="1"/>
          </p:cNvSpPr>
          <p:nvPr/>
        </p:nvSpPr>
        <p:spPr bwMode="auto">
          <a:xfrm>
            <a:off x="4875213" y="4005263"/>
            <a:ext cx="3657600" cy="1371600"/>
          </a:xfrm>
          <a:prstGeom prst="roundRect">
            <a:avLst>
              <a:gd name="adj" fmla="val 16667"/>
            </a:avLst>
          </a:prstGeom>
          <a:ln>
            <a:headEnd/>
            <a:tailEnd/>
          </a:ln>
        </p:spPr>
        <p:style>
          <a:lnRef idx="3">
            <a:schemeClr val="lt1"/>
          </a:lnRef>
          <a:fillRef idx="1">
            <a:schemeClr val="accent3"/>
          </a:fillRef>
          <a:effectRef idx="1">
            <a:schemeClr val="accent3"/>
          </a:effectRef>
          <a:fontRef idx="minor">
            <a:schemeClr val="lt1"/>
          </a:fontRef>
        </p:style>
        <p:txBody>
          <a:bodyPr wrap="none" anchor="ctr"/>
          <a:lstStyle/>
          <a:p>
            <a:pPr algn="ctr" eaLnBrk="1" hangingPunct="1"/>
            <a:r>
              <a:rPr lang="fi-FI" sz="2800" b="1">
                <a:solidFill>
                  <a:schemeClr val="bg1"/>
                </a:solidFill>
                <a:cs typeface="Arial" charset="0"/>
              </a:rPr>
              <a:t>Testikierros</a:t>
            </a:r>
            <a:endParaRPr lang="en-GB" sz="2800" b="1">
              <a:solidFill>
                <a:schemeClr val="bg1"/>
              </a:solidFill>
              <a:cs typeface="Arial" charset="0"/>
            </a:endParaRPr>
          </a:p>
        </p:txBody>
      </p:sp>
      <p:sp>
        <p:nvSpPr>
          <p:cNvPr id="107523" name="AutoShape 3"/>
          <p:cNvSpPr>
            <a:spLocks noChangeArrowheads="1"/>
          </p:cNvSpPr>
          <p:nvPr/>
        </p:nvSpPr>
        <p:spPr bwMode="auto">
          <a:xfrm>
            <a:off x="303213" y="4005263"/>
            <a:ext cx="3657600" cy="1371600"/>
          </a:xfrm>
          <a:prstGeom prst="roundRect">
            <a:avLst>
              <a:gd name="adj" fmla="val 16667"/>
            </a:avLst>
          </a:prstGeom>
          <a:ln>
            <a:headEnd/>
            <a:tailEnd/>
          </a:ln>
        </p:spPr>
        <p:style>
          <a:lnRef idx="3">
            <a:schemeClr val="lt1"/>
          </a:lnRef>
          <a:fillRef idx="1">
            <a:schemeClr val="accent2"/>
          </a:fillRef>
          <a:effectRef idx="1">
            <a:schemeClr val="accent2"/>
          </a:effectRef>
          <a:fontRef idx="minor">
            <a:schemeClr val="lt1"/>
          </a:fontRef>
        </p:style>
        <p:txBody>
          <a:bodyPr wrap="none" anchor="ctr"/>
          <a:lstStyle/>
          <a:p>
            <a:pPr algn="ctr" eaLnBrk="1" hangingPunct="1"/>
            <a:r>
              <a:rPr lang="fi-FI" sz="2800" b="1">
                <a:cs typeface="Arial" charset="0"/>
              </a:rPr>
              <a:t>Testiympäristö</a:t>
            </a:r>
            <a:endParaRPr lang="en-GB" sz="2800" b="1">
              <a:cs typeface="Arial" charset="0"/>
            </a:endParaRPr>
          </a:p>
        </p:txBody>
      </p:sp>
      <p:sp>
        <p:nvSpPr>
          <p:cNvPr id="107524" name="Rectangle 4"/>
          <p:cNvSpPr>
            <a:spLocks noGrp="1" noChangeArrowheads="1"/>
          </p:cNvSpPr>
          <p:nvPr>
            <p:ph type="title"/>
          </p:nvPr>
        </p:nvSpPr>
        <p:spPr/>
        <p:txBody>
          <a:bodyPr/>
          <a:lstStyle/>
          <a:p>
            <a:pPr defTabSz="762000"/>
            <a:r>
              <a:rPr lang="fi-FI"/>
              <a:t>Testitapauksiin liittyviä käsitteitä</a:t>
            </a:r>
          </a:p>
        </p:txBody>
      </p:sp>
      <p:sp>
        <p:nvSpPr>
          <p:cNvPr id="107525" name="AutoShape 5"/>
          <p:cNvSpPr>
            <a:spLocks noChangeArrowheads="1"/>
          </p:cNvSpPr>
          <p:nvPr/>
        </p:nvSpPr>
        <p:spPr bwMode="auto">
          <a:xfrm>
            <a:off x="328613" y="2133600"/>
            <a:ext cx="3657600" cy="1371600"/>
          </a:xfrm>
          <a:prstGeom prst="roundRect">
            <a:avLst>
              <a:gd name="adj" fmla="val 16667"/>
            </a:avLst>
          </a:prstGeom>
          <a:ln>
            <a:headEnd/>
            <a:tailEnd/>
          </a:ln>
        </p:spPr>
        <p:style>
          <a:lnRef idx="3">
            <a:schemeClr val="lt1"/>
          </a:lnRef>
          <a:fillRef idx="1">
            <a:schemeClr val="accent3"/>
          </a:fillRef>
          <a:effectRef idx="1">
            <a:schemeClr val="accent3"/>
          </a:effectRef>
          <a:fontRef idx="minor">
            <a:schemeClr val="lt1"/>
          </a:fontRef>
        </p:style>
        <p:txBody>
          <a:bodyPr wrap="none" anchor="ctr"/>
          <a:lstStyle/>
          <a:p>
            <a:pPr algn="ctr" eaLnBrk="1" hangingPunct="1"/>
            <a:r>
              <a:rPr lang="fi-FI" sz="2800" b="1">
                <a:solidFill>
                  <a:schemeClr val="bg1"/>
                </a:solidFill>
                <a:cs typeface="Arial" charset="0"/>
              </a:rPr>
              <a:t>Testijakso</a:t>
            </a:r>
            <a:endParaRPr lang="en-GB" sz="2800" b="1">
              <a:solidFill>
                <a:schemeClr val="bg1"/>
              </a:solidFill>
              <a:cs typeface="Arial" charset="0"/>
            </a:endParaRPr>
          </a:p>
        </p:txBody>
      </p:sp>
      <p:sp>
        <p:nvSpPr>
          <p:cNvPr id="107526" name="AutoShape 6"/>
          <p:cNvSpPr>
            <a:spLocks noChangeArrowheads="1"/>
          </p:cNvSpPr>
          <p:nvPr/>
        </p:nvSpPr>
        <p:spPr bwMode="auto">
          <a:xfrm>
            <a:off x="4799013" y="2128838"/>
            <a:ext cx="3657600" cy="1371600"/>
          </a:xfrm>
          <a:prstGeom prst="roundRect">
            <a:avLst>
              <a:gd name="adj" fmla="val 16667"/>
            </a:avLst>
          </a:prstGeom>
          <a:ln>
            <a:headEnd/>
            <a:tailEnd/>
          </a:ln>
        </p:spPr>
        <p:style>
          <a:lnRef idx="3">
            <a:schemeClr val="lt1"/>
          </a:lnRef>
          <a:fillRef idx="1">
            <a:schemeClr val="accent2"/>
          </a:fillRef>
          <a:effectRef idx="1">
            <a:schemeClr val="accent2"/>
          </a:effectRef>
          <a:fontRef idx="minor">
            <a:schemeClr val="lt1"/>
          </a:fontRef>
        </p:style>
        <p:txBody>
          <a:bodyPr wrap="none" anchor="ctr"/>
          <a:lstStyle/>
          <a:p>
            <a:pPr algn="ctr" eaLnBrk="1" hangingPunct="1"/>
            <a:r>
              <a:rPr lang="fi-FI" sz="2800" b="1">
                <a:cs typeface="Arial" charset="0"/>
              </a:rPr>
              <a:t>Testiaineisto</a:t>
            </a:r>
            <a:endParaRPr lang="en-GB" sz="2800" b="1">
              <a:cs typeface="Arial" charset="0"/>
            </a:endParaRPr>
          </a:p>
        </p:txBody>
      </p:sp>
      <p:sp>
        <p:nvSpPr>
          <p:cNvPr id="107527" name="AutoShape 7"/>
          <p:cNvSpPr>
            <a:spLocks noChangeArrowheads="1"/>
          </p:cNvSpPr>
          <p:nvPr/>
        </p:nvSpPr>
        <p:spPr bwMode="auto">
          <a:xfrm>
            <a:off x="2589213" y="3124200"/>
            <a:ext cx="3657600" cy="1371600"/>
          </a:xfrm>
          <a:prstGeom prst="roundRect">
            <a:avLst>
              <a:gd name="adj" fmla="val 16667"/>
            </a:avLst>
          </a:prstGeom>
          <a:ln>
            <a:headEnd/>
            <a:tailEnd/>
          </a:ln>
        </p:spPr>
        <p:style>
          <a:lnRef idx="3">
            <a:schemeClr val="lt1"/>
          </a:lnRef>
          <a:fillRef idx="1">
            <a:schemeClr val="accent6"/>
          </a:fillRef>
          <a:effectRef idx="1">
            <a:schemeClr val="accent6"/>
          </a:effectRef>
          <a:fontRef idx="minor">
            <a:schemeClr val="lt1"/>
          </a:fontRef>
        </p:style>
        <p:txBody>
          <a:bodyPr wrap="none" anchor="ctr"/>
          <a:lstStyle/>
          <a:p>
            <a:pPr algn="ctr" eaLnBrk="1" hangingPunct="1"/>
            <a:r>
              <a:rPr lang="fi-FI" sz="2800" b="1" dirty="0">
                <a:solidFill>
                  <a:schemeClr val="bg1"/>
                </a:solidFill>
                <a:cs typeface="Arial" charset="0"/>
              </a:rPr>
              <a:t>Testitapaus</a:t>
            </a:r>
            <a:endParaRPr lang="en-GB" sz="2800" b="1" dirty="0">
              <a:solidFill>
                <a:schemeClr val="bg1"/>
              </a:solidFill>
              <a:cs typeface="Arial" charset="0"/>
            </a:endParaRPr>
          </a:p>
        </p:txBody>
      </p:sp>
      <p:sp>
        <p:nvSpPr>
          <p:cNvPr id="8" name="Slide Number Placeholder 7"/>
          <p:cNvSpPr>
            <a:spLocks noGrp="1"/>
          </p:cNvSpPr>
          <p:nvPr>
            <p:ph type="sldNum" sz="quarter" idx="12"/>
          </p:nvPr>
        </p:nvSpPr>
        <p:spPr/>
        <p:txBody>
          <a:bodyPr/>
          <a:lstStyle/>
          <a:p>
            <a:fld id="{B6F15528-21DE-4FAA-801E-634DDDAF4B2B}" type="slidenum">
              <a:rPr lang="en-US" smtClean="0"/>
              <a:pPr/>
              <a:t>203</a:t>
            </a:fld>
            <a:endParaRPr lang="en-US"/>
          </a:p>
        </p:txBody>
      </p:sp>
    </p:spTree>
  </p:cSld>
  <p:clrMapOvr>
    <a:masterClrMapping/>
  </p:clrMapOvr>
  <p:timing>
    <p:tnLst>
      <p:par>
        <p:cTn xmlns:p14="http://schemas.microsoft.com/office/powerpoint/2010/mai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normAutofit/>
          </a:bodyPr>
          <a:lstStyle/>
          <a:p>
            <a:pPr defTabSz="762000"/>
            <a:r>
              <a:rPr lang="fi-FI"/>
              <a:t>Kysymyksen asettelu testauksessa</a:t>
            </a:r>
          </a:p>
        </p:txBody>
      </p:sp>
      <p:grpSp>
        <p:nvGrpSpPr>
          <p:cNvPr id="2" name="Group 3"/>
          <p:cNvGrpSpPr>
            <a:grpSpLocks/>
          </p:cNvGrpSpPr>
          <p:nvPr/>
        </p:nvGrpSpPr>
        <p:grpSpPr bwMode="auto">
          <a:xfrm>
            <a:off x="5183188" y="3000375"/>
            <a:ext cx="1295400" cy="762000"/>
            <a:chOff x="3600" y="1776"/>
            <a:chExt cx="816" cy="480"/>
          </a:xfrm>
        </p:grpSpPr>
        <p:grpSp>
          <p:nvGrpSpPr>
            <p:cNvPr id="3" name="Group 4"/>
            <p:cNvGrpSpPr>
              <a:grpSpLocks/>
            </p:cNvGrpSpPr>
            <p:nvPr/>
          </p:nvGrpSpPr>
          <p:grpSpPr bwMode="auto">
            <a:xfrm>
              <a:off x="3888" y="1776"/>
              <a:ext cx="208" cy="288"/>
              <a:chOff x="664" y="2352"/>
              <a:chExt cx="208" cy="288"/>
            </a:xfrm>
          </p:grpSpPr>
          <p:sp>
            <p:nvSpPr>
              <p:cNvPr id="114693" name="Oval 5"/>
              <p:cNvSpPr>
                <a:spLocks noChangeArrowheads="1"/>
              </p:cNvSpPr>
              <p:nvPr/>
            </p:nvSpPr>
            <p:spPr bwMode="auto">
              <a:xfrm rot="-820714">
                <a:off x="724" y="2445"/>
                <a:ext cx="97" cy="194"/>
              </a:xfrm>
              <a:prstGeom prst="ellipse">
                <a:avLst/>
              </a:prstGeom>
              <a:solidFill>
                <a:srgbClr val="FF3300"/>
              </a:solidFill>
              <a:ln w="28575">
                <a:solidFill>
                  <a:schemeClr val="tx1"/>
                </a:solidFill>
                <a:round/>
                <a:headEnd/>
                <a:tailEnd/>
              </a:ln>
              <a:effectLst/>
            </p:spPr>
            <p:txBody>
              <a:bodyPr wrap="none" anchor="ctr"/>
              <a:lstStyle/>
              <a:p>
                <a:endParaRPr lang="en-US"/>
              </a:p>
            </p:txBody>
          </p:sp>
          <p:sp>
            <p:nvSpPr>
              <p:cNvPr id="114694" name="Oval 6"/>
              <p:cNvSpPr>
                <a:spLocks noChangeArrowheads="1"/>
              </p:cNvSpPr>
              <p:nvPr/>
            </p:nvSpPr>
            <p:spPr bwMode="auto">
              <a:xfrm>
                <a:off x="720" y="2400"/>
                <a:ext cx="48" cy="48"/>
              </a:xfrm>
              <a:prstGeom prst="ellipse">
                <a:avLst/>
              </a:prstGeom>
              <a:solidFill>
                <a:srgbClr val="FF3300"/>
              </a:solidFill>
              <a:ln w="28575">
                <a:solidFill>
                  <a:schemeClr val="tx1"/>
                </a:solidFill>
                <a:round/>
                <a:headEnd/>
                <a:tailEnd/>
              </a:ln>
              <a:effectLst/>
            </p:spPr>
            <p:txBody>
              <a:bodyPr wrap="none" anchor="ctr"/>
              <a:lstStyle/>
              <a:p>
                <a:endParaRPr lang="en-US"/>
              </a:p>
            </p:txBody>
          </p:sp>
          <p:sp>
            <p:nvSpPr>
              <p:cNvPr id="114695" name="Freeform 7"/>
              <p:cNvSpPr>
                <a:spLocks/>
              </p:cNvSpPr>
              <p:nvPr/>
            </p:nvSpPr>
            <p:spPr bwMode="auto">
              <a:xfrm>
                <a:off x="768" y="2400"/>
                <a:ext cx="56" cy="56"/>
              </a:xfrm>
              <a:custGeom>
                <a:avLst/>
                <a:gdLst/>
                <a:ahLst/>
                <a:cxnLst>
                  <a:cxn ang="0">
                    <a:pos x="0" y="48"/>
                  </a:cxn>
                  <a:cxn ang="0">
                    <a:pos x="48" y="48"/>
                  </a:cxn>
                  <a:cxn ang="0">
                    <a:pos x="48" y="0"/>
                  </a:cxn>
                </a:cxnLst>
                <a:rect l="0" t="0" r="r" b="b"/>
                <a:pathLst>
                  <a:path w="56" h="56">
                    <a:moveTo>
                      <a:pt x="0" y="48"/>
                    </a:moveTo>
                    <a:cubicBezTo>
                      <a:pt x="20" y="52"/>
                      <a:pt x="40" y="56"/>
                      <a:pt x="48" y="48"/>
                    </a:cubicBezTo>
                    <a:cubicBezTo>
                      <a:pt x="56" y="40"/>
                      <a:pt x="48" y="8"/>
                      <a:pt x="48" y="0"/>
                    </a:cubicBezTo>
                  </a:path>
                </a:pathLst>
              </a:custGeom>
              <a:noFill/>
              <a:ln w="28575" cmpd="sng">
                <a:solidFill>
                  <a:schemeClr val="tx1"/>
                </a:solidFill>
                <a:round/>
                <a:headEnd/>
                <a:tailEnd/>
              </a:ln>
              <a:effectLst/>
            </p:spPr>
            <p:txBody>
              <a:bodyPr/>
              <a:lstStyle/>
              <a:p>
                <a:endParaRPr lang="en-US"/>
              </a:p>
            </p:txBody>
          </p:sp>
          <p:sp>
            <p:nvSpPr>
              <p:cNvPr id="114696" name="Freeform 8"/>
              <p:cNvSpPr>
                <a:spLocks/>
              </p:cNvSpPr>
              <p:nvPr/>
            </p:nvSpPr>
            <p:spPr bwMode="auto">
              <a:xfrm>
                <a:off x="808" y="2448"/>
                <a:ext cx="56" cy="56"/>
              </a:xfrm>
              <a:custGeom>
                <a:avLst/>
                <a:gdLst/>
                <a:ahLst/>
                <a:cxnLst>
                  <a:cxn ang="0">
                    <a:pos x="0" y="48"/>
                  </a:cxn>
                  <a:cxn ang="0">
                    <a:pos x="48" y="48"/>
                  </a:cxn>
                  <a:cxn ang="0">
                    <a:pos x="48" y="0"/>
                  </a:cxn>
                </a:cxnLst>
                <a:rect l="0" t="0" r="r" b="b"/>
                <a:pathLst>
                  <a:path w="56" h="56">
                    <a:moveTo>
                      <a:pt x="0" y="48"/>
                    </a:moveTo>
                    <a:cubicBezTo>
                      <a:pt x="20" y="52"/>
                      <a:pt x="40" y="56"/>
                      <a:pt x="48" y="48"/>
                    </a:cubicBezTo>
                    <a:cubicBezTo>
                      <a:pt x="56" y="40"/>
                      <a:pt x="48" y="8"/>
                      <a:pt x="48" y="0"/>
                    </a:cubicBezTo>
                  </a:path>
                </a:pathLst>
              </a:custGeom>
              <a:noFill/>
              <a:ln w="28575" cmpd="sng">
                <a:solidFill>
                  <a:schemeClr val="tx1"/>
                </a:solidFill>
                <a:round/>
                <a:headEnd/>
                <a:tailEnd/>
              </a:ln>
              <a:effectLst/>
            </p:spPr>
            <p:txBody>
              <a:bodyPr/>
              <a:lstStyle/>
              <a:p>
                <a:endParaRPr lang="en-US"/>
              </a:p>
            </p:txBody>
          </p:sp>
          <p:sp>
            <p:nvSpPr>
              <p:cNvPr id="114697" name="Freeform 9"/>
              <p:cNvSpPr>
                <a:spLocks/>
              </p:cNvSpPr>
              <p:nvPr/>
            </p:nvSpPr>
            <p:spPr bwMode="auto">
              <a:xfrm>
                <a:off x="816" y="2536"/>
                <a:ext cx="56" cy="56"/>
              </a:xfrm>
              <a:custGeom>
                <a:avLst/>
                <a:gdLst/>
                <a:ahLst/>
                <a:cxnLst>
                  <a:cxn ang="0">
                    <a:pos x="0" y="48"/>
                  </a:cxn>
                  <a:cxn ang="0">
                    <a:pos x="48" y="48"/>
                  </a:cxn>
                  <a:cxn ang="0">
                    <a:pos x="48" y="0"/>
                  </a:cxn>
                </a:cxnLst>
                <a:rect l="0" t="0" r="r" b="b"/>
                <a:pathLst>
                  <a:path w="56" h="56">
                    <a:moveTo>
                      <a:pt x="0" y="48"/>
                    </a:moveTo>
                    <a:cubicBezTo>
                      <a:pt x="20" y="52"/>
                      <a:pt x="40" y="56"/>
                      <a:pt x="48" y="48"/>
                    </a:cubicBezTo>
                    <a:cubicBezTo>
                      <a:pt x="56" y="40"/>
                      <a:pt x="48" y="8"/>
                      <a:pt x="48" y="0"/>
                    </a:cubicBezTo>
                  </a:path>
                </a:pathLst>
              </a:custGeom>
              <a:noFill/>
              <a:ln w="28575" cmpd="sng">
                <a:solidFill>
                  <a:schemeClr val="tx1"/>
                </a:solidFill>
                <a:round/>
                <a:headEnd/>
                <a:tailEnd/>
              </a:ln>
              <a:effectLst/>
            </p:spPr>
            <p:txBody>
              <a:bodyPr/>
              <a:lstStyle/>
              <a:p>
                <a:endParaRPr lang="en-US"/>
              </a:p>
            </p:txBody>
          </p:sp>
          <p:sp>
            <p:nvSpPr>
              <p:cNvPr id="114698" name="Freeform 10"/>
              <p:cNvSpPr>
                <a:spLocks/>
              </p:cNvSpPr>
              <p:nvPr/>
            </p:nvSpPr>
            <p:spPr bwMode="auto">
              <a:xfrm flipH="1">
                <a:off x="664" y="2440"/>
                <a:ext cx="56" cy="56"/>
              </a:xfrm>
              <a:custGeom>
                <a:avLst/>
                <a:gdLst/>
                <a:ahLst/>
                <a:cxnLst>
                  <a:cxn ang="0">
                    <a:pos x="0" y="48"/>
                  </a:cxn>
                  <a:cxn ang="0">
                    <a:pos x="48" y="48"/>
                  </a:cxn>
                  <a:cxn ang="0">
                    <a:pos x="48" y="0"/>
                  </a:cxn>
                </a:cxnLst>
                <a:rect l="0" t="0" r="r" b="b"/>
                <a:pathLst>
                  <a:path w="56" h="56">
                    <a:moveTo>
                      <a:pt x="0" y="48"/>
                    </a:moveTo>
                    <a:cubicBezTo>
                      <a:pt x="20" y="52"/>
                      <a:pt x="40" y="56"/>
                      <a:pt x="48" y="48"/>
                    </a:cubicBezTo>
                    <a:cubicBezTo>
                      <a:pt x="56" y="40"/>
                      <a:pt x="48" y="8"/>
                      <a:pt x="48" y="0"/>
                    </a:cubicBezTo>
                  </a:path>
                </a:pathLst>
              </a:custGeom>
              <a:noFill/>
              <a:ln w="28575" cmpd="sng">
                <a:solidFill>
                  <a:schemeClr val="tx1"/>
                </a:solidFill>
                <a:round/>
                <a:headEnd/>
                <a:tailEnd/>
              </a:ln>
              <a:effectLst/>
            </p:spPr>
            <p:txBody>
              <a:bodyPr/>
              <a:lstStyle/>
              <a:p>
                <a:endParaRPr lang="en-US"/>
              </a:p>
            </p:txBody>
          </p:sp>
          <p:sp>
            <p:nvSpPr>
              <p:cNvPr id="114699" name="Freeform 11"/>
              <p:cNvSpPr>
                <a:spLocks/>
              </p:cNvSpPr>
              <p:nvPr/>
            </p:nvSpPr>
            <p:spPr bwMode="auto">
              <a:xfrm rot="18539372" flipH="1">
                <a:off x="664" y="2496"/>
                <a:ext cx="56" cy="56"/>
              </a:xfrm>
              <a:custGeom>
                <a:avLst/>
                <a:gdLst/>
                <a:ahLst/>
                <a:cxnLst>
                  <a:cxn ang="0">
                    <a:pos x="0" y="48"/>
                  </a:cxn>
                  <a:cxn ang="0">
                    <a:pos x="48" y="48"/>
                  </a:cxn>
                  <a:cxn ang="0">
                    <a:pos x="48" y="0"/>
                  </a:cxn>
                </a:cxnLst>
                <a:rect l="0" t="0" r="r" b="b"/>
                <a:pathLst>
                  <a:path w="56" h="56">
                    <a:moveTo>
                      <a:pt x="0" y="48"/>
                    </a:moveTo>
                    <a:cubicBezTo>
                      <a:pt x="20" y="52"/>
                      <a:pt x="40" y="56"/>
                      <a:pt x="48" y="48"/>
                    </a:cubicBezTo>
                    <a:cubicBezTo>
                      <a:pt x="56" y="40"/>
                      <a:pt x="48" y="8"/>
                      <a:pt x="48" y="0"/>
                    </a:cubicBezTo>
                  </a:path>
                </a:pathLst>
              </a:custGeom>
              <a:noFill/>
              <a:ln w="28575" cmpd="sng">
                <a:solidFill>
                  <a:schemeClr val="tx1"/>
                </a:solidFill>
                <a:round/>
                <a:headEnd/>
                <a:tailEnd/>
              </a:ln>
              <a:effectLst/>
            </p:spPr>
            <p:txBody>
              <a:bodyPr/>
              <a:lstStyle/>
              <a:p>
                <a:endParaRPr lang="en-US"/>
              </a:p>
            </p:txBody>
          </p:sp>
          <p:sp>
            <p:nvSpPr>
              <p:cNvPr id="114700" name="Freeform 12"/>
              <p:cNvSpPr>
                <a:spLocks/>
              </p:cNvSpPr>
              <p:nvPr/>
            </p:nvSpPr>
            <p:spPr bwMode="auto">
              <a:xfrm rot="18539372" flipH="1">
                <a:off x="672" y="2584"/>
                <a:ext cx="56" cy="56"/>
              </a:xfrm>
              <a:custGeom>
                <a:avLst/>
                <a:gdLst/>
                <a:ahLst/>
                <a:cxnLst>
                  <a:cxn ang="0">
                    <a:pos x="0" y="48"/>
                  </a:cxn>
                  <a:cxn ang="0">
                    <a:pos x="48" y="48"/>
                  </a:cxn>
                  <a:cxn ang="0">
                    <a:pos x="48" y="0"/>
                  </a:cxn>
                </a:cxnLst>
                <a:rect l="0" t="0" r="r" b="b"/>
                <a:pathLst>
                  <a:path w="56" h="56">
                    <a:moveTo>
                      <a:pt x="0" y="48"/>
                    </a:moveTo>
                    <a:cubicBezTo>
                      <a:pt x="20" y="52"/>
                      <a:pt x="40" y="56"/>
                      <a:pt x="48" y="48"/>
                    </a:cubicBezTo>
                    <a:cubicBezTo>
                      <a:pt x="56" y="40"/>
                      <a:pt x="48" y="8"/>
                      <a:pt x="48" y="0"/>
                    </a:cubicBezTo>
                  </a:path>
                </a:pathLst>
              </a:custGeom>
              <a:noFill/>
              <a:ln w="28575" cmpd="sng">
                <a:solidFill>
                  <a:schemeClr val="tx1"/>
                </a:solidFill>
                <a:round/>
                <a:headEnd/>
                <a:tailEnd/>
              </a:ln>
              <a:effectLst/>
            </p:spPr>
            <p:txBody>
              <a:bodyPr/>
              <a:lstStyle/>
              <a:p>
                <a:endParaRPr lang="en-US"/>
              </a:p>
            </p:txBody>
          </p:sp>
          <p:sp>
            <p:nvSpPr>
              <p:cNvPr id="114701" name="Freeform 13"/>
              <p:cNvSpPr>
                <a:spLocks/>
              </p:cNvSpPr>
              <p:nvPr/>
            </p:nvSpPr>
            <p:spPr bwMode="auto">
              <a:xfrm>
                <a:off x="752" y="2352"/>
                <a:ext cx="16" cy="48"/>
              </a:xfrm>
              <a:custGeom>
                <a:avLst/>
                <a:gdLst/>
                <a:ahLst/>
                <a:cxnLst>
                  <a:cxn ang="0">
                    <a:pos x="16" y="48"/>
                  </a:cxn>
                  <a:cxn ang="0">
                    <a:pos x="16" y="0"/>
                  </a:cxn>
                </a:cxnLst>
                <a:rect l="0" t="0" r="r" b="b"/>
                <a:pathLst>
                  <a:path w="16" h="48">
                    <a:moveTo>
                      <a:pt x="16" y="48"/>
                    </a:moveTo>
                    <a:cubicBezTo>
                      <a:pt x="8" y="32"/>
                      <a:pt x="0" y="16"/>
                      <a:pt x="16" y="0"/>
                    </a:cubicBezTo>
                  </a:path>
                </a:pathLst>
              </a:custGeom>
              <a:noFill/>
              <a:ln w="28575" cmpd="sng">
                <a:solidFill>
                  <a:schemeClr val="tx1"/>
                </a:solidFill>
                <a:round/>
                <a:headEnd/>
                <a:tailEnd/>
              </a:ln>
              <a:effectLst/>
            </p:spPr>
            <p:txBody>
              <a:bodyPr/>
              <a:lstStyle/>
              <a:p>
                <a:endParaRPr lang="en-US"/>
              </a:p>
            </p:txBody>
          </p:sp>
          <p:sp>
            <p:nvSpPr>
              <p:cNvPr id="114702" name="Freeform 14"/>
              <p:cNvSpPr>
                <a:spLocks/>
              </p:cNvSpPr>
              <p:nvPr/>
            </p:nvSpPr>
            <p:spPr bwMode="auto">
              <a:xfrm>
                <a:off x="704" y="2352"/>
                <a:ext cx="16" cy="48"/>
              </a:xfrm>
              <a:custGeom>
                <a:avLst/>
                <a:gdLst/>
                <a:ahLst/>
                <a:cxnLst>
                  <a:cxn ang="0">
                    <a:pos x="16" y="48"/>
                  </a:cxn>
                  <a:cxn ang="0">
                    <a:pos x="16" y="0"/>
                  </a:cxn>
                </a:cxnLst>
                <a:rect l="0" t="0" r="r" b="b"/>
                <a:pathLst>
                  <a:path w="16" h="48">
                    <a:moveTo>
                      <a:pt x="16" y="48"/>
                    </a:moveTo>
                    <a:cubicBezTo>
                      <a:pt x="8" y="32"/>
                      <a:pt x="0" y="16"/>
                      <a:pt x="16" y="0"/>
                    </a:cubicBezTo>
                  </a:path>
                </a:pathLst>
              </a:custGeom>
              <a:noFill/>
              <a:ln w="28575" cmpd="sng">
                <a:solidFill>
                  <a:schemeClr val="tx1"/>
                </a:solidFill>
                <a:round/>
                <a:headEnd/>
                <a:tailEnd/>
              </a:ln>
              <a:effectLst/>
            </p:spPr>
            <p:txBody>
              <a:bodyPr/>
              <a:lstStyle/>
              <a:p>
                <a:endParaRPr lang="en-US"/>
              </a:p>
            </p:txBody>
          </p:sp>
        </p:grpSp>
        <p:sp>
          <p:nvSpPr>
            <p:cNvPr id="114703" name="Text Box 15"/>
            <p:cNvSpPr txBox="1">
              <a:spLocks noChangeArrowheads="1"/>
            </p:cNvSpPr>
            <p:nvPr/>
          </p:nvSpPr>
          <p:spPr bwMode="auto">
            <a:xfrm>
              <a:off x="3600" y="2064"/>
              <a:ext cx="816" cy="192"/>
            </a:xfrm>
            <a:prstGeom prst="rect">
              <a:avLst/>
            </a:prstGeom>
            <a:noFill/>
            <a:ln w="9525">
              <a:noFill/>
              <a:miter lim="800000"/>
              <a:headEnd/>
              <a:tailEnd/>
            </a:ln>
            <a:effectLst/>
          </p:spPr>
          <p:txBody>
            <a:bodyPr>
              <a:spAutoFit/>
            </a:bodyPr>
            <a:lstStyle/>
            <a:p>
              <a:pPr algn="ctr" eaLnBrk="1" hangingPunct="1">
                <a:spcBef>
                  <a:spcPct val="50000"/>
                </a:spcBef>
              </a:pPr>
              <a:r>
                <a:rPr lang="en-US" sz="1400">
                  <a:cs typeface="Arial" charset="0"/>
                </a:rPr>
                <a:t>Vakava</a:t>
              </a:r>
              <a:endParaRPr lang="en-GB" sz="1400">
                <a:cs typeface="Arial" charset="0"/>
              </a:endParaRPr>
            </a:p>
          </p:txBody>
        </p:sp>
      </p:grpSp>
      <p:grpSp>
        <p:nvGrpSpPr>
          <p:cNvPr id="4" name="Group 16"/>
          <p:cNvGrpSpPr>
            <a:grpSpLocks/>
          </p:cNvGrpSpPr>
          <p:nvPr/>
        </p:nvGrpSpPr>
        <p:grpSpPr bwMode="auto">
          <a:xfrm>
            <a:off x="2287588" y="2847975"/>
            <a:ext cx="1295400" cy="990600"/>
            <a:chOff x="1728" y="1536"/>
            <a:chExt cx="816" cy="624"/>
          </a:xfrm>
        </p:grpSpPr>
        <p:grpSp>
          <p:nvGrpSpPr>
            <p:cNvPr id="5" name="Group 17"/>
            <p:cNvGrpSpPr>
              <a:grpSpLocks/>
            </p:cNvGrpSpPr>
            <p:nvPr/>
          </p:nvGrpSpPr>
          <p:grpSpPr bwMode="auto">
            <a:xfrm>
              <a:off x="1920" y="1536"/>
              <a:ext cx="384" cy="432"/>
              <a:chOff x="1248" y="1920"/>
              <a:chExt cx="528" cy="432"/>
            </a:xfrm>
          </p:grpSpPr>
          <p:sp>
            <p:nvSpPr>
              <p:cNvPr id="114706" name="AutoShape 18"/>
              <p:cNvSpPr>
                <a:spLocks noChangeArrowheads="1"/>
              </p:cNvSpPr>
              <p:nvPr/>
            </p:nvSpPr>
            <p:spPr bwMode="auto">
              <a:xfrm>
                <a:off x="1248" y="1920"/>
                <a:ext cx="528" cy="432"/>
              </a:xfrm>
              <a:prstGeom prst="flowChartDocument">
                <a:avLst/>
              </a:prstGeom>
              <a:solidFill>
                <a:schemeClr val="bg1"/>
              </a:solidFill>
              <a:ln w="9525">
                <a:solidFill>
                  <a:schemeClr val="tx1"/>
                </a:solidFill>
                <a:miter lim="800000"/>
                <a:headEnd/>
                <a:tailEnd/>
              </a:ln>
              <a:effectLst/>
            </p:spPr>
            <p:txBody>
              <a:bodyPr wrap="none" anchor="ctr"/>
              <a:lstStyle/>
              <a:p>
                <a:endParaRPr lang="en-US"/>
              </a:p>
            </p:txBody>
          </p:sp>
          <p:sp>
            <p:nvSpPr>
              <p:cNvPr id="114707" name="Line 19"/>
              <p:cNvSpPr>
                <a:spLocks noChangeShapeType="1"/>
              </p:cNvSpPr>
              <p:nvPr/>
            </p:nvSpPr>
            <p:spPr bwMode="auto">
              <a:xfrm>
                <a:off x="1296" y="2016"/>
                <a:ext cx="432" cy="0"/>
              </a:xfrm>
              <a:prstGeom prst="line">
                <a:avLst/>
              </a:prstGeom>
              <a:noFill/>
              <a:ln w="9525" cap="rnd">
                <a:solidFill>
                  <a:schemeClr val="tx1"/>
                </a:solidFill>
                <a:prstDash val="sysDot"/>
                <a:round/>
                <a:headEnd/>
                <a:tailEnd/>
              </a:ln>
              <a:effectLst/>
            </p:spPr>
            <p:txBody>
              <a:bodyPr/>
              <a:lstStyle/>
              <a:p>
                <a:endParaRPr lang="en-US"/>
              </a:p>
            </p:txBody>
          </p:sp>
          <p:sp>
            <p:nvSpPr>
              <p:cNvPr id="114708" name="Line 20"/>
              <p:cNvSpPr>
                <a:spLocks noChangeShapeType="1"/>
              </p:cNvSpPr>
              <p:nvPr/>
            </p:nvSpPr>
            <p:spPr bwMode="auto">
              <a:xfrm>
                <a:off x="1296" y="2064"/>
                <a:ext cx="432" cy="0"/>
              </a:xfrm>
              <a:prstGeom prst="line">
                <a:avLst/>
              </a:prstGeom>
              <a:noFill/>
              <a:ln w="9525" cap="rnd">
                <a:solidFill>
                  <a:schemeClr val="tx1"/>
                </a:solidFill>
                <a:prstDash val="sysDot"/>
                <a:round/>
                <a:headEnd/>
                <a:tailEnd/>
              </a:ln>
              <a:effectLst/>
            </p:spPr>
            <p:txBody>
              <a:bodyPr/>
              <a:lstStyle/>
              <a:p>
                <a:endParaRPr lang="en-US"/>
              </a:p>
            </p:txBody>
          </p:sp>
          <p:sp>
            <p:nvSpPr>
              <p:cNvPr id="114709" name="Line 21"/>
              <p:cNvSpPr>
                <a:spLocks noChangeShapeType="1"/>
              </p:cNvSpPr>
              <p:nvPr/>
            </p:nvSpPr>
            <p:spPr bwMode="auto">
              <a:xfrm>
                <a:off x="1296" y="2112"/>
                <a:ext cx="432" cy="0"/>
              </a:xfrm>
              <a:prstGeom prst="line">
                <a:avLst/>
              </a:prstGeom>
              <a:noFill/>
              <a:ln w="9525" cap="rnd">
                <a:solidFill>
                  <a:schemeClr val="tx1"/>
                </a:solidFill>
                <a:prstDash val="sysDot"/>
                <a:round/>
                <a:headEnd/>
                <a:tailEnd/>
              </a:ln>
              <a:effectLst/>
            </p:spPr>
            <p:txBody>
              <a:bodyPr/>
              <a:lstStyle/>
              <a:p>
                <a:endParaRPr lang="en-US"/>
              </a:p>
            </p:txBody>
          </p:sp>
          <p:sp>
            <p:nvSpPr>
              <p:cNvPr id="114710" name="Line 22"/>
              <p:cNvSpPr>
                <a:spLocks noChangeShapeType="1"/>
              </p:cNvSpPr>
              <p:nvPr/>
            </p:nvSpPr>
            <p:spPr bwMode="auto">
              <a:xfrm>
                <a:off x="1296" y="2160"/>
                <a:ext cx="432" cy="0"/>
              </a:xfrm>
              <a:prstGeom prst="line">
                <a:avLst/>
              </a:prstGeom>
              <a:noFill/>
              <a:ln w="9525" cap="rnd">
                <a:solidFill>
                  <a:schemeClr val="tx1"/>
                </a:solidFill>
                <a:prstDash val="sysDot"/>
                <a:round/>
                <a:headEnd/>
                <a:tailEnd/>
              </a:ln>
              <a:effectLst/>
            </p:spPr>
            <p:txBody>
              <a:bodyPr/>
              <a:lstStyle/>
              <a:p>
                <a:endParaRPr lang="en-US"/>
              </a:p>
            </p:txBody>
          </p:sp>
          <p:sp>
            <p:nvSpPr>
              <p:cNvPr id="114711" name="Line 23"/>
              <p:cNvSpPr>
                <a:spLocks noChangeShapeType="1"/>
              </p:cNvSpPr>
              <p:nvPr/>
            </p:nvSpPr>
            <p:spPr bwMode="auto">
              <a:xfrm>
                <a:off x="1296" y="2208"/>
                <a:ext cx="432" cy="0"/>
              </a:xfrm>
              <a:prstGeom prst="line">
                <a:avLst/>
              </a:prstGeom>
              <a:noFill/>
              <a:ln w="9525" cap="rnd">
                <a:solidFill>
                  <a:schemeClr val="tx1"/>
                </a:solidFill>
                <a:prstDash val="sysDot"/>
                <a:round/>
                <a:headEnd/>
                <a:tailEnd/>
              </a:ln>
              <a:effectLst/>
            </p:spPr>
            <p:txBody>
              <a:bodyPr/>
              <a:lstStyle/>
              <a:p>
                <a:endParaRPr lang="en-US"/>
              </a:p>
            </p:txBody>
          </p:sp>
          <p:sp>
            <p:nvSpPr>
              <p:cNvPr id="114712" name="Line 24"/>
              <p:cNvSpPr>
                <a:spLocks noChangeShapeType="1"/>
              </p:cNvSpPr>
              <p:nvPr/>
            </p:nvSpPr>
            <p:spPr bwMode="auto">
              <a:xfrm>
                <a:off x="1296" y="2256"/>
                <a:ext cx="432" cy="0"/>
              </a:xfrm>
              <a:prstGeom prst="line">
                <a:avLst/>
              </a:prstGeom>
              <a:noFill/>
              <a:ln w="9525" cap="rnd">
                <a:solidFill>
                  <a:schemeClr val="tx1"/>
                </a:solidFill>
                <a:prstDash val="sysDot"/>
                <a:round/>
                <a:headEnd/>
                <a:tailEnd/>
              </a:ln>
              <a:effectLst/>
            </p:spPr>
            <p:txBody>
              <a:bodyPr/>
              <a:lstStyle/>
              <a:p>
                <a:endParaRPr lang="en-US"/>
              </a:p>
            </p:txBody>
          </p:sp>
          <p:sp>
            <p:nvSpPr>
              <p:cNvPr id="114713" name="Line 25"/>
              <p:cNvSpPr>
                <a:spLocks noChangeShapeType="1"/>
              </p:cNvSpPr>
              <p:nvPr/>
            </p:nvSpPr>
            <p:spPr bwMode="auto">
              <a:xfrm>
                <a:off x="1296" y="2304"/>
                <a:ext cx="240" cy="0"/>
              </a:xfrm>
              <a:prstGeom prst="line">
                <a:avLst/>
              </a:prstGeom>
              <a:noFill/>
              <a:ln w="9525" cap="rnd">
                <a:solidFill>
                  <a:schemeClr val="tx1"/>
                </a:solidFill>
                <a:prstDash val="sysDot"/>
                <a:round/>
                <a:headEnd/>
                <a:tailEnd/>
              </a:ln>
              <a:effectLst/>
            </p:spPr>
            <p:txBody>
              <a:bodyPr/>
              <a:lstStyle/>
              <a:p>
                <a:endParaRPr lang="en-US"/>
              </a:p>
            </p:txBody>
          </p:sp>
          <p:sp>
            <p:nvSpPr>
              <p:cNvPr id="114714" name="Line 26"/>
              <p:cNvSpPr>
                <a:spLocks noChangeShapeType="1"/>
              </p:cNvSpPr>
              <p:nvPr/>
            </p:nvSpPr>
            <p:spPr bwMode="auto">
              <a:xfrm>
                <a:off x="1296" y="1968"/>
                <a:ext cx="432" cy="0"/>
              </a:xfrm>
              <a:prstGeom prst="line">
                <a:avLst/>
              </a:prstGeom>
              <a:noFill/>
              <a:ln w="9525" cap="rnd">
                <a:solidFill>
                  <a:schemeClr val="tx1"/>
                </a:solidFill>
                <a:prstDash val="sysDot"/>
                <a:round/>
                <a:headEnd/>
                <a:tailEnd/>
              </a:ln>
              <a:effectLst/>
            </p:spPr>
            <p:txBody>
              <a:bodyPr/>
              <a:lstStyle/>
              <a:p>
                <a:endParaRPr lang="en-US"/>
              </a:p>
            </p:txBody>
          </p:sp>
        </p:grpSp>
        <p:sp>
          <p:nvSpPr>
            <p:cNvPr id="114715" name="Text Box 27"/>
            <p:cNvSpPr txBox="1">
              <a:spLocks noChangeArrowheads="1"/>
            </p:cNvSpPr>
            <p:nvPr/>
          </p:nvSpPr>
          <p:spPr bwMode="auto">
            <a:xfrm>
              <a:off x="1728" y="1968"/>
              <a:ext cx="816" cy="192"/>
            </a:xfrm>
            <a:prstGeom prst="rect">
              <a:avLst/>
            </a:prstGeom>
            <a:noFill/>
            <a:ln w="9525">
              <a:noFill/>
              <a:miter lim="800000"/>
              <a:headEnd/>
              <a:tailEnd/>
            </a:ln>
            <a:effectLst/>
          </p:spPr>
          <p:txBody>
            <a:bodyPr>
              <a:spAutoFit/>
            </a:bodyPr>
            <a:lstStyle/>
            <a:p>
              <a:pPr algn="ctr" eaLnBrk="1" hangingPunct="1">
                <a:spcBef>
                  <a:spcPct val="50000"/>
                </a:spcBef>
              </a:pPr>
              <a:r>
                <a:rPr lang="en-US" sz="1400">
                  <a:cs typeface="Arial" charset="0"/>
                </a:rPr>
                <a:t>Testitapaus</a:t>
              </a:r>
              <a:endParaRPr lang="en-GB" sz="1400">
                <a:cs typeface="Arial" charset="0"/>
              </a:endParaRPr>
            </a:p>
          </p:txBody>
        </p:sp>
      </p:grpSp>
      <p:sp>
        <p:nvSpPr>
          <p:cNvPr id="114716" name="Text Box 28"/>
          <p:cNvSpPr txBox="1">
            <a:spLocks noChangeArrowheads="1"/>
          </p:cNvSpPr>
          <p:nvPr/>
        </p:nvSpPr>
        <p:spPr bwMode="auto">
          <a:xfrm>
            <a:off x="2287588" y="2009775"/>
            <a:ext cx="1498594" cy="915988"/>
          </a:xfrm>
          <a:prstGeom prst="rect">
            <a:avLst/>
          </a:prstGeom>
          <a:noFill/>
          <a:ln w="9525">
            <a:noFill/>
            <a:miter lim="800000"/>
            <a:headEnd/>
            <a:tailEnd/>
          </a:ln>
          <a:effectLst/>
        </p:spPr>
        <p:txBody>
          <a:bodyPr wrap="square">
            <a:spAutoFit/>
          </a:bodyPr>
          <a:lstStyle/>
          <a:p>
            <a:pPr algn="ctr" eaLnBrk="1" hangingPunct="1">
              <a:spcBef>
                <a:spcPct val="50000"/>
              </a:spcBef>
            </a:pPr>
            <a:r>
              <a:rPr lang="en-US" dirty="0" err="1">
                <a:solidFill>
                  <a:schemeClr val="hlink"/>
                </a:solidFill>
                <a:cs typeface="Arial" charset="0"/>
              </a:rPr>
              <a:t>Koitamme</a:t>
            </a:r>
            <a:r>
              <a:rPr lang="en-US" dirty="0">
                <a:solidFill>
                  <a:schemeClr val="hlink"/>
                </a:solidFill>
                <a:cs typeface="Arial" charset="0"/>
              </a:rPr>
              <a:t> </a:t>
            </a:r>
            <a:r>
              <a:rPr lang="en-US" dirty="0" err="1">
                <a:solidFill>
                  <a:schemeClr val="hlink"/>
                </a:solidFill>
                <a:cs typeface="Arial" charset="0"/>
              </a:rPr>
              <a:t>kohdistaa</a:t>
            </a:r>
            <a:r>
              <a:rPr lang="en-US" dirty="0">
                <a:solidFill>
                  <a:schemeClr val="hlink"/>
                </a:solidFill>
                <a:cs typeface="Arial" charset="0"/>
              </a:rPr>
              <a:t> </a:t>
            </a:r>
            <a:r>
              <a:rPr lang="en-US" dirty="0" err="1">
                <a:solidFill>
                  <a:schemeClr val="hlink"/>
                </a:solidFill>
                <a:cs typeface="Arial" charset="0"/>
              </a:rPr>
              <a:t>näitä</a:t>
            </a:r>
            <a:r>
              <a:rPr lang="en-US" dirty="0">
                <a:solidFill>
                  <a:schemeClr val="hlink"/>
                </a:solidFill>
                <a:cs typeface="Arial" charset="0"/>
              </a:rPr>
              <a:t>…</a:t>
            </a:r>
            <a:endParaRPr lang="en-GB" dirty="0">
              <a:solidFill>
                <a:schemeClr val="hlink"/>
              </a:solidFill>
              <a:cs typeface="Arial" charset="0"/>
            </a:endParaRPr>
          </a:p>
        </p:txBody>
      </p:sp>
      <p:sp>
        <p:nvSpPr>
          <p:cNvPr id="114717" name="Text Box 29"/>
          <p:cNvSpPr txBox="1">
            <a:spLocks noChangeArrowheads="1"/>
          </p:cNvSpPr>
          <p:nvPr/>
        </p:nvSpPr>
        <p:spPr bwMode="auto">
          <a:xfrm>
            <a:off x="4071934" y="1949450"/>
            <a:ext cx="2406654" cy="641350"/>
          </a:xfrm>
          <a:prstGeom prst="rect">
            <a:avLst/>
          </a:prstGeom>
          <a:noFill/>
          <a:ln w="9525">
            <a:noFill/>
            <a:miter lim="800000"/>
            <a:headEnd/>
            <a:tailEnd/>
          </a:ln>
          <a:effectLst/>
        </p:spPr>
        <p:txBody>
          <a:bodyPr wrap="square">
            <a:spAutoFit/>
          </a:bodyPr>
          <a:lstStyle/>
          <a:p>
            <a:pPr algn="ctr" eaLnBrk="1" hangingPunct="1">
              <a:spcBef>
                <a:spcPct val="50000"/>
              </a:spcBef>
            </a:pPr>
            <a:r>
              <a:rPr lang="en-US" dirty="0">
                <a:solidFill>
                  <a:schemeClr val="hlink"/>
                </a:solidFill>
                <a:cs typeface="Arial" charset="0"/>
              </a:rPr>
              <a:t>…</a:t>
            </a:r>
            <a:r>
              <a:rPr lang="en-US" dirty="0" err="1">
                <a:solidFill>
                  <a:schemeClr val="hlink"/>
                </a:solidFill>
                <a:cs typeface="Arial" charset="0"/>
              </a:rPr>
              <a:t>löytääksemme</a:t>
            </a:r>
            <a:r>
              <a:rPr lang="en-US" dirty="0">
                <a:solidFill>
                  <a:schemeClr val="hlink"/>
                </a:solidFill>
                <a:cs typeface="Arial" charset="0"/>
              </a:rPr>
              <a:t> </a:t>
            </a:r>
            <a:r>
              <a:rPr lang="en-US" dirty="0" err="1">
                <a:solidFill>
                  <a:schemeClr val="hlink"/>
                </a:solidFill>
                <a:cs typeface="Arial" charset="0"/>
              </a:rPr>
              <a:t>näitä</a:t>
            </a:r>
            <a:r>
              <a:rPr lang="en-US" dirty="0">
                <a:solidFill>
                  <a:schemeClr val="hlink"/>
                </a:solidFill>
                <a:cs typeface="Arial" charset="0"/>
              </a:rPr>
              <a:t>…</a:t>
            </a:r>
            <a:endParaRPr lang="en-GB" dirty="0">
              <a:solidFill>
                <a:schemeClr val="hlink"/>
              </a:solidFill>
              <a:cs typeface="Arial" charset="0"/>
            </a:endParaRPr>
          </a:p>
        </p:txBody>
      </p:sp>
      <p:sp>
        <p:nvSpPr>
          <p:cNvPr id="114718" name="Text Box 30"/>
          <p:cNvSpPr txBox="1">
            <a:spLocks noChangeArrowheads="1"/>
          </p:cNvSpPr>
          <p:nvPr/>
        </p:nvSpPr>
        <p:spPr bwMode="auto">
          <a:xfrm>
            <a:off x="2555875" y="4692650"/>
            <a:ext cx="2017713" cy="1465263"/>
          </a:xfrm>
          <a:prstGeom prst="rect">
            <a:avLst/>
          </a:prstGeom>
          <a:noFill/>
          <a:ln w="9525">
            <a:noFill/>
            <a:miter lim="800000"/>
            <a:headEnd/>
            <a:tailEnd/>
          </a:ln>
          <a:effectLst/>
        </p:spPr>
        <p:txBody>
          <a:bodyPr>
            <a:spAutoFit/>
          </a:bodyPr>
          <a:lstStyle/>
          <a:p>
            <a:pPr algn="ctr" eaLnBrk="1" hangingPunct="1">
              <a:spcBef>
                <a:spcPct val="50000"/>
              </a:spcBef>
            </a:pPr>
            <a:r>
              <a:rPr lang="en-US">
                <a:solidFill>
                  <a:schemeClr val="hlink"/>
                </a:solidFill>
                <a:cs typeface="Arial" charset="0"/>
              </a:rPr>
              <a:t>…ja kertoaksemme jos on muuta ja millä tasolla tiedämme.</a:t>
            </a:r>
            <a:endParaRPr lang="en-GB">
              <a:solidFill>
                <a:schemeClr val="hlink"/>
              </a:solidFill>
              <a:cs typeface="Arial" charset="0"/>
            </a:endParaRPr>
          </a:p>
        </p:txBody>
      </p:sp>
      <p:grpSp>
        <p:nvGrpSpPr>
          <p:cNvPr id="6" name="Group 32"/>
          <p:cNvGrpSpPr>
            <a:grpSpLocks/>
          </p:cNvGrpSpPr>
          <p:nvPr/>
        </p:nvGrpSpPr>
        <p:grpSpPr bwMode="auto">
          <a:xfrm>
            <a:off x="4649788" y="4905375"/>
            <a:ext cx="1392237" cy="533400"/>
            <a:chOff x="768" y="2976"/>
            <a:chExt cx="816" cy="528"/>
          </a:xfrm>
        </p:grpSpPr>
        <p:sp>
          <p:nvSpPr>
            <p:cNvPr id="114721" name="Rectangle 33"/>
            <p:cNvSpPr>
              <a:spLocks noChangeArrowheads="1"/>
            </p:cNvSpPr>
            <p:nvPr/>
          </p:nvSpPr>
          <p:spPr bwMode="auto">
            <a:xfrm>
              <a:off x="1344" y="2976"/>
              <a:ext cx="240" cy="96"/>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14722" name="Line 34"/>
            <p:cNvSpPr>
              <a:spLocks noChangeShapeType="1"/>
            </p:cNvSpPr>
            <p:nvPr/>
          </p:nvSpPr>
          <p:spPr bwMode="auto">
            <a:xfrm>
              <a:off x="768" y="3024"/>
              <a:ext cx="576" cy="0"/>
            </a:xfrm>
            <a:prstGeom prst="line">
              <a:avLst/>
            </a:prstGeom>
            <a:noFill/>
            <a:ln w="12700">
              <a:solidFill>
                <a:schemeClr val="tx1"/>
              </a:solidFill>
              <a:round/>
              <a:headEnd/>
              <a:tailEnd/>
            </a:ln>
            <a:effectLst/>
          </p:spPr>
          <p:txBody>
            <a:bodyPr/>
            <a:lstStyle/>
            <a:p>
              <a:endParaRPr lang="en-US"/>
            </a:p>
          </p:txBody>
        </p:sp>
        <p:sp>
          <p:nvSpPr>
            <p:cNvPr id="114723" name="Rectangle 35"/>
            <p:cNvSpPr>
              <a:spLocks noChangeArrowheads="1"/>
            </p:cNvSpPr>
            <p:nvPr/>
          </p:nvSpPr>
          <p:spPr bwMode="auto">
            <a:xfrm>
              <a:off x="1344" y="3120"/>
              <a:ext cx="240" cy="96"/>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14724" name="Line 36"/>
            <p:cNvSpPr>
              <a:spLocks noChangeShapeType="1"/>
            </p:cNvSpPr>
            <p:nvPr/>
          </p:nvSpPr>
          <p:spPr bwMode="auto">
            <a:xfrm>
              <a:off x="960" y="3168"/>
              <a:ext cx="384" cy="0"/>
            </a:xfrm>
            <a:prstGeom prst="line">
              <a:avLst/>
            </a:prstGeom>
            <a:noFill/>
            <a:ln w="12700">
              <a:solidFill>
                <a:schemeClr val="tx1"/>
              </a:solidFill>
              <a:round/>
              <a:headEnd/>
              <a:tailEnd/>
            </a:ln>
            <a:effectLst/>
          </p:spPr>
          <p:txBody>
            <a:bodyPr/>
            <a:lstStyle/>
            <a:p>
              <a:endParaRPr lang="en-US"/>
            </a:p>
          </p:txBody>
        </p:sp>
        <p:sp>
          <p:nvSpPr>
            <p:cNvPr id="114725" name="Rectangle 37"/>
            <p:cNvSpPr>
              <a:spLocks noChangeArrowheads="1"/>
            </p:cNvSpPr>
            <p:nvPr/>
          </p:nvSpPr>
          <p:spPr bwMode="auto">
            <a:xfrm>
              <a:off x="1344" y="3264"/>
              <a:ext cx="240" cy="96"/>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14726" name="Line 38"/>
            <p:cNvSpPr>
              <a:spLocks noChangeShapeType="1"/>
            </p:cNvSpPr>
            <p:nvPr/>
          </p:nvSpPr>
          <p:spPr bwMode="auto">
            <a:xfrm>
              <a:off x="960" y="3312"/>
              <a:ext cx="384" cy="0"/>
            </a:xfrm>
            <a:prstGeom prst="line">
              <a:avLst/>
            </a:prstGeom>
            <a:noFill/>
            <a:ln w="12700">
              <a:solidFill>
                <a:schemeClr val="tx1"/>
              </a:solidFill>
              <a:round/>
              <a:headEnd/>
              <a:tailEnd/>
            </a:ln>
            <a:effectLst/>
          </p:spPr>
          <p:txBody>
            <a:bodyPr/>
            <a:lstStyle/>
            <a:p>
              <a:endParaRPr lang="en-US"/>
            </a:p>
          </p:txBody>
        </p:sp>
        <p:sp>
          <p:nvSpPr>
            <p:cNvPr id="114727" name="Rectangle 39"/>
            <p:cNvSpPr>
              <a:spLocks noChangeArrowheads="1"/>
            </p:cNvSpPr>
            <p:nvPr/>
          </p:nvSpPr>
          <p:spPr bwMode="auto">
            <a:xfrm>
              <a:off x="1344" y="3408"/>
              <a:ext cx="240" cy="96"/>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14728" name="Line 40"/>
            <p:cNvSpPr>
              <a:spLocks noChangeShapeType="1"/>
            </p:cNvSpPr>
            <p:nvPr/>
          </p:nvSpPr>
          <p:spPr bwMode="auto">
            <a:xfrm>
              <a:off x="864" y="3456"/>
              <a:ext cx="480" cy="0"/>
            </a:xfrm>
            <a:prstGeom prst="line">
              <a:avLst/>
            </a:prstGeom>
            <a:noFill/>
            <a:ln w="12700">
              <a:solidFill>
                <a:schemeClr val="tx1"/>
              </a:solidFill>
              <a:round/>
              <a:headEnd/>
              <a:tailEnd/>
            </a:ln>
            <a:effectLst/>
          </p:spPr>
          <p:txBody>
            <a:bodyPr/>
            <a:lstStyle/>
            <a:p>
              <a:endParaRPr lang="en-US"/>
            </a:p>
          </p:txBody>
        </p:sp>
        <p:sp>
          <p:nvSpPr>
            <p:cNvPr id="114729" name="Line 41"/>
            <p:cNvSpPr>
              <a:spLocks noChangeShapeType="1"/>
            </p:cNvSpPr>
            <p:nvPr/>
          </p:nvSpPr>
          <p:spPr bwMode="auto">
            <a:xfrm flipV="1">
              <a:off x="864" y="3024"/>
              <a:ext cx="0" cy="432"/>
            </a:xfrm>
            <a:prstGeom prst="line">
              <a:avLst/>
            </a:prstGeom>
            <a:noFill/>
            <a:ln w="12700">
              <a:solidFill>
                <a:schemeClr val="tx1"/>
              </a:solidFill>
              <a:round/>
              <a:headEnd/>
              <a:tailEnd/>
            </a:ln>
            <a:effectLst/>
          </p:spPr>
          <p:txBody>
            <a:bodyPr/>
            <a:lstStyle/>
            <a:p>
              <a:endParaRPr lang="en-US"/>
            </a:p>
          </p:txBody>
        </p:sp>
        <p:sp>
          <p:nvSpPr>
            <p:cNvPr id="114730" name="Line 42"/>
            <p:cNvSpPr>
              <a:spLocks noChangeShapeType="1"/>
            </p:cNvSpPr>
            <p:nvPr/>
          </p:nvSpPr>
          <p:spPr bwMode="auto">
            <a:xfrm flipV="1">
              <a:off x="960" y="3024"/>
              <a:ext cx="0" cy="288"/>
            </a:xfrm>
            <a:prstGeom prst="line">
              <a:avLst/>
            </a:prstGeom>
            <a:noFill/>
            <a:ln w="12700">
              <a:solidFill>
                <a:schemeClr val="tx1"/>
              </a:solidFill>
              <a:round/>
              <a:headEnd/>
              <a:tailEnd/>
            </a:ln>
            <a:effectLst/>
          </p:spPr>
          <p:txBody>
            <a:bodyPr/>
            <a:lstStyle/>
            <a:p>
              <a:endParaRPr lang="en-US"/>
            </a:p>
          </p:txBody>
        </p:sp>
      </p:grpSp>
      <p:sp>
        <p:nvSpPr>
          <p:cNvPr id="114731" name="Text Box 43"/>
          <p:cNvSpPr txBox="1">
            <a:spLocks noChangeArrowheads="1"/>
          </p:cNvSpPr>
          <p:nvPr/>
        </p:nvSpPr>
        <p:spPr bwMode="auto">
          <a:xfrm>
            <a:off x="4421188" y="5438775"/>
            <a:ext cx="2151062" cy="1262063"/>
          </a:xfrm>
          <a:prstGeom prst="rect">
            <a:avLst/>
          </a:prstGeom>
          <a:noFill/>
          <a:ln w="9525">
            <a:noFill/>
            <a:miter lim="800000"/>
            <a:headEnd/>
            <a:tailEnd/>
          </a:ln>
          <a:effectLst/>
        </p:spPr>
        <p:txBody>
          <a:bodyPr>
            <a:spAutoFit/>
          </a:bodyPr>
          <a:lstStyle/>
          <a:p>
            <a:pPr algn="ctr" eaLnBrk="1" hangingPunct="1">
              <a:spcBef>
                <a:spcPct val="50000"/>
              </a:spcBef>
            </a:pPr>
            <a:r>
              <a:rPr lang="fi-FI" sz="1400" dirty="0">
                <a:cs typeface="Arial" charset="0"/>
              </a:rPr>
              <a:t>Kattavuus</a:t>
            </a:r>
            <a:endParaRPr lang="en-US" sz="1400" dirty="0">
              <a:cs typeface="Arial" charset="0"/>
            </a:endParaRPr>
          </a:p>
          <a:p>
            <a:pPr algn="ctr" eaLnBrk="1" hangingPunct="1">
              <a:spcBef>
                <a:spcPct val="50000"/>
              </a:spcBef>
            </a:pPr>
            <a:r>
              <a:rPr lang="en-US" sz="1400" dirty="0">
                <a:cs typeface="Arial" charset="0"/>
              </a:rPr>
              <a:t>VAATIMUKSET</a:t>
            </a:r>
            <a:br>
              <a:rPr lang="en-US" sz="1400" dirty="0">
                <a:cs typeface="Arial" charset="0"/>
              </a:rPr>
            </a:br>
            <a:r>
              <a:rPr lang="en-US" sz="1400" dirty="0">
                <a:cs typeface="Arial" charset="0"/>
              </a:rPr>
              <a:t>RISKIT</a:t>
            </a:r>
            <a:br>
              <a:rPr lang="en-US" sz="1400" dirty="0">
                <a:cs typeface="Arial" charset="0"/>
              </a:rPr>
            </a:br>
            <a:r>
              <a:rPr lang="en-US" sz="1400" dirty="0">
                <a:cs typeface="Arial" charset="0"/>
              </a:rPr>
              <a:t>KOODI</a:t>
            </a:r>
            <a:br>
              <a:rPr lang="en-US" sz="1400" dirty="0">
                <a:cs typeface="Arial" charset="0"/>
              </a:rPr>
            </a:br>
            <a:r>
              <a:rPr lang="en-US" sz="1400" dirty="0">
                <a:cs typeface="Arial" charset="0"/>
              </a:rPr>
              <a:t>YMPÄRISTÖT</a:t>
            </a:r>
            <a:endParaRPr lang="en-GB" sz="1400" dirty="0">
              <a:cs typeface="Arial" charset="0"/>
            </a:endParaRPr>
          </a:p>
        </p:txBody>
      </p:sp>
      <p:sp>
        <p:nvSpPr>
          <p:cNvPr id="114732" name="Text Box 44"/>
          <p:cNvSpPr txBox="1">
            <a:spLocks noChangeArrowheads="1"/>
          </p:cNvSpPr>
          <p:nvPr/>
        </p:nvSpPr>
        <p:spPr bwMode="auto">
          <a:xfrm>
            <a:off x="395288" y="1989138"/>
            <a:ext cx="1871662" cy="2073275"/>
          </a:xfrm>
          <a:prstGeom prst="rect">
            <a:avLst/>
          </a:prstGeom>
          <a:noFill/>
          <a:ln w="9525">
            <a:noFill/>
            <a:miter lim="800000"/>
            <a:headEnd/>
            <a:tailEnd/>
          </a:ln>
          <a:effectLst/>
        </p:spPr>
        <p:txBody>
          <a:bodyPr>
            <a:spAutoFit/>
          </a:bodyPr>
          <a:lstStyle/>
          <a:p>
            <a:pPr algn="ctr" eaLnBrk="1" hangingPunct="1">
              <a:spcBef>
                <a:spcPct val="50000"/>
              </a:spcBef>
            </a:pPr>
            <a:r>
              <a:rPr lang="en-US" sz="2000">
                <a:solidFill>
                  <a:srgbClr val="FF3300"/>
                </a:solidFill>
                <a:cs typeface="Arial" charset="0"/>
              </a:rPr>
              <a:t>MITÄ</a:t>
            </a:r>
            <a:br>
              <a:rPr lang="en-US" sz="2000">
                <a:solidFill>
                  <a:srgbClr val="FF3300"/>
                </a:solidFill>
                <a:cs typeface="Arial" charset="0"/>
              </a:rPr>
            </a:br>
            <a:r>
              <a:rPr lang="en-US" sz="2000">
                <a:solidFill>
                  <a:srgbClr val="FF3300"/>
                </a:solidFill>
                <a:cs typeface="Arial" charset="0"/>
              </a:rPr>
              <a:t>MILLOIN</a:t>
            </a:r>
            <a:br>
              <a:rPr lang="en-US" sz="2000">
                <a:solidFill>
                  <a:srgbClr val="FF3300"/>
                </a:solidFill>
                <a:cs typeface="Arial" charset="0"/>
              </a:rPr>
            </a:br>
            <a:r>
              <a:rPr lang="en-US" sz="2000">
                <a:solidFill>
                  <a:srgbClr val="FF3300"/>
                </a:solidFill>
                <a:cs typeface="Arial" charset="0"/>
              </a:rPr>
              <a:t>KUKA</a:t>
            </a:r>
            <a:br>
              <a:rPr lang="en-US" sz="2000">
                <a:solidFill>
                  <a:srgbClr val="FF3300"/>
                </a:solidFill>
                <a:cs typeface="Arial" charset="0"/>
              </a:rPr>
            </a:br>
            <a:r>
              <a:rPr lang="en-US" sz="2000">
                <a:solidFill>
                  <a:srgbClr val="FF3300"/>
                </a:solidFill>
                <a:cs typeface="Arial" charset="0"/>
              </a:rPr>
              <a:t>KUINKA</a:t>
            </a:r>
            <a:br>
              <a:rPr lang="en-US" sz="2000">
                <a:solidFill>
                  <a:srgbClr val="FF3300"/>
                </a:solidFill>
                <a:cs typeface="Arial" charset="0"/>
              </a:rPr>
            </a:br>
            <a:r>
              <a:rPr lang="en-US" sz="2000">
                <a:solidFill>
                  <a:srgbClr val="FF3300"/>
                </a:solidFill>
                <a:cs typeface="Arial" charset="0"/>
              </a:rPr>
              <a:t>MIKSI</a:t>
            </a:r>
          </a:p>
          <a:p>
            <a:pPr algn="ctr" eaLnBrk="1" hangingPunct="1">
              <a:spcBef>
                <a:spcPct val="50000"/>
              </a:spcBef>
            </a:pPr>
            <a:r>
              <a:rPr lang="en-US" sz="2000">
                <a:solidFill>
                  <a:srgbClr val="FF3300"/>
                </a:solidFill>
                <a:cs typeface="Arial" charset="0"/>
              </a:rPr>
              <a:t>(MITEN)</a:t>
            </a:r>
            <a:endParaRPr lang="en-GB" sz="2000">
              <a:solidFill>
                <a:srgbClr val="FF3300"/>
              </a:solidFill>
              <a:cs typeface="Arial" charset="0"/>
            </a:endParaRPr>
          </a:p>
        </p:txBody>
      </p:sp>
      <p:sp>
        <p:nvSpPr>
          <p:cNvPr id="114734" name="Freeform 46"/>
          <p:cNvSpPr>
            <a:spLocks/>
          </p:cNvSpPr>
          <p:nvPr/>
        </p:nvSpPr>
        <p:spPr bwMode="auto">
          <a:xfrm>
            <a:off x="6097588" y="2085975"/>
            <a:ext cx="762000" cy="990600"/>
          </a:xfrm>
          <a:custGeom>
            <a:avLst/>
            <a:gdLst/>
            <a:ahLst/>
            <a:cxnLst>
              <a:cxn ang="0">
                <a:pos x="0" y="624"/>
              </a:cxn>
              <a:cxn ang="0">
                <a:pos x="96" y="288"/>
              </a:cxn>
              <a:cxn ang="0">
                <a:pos x="480" y="0"/>
              </a:cxn>
            </a:cxnLst>
            <a:rect l="0" t="0" r="r" b="b"/>
            <a:pathLst>
              <a:path w="480" h="624">
                <a:moveTo>
                  <a:pt x="0" y="624"/>
                </a:moveTo>
                <a:cubicBezTo>
                  <a:pt x="8" y="508"/>
                  <a:pt x="16" y="392"/>
                  <a:pt x="96" y="288"/>
                </a:cubicBezTo>
                <a:cubicBezTo>
                  <a:pt x="176" y="184"/>
                  <a:pt x="328" y="92"/>
                  <a:pt x="480" y="0"/>
                </a:cubicBezTo>
              </a:path>
            </a:pathLst>
          </a:custGeom>
          <a:noFill/>
          <a:ln w="9525">
            <a:solidFill>
              <a:schemeClr val="tx1"/>
            </a:solidFill>
            <a:round/>
            <a:headEnd type="none" w="med" len="med"/>
            <a:tailEnd type="triangle" w="med" len="med"/>
          </a:ln>
          <a:effectLst/>
        </p:spPr>
        <p:txBody>
          <a:bodyPr/>
          <a:lstStyle/>
          <a:p>
            <a:endParaRPr lang="en-US"/>
          </a:p>
        </p:txBody>
      </p:sp>
      <p:sp>
        <p:nvSpPr>
          <p:cNvPr id="114738" name="Freeform 50"/>
          <p:cNvSpPr>
            <a:spLocks/>
          </p:cNvSpPr>
          <p:nvPr/>
        </p:nvSpPr>
        <p:spPr bwMode="auto">
          <a:xfrm>
            <a:off x="6097588" y="2771775"/>
            <a:ext cx="685800" cy="457200"/>
          </a:xfrm>
          <a:custGeom>
            <a:avLst/>
            <a:gdLst/>
            <a:ahLst/>
            <a:cxnLst>
              <a:cxn ang="0">
                <a:pos x="0" y="288"/>
              </a:cxn>
              <a:cxn ang="0">
                <a:pos x="144" y="48"/>
              </a:cxn>
              <a:cxn ang="0">
                <a:pos x="432" y="0"/>
              </a:cxn>
            </a:cxnLst>
            <a:rect l="0" t="0" r="r" b="b"/>
            <a:pathLst>
              <a:path w="432" h="288">
                <a:moveTo>
                  <a:pt x="0" y="288"/>
                </a:moveTo>
                <a:cubicBezTo>
                  <a:pt x="36" y="192"/>
                  <a:pt x="72" y="96"/>
                  <a:pt x="144" y="48"/>
                </a:cubicBezTo>
                <a:cubicBezTo>
                  <a:pt x="216" y="0"/>
                  <a:pt x="324" y="0"/>
                  <a:pt x="432" y="0"/>
                </a:cubicBezTo>
              </a:path>
            </a:pathLst>
          </a:custGeom>
          <a:noFill/>
          <a:ln w="9525">
            <a:solidFill>
              <a:schemeClr val="tx1"/>
            </a:solidFill>
            <a:round/>
            <a:headEnd type="none" w="med" len="med"/>
            <a:tailEnd type="triangle" w="med" len="med"/>
          </a:ln>
          <a:effectLst/>
        </p:spPr>
        <p:txBody>
          <a:bodyPr/>
          <a:lstStyle/>
          <a:p>
            <a:endParaRPr lang="en-US"/>
          </a:p>
        </p:txBody>
      </p:sp>
      <p:sp>
        <p:nvSpPr>
          <p:cNvPr id="114739" name="Freeform 51"/>
          <p:cNvSpPr>
            <a:spLocks/>
          </p:cNvSpPr>
          <p:nvPr/>
        </p:nvSpPr>
        <p:spPr bwMode="auto">
          <a:xfrm>
            <a:off x="6097588" y="3305175"/>
            <a:ext cx="685800" cy="177800"/>
          </a:xfrm>
          <a:custGeom>
            <a:avLst/>
            <a:gdLst/>
            <a:ahLst/>
            <a:cxnLst>
              <a:cxn ang="0">
                <a:pos x="0" y="0"/>
              </a:cxn>
              <a:cxn ang="0">
                <a:pos x="192" y="96"/>
              </a:cxn>
              <a:cxn ang="0">
                <a:pos x="432" y="96"/>
              </a:cxn>
            </a:cxnLst>
            <a:rect l="0" t="0" r="r" b="b"/>
            <a:pathLst>
              <a:path w="432" h="112">
                <a:moveTo>
                  <a:pt x="0" y="0"/>
                </a:moveTo>
                <a:cubicBezTo>
                  <a:pt x="60" y="40"/>
                  <a:pt x="120" y="80"/>
                  <a:pt x="192" y="96"/>
                </a:cubicBezTo>
                <a:cubicBezTo>
                  <a:pt x="264" y="112"/>
                  <a:pt x="348" y="104"/>
                  <a:pt x="432" y="96"/>
                </a:cubicBezTo>
              </a:path>
            </a:pathLst>
          </a:custGeom>
          <a:noFill/>
          <a:ln w="9525">
            <a:solidFill>
              <a:schemeClr val="tx1"/>
            </a:solidFill>
            <a:round/>
            <a:headEnd type="none" w="med" len="med"/>
            <a:tailEnd type="triangle" w="med" len="med"/>
          </a:ln>
          <a:effectLst/>
        </p:spPr>
        <p:txBody>
          <a:bodyPr/>
          <a:lstStyle/>
          <a:p>
            <a:endParaRPr lang="en-US"/>
          </a:p>
        </p:txBody>
      </p:sp>
      <p:sp>
        <p:nvSpPr>
          <p:cNvPr id="114740" name="Freeform 52"/>
          <p:cNvSpPr>
            <a:spLocks/>
          </p:cNvSpPr>
          <p:nvPr/>
        </p:nvSpPr>
        <p:spPr bwMode="auto">
          <a:xfrm>
            <a:off x="6097588" y="3457575"/>
            <a:ext cx="685800" cy="533400"/>
          </a:xfrm>
          <a:custGeom>
            <a:avLst/>
            <a:gdLst/>
            <a:ahLst/>
            <a:cxnLst>
              <a:cxn ang="0">
                <a:pos x="0" y="0"/>
              </a:cxn>
              <a:cxn ang="0">
                <a:pos x="192" y="240"/>
              </a:cxn>
              <a:cxn ang="0">
                <a:pos x="432" y="336"/>
              </a:cxn>
            </a:cxnLst>
            <a:rect l="0" t="0" r="r" b="b"/>
            <a:pathLst>
              <a:path w="432" h="336">
                <a:moveTo>
                  <a:pt x="0" y="0"/>
                </a:moveTo>
                <a:cubicBezTo>
                  <a:pt x="60" y="92"/>
                  <a:pt x="120" y="184"/>
                  <a:pt x="192" y="240"/>
                </a:cubicBezTo>
                <a:cubicBezTo>
                  <a:pt x="264" y="296"/>
                  <a:pt x="348" y="316"/>
                  <a:pt x="432" y="336"/>
                </a:cubicBezTo>
              </a:path>
            </a:pathLst>
          </a:custGeom>
          <a:noFill/>
          <a:ln w="9525">
            <a:solidFill>
              <a:schemeClr val="tx1"/>
            </a:solidFill>
            <a:round/>
            <a:headEnd type="none" w="med" len="med"/>
            <a:tailEnd type="triangle" w="med" len="med"/>
          </a:ln>
          <a:effectLst/>
        </p:spPr>
        <p:txBody>
          <a:bodyPr/>
          <a:lstStyle/>
          <a:p>
            <a:endParaRPr lang="en-US"/>
          </a:p>
        </p:txBody>
      </p:sp>
      <p:sp>
        <p:nvSpPr>
          <p:cNvPr id="114741" name="Line 53"/>
          <p:cNvSpPr>
            <a:spLocks noChangeShapeType="1"/>
          </p:cNvSpPr>
          <p:nvPr/>
        </p:nvSpPr>
        <p:spPr bwMode="auto">
          <a:xfrm flipH="1" flipV="1">
            <a:off x="3354388" y="3914775"/>
            <a:ext cx="1600200" cy="838200"/>
          </a:xfrm>
          <a:prstGeom prst="line">
            <a:avLst/>
          </a:prstGeom>
          <a:noFill/>
          <a:ln w="9525">
            <a:solidFill>
              <a:schemeClr val="tx1"/>
            </a:solidFill>
            <a:round/>
            <a:headEnd/>
            <a:tailEnd type="triangle" w="med" len="med"/>
          </a:ln>
          <a:effectLst/>
        </p:spPr>
        <p:txBody>
          <a:bodyPr/>
          <a:lstStyle/>
          <a:p>
            <a:endParaRPr lang="en-US"/>
          </a:p>
        </p:txBody>
      </p:sp>
      <p:sp>
        <p:nvSpPr>
          <p:cNvPr id="114742" name="Line 54"/>
          <p:cNvSpPr>
            <a:spLocks noChangeShapeType="1"/>
          </p:cNvSpPr>
          <p:nvPr/>
        </p:nvSpPr>
        <p:spPr bwMode="auto">
          <a:xfrm flipV="1">
            <a:off x="5106988" y="3838575"/>
            <a:ext cx="457200" cy="838200"/>
          </a:xfrm>
          <a:prstGeom prst="line">
            <a:avLst/>
          </a:prstGeom>
          <a:noFill/>
          <a:ln w="9525">
            <a:solidFill>
              <a:schemeClr val="tx1"/>
            </a:solidFill>
            <a:round/>
            <a:headEnd/>
            <a:tailEnd type="triangle" w="med" len="med"/>
          </a:ln>
          <a:effectLst/>
        </p:spPr>
        <p:txBody>
          <a:bodyPr/>
          <a:lstStyle/>
          <a:p>
            <a:endParaRPr lang="en-US"/>
          </a:p>
        </p:txBody>
      </p:sp>
      <p:sp>
        <p:nvSpPr>
          <p:cNvPr id="114743" name="Text Box 55"/>
          <p:cNvSpPr txBox="1">
            <a:spLocks noChangeArrowheads="1"/>
          </p:cNvSpPr>
          <p:nvPr/>
        </p:nvSpPr>
        <p:spPr bwMode="auto">
          <a:xfrm rot="1454346">
            <a:off x="3659188" y="4067175"/>
            <a:ext cx="1295400" cy="304800"/>
          </a:xfrm>
          <a:prstGeom prst="rect">
            <a:avLst/>
          </a:prstGeom>
          <a:noFill/>
          <a:ln w="9525">
            <a:noFill/>
            <a:miter lim="800000"/>
            <a:headEnd/>
            <a:tailEnd/>
          </a:ln>
          <a:effectLst/>
        </p:spPr>
        <p:txBody>
          <a:bodyPr>
            <a:spAutoFit/>
          </a:bodyPr>
          <a:lstStyle/>
          <a:p>
            <a:pPr algn="ctr" eaLnBrk="1" hangingPunct="1">
              <a:spcBef>
                <a:spcPct val="50000"/>
              </a:spcBef>
            </a:pPr>
            <a:r>
              <a:rPr lang="en-US" sz="1400">
                <a:solidFill>
                  <a:schemeClr val="folHlink"/>
                </a:solidFill>
                <a:cs typeface="Arial" charset="0"/>
              </a:rPr>
              <a:t>Kattavuus?</a:t>
            </a:r>
            <a:endParaRPr lang="en-GB" sz="1400">
              <a:solidFill>
                <a:schemeClr val="folHlink"/>
              </a:solidFill>
              <a:cs typeface="Arial" charset="0"/>
            </a:endParaRPr>
          </a:p>
        </p:txBody>
      </p:sp>
      <p:sp>
        <p:nvSpPr>
          <p:cNvPr id="114744" name="Line 56"/>
          <p:cNvSpPr>
            <a:spLocks noChangeShapeType="1"/>
          </p:cNvSpPr>
          <p:nvPr/>
        </p:nvSpPr>
        <p:spPr bwMode="auto">
          <a:xfrm>
            <a:off x="3430588" y="3152775"/>
            <a:ext cx="2133600" cy="0"/>
          </a:xfrm>
          <a:prstGeom prst="line">
            <a:avLst/>
          </a:prstGeom>
          <a:noFill/>
          <a:ln w="9525">
            <a:solidFill>
              <a:schemeClr val="tx1"/>
            </a:solidFill>
            <a:round/>
            <a:headEnd/>
            <a:tailEnd type="triangle" w="med" len="med"/>
          </a:ln>
          <a:effectLst/>
        </p:spPr>
        <p:txBody>
          <a:bodyPr/>
          <a:lstStyle/>
          <a:p>
            <a:endParaRPr lang="en-US"/>
          </a:p>
        </p:txBody>
      </p:sp>
      <p:sp>
        <p:nvSpPr>
          <p:cNvPr id="114745" name="Oval 57"/>
          <p:cNvSpPr>
            <a:spLocks noChangeArrowheads="1"/>
          </p:cNvSpPr>
          <p:nvPr/>
        </p:nvSpPr>
        <p:spPr bwMode="auto">
          <a:xfrm>
            <a:off x="7004050" y="1971675"/>
            <a:ext cx="304800" cy="304800"/>
          </a:xfrm>
          <a:prstGeom prst="ellipse">
            <a:avLst/>
          </a:prstGeom>
          <a:gradFill rotWithShape="0">
            <a:gsLst>
              <a:gs pos="0">
                <a:schemeClr val="bg1"/>
              </a:gs>
              <a:gs pos="100000">
                <a:srgbClr val="FFCCFF"/>
              </a:gs>
            </a:gsLst>
            <a:path path="shape">
              <a:fillToRect l="50000" t="50000" r="50000" b="50000"/>
            </a:path>
          </a:gradFill>
          <a:ln w="9525">
            <a:noFill/>
            <a:round/>
            <a:headEnd/>
            <a:tailEnd/>
          </a:ln>
          <a:effectLst/>
        </p:spPr>
        <p:txBody>
          <a:bodyPr wrap="none" anchor="ctr"/>
          <a:lstStyle/>
          <a:p>
            <a:pPr algn="ctr" eaLnBrk="1" hangingPunct="1"/>
            <a:r>
              <a:rPr lang="en-US" sz="1400">
                <a:cs typeface="Arial" charset="0"/>
              </a:rPr>
              <a:t>B</a:t>
            </a:r>
            <a:endParaRPr lang="en-GB" sz="1400">
              <a:cs typeface="Arial" charset="0"/>
            </a:endParaRPr>
          </a:p>
        </p:txBody>
      </p:sp>
      <p:sp>
        <p:nvSpPr>
          <p:cNvPr id="114746" name="Oval 58"/>
          <p:cNvSpPr>
            <a:spLocks noChangeArrowheads="1"/>
          </p:cNvSpPr>
          <p:nvPr/>
        </p:nvSpPr>
        <p:spPr bwMode="auto">
          <a:xfrm>
            <a:off x="7004050" y="2614613"/>
            <a:ext cx="304800" cy="304800"/>
          </a:xfrm>
          <a:prstGeom prst="ellipse">
            <a:avLst/>
          </a:prstGeom>
          <a:gradFill rotWithShape="0">
            <a:gsLst>
              <a:gs pos="0">
                <a:schemeClr val="bg1"/>
              </a:gs>
              <a:gs pos="100000">
                <a:srgbClr val="FFCCFF"/>
              </a:gs>
            </a:gsLst>
            <a:path path="shape">
              <a:fillToRect l="50000" t="50000" r="50000" b="50000"/>
            </a:path>
          </a:gradFill>
          <a:ln w="9525">
            <a:noFill/>
            <a:round/>
            <a:headEnd/>
            <a:tailEnd/>
          </a:ln>
          <a:effectLst/>
        </p:spPr>
        <p:txBody>
          <a:bodyPr wrap="none" anchor="ctr"/>
          <a:lstStyle/>
          <a:p>
            <a:pPr algn="ctr" eaLnBrk="1" hangingPunct="1"/>
            <a:r>
              <a:rPr lang="en-US" sz="1400">
                <a:cs typeface="Arial" charset="0"/>
              </a:rPr>
              <a:t>PM</a:t>
            </a:r>
            <a:endParaRPr lang="en-GB" sz="1400">
              <a:cs typeface="Arial" charset="0"/>
            </a:endParaRPr>
          </a:p>
        </p:txBody>
      </p:sp>
      <p:sp>
        <p:nvSpPr>
          <p:cNvPr id="114747" name="Oval 59"/>
          <p:cNvSpPr>
            <a:spLocks noChangeArrowheads="1"/>
          </p:cNvSpPr>
          <p:nvPr/>
        </p:nvSpPr>
        <p:spPr bwMode="auto">
          <a:xfrm>
            <a:off x="6988175" y="3333750"/>
            <a:ext cx="304800" cy="304800"/>
          </a:xfrm>
          <a:prstGeom prst="ellipse">
            <a:avLst/>
          </a:prstGeom>
          <a:gradFill rotWithShape="0">
            <a:gsLst>
              <a:gs pos="0">
                <a:schemeClr val="bg1"/>
              </a:gs>
              <a:gs pos="100000">
                <a:srgbClr val="FFCCFF"/>
              </a:gs>
            </a:gsLst>
            <a:path path="shape">
              <a:fillToRect l="50000" t="50000" r="50000" b="50000"/>
            </a:path>
          </a:gradFill>
          <a:ln w="9525">
            <a:noFill/>
            <a:round/>
            <a:headEnd/>
            <a:tailEnd/>
          </a:ln>
          <a:effectLst/>
        </p:spPr>
        <p:txBody>
          <a:bodyPr wrap="none" anchor="ctr"/>
          <a:lstStyle/>
          <a:p>
            <a:pPr algn="ctr" eaLnBrk="1" hangingPunct="1"/>
            <a:r>
              <a:rPr lang="en-US" sz="1400">
                <a:cs typeface="Arial" charset="0"/>
              </a:rPr>
              <a:t>T</a:t>
            </a:r>
            <a:endParaRPr lang="en-GB" sz="1400">
              <a:cs typeface="Arial" charset="0"/>
            </a:endParaRPr>
          </a:p>
        </p:txBody>
      </p:sp>
      <p:sp>
        <p:nvSpPr>
          <p:cNvPr id="114748" name="Oval 60"/>
          <p:cNvSpPr>
            <a:spLocks noChangeArrowheads="1"/>
          </p:cNvSpPr>
          <p:nvPr/>
        </p:nvSpPr>
        <p:spPr bwMode="auto">
          <a:xfrm>
            <a:off x="7004050" y="3838575"/>
            <a:ext cx="304800" cy="304800"/>
          </a:xfrm>
          <a:prstGeom prst="ellipse">
            <a:avLst/>
          </a:prstGeom>
          <a:gradFill rotWithShape="0">
            <a:gsLst>
              <a:gs pos="0">
                <a:schemeClr val="bg1"/>
              </a:gs>
              <a:gs pos="100000">
                <a:srgbClr val="FFCCFF"/>
              </a:gs>
            </a:gsLst>
            <a:path path="shape">
              <a:fillToRect l="50000" t="50000" r="50000" b="50000"/>
            </a:path>
          </a:gradFill>
          <a:ln w="9525">
            <a:noFill/>
            <a:round/>
            <a:headEnd/>
            <a:tailEnd/>
          </a:ln>
          <a:effectLst/>
        </p:spPr>
        <p:txBody>
          <a:bodyPr wrap="none" anchor="ctr"/>
          <a:lstStyle/>
          <a:p>
            <a:pPr algn="ctr" eaLnBrk="1" hangingPunct="1"/>
            <a:r>
              <a:rPr lang="en-US" sz="1400">
                <a:cs typeface="Arial" charset="0"/>
              </a:rPr>
              <a:t>U</a:t>
            </a:r>
            <a:endParaRPr lang="en-GB" sz="1400">
              <a:cs typeface="Arial" charset="0"/>
            </a:endParaRPr>
          </a:p>
        </p:txBody>
      </p:sp>
      <p:sp>
        <p:nvSpPr>
          <p:cNvPr id="114770" name="Text Box 82"/>
          <p:cNvSpPr txBox="1">
            <a:spLocks noChangeArrowheads="1"/>
          </p:cNvSpPr>
          <p:nvPr/>
        </p:nvSpPr>
        <p:spPr bwMode="auto">
          <a:xfrm>
            <a:off x="7308850" y="1916113"/>
            <a:ext cx="1512888" cy="366712"/>
          </a:xfrm>
          <a:prstGeom prst="rect">
            <a:avLst/>
          </a:prstGeom>
          <a:noFill/>
          <a:ln w="9525">
            <a:noFill/>
            <a:miter lim="800000"/>
            <a:headEnd/>
            <a:tailEnd/>
          </a:ln>
          <a:effectLst/>
        </p:spPr>
        <p:txBody>
          <a:bodyPr>
            <a:spAutoFit/>
          </a:bodyPr>
          <a:lstStyle/>
          <a:p>
            <a:pPr>
              <a:spcBef>
                <a:spcPct val="50000"/>
              </a:spcBef>
            </a:pPr>
            <a:r>
              <a:rPr lang="fi-FI"/>
              <a:t>liiketoiminta</a:t>
            </a:r>
            <a:endParaRPr lang="en-US"/>
          </a:p>
        </p:txBody>
      </p:sp>
      <p:sp>
        <p:nvSpPr>
          <p:cNvPr id="114771" name="Text Box 83"/>
          <p:cNvSpPr txBox="1">
            <a:spLocks noChangeArrowheads="1"/>
          </p:cNvSpPr>
          <p:nvPr/>
        </p:nvSpPr>
        <p:spPr bwMode="auto">
          <a:xfrm>
            <a:off x="7308850" y="2565400"/>
            <a:ext cx="1512888" cy="366713"/>
          </a:xfrm>
          <a:prstGeom prst="rect">
            <a:avLst/>
          </a:prstGeom>
          <a:noFill/>
          <a:ln w="9525">
            <a:noFill/>
            <a:miter lim="800000"/>
            <a:headEnd/>
            <a:tailEnd/>
          </a:ln>
          <a:effectLst/>
        </p:spPr>
        <p:txBody>
          <a:bodyPr>
            <a:spAutoFit/>
          </a:bodyPr>
          <a:lstStyle/>
          <a:p>
            <a:pPr>
              <a:spcBef>
                <a:spcPct val="50000"/>
              </a:spcBef>
            </a:pPr>
            <a:r>
              <a:rPr lang="fi-FI"/>
              <a:t>projekti</a:t>
            </a:r>
            <a:endParaRPr lang="en-US"/>
          </a:p>
        </p:txBody>
      </p:sp>
      <p:sp>
        <p:nvSpPr>
          <p:cNvPr id="114772" name="Text Box 84"/>
          <p:cNvSpPr txBox="1">
            <a:spLocks noChangeArrowheads="1"/>
          </p:cNvSpPr>
          <p:nvPr/>
        </p:nvSpPr>
        <p:spPr bwMode="auto">
          <a:xfrm>
            <a:off x="7308850" y="3284538"/>
            <a:ext cx="1512888" cy="366712"/>
          </a:xfrm>
          <a:prstGeom prst="rect">
            <a:avLst/>
          </a:prstGeom>
          <a:noFill/>
          <a:ln w="9525">
            <a:noFill/>
            <a:miter lim="800000"/>
            <a:headEnd/>
            <a:tailEnd/>
          </a:ln>
          <a:effectLst/>
        </p:spPr>
        <p:txBody>
          <a:bodyPr>
            <a:spAutoFit/>
          </a:bodyPr>
          <a:lstStyle/>
          <a:p>
            <a:pPr>
              <a:spcBef>
                <a:spcPct val="50000"/>
              </a:spcBef>
            </a:pPr>
            <a:r>
              <a:rPr lang="fi-FI"/>
              <a:t>testaus</a:t>
            </a:r>
            <a:endParaRPr lang="en-US"/>
          </a:p>
        </p:txBody>
      </p:sp>
      <p:sp>
        <p:nvSpPr>
          <p:cNvPr id="114773" name="Text Box 85"/>
          <p:cNvSpPr txBox="1">
            <a:spLocks noChangeArrowheads="1"/>
          </p:cNvSpPr>
          <p:nvPr/>
        </p:nvSpPr>
        <p:spPr bwMode="auto">
          <a:xfrm>
            <a:off x="7308850" y="3789363"/>
            <a:ext cx="1512888" cy="366712"/>
          </a:xfrm>
          <a:prstGeom prst="rect">
            <a:avLst/>
          </a:prstGeom>
          <a:noFill/>
          <a:ln w="9525">
            <a:noFill/>
            <a:miter lim="800000"/>
            <a:headEnd/>
            <a:tailEnd/>
          </a:ln>
          <a:effectLst/>
        </p:spPr>
        <p:txBody>
          <a:bodyPr>
            <a:spAutoFit/>
          </a:bodyPr>
          <a:lstStyle/>
          <a:p>
            <a:pPr>
              <a:spcBef>
                <a:spcPct val="50000"/>
              </a:spcBef>
            </a:pPr>
            <a:r>
              <a:rPr lang="fi-FI"/>
              <a:t>käyttäjä</a:t>
            </a:r>
            <a:endParaRPr lang="en-US"/>
          </a:p>
        </p:txBody>
      </p:sp>
      <p:sp>
        <p:nvSpPr>
          <p:cNvPr id="60" name="Slide Number Placeholder 59"/>
          <p:cNvSpPr>
            <a:spLocks noGrp="1"/>
          </p:cNvSpPr>
          <p:nvPr>
            <p:ph type="sldNum" sz="quarter" idx="12"/>
          </p:nvPr>
        </p:nvSpPr>
        <p:spPr/>
        <p:txBody>
          <a:bodyPr/>
          <a:lstStyle/>
          <a:p>
            <a:fld id="{6EC9AE22-300D-474E-8332-298EA3086E64}" type="slidenum">
              <a:rPr lang="en-US" smtClean="0"/>
              <a:pPr/>
              <a:t>204</a:t>
            </a:fld>
            <a:endParaRPr lang="en-US"/>
          </a:p>
        </p:txBody>
      </p:sp>
    </p:spTree>
  </p:cSld>
  <p:clrMapOvr>
    <a:masterClrMapping/>
  </p:clrMapOvr>
  <p:timing>
    <p:tnLst>
      <p:par>
        <p:cTn xmlns:p14="http://schemas.microsoft.com/office/powerpoint/2010/main" id="1" dur="indefinite" restart="never" nodeType="tmRoot"/>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Neljä kattavuusnäkökulmaa</a:t>
            </a:r>
            <a:endParaRPr lang="fi-FI" dirty="0"/>
          </a:p>
        </p:txBody>
      </p:sp>
      <p:sp>
        <p:nvSpPr>
          <p:cNvPr id="3" name="Content Placeholder 2"/>
          <p:cNvSpPr>
            <a:spLocks noGrp="1"/>
          </p:cNvSpPr>
          <p:nvPr>
            <p:ph idx="1"/>
          </p:nvPr>
        </p:nvSpPr>
        <p:spPr/>
        <p:txBody>
          <a:bodyPr>
            <a:noAutofit/>
          </a:bodyPr>
          <a:lstStyle/>
          <a:p>
            <a:r>
              <a:rPr lang="fi-FI" sz="2400" dirty="0" smtClean="0"/>
              <a:t>Vaatimuskattavuus</a:t>
            </a:r>
          </a:p>
          <a:p>
            <a:pPr lvl="1"/>
            <a:r>
              <a:rPr lang="fi-FI" sz="2000" dirty="0" smtClean="0"/>
              <a:t>Kuinka paljon kirjatuista </a:t>
            </a:r>
            <a:br>
              <a:rPr lang="fi-FI" sz="2000" dirty="0" smtClean="0"/>
            </a:br>
            <a:r>
              <a:rPr lang="fi-FI" sz="2000" dirty="0" smtClean="0"/>
              <a:t>toiveista on toteutettu </a:t>
            </a:r>
            <a:br>
              <a:rPr lang="fi-FI" sz="2000" dirty="0" smtClean="0"/>
            </a:br>
            <a:r>
              <a:rPr lang="fi-FI" sz="2000" dirty="0" smtClean="0"/>
              <a:t>käytännössä?</a:t>
            </a:r>
          </a:p>
          <a:p>
            <a:r>
              <a:rPr lang="fi-FI" sz="2400" dirty="0" smtClean="0"/>
              <a:t>Koodikattavuus</a:t>
            </a:r>
          </a:p>
          <a:p>
            <a:pPr lvl="1"/>
            <a:r>
              <a:rPr lang="fi-FI" sz="2000" dirty="0" smtClean="0"/>
              <a:t>Kuinka paljon siitä mitä on toteutettu on kokeiltu </a:t>
            </a:r>
            <a:br>
              <a:rPr lang="fi-FI" sz="2000" dirty="0" smtClean="0"/>
            </a:br>
            <a:r>
              <a:rPr lang="fi-FI" sz="2000" dirty="0" smtClean="0"/>
              <a:t>käytännössä?</a:t>
            </a:r>
          </a:p>
          <a:p>
            <a:r>
              <a:rPr lang="fi-FI" sz="2400" dirty="0" smtClean="0"/>
              <a:t>Riskikattavuus</a:t>
            </a:r>
          </a:p>
          <a:p>
            <a:pPr lvl="1"/>
            <a:r>
              <a:rPr lang="fi-FI" sz="2000" dirty="0" smtClean="0"/>
              <a:t>Tiedetäänkö kaikki tai edes tärkeimmät asiat jotka voivat mennä pieleen?</a:t>
            </a:r>
          </a:p>
          <a:p>
            <a:r>
              <a:rPr lang="fi-FI" sz="2400" dirty="0" smtClean="0"/>
              <a:t>Ympäristökattavuus</a:t>
            </a:r>
          </a:p>
          <a:p>
            <a:pPr lvl="1"/>
            <a:r>
              <a:rPr lang="fi-FI" sz="2000" dirty="0" smtClean="0"/>
              <a:t>Tiedetäänkö toimintavarmuus suhteessa ympäristön muunneltaviin tekijöihin? </a:t>
            </a:r>
          </a:p>
          <a:p>
            <a:endParaRPr lang="fi-FI" sz="2400" dirty="0"/>
          </a:p>
        </p:txBody>
      </p:sp>
      <p:sp>
        <p:nvSpPr>
          <p:cNvPr id="4" name="Text Box 30"/>
          <p:cNvSpPr txBox="1">
            <a:spLocks noChangeArrowheads="1"/>
          </p:cNvSpPr>
          <p:nvPr/>
        </p:nvSpPr>
        <p:spPr bwMode="auto">
          <a:xfrm>
            <a:off x="4899025" y="1447800"/>
            <a:ext cx="2017713" cy="1465263"/>
          </a:xfrm>
          <a:prstGeom prst="rect">
            <a:avLst/>
          </a:prstGeom>
          <a:noFill/>
          <a:ln w="9525">
            <a:noFill/>
            <a:miter lim="800000"/>
            <a:headEnd/>
            <a:tailEnd/>
          </a:ln>
          <a:effectLst/>
        </p:spPr>
        <p:txBody>
          <a:bodyPr>
            <a:spAutoFit/>
          </a:bodyPr>
          <a:lstStyle/>
          <a:p>
            <a:pPr algn="ctr" eaLnBrk="1" hangingPunct="1">
              <a:spcBef>
                <a:spcPct val="50000"/>
              </a:spcBef>
            </a:pPr>
            <a:r>
              <a:rPr lang="en-US" dirty="0">
                <a:solidFill>
                  <a:schemeClr val="hlink"/>
                </a:solidFill>
                <a:latin typeface="+mn-lt"/>
                <a:cs typeface="Arial" charset="0"/>
              </a:rPr>
              <a:t>…</a:t>
            </a:r>
            <a:r>
              <a:rPr lang="en-US" dirty="0" err="1">
                <a:solidFill>
                  <a:schemeClr val="hlink"/>
                </a:solidFill>
                <a:latin typeface="+mn-lt"/>
                <a:cs typeface="Arial" charset="0"/>
              </a:rPr>
              <a:t>ja</a:t>
            </a:r>
            <a:r>
              <a:rPr lang="en-US" dirty="0">
                <a:solidFill>
                  <a:schemeClr val="hlink"/>
                </a:solidFill>
                <a:latin typeface="+mn-lt"/>
                <a:cs typeface="Arial" charset="0"/>
              </a:rPr>
              <a:t> </a:t>
            </a:r>
            <a:r>
              <a:rPr lang="en-US" dirty="0" err="1">
                <a:solidFill>
                  <a:schemeClr val="hlink"/>
                </a:solidFill>
                <a:latin typeface="+mn-lt"/>
                <a:cs typeface="Arial" charset="0"/>
              </a:rPr>
              <a:t>kertoaksemme</a:t>
            </a:r>
            <a:r>
              <a:rPr lang="en-US" dirty="0">
                <a:solidFill>
                  <a:schemeClr val="hlink"/>
                </a:solidFill>
                <a:latin typeface="+mn-lt"/>
                <a:cs typeface="Arial" charset="0"/>
              </a:rPr>
              <a:t> </a:t>
            </a:r>
            <a:r>
              <a:rPr lang="en-US" dirty="0" err="1">
                <a:solidFill>
                  <a:schemeClr val="hlink"/>
                </a:solidFill>
                <a:latin typeface="+mn-lt"/>
                <a:cs typeface="Arial" charset="0"/>
              </a:rPr>
              <a:t>jos</a:t>
            </a:r>
            <a:r>
              <a:rPr lang="en-US" dirty="0">
                <a:solidFill>
                  <a:schemeClr val="hlink"/>
                </a:solidFill>
                <a:latin typeface="+mn-lt"/>
                <a:cs typeface="Arial" charset="0"/>
              </a:rPr>
              <a:t> on </a:t>
            </a:r>
            <a:r>
              <a:rPr lang="en-US" dirty="0" err="1">
                <a:solidFill>
                  <a:schemeClr val="hlink"/>
                </a:solidFill>
                <a:latin typeface="+mn-lt"/>
                <a:cs typeface="Arial" charset="0"/>
              </a:rPr>
              <a:t>muuta</a:t>
            </a:r>
            <a:r>
              <a:rPr lang="en-US" dirty="0">
                <a:solidFill>
                  <a:schemeClr val="hlink"/>
                </a:solidFill>
                <a:latin typeface="+mn-lt"/>
                <a:cs typeface="Arial" charset="0"/>
              </a:rPr>
              <a:t> </a:t>
            </a:r>
            <a:r>
              <a:rPr lang="en-US" dirty="0" err="1">
                <a:solidFill>
                  <a:schemeClr val="hlink"/>
                </a:solidFill>
                <a:latin typeface="+mn-lt"/>
                <a:cs typeface="Arial" charset="0"/>
              </a:rPr>
              <a:t>ja</a:t>
            </a:r>
            <a:r>
              <a:rPr lang="en-US" dirty="0">
                <a:solidFill>
                  <a:schemeClr val="hlink"/>
                </a:solidFill>
                <a:latin typeface="+mn-lt"/>
                <a:cs typeface="Arial" charset="0"/>
              </a:rPr>
              <a:t> </a:t>
            </a:r>
            <a:r>
              <a:rPr lang="en-US" dirty="0" err="1">
                <a:solidFill>
                  <a:schemeClr val="hlink"/>
                </a:solidFill>
                <a:latin typeface="+mn-lt"/>
                <a:cs typeface="Arial" charset="0"/>
              </a:rPr>
              <a:t>millä</a:t>
            </a:r>
            <a:r>
              <a:rPr lang="en-US" dirty="0">
                <a:solidFill>
                  <a:schemeClr val="hlink"/>
                </a:solidFill>
                <a:latin typeface="+mn-lt"/>
                <a:cs typeface="Arial" charset="0"/>
              </a:rPr>
              <a:t> </a:t>
            </a:r>
            <a:r>
              <a:rPr lang="en-US" dirty="0" err="1">
                <a:solidFill>
                  <a:schemeClr val="hlink"/>
                </a:solidFill>
                <a:latin typeface="+mn-lt"/>
                <a:cs typeface="Arial" charset="0"/>
              </a:rPr>
              <a:t>tasolla</a:t>
            </a:r>
            <a:r>
              <a:rPr lang="en-US" dirty="0">
                <a:solidFill>
                  <a:schemeClr val="hlink"/>
                </a:solidFill>
                <a:latin typeface="+mn-lt"/>
                <a:cs typeface="Arial" charset="0"/>
              </a:rPr>
              <a:t> </a:t>
            </a:r>
            <a:r>
              <a:rPr lang="en-US" dirty="0" err="1">
                <a:solidFill>
                  <a:schemeClr val="hlink"/>
                </a:solidFill>
                <a:latin typeface="+mn-lt"/>
                <a:cs typeface="Arial" charset="0"/>
              </a:rPr>
              <a:t>tiedämme</a:t>
            </a:r>
            <a:r>
              <a:rPr lang="en-US" dirty="0">
                <a:solidFill>
                  <a:schemeClr val="hlink"/>
                </a:solidFill>
                <a:latin typeface="+mn-lt"/>
                <a:cs typeface="Arial" charset="0"/>
              </a:rPr>
              <a:t>.</a:t>
            </a:r>
            <a:endParaRPr lang="en-GB" dirty="0">
              <a:solidFill>
                <a:schemeClr val="hlink"/>
              </a:solidFill>
              <a:latin typeface="+mn-lt"/>
              <a:cs typeface="Arial" charset="0"/>
            </a:endParaRPr>
          </a:p>
        </p:txBody>
      </p:sp>
      <p:grpSp>
        <p:nvGrpSpPr>
          <p:cNvPr id="5" name="Group 32"/>
          <p:cNvGrpSpPr>
            <a:grpSpLocks/>
          </p:cNvGrpSpPr>
          <p:nvPr/>
        </p:nvGrpSpPr>
        <p:grpSpPr bwMode="auto">
          <a:xfrm>
            <a:off x="6992938" y="1660525"/>
            <a:ext cx="1392237" cy="533400"/>
            <a:chOff x="768" y="2976"/>
            <a:chExt cx="816" cy="528"/>
          </a:xfrm>
        </p:grpSpPr>
        <p:sp>
          <p:nvSpPr>
            <p:cNvPr id="6" name="Rectangle 33"/>
            <p:cNvSpPr>
              <a:spLocks noChangeArrowheads="1"/>
            </p:cNvSpPr>
            <p:nvPr/>
          </p:nvSpPr>
          <p:spPr bwMode="auto">
            <a:xfrm>
              <a:off x="1344" y="2976"/>
              <a:ext cx="240" cy="96"/>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7" name="Line 34"/>
            <p:cNvSpPr>
              <a:spLocks noChangeShapeType="1"/>
            </p:cNvSpPr>
            <p:nvPr/>
          </p:nvSpPr>
          <p:spPr bwMode="auto">
            <a:xfrm>
              <a:off x="768" y="3024"/>
              <a:ext cx="576" cy="0"/>
            </a:xfrm>
            <a:prstGeom prst="line">
              <a:avLst/>
            </a:prstGeom>
            <a:noFill/>
            <a:ln w="12700">
              <a:solidFill>
                <a:schemeClr val="tx1"/>
              </a:solidFill>
              <a:round/>
              <a:headEnd/>
              <a:tailEnd/>
            </a:ln>
            <a:effectLst/>
          </p:spPr>
          <p:txBody>
            <a:bodyPr/>
            <a:lstStyle/>
            <a:p>
              <a:endParaRPr lang="en-US"/>
            </a:p>
          </p:txBody>
        </p:sp>
        <p:sp>
          <p:nvSpPr>
            <p:cNvPr id="8" name="Rectangle 35"/>
            <p:cNvSpPr>
              <a:spLocks noChangeArrowheads="1"/>
            </p:cNvSpPr>
            <p:nvPr/>
          </p:nvSpPr>
          <p:spPr bwMode="auto">
            <a:xfrm>
              <a:off x="1344" y="3120"/>
              <a:ext cx="240" cy="96"/>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9" name="Line 36"/>
            <p:cNvSpPr>
              <a:spLocks noChangeShapeType="1"/>
            </p:cNvSpPr>
            <p:nvPr/>
          </p:nvSpPr>
          <p:spPr bwMode="auto">
            <a:xfrm>
              <a:off x="960" y="3168"/>
              <a:ext cx="384" cy="0"/>
            </a:xfrm>
            <a:prstGeom prst="line">
              <a:avLst/>
            </a:prstGeom>
            <a:noFill/>
            <a:ln w="12700">
              <a:solidFill>
                <a:schemeClr val="tx1"/>
              </a:solidFill>
              <a:round/>
              <a:headEnd/>
              <a:tailEnd/>
            </a:ln>
            <a:effectLst/>
          </p:spPr>
          <p:txBody>
            <a:bodyPr/>
            <a:lstStyle/>
            <a:p>
              <a:endParaRPr lang="en-US"/>
            </a:p>
          </p:txBody>
        </p:sp>
        <p:sp>
          <p:nvSpPr>
            <p:cNvPr id="10" name="Rectangle 37"/>
            <p:cNvSpPr>
              <a:spLocks noChangeArrowheads="1"/>
            </p:cNvSpPr>
            <p:nvPr/>
          </p:nvSpPr>
          <p:spPr bwMode="auto">
            <a:xfrm>
              <a:off x="1344" y="3264"/>
              <a:ext cx="240" cy="96"/>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1" name="Line 38"/>
            <p:cNvSpPr>
              <a:spLocks noChangeShapeType="1"/>
            </p:cNvSpPr>
            <p:nvPr/>
          </p:nvSpPr>
          <p:spPr bwMode="auto">
            <a:xfrm>
              <a:off x="960" y="3312"/>
              <a:ext cx="384" cy="0"/>
            </a:xfrm>
            <a:prstGeom prst="line">
              <a:avLst/>
            </a:prstGeom>
            <a:noFill/>
            <a:ln w="12700">
              <a:solidFill>
                <a:schemeClr val="tx1"/>
              </a:solidFill>
              <a:round/>
              <a:headEnd/>
              <a:tailEnd/>
            </a:ln>
            <a:effectLst/>
          </p:spPr>
          <p:txBody>
            <a:bodyPr/>
            <a:lstStyle/>
            <a:p>
              <a:endParaRPr lang="en-US"/>
            </a:p>
          </p:txBody>
        </p:sp>
        <p:sp>
          <p:nvSpPr>
            <p:cNvPr id="12" name="Rectangle 39"/>
            <p:cNvSpPr>
              <a:spLocks noChangeArrowheads="1"/>
            </p:cNvSpPr>
            <p:nvPr/>
          </p:nvSpPr>
          <p:spPr bwMode="auto">
            <a:xfrm>
              <a:off x="1344" y="3408"/>
              <a:ext cx="240" cy="96"/>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3" name="Line 40"/>
            <p:cNvSpPr>
              <a:spLocks noChangeShapeType="1"/>
            </p:cNvSpPr>
            <p:nvPr/>
          </p:nvSpPr>
          <p:spPr bwMode="auto">
            <a:xfrm>
              <a:off x="864" y="3456"/>
              <a:ext cx="480" cy="0"/>
            </a:xfrm>
            <a:prstGeom prst="line">
              <a:avLst/>
            </a:prstGeom>
            <a:noFill/>
            <a:ln w="12700">
              <a:solidFill>
                <a:schemeClr val="tx1"/>
              </a:solidFill>
              <a:round/>
              <a:headEnd/>
              <a:tailEnd/>
            </a:ln>
            <a:effectLst/>
          </p:spPr>
          <p:txBody>
            <a:bodyPr/>
            <a:lstStyle/>
            <a:p>
              <a:endParaRPr lang="en-US"/>
            </a:p>
          </p:txBody>
        </p:sp>
        <p:sp>
          <p:nvSpPr>
            <p:cNvPr id="14" name="Line 41"/>
            <p:cNvSpPr>
              <a:spLocks noChangeShapeType="1"/>
            </p:cNvSpPr>
            <p:nvPr/>
          </p:nvSpPr>
          <p:spPr bwMode="auto">
            <a:xfrm flipV="1">
              <a:off x="864" y="3024"/>
              <a:ext cx="0" cy="432"/>
            </a:xfrm>
            <a:prstGeom prst="line">
              <a:avLst/>
            </a:prstGeom>
            <a:noFill/>
            <a:ln w="12700">
              <a:solidFill>
                <a:schemeClr val="tx1"/>
              </a:solidFill>
              <a:round/>
              <a:headEnd/>
              <a:tailEnd/>
            </a:ln>
            <a:effectLst/>
          </p:spPr>
          <p:txBody>
            <a:bodyPr/>
            <a:lstStyle/>
            <a:p>
              <a:endParaRPr lang="en-US"/>
            </a:p>
          </p:txBody>
        </p:sp>
        <p:sp>
          <p:nvSpPr>
            <p:cNvPr id="15" name="Line 42"/>
            <p:cNvSpPr>
              <a:spLocks noChangeShapeType="1"/>
            </p:cNvSpPr>
            <p:nvPr/>
          </p:nvSpPr>
          <p:spPr bwMode="auto">
            <a:xfrm flipV="1">
              <a:off x="960" y="3024"/>
              <a:ext cx="0" cy="288"/>
            </a:xfrm>
            <a:prstGeom prst="line">
              <a:avLst/>
            </a:prstGeom>
            <a:noFill/>
            <a:ln w="12700">
              <a:solidFill>
                <a:schemeClr val="tx1"/>
              </a:solidFill>
              <a:round/>
              <a:headEnd/>
              <a:tailEnd/>
            </a:ln>
            <a:effectLst/>
          </p:spPr>
          <p:txBody>
            <a:bodyPr/>
            <a:lstStyle/>
            <a:p>
              <a:endParaRPr lang="en-US"/>
            </a:p>
          </p:txBody>
        </p:sp>
      </p:grpSp>
      <p:sp>
        <p:nvSpPr>
          <p:cNvPr id="16" name="Text Box 43"/>
          <p:cNvSpPr txBox="1">
            <a:spLocks noChangeArrowheads="1"/>
          </p:cNvSpPr>
          <p:nvPr/>
        </p:nvSpPr>
        <p:spPr bwMode="auto">
          <a:xfrm>
            <a:off x="6764338" y="2193925"/>
            <a:ext cx="2151062" cy="1262063"/>
          </a:xfrm>
          <a:prstGeom prst="rect">
            <a:avLst/>
          </a:prstGeom>
          <a:noFill/>
          <a:ln w="9525">
            <a:noFill/>
            <a:miter lim="800000"/>
            <a:headEnd/>
            <a:tailEnd/>
          </a:ln>
          <a:effectLst/>
        </p:spPr>
        <p:txBody>
          <a:bodyPr>
            <a:spAutoFit/>
          </a:bodyPr>
          <a:lstStyle/>
          <a:p>
            <a:pPr algn="ctr" eaLnBrk="1" hangingPunct="1">
              <a:spcBef>
                <a:spcPct val="50000"/>
              </a:spcBef>
            </a:pPr>
            <a:r>
              <a:rPr lang="fi-FI" sz="1400" dirty="0">
                <a:cs typeface="Arial" charset="0"/>
              </a:rPr>
              <a:t>Kattavuus</a:t>
            </a:r>
            <a:endParaRPr lang="en-US" sz="1400" dirty="0">
              <a:cs typeface="Arial" charset="0"/>
            </a:endParaRPr>
          </a:p>
          <a:p>
            <a:pPr algn="ctr" eaLnBrk="1" hangingPunct="1">
              <a:spcBef>
                <a:spcPct val="50000"/>
              </a:spcBef>
            </a:pPr>
            <a:r>
              <a:rPr lang="en-US" sz="1400" dirty="0">
                <a:cs typeface="Arial" charset="0"/>
              </a:rPr>
              <a:t>VAATIMUKSET</a:t>
            </a:r>
            <a:br>
              <a:rPr lang="en-US" sz="1400" dirty="0">
                <a:cs typeface="Arial" charset="0"/>
              </a:rPr>
            </a:br>
            <a:r>
              <a:rPr lang="en-US" sz="1400" dirty="0">
                <a:cs typeface="Arial" charset="0"/>
              </a:rPr>
              <a:t>RISKIT</a:t>
            </a:r>
            <a:br>
              <a:rPr lang="en-US" sz="1400" dirty="0">
                <a:cs typeface="Arial" charset="0"/>
              </a:rPr>
            </a:br>
            <a:r>
              <a:rPr lang="en-US" sz="1400" dirty="0">
                <a:cs typeface="Arial" charset="0"/>
              </a:rPr>
              <a:t>KOODI</a:t>
            </a:r>
            <a:br>
              <a:rPr lang="en-US" sz="1400" dirty="0">
                <a:cs typeface="Arial" charset="0"/>
              </a:rPr>
            </a:br>
            <a:r>
              <a:rPr lang="en-US" sz="1400" dirty="0">
                <a:cs typeface="Arial" charset="0"/>
              </a:rPr>
              <a:t>YMPÄRISTÖT</a:t>
            </a:r>
            <a:endParaRPr lang="en-GB" sz="1400" dirty="0">
              <a:cs typeface="Arial" charset="0"/>
            </a:endParaRPr>
          </a:p>
        </p:txBody>
      </p:sp>
      <p:sp>
        <p:nvSpPr>
          <p:cNvPr id="17" name="Slide Number Placeholder 16"/>
          <p:cNvSpPr>
            <a:spLocks noGrp="1"/>
          </p:cNvSpPr>
          <p:nvPr>
            <p:ph type="sldNum" sz="quarter" idx="12"/>
          </p:nvPr>
        </p:nvSpPr>
        <p:spPr/>
        <p:txBody>
          <a:bodyPr/>
          <a:lstStyle/>
          <a:p>
            <a:fld id="{7A750B4A-325E-4AA4-BC07-A8C35B32A4F3}" type="slidenum">
              <a:rPr lang="fi-FI" smtClean="0"/>
              <a:pPr/>
              <a:t>205</a:t>
            </a:fld>
            <a:endParaRPr lang="fi-FI"/>
          </a:p>
        </p:txBody>
      </p:sp>
    </p:spTree>
  </p:cSld>
  <p:clrMapOvr>
    <a:masterClrMapping/>
  </p:clrMapOvr>
  <p:timing>
    <p:tnLst>
      <p:par>
        <p:cTn xmlns:p14="http://schemas.microsoft.com/office/powerpoint/2010/main" id="1" dur="indefinite" restart="never" nodeType="tmRoot"/>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pPr defTabSz="762000"/>
            <a:r>
              <a:rPr lang="en-GB"/>
              <a:t>Mikä on testitapaus?</a:t>
            </a:r>
          </a:p>
        </p:txBody>
      </p:sp>
      <p:sp>
        <p:nvSpPr>
          <p:cNvPr id="111619" name="Rectangle 3"/>
          <p:cNvSpPr>
            <a:spLocks noGrp="1" noChangeArrowheads="1"/>
          </p:cNvSpPr>
          <p:nvPr>
            <p:ph type="body" sz="half" idx="1"/>
          </p:nvPr>
        </p:nvSpPr>
        <p:spPr>
          <a:xfrm>
            <a:off x="381000" y="1524000"/>
            <a:ext cx="3124200" cy="5029200"/>
          </a:xfrm>
        </p:spPr>
        <p:txBody>
          <a:bodyPr>
            <a:noAutofit/>
          </a:bodyPr>
          <a:lstStyle/>
          <a:p>
            <a:pPr marL="0" indent="0" defTabSz="762000">
              <a:buFontTx/>
              <a:buNone/>
            </a:pPr>
            <a:r>
              <a:rPr lang="en-GB" sz="2000" b="1" dirty="0" err="1"/>
              <a:t>Oppikirjamääritelmä</a:t>
            </a:r>
            <a:r>
              <a:rPr lang="en-GB" sz="2000" dirty="0"/>
              <a:t>:</a:t>
            </a:r>
          </a:p>
          <a:p>
            <a:pPr marL="0" indent="0" defTabSz="762000"/>
            <a:r>
              <a:rPr lang="en-GB" sz="2000" dirty="0" err="1"/>
              <a:t>Testitapaus</a:t>
            </a:r>
            <a:r>
              <a:rPr lang="en-GB" sz="2000" dirty="0"/>
              <a:t> </a:t>
            </a:r>
            <a:r>
              <a:rPr lang="en-GB" sz="2000" dirty="0" err="1"/>
              <a:t>käyttää</a:t>
            </a:r>
            <a:r>
              <a:rPr lang="en-GB" sz="2000" dirty="0"/>
              <a:t> </a:t>
            </a:r>
            <a:r>
              <a:rPr lang="en-GB" sz="2000" dirty="0" err="1"/>
              <a:t>yhtä</a:t>
            </a:r>
            <a:r>
              <a:rPr lang="en-GB" sz="2000" dirty="0"/>
              <a:t> </a:t>
            </a:r>
            <a:r>
              <a:rPr lang="en-GB" sz="2000" dirty="0" err="1"/>
              <a:t>tiettyä</a:t>
            </a:r>
            <a:r>
              <a:rPr lang="en-GB" sz="2000" dirty="0"/>
              <a:t> </a:t>
            </a:r>
            <a:r>
              <a:rPr lang="en-GB" sz="2000" dirty="0" err="1"/>
              <a:t>tilannetta</a:t>
            </a:r>
            <a:r>
              <a:rPr lang="en-GB" sz="2000" dirty="0"/>
              <a:t> tai </a:t>
            </a:r>
            <a:r>
              <a:rPr lang="en-GB" sz="2000" dirty="0" err="1"/>
              <a:t>ehtoa</a:t>
            </a:r>
            <a:r>
              <a:rPr lang="en-GB" sz="2000" dirty="0"/>
              <a:t> </a:t>
            </a:r>
            <a:r>
              <a:rPr lang="en-GB" sz="2000" dirty="0" err="1"/>
              <a:t>testattavassa</a:t>
            </a:r>
            <a:r>
              <a:rPr lang="en-GB" sz="2000" dirty="0"/>
              <a:t> </a:t>
            </a:r>
            <a:r>
              <a:rPr lang="en-GB" sz="2000" dirty="0" err="1"/>
              <a:t>järjestelmässä</a:t>
            </a:r>
            <a:r>
              <a:rPr lang="en-GB" sz="2000" dirty="0"/>
              <a:t>. </a:t>
            </a:r>
          </a:p>
          <a:p>
            <a:pPr marL="0" indent="0" defTabSz="762000"/>
            <a:r>
              <a:rPr lang="en-GB" sz="2000" dirty="0" err="1"/>
              <a:t>Testitapaus</a:t>
            </a:r>
            <a:r>
              <a:rPr lang="en-GB" sz="2000" dirty="0"/>
              <a:t> </a:t>
            </a:r>
            <a:r>
              <a:rPr lang="en-GB" sz="2000" dirty="0" err="1"/>
              <a:t>kuvaa</a:t>
            </a:r>
            <a:r>
              <a:rPr lang="en-GB" sz="2000" dirty="0"/>
              <a:t> </a:t>
            </a:r>
            <a:r>
              <a:rPr lang="en-GB" sz="2000" dirty="0" err="1"/>
              <a:t>mitä</a:t>
            </a:r>
            <a:r>
              <a:rPr lang="en-GB" sz="2000" dirty="0"/>
              <a:t> </a:t>
            </a:r>
            <a:r>
              <a:rPr lang="en-GB" sz="2000" dirty="0" err="1"/>
              <a:t>testata</a:t>
            </a:r>
            <a:r>
              <a:rPr lang="en-GB" sz="2000" dirty="0"/>
              <a:t> </a:t>
            </a:r>
            <a:r>
              <a:rPr lang="en-GB" sz="2000" dirty="0" err="1"/>
              <a:t>ja</a:t>
            </a:r>
            <a:r>
              <a:rPr lang="en-GB" sz="2000" dirty="0"/>
              <a:t> </a:t>
            </a:r>
            <a:r>
              <a:rPr lang="en-GB" sz="2000" dirty="0" err="1"/>
              <a:t>miten</a:t>
            </a:r>
            <a:r>
              <a:rPr lang="en-GB" sz="2000" dirty="0"/>
              <a:t>, </a:t>
            </a:r>
            <a:r>
              <a:rPr lang="en-GB" sz="2000" dirty="0" err="1"/>
              <a:t>ja</a:t>
            </a:r>
            <a:r>
              <a:rPr lang="en-GB" sz="2000" dirty="0"/>
              <a:t> </a:t>
            </a:r>
            <a:r>
              <a:rPr lang="en-GB" sz="2000" dirty="0" err="1"/>
              <a:t>ohjaa</a:t>
            </a:r>
            <a:r>
              <a:rPr lang="en-GB" sz="2000" dirty="0"/>
              <a:t> </a:t>
            </a:r>
            <a:r>
              <a:rPr lang="en-GB" sz="2000" dirty="0" err="1"/>
              <a:t>testaajaa</a:t>
            </a:r>
            <a:r>
              <a:rPr lang="en-GB" sz="2000" dirty="0"/>
              <a:t> (tai </a:t>
            </a:r>
            <a:r>
              <a:rPr lang="en-GB" sz="2000" dirty="0" err="1"/>
              <a:t>testausvälinettä</a:t>
            </a:r>
            <a:r>
              <a:rPr lang="en-GB" sz="2000" dirty="0"/>
              <a:t>) </a:t>
            </a:r>
            <a:r>
              <a:rPr lang="en-GB" sz="2000" dirty="0" err="1"/>
              <a:t>joka</a:t>
            </a:r>
            <a:r>
              <a:rPr lang="en-GB" sz="2000" dirty="0"/>
              <a:t> </a:t>
            </a:r>
            <a:r>
              <a:rPr lang="en-GB" sz="2000" dirty="0" err="1"/>
              <a:t>suorittaa</a:t>
            </a:r>
            <a:r>
              <a:rPr lang="en-GB" sz="2000" dirty="0"/>
              <a:t> </a:t>
            </a:r>
            <a:r>
              <a:rPr lang="en-GB" sz="2000" dirty="0" err="1"/>
              <a:t>testauksen</a:t>
            </a:r>
            <a:r>
              <a:rPr lang="en-GB" sz="2000" dirty="0"/>
              <a:t>. </a:t>
            </a:r>
          </a:p>
          <a:p>
            <a:pPr marL="0" indent="0" defTabSz="762000"/>
            <a:r>
              <a:rPr lang="en-GB" sz="2000" dirty="0" err="1"/>
              <a:t>Tämä</a:t>
            </a:r>
            <a:r>
              <a:rPr lang="en-GB" sz="2000" dirty="0"/>
              <a:t> </a:t>
            </a:r>
            <a:r>
              <a:rPr lang="en-GB" sz="2000" dirty="0" err="1"/>
              <a:t>ohjaus</a:t>
            </a:r>
            <a:r>
              <a:rPr lang="en-GB" sz="2000" dirty="0"/>
              <a:t> </a:t>
            </a:r>
            <a:r>
              <a:rPr lang="en-GB" sz="2000" dirty="0" err="1"/>
              <a:t>sisältää</a:t>
            </a:r>
            <a:r>
              <a:rPr lang="en-GB" sz="2000" dirty="0"/>
              <a:t> </a:t>
            </a:r>
            <a:r>
              <a:rPr lang="en-GB" sz="2000" dirty="0" err="1"/>
              <a:t>ohjeita</a:t>
            </a:r>
            <a:r>
              <a:rPr lang="en-GB" sz="2000" dirty="0"/>
              <a:t> </a:t>
            </a:r>
            <a:r>
              <a:rPr lang="en-GB" sz="2000" dirty="0" err="1"/>
              <a:t>testin</a:t>
            </a:r>
            <a:r>
              <a:rPr lang="en-GB" sz="2000" dirty="0"/>
              <a:t> </a:t>
            </a:r>
            <a:r>
              <a:rPr lang="en-GB" sz="2000" dirty="0" err="1"/>
              <a:t>alustamiseen</a:t>
            </a:r>
            <a:r>
              <a:rPr lang="en-GB" sz="2000" dirty="0"/>
              <a:t> </a:t>
            </a:r>
            <a:r>
              <a:rPr lang="en-GB" sz="2000" dirty="0" err="1"/>
              <a:t>ja</a:t>
            </a:r>
            <a:r>
              <a:rPr lang="en-GB" sz="2000" dirty="0"/>
              <a:t> </a:t>
            </a:r>
            <a:r>
              <a:rPr lang="en-GB" sz="2000" dirty="0" err="1"/>
              <a:t>suorittamiseen</a:t>
            </a:r>
            <a:r>
              <a:rPr lang="en-GB" sz="2000" dirty="0"/>
              <a:t>, </a:t>
            </a:r>
            <a:r>
              <a:rPr lang="en-GB" sz="2000" dirty="0" err="1"/>
              <a:t>sekä</a:t>
            </a:r>
            <a:r>
              <a:rPr lang="en-GB" sz="2000" dirty="0"/>
              <a:t> </a:t>
            </a:r>
            <a:r>
              <a:rPr lang="en-GB" sz="2000" dirty="0" err="1"/>
              <a:t>siihen</a:t>
            </a:r>
            <a:r>
              <a:rPr lang="en-GB" sz="2000" dirty="0"/>
              <a:t> </a:t>
            </a:r>
            <a:r>
              <a:rPr lang="en-GB" sz="2000" dirty="0" err="1"/>
              <a:t>mitä</a:t>
            </a:r>
            <a:r>
              <a:rPr lang="en-GB" sz="2000" dirty="0"/>
              <a:t> </a:t>
            </a:r>
            <a:r>
              <a:rPr lang="en-GB" sz="2000" dirty="0" err="1"/>
              <a:t>käyttäytymisiä</a:t>
            </a:r>
            <a:r>
              <a:rPr lang="en-GB" sz="2000" dirty="0"/>
              <a:t> </a:t>
            </a:r>
            <a:r>
              <a:rPr lang="en-GB" sz="2000" dirty="0" err="1"/>
              <a:t>tarkkailla</a:t>
            </a:r>
            <a:r>
              <a:rPr lang="en-GB" sz="2000" dirty="0"/>
              <a:t> </a:t>
            </a:r>
            <a:r>
              <a:rPr lang="en-GB" sz="2000" dirty="0" err="1"/>
              <a:t>ja</a:t>
            </a:r>
            <a:r>
              <a:rPr lang="en-GB" sz="2000" dirty="0"/>
              <a:t> </a:t>
            </a:r>
            <a:r>
              <a:rPr lang="en-GB" sz="2000" dirty="0" err="1"/>
              <a:t>kuinka</a:t>
            </a:r>
            <a:r>
              <a:rPr lang="en-GB" sz="2000" dirty="0"/>
              <a:t> </a:t>
            </a:r>
            <a:r>
              <a:rPr lang="en-GB" sz="2000" dirty="0" err="1"/>
              <a:t>arvioida</a:t>
            </a:r>
            <a:r>
              <a:rPr lang="en-GB" sz="2000" dirty="0"/>
              <a:t> </a:t>
            </a:r>
            <a:r>
              <a:rPr lang="en-GB" sz="2000" dirty="0" err="1"/>
              <a:t>lopputulos</a:t>
            </a:r>
            <a:r>
              <a:rPr lang="en-GB" sz="2000" dirty="0"/>
              <a:t>. </a:t>
            </a:r>
          </a:p>
        </p:txBody>
      </p:sp>
      <p:sp>
        <p:nvSpPr>
          <p:cNvPr id="111621" name="Rectangle 5"/>
          <p:cNvSpPr>
            <a:spLocks noChangeArrowheads="1"/>
          </p:cNvSpPr>
          <p:nvPr/>
        </p:nvSpPr>
        <p:spPr bwMode="auto">
          <a:xfrm>
            <a:off x="3787775" y="4322763"/>
            <a:ext cx="4800600" cy="1925637"/>
          </a:xfrm>
          <a:prstGeom prst="rect">
            <a:avLst/>
          </a:prstGeom>
          <a:solidFill>
            <a:schemeClr val="bg1"/>
          </a:solidFill>
          <a:ln w="12700">
            <a:solidFill>
              <a:schemeClr val="accent2"/>
            </a:solidFill>
            <a:miter lim="800000"/>
            <a:headEnd/>
            <a:tailEnd/>
          </a:ln>
          <a:effectLst>
            <a:outerShdw dist="107763" dir="18900000" algn="ctr" rotWithShape="0">
              <a:schemeClr val="bg2"/>
            </a:outerShdw>
          </a:effectLst>
        </p:spPr>
        <p:txBody>
          <a:bodyPr lIns="90000" tIns="46800" rIns="90000" bIns="46800" anchor="ctr"/>
          <a:lstStyle/>
          <a:p>
            <a:pPr algn="ctr"/>
            <a:r>
              <a:rPr lang="fi-FI" sz="2000" b="1">
                <a:cs typeface="Arial" charset="0"/>
              </a:rPr>
              <a:t>Vaihtoehtoiskustannus</a:t>
            </a:r>
            <a:r>
              <a:rPr lang="fi-FI" sz="2000">
                <a:cs typeface="Arial" charset="0"/>
              </a:rPr>
              <a:t>: ajan jota käyttää määritelläkseen/ dokumentoidakseen testit yksityiskohtaisesti, voisi käyttää myös muuhun. Mihin käytettynä aika on arvokkainta?</a:t>
            </a:r>
            <a:endParaRPr lang="en-GB" sz="2000">
              <a:cs typeface="Arial" charset="0"/>
            </a:endParaRPr>
          </a:p>
        </p:txBody>
      </p:sp>
      <p:sp>
        <p:nvSpPr>
          <p:cNvPr id="111622" name="Text Box 6"/>
          <p:cNvSpPr txBox="1">
            <a:spLocks noChangeArrowheads="1"/>
          </p:cNvSpPr>
          <p:nvPr/>
        </p:nvSpPr>
        <p:spPr bwMode="auto">
          <a:xfrm>
            <a:off x="3635375" y="2082800"/>
            <a:ext cx="2133600" cy="641350"/>
          </a:xfrm>
          <a:prstGeom prst="rect">
            <a:avLst/>
          </a:prstGeom>
          <a:noFill/>
          <a:ln w="12700">
            <a:noFill/>
            <a:miter lim="800000"/>
            <a:headEnd/>
            <a:tailEnd/>
          </a:ln>
          <a:effectLst/>
        </p:spPr>
        <p:txBody>
          <a:bodyPr lIns="90000" tIns="46800" rIns="90000" bIns="46800">
            <a:spAutoFit/>
          </a:bodyPr>
          <a:lstStyle/>
          <a:p>
            <a:pPr>
              <a:spcBef>
                <a:spcPct val="50000"/>
              </a:spcBef>
            </a:pPr>
            <a:r>
              <a:rPr lang="fi-FI" sz="3600" b="1">
                <a:cs typeface="Arial" charset="0"/>
              </a:rPr>
              <a:t>MITÄ?</a:t>
            </a:r>
            <a:endParaRPr lang="en-GB" sz="3600" b="1">
              <a:cs typeface="Arial" charset="0"/>
            </a:endParaRPr>
          </a:p>
        </p:txBody>
      </p:sp>
      <p:sp>
        <p:nvSpPr>
          <p:cNvPr id="111623" name="Text Box 7"/>
          <p:cNvSpPr txBox="1">
            <a:spLocks noChangeArrowheads="1"/>
          </p:cNvSpPr>
          <p:nvPr/>
        </p:nvSpPr>
        <p:spPr bwMode="auto">
          <a:xfrm>
            <a:off x="3635375" y="3408363"/>
            <a:ext cx="2133600" cy="641350"/>
          </a:xfrm>
          <a:prstGeom prst="rect">
            <a:avLst/>
          </a:prstGeom>
          <a:noFill/>
          <a:ln w="12700">
            <a:noFill/>
            <a:miter lim="800000"/>
            <a:headEnd/>
            <a:tailEnd/>
          </a:ln>
          <a:effectLst/>
        </p:spPr>
        <p:txBody>
          <a:bodyPr lIns="90000" tIns="46800" rIns="90000" bIns="46800">
            <a:spAutoFit/>
          </a:bodyPr>
          <a:lstStyle/>
          <a:p>
            <a:pPr>
              <a:spcBef>
                <a:spcPct val="50000"/>
              </a:spcBef>
            </a:pPr>
            <a:r>
              <a:rPr lang="fi-FI" sz="3600" b="1">
                <a:cs typeface="Arial" charset="0"/>
              </a:rPr>
              <a:t>MITEN? </a:t>
            </a:r>
            <a:endParaRPr lang="en-GB" sz="3600" b="1">
              <a:cs typeface="Arial" charset="0"/>
            </a:endParaRPr>
          </a:p>
        </p:txBody>
      </p:sp>
      <p:sp>
        <p:nvSpPr>
          <p:cNvPr id="111624" name="Text Box 8"/>
          <p:cNvSpPr txBox="1">
            <a:spLocks noChangeArrowheads="1"/>
          </p:cNvSpPr>
          <p:nvPr/>
        </p:nvSpPr>
        <p:spPr bwMode="auto">
          <a:xfrm>
            <a:off x="6659563" y="1916113"/>
            <a:ext cx="2133600" cy="1004887"/>
          </a:xfrm>
          <a:prstGeom prst="rect">
            <a:avLst/>
          </a:prstGeom>
          <a:noFill/>
          <a:ln w="12700">
            <a:noFill/>
            <a:miter lim="800000"/>
            <a:headEnd/>
            <a:tailEnd/>
          </a:ln>
          <a:effectLst/>
        </p:spPr>
        <p:txBody>
          <a:bodyPr lIns="90000" tIns="46800" rIns="90000" bIns="46800">
            <a:spAutoFit/>
          </a:bodyPr>
          <a:lstStyle/>
          <a:p>
            <a:pPr>
              <a:spcBef>
                <a:spcPct val="50000"/>
              </a:spcBef>
            </a:pPr>
            <a:r>
              <a:rPr lang="fi-FI" sz="2400">
                <a:cs typeface="Arial" charset="0"/>
              </a:rPr>
              <a:t>Tarkoitus</a:t>
            </a:r>
          </a:p>
          <a:p>
            <a:pPr>
              <a:spcBef>
                <a:spcPct val="50000"/>
              </a:spcBef>
            </a:pPr>
            <a:r>
              <a:rPr lang="fi-FI" sz="2400">
                <a:cs typeface="Arial" charset="0"/>
              </a:rPr>
              <a:t>Tulos</a:t>
            </a:r>
            <a:endParaRPr lang="en-GB" sz="2400">
              <a:cs typeface="Arial" charset="0"/>
            </a:endParaRPr>
          </a:p>
        </p:txBody>
      </p:sp>
      <p:sp>
        <p:nvSpPr>
          <p:cNvPr id="111625" name="Text Box 9"/>
          <p:cNvSpPr txBox="1">
            <a:spLocks noChangeArrowheads="1"/>
          </p:cNvSpPr>
          <p:nvPr/>
        </p:nvSpPr>
        <p:spPr bwMode="auto">
          <a:xfrm>
            <a:off x="6659563" y="3287713"/>
            <a:ext cx="2133600" cy="1004887"/>
          </a:xfrm>
          <a:prstGeom prst="rect">
            <a:avLst/>
          </a:prstGeom>
          <a:noFill/>
          <a:ln w="12700">
            <a:noFill/>
            <a:miter lim="800000"/>
            <a:headEnd/>
            <a:tailEnd/>
          </a:ln>
          <a:effectLst/>
        </p:spPr>
        <p:txBody>
          <a:bodyPr lIns="90000" tIns="46800" rIns="90000" bIns="46800">
            <a:spAutoFit/>
          </a:bodyPr>
          <a:lstStyle/>
          <a:p>
            <a:pPr>
              <a:spcBef>
                <a:spcPct val="50000"/>
              </a:spcBef>
            </a:pPr>
            <a:r>
              <a:rPr lang="fi-FI" sz="2400">
                <a:cs typeface="Arial" charset="0"/>
              </a:rPr>
              <a:t>Askeleet</a:t>
            </a:r>
          </a:p>
          <a:p>
            <a:pPr>
              <a:spcBef>
                <a:spcPct val="50000"/>
              </a:spcBef>
            </a:pPr>
            <a:r>
              <a:rPr lang="fi-FI" sz="2400">
                <a:cs typeface="Arial" charset="0"/>
              </a:rPr>
              <a:t>Käyttöohjeet</a:t>
            </a:r>
            <a:endParaRPr lang="en-GB" sz="2400">
              <a:cs typeface="Arial" charset="0"/>
            </a:endParaRPr>
          </a:p>
        </p:txBody>
      </p:sp>
      <p:sp>
        <p:nvSpPr>
          <p:cNvPr id="111626" name="AutoShape 10"/>
          <p:cNvSpPr>
            <a:spLocks noChangeArrowheads="1"/>
          </p:cNvSpPr>
          <p:nvPr/>
        </p:nvSpPr>
        <p:spPr bwMode="auto">
          <a:xfrm>
            <a:off x="5745163" y="2220913"/>
            <a:ext cx="914400" cy="457200"/>
          </a:xfrm>
          <a:prstGeom prst="rightArrow">
            <a:avLst>
              <a:gd name="adj1" fmla="val 50000"/>
              <a:gd name="adj2" fmla="val 50000"/>
            </a:avLst>
          </a:prstGeom>
          <a:solidFill>
            <a:schemeClr val="folHlink"/>
          </a:solidFill>
          <a:ln w="12700">
            <a:noFill/>
            <a:miter lim="800000"/>
            <a:headEnd/>
            <a:tailEnd/>
          </a:ln>
          <a:effectLst/>
        </p:spPr>
        <p:txBody>
          <a:bodyPr wrap="none" lIns="90000" tIns="46800" rIns="90000" bIns="46800" anchor="ctr"/>
          <a:lstStyle/>
          <a:p>
            <a:endParaRPr lang="fi-FI"/>
          </a:p>
        </p:txBody>
      </p:sp>
      <p:sp>
        <p:nvSpPr>
          <p:cNvPr id="111627" name="AutoShape 11"/>
          <p:cNvSpPr>
            <a:spLocks noChangeArrowheads="1"/>
          </p:cNvSpPr>
          <p:nvPr/>
        </p:nvSpPr>
        <p:spPr bwMode="auto">
          <a:xfrm>
            <a:off x="5745163" y="3516313"/>
            <a:ext cx="914400" cy="457200"/>
          </a:xfrm>
          <a:prstGeom prst="rightArrow">
            <a:avLst>
              <a:gd name="adj1" fmla="val 50000"/>
              <a:gd name="adj2" fmla="val 50000"/>
            </a:avLst>
          </a:prstGeom>
          <a:solidFill>
            <a:schemeClr val="folHlink"/>
          </a:solidFill>
          <a:ln w="12700">
            <a:noFill/>
            <a:miter lim="800000"/>
            <a:headEnd/>
            <a:tailEnd/>
          </a:ln>
          <a:effectLst/>
        </p:spPr>
        <p:txBody>
          <a:bodyPr wrap="none" lIns="90000" tIns="46800" rIns="90000" bIns="46800" anchor="ctr"/>
          <a:lstStyle/>
          <a:p>
            <a:endParaRPr lang="fi-FI"/>
          </a:p>
        </p:txBody>
      </p:sp>
      <p:sp>
        <p:nvSpPr>
          <p:cNvPr id="11" name="Slide Number Placeholder 10"/>
          <p:cNvSpPr>
            <a:spLocks noGrp="1"/>
          </p:cNvSpPr>
          <p:nvPr>
            <p:ph type="sldNum" sz="quarter" idx="12"/>
          </p:nvPr>
        </p:nvSpPr>
        <p:spPr/>
        <p:txBody>
          <a:bodyPr/>
          <a:lstStyle/>
          <a:p>
            <a:fld id="{B6F15528-21DE-4FAA-801E-634DDDAF4B2B}" type="slidenum">
              <a:rPr lang="en-US" smtClean="0"/>
              <a:pPr/>
              <a:t>206</a:t>
            </a:fld>
            <a:endParaRPr lang="en-US"/>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uorakulmio 37"/>
          <p:cNvSpPr/>
          <p:nvPr/>
        </p:nvSpPr>
        <p:spPr>
          <a:xfrm>
            <a:off x="2063971" y="3962400"/>
            <a:ext cx="3923929" cy="233267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fi-FI"/>
          </a:p>
        </p:txBody>
      </p:sp>
      <p:sp>
        <p:nvSpPr>
          <p:cNvPr id="4" name="Otsikko 3"/>
          <p:cNvSpPr>
            <a:spLocks noGrp="1"/>
          </p:cNvSpPr>
          <p:nvPr>
            <p:ph type="title"/>
          </p:nvPr>
        </p:nvSpPr>
        <p:spPr/>
        <p:txBody>
          <a:bodyPr/>
          <a:lstStyle/>
          <a:p>
            <a:r>
              <a:rPr lang="fi-FI" dirty="0" smtClean="0"/>
              <a:t>Testitapaus</a:t>
            </a:r>
            <a:endParaRPr lang="fi-FI" dirty="0"/>
          </a:p>
        </p:txBody>
      </p:sp>
      <p:sp>
        <p:nvSpPr>
          <p:cNvPr id="5" name="Suorakulmio 4"/>
          <p:cNvSpPr/>
          <p:nvPr/>
        </p:nvSpPr>
        <p:spPr>
          <a:xfrm>
            <a:off x="5987899" y="2178790"/>
            <a:ext cx="2016224" cy="17757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t" anchorCtr="0"/>
          <a:lstStyle/>
          <a:p>
            <a:r>
              <a:rPr lang="fi-FI" dirty="0" smtClean="0"/>
              <a:t>Tehtävä</a:t>
            </a:r>
            <a:endParaRPr lang="fi-FI" dirty="0"/>
          </a:p>
        </p:txBody>
      </p:sp>
      <p:sp>
        <p:nvSpPr>
          <p:cNvPr id="6" name="Vuokaaviosymboli: Dokumentti 5"/>
          <p:cNvSpPr/>
          <p:nvPr/>
        </p:nvSpPr>
        <p:spPr>
          <a:xfrm>
            <a:off x="2819547" y="2596834"/>
            <a:ext cx="1296144" cy="1162058"/>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Testi (kokoelma)</a:t>
            </a:r>
            <a:endParaRPr lang="fi-FI" dirty="0"/>
          </a:p>
        </p:txBody>
      </p:sp>
      <p:sp>
        <p:nvSpPr>
          <p:cNvPr id="7" name="Vuokaaviosymboli: Dokumentti 6"/>
          <p:cNvSpPr/>
          <p:nvPr/>
        </p:nvSpPr>
        <p:spPr>
          <a:xfrm>
            <a:off x="2315491" y="1296081"/>
            <a:ext cx="1296144" cy="1162058"/>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Aineisto</a:t>
            </a:r>
            <a:br>
              <a:rPr lang="fi-FI" dirty="0" smtClean="0"/>
            </a:br>
            <a:r>
              <a:rPr lang="fi-FI" dirty="0" smtClean="0"/>
              <a:t>(kokoelma)</a:t>
            </a:r>
            <a:endParaRPr lang="fi-FI" dirty="0"/>
          </a:p>
        </p:txBody>
      </p:sp>
      <p:sp>
        <p:nvSpPr>
          <p:cNvPr id="8" name="Vuokaaviosymboli: Dokumentti 7"/>
          <p:cNvSpPr/>
          <p:nvPr/>
        </p:nvSpPr>
        <p:spPr>
          <a:xfrm>
            <a:off x="4445288" y="4096486"/>
            <a:ext cx="1296144" cy="1162058"/>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Suoritettu testi (status)</a:t>
            </a:r>
            <a:endParaRPr lang="fi-FI" dirty="0"/>
          </a:p>
        </p:txBody>
      </p:sp>
      <p:sp>
        <p:nvSpPr>
          <p:cNvPr id="9" name="Vuokaaviosymboli: Dokumentti 8"/>
          <p:cNvSpPr/>
          <p:nvPr/>
        </p:nvSpPr>
        <p:spPr>
          <a:xfrm>
            <a:off x="2171475" y="4400484"/>
            <a:ext cx="1296144" cy="858060"/>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200" dirty="0" smtClean="0"/>
              <a:t>Suoritettu testi (uudelleenkäyttö)</a:t>
            </a:r>
            <a:endParaRPr lang="fi-FI" sz="1200" dirty="0"/>
          </a:p>
        </p:txBody>
      </p:sp>
      <p:sp>
        <p:nvSpPr>
          <p:cNvPr id="10" name="Vuokaaviosymboli: Dokumentti 9"/>
          <p:cNvSpPr/>
          <p:nvPr/>
        </p:nvSpPr>
        <p:spPr>
          <a:xfrm>
            <a:off x="2171475" y="5410944"/>
            <a:ext cx="1296144" cy="858060"/>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200" dirty="0" smtClean="0"/>
              <a:t>Suoritettu testi (muistiinpanot)</a:t>
            </a:r>
            <a:endParaRPr lang="fi-FI" sz="1200" dirty="0"/>
          </a:p>
        </p:txBody>
      </p:sp>
      <p:cxnSp>
        <p:nvCxnSpPr>
          <p:cNvPr id="12" name="Kulmayhdysviiva 11"/>
          <p:cNvCxnSpPr>
            <a:stCxn id="9" idx="0"/>
            <a:endCxn id="6" idx="3"/>
          </p:cNvCxnSpPr>
          <p:nvPr/>
        </p:nvCxnSpPr>
        <p:spPr>
          <a:xfrm rot="5400000" flipH="1" flipV="1">
            <a:off x="2856309" y="3141102"/>
            <a:ext cx="1222621" cy="1296144"/>
          </a:xfrm>
          <a:prstGeom prst="bentConnector4">
            <a:avLst>
              <a:gd name="adj1" fmla="val 26238"/>
              <a:gd name="adj2" fmla="val 117637"/>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uora nuoliyhdysviiva 14"/>
          <p:cNvCxnSpPr>
            <a:stCxn id="10" idx="3"/>
            <a:endCxn id="16" idx="2"/>
          </p:cNvCxnSpPr>
          <p:nvPr/>
        </p:nvCxnSpPr>
        <p:spPr>
          <a:xfrm>
            <a:off x="3467619" y="5839974"/>
            <a:ext cx="1152128" cy="45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Vuokaaviosymboli: Magneettilevy 15"/>
          <p:cNvSpPr/>
          <p:nvPr/>
        </p:nvSpPr>
        <p:spPr>
          <a:xfrm>
            <a:off x="4619747" y="5516133"/>
            <a:ext cx="940149" cy="656753"/>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err="1" smtClean="0"/>
              <a:t>Kierrok-set</a:t>
            </a:r>
            <a:endParaRPr lang="fi-FI" sz="1600" dirty="0"/>
          </a:p>
        </p:txBody>
      </p:sp>
      <p:cxnSp>
        <p:nvCxnSpPr>
          <p:cNvPr id="18" name="Suora nuoliyhdysviiva 17"/>
          <p:cNvCxnSpPr>
            <a:stCxn id="8" idx="2"/>
            <a:endCxn id="16" idx="1"/>
          </p:cNvCxnSpPr>
          <p:nvPr/>
        </p:nvCxnSpPr>
        <p:spPr>
          <a:xfrm flipH="1">
            <a:off x="5089822" y="5181719"/>
            <a:ext cx="3538" cy="33441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0" name="Vuokaaviosymboli: Dokumentti 19"/>
          <p:cNvSpPr/>
          <p:nvPr/>
        </p:nvSpPr>
        <p:spPr>
          <a:xfrm>
            <a:off x="3725679" y="1268760"/>
            <a:ext cx="1326116" cy="1112554"/>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Tarkistus-lista</a:t>
            </a:r>
            <a:br>
              <a:rPr lang="fi-FI" dirty="0" smtClean="0"/>
            </a:br>
            <a:r>
              <a:rPr lang="fi-FI" dirty="0" smtClean="0"/>
              <a:t>(kokoelma)</a:t>
            </a:r>
            <a:endParaRPr lang="fi-FI" dirty="0"/>
          </a:p>
        </p:txBody>
      </p:sp>
      <p:cxnSp>
        <p:nvCxnSpPr>
          <p:cNvPr id="22" name="Suora yhdysviiva 21"/>
          <p:cNvCxnSpPr>
            <a:stCxn id="7" idx="2"/>
            <a:endCxn id="6" idx="0"/>
          </p:cNvCxnSpPr>
          <p:nvPr/>
        </p:nvCxnSpPr>
        <p:spPr>
          <a:xfrm>
            <a:off x="2963563" y="2381314"/>
            <a:ext cx="504056" cy="21552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uora yhdysviiva 23"/>
          <p:cNvCxnSpPr>
            <a:stCxn id="20" idx="2"/>
            <a:endCxn id="6" idx="0"/>
          </p:cNvCxnSpPr>
          <p:nvPr/>
        </p:nvCxnSpPr>
        <p:spPr>
          <a:xfrm flipH="1">
            <a:off x="3467619" y="2307762"/>
            <a:ext cx="921118" cy="289072"/>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Kulmayhdysviiva 26"/>
          <p:cNvCxnSpPr>
            <a:stCxn id="5" idx="1"/>
            <a:endCxn id="8" idx="0"/>
          </p:cNvCxnSpPr>
          <p:nvPr/>
        </p:nvCxnSpPr>
        <p:spPr>
          <a:xfrm rot="10800000" flipV="1">
            <a:off x="5093361" y="3066656"/>
            <a:ext cx="894539" cy="1029830"/>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41" name="Nuoli oikealle 40"/>
          <p:cNvSpPr/>
          <p:nvPr/>
        </p:nvSpPr>
        <p:spPr>
          <a:xfrm>
            <a:off x="6044686" y="4731180"/>
            <a:ext cx="807309" cy="42903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42" name="Vuokaaviosymboli: Dokumentti 41"/>
          <p:cNvSpPr/>
          <p:nvPr/>
        </p:nvSpPr>
        <p:spPr>
          <a:xfrm>
            <a:off x="7020272" y="4321993"/>
            <a:ext cx="1512168" cy="1419647"/>
          </a:xfrm>
          <a:prstGeom prst="flowChartDocumen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i-FI" dirty="0" smtClean="0"/>
              <a:t>Havainto</a:t>
            </a:r>
            <a:endParaRPr lang="fi-FI" dirty="0"/>
          </a:p>
        </p:txBody>
      </p:sp>
      <p:sp>
        <p:nvSpPr>
          <p:cNvPr id="43" name="Vuokaaviosymboli: Dokumentti 42"/>
          <p:cNvSpPr/>
          <p:nvPr/>
        </p:nvSpPr>
        <p:spPr>
          <a:xfrm>
            <a:off x="179512" y="2441401"/>
            <a:ext cx="1512168" cy="1419647"/>
          </a:xfrm>
          <a:prstGeom prst="flowChartDocumen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i-FI" dirty="0" smtClean="0"/>
              <a:t>Vaatimus</a:t>
            </a:r>
            <a:endParaRPr lang="fi-FI" dirty="0"/>
          </a:p>
        </p:txBody>
      </p:sp>
      <p:sp>
        <p:nvSpPr>
          <p:cNvPr id="44" name="Nuoli oikealle 43"/>
          <p:cNvSpPr/>
          <p:nvPr/>
        </p:nvSpPr>
        <p:spPr>
          <a:xfrm>
            <a:off x="1767820" y="2852141"/>
            <a:ext cx="807309" cy="42903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45" name="Tekstiruutu 44"/>
          <p:cNvSpPr txBox="1"/>
          <p:nvPr/>
        </p:nvSpPr>
        <p:spPr>
          <a:xfrm>
            <a:off x="179512" y="5031816"/>
            <a:ext cx="1512168" cy="646331"/>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gn="ctr"/>
            <a:r>
              <a:rPr lang="fi-FI" b="1" dirty="0" smtClean="0"/>
              <a:t>Raportointi</a:t>
            </a:r>
          </a:p>
          <a:p>
            <a:pPr algn="ctr"/>
            <a:endParaRPr lang="fi-FI" dirty="0"/>
          </a:p>
        </p:txBody>
      </p:sp>
      <p:sp>
        <p:nvSpPr>
          <p:cNvPr id="46" name="Tekstiruutu 45"/>
          <p:cNvSpPr txBox="1"/>
          <p:nvPr/>
        </p:nvSpPr>
        <p:spPr>
          <a:xfrm>
            <a:off x="5093360" y="1484784"/>
            <a:ext cx="1354980" cy="369332"/>
          </a:xfrm>
          <a:prstGeom prst="rect">
            <a:avLst/>
          </a:prstGeom>
          <a:noFill/>
        </p:spPr>
        <p:txBody>
          <a:bodyPr wrap="square" rtlCol="0">
            <a:spAutoFit/>
          </a:bodyPr>
          <a:lstStyle/>
          <a:p>
            <a:r>
              <a:rPr lang="fi-FI" dirty="0" smtClean="0"/>
              <a:t>Versiointi</a:t>
            </a:r>
            <a:endParaRPr lang="fi-FI" dirty="0"/>
          </a:p>
        </p:txBody>
      </p:sp>
      <p:sp>
        <p:nvSpPr>
          <p:cNvPr id="25" name="Slide Number Placeholder 24"/>
          <p:cNvSpPr>
            <a:spLocks noGrp="1"/>
          </p:cNvSpPr>
          <p:nvPr>
            <p:ph type="sldNum" sz="quarter" idx="12"/>
          </p:nvPr>
        </p:nvSpPr>
        <p:spPr/>
        <p:txBody>
          <a:bodyPr/>
          <a:lstStyle/>
          <a:p>
            <a:fld id="{1FC54B03-E980-44E0-A0F1-6CAD9D10ECFB}" type="slidenum">
              <a:rPr lang="fi-FI" smtClean="0"/>
              <a:pPr/>
              <a:t>207</a:t>
            </a:fld>
            <a:endParaRPr lang="fi-FI"/>
          </a:p>
        </p:txBody>
      </p:sp>
    </p:spTree>
    <p:extLst>
      <p:ext uri="{BB962C8B-B14F-4D97-AF65-F5344CB8AC3E}">
        <p14:creationId xmlns:p14="http://schemas.microsoft.com/office/powerpoint/2010/main" val="2547557952"/>
      </p:ext>
    </p:extLst>
  </p:cSld>
  <p:clrMapOvr>
    <a:masterClrMapping/>
  </p:clrMapOvr>
  <p:timing>
    <p:tnLst>
      <p:par>
        <p:cTn xmlns:p14="http://schemas.microsoft.com/office/powerpoint/2010/main" id="1" dur="indefinite" restart="never" nodeType="tmRoot"/>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685800" y="2057400"/>
            <a:ext cx="2438400" cy="3200400"/>
          </a:xfrm>
          <a:prstGeom prst="rect">
            <a:avLst/>
          </a:prstGeom>
        </p:spPr>
        <p:style>
          <a:lnRef idx="1">
            <a:schemeClr val="accent3"/>
          </a:lnRef>
          <a:fillRef idx="2">
            <a:schemeClr val="accent3"/>
          </a:fillRef>
          <a:effectRef idx="1">
            <a:schemeClr val="accent3"/>
          </a:effectRef>
          <a:fontRef idx="minor">
            <a:schemeClr val="dk1"/>
          </a:fontRef>
        </p:style>
        <p:txBody>
          <a:bodyPr rtlCol="0" anchor="t" anchorCtr="0"/>
          <a:lstStyle/>
          <a:p>
            <a:pPr algn="ctr"/>
            <a:r>
              <a:rPr lang="fi-FI" dirty="0" smtClean="0"/>
              <a:t>Toistotarve</a:t>
            </a:r>
            <a:endParaRPr lang="fi-FI" dirty="0"/>
          </a:p>
        </p:txBody>
      </p:sp>
      <p:sp>
        <p:nvSpPr>
          <p:cNvPr id="4" name="Title 3"/>
          <p:cNvSpPr>
            <a:spLocks noGrp="1"/>
          </p:cNvSpPr>
          <p:nvPr>
            <p:ph type="title"/>
          </p:nvPr>
        </p:nvSpPr>
        <p:spPr/>
        <p:txBody>
          <a:bodyPr/>
          <a:lstStyle/>
          <a:p>
            <a:r>
              <a:rPr lang="fi-FI" dirty="0" smtClean="0"/>
              <a:t>Erilaisia testitapauksia</a:t>
            </a:r>
            <a:endParaRPr lang="fi-FI" dirty="0"/>
          </a:p>
        </p:txBody>
      </p:sp>
      <p:sp>
        <p:nvSpPr>
          <p:cNvPr id="5" name="Rounded Rectangle 4"/>
          <p:cNvSpPr/>
          <p:nvPr/>
        </p:nvSpPr>
        <p:spPr>
          <a:xfrm>
            <a:off x="838200" y="2590800"/>
            <a:ext cx="2133600" cy="685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Testaa kerran</a:t>
            </a:r>
            <a:endParaRPr lang="fi-FI" dirty="0"/>
          </a:p>
        </p:txBody>
      </p:sp>
      <p:sp>
        <p:nvSpPr>
          <p:cNvPr id="6" name="Rounded Rectangle 5"/>
          <p:cNvSpPr/>
          <p:nvPr/>
        </p:nvSpPr>
        <p:spPr>
          <a:xfrm>
            <a:off x="838200" y="3429000"/>
            <a:ext cx="2133600" cy="685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Toista joskus</a:t>
            </a:r>
            <a:endParaRPr lang="fi-FI" dirty="0"/>
          </a:p>
        </p:txBody>
      </p:sp>
      <p:sp>
        <p:nvSpPr>
          <p:cNvPr id="7" name="Rounded Rectangle 6"/>
          <p:cNvSpPr/>
          <p:nvPr/>
        </p:nvSpPr>
        <p:spPr>
          <a:xfrm>
            <a:off x="838200" y="4267200"/>
            <a:ext cx="2133600" cy="685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Automatisoi/ ohjeista tarkasti</a:t>
            </a:r>
            <a:endParaRPr lang="fi-FI" dirty="0"/>
          </a:p>
        </p:txBody>
      </p:sp>
      <p:sp>
        <p:nvSpPr>
          <p:cNvPr id="10" name="Rectangle 9"/>
          <p:cNvSpPr/>
          <p:nvPr/>
        </p:nvSpPr>
        <p:spPr>
          <a:xfrm>
            <a:off x="3276600" y="2057400"/>
            <a:ext cx="2438400" cy="3200400"/>
          </a:xfrm>
          <a:prstGeom prst="rect">
            <a:avLst/>
          </a:prstGeom>
        </p:spPr>
        <p:style>
          <a:lnRef idx="1">
            <a:schemeClr val="accent3"/>
          </a:lnRef>
          <a:fillRef idx="2">
            <a:schemeClr val="accent3"/>
          </a:fillRef>
          <a:effectRef idx="1">
            <a:schemeClr val="accent3"/>
          </a:effectRef>
          <a:fontRef idx="minor">
            <a:schemeClr val="dk1"/>
          </a:fontRef>
        </p:style>
        <p:txBody>
          <a:bodyPr rtlCol="0" anchor="t" anchorCtr="0"/>
          <a:lstStyle/>
          <a:p>
            <a:pPr algn="ctr"/>
            <a:r>
              <a:rPr lang="fi-FI" dirty="0" smtClean="0"/>
              <a:t>Sisällytyssyy</a:t>
            </a:r>
            <a:endParaRPr lang="fi-FI" dirty="0"/>
          </a:p>
        </p:txBody>
      </p:sp>
      <p:sp>
        <p:nvSpPr>
          <p:cNvPr id="11" name="Rounded Rectangle 10"/>
          <p:cNvSpPr/>
          <p:nvPr/>
        </p:nvSpPr>
        <p:spPr>
          <a:xfrm>
            <a:off x="3429000" y="2819400"/>
            <a:ext cx="2133600" cy="990600"/>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i-FI" dirty="0" smtClean="0"/>
              <a:t>Koska toimittajaan ei voi luottaa</a:t>
            </a:r>
            <a:endParaRPr lang="fi-FI" dirty="0"/>
          </a:p>
        </p:txBody>
      </p:sp>
      <p:sp>
        <p:nvSpPr>
          <p:cNvPr id="12" name="Rounded Rectangle 11"/>
          <p:cNvSpPr/>
          <p:nvPr/>
        </p:nvSpPr>
        <p:spPr>
          <a:xfrm>
            <a:off x="3429000" y="3962400"/>
            <a:ext cx="2133600" cy="990600"/>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i-FI" dirty="0" smtClean="0"/>
              <a:t>Koska liiketoiminnan painopiste eroaa</a:t>
            </a:r>
            <a:endParaRPr lang="fi-FI" dirty="0"/>
          </a:p>
        </p:txBody>
      </p:sp>
      <p:sp>
        <p:nvSpPr>
          <p:cNvPr id="13" name="Rectangle 12"/>
          <p:cNvSpPr/>
          <p:nvPr/>
        </p:nvSpPr>
        <p:spPr>
          <a:xfrm>
            <a:off x="5943600" y="2057400"/>
            <a:ext cx="2438400" cy="3200400"/>
          </a:xfrm>
          <a:prstGeom prst="rect">
            <a:avLst/>
          </a:prstGeom>
        </p:spPr>
        <p:style>
          <a:lnRef idx="1">
            <a:schemeClr val="accent3"/>
          </a:lnRef>
          <a:fillRef idx="2">
            <a:schemeClr val="accent3"/>
          </a:fillRef>
          <a:effectRef idx="1">
            <a:schemeClr val="accent3"/>
          </a:effectRef>
          <a:fontRef idx="minor">
            <a:schemeClr val="dk1"/>
          </a:fontRef>
        </p:style>
        <p:txBody>
          <a:bodyPr rtlCol="0" anchor="t" anchorCtr="0"/>
          <a:lstStyle/>
          <a:p>
            <a:pPr algn="ctr"/>
            <a:r>
              <a:rPr lang="fi-FI" dirty="0" smtClean="0"/>
              <a:t>Tehokas lopputuloksen tarkistus</a:t>
            </a:r>
            <a:endParaRPr lang="fi-FI" dirty="0"/>
          </a:p>
        </p:txBody>
      </p:sp>
      <p:sp>
        <p:nvSpPr>
          <p:cNvPr id="14" name="Rounded Rectangle 13"/>
          <p:cNvSpPr/>
          <p:nvPr/>
        </p:nvSpPr>
        <p:spPr>
          <a:xfrm>
            <a:off x="6096000" y="2819400"/>
            <a:ext cx="2133600" cy="990600"/>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fi-FI" dirty="0" smtClean="0"/>
              <a:t>Vain ihminen ajattelee monipuolisesti</a:t>
            </a:r>
            <a:endParaRPr lang="fi-FI" dirty="0"/>
          </a:p>
        </p:txBody>
      </p:sp>
      <p:sp>
        <p:nvSpPr>
          <p:cNvPr id="15" name="Rounded Rectangle 14"/>
          <p:cNvSpPr/>
          <p:nvPr/>
        </p:nvSpPr>
        <p:spPr>
          <a:xfrm>
            <a:off x="6096000" y="3962400"/>
            <a:ext cx="2133600" cy="990600"/>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fi-FI" dirty="0" smtClean="0"/>
              <a:t>Tylsää toistoa</a:t>
            </a:r>
            <a:endParaRPr lang="fi-FI" dirty="0"/>
          </a:p>
        </p:txBody>
      </p:sp>
      <p:sp>
        <p:nvSpPr>
          <p:cNvPr id="16" name="Slide Number Placeholder 15"/>
          <p:cNvSpPr>
            <a:spLocks noGrp="1"/>
          </p:cNvSpPr>
          <p:nvPr>
            <p:ph type="sldNum" sz="quarter" idx="12"/>
          </p:nvPr>
        </p:nvSpPr>
        <p:spPr/>
        <p:txBody>
          <a:bodyPr/>
          <a:lstStyle/>
          <a:p>
            <a:fld id="{1FC54B03-E980-44E0-A0F1-6CAD9D10ECFB}" type="slidenum">
              <a:rPr lang="fi-FI" smtClean="0"/>
              <a:pPr/>
              <a:t>208</a:t>
            </a:fld>
            <a:endParaRPr lang="fi-FI"/>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fi-FI" dirty="0" smtClean="0"/>
              <a:t>Kattavuus: Toiminnallisuus vs. aineisto</a:t>
            </a:r>
            <a:endParaRPr lang="fi-FI" dirty="0"/>
          </a:p>
        </p:txBody>
      </p:sp>
      <p:cxnSp>
        <p:nvCxnSpPr>
          <p:cNvPr id="6" name="Straight Arrow Connector 5"/>
          <p:cNvCxnSpPr/>
          <p:nvPr/>
        </p:nvCxnSpPr>
        <p:spPr>
          <a:xfrm>
            <a:off x="762000" y="1905000"/>
            <a:ext cx="7696200" cy="1588"/>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rot="5400000">
            <a:off x="-1181100" y="3848100"/>
            <a:ext cx="3886200" cy="1588"/>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819400" y="1524000"/>
            <a:ext cx="3124200" cy="369332"/>
          </a:xfrm>
          <a:prstGeom prst="rect">
            <a:avLst/>
          </a:prstGeom>
          <a:noFill/>
        </p:spPr>
        <p:txBody>
          <a:bodyPr wrap="square" rtlCol="0">
            <a:spAutoFit/>
          </a:bodyPr>
          <a:lstStyle/>
          <a:p>
            <a:pPr algn="ctr"/>
            <a:r>
              <a:rPr lang="fi-FI" dirty="0" smtClean="0"/>
              <a:t>Toiminnallisuus</a:t>
            </a:r>
            <a:endParaRPr lang="fi-FI" dirty="0"/>
          </a:p>
        </p:txBody>
      </p:sp>
      <p:sp>
        <p:nvSpPr>
          <p:cNvPr id="10" name="TextBox 9"/>
          <p:cNvSpPr txBox="1"/>
          <p:nvPr/>
        </p:nvSpPr>
        <p:spPr>
          <a:xfrm rot="16200000">
            <a:off x="-1072634" y="3587234"/>
            <a:ext cx="3124200" cy="369332"/>
          </a:xfrm>
          <a:prstGeom prst="rect">
            <a:avLst/>
          </a:prstGeom>
          <a:noFill/>
        </p:spPr>
        <p:txBody>
          <a:bodyPr wrap="square" rtlCol="0">
            <a:spAutoFit/>
          </a:bodyPr>
          <a:lstStyle/>
          <a:p>
            <a:pPr algn="ctr"/>
            <a:r>
              <a:rPr lang="fi-FI" dirty="0" smtClean="0"/>
              <a:t>Erilaiset syötteet ja aineistot</a:t>
            </a:r>
            <a:endParaRPr lang="fi-FI" dirty="0"/>
          </a:p>
        </p:txBody>
      </p:sp>
      <p:sp>
        <p:nvSpPr>
          <p:cNvPr id="11" name="Oval 10"/>
          <p:cNvSpPr/>
          <p:nvPr/>
        </p:nvSpPr>
        <p:spPr>
          <a:xfrm>
            <a:off x="990600" y="2057400"/>
            <a:ext cx="7239000" cy="609600"/>
          </a:xfrm>
          <a:prstGeom prst="ellipse">
            <a:avLst/>
          </a:prstGeom>
          <a:noFill/>
          <a:ln>
            <a:prstDash val="sysDash"/>
          </a:ln>
        </p:spPr>
        <p:style>
          <a:lnRef idx="2">
            <a:schemeClr val="accent4"/>
          </a:lnRef>
          <a:fillRef idx="1">
            <a:schemeClr val="lt1"/>
          </a:fillRef>
          <a:effectRef idx="0">
            <a:schemeClr val="accent4"/>
          </a:effectRef>
          <a:fontRef idx="minor">
            <a:schemeClr val="dk1"/>
          </a:fontRef>
        </p:style>
        <p:txBody>
          <a:bodyPr rtlCol="0" anchor="ctr"/>
          <a:lstStyle/>
          <a:p>
            <a:pPr algn="ctr"/>
            <a:r>
              <a:rPr lang="fi-FI" dirty="0" smtClean="0"/>
              <a:t>Toiminnallisuustestaus</a:t>
            </a:r>
            <a:endParaRPr lang="fi-FI" dirty="0"/>
          </a:p>
        </p:txBody>
      </p:sp>
      <p:sp>
        <p:nvSpPr>
          <p:cNvPr id="12" name="Oval 11"/>
          <p:cNvSpPr/>
          <p:nvPr/>
        </p:nvSpPr>
        <p:spPr>
          <a:xfrm>
            <a:off x="838200" y="1981200"/>
            <a:ext cx="609600" cy="609600"/>
          </a:xfrm>
          <a:prstGeom prst="ellipse">
            <a:avLst/>
          </a:prstGeom>
          <a:noFill/>
          <a:ln>
            <a:prstDash val="dashDot"/>
          </a:ln>
        </p:spPr>
        <p:style>
          <a:lnRef idx="2">
            <a:schemeClr val="accent2"/>
          </a:lnRef>
          <a:fillRef idx="1">
            <a:schemeClr val="lt1"/>
          </a:fillRef>
          <a:effectRef idx="0">
            <a:schemeClr val="accent2"/>
          </a:effectRef>
          <a:fontRef idx="minor">
            <a:schemeClr val="dk1"/>
          </a:fontRef>
        </p:style>
        <p:txBody>
          <a:bodyPr rtlCol="0" anchor="ctr"/>
          <a:lstStyle/>
          <a:p>
            <a:pPr algn="ctr"/>
            <a:endParaRPr lang="fi-FI" sz="1600" dirty="0"/>
          </a:p>
        </p:txBody>
      </p:sp>
      <p:sp>
        <p:nvSpPr>
          <p:cNvPr id="13" name="Rectangle 12"/>
          <p:cNvSpPr/>
          <p:nvPr/>
        </p:nvSpPr>
        <p:spPr>
          <a:xfrm>
            <a:off x="1524000" y="2743200"/>
            <a:ext cx="904415" cy="646331"/>
          </a:xfrm>
          <a:prstGeom prst="rect">
            <a:avLst/>
          </a:prstGeom>
        </p:spPr>
        <p:txBody>
          <a:bodyPr wrap="none">
            <a:spAutoFit/>
          </a:bodyPr>
          <a:lstStyle/>
          <a:p>
            <a:pPr algn="ctr"/>
            <a:r>
              <a:rPr lang="fi-FI" dirty="0" smtClean="0"/>
              <a:t>Aloitus-</a:t>
            </a:r>
            <a:br>
              <a:rPr lang="fi-FI" dirty="0" smtClean="0"/>
            </a:br>
            <a:r>
              <a:rPr lang="fi-FI" dirty="0" smtClean="0"/>
              <a:t>testaus</a:t>
            </a:r>
            <a:endParaRPr lang="fi-FI" dirty="0"/>
          </a:p>
        </p:txBody>
      </p:sp>
      <p:cxnSp>
        <p:nvCxnSpPr>
          <p:cNvPr id="15" name="Straight Arrow Connector 14"/>
          <p:cNvCxnSpPr/>
          <p:nvPr/>
        </p:nvCxnSpPr>
        <p:spPr>
          <a:xfrm rot="10800000">
            <a:off x="1295400" y="2362200"/>
            <a:ext cx="53340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5-Point Star 15"/>
          <p:cNvSpPr/>
          <p:nvPr/>
        </p:nvSpPr>
        <p:spPr>
          <a:xfrm rot="2874054">
            <a:off x="3962400" y="3124200"/>
            <a:ext cx="381000" cy="381000"/>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17" name="5-Point Star 16"/>
          <p:cNvSpPr/>
          <p:nvPr/>
        </p:nvSpPr>
        <p:spPr>
          <a:xfrm rot="1413443">
            <a:off x="1066800" y="3581400"/>
            <a:ext cx="381000" cy="381000"/>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18" name="5-Point Star 17"/>
          <p:cNvSpPr/>
          <p:nvPr/>
        </p:nvSpPr>
        <p:spPr>
          <a:xfrm>
            <a:off x="2514600" y="5105400"/>
            <a:ext cx="381000" cy="381000"/>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19" name="5-Point Star 18"/>
          <p:cNvSpPr/>
          <p:nvPr/>
        </p:nvSpPr>
        <p:spPr>
          <a:xfrm>
            <a:off x="6248400" y="2286000"/>
            <a:ext cx="381000" cy="381000"/>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20" name="5-Point Star 19"/>
          <p:cNvSpPr/>
          <p:nvPr/>
        </p:nvSpPr>
        <p:spPr>
          <a:xfrm>
            <a:off x="2286000" y="1981200"/>
            <a:ext cx="381000" cy="381000"/>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21" name="5-Point Star 20"/>
          <p:cNvSpPr/>
          <p:nvPr/>
        </p:nvSpPr>
        <p:spPr>
          <a:xfrm>
            <a:off x="6248400" y="4724400"/>
            <a:ext cx="381000" cy="381000"/>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cxnSp>
        <p:nvCxnSpPr>
          <p:cNvPr id="23" name="Straight Arrow Connector 22"/>
          <p:cNvCxnSpPr>
            <a:endCxn id="16" idx="3"/>
          </p:cNvCxnSpPr>
          <p:nvPr/>
        </p:nvCxnSpPr>
        <p:spPr>
          <a:xfrm rot="5400000" flipH="1" flipV="1">
            <a:off x="3657728" y="3910646"/>
            <a:ext cx="813630" cy="5188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endCxn id="19" idx="2"/>
          </p:cNvCxnSpPr>
          <p:nvPr/>
        </p:nvCxnSpPr>
        <p:spPr>
          <a:xfrm flipV="1">
            <a:off x="4038600" y="2666999"/>
            <a:ext cx="2282564" cy="167640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endCxn id="20" idx="3"/>
          </p:cNvCxnSpPr>
          <p:nvPr/>
        </p:nvCxnSpPr>
        <p:spPr>
          <a:xfrm rot="16200000" flipV="1">
            <a:off x="2325818" y="2630618"/>
            <a:ext cx="1981201" cy="144436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endCxn id="17" idx="4"/>
          </p:cNvCxnSpPr>
          <p:nvPr/>
        </p:nvCxnSpPr>
        <p:spPr>
          <a:xfrm rot="10800000">
            <a:off x="1449898" y="3806814"/>
            <a:ext cx="2588703" cy="5365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endCxn id="21" idx="1"/>
          </p:cNvCxnSpPr>
          <p:nvPr/>
        </p:nvCxnSpPr>
        <p:spPr>
          <a:xfrm>
            <a:off x="4038600" y="4343400"/>
            <a:ext cx="2209800" cy="52652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endCxn id="18" idx="4"/>
          </p:cNvCxnSpPr>
          <p:nvPr/>
        </p:nvCxnSpPr>
        <p:spPr>
          <a:xfrm rot="10800000" flipV="1">
            <a:off x="2895600" y="4343399"/>
            <a:ext cx="1143000" cy="90752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8" name="Rectangle 37"/>
          <p:cNvSpPr/>
          <p:nvPr/>
        </p:nvSpPr>
        <p:spPr>
          <a:xfrm>
            <a:off x="4628345" y="3962400"/>
            <a:ext cx="858055" cy="646331"/>
          </a:xfrm>
          <a:prstGeom prst="rect">
            <a:avLst/>
          </a:prstGeom>
        </p:spPr>
        <p:txBody>
          <a:bodyPr wrap="none">
            <a:spAutoFit/>
          </a:bodyPr>
          <a:lstStyle/>
          <a:p>
            <a:pPr algn="ctr"/>
            <a:r>
              <a:rPr lang="fi-FI" dirty="0" smtClean="0"/>
              <a:t>Riski-</a:t>
            </a:r>
            <a:br>
              <a:rPr lang="fi-FI" dirty="0" smtClean="0"/>
            </a:br>
            <a:r>
              <a:rPr lang="fi-FI" dirty="0" smtClean="0"/>
              <a:t>testaus</a:t>
            </a:r>
            <a:endParaRPr lang="fi-FI" dirty="0"/>
          </a:p>
        </p:txBody>
      </p:sp>
      <p:sp>
        <p:nvSpPr>
          <p:cNvPr id="40" name="Oval 39"/>
          <p:cNvSpPr/>
          <p:nvPr/>
        </p:nvSpPr>
        <p:spPr>
          <a:xfrm>
            <a:off x="838200" y="1905000"/>
            <a:ext cx="381000" cy="3733800"/>
          </a:xfrm>
          <a:prstGeom prst="ellipse">
            <a:avLst/>
          </a:prstGeom>
          <a:noFill/>
          <a:ln>
            <a:prstDash val="lgDashDot"/>
          </a:ln>
        </p:spPr>
        <p:style>
          <a:lnRef idx="2">
            <a:schemeClr val="accent5"/>
          </a:lnRef>
          <a:fillRef idx="1">
            <a:schemeClr val="lt1"/>
          </a:fillRef>
          <a:effectRef idx="0">
            <a:schemeClr val="accent5"/>
          </a:effectRef>
          <a:fontRef idx="minor">
            <a:schemeClr val="dk1"/>
          </a:fontRef>
        </p:style>
        <p:txBody>
          <a:bodyPr rtlCol="0" anchor="ctr"/>
          <a:lstStyle/>
          <a:p>
            <a:pPr algn="ctr"/>
            <a:endParaRPr lang="fi-FI" sz="1600" dirty="0"/>
          </a:p>
        </p:txBody>
      </p:sp>
      <p:sp>
        <p:nvSpPr>
          <p:cNvPr id="39" name="Rectangle 38"/>
          <p:cNvSpPr/>
          <p:nvPr/>
        </p:nvSpPr>
        <p:spPr>
          <a:xfrm>
            <a:off x="838200" y="4572000"/>
            <a:ext cx="1477456" cy="646331"/>
          </a:xfrm>
          <a:prstGeom prst="rect">
            <a:avLst/>
          </a:prstGeom>
        </p:spPr>
        <p:txBody>
          <a:bodyPr wrap="none">
            <a:spAutoFit/>
          </a:bodyPr>
          <a:lstStyle/>
          <a:p>
            <a:pPr algn="ctr"/>
            <a:r>
              <a:rPr lang="fi-FI" dirty="0" smtClean="0"/>
              <a:t>Luotettavuus-</a:t>
            </a:r>
            <a:br>
              <a:rPr lang="fi-FI" dirty="0" smtClean="0"/>
            </a:br>
            <a:r>
              <a:rPr lang="fi-FI" dirty="0" smtClean="0"/>
              <a:t>testaus</a:t>
            </a:r>
            <a:endParaRPr lang="fi-FI" dirty="0"/>
          </a:p>
        </p:txBody>
      </p:sp>
      <p:sp>
        <p:nvSpPr>
          <p:cNvPr id="27" name="Slide Number Placeholder 26"/>
          <p:cNvSpPr>
            <a:spLocks noGrp="1"/>
          </p:cNvSpPr>
          <p:nvPr>
            <p:ph type="sldNum" sz="quarter" idx="12"/>
          </p:nvPr>
        </p:nvSpPr>
        <p:spPr/>
        <p:txBody>
          <a:bodyPr/>
          <a:lstStyle/>
          <a:p>
            <a:fld id="{7A750B4A-325E-4AA4-BC07-A8C35B32A4F3}" type="slidenum">
              <a:rPr lang="fi-FI" smtClean="0"/>
              <a:pPr/>
              <a:t>209</a:t>
            </a:fld>
            <a:endParaRPr lang="fi-FI"/>
          </a:p>
        </p:txBody>
      </p:sp>
    </p:spTree>
  </p:cSld>
  <p:clrMapOvr>
    <a:masterClrMapping/>
  </p:clrMapOvr>
  <p:timing>
    <p:tnLst>
      <p:par>
        <p:cTn xmlns:p14="http://schemas.microsoft.com/office/powerpoint/2010/main" id="1" dur="indefinite" restart="never" nodeType="tmRoot"/>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42" name="Rectangle 42"/>
          <p:cNvSpPr>
            <a:spLocks noGrp="1" noChangeArrowheads="1"/>
          </p:cNvSpPr>
          <p:nvPr>
            <p:ph type="title"/>
          </p:nvPr>
        </p:nvSpPr>
        <p:spPr/>
        <p:txBody>
          <a:bodyPr/>
          <a:lstStyle/>
          <a:p>
            <a:r>
              <a:rPr lang="fi-FI" smtClean="0"/>
              <a:t>Aineiston merkitys testaukselle</a:t>
            </a:r>
            <a:endParaRPr lang="en-US"/>
          </a:p>
        </p:txBody>
      </p:sp>
      <p:sp>
        <p:nvSpPr>
          <p:cNvPr id="25643" name="Rectangle 43"/>
          <p:cNvSpPr>
            <a:spLocks noGrp="1" noChangeArrowheads="1"/>
          </p:cNvSpPr>
          <p:nvPr>
            <p:ph type="body" idx="1"/>
          </p:nvPr>
        </p:nvSpPr>
        <p:spPr/>
        <p:txBody>
          <a:bodyPr>
            <a:normAutofit/>
          </a:bodyPr>
          <a:lstStyle/>
          <a:p>
            <a:r>
              <a:rPr lang="fi-FI" sz="2300" dirty="0" smtClean="0"/>
              <a:t>Testiaineisto on tietovarastoista sovellukselle käytön aikana tuleva syöte</a:t>
            </a:r>
          </a:p>
          <a:p>
            <a:r>
              <a:rPr lang="fi-FI" sz="2300" dirty="0" smtClean="0"/>
              <a:t>Sekä käyttäjän käyttöliittymällä syöttämät tiedot että taustajärjestelmistä tulevat tiedot vaikuttavat sovelluksen toimintaan</a:t>
            </a:r>
          </a:p>
          <a:p>
            <a:r>
              <a:rPr lang="fi-FI" sz="2300" dirty="0" smtClean="0"/>
              <a:t>Samaa aineistoa voi käyttää monessa testissä</a:t>
            </a:r>
            <a:endParaRPr lang="en-US" sz="2300" dirty="0"/>
          </a:p>
        </p:txBody>
      </p:sp>
      <p:sp>
        <p:nvSpPr>
          <p:cNvPr id="25621" name="Text Box 21"/>
          <p:cNvSpPr txBox="1">
            <a:spLocks noChangeArrowheads="1"/>
          </p:cNvSpPr>
          <p:nvPr/>
        </p:nvSpPr>
        <p:spPr bwMode="auto">
          <a:xfrm>
            <a:off x="2962857" y="5988050"/>
            <a:ext cx="3350617" cy="336550"/>
          </a:xfrm>
          <a:prstGeom prst="rect">
            <a:avLst/>
          </a:prstGeom>
          <a:noFill/>
          <a:ln w="9525" algn="ctr">
            <a:noFill/>
            <a:miter lim="800000"/>
            <a:headEnd/>
            <a:tailEnd/>
          </a:ln>
          <a:effectLst/>
        </p:spPr>
        <p:txBody>
          <a:bodyPr wrap="square">
            <a:spAutoFit/>
          </a:bodyPr>
          <a:lstStyle/>
          <a:p>
            <a:pPr algn="ctr">
              <a:spcBef>
                <a:spcPct val="50000"/>
              </a:spcBef>
            </a:pPr>
            <a:r>
              <a:rPr lang="fi-FI" sz="1600"/>
              <a:t>Toiminnallisuudet</a:t>
            </a:r>
            <a:endParaRPr lang="en-US" sz="1600"/>
          </a:p>
        </p:txBody>
      </p:sp>
      <p:sp>
        <p:nvSpPr>
          <p:cNvPr id="25622" name="Text Box 22"/>
          <p:cNvSpPr txBox="1">
            <a:spLocks noChangeArrowheads="1"/>
          </p:cNvSpPr>
          <p:nvPr/>
        </p:nvSpPr>
        <p:spPr bwMode="auto">
          <a:xfrm rot="16200000">
            <a:off x="1154322" y="4967078"/>
            <a:ext cx="1992312" cy="338554"/>
          </a:xfrm>
          <a:prstGeom prst="rect">
            <a:avLst/>
          </a:prstGeom>
          <a:noFill/>
          <a:ln w="9525" algn="ctr">
            <a:noFill/>
            <a:miter lim="800000"/>
            <a:headEnd/>
            <a:tailEnd/>
          </a:ln>
          <a:effectLst/>
        </p:spPr>
        <p:txBody>
          <a:bodyPr wrap="square">
            <a:spAutoFit/>
          </a:bodyPr>
          <a:lstStyle/>
          <a:p>
            <a:pPr algn="ctr">
              <a:spcBef>
                <a:spcPct val="50000"/>
              </a:spcBef>
            </a:pPr>
            <a:r>
              <a:rPr lang="fi-FI" sz="1600"/>
              <a:t>Aineistot</a:t>
            </a:r>
            <a:endParaRPr lang="en-US" sz="1600"/>
          </a:p>
        </p:txBody>
      </p:sp>
      <p:sp>
        <p:nvSpPr>
          <p:cNvPr id="25624" name="Line 24"/>
          <p:cNvSpPr>
            <a:spLocks noChangeShapeType="1"/>
          </p:cNvSpPr>
          <p:nvPr/>
        </p:nvSpPr>
        <p:spPr bwMode="auto">
          <a:xfrm flipV="1">
            <a:off x="2315157" y="4187824"/>
            <a:ext cx="0" cy="1800225"/>
          </a:xfrm>
          <a:prstGeom prst="line">
            <a:avLst/>
          </a:prstGeom>
          <a:noFill/>
          <a:ln w="9525">
            <a:solidFill>
              <a:schemeClr val="tx1"/>
            </a:solidFill>
            <a:round/>
            <a:headEnd/>
            <a:tailEnd type="triangle" w="med" len="med"/>
          </a:ln>
          <a:effectLst/>
        </p:spPr>
        <p:txBody>
          <a:bodyPr wrap="none" anchor="ctr"/>
          <a:lstStyle/>
          <a:p>
            <a:endParaRPr lang="fi-FI"/>
          </a:p>
        </p:txBody>
      </p:sp>
      <p:sp>
        <p:nvSpPr>
          <p:cNvPr id="25625" name="Rectangle 25"/>
          <p:cNvSpPr>
            <a:spLocks noChangeArrowheads="1"/>
          </p:cNvSpPr>
          <p:nvPr/>
        </p:nvSpPr>
        <p:spPr bwMode="auto">
          <a:xfrm>
            <a:off x="2458032" y="5916612"/>
            <a:ext cx="251066" cy="71438"/>
          </a:xfrm>
          <a:prstGeom prst="rect">
            <a:avLst/>
          </a:prstGeom>
          <a:solidFill>
            <a:srgbClr val="FF9900"/>
          </a:solidFill>
          <a:ln w="9525" algn="ctr">
            <a:solidFill>
              <a:schemeClr val="tx1"/>
            </a:solidFill>
            <a:miter lim="800000"/>
            <a:headEnd/>
            <a:tailEnd/>
          </a:ln>
          <a:effectLst/>
        </p:spPr>
        <p:txBody>
          <a:bodyPr wrap="none" anchor="ctr"/>
          <a:lstStyle/>
          <a:p>
            <a:endParaRPr lang="fi-FI"/>
          </a:p>
        </p:txBody>
      </p:sp>
      <p:sp>
        <p:nvSpPr>
          <p:cNvPr id="25626" name="Rectangle 26"/>
          <p:cNvSpPr>
            <a:spLocks noChangeArrowheads="1"/>
          </p:cNvSpPr>
          <p:nvPr/>
        </p:nvSpPr>
        <p:spPr bwMode="auto">
          <a:xfrm>
            <a:off x="2746957" y="5916612"/>
            <a:ext cx="251066" cy="71438"/>
          </a:xfrm>
          <a:prstGeom prst="rect">
            <a:avLst/>
          </a:prstGeom>
          <a:solidFill>
            <a:srgbClr val="FF9900"/>
          </a:solidFill>
          <a:ln w="9525" algn="ctr">
            <a:solidFill>
              <a:schemeClr val="tx1"/>
            </a:solidFill>
            <a:miter lim="800000"/>
            <a:headEnd/>
            <a:tailEnd/>
          </a:ln>
          <a:effectLst/>
        </p:spPr>
        <p:txBody>
          <a:bodyPr wrap="none" anchor="ctr"/>
          <a:lstStyle/>
          <a:p>
            <a:endParaRPr lang="fi-FI"/>
          </a:p>
        </p:txBody>
      </p:sp>
      <p:sp>
        <p:nvSpPr>
          <p:cNvPr id="25627" name="Rectangle 27"/>
          <p:cNvSpPr>
            <a:spLocks noChangeArrowheads="1"/>
          </p:cNvSpPr>
          <p:nvPr/>
        </p:nvSpPr>
        <p:spPr bwMode="auto">
          <a:xfrm>
            <a:off x="3034295" y="5916612"/>
            <a:ext cx="251066" cy="71438"/>
          </a:xfrm>
          <a:prstGeom prst="rect">
            <a:avLst/>
          </a:prstGeom>
          <a:solidFill>
            <a:srgbClr val="FF9900"/>
          </a:solidFill>
          <a:ln w="9525" algn="ctr">
            <a:solidFill>
              <a:schemeClr val="tx1"/>
            </a:solidFill>
            <a:miter lim="800000"/>
            <a:headEnd/>
            <a:tailEnd/>
          </a:ln>
          <a:effectLst/>
        </p:spPr>
        <p:txBody>
          <a:bodyPr wrap="none" anchor="ctr"/>
          <a:lstStyle/>
          <a:p>
            <a:endParaRPr lang="fi-FI"/>
          </a:p>
        </p:txBody>
      </p:sp>
      <p:sp>
        <p:nvSpPr>
          <p:cNvPr id="25628" name="Rectangle 28"/>
          <p:cNvSpPr>
            <a:spLocks noChangeArrowheads="1"/>
          </p:cNvSpPr>
          <p:nvPr/>
        </p:nvSpPr>
        <p:spPr bwMode="auto">
          <a:xfrm>
            <a:off x="3323220" y="5916612"/>
            <a:ext cx="251066" cy="71438"/>
          </a:xfrm>
          <a:prstGeom prst="rect">
            <a:avLst/>
          </a:prstGeom>
          <a:solidFill>
            <a:srgbClr val="FF9900"/>
          </a:solidFill>
          <a:ln w="9525" algn="ctr">
            <a:solidFill>
              <a:schemeClr val="tx1"/>
            </a:solidFill>
            <a:miter lim="800000"/>
            <a:headEnd/>
            <a:tailEnd/>
          </a:ln>
          <a:effectLst/>
        </p:spPr>
        <p:txBody>
          <a:bodyPr wrap="none" anchor="ctr"/>
          <a:lstStyle/>
          <a:p>
            <a:endParaRPr lang="fi-FI"/>
          </a:p>
        </p:txBody>
      </p:sp>
      <p:sp>
        <p:nvSpPr>
          <p:cNvPr id="25629" name="Rectangle 29"/>
          <p:cNvSpPr>
            <a:spLocks noChangeArrowheads="1"/>
          </p:cNvSpPr>
          <p:nvPr/>
        </p:nvSpPr>
        <p:spPr bwMode="auto">
          <a:xfrm>
            <a:off x="3610557" y="5916612"/>
            <a:ext cx="251066" cy="71438"/>
          </a:xfrm>
          <a:prstGeom prst="rect">
            <a:avLst/>
          </a:prstGeom>
          <a:solidFill>
            <a:srgbClr val="FF9900"/>
          </a:solidFill>
          <a:ln w="9525" algn="ctr">
            <a:solidFill>
              <a:schemeClr val="tx1"/>
            </a:solidFill>
            <a:miter lim="800000"/>
            <a:headEnd/>
            <a:tailEnd/>
          </a:ln>
          <a:effectLst/>
        </p:spPr>
        <p:txBody>
          <a:bodyPr wrap="none" anchor="ctr"/>
          <a:lstStyle/>
          <a:p>
            <a:endParaRPr lang="fi-FI"/>
          </a:p>
        </p:txBody>
      </p:sp>
      <p:sp>
        <p:nvSpPr>
          <p:cNvPr id="25630" name="Rectangle 30"/>
          <p:cNvSpPr>
            <a:spLocks noChangeArrowheads="1"/>
          </p:cNvSpPr>
          <p:nvPr/>
        </p:nvSpPr>
        <p:spPr bwMode="auto">
          <a:xfrm>
            <a:off x="2458032" y="4764087"/>
            <a:ext cx="251066" cy="1152525"/>
          </a:xfrm>
          <a:prstGeom prst="rect">
            <a:avLst/>
          </a:prstGeom>
          <a:solidFill>
            <a:srgbClr val="FFFF00"/>
          </a:solidFill>
          <a:ln w="9525" algn="ctr">
            <a:solidFill>
              <a:schemeClr val="tx1"/>
            </a:solidFill>
            <a:miter lim="800000"/>
            <a:headEnd/>
            <a:tailEnd/>
          </a:ln>
          <a:effectLst/>
        </p:spPr>
        <p:txBody>
          <a:bodyPr wrap="none" anchor="ctr"/>
          <a:lstStyle/>
          <a:p>
            <a:endParaRPr lang="fi-FI"/>
          </a:p>
        </p:txBody>
      </p:sp>
      <p:sp>
        <p:nvSpPr>
          <p:cNvPr id="25631" name="Rectangle 31"/>
          <p:cNvSpPr>
            <a:spLocks noChangeArrowheads="1"/>
          </p:cNvSpPr>
          <p:nvPr/>
        </p:nvSpPr>
        <p:spPr bwMode="auto">
          <a:xfrm>
            <a:off x="2746957" y="5340350"/>
            <a:ext cx="251066" cy="576262"/>
          </a:xfrm>
          <a:prstGeom prst="rect">
            <a:avLst/>
          </a:prstGeom>
          <a:solidFill>
            <a:srgbClr val="FFFF00"/>
          </a:solidFill>
          <a:ln w="9525" algn="ctr">
            <a:solidFill>
              <a:schemeClr val="tx1"/>
            </a:solidFill>
            <a:miter lim="800000"/>
            <a:headEnd/>
            <a:tailEnd/>
          </a:ln>
          <a:effectLst/>
        </p:spPr>
        <p:txBody>
          <a:bodyPr wrap="none" anchor="ctr"/>
          <a:lstStyle/>
          <a:p>
            <a:endParaRPr lang="fi-FI"/>
          </a:p>
        </p:txBody>
      </p:sp>
      <p:sp>
        <p:nvSpPr>
          <p:cNvPr id="25632" name="Rectangle 32"/>
          <p:cNvSpPr>
            <a:spLocks noChangeArrowheads="1"/>
          </p:cNvSpPr>
          <p:nvPr/>
        </p:nvSpPr>
        <p:spPr bwMode="auto">
          <a:xfrm>
            <a:off x="3034295" y="4835525"/>
            <a:ext cx="251066" cy="1081087"/>
          </a:xfrm>
          <a:prstGeom prst="rect">
            <a:avLst/>
          </a:prstGeom>
          <a:solidFill>
            <a:srgbClr val="FFFF00"/>
          </a:solidFill>
          <a:ln w="9525" algn="ctr">
            <a:solidFill>
              <a:schemeClr val="tx1"/>
            </a:solidFill>
            <a:miter lim="800000"/>
            <a:headEnd/>
            <a:tailEnd/>
          </a:ln>
          <a:effectLst/>
        </p:spPr>
        <p:txBody>
          <a:bodyPr wrap="none" anchor="ctr"/>
          <a:lstStyle/>
          <a:p>
            <a:endParaRPr lang="fi-FI"/>
          </a:p>
        </p:txBody>
      </p:sp>
      <p:sp>
        <p:nvSpPr>
          <p:cNvPr id="25633" name="Rectangle 33"/>
          <p:cNvSpPr>
            <a:spLocks noChangeArrowheads="1"/>
          </p:cNvSpPr>
          <p:nvPr/>
        </p:nvSpPr>
        <p:spPr bwMode="auto">
          <a:xfrm>
            <a:off x="3323220" y="5627687"/>
            <a:ext cx="251066" cy="288925"/>
          </a:xfrm>
          <a:prstGeom prst="rect">
            <a:avLst/>
          </a:prstGeom>
          <a:solidFill>
            <a:srgbClr val="FFFF00"/>
          </a:solidFill>
          <a:ln w="9525" algn="ctr">
            <a:solidFill>
              <a:schemeClr val="tx1"/>
            </a:solidFill>
            <a:miter lim="800000"/>
            <a:headEnd/>
            <a:tailEnd/>
          </a:ln>
          <a:effectLst/>
        </p:spPr>
        <p:txBody>
          <a:bodyPr wrap="none" anchor="ctr"/>
          <a:lstStyle/>
          <a:p>
            <a:endParaRPr lang="fi-FI"/>
          </a:p>
        </p:txBody>
      </p:sp>
      <p:sp>
        <p:nvSpPr>
          <p:cNvPr id="25634" name="Rectangle 34"/>
          <p:cNvSpPr>
            <a:spLocks noChangeArrowheads="1"/>
          </p:cNvSpPr>
          <p:nvPr/>
        </p:nvSpPr>
        <p:spPr bwMode="auto">
          <a:xfrm>
            <a:off x="3610557" y="5484812"/>
            <a:ext cx="251066" cy="431800"/>
          </a:xfrm>
          <a:prstGeom prst="rect">
            <a:avLst/>
          </a:prstGeom>
          <a:solidFill>
            <a:srgbClr val="FFFF00"/>
          </a:solidFill>
          <a:ln w="9525" algn="ctr">
            <a:solidFill>
              <a:schemeClr val="tx1"/>
            </a:solidFill>
            <a:miter lim="800000"/>
            <a:headEnd/>
            <a:tailEnd/>
          </a:ln>
          <a:effectLst/>
        </p:spPr>
        <p:txBody>
          <a:bodyPr wrap="none" anchor="ctr"/>
          <a:lstStyle/>
          <a:p>
            <a:endParaRPr lang="fi-FI"/>
          </a:p>
        </p:txBody>
      </p:sp>
      <p:sp>
        <p:nvSpPr>
          <p:cNvPr id="25635" name="Rectangle 35"/>
          <p:cNvSpPr>
            <a:spLocks noChangeArrowheads="1"/>
          </p:cNvSpPr>
          <p:nvPr/>
        </p:nvSpPr>
        <p:spPr bwMode="auto">
          <a:xfrm>
            <a:off x="3899482" y="5916612"/>
            <a:ext cx="251066" cy="71438"/>
          </a:xfrm>
          <a:prstGeom prst="rect">
            <a:avLst/>
          </a:prstGeom>
          <a:solidFill>
            <a:srgbClr val="FF9900"/>
          </a:solidFill>
          <a:ln w="9525" algn="ctr">
            <a:solidFill>
              <a:schemeClr val="tx1"/>
            </a:solidFill>
            <a:miter lim="800000"/>
            <a:headEnd/>
            <a:tailEnd/>
          </a:ln>
          <a:effectLst/>
        </p:spPr>
        <p:txBody>
          <a:bodyPr wrap="none" anchor="ctr"/>
          <a:lstStyle/>
          <a:p>
            <a:endParaRPr lang="fi-FI"/>
          </a:p>
        </p:txBody>
      </p:sp>
      <p:sp>
        <p:nvSpPr>
          <p:cNvPr id="25636" name="Rectangle 36"/>
          <p:cNvSpPr>
            <a:spLocks noChangeArrowheads="1"/>
          </p:cNvSpPr>
          <p:nvPr/>
        </p:nvSpPr>
        <p:spPr bwMode="auto">
          <a:xfrm>
            <a:off x="3899482" y="5340350"/>
            <a:ext cx="251066" cy="576262"/>
          </a:xfrm>
          <a:prstGeom prst="rect">
            <a:avLst/>
          </a:prstGeom>
          <a:solidFill>
            <a:srgbClr val="FFFF00"/>
          </a:solidFill>
          <a:ln w="9525" algn="ctr">
            <a:solidFill>
              <a:schemeClr val="tx1"/>
            </a:solidFill>
            <a:miter lim="800000"/>
            <a:headEnd/>
            <a:tailEnd/>
          </a:ln>
          <a:effectLst/>
        </p:spPr>
        <p:txBody>
          <a:bodyPr wrap="none" anchor="ctr"/>
          <a:lstStyle/>
          <a:p>
            <a:endParaRPr lang="fi-FI"/>
          </a:p>
        </p:txBody>
      </p:sp>
      <p:sp>
        <p:nvSpPr>
          <p:cNvPr id="25637" name="Rectangle 37"/>
          <p:cNvSpPr>
            <a:spLocks noChangeArrowheads="1"/>
          </p:cNvSpPr>
          <p:nvPr/>
        </p:nvSpPr>
        <p:spPr bwMode="auto">
          <a:xfrm>
            <a:off x="4186820" y="5916612"/>
            <a:ext cx="251066" cy="71438"/>
          </a:xfrm>
          <a:prstGeom prst="rect">
            <a:avLst/>
          </a:prstGeom>
          <a:solidFill>
            <a:srgbClr val="FF9900"/>
          </a:solidFill>
          <a:ln w="9525" algn="ctr">
            <a:solidFill>
              <a:schemeClr val="tx1"/>
            </a:solidFill>
            <a:miter lim="800000"/>
            <a:headEnd/>
            <a:tailEnd/>
          </a:ln>
          <a:effectLst/>
        </p:spPr>
        <p:txBody>
          <a:bodyPr wrap="none" anchor="ctr"/>
          <a:lstStyle/>
          <a:p>
            <a:endParaRPr lang="fi-FI"/>
          </a:p>
        </p:txBody>
      </p:sp>
      <p:sp>
        <p:nvSpPr>
          <p:cNvPr id="25638" name="Rectangle 38"/>
          <p:cNvSpPr>
            <a:spLocks noChangeArrowheads="1"/>
          </p:cNvSpPr>
          <p:nvPr/>
        </p:nvSpPr>
        <p:spPr bwMode="auto">
          <a:xfrm>
            <a:off x="4186820" y="5484812"/>
            <a:ext cx="251066" cy="431800"/>
          </a:xfrm>
          <a:prstGeom prst="rect">
            <a:avLst/>
          </a:prstGeom>
          <a:solidFill>
            <a:srgbClr val="FFFF00"/>
          </a:solidFill>
          <a:ln w="9525" algn="ctr">
            <a:solidFill>
              <a:schemeClr val="tx1"/>
            </a:solidFill>
            <a:miter lim="800000"/>
            <a:headEnd/>
            <a:tailEnd/>
          </a:ln>
          <a:effectLst/>
        </p:spPr>
        <p:txBody>
          <a:bodyPr wrap="none" anchor="ctr"/>
          <a:lstStyle/>
          <a:p>
            <a:endParaRPr lang="fi-FI"/>
          </a:p>
        </p:txBody>
      </p:sp>
      <p:sp>
        <p:nvSpPr>
          <p:cNvPr id="25639" name="Rectangle 39"/>
          <p:cNvSpPr>
            <a:spLocks noChangeArrowheads="1"/>
          </p:cNvSpPr>
          <p:nvPr/>
        </p:nvSpPr>
        <p:spPr bwMode="auto">
          <a:xfrm>
            <a:off x="4474157" y="5916612"/>
            <a:ext cx="251066" cy="71438"/>
          </a:xfrm>
          <a:prstGeom prst="rect">
            <a:avLst/>
          </a:prstGeom>
          <a:solidFill>
            <a:srgbClr val="FF9900"/>
          </a:solidFill>
          <a:ln w="9525" algn="ctr">
            <a:solidFill>
              <a:schemeClr val="tx1"/>
            </a:solidFill>
            <a:miter lim="800000"/>
            <a:headEnd/>
            <a:tailEnd/>
          </a:ln>
          <a:effectLst/>
        </p:spPr>
        <p:txBody>
          <a:bodyPr wrap="none" anchor="ctr"/>
          <a:lstStyle/>
          <a:p>
            <a:endParaRPr lang="fi-FI"/>
          </a:p>
        </p:txBody>
      </p:sp>
      <p:sp>
        <p:nvSpPr>
          <p:cNvPr id="25640" name="Rectangle 40"/>
          <p:cNvSpPr>
            <a:spLocks noChangeArrowheads="1"/>
          </p:cNvSpPr>
          <p:nvPr/>
        </p:nvSpPr>
        <p:spPr bwMode="auto">
          <a:xfrm>
            <a:off x="4474157" y="4764087"/>
            <a:ext cx="251066" cy="1152525"/>
          </a:xfrm>
          <a:prstGeom prst="rect">
            <a:avLst/>
          </a:prstGeom>
          <a:solidFill>
            <a:srgbClr val="FFFF00"/>
          </a:solidFill>
          <a:ln w="9525" algn="ctr">
            <a:solidFill>
              <a:schemeClr val="tx1"/>
            </a:solidFill>
            <a:miter lim="800000"/>
            <a:headEnd/>
            <a:tailEnd/>
          </a:ln>
          <a:effectLst/>
        </p:spPr>
        <p:txBody>
          <a:bodyPr wrap="none" anchor="ctr"/>
          <a:lstStyle/>
          <a:p>
            <a:endParaRPr lang="fi-FI"/>
          </a:p>
        </p:txBody>
      </p:sp>
      <p:sp>
        <p:nvSpPr>
          <p:cNvPr id="25641" name="Text Box 41"/>
          <p:cNvSpPr txBox="1">
            <a:spLocks noChangeArrowheads="1"/>
          </p:cNvSpPr>
          <p:nvPr/>
        </p:nvSpPr>
        <p:spPr bwMode="auto">
          <a:xfrm>
            <a:off x="2170694" y="4211637"/>
            <a:ext cx="5360987" cy="338554"/>
          </a:xfrm>
          <a:prstGeom prst="rect">
            <a:avLst/>
          </a:prstGeom>
          <a:noFill/>
          <a:ln w="9525" algn="ctr">
            <a:noFill/>
            <a:miter lim="800000"/>
            <a:headEnd/>
            <a:tailEnd/>
          </a:ln>
          <a:effectLst/>
        </p:spPr>
        <p:txBody>
          <a:bodyPr wrap="square">
            <a:spAutoFit/>
          </a:bodyPr>
          <a:lstStyle/>
          <a:p>
            <a:pPr algn="ctr">
              <a:spcBef>
                <a:spcPct val="50000"/>
              </a:spcBef>
            </a:pPr>
            <a:r>
              <a:rPr lang="fi-FI" sz="1600" u="sng" dirty="0"/>
              <a:t>Testien määrä</a:t>
            </a:r>
            <a:r>
              <a:rPr lang="fi-FI" sz="1600" dirty="0"/>
              <a:t> = toiminnallisuus * aineistot </a:t>
            </a:r>
            <a:r>
              <a:rPr lang="fi-FI" sz="1600" dirty="0">
                <a:solidFill>
                  <a:srgbClr val="C0C0C0"/>
                </a:solidFill>
              </a:rPr>
              <a:t>* ympäristöt</a:t>
            </a:r>
            <a:endParaRPr lang="en-US" sz="1600" dirty="0">
              <a:solidFill>
                <a:srgbClr val="C0C0C0"/>
              </a:solidFill>
            </a:endParaRPr>
          </a:p>
        </p:txBody>
      </p:sp>
      <p:sp>
        <p:nvSpPr>
          <p:cNvPr id="25644" name="Rectangle 44"/>
          <p:cNvSpPr>
            <a:spLocks noChangeArrowheads="1"/>
          </p:cNvSpPr>
          <p:nvPr/>
        </p:nvSpPr>
        <p:spPr bwMode="auto">
          <a:xfrm>
            <a:off x="4763082" y="5918200"/>
            <a:ext cx="251066" cy="71437"/>
          </a:xfrm>
          <a:prstGeom prst="rect">
            <a:avLst/>
          </a:prstGeom>
          <a:solidFill>
            <a:srgbClr val="FF9900"/>
          </a:solidFill>
          <a:ln w="9525" algn="ctr">
            <a:solidFill>
              <a:schemeClr val="tx1"/>
            </a:solidFill>
            <a:miter lim="800000"/>
            <a:headEnd/>
            <a:tailEnd/>
          </a:ln>
          <a:effectLst/>
        </p:spPr>
        <p:txBody>
          <a:bodyPr wrap="none" anchor="ctr"/>
          <a:lstStyle/>
          <a:p>
            <a:endParaRPr lang="fi-FI"/>
          </a:p>
        </p:txBody>
      </p:sp>
      <p:sp>
        <p:nvSpPr>
          <p:cNvPr id="25645" name="Rectangle 45"/>
          <p:cNvSpPr>
            <a:spLocks noChangeArrowheads="1"/>
          </p:cNvSpPr>
          <p:nvPr/>
        </p:nvSpPr>
        <p:spPr bwMode="auto">
          <a:xfrm>
            <a:off x="4763082" y="4643437"/>
            <a:ext cx="251066" cy="1274763"/>
          </a:xfrm>
          <a:prstGeom prst="rect">
            <a:avLst/>
          </a:prstGeom>
          <a:solidFill>
            <a:srgbClr val="FFFF00"/>
          </a:solidFill>
          <a:ln w="9525" algn="ctr">
            <a:solidFill>
              <a:schemeClr val="tx1"/>
            </a:solidFill>
            <a:miter lim="800000"/>
            <a:headEnd/>
            <a:tailEnd/>
          </a:ln>
          <a:effectLst/>
        </p:spPr>
        <p:txBody>
          <a:bodyPr wrap="none" anchor="ctr"/>
          <a:lstStyle/>
          <a:p>
            <a:endParaRPr lang="fi-FI"/>
          </a:p>
        </p:txBody>
      </p:sp>
      <p:sp>
        <p:nvSpPr>
          <p:cNvPr id="25646" name="Rectangle 46"/>
          <p:cNvSpPr>
            <a:spLocks noChangeArrowheads="1"/>
          </p:cNvSpPr>
          <p:nvPr/>
        </p:nvSpPr>
        <p:spPr bwMode="auto">
          <a:xfrm>
            <a:off x="5052007" y="5923142"/>
            <a:ext cx="251066" cy="71437"/>
          </a:xfrm>
          <a:prstGeom prst="rect">
            <a:avLst/>
          </a:prstGeom>
          <a:solidFill>
            <a:srgbClr val="FF9900"/>
          </a:solidFill>
          <a:ln w="9525" algn="ctr">
            <a:solidFill>
              <a:schemeClr val="tx1"/>
            </a:solidFill>
            <a:miter lim="800000"/>
            <a:headEnd/>
            <a:tailEnd/>
          </a:ln>
          <a:effectLst/>
        </p:spPr>
        <p:txBody>
          <a:bodyPr wrap="none" anchor="ctr"/>
          <a:lstStyle/>
          <a:p>
            <a:endParaRPr lang="fi-FI"/>
          </a:p>
        </p:txBody>
      </p:sp>
      <p:sp>
        <p:nvSpPr>
          <p:cNvPr id="25647" name="Rectangle 47"/>
          <p:cNvSpPr>
            <a:spLocks noChangeArrowheads="1"/>
          </p:cNvSpPr>
          <p:nvPr/>
        </p:nvSpPr>
        <p:spPr bwMode="auto">
          <a:xfrm>
            <a:off x="5052007" y="5491342"/>
            <a:ext cx="251066" cy="431800"/>
          </a:xfrm>
          <a:prstGeom prst="rect">
            <a:avLst/>
          </a:prstGeom>
          <a:solidFill>
            <a:srgbClr val="FFFF00"/>
          </a:solidFill>
          <a:ln w="9525" algn="ctr">
            <a:solidFill>
              <a:schemeClr val="tx1"/>
            </a:solidFill>
            <a:miter lim="800000"/>
            <a:headEnd/>
            <a:tailEnd/>
          </a:ln>
          <a:effectLst/>
        </p:spPr>
        <p:txBody>
          <a:bodyPr wrap="none" anchor="ctr"/>
          <a:lstStyle/>
          <a:p>
            <a:endParaRPr lang="fi-FI"/>
          </a:p>
        </p:txBody>
      </p:sp>
      <p:sp>
        <p:nvSpPr>
          <p:cNvPr id="25648" name="Rectangle 48"/>
          <p:cNvSpPr>
            <a:spLocks noChangeArrowheads="1"/>
          </p:cNvSpPr>
          <p:nvPr/>
        </p:nvSpPr>
        <p:spPr bwMode="auto">
          <a:xfrm>
            <a:off x="5340932" y="5923142"/>
            <a:ext cx="251066" cy="71437"/>
          </a:xfrm>
          <a:prstGeom prst="rect">
            <a:avLst/>
          </a:prstGeom>
          <a:solidFill>
            <a:srgbClr val="FF9900"/>
          </a:solidFill>
          <a:ln w="9525" algn="ctr">
            <a:solidFill>
              <a:schemeClr val="tx1"/>
            </a:solidFill>
            <a:miter lim="800000"/>
            <a:headEnd/>
            <a:tailEnd/>
          </a:ln>
          <a:effectLst/>
        </p:spPr>
        <p:txBody>
          <a:bodyPr wrap="none" anchor="ctr"/>
          <a:lstStyle/>
          <a:p>
            <a:endParaRPr lang="fi-FI"/>
          </a:p>
        </p:txBody>
      </p:sp>
      <p:sp>
        <p:nvSpPr>
          <p:cNvPr id="25649" name="Rectangle 49"/>
          <p:cNvSpPr>
            <a:spLocks noChangeArrowheads="1"/>
          </p:cNvSpPr>
          <p:nvPr/>
        </p:nvSpPr>
        <p:spPr bwMode="auto">
          <a:xfrm>
            <a:off x="5340932" y="5346879"/>
            <a:ext cx="251066" cy="576263"/>
          </a:xfrm>
          <a:prstGeom prst="rect">
            <a:avLst/>
          </a:prstGeom>
          <a:solidFill>
            <a:srgbClr val="FFFF00"/>
          </a:solidFill>
          <a:ln w="9525" algn="ctr">
            <a:solidFill>
              <a:schemeClr val="tx1"/>
            </a:solidFill>
            <a:miter lim="800000"/>
            <a:headEnd/>
            <a:tailEnd/>
          </a:ln>
          <a:effectLst/>
        </p:spPr>
        <p:txBody>
          <a:bodyPr wrap="none" anchor="ctr"/>
          <a:lstStyle/>
          <a:p>
            <a:endParaRPr lang="fi-FI"/>
          </a:p>
        </p:txBody>
      </p:sp>
      <p:sp>
        <p:nvSpPr>
          <p:cNvPr id="25650" name="Rectangle 50"/>
          <p:cNvSpPr>
            <a:spLocks noChangeArrowheads="1"/>
          </p:cNvSpPr>
          <p:nvPr/>
        </p:nvSpPr>
        <p:spPr bwMode="auto">
          <a:xfrm>
            <a:off x="5628270" y="5923142"/>
            <a:ext cx="251066" cy="71437"/>
          </a:xfrm>
          <a:prstGeom prst="rect">
            <a:avLst/>
          </a:prstGeom>
          <a:solidFill>
            <a:srgbClr val="FF9900"/>
          </a:solidFill>
          <a:ln w="9525" algn="ctr">
            <a:solidFill>
              <a:schemeClr val="tx1"/>
            </a:solidFill>
            <a:miter lim="800000"/>
            <a:headEnd/>
            <a:tailEnd/>
          </a:ln>
          <a:effectLst/>
        </p:spPr>
        <p:txBody>
          <a:bodyPr wrap="none" anchor="ctr"/>
          <a:lstStyle/>
          <a:p>
            <a:endParaRPr lang="fi-FI"/>
          </a:p>
        </p:txBody>
      </p:sp>
      <p:sp>
        <p:nvSpPr>
          <p:cNvPr id="25651" name="Rectangle 51"/>
          <p:cNvSpPr>
            <a:spLocks noChangeArrowheads="1"/>
          </p:cNvSpPr>
          <p:nvPr/>
        </p:nvSpPr>
        <p:spPr bwMode="auto">
          <a:xfrm>
            <a:off x="5628270" y="5491342"/>
            <a:ext cx="251066" cy="431800"/>
          </a:xfrm>
          <a:prstGeom prst="rect">
            <a:avLst/>
          </a:prstGeom>
          <a:solidFill>
            <a:srgbClr val="FFFF00"/>
          </a:solidFill>
          <a:ln w="9525" algn="ctr">
            <a:solidFill>
              <a:schemeClr val="tx1"/>
            </a:solidFill>
            <a:miter lim="800000"/>
            <a:headEnd/>
            <a:tailEnd/>
          </a:ln>
          <a:effectLst/>
        </p:spPr>
        <p:txBody>
          <a:bodyPr wrap="none" anchor="ctr"/>
          <a:lstStyle/>
          <a:p>
            <a:endParaRPr lang="fi-FI"/>
          </a:p>
        </p:txBody>
      </p:sp>
      <p:sp>
        <p:nvSpPr>
          <p:cNvPr id="25653" name="Rectangle 53"/>
          <p:cNvSpPr>
            <a:spLocks noChangeArrowheads="1"/>
          </p:cNvSpPr>
          <p:nvPr/>
        </p:nvSpPr>
        <p:spPr bwMode="auto">
          <a:xfrm>
            <a:off x="5915607" y="5918200"/>
            <a:ext cx="251066" cy="71437"/>
          </a:xfrm>
          <a:prstGeom prst="rect">
            <a:avLst/>
          </a:prstGeom>
          <a:solidFill>
            <a:srgbClr val="FF9900"/>
          </a:solidFill>
          <a:ln w="9525" algn="ctr">
            <a:solidFill>
              <a:schemeClr val="tx1"/>
            </a:solidFill>
            <a:miter lim="800000"/>
            <a:headEnd/>
            <a:tailEnd/>
          </a:ln>
          <a:effectLst/>
        </p:spPr>
        <p:txBody>
          <a:bodyPr wrap="none" anchor="ctr"/>
          <a:lstStyle/>
          <a:p>
            <a:endParaRPr lang="fi-FI"/>
          </a:p>
        </p:txBody>
      </p:sp>
      <p:sp>
        <p:nvSpPr>
          <p:cNvPr id="25654" name="Rectangle 54"/>
          <p:cNvSpPr>
            <a:spLocks noChangeArrowheads="1"/>
          </p:cNvSpPr>
          <p:nvPr/>
        </p:nvSpPr>
        <p:spPr bwMode="auto">
          <a:xfrm>
            <a:off x="5915607" y="5848350"/>
            <a:ext cx="251066" cy="69850"/>
          </a:xfrm>
          <a:prstGeom prst="rect">
            <a:avLst/>
          </a:prstGeom>
          <a:solidFill>
            <a:srgbClr val="FFFF00"/>
          </a:solidFill>
          <a:ln w="9525" algn="ctr">
            <a:solidFill>
              <a:schemeClr val="tx1"/>
            </a:solidFill>
            <a:miter lim="800000"/>
            <a:headEnd/>
            <a:tailEnd/>
          </a:ln>
          <a:effectLst/>
        </p:spPr>
        <p:txBody>
          <a:bodyPr wrap="none" anchor="ctr"/>
          <a:lstStyle/>
          <a:p>
            <a:endParaRPr lang="fi-FI"/>
          </a:p>
        </p:txBody>
      </p:sp>
      <p:sp>
        <p:nvSpPr>
          <p:cNvPr id="25655" name="Rectangle 55"/>
          <p:cNvSpPr>
            <a:spLocks noChangeArrowheads="1"/>
          </p:cNvSpPr>
          <p:nvPr/>
        </p:nvSpPr>
        <p:spPr bwMode="auto">
          <a:xfrm>
            <a:off x="6202945" y="5918200"/>
            <a:ext cx="251066" cy="71437"/>
          </a:xfrm>
          <a:prstGeom prst="rect">
            <a:avLst/>
          </a:prstGeom>
          <a:solidFill>
            <a:srgbClr val="FF9900"/>
          </a:solidFill>
          <a:ln w="9525" algn="ctr">
            <a:solidFill>
              <a:schemeClr val="tx1"/>
            </a:solidFill>
            <a:miter lim="800000"/>
            <a:headEnd/>
            <a:tailEnd/>
          </a:ln>
          <a:effectLst/>
        </p:spPr>
        <p:txBody>
          <a:bodyPr wrap="none" anchor="ctr"/>
          <a:lstStyle/>
          <a:p>
            <a:endParaRPr lang="fi-FI"/>
          </a:p>
        </p:txBody>
      </p:sp>
      <p:sp>
        <p:nvSpPr>
          <p:cNvPr id="25656" name="Rectangle 56"/>
          <p:cNvSpPr>
            <a:spLocks noChangeArrowheads="1"/>
          </p:cNvSpPr>
          <p:nvPr/>
        </p:nvSpPr>
        <p:spPr bwMode="auto">
          <a:xfrm>
            <a:off x="6202945" y="5651500"/>
            <a:ext cx="251066" cy="266700"/>
          </a:xfrm>
          <a:prstGeom prst="rect">
            <a:avLst/>
          </a:prstGeom>
          <a:solidFill>
            <a:srgbClr val="FFFF00"/>
          </a:solidFill>
          <a:ln w="9525" algn="ctr">
            <a:solidFill>
              <a:schemeClr val="tx1"/>
            </a:solidFill>
            <a:miter lim="800000"/>
            <a:headEnd/>
            <a:tailEnd/>
          </a:ln>
          <a:effectLst/>
        </p:spPr>
        <p:txBody>
          <a:bodyPr wrap="none" anchor="ctr"/>
          <a:lstStyle/>
          <a:p>
            <a:endParaRPr lang="fi-FI"/>
          </a:p>
        </p:txBody>
      </p:sp>
      <p:sp>
        <p:nvSpPr>
          <p:cNvPr id="25620" name="Line 20"/>
          <p:cNvSpPr>
            <a:spLocks noChangeShapeType="1"/>
          </p:cNvSpPr>
          <p:nvPr/>
        </p:nvSpPr>
        <p:spPr bwMode="auto">
          <a:xfrm>
            <a:off x="2315157" y="5988050"/>
            <a:ext cx="5108076" cy="0"/>
          </a:xfrm>
          <a:prstGeom prst="line">
            <a:avLst/>
          </a:prstGeom>
          <a:noFill/>
          <a:ln w="9525">
            <a:solidFill>
              <a:schemeClr val="tx1"/>
            </a:solidFill>
            <a:round/>
            <a:headEnd/>
            <a:tailEnd type="triangle" w="med" len="med"/>
          </a:ln>
          <a:effectLst/>
        </p:spPr>
        <p:txBody>
          <a:bodyPr wrap="none" anchor="ctr"/>
          <a:lstStyle/>
          <a:p>
            <a:endParaRPr lang="fi-FI"/>
          </a:p>
        </p:txBody>
      </p:sp>
      <p:sp>
        <p:nvSpPr>
          <p:cNvPr id="37" name="Slide Number Placeholder 36"/>
          <p:cNvSpPr>
            <a:spLocks noGrp="1"/>
          </p:cNvSpPr>
          <p:nvPr>
            <p:ph type="sldNum" sz="quarter" idx="12"/>
          </p:nvPr>
        </p:nvSpPr>
        <p:spPr/>
        <p:txBody>
          <a:bodyPr/>
          <a:lstStyle/>
          <a:p>
            <a:fld id="{7A750B4A-325E-4AA4-BC07-A8C35B32A4F3}" type="slidenum">
              <a:rPr lang="fi-FI" smtClean="0"/>
              <a:pPr/>
              <a:t>210</a:t>
            </a:fld>
            <a:endParaRPr lang="fi-FI" dirty="0"/>
          </a:p>
        </p:txBody>
      </p:sp>
      <p:sp>
        <p:nvSpPr>
          <p:cNvPr id="38" name="Freeform 37"/>
          <p:cNvSpPr/>
          <p:nvPr/>
        </p:nvSpPr>
        <p:spPr>
          <a:xfrm>
            <a:off x="2555776" y="5061397"/>
            <a:ext cx="3793509" cy="779173"/>
          </a:xfrm>
          <a:custGeom>
            <a:avLst/>
            <a:gdLst>
              <a:gd name="connsiteX0" fmla="*/ 0 w 3966693"/>
              <a:gd name="connsiteY0" fmla="*/ 0 h 779173"/>
              <a:gd name="connsiteX1" fmla="*/ 811369 w 3966693"/>
              <a:gd name="connsiteY1" fmla="*/ 193183 h 779173"/>
              <a:gd name="connsiteX2" fmla="*/ 2292439 w 3966693"/>
              <a:gd name="connsiteY2" fmla="*/ 90152 h 779173"/>
              <a:gd name="connsiteX3" fmla="*/ 2781836 w 3966693"/>
              <a:gd name="connsiteY3" fmla="*/ 669702 h 779173"/>
              <a:gd name="connsiteX4" fmla="*/ 3966693 w 3966693"/>
              <a:gd name="connsiteY4" fmla="*/ 746975 h 779173"/>
              <a:gd name="connsiteX5" fmla="*/ 3966693 w 3966693"/>
              <a:gd name="connsiteY5" fmla="*/ 746975 h 779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66693" h="779173">
                <a:moveTo>
                  <a:pt x="0" y="0"/>
                </a:moveTo>
                <a:cubicBezTo>
                  <a:pt x="214648" y="89079"/>
                  <a:pt x="429296" y="178158"/>
                  <a:pt x="811369" y="193183"/>
                </a:cubicBezTo>
                <a:cubicBezTo>
                  <a:pt x="1193442" y="208208"/>
                  <a:pt x="1964028" y="10732"/>
                  <a:pt x="2292439" y="90152"/>
                </a:cubicBezTo>
                <a:cubicBezTo>
                  <a:pt x="2620850" y="169572"/>
                  <a:pt x="2502794" y="560231"/>
                  <a:pt x="2781836" y="669702"/>
                </a:cubicBezTo>
                <a:cubicBezTo>
                  <a:pt x="3060878" y="779173"/>
                  <a:pt x="3966693" y="746975"/>
                  <a:pt x="3966693" y="746975"/>
                </a:cubicBezTo>
                <a:lnTo>
                  <a:pt x="3966693" y="746975"/>
                </a:lnTo>
              </a:path>
            </a:pathLst>
          </a:cu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n-GB"/>
          </a:p>
        </p:txBody>
      </p:sp>
      <p:sp>
        <p:nvSpPr>
          <p:cNvPr id="39" name="Freeform 38"/>
          <p:cNvSpPr/>
          <p:nvPr/>
        </p:nvSpPr>
        <p:spPr>
          <a:xfrm>
            <a:off x="2859110" y="4887533"/>
            <a:ext cx="2910625" cy="1026016"/>
          </a:xfrm>
          <a:custGeom>
            <a:avLst/>
            <a:gdLst>
              <a:gd name="connsiteX0" fmla="*/ 0 w 2910625"/>
              <a:gd name="connsiteY0" fmla="*/ 843566 h 1026016"/>
              <a:gd name="connsiteX1" fmla="*/ 901521 w 2910625"/>
              <a:gd name="connsiteY1" fmla="*/ 727656 h 1026016"/>
              <a:gd name="connsiteX2" fmla="*/ 1455313 w 2910625"/>
              <a:gd name="connsiteY2" fmla="*/ 907960 h 1026016"/>
              <a:gd name="connsiteX3" fmla="*/ 2034862 w 2910625"/>
              <a:gd name="connsiteY3" fmla="*/ 19318 h 1026016"/>
              <a:gd name="connsiteX4" fmla="*/ 2910625 w 2910625"/>
              <a:gd name="connsiteY4" fmla="*/ 792050 h 10260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0625" h="1026016">
                <a:moveTo>
                  <a:pt x="0" y="843566"/>
                </a:moveTo>
                <a:cubicBezTo>
                  <a:pt x="329484" y="780245"/>
                  <a:pt x="658969" y="716924"/>
                  <a:pt x="901521" y="727656"/>
                </a:cubicBezTo>
                <a:cubicBezTo>
                  <a:pt x="1144073" y="738388"/>
                  <a:pt x="1266423" y="1026016"/>
                  <a:pt x="1455313" y="907960"/>
                </a:cubicBezTo>
                <a:cubicBezTo>
                  <a:pt x="1644203" y="789904"/>
                  <a:pt x="1792310" y="38636"/>
                  <a:pt x="2034862" y="19318"/>
                </a:cubicBezTo>
                <a:cubicBezTo>
                  <a:pt x="2277414" y="0"/>
                  <a:pt x="2594019" y="396025"/>
                  <a:pt x="2910625" y="792050"/>
                </a:cubicBezTo>
              </a:path>
            </a:pathLst>
          </a:custGeom>
        </p:spPr>
        <p:style>
          <a:lnRef idx="3">
            <a:schemeClr val="accent3"/>
          </a:lnRef>
          <a:fillRef idx="0">
            <a:schemeClr val="accent3"/>
          </a:fillRef>
          <a:effectRef idx="2">
            <a:schemeClr val="accent3"/>
          </a:effectRef>
          <a:fontRef idx="minor">
            <a:schemeClr val="tx1"/>
          </a:fontRef>
        </p:style>
        <p:txBody>
          <a:bodyPr rtlCol="0" anchor="ctr"/>
          <a:lstStyle/>
          <a:p>
            <a:pPr algn="ctr"/>
            <a:endParaRPr lang="en-GB"/>
          </a:p>
        </p:txBody>
      </p:sp>
      <p:sp>
        <p:nvSpPr>
          <p:cNvPr id="40" name="Right Brace 39"/>
          <p:cNvSpPr/>
          <p:nvPr/>
        </p:nvSpPr>
        <p:spPr>
          <a:xfrm>
            <a:off x="6588224" y="4941168"/>
            <a:ext cx="432048" cy="936104"/>
          </a:xfrm>
          <a:prstGeom prst="rightBrace">
            <a:avLst/>
          </a:prstGeom>
          <a:ln w="3810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41" name="TextBox 40"/>
          <p:cNvSpPr txBox="1"/>
          <p:nvPr/>
        </p:nvSpPr>
        <p:spPr>
          <a:xfrm>
            <a:off x="7092280" y="5013176"/>
            <a:ext cx="1800200" cy="646331"/>
          </a:xfrm>
          <a:prstGeom prst="rect">
            <a:avLst/>
          </a:prstGeom>
          <a:noFill/>
        </p:spPr>
        <p:txBody>
          <a:bodyPr wrap="square" rtlCol="0">
            <a:spAutoFit/>
          </a:bodyPr>
          <a:lstStyle/>
          <a:p>
            <a:r>
              <a:rPr lang="en-GB" b="1" dirty="0" err="1" smtClean="0"/>
              <a:t>Elinkaaritestit</a:t>
            </a:r>
            <a:r>
              <a:rPr lang="en-GB" dirty="0" smtClean="0"/>
              <a:t> (End-to-end)</a:t>
            </a:r>
            <a:endParaRPr lang="en-GB" dirty="0"/>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P spid="40" grpId="0" animBg="1"/>
      <p:bldP spid="41" grpId="0"/>
    </p:bld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kstikehys 3"/>
          <p:cNvSpPr txBox="1"/>
          <p:nvPr/>
        </p:nvSpPr>
        <p:spPr>
          <a:xfrm>
            <a:off x="3059832" y="2780928"/>
            <a:ext cx="2853666" cy="1015663"/>
          </a:xfrm>
          <a:prstGeom prst="rect">
            <a:avLst/>
          </a:prstGeom>
          <a:noFill/>
        </p:spPr>
        <p:txBody>
          <a:bodyPr wrap="none" rtlCol="0">
            <a:spAutoFit/>
          </a:bodyPr>
          <a:lstStyle/>
          <a:p>
            <a:r>
              <a:rPr lang="fi-FI" sz="6000" dirty="0" smtClean="0">
                <a:latin typeface="Segoe Script" pitchFamily="34" charset="0"/>
              </a:rPr>
              <a:t>Case 1</a:t>
            </a:r>
            <a:endParaRPr lang="en-US" sz="6000" dirty="0">
              <a:latin typeface="Segoe Script" pitchFamily="34" charset="0"/>
            </a:endParaRPr>
          </a:p>
        </p:txBody>
      </p:sp>
    </p:spTree>
  </p:cSld>
  <p:clrMapOvr>
    <a:masterClrMapping/>
  </p:clrMapOvr>
  <p:timing>
    <p:tnLst>
      <p:par>
        <p:cTn xmlns:p14="http://schemas.microsoft.com/office/powerpoint/2010/main" id="1" dur="indefinite" restart="never" nodeType="tmRoot"/>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i-FI" dirty="0" smtClean="0"/>
              <a:t>Testitapauksen koko / </a:t>
            </a:r>
            <a:r>
              <a:rPr lang="fi-FI" dirty="0" err="1" smtClean="0"/>
              <a:t>plan</a:t>
            </a:r>
            <a:r>
              <a:rPr lang="fi-FI" dirty="0" smtClean="0"/>
              <a:t> </a:t>
            </a:r>
            <a:r>
              <a:rPr lang="fi-FI" dirty="0" smtClean="0">
                <a:sym typeface="Wingdings" pitchFamily="2" charset="2"/>
              </a:rPr>
              <a:t> </a:t>
            </a:r>
            <a:r>
              <a:rPr lang="fi-FI" dirty="0" err="1" smtClean="0">
                <a:sym typeface="Wingdings" pitchFamily="2" charset="2"/>
              </a:rPr>
              <a:t>lab</a:t>
            </a:r>
            <a:endParaRPr lang="en-US" dirty="0"/>
          </a:p>
        </p:txBody>
      </p:sp>
      <p:pic>
        <p:nvPicPr>
          <p:cNvPr id="3075"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9552" y="2033786"/>
            <a:ext cx="2876550"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99656" y="1844824"/>
            <a:ext cx="4876800" cy="3686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539552" y="4869160"/>
            <a:ext cx="1944216" cy="646331"/>
          </a:xfrm>
          <a:prstGeom prst="rect">
            <a:avLst/>
          </a:prstGeom>
          <a:noFill/>
        </p:spPr>
        <p:txBody>
          <a:bodyPr wrap="square" rtlCol="0">
            <a:spAutoFit/>
          </a:bodyPr>
          <a:lstStyle/>
          <a:p>
            <a:r>
              <a:rPr lang="fi-FI" dirty="0" smtClean="0"/>
              <a:t>1 tapaus </a:t>
            </a:r>
            <a:r>
              <a:rPr lang="fi-FI" dirty="0" err="1" smtClean="0"/>
              <a:t>planissa</a:t>
            </a:r>
            <a:r>
              <a:rPr lang="fi-FI" dirty="0" smtClean="0"/>
              <a:t> </a:t>
            </a:r>
            <a:r>
              <a:rPr lang="fi-FI" dirty="0" smtClean="0">
                <a:sym typeface="Wingdings" pitchFamily="2" charset="2"/>
              </a:rPr>
              <a:t> 5 </a:t>
            </a:r>
            <a:r>
              <a:rPr lang="fi-FI" dirty="0" err="1" smtClean="0">
                <a:sym typeface="Wingdings" pitchFamily="2" charset="2"/>
              </a:rPr>
              <a:t>labissä</a:t>
            </a:r>
            <a:endParaRPr lang="en-US" dirty="0"/>
          </a:p>
        </p:txBody>
      </p:sp>
      <p:sp>
        <p:nvSpPr>
          <p:cNvPr id="7" name="TextBox 6"/>
          <p:cNvSpPr txBox="1"/>
          <p:nvPr/>
        </p:nvSpPr>
        <p:spPr>
          <a:xfrm>
            <a:off x="3923928" y="5805264"/>
            <a:ext cx="1944216" cy="646331"/>
          </a:xfrm>
          <a:prstGeom prst="rect">
            <a:avLst/>
          </a:prstGeom>
          <a:noFill/>
        </p:spPr>
        <p:txBody>
          <a:bodyPr wrap="square" rtlCol="0">
            <a:spAutoFit/>
          </a:bodyPr>
          <a:lstStyle/>
          <a:p>
            <a:r>
              <a:rPr lang="fi-FI" dirty="0" smtClean="0"/>
              <a:t>1 tapaus </a:t>
            </a:r>
            <a:r>
              <a:rPr lang="fi-FI" dirty="0" err="1" smtClean="0"/>
              <a:t>planissa</a:t>
            </a:r>
            <a:r>
              <a:rPr lang="fi-FI" dirty="0" smtClean="0"/>
              <a:t> </a:t>
            </a:r>
            <a:r>
              <a:rPr lang="fi-FI" dirty="0" smtClean="0">
                <a:sym typeface="Wingdings" pitchFamily="2" charset="2"/>
              </a:rPr>
              <a:t> 1 </a:t>
            </a:r>
            <a:r>
              <a:rPr lang="fi-FI" dirty="0" err="1" smtClean="0">
                <a:sym typeface="Wingdings" pitchFamily="2" charset="2"/>
              </a:rPr>
              <a:t>labissä</a:t>
            </a:r>
            <a:endParaRPr lang="en-US" dirty="0"/>
          </a:p>
        </p:txBody>
      </p:sp>
    </p:spTree>
    <p:extLst>
      <p:ext uri="{BB962C8B-B14F-4D97-AF65-F5344CB8AC3E}">
        <p14:creationId xmlns:p14="http://schemas.microsoft.com/office/powerpoint/2010/main" val="1431518471"/>
      </p:ext>
    </p:extLst>
  </p:cSld>
  <p:clrMapOvr>
    <a:masterClrMapping/>
  </p:clrMapOvr>
  <p:timing>
    <p:tnLst>
      <p:par>
        <p:cTn xmlns:p14="http://schemas.microsoft.com/office/powerpoint/2010/mai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503" y="116632"/>
            <a:ext cx="4116585" cy="4968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83968" y="1340768"/>
            <a:ext cx="4577242" cy="5472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itle 3"/>
          <p:cNvSpPr>
            <a:spLocks noGrp="1"/>
          </p:cNvSpPr>
          <p:nvPr>
            <p:ph type="title"/>
          </p:nvPr>
        </p:nvSpPr>
        <p:spPr>
          <a:xfrm>
            <a:off x="3779912" y="274638"/>
            <a:ext cx="4906888" cy="1143000"/>
          </a:xfrm>
        </p:spPr>
        <p:txBody>
          <a:bodyPr>
            <a:noAutofit/>
          </a:bodyPr>
          <a:lstStyle/>
          <a:p>
            <a:r>
              <a:rPr lang="fi-FI" sz="2800" dirty="0" smtClean="0"/>
              <a:t>Yleiskäyttöaskeleet, kahden järjestelmän esimerkit</a:t>
            </a:r>
            <a:endParaRPr lang="en-US" sz="2800" dirty="0"/>
          </a:p>
        </p:txBody>
      </p:sp>
    </p:spTree>
    <p:extLst>
      <p:ext uri="{BB962C8B-B14F-4D97-AF65-F5344CB8AC3E}">
        <p14:creationId xmlns:p14="http://schemas.microsoft.com/office/powerpoint/2010/main" val="1717419627"/>
      </p:ext>
    </p:extLst>
  </p:cSld>
  <p:clrMapOvr>
    <a:masterClrMapping/>
  </p:clrMapOvr>
  <p:timing>
    <p:tnLst>
      <p:par>
        <p:cTn xmlns:p14="http://schemas.microsoft.com/office/powerpoint/2010/main" id="1" dur="indefinite" restart="never" nodeType="tmRoot"/>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715" y="1556792"/>
            <a:ext cx="2819400" cy="443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normAutofit fontScale="90000"/>
          </a:bodyPr>
          <a:lstStyle/>
          <a:p>
            <a:r>
              <a:rPr lang="fi-FI" dirty="0" smtClean="0"/>
              <a:t>Yleiskäyttöaskeleet, määrittelyjen uudelleenkirjoitustapa</a:t>
            </a:r>
            <a:endParaRPr lang="en-US" dirty="0"/>
          </a:p>
        </p:txBody>
      </p:sp>
      <p:pic>
        <p:nvPicPr>
          <p:cNvPr id="205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83025" y="1964972"/>
            <a:ext cx="3520471" cy="43488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44800" y="1956030"/>
            <a:ext cx="3463704" cy="4301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56010437"/>
      </p:ext>
    </p:extLst>
  </p:cSld>
  <p:clrMapOvr>
    <a:masterClrMapping/>
  </p:clrMapOvr>
  <p:timing>
    <p:tnLst>
      <p:par>
        <p:cTn xmlns:p14="http://schemas.microsoft.com/office/powerpoint/2010/main" id="1" dur="indefinite" restart="never" nodeType="tmRoot"/>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kstikehys 3"/>
          <p:cNvSpPr txBox="1"/>
          <p:nvPr/>
        </p:nvSpPr>
        <p:spPr>
          <a:xfrm>
            <a:off x="2915816" y="2780928"/>
            <a:ext cx="2853666" cy="1015663"/>
          </a:xfrm>
          <a:prstGeom prst="rect">
            <a:avLst/>
          </a:prstGeom>
          <a:noFill/>
        </p:spPr>
        <p:txBody>
          <a:bodyPr wrap="none" rtlCol="0">
            <a:spAutoFit/>
          </a:bodyPr>
          <a:lstStyle/>
          <a:p>
            <a:r>
              <a:rPr lang="fi-FI" sz="6000" dirty="0" smtClean="0">
                <a:latin typeface="Segoe Script" pitchFamily="34" charset="0"/>
              </a:rPr>
              <a:t>Case 2</a:t>
            </a:r>
            <a:endParaRPr lang="en-US" sz="6000" dirty="0">
              <a:latin typeface="Segoe Script" pitchFamily="34" charset="0"/>
            </a:endParaRPr>
          </a:p>
        </p:txBody>
      </p:sp>
    </p:spTree>
  </p:cSld>
  <p:clrMapOvr>
    <a:masterClrMapping/>
  </p:clrMapOvr>
  <p:timing>
    <p:tnLst>
      <p:par>
        <p:cTn xmlns:p14="http://schemas.microsoft.com/office/powerpoint/2010/main" id="1" dur="indefinite" restart="never" nodeType="tmRoot"/>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dirty="0" smtClean="0"/>
              <a:t>Testauksen työjono</a:t>
            </a:r>
            <a:endParaRPr lang="en-US" dirty="0"/>
          </a:p>
        </p:txBody>
      </p:sp>
      <p:pic>
        <p:nvPicPr>
          <p:cNvPr id="3" name="Picture 3"/>
          <p:cNvPicPr>
            <a:picLocks noChangeAspect="1" noChangeArrowheads="1"/>
          </p:cNvPicPr>
          <p:nvPr/>
        </p:nvPicPr>
        <p:blipFill>
          <a:blip r:embed="rId2" cstate="print"/>
          <a:srcRect/>
          <a:stretch>
            <a:fillRect/>
          </a:stretch>
        </p:blipFill>
        <p:spPr bwMode="auto">
          <a:xfrm>
            <a:off x="323528" y="1196752"/>
            <a:ext cx="8438488" cy="3714924"/>
          </a:xfrm>
          <a:prstGeom prst="rect">
            <a:avLst/>
          </a:prstGeom>
          <a:noFill/>
          <a:ln w="9525">
            <a:noFill/>
            <a:miter lim="800000"/>
            <a:headEnd/>
            <a:tailEnd/>
          </a:ln>
        </p:spPr>
      </p:pic>
      <p:pic>
        <p:nvPicPr>
          <p:cNvPr id="3075" name="Picture 3"/>
          <p:cNvPicPr>
            <a:picLocks noChangeAspect="1" noChangeArrowheads="1"/>
          </p:cNvPicPr>
          <p:nvPr/>
        </p:nvPicPr>
        <p:blipFill>
          <a:blip r:embed="rId3" cstate="print"/>
          <a:srcRect/>
          <a:stretch>
            <a:fillRect/>
          </a:stretch>
        </p:blipFill>
        <p:spPr bwMode="auto">
          <a:xfrm>
            <a:off x="2123728" y="2204864"/>
            <a:ext cx="6795264" cy="4477147"/>
          </a:xfrm>
          <a:prstGeom prst="rect">
            <a:avLst/>
          </a:prstGeom>
          <a:noFill/>
          <a:ln w="9525">
            <a:noFill/>
            <a:miter lim="800000"/>
            <a:headEnd/>
            <a:tailEnd/>
          </a:ln>
        </p:spPr>
      </p:pic>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dirty="0" smtClean="0"/>
              <a:t>Kuukausisuunnittelu &amp; seuranta</a:t>
            </a:r>
            <a:endParaRPr lang="en-US" dirty="0"/>
          </a:p>
        </p:txBody>
      </p:sp>
      <p:pic>
        <p:nvPicPr>
          <p:cNvPr id="4099" name="Picture 3"/>
          <p:cNvPicPr>
            <a:picLocks noChangeAspect="1" noChangeArrowheads="1"/>
          </p:cNvPicPr>
          <p:nvPr/>
        </p:nvPicPr>
        <p:blipFill>
          <a:blip r:embed="rId2" cstate="print"/>
          <a:srcRect/>
          <a:stretch>
            <a:fillRect/>
          </a:stretch>
        </p:blipFill>
        <p:spPr bwMode="auto">
          <a:xfrm>
            <a:off x="539552" y="1484784"/>
            <a:ext cx="7819405" cy="5111687"/>
          </a:xfrm>
          <a:prstGeom prst="rect">
            <a:avLst/>
          </a:prstGeom>
          <a:noFill/>
          <a:ln w="9525">
            <a:noFill/>
            <a:miter lim="800000"/>
            <a:headEnd/>
            <a:tailEnd/>
          </a:ln>
        </p:spPr>
      </p:pic>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p:cNvSpPr>
            <a:spLocks noGrp="1"/>
          </p:cNvSpPr>
          <p:nvPr>
            <p:ph type="title"/>
          </p:nvPr>
        </p:nvSpPr>
        <p:spPr/>
        <p:txBody>
          <a:bodyPr>
            <a:normAutofit fontScale="90000"/>
          </a:bodyPr>
          <a:lstStyle/>
          <a:p>
            <a:r>
              <a:rPr lang="fi-FI" dirty="0" smtClean="0"/>
              <a:t>Keskustelu dokumentaation tukemana</a:t>
            </a:r>
            <a:endParaRPr lang="en-US" dirty="0"/>
          </a:p>
        </p:txBody>
      </p:sp>
      <p:pic>
        <p:nvPicPr>
          <p:cNvPr id="5122" name="Picture 2"/>
          <p:cNvPicPr>
            <a:picLocks noChangeAspect="1" noChangeArrowheads="1"/>
          </p:cNvPicPr>
          <p:nvPr/>
        </p:nvPicPr>
        <p:blipFill>
          <a:blip r:embed="rId2" cstate="print"/>
          <a:srcRect/>
          <a:stretch>
            <a:fillRect/>
          </a:stretch>
        </p:blipFill>
        <p:spPr bwMode="auto">
          <a:xfrm>
            <a:off x="0" y="1916832"/>
            <a:ext cx="9064163" cy="3900091"/>
          </a:xfrm>
          <a:prstGeom prst="rect">
            <a:avLst/>
          </a:prstGeom>
          <a:noFill/>
          <a:ln w="9525">
            <a:noFill/>
            <a:miter lim="800000"/>
            <a:headEnd/>
            <a:tailEnd/>
          </a:ln>
        </p:spPr>
      </p:pic>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dirty="0" smtClean="0"/>
              <a:t>Tarkistuslistat</a:t>
            </a:r>
            <a:endParaRPr lang="en-US" dirty="0"/>
          </a:p>
        </p:txBody>
      </p:sp>
      <p:sp>
        <p:nvSpPr>
          <p:cNvPr id="3" name="Dian numeron paikkamerkki 2"/>
          <p:cNvSpPr>
            <a:spLocks noGrp="1"/>
          </p:cNvSpPr>
          <p:nvPr>
            <p:ph type="sldNum" sz="quarter" idx="12"/>
          </p:nvPr>
        </p:nvSpPr>
        <p:spPr/>
        <p:txBody>
          <a:bodyPr/>
          <a:lstStyle/>
          <a:p>
            <a:fld id="{005C076F-2023-4865-A680-8A52FED0D0E7}" type="slidenum">
              <a:rPr lang="en-US" smtClean="0"/>
              <a:pPr/>
              <a:t>219</a:t>
            </a:fld>
            <a:endParaRPr lang="en-US"/>
          </a:p>
        </p:txBody>
      </p:sp>
      <p:pic>
        <p:nvPicPr>
          <p:cNvPr id="2050" name="Picture 2"/>
          <p:cNvPicPr>
            <a:picLocks noChangeAspect="1" noChangeArrowheads="1"/>
          </p:cNvPicPr>
          <p:nvPr/>
        </p:nvPicPr>
        <p:blipFill>
          <a:blip r:embed="rId2" cstate="print"/>
          <a:srcRect/>
          <a:stretch>
            <a:fillRect/>
          </a:stretch>
        </p:blipFill>
        <p:spPr bwMode="auto">
          <a:xfrm>
            <a:off x="1259632" y="1412776"/>
            <a:ext cx="6564313" cy="4686300"/>
          </a:xfrm>
          <a:prstGeom prst="rect">
            <a:avLst/>
          </a:prstGeom>
          <a:noFill/>
          <a:ln w="9525">
            <a:noFill/>
            <a:miter lim="800000"/>
            <a:headEnd/>
            <a:tailEnd/>
          </a:ln>
          <a:effectLst/>
        </p:spPr>
      </p:pic>
    </p:spTree>
  </p:cSld>
  <p:clrMapOvr>
    <a:masterClrMapping/>
  </p:clrMapOvr>
  <p:timing>
    <p:tnLst>
      <p:par>
        <p:cTn xmlns:p14="http://schemas.microsoft.com/office/powerpoint/2010/main" id="1" dur="indefinite" restart="never" nodeType="tmRoot"/>
      </p:par>
    </p:tn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dirty="0" smtClean="0"/>
              <a:t>Selkeät havaintoraportit</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179512" y="1700808"/>
            <a:ext cx="8736141" cy="3951908"/>
          </a:xfrm>
          <a:prstGeom prst="rect">
            <a:avLst/>
          </a:prstGeom>
          <a:noFill/>
          <a:ln w="9525">
            <a:noFill/>
            <a:miter lim="800000"/>
            <a:headEnd/>
            <a:tailEnd/>
          </a:ln>
        </p:spPr>
      </p:pic>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fi-FI" dirty="0" smtClean="0"/>
              <a:t>Virhetilanteen tunnistaminen</a:t>
            </a:r>
            <a:endParaRPr lang="fi-FI" dirty="0"/>
          </a:p>
        </p:txBody>
      </p:sp>
      <p:sp>
        <p:nvSpPr>
          <p:cNvPr id="4" name="Content Placeholder 3"/>
          <p:cNvSpPr>
            <a:spLocks noGrp="1"/>
          </p:cNvSpPr>
          <p:nvPr>
            <p:ph idx="1"/>
          </p:nvPr>
        </p:nvSpPr>
        <p:spPr/>
        <p:txBody>
          <a:bodyPr>
            <a:noAutofit/>
          </a:bodyPr>
          <a:lstStyle/>
          <a:p>
            <a:r>
              <a:rPr lang="fi-FI" sz="2000" dirty="0" smtClean="0"/>
              <a:t>Testaajan perustavaa laatua olevaa osaamista</a:t>
            </a:r>
          </a:p>
          <a:p>
            <a:pPr lvl="1"/>
            <a:r>
              <a:rPr lang="fi-FI" sz="1800" dirty="0" smtClean="0"/>
              <a:t>Oltava jokaisella testausta tekevällä: puutteesta seuraa testien suoritus ilman tuloksia</a:t>
            </a:r>
          </a:p>
          <a:p>
            <a:pPr lvl="1"/>
            <a:r>
              <a:rPr lang="fi-FI" sz="1800" dirty="0" smtClean="0"/>
              <a:t>Merkittävimpiä kehittämiskohteita henkilökohtaisen tuottavuuden lisäämiseksi</a:t>
            </a:r>
          </a:p>
          <a:p>
            <a:r>
              <a:rPr lang="fi-FI" sz="2000" dirty="0" smtClean="0"/>
              <a:t>Monenlaisia virheitä</a:t>
            </a:r>
          </a:p>
          <a:p>
            <a:pPr lvl="1"/>
            <a:r>
              <a:rPr lang="fi-FI" sz="1800" dirty="0" smtClean="0"/>
              <a:t>Kosmeettinen: kirjoitusvirheet, ulkoasu, yhdenmukaisuus</a:t>
            </a:r>
          </a:p>
          <a:p>
            <a:pPr lvl="1"/>
            <a:r>
              <a:rPr lang="fi-FI" sz="1800" dirty="0" smtClean="0"/>
              <a:t>Toiminnallinen: kaatumiset ja jumittumiset, väärä toiminnallisuus</a:t>
            </a:r>
          </a:p>
          <a:p>
            <a:pPr lvl="1"/>
            <a:r>
              <a:rPr lang="fi-FI" sz="1800" dirty="0" smtClean="0"/>
              <a:t>Tarkoitukseen sopivuus: ei ratkaise käyttäjän ongelmaa, vaikea ymmärtää</a:t>
            </a:r>
          </a:p>
          <a:p>
            <a:r>
              <a:rPr lang="fi-FI" sz="2000" dirty="0" smtClean="0"/>
              <a:t>Vinoumat vaikuttavat arviointiin</a:t>
            </a:r>
          </a:p>
          <a:p>
            <a:pPr lvl="1"/>
            <a:r>
              <a:rPr lang="fi-FI" sz="1800" dirty="0" smtClean="0"/>
              <a:t>Omat kokemukset, läheisten kokemukset, epämiellyttävien ihmisten kokemukset…</a:t>
            </a:r>
          </a:p>
          <a:p>
            <a:pPr lvl="1"/>
            <a:r>
              <a:rPr lang="fi-FI" sz="1800" dirty="0" smtClean="0"/>
              <a:t>Lähiaikojen kokemukset, menneet kokemukset</a:t>
            </a:r>
          </a:p>
          <a:p>
            <a:pPr lvl="1"/>
            <a:r>
              <a:rPr lang="fi-FI" sz="1800" dirty="0" smtClean="0"/>
              <a:t> Isot epäonnistumiset jotka koettu osuneeksi </a:t>
            </a:r>
            <a:br>
              <a:rPr lang="fi-FI" sz="1800" dirty="0" smtClean="0"/>
            </a:br>
            <a:r>
              <a:rPr lang="fi-FI" sz="1800" dirty="0" smtClean="0"/>
              <a:t>omaan nilkkaan</a:t>
            </a:r>
          </a:p>
          <a:p>
            <a:endParaRPr lang="fi-FI" sz="2000" dirty="0"/>
          </a:p>
        </p:txBody>
      </p:sp>
      <p:pic>
        <p:nvPicPr>
          <p:cNvPr id="5" name="Picture 4"/>
          <p:cNvPicPr>
            <a:picLocks noChangeAspect="1" noChangeArrowheads="1"/>
          </p:cNvPicPr>
          <p:nvPr/>
        </p:nvPicPr>
        <p:blipFill>
          <a:blip r:embed="rId3" cstate="print"/>
          <a:srcRect/>
          <a:stretch>
            <a:fillRect/>
          </a:stretch>
        </p:blipFill>
        <p:spPr bwMode="auto">
          <a:xfrm>
            <a:off x="6172200" y="5181600"/>
            <a:ext cx="2281237" cy="936625"/>
          </a:xfrm>
          <a:prstGeom prst="rect">
            <a:avLst/>
          </a:prstGeom>
          <a:noFill/>
          <a:ln w="12700">
            <a:noFill/>
            <a:miter lim="800000"/>
            <a:headEnd/>
            <a:tailEnd/>
          </a:ln>
          <a:effectLst/>
        </p:spPr>
      </p:pic>
      <p:sp>
        <p:nvSpPr>
          <p:cNvPr id="6" name="Slide Number Placeholder 5"/>
          <p:cNvSpPr>
            <a:spLocks noGrp="1"/>
          </p:cNvSpPr>
          <p:nvPr>
            <p:ph type="sldNum" sz="quarter" idx="12"/>
          </p:nvPr>
        </p:nvSpPr>
        <p:spPr/>
        <p:txBody>
          <a:bodyPr/>
          <a:lstStyle/>
          <a:p>
            <a:fld id="{B6F15528-21DE-4FAA-801E-634DDDAF4B2B}" type="slidenum">
              <a:rPr lang="en-US" smtClean="0"/>
              <a:pPr/>
              <a:t>221</a:t>
            </a:fld>
            <a:endParaRPr lang="en-US"/>
          </a:p>
        </p:txBody>
      </p:sp>
    </p:spTree>
  </p:cSld>
  <p:clrMapOvr>
    <a:masterClrMapping/>
  </p:clrMapOvr>
  <p:timing>
    <p:tnLst>
      <p:par>
        <p:cTn xmlns:p14="http://schemas.microsoft.com/office/powerpoint/2010/main" id="1" dur="indefinite" restart="never" nodeType="tmRoot"/>
      </p:par>
    </p:tn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p:txBody>
          <a:bodyPr/>
          <a:lstStyle/>
          <a:p>
            <a:pPr defTabSz="762000"/>
            <a:r>
              <a:rPr lang="fi-FI"/>
              <a:t>Odotetut tulokset testauksessa</a:t>
            </a:r>
          </a:p>
        </p:txBody>
      </p:sp>
      <p:sp>
        <p:nvSpPr>
          <p:cNvPr id="137219" name="AutoShape 3"/>
          <p:cNvSpPr>
            <a:spLocks noChangeArrowheads="1"/>
          </p:cNvSpPr>
          <p:nvPr/>
        </p:nvSpPr>
        <p:spPr bwMode="auto">
          <a:xfrm>
            <a:off x="5497513" y="1844675"/>
            <a:ext cx="2819400" cy="838200"/>
          </a:xfrm>
          <a:prstGeom prst="wedgeRectCallout">
            <a:avLst>
              <a:gd name="adj1" fmla="val -28546"/>
              <a:gd name="adj2" fmla="val 80491"/>
            </a:avLst>
          </a:prstGeom>
          <a:ln>
            <a:headEnd/>
            <a:tailEnd/>
          </a:ln>
        </p:spPr>
        <p:style>
          <a:lnRef idx="3">
            <a:schemeClr val="lt1"/>
          </a:lnRef>
          <a:fillRef idx="1">
            <a:schemeClr val="accent6"/>
          </a:fillRef>
          <a:effectRef idx="1">
            <a:schemeClr val="accent6"/>
          </a:effectRef>
          <a:fontRef idx="minor">
            <a:schemeClr val="lt1"/>
          </a:fontRef>
        </p:style>
        <p:txBody>
          <a:bodyPr/>
          <a:lstStyle/>
          <a:p>
            <a:pPr algn="ctr" eaLnBrk="1" hangingPunct="1"/>
            <a:r>
              <a:rPr lang="fi-FI" sz="2000" dirty="0">
                <a:solidFill>
                  <a:schemeClr val="bg1"/>
                </a:solidFill>
                <a:cs typeface="Arial" charset="0"/>
              </a:rPr>
              <a:t>Näyttää mielestäni ihan hyvältä...</a:t>
            </a:r>
            <a:endParaRPr lang="en-GB" sz="2000" dirty="0">
              <a:solidFill>
                <a:schemeClr val="bg1"/>
              </a:solidFill>
              <a:cs typeface="Arial" charset="0"/>
            </a:endParaRPr>
          </a:p>
        </p:txBody>
      </p:sp>
      <p:sp>
        <p:nvSpPr>
          <p:cNvPr id="137220" name="Rectangle 4"/>
          <p:cNvSpPr>
            <a:spLocks noChangeArrowheads="1"/>
          </p:cNvSpPr>
          <p:nvPr/>
        </p:nvSpPr>
        <p:spPr bwMode="auto">
          <a:xfrm>
            <a:off x="107950" y="1844675"/>
            <a:ext cx="2376488" cy="3240088"/>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anchor="ctr"/>
          <a:lstStyle/>
          <a:p>
            <a:pPr algn="ctr" eaLnBrk="1" hangingPunct="1"/>
            <a:r>
              <a:rPr lang="fi-FI" sz="2400">
                <a:cs typeface="Arial" charset="0"/>
              </a:rPr>
              <a:t>Oikeanlainen toiminta pitää kyetä tunnistamaan  - joskus se vaatii analysointia etukäteen. </a:t>
            </a:r>
            <a:endParaRPr lang="en-GB" sz="2400">
              <a:cs typeface="Arial" charset="0"/>
            </a:endParaRPr>
          </a:p>
        </p:txBody>
      </p:sp>
      <p:pic>
        <p:nvPicPr>
          <p:cNvPr id="137221" name="Picture 5" descr="j0078623"/>
          <p:cNvPicPr>
            <a:picLocks noChangeAspect="1" noChangeArrowheads="1"/>
          </p:cNvPicPr>
          <p:nvPr/>
        </p:nvPicPr>
        <p:blipFill>
          <a:blip r:embed="rId3" cstate="print"/>
          <a:srcRect/>
          <a:stretch>
            <a:fillRect/>
          </a:stretch>
        </p:blipFill>
        <p:spPr bwMode="auto">
          <a:xfrm>
            <a:off x="2555875" y="2133600"/>
            <a:ext cx="4146550" cy="3529013"/>
          </a:xfrm>
          <a:prstGeom prst="rect">
            <a:avLst/>
          </a:prstGeom>
          <a:noFill/>
        </p:spPr>
      </p:pic>
      <p:sp>
        <p:nvSpPr>
          <p:cNvPr id="137222" name="Rectangle 6"/>
          <p:cNvSpPr>
            <a:spLocks noChangeArrowheads="1"/>
          </p:cNvSpPr>
          <p:nvPr/>
        </p:nvSpPr>
        <p:spPr bwMode="auto">
          <a:xfrm>
            <a:off x="3635375" y="5807075"/>
            <a:ext cx="4929188" cy="935038"/>
          </a:xfrm>
          <a:prstGeom prst="rect">
            <a:avLst/>
          </a:prstGeom>
          <a:solidFill>
            <a:schemeClr val="bg1"/>
          </a:solidFill>
          <a:ln w="9525">
            <a:solidFill>
              <a:schemeClr val="accent2"/>
            </a:solidFill>
            <a:miter lim="800000"/>
            <a:headEnd/>
            <a:tailEnd/>
          </a:ln>
          <a:effectLst>
            <a:outerShdw dist="107763" dir="18900000" algn="ctr" rotWithShape="0">
              <a:schemeClr val="bg2"/>
            </a:outerShdw>
          </a:effectLst>
        </p:spPr>
        <p:txBody>
          <a:bodyPr anchor="ctr"/>
          <a:lstStyle/>
          <a:p>
            <a:pPr algn="ctr" eaLnBrk="1" hangingPunct="1"/>
            <a:r>
              <a:rPr lang="fi-FI" dirty="0">
                <a:cs typeface="Arial" charset="0"/>
              </a:rPr>
              <a:t>Testaajan pitää haluta nähdä virheitä vaikka virhettä ei osattu testitapaukseen ennustaakaan</a:t>
            </a:r>
            <a:endParaRPr lang="en-GB" dirty="0">
              <a:cs typeface="Arial" charset="0"/>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222</a:t>
            </a:fld>
            <a:endParaRPr lang="en-US"/>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7220"/>
                                        </p:tgtEl>
                                        <p:attrNameLst>
                                          <p:attrName>style.visibility</p:attrName>
                                        </p:attrNameLst>
                                      </p:cBhvr>
                                      <p:to>
                                        <p:strVal val="visible"/>
                                      </p:to>
                                    </p:set>
                                    <p:anim calcmode="lin" valueType="num">
                                      <p:cBhvr additive="base">
                                        <p:cTn id="7" dur="500" fill="hold"/>
                                        <p:tgtEl>
                                          <p:spTgt spid="137220"/>
                                        </p:tgtEl>
                                        <p:attrNameLst>
                                          <p:attrName>ppt_x</p:attrName>
                                        </p:attrNameLst>
                                      </p:cBhvr>
                                      <p:tavLst>
                                        <p:tav tm="0">
                                          <p:val>
                                            <p:strVal val="0-#ppt_w/2"/>
                                          </p:val>
                                        </p:tav>
                                        <p:tav tm="100000">
                                          <p:val>
                                            <p:strVal val="#ppt_x"/>
                                          </p:val>
                                        </p:tav>
                                      </p:tavLst>
                                    </p:anim>
                                    <p:anim calcmode="lin" valueType="num">
                                      <p:cBhvr additive="base">
                                        <p:cTn id="8" dur="500" fill="hold"/>
                                        <p:tgtEl>
                                          <p:spTgt spid="13722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37222"/>
                                        </p:tgtEl>
                                        <p:attrNameLst>
                                          <p:attrName>style.visibility</p:attrName>
                                        </p:attrNameLst>
                                      </p:cBhvr>
                                      <p:to>
                                        <p:strVal val="visible"/>
                                      </p:to>
                                    </p:set>
                                    <p:anim calcmode="lin" valueType="num">
                                      <p:cBhvr additive="base">
                                        <p:cTn id="13" dur="500" fill="hold"/>
                                        <p:tgtEl>
                                          <p:spTgt spid="137222"/>
                                        </p:tgtEl>
                                        <p:attrNameLst>
                                          <p:attrName>ppt_x</p:attrName>
                                        </p:attrNameLst>
                                      </p:cBhvr>
                                      <p:tavLst>
                                        <p:tav tm="0">
                                          <p:val>
                                            <p:strVal val="0-#ppt_w/2"/>
                                          </p:val>
                                        </p:tav>
                                        <p:tav tm="100000">
                                          <p:val>
                                            <p:strVal val="#ppt_x"/>
                                          </p:val>
                                        </p:tav>
                                      </p:tavLst>
                                    </p:anim>
                                    <p:anim calcmode="lin" valueType="num">
                                      <p:cBhvr additive="base">
                                        <p:cTn id="14" dur="500" fill="hold"/>
                                        <p:tgtEl>
                                          <p:spTgt spid="1372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20" grpId="0" animBg="1" autoUpdateAnimBg="0"/>
      <p:bldP spid="137222" grpId="0" animBg="1" autoUpdateAnimBg="0"/>
    </p:bld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fi-FI" dirty="0" smtClean="0"/>
              <a:t>Hyväksymistestausta tukevat testitapaukset</a:t>
            </a:r>
            <a:endParaRPr lang="fi-FI" dirty="0"/>
          </a:p>
        </p:txBody>
      </p:sp>
      <p:sp>
        <p:nvSpPr>
          <p:cNvPr id="7" name="Content Placeholder 6"/>
          <p:cNvSpPr>
            <a:spLocks noGrp="1"/>
          </p:cNvSpPr>
          <p:nvPr>
            <p:ph idx="1"/>
          </p:nvPr>
        </p:nvSpPr>
        <p:spPr/>
        <p:txBody>
          <a:bodyPr>
            <a:normAutofit fontScale="77500" lnSpcReduction="20000"/>
          </a:bodyPr>
          <a:lstStyle/>
          <a:p>
            <a:r>
              <a:rPr lang="fi-FI" dirty="0" smtClean="0"/>
              <a:t>Eri tilanteissa erilaisia lähtökohtia</a:t>
            </a:r>
          </a:p>
          <a:p>
            <a:pPr lvl="1"/>
            <a:r>
              <a:rPr lang="fi-FI" dirty="0" smtClean="0"/>
              <a:t>Monitoimittajaympäristö – toimittajakohtaisuus saattaa korostua</a:t>
            </a:r>
          </a:p>
          <a:p>
            <a:pPr lvl="1"/>
            <a:r>
              <a:rPr lang="fi-FI" dirty="0" smtClean="0"/>
              <a:t>Pitkät ketjut – jos peruslaatu on kunnossa</a:t>
            </a:r>
          </a:p>
          <a:p>
            <a:pPr lvl="1"/>
            <a:r>
              <a:rPr lang="fi-FI" dirty="0" smtClean="0"/>
              <a:t>Yksityiskohtien tarkistukset vaatimuksista – jos peruslaatuun liittyy huolenaiheita</a:t>
            </a:r>
          </a:p>
          <a:p>
            <a:r>
              <a:rPr lang="fi-FI" dirty="0" smtClean="0"/>
              <a:t>Keskeinen kysymys on ”millainen tarkistuslista auttaa meitä muistamaan mitä kaikkea piti katsoa osana hyväksymistestausta”</a:t>
            </a:r>
          </a:p>
          <a:p>
            <a:r>
              <a:rPr lang="fi-FI" dirty="0" smtClean="0"/>
              <a:t>Suosikkimuotoni: </a:t>
            </a:r>
          </a:p>
          <a:p>
            <a:pPr lvl="1"/>
            <a:r>
              <a:rPr lang="fi-FI" dirty="0" smtClean="0"/>
              <a:t>Aineistointensiiviset järjestelmät: aineistosta lähtevä toimintoketju </a:t>
            </a:r>
          </a:p>
          <a:p>
            <a:pPr lvl="1"/>
            <a:r>
              <a:rPr lang="fi-FI" dirty="0" smtClean="0"/>
              <a:t>Toimintointensiiviset järjestelmät: aloituspaikoista lähtevä toimintoketju</a:t>
            </a:r>
            <a:endParaRPr lang="fi-FI"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223</a:t>
            </a:fld>
            <a:endParaRPr lang="fi-FI"/>
          </a:p>
        </p:txBody>
      </p:sp>
    </p:spTree>
  </p:cSld>
  <p:clrMapOvr>
    <a:masterClrMapping/>
  </p:clrMapOvr>
  <p:timing>
    <p:tnLst>
      <p:par>
        <p:cTn xmlns:p14="http://schemas.microsoft.com/office/powerpoint/2010/main" id="1" dur="indefinite" restart="never" nodeType="tmRoot"/>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fi-FI" dirty="0" smtClean="0"/>
              <a:t>Testitapauksen mallipohja</a:t>
            </a:r>
            <a:endParaRPr lang="fi-FI" dirty="0"/>
          </a:p>
        </p:txBody>
      </p:sp>
      <p:sp>
        <p:nvSpPr>
          <p:cNvPr id="4" name="Slide Number Placeholder 3"/>
          <p:cNvSpPr>
            <a:spLocks noGrp="1"/>
          </p:cNvSpPr>
          <p:nvPr>
            <p:ph type="sldNum" sz="quarter" idx="12"/>
          </p:nvPr>
        </p:nvSpPr>
        <p:spPr/>
        <p:txBody>
          <a:bodyPr/>
          <a:lstStyle/>
          <a:p>
            <a:fld id="{14372D0E-141A-410E-BF05-6D084166F67B}" type="slidenum">
              <a:rPr lang="fi-FI" smtClean="0"/>
              <a:pPr/>
              <a:t>224</a:t>
            </a:fld>
            <a:endParaRPr lang="fi-FI"/>
          </a:p>
        </p:txBody>
      </p:sp>
      <p:graphicFrame>
        <p:nvGraphicFramePr>
          <p:cNvPr id="5" name="Table 4"/>
          <p:cNvGraphicFramePr>
            <a:graphicFrameLocks noGrp="1"/>
          </p:cNvGraphicFramePr>
          <p:nvPr/>
        </p:nvGraphicFramePr>
        <p:xfrm>
          <a:off x="142876" y="1490764"/>
          <a:ext cx="8858280" cy="4694602"/>
        </p:xfrm>
        <a:graphic>
          <a:graphicData uri="http://schemas.openxmlformats.org/drawingml/2006/table">
            <a:tbl>
              <a:tblPr/>
              <a:tblGrid>
                <a:gridCol w="2067487"/>
                <a:gridCol w="6790793"/>
              </a:tblGrid>
              <a:tr h="320871">
                <a:tc gridSpan="2">
                  <a:txBody>
                    <a:bodyPr/>
                    <a:lstStyle/>
                    <a:p>
                      <a:pPr>
                        <a:lnSpc>
                          <a:spcPct val="115000"/>
                        </a:lnSpc>
                        <a:spcAft>
                          <a:spcPts val="0"/>
                        </a:spcAft>
                      </a:pPr>
                      <a:r>
                        <a:rPr lang="fi-FI" sz="1800" dirty="0">
                          <a:latin typeface="Calibri"/>
                          <a:ea typeface="Calibri"/>
                          <a:cs typeface="Times New Roman"/>
                        </a:rPr>
                        <a:t>Testitapauksen tunniste ja otsikko</a:t>
                      </a:r>
                      <a:endParaRPr lang="en-US"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hMerge="1">
                  <a:txBody>
                    <a:bodyPr/>
                    <a:lstStyle/>
                    <a:p>
                      <a:endParaRPr lang="fi-FI"/>
                    </a:p>
                  </a:txBody>
                  <a:tcPr/>
                </a:tc>
              </a:tr>
              <a:tr h="536385">
                <a:tc gridSpan="2">
                  <a:txBody>
                    <a:bodyPr/>
                    <a:lstStyle/>
                    <a:p>
                      <a:pPr>
                        <a:lnSpc>
                          <a:spcPct val="115000"/>
                        </a:lnSpc>
                        <a:spcAft>
                          <a:spcPts val="0"/>
                        </a:spcAft>
                      </a:pPr>
                      <a:r>
                        <a:rPr lang="fi-FI" sz="1800" dirty="0">
                          <a:latin typeface="Calibri"/>
                          <a:ea typeface="Calibri"/>
                          <a:cs typeface="Times New Roman"/>
                        </a:rPr>
                        <a:t>&lt;hierarkiaa ilmaiseva numero&gt;&lt;Yhden lauseen mahdollisimman yksilöivä selitys testin tarkoituksesta ja kohteesta&gt;</a:t>
                      </a:r>
                      <a:endParaRPr lang="en-US"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fi-FI"/>
                    </a:p>
                  </a:txBody>
                  <a:tcPr/>
                </a:tc>
              </a:tr>
              <a:tr h="1423938">
                <a:tc>
                  <a:txBody>
                    <a:bodyPr/>
                    <a:lstStyle/>
                    <a:p>
                      <a:pPr>
                        <a:lnSpc>
                          <a:spcPct val="115000"/>
                        </a:lnSpc>
                        <a:spcAft>
                          <a:spcPts val="0"/>
                        </a:spcAft>
                      </a:pPr>
                      <a:r>
                        <a:rPr lang="fi-FI" sz="1800" dirty="0">
                          <a:latin typeface="Calibri"/>
                          <a:ea typeface="Calibri"/>
                          <a:cs typeface="Times New Roman"/>
                        </a:rPr>
                        <a:t>Kuvaus testauksen kohteesta</a:t>
                      </a:r>
                      <a:endParaRPr lang="en-US"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a:lnSpc>
                          <a:spcPct val="115000"/>
                        </a:lnSpc>
                        <a:spcAft>
                          <a:spcPts val="0"/>
                        </a:spcAft>
                      </a:pPr>
                      <a:r>
                        <a:rPr lang="fi-FI" sz="1800" dirty="0">
                          <a:latin typeface="Calibri"/>
                          <a:ea typeface="Calibri"/>
                          <a:cs typeface="Times New Roman"/>
                        </a:rPr>
                        <a:t>&lt;millaista asiaa tällä testillä </a:t>
                      </a:r>
                      <a:r>
                        <a:rPr lang="fi-FI" sz="1800" dirty="0" smtClean="0">
                          <a:latin typeface="Calibri"/>
                          <a:ea typeface="Calibri"/>
                          <a:cs typeface="Times New Roman"/>
                        </a:rPr>
                        <a:t>testataan</a:t>
                      </a:r>
                      <a:r>
                        <a:rPr lang="fi-FI" sz="1800" baseline="0" dirty="0" smtClean="0">
                          <a:latin typeface="Calibri"/>
                          <a:ea typeface="Calibri"/>
                          <a:cs typeface="Times New Roman"/>
                        </a:rPr>
                        <a:t> ”mitä”</a:t>
                      </a:r>
                      <a:r>
                        <a:rPr lang="fi-FI" sz="1800" dirty="0" smtClean="0">
                          <a:latin typeface="Calibri"/>
                          <a:ea typeface="Calibri"/>
                          <a:cs typeface="Times New Roman"/>
                        </a:rPr>
                        <a:t>&gt;</a:t>
                      </a:r>
                      <a:endParaRPr lang="en-US" sz="1400" dirty="0">
                        <a:latin typeface="Calibri"/>
                        <a:ea typeface="Calibri"/>
                        <a:cs typeface="Times New Roman"/>
                      </a:endParaRPr>
                    </a:p>
                    <a:p>
                      <a:pPr>
                        <a:lnSpc>
                          <a:spcPct val="115000"/>
                        </a:lnSpc>
                        <a:spcAft>
                          <a:spcPts val="0"/>
                        </a:spcAft>
                      </a:pPr>
                      <a:r>
                        <a:rPr lang="fi-FI" sz="1800" dirty="0">
                          <a:latin typeface="Calibri"/>
                          <a:ea typeface="Calibri"/>
                          <a:cs typeface="Times New Roman"/>
                        </a:rPr>
                        <a:t>&lt;mistä tilanteesta testi lähtee liikkeelle&gt;</a:t>
                      </a:r>
                      <a:endParaRPr lang="en-US" sz="1400" dirty="0">
                        <a:latin typeface="Calibri"/>
                        <a:ea typeface="Calibri"/>
                        <a:cs typeface="Times New Roman"/>
                      </a:endParaRPr>
                    </a:p>
                    <a:p>
                      <a:pPr>
                        <a:lnSpc>
                          <a:spcPct val="115000"/>
                        </a:lnSpc>
                        <a:spcAft>
                          <a:spcPts val="0"/>
                        </a:spcAft>
                      </a:pPr>
                      <a:r>
                        <a:rPr lang="fi-FI" sz="1800" dirty="0">
                          <a:latin typeface="Calibri"/>
                          <a:ea typeface="Calibri"/>
                          <a:cs typeface="Times New Roman"/>
                        </a:rPr>
                        <a:t>&lt;millaisia asioita yleisesti tarkastellaan, mistä ollaan </a:t>
                      </a:r>
                      <a:r>
                        <a:rPr lang="fi-FI" sz="1800" dirty="0" smtClean="0">
                          <a:latin typeface="Calibri"/>
                          <a:ea typeface="Calibri"/>
                          <a:cs typeface="Times New Roman"/>
                        </a:rPr>
                        <a:t>huolissaan miksi”&gt; </a:t>
                      </a:r>
                      <a:endParaRPr lang="en-US" sz="1400" dirty="0">
                        <a:latin typeface="Calibri"/>
                        <a:ea typeface="Calibri"/>
                        <a:cs typeface="Times New Roman"/>
                      </a:endParaRPr>
                    </a:p>
                    <a:p>
                      <a:pPr>
                        <a:lnSpc>
                          <a:spcPct val="115000"/>
                        </a:lnSpc>
                        <a:spcAft>
                          <a:spcPts val="0"/>
                        </a:spcAft>
                      </a:pPr>
                      <a:r>
                        <a:rPr lang="fi-FI" sz="1800" dirty="0">
                          <a:latin typeface="Calibri"/>
                          <a:ea typeface="Calibri"/>
                          <a:cs typeface="Times New Roman"/>
                        </a:rPr>
                        <a:t>&lt;yleiset ohjeet huolenaiheiden tarkistamiseksi, miten arvioidaan toimiiko vai onko huomioita raportoitavaksi&gt;</a:t>
                      </a:r>
                      <a:endParaRPr lang="en-US"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76677">
                <a:tc>
                  <a:txBody>
                    <a:bodyPr/>
                    <a:lstStyle/>
                    <a:p>
                      <a:pPr>
                        <a:lnSpc>
                          <a:spcPct val="115000"/>
                        </a:lnSpc>
                        <a:spcAft>
                          <a:spcPts val="0"/>
                        </a:spcAft>
                      </a:pPr>
                      <a:r>
                        <a:rPr lang="fi-FI" sz="1800" dirty="0">
                          <a:latin typeface="Calibri"/>
                          <a:ea typeface="Calibri"/>
                          <a:cs typeface="Times New Roman"/>
                        </a:rPr>
                        <a:t>Testiaineiston vaatimukset</a:t>
                      </a:r>
                      <a:endParaRPr lang="en-US"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a:lnSpc>
                          <a:spcPct val="115000"/>
                        </a:lnSpc>
                        <a:spcAft>
                          <a:spcPts val="0"/>
                        </a:spcAft>
                      </a:pPr>
                      <a:r>
                        <a:rPr lang="fi-FI" sz="1800" dirty="0">
                          <a:latin typeface="Calibri"/>
                          <a:ea typeface="Calibri"/>
                          <a:cs typeface="Times New Roman"/>
                        </a:rPr>
                        <a:t>&lt;aineiston tai aineistojen kriteerit&gt;</a:t>
                      </a:r>
                      <a:endParaRPr lang="en-US"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86114">
                <a:tc>
                  <a:txBody>
                    <a:bodyPr/>
                    <a:lstStyle/>
                    <a:p>
                      <a:pPr>
                        <a:lnSpc>
                          <a:spcPct val="115000"/>
                        </a:lnSpc>
                        <a:spcAft>
                          <a:spcPts val="0"/>
                        </a:spcAft>
                      </a:pPr>
                      <a:r>
                        <a:rPr lang="fi-FI" sz="1800" dirty="0">
                          <a:latin typeface="Calibri"/>
                          <a:ea typeface="Calibri"/>
                          <a:cs typeface="Times New Roman"/>
                        </a:rPr>
                        <a:t>Toistotarve</a:t>
                      </a:r>
                      <a:endParaRPr lang="en-US"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a:lnSpc>
                          <a:spcPct val="115000"/>
                        </a:lnSpc>
                        <a:spcAft>
                          <a:spcPts val="0"/>
                        </a:spcAft>
                      </a:pPr>
                      <a:r>
                        <a:rPr lang="fi-FI" sz="1800">
                          <a:latin typeface="Calibri"/>
                          <a:ea typeface="Calibri"/>
                          <a:cs typeface="Times New Roman"/>
                        </a:rPr>
                        <a:t>&lt;tilanteet joissa on tarpeen tarkastella samaa asiaa&gt;</a:t>
                      </a:r>
                      <a:endParaRPr lang="en-US"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002664">
                <a:tc>
                  <a:txBody>
                    <a:bodyPr/>
                    <a:lstStyle/>
                    <a:p>
                      <a:pPr>
                        <a:lnSpc>
                          <a:spcPct val="115000"/>
                        </a:lnSpc>
                        <a:spcAft>
                          <a:spcPts val="0"/>
                        </a:spcAft>
                      </a:pPr>
                      <a:r>
                        <a:rPr lang="fi-FI" sz="1800" dirty="0">
                          <a:latin typeface="Calibri"/>
                          <a:ea typeface="Calibri"/>
                          <a:cs typeface="Times New Roman"/>
                        </a:rPr>
                        <a:t>Tarkempi testiohje tarkistuksineen</a:t>
                      </a:r>
                      <a:endParaRPr lang="en-US"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a:lnSpc>
                          <a:spcPct val="115000"/>
                        </a:lnSpc>
                        <a:spcAft>
                          <a:spcPts val="0"/>
                        </a:spcAft>
                      </a:pPr>
                      <a:r>
                        <a:rPr lang="fi-FI" sz="1800" dirty="0">
                          <a:latin typeface="Calibri"/>
                          <a:ea typeface="Calibri"/>
                          <a:cs typeface="Times New Roman"/>
                        </a:rPr>
                        <a:t>&lt;tarkastuslista katettavista huolenaiheista&gt;</a:t>
                      </a:r>
                      <a:endParaRPr lang="en-US" sz="1400" dirty="0">
                        <a:latin typeface="Calibri"/>
                        <a:ea typeface="Calibri"/>
                        <a:cs typeface="Times New Roman"/>
                      </a:endParaRPr>
                    </a:p>
                    <a:p>
                      <a:pPr>
                        <a:lnSpc>
                          <a:spcPct val="115000"/>
                        </a:lnSpc>
                        <a:spcAft>
                          <a:spcPts val="0"/>
                        </a:spcAft>
                      </a:pPr>
                      <a:r>
                        <a:rPr lang="fi-FI" sz="1800" dirty="0">
                          <a:latin typeface="Calibri"/>
                          <a:ea typeface="Calibri"/>
                          <a:cs typeface="Times New Roman"/>
                        </a:rPr>
                        <a:t>&lt;miten kunkin huolenaiheen osalta voidaan varmistua että huolenaiheen osalta ei ole huomioita&gt;</a:t>
                      </a:r>
                      <a:endParaRPr lang="en-US"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xmlns:p14="http://schemas.microsoft.com/office/powerpoint/2010/main" id="1" dur="indefinite" restart="never" nodeType="tmRoot"/>
      </p:par>
    </p:tn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0"/>
            <a:r>
              <a:rPr lang="fi-FI" sz="3200" dirty="0" smtClean="0"/>
              <a:t>Sovellusalueosaamisen ja liiketoimintaprosessin osaamisen käyttö hyväksymistestauksessa</a:t>
            </a:r>
            <a:endParaRPr lang="fi-FI" sz="3200" dirty="0"/>
          </a:p>
        </p:txBody>
      </p:sp>
      <p:sp>
        <p:nvSpPr>
          <p:cNvPr id="5" name="Content Placeholder 4"/>
          <p:cNvSpPr>
            <a:spLocks noGrp="1"/>
          </p:cNvSpPr>
          <p:nvPr>
            <p:ph idx="1"/>
          </p:nvPr>
        </p:nvSpPr>
        <p:spPr/>
        <p:txBody>
          <a:bodyPr>
            <a:normAutofit fontScale="92500" lnSpcReduction="10000"/>
          </a:bodyPr>
          <a:lstStyle/>
          <a:p>
            <a:r>
              <a:rPr lang="fi-FI" dirty="0" smtClean="0"/>
              <a:t>Sovellusalueosaajan testauksenaikaisen tukilistan tarve vaihtelee</a:t>
            </a:r>
          </a:p>
          <a:p>
            <a:pPr lvl="1"/>
            <a:r>
              <a:rPr lang="fi-FI" dirty="0" smtClean="0"/>
              <a:t>Usein otsikko riittää muistuttamaan</a:t>
            </a:r>
          </a:p>
          <a:p>
            <a:pPr lvl="1"/>
            <a:r>
              <a:rPr lang="fi-FI" dirty="0" smtClean="0"/>
              <a:t>Huolenaiheena kiireen keskeltä nimetyt testaajat, joilla intressinä nopea paluu normaalitöihin</a:t>
            </a:r>
          </a:p>
          <a:p>
            <a:r>
              <a:rPr lang="fi-FI" dirty="0" smtClean="0"/>
              <a:t>Dokumentaatio tehdään palvelemaan projektin sekä ylläpidon tarpeita</a:t>
            </a:r>
          </a:p>
          <a:p>
            <a:r>
              <a:rPr lang="fi-FI" dirty="0" smtClean="0"/>
              <a:t>Dokumentaation ulkopuolelta saa ja pitää testata: tavoitteena ymmärtää järjestelmää tuotantokäytön kannalta</a:t>
            </a:r>
            <a:endParaRPr lang="fi-FI"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225</a:t>
            </a:fld>
            <a:endParaRPr lang="fi-FI"/>
          </a:p>
        </p:txBody>
      </p:sp>
    </p:spTree>
  </p:cSld>
  <p:clrMapOvr>
    <a:masterClrMapping/>
  </p:clrMapOvr>
  <p:timing>
    <p:tnLst>
      <p:par>
        <p:cTn xmlns:p14="http://schemas.microsoft.com/office/powerpoint/2010/main" id="1" dur="indefinite" restart="never" nodeType="tmRoot"/>
      </p:par>
    </p:tn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Yksityiskohtaisten</a:t>
            </a:r>
            <a:r>
              <a:rPr lang="en-GB" dirty="0" smtClean="0"/>
              <a:t> </a:t>
            </a:r>
            <a:r>
              <a:rPr lang="en-GB" dirty="0" err="1" smtClean="0"/>
              <a:t>ohjeiden</a:t>
            </a:r>
            <a:r>
              <a:rPr lang="en-GB" dirty="0" smtClean="0"/>
              <a:t> </a:t>
            </a:r>
            <a:r>
              <a:rPr lang="en-GB" dirty="0" err="1" smtClean="0"/>
              <a:t>tarve</a:t>
            </a:r>
            <a:r>
              <a:rPr lang="en-GB" dirty="0" smtClean="0"/>
              <a:t>?</a:t>
            </a:r>
            <a:endParaRPr lang="fi-FI" dirty="0"/>
          </a:p>
        </p:txBody>
      </p:sp>
      <p:sp>
        <p:nvSpPr>
          <p:cNvPr id="3" name="Content Placeholder 2"/>
          <p:cNvSpPr>
            <a:spLocks noGrp="1"/>
          </p:cNvSpPr>
          <p:nvPr>
            <p:ph idx="1"/>
          </p:nvPr>
        </p:nvSpPr>
        <p:spPr/>
        <p:txBody>
          <a:bodyPr>
            <a:normAutofit fontScale="62500" lnSpcReduction="20000"/>
          </a:bodyPr>
          <a:lstStyle/>
          <a:p>
            <a:r>
              <a:rPr lang="fi-FI" dirty="0" smtClean="0"/>
              <a:t>Onko oikea toiminnallisuus kuvattu testien ulkopuolella?</a:t>
            </a:r>
          </a:p>
          <a:p>
            <a:pPr lvl="1"/>
            <a:r>
              <a:rPr lang="fi-FI" dirty="0" smtClean="0"/>
              <a:t>Toteutuspuolen toiminnallisuus- ja arkkitehtuurimäärittelyt</a:t>
            </a:r>
          </a:p>
          <a:p>
            <a:pPr lvl="1"/>
            <a:r>
              <a:rPr lang="fi-FI" dirty="0" smtClean="0"/>
              <a:t>Kuinka tehdään –ohjeet</a:t>
            </a:r>
          </a:p>
          <a:p>
            <a:r>
              <a:rPr lang="fi-FI" dirty="0" smtClean="0"/>
              <a:t>Odotus testauksen tekijöiden taidoille</a:t>
            </a:r>
          </a:p>
          <a:p>
            <a:pPr lvl="1"/>
            <a:r>
              <a:rPr lang="fi-FI" dirty="0" smtClean="0"/>
              <a:t>Satunnainen poikkeaminen testaustehtäviin, ei aikaa ajatella - “Vain yksi dokumentti testaajalle” </a:t>
            </a:r>
          </a:p>
          <a:p>
            <a:pPr lvl="1"/>
            <a:r>
              <a:rPr lang="fi-FI" dirty="0" smtClean="0"/>
              <a:t>Testaajalta odotetaan pohdintaa ja laajennoksia</a:t>
            </a:r>
          </a:p>
          <a:p>
            <a:r>
              <a:rPr lang="fi-FI" dirty="0" smtClean="0"/>
              <a:t>Dokumentaation omistajuus ja ylläpidon huomiointi</a:t>
            </a:r>
          </a:p>
          <a:p>
            <a:pPr lvl="1"/>
            <a:r>
              <a:rPr lang="fi-FI" dirty="0" smtClean="0"/>
              <a:t>Testaus etenkin kaipaa dokumentaatiota ylläpitovaiheeseen</a:t>
            </a:r>
          </a:p>
          <a:p>
            <a:pPr lvl="1"/>
            <a:r>
              <a:rPr lang="fi-FI" dirty="0" smtClean="0"/>
              <a:t>Voiko olettaa että kenenkään muun ylläpitämä dokumentaatio </a:t>
            </a:r>
            <a:br>
              <a:rPr lang="fi-FI" dirty="0" smtClean="0"/>
            </a:br>
            <a:r>
              <a:rPr lang="fi-FI" dirty="0" smtClean="0"/>
              <a:t>palvelee testauksen tarkoituksia?</a:t>
            </a:r>
          </a:p>
          <a:p>
            <a:r>
              <a:rPr lang="fi-FI" dirty="0" smtClean="0"/>
              <a:t>Suojautumisen tarve</a:t>
            </a:r>
          </a:p>
          <a:p>
            <a:pPr lvl="1"/>
            <a:r>
              <a:rPr lang="fi-FI" dirty="0" smtClean="0"/>
              <a:t>Tiukan aikataulun tiukat prioriteetit ja niiden seuraukset usein </a:t>
            </a:r>
            <a:br>
              <a:rPr lang="fi-FI" dirty="0" smtClean="0"/>
            </a:br>
            <a:r>
              <a:rPr lang="fi-FI" dirty="0" smtClean="0"/>
              <a:t>vaikea ymmärtää etukäteen</a:t>
            </a:r>
          </a:p>
          <a:p>
            <a:pPr lvl="1"/>
            <a:r>
              <a:rPr lang="fi-FI" dirty="0" smtClean="0"/>
              <a:t>Oman ja asiakasorganisaation kulttuuri vaikuttaa merkittävästi</a:t>
            </a:r>
            <a:endParaRPr lang="fi-FI" dirty="0"/>
          </a:p>
        </p:txBody>
      </p:sp>
      <p:pic>
        <p:nvPicPr>
          <p:cNvPr id="4" name="Picture 4"/>
          <p:cNvPicPr>
            <a:picLocks noChangeAspect="1" noChangeArrowheads="1"/>
          </p:cNvPicPr>
          <p:nvPr/>
        </p:nvPicPr>
        <p:blipFill>
          <a:blip r:embed="rId3" cstate="print"/>
          <a:srcRect/>
          <a:stretch>
            <a:fillRect/>
          </a:stretch>
        </p:blipFill>
        <p:spPr bwMode="auto">
          <a:xfrm>
            <a:off x="7446963" y="3962400"/>
            <a:ext cx="1620837" cy="2438400"/>
          </a:xfrm>
          <a:prstGeom prst="rect">
            <a:avLst/>
          </a:prstGeom>
          <a:noFill/>
          <a:ln w="12700">
            <a:noFill/>
            <a:miter lim="800000"/>
            <a:headEnd/>
            <a:tailEnd/>
          </a:ln>
          <a:effectLst/>
        </p:spPr>
      </p:pic>
      <p:sp>
        <p:nvSpPr>
          <p:cNvPr id="5" name="Slide Number Placeholder 4"/>
          <p:cNvSpPr>
            <a:spLocks noGrp="1"/>
          </p:cNvSpPr>
          <p:nvPr>
            <p:ph type="sldNum" sz="quarter" idx="12"/>
          </p:nvPr>
        </p:nvSpPr>
        <p:spPr/>
        <p:txBody>
          <a:bodyPr/>
          <a:lstStyle/>
          <a:p>
            <a:fld id="{B6F15528-21DE-4FAA-801E-634DDDAF4B2B}" type="slidenum">
              <a:rPr lang="en-US" smtClean="0"/>
              <a:pPr/>
              <a:t>226</a:t>
            </a:fld>
            <a:endParaRPr lang="en-US"/>
          </a:p>
        </p:txBody>
      </p:sp>
    </p:spTree>
  </p:cSld>
  <p:clrMapOvr>
    <a:masterClrMapping/>
  </p:clrMapOvr>
  <p:timing>
    <p:tnLst>
      <p:par>
        <p:cTn xmlns:p14="http://schemas.microsoft.com/office/powerpoint/2010/main" id="1" dur="indefinite" restart="never" nodeType="tmRoot"/>
      </p:par>
    </p:tn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Testitapausten toistettavuudesta</a:t>
            </a:r>
            <a:endParaRPr lang="fi-FI" dirty="0"/>
          </a:p>
        </p:txBody>
      </p:sp>
      <p:sp>
        <p:nvSpPr>
          <p:cNvPr id="3" name="Content Placeholder 2"/>
          <p:cNvSpPr>
            <a:spLocks noGrp="1"/>
          </p:cNvSpPr>
          <p:nvPr>
            <p:ph idx="1"/>
          </p:nvPr>
        </p:nvSpPr>
        <p:spPr/>
        <p:txBody>
          <a:bodyPr>
            <a:normAutofit fontScale="85000" lnSpcReduction="10000"/>
          </a:bodyPr>
          <a:lstStyle/>
          <a:p>
            <a:r>
              <a:rPr lang="fi-FI" dirty="0" smtClean="0"/>
              <a:t>Testitapauksen suunnitteluun kuuluu merkittävästi työtä</a:t>
            </a:r>
          </a:p>
          <a:p>
            <a:r>
              <a:rPr lang="fi-FI" dirty="0" smtClean="0"/>
              <a:t>Työtä tehdessä kannattaa jo huomioida että samoihin asioihin palataan testauksessa useaan kertaan</a:t>
            </a:r>
          </a:p>
          <a:p>
            <a:pPr lvl="1"/>
            <a:r>
              <a:rPr lang="fi-FI" dirty="0" smtClean="0"/>
              <a:t>Virhekorjausten ja muutosten jälkeen tarpeen varmistua toiminnallisuudesta</a:t>
            </a:r>
          </a:p>
          <a:p>
            <a:pPr lvl="1"/>
            <a:r>
              <a:rPr lang="fi-FI" dirty="0" smtClean="0"/>
              <a:t>Eri toimituserät ja jatkokehitystarpeet tuovat muutoksia</a:t>
            </a:r>
          </a:p>
          <a:p>
            <a:r>
              <a:rPr lang="fi-FI" dirty="0" smtClean="0"/>
              <a:t>Oikean </a:t>
            </a:r>
            <a:r>
              <a:rPr lang="fi-FI" i="1" dirty="0" smtClean="0"/>
              <a:t>toistettavuuden</a:t>
            </a:r>
            <a:r>
              <a:rPr lang="fi-FI" dirty="0" smtClean="0"/>
              <a:t> saavuttamiseksi mietittävä ennen kaikkea testin tarkoitusta</a:t>
            </a:r>
          </a:p>
          <a:p>
            <a:pPr lvl="1"/>
            <a:r>
              <a:rPr lang="fi-FI" dirty="0" smtClean="0"/>
              <a:t>Toistettavuus ei ole yksityiskohdissa, vaan testin olemassaolon syyssä</a:t>
            </a:r>
            <a:endParaRPr lang="fi-FI" dirty="0"/>
          </a:p>
        </p:txBody>
      </p:sp>
      <p:sp>
        <p:nvSpPr>
          <p:cNvPr id="4" name="Slide Number Placeholder 3"/>
          <p:cNvSpPr>
            <a:spLocks noGrp="1"/>
          </p:cNvSpPr>
          <p:nvPr>
            <p:ph type="sldNum" sz="quarter" idx="12"/>
          </p:nvPr>
        </p:nvSpPr>
        <p:spPr/>
        <p:txBody>
          <a:bodyPr/>
          <a:lstStyle/>
          <a:p>
            <a:fld id="{14372D0E-141A-410E-BF05-6D084166F67B}" type="slidenum">
              <a:rPr lang="fi-FI" smtClean="0"/>
              <a:pPr/>
              <a:t>227</a:t>
            </a:fld>
            <a:endParaRPr lang="fi-FI"/>
          </a:p>
        </p:txBody>
      </p:sp>
    </p:spTree>
  </p:cSld>
  <p:clrMapOvr>
    <a:masterClrMapping/>
  </p:clrMapOvr>
  <p:timing>
    <p:tnLst>
      <p:par>
        <p:cTn xmlns:p14="http://schemas.microsoft.com/office/powerpoint/2010/main" id="1" dur="indefinite" restart="never" nodeType="tmRoot"/>
      </p:par>
    </p:tn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381000" y="304800"/>
          <a:ext cx="8534400" cy="6309360"/>
        </p:xfrm>
        <a:graphic>
          <a:graphicData uri="http://schemas.openxmlformats.org/drawingml/2006/table">
            <a:tbl>
              <a:tblPr/>
              <a:tblGrid>
                <a:gridCol w="8534400"/>
              </a:tblGrid>
              <a:tr h="0">
                <a:tc>
                  <a:txBody>
                    <a:bodyPr/>
                    <a:lstStyle/>
                    <a:p>
                      <a:pPr algn="ctr">
                        <a:lnSpc>
                          <a:spcPct val="115000"/>
                        </a:lnSpc>
                        <a:spcAft>
                          <a:spcPts val="0"/>
                        </a:spcAft>
                      </a:pPr>
                      <a:r>
                        <a:rPr lang="fi-FI" sz="2400" b="1" dirty="0" smtClean="0">
                          <a:solidFill>
                            <a:srgbClr val="943634"/>
                          </a:solidFill>
                          <a:latin typeface="Calibri"/>
                          <a:ea typeface="Calibri"/>
                          <a:cs typeface="Times New Roman"/>
                        </a:rPr>
                        <a:t>ERÄS ESIMERKKI HUONEENTAULU </a:t>
                      </a:r>
                      <a:r>
                        <a:rPr lang="fi-FI" sz="2400" b="1" dirty="0">
                          <a:solidFill>
                            <a:srgbClr val="943634"/>
                          </a:solidFill>
                          <a:latin typeface="Calibri"/>
                          <a:ea typeface="Calibri"/>
                          <a:cs typeface="Times New Roman"/>
                        </a:rPr>
                        <a:t>– TESTITAPAUSTEN SUUNNITTELUN YHTEISET SÄÄNNÖT</a:t>
                      </a:r>
                      <a:endParaRPr lang="en-US" sz="2400" dirty="0">
                        <a:solidFill>
                          <a:srgbClr val="943634"/>
                        </a:solidFill>
                        <a:latin typeface="Calibri"/>
                        <a:ea typeface="Calibri"/>
                        <a:cs typeface="Times New Roman"/>
                      </a:endParaRPr>
                    </a:p>
                    <a:p>
                      <a:pPr marL="342900" lvl="0" indent="-342900">
                        <a:lnSpc>
                          <a:spcPct val="115000"/>
                        </a:lnSpc>
                        <a:spcAft>
                          <a:spcPts val="0"/>
                        </a:spcAft>
                        <a:buFont typeface="Symbol"/>
                        <a:buChar char=""/>
                      </a:pPr>
                      <a:r>
                        <a:rPr lang="fi-FI" sz="2400" b="1" dirty="0">
                          <a:solidFill>
                            <a:srgbClr val="943634"/>
                          </a:solidFill>
                          <a:latin typeface="Calibri"/>
                          <a:ea typeface="Calibri"/>
                          <a:cs typeface="Times New Roman"/>
                        </a:rPr>
                        <a:t>Kirjoitamme testitapauksemme hyvällä suomenkielellä lyhenteet aukikirjoittaen</a:t>
                      </a:r>
                      <a:endParaRPr lang="en-US" sz="2400" dirty="0">
                        <a:solidFill>
                          <a:srgbClr val="943634"/>
                        </a:solidFill>
                        <a:latin typeface="Calibri"/>
                        <a:ea typeface="Calibri"/>
                        <a:cs typeface="Times New Roman"/>
                      </a:endParaRPr>
                    </a:p>
                    <a:p>
                      <a:pPr marL="342900" lvl="0" indent="-342900">
                        <a:lnSpc>
                          <a:spcPct val="115000"/>
                        </a:lnSpc>
                        <a:spcAft>
                          <a:spcPts val="0"/>
                        </a:spcAft>
                        <a:buFont typeface="Symbol"/>
                        <a:buChar char=""/>
                      </a:pPr>
                      <a:r>
                        <a:rPr lang="fi-FI" sz="2400" b="1" dirty="0">
                          <a:solidFill>
                            <a:srgbClr val="943634"/>
                          </a:solidFill>
                          <a:latin typeface="Calibri"/>
                          <a:ea typeface="Calibri"/>
                          <a:cs typeface="Times New Roman"/>
                        </a:rPr>
                        <a:t>Testitapauksemme kuvaavat käyttötilanteita joilla on alku ja loppu. Toistamisen eroin hoidamme luomalla useita testitapauksia. </a:t>
                      </a:r>
                      <a:endParaRPr lang="en-US" sz="2400" dirty="0">
                        <a:solidFill>
                          <a:srgbClr val="943634"/>
                        </a:solidFill>
                        <a:latin typeface="Calibri"/>
                        <a:ea typeface="Calibri"/>
                        <a:cs typeface="Times New Roman"/>
                      </a:endParaRPr>
                    </a:p>
                    <a:p>
                      <a:pPr marL="342900" lvl="0" indent="-342900">
                        <a:lnSpc>
                          <a:spcPct val="115000"/>
                        </a:lnSpc>
                        <a:spcAft>
                          <a:spcPts val="0"/>
                        </a:spcAft>
                        <a:buFont typeface="Symbol"/>
                        <a:buChar char=""/>
                      </a:pPr>
                      <a:r>
                        <a:rPr lang="fi-FI" sz="2400" b="1" dirty="0">
                          <a:solidFill>
                            <a:srgbClr val="943634"/>
                          </a:solidFill>
                          <a:latin typeface="Calibri"/>
                          <a:ea typeface="Calibri"/>
                          <a:cs typeface="Times New Roman"/>
                        </a:rPr>
                        <a:t>Testitapauksemme on suunnattu opettamaan uusille testaukseen mukaan tuleville ohjelmiston käyttöä ja rajauksia irrallaan vaatimusmäärittelyistä.</a:t>
                      </a:r>
                      <a:endParaRPr lang="en-US" sz="2400" dirty="0">
                        <a:solidFill>
                          <a:srgbClr val="943634"/>
                        </a:solidFill>
                        <a:latin typeface="Calibri"/>
                        <a:ea typeface="Calibri"/>
                        <a:cs typeface="Times New Roman"/>
                      </a:endParaRPr>
                    </a:p>
                    <a:p>
                      <a:pPr marL="342900" lvl="0" indent="-342900">
                        <a:lnSpc>
                          <a:spcPct val="115000"/>
                        </a:lnSpc>
                        <a:spcAft>
                          <a:spcPts val="0"/>
                        </a:spcAft>
                        <a:buFont typeface="Symbol"/>
                        <a:buChar char=""/>
                      </a:pPr>
                      <a:r>
                        <a:rPr lang="fi-FI" sz="2400" b="1" dirty="0">
                          <a:solidFill>
                            <a:srgbClr val="943634"/>
                          </a:solidFill>
                          <a:latin typeface="Calibri"/>
                          <a:ea typeface="Calibri"/>
                          <a:cs typeface="Times New Roman"/>
                        </a:rPr>
                        <a:t>Yhden testitapauksemme suorituksen tavoiteaika on puoli tuntia: ei liian pieni eikä liian suuri. </a:t>
                      </a:r>
                      <a:endParaRPr lang="en-US" sz="2400" dirty="0">
                        <a:solidFill>
                          <a:srgbClr val="943634"/>
                        </a:solidFill>
                        <a:latin typeface="Calibri"/>
                        <a:ea typeface="Calibri"/>
                        <a:cs typeface="Times New Roman"/>
                      </a:endParaRPr>
                    </a:p>
                    <a:p>
                      <a:pPr marL="342900" lvl="0" indent="-342900">
                        <a:lnSpc>
                          <a:spcPct val="115000"/>
                        </a:lnSpc>
                        <a:spcAft>
                          <a:spcPts val="0"/>
                        </a:spcAft>
                        <a:buFont typeface="Symbol"/>
                        <a:buChar char=""/>
                      </a:pPr>
                      <a:r>
                        <a:rPr lang="fi-FI" sz="2400" b="1" dirty="0">
                          <a:solidFill>
                            <a:srgbClr val="943634"/>
                          </a:solidFill>
                          <a:latin typeface="Calibri"/>
                          <a:ea typeface="Calibri"/>
                          <a:cs typeface="Times New Roman"/>
                        </a:rPr>
                        <a:t>Testitapauksiamme suunnitellessa mietimme aktiivisesti monipuolisuutta ja erilaisia käyttötilanteita ja huolehdimme vaihtoehtoisten polkujen suunnittelusta mukaan testeihimme.</a:t>
                      </a:r>
                      <a:endParaRPr lang="en-US" sz="2400" dirty="0">
                        <a:solidFill>
                          <a:srgbClr val="943634"/>
                        </a:solidFill>
                        <a:latin typeface="Calibri"/>
                        <a:ea typeface="Calibri"/>
                        <a:cs typeface="Times New Roman"/>
                      </a:endParaRPr>
                    </a:p>
                  </a:txBody>
                  <a:tcPr marL="68580" marR="68580" marT="0" marB="0">
                    <a:lnL>
                      <a:noFill/>
                    </a:lnL>
                    <a:lnR>
                      <a:noFill/>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r>
            </a:tbl>
          </a:graphicData>
        </a:graphic>
      </p:graphicFrame>
      <p:sp>
        <p:nvSpPr>
          <p:cNvPr id="3" name="Slide Number Placeholder 2"/>
          <p:cNvSpPr>
            <a:spLocks noGrp="1"/>
          </p:cNvSpPr>
          <p:nvPr>
            <p:ph type="sldNum" sz="quarter" idx="12"/>
          </p:nvPr>
        </p:nvSpPr>
        <p:spPr/>
        <p:txBody>
          <a:bodyPr/>
          <a:lstStyle/>
          <a:p>
            <a:fld id="{B6F15528-21DE-4FAA-801E-634DDDAF4B2B}" type="slidenum">
              <a:rPr lang="en-US" smtClean="0"/>
              <a:pPr/>
              <a:t>228</a:t>
            </a:fld>
            <a:endParaRPr lang="en-US"/>
          </a:p>
        </p:txBody>
      </p:sp>
    </p:spTree>
  </p:cSld>
  <p:clrMapOvr>
    <a:masterClrMapping/>
  </p:clrMapOvr>
  <p:timing>
    <p:tnLst>
      <p:par>
        <p:cTn xmlns:p14="http://schemas.microsoft.com/office/powerpoint/2010/main" id="1" dur="indefinite" restart="never" nodeType="tmRoot"/>
      </p:par>
    </p:tn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Testitapausten tavoitteita</a:t>
            </a:r>
            <a:endParaRPr lang="fi-FI" dirty="0"/>
          </a:p>
        </p:txBody>
      </p:sp>
      <p:sp>
        <p:nvSpPr>
          <p:cNvPr id="3" name="Content Placeholder 2"/>
          <p:cNvSpPr>
            <a:spLocks noGrp="1"/>
          </p:cNvSpPr>
          <p:nvPr>
            <p:ph idx="1"/>
          </p:nvPr>
        </p:nvSpPr>
        <p:spPr/>
        <p:txBody>
          <a:bodyPr>
            <a:normAutofit fontScale="92500" lnSpcReduction="20000"/>
          </a:bodyPr>
          <a:lstStyle/>
          <a:p>
            <a:r>
              <a:rPr lang="fi-FI" dirty="0" smtClean="0"/>
              <a:t>Muistaa tarkastella jotain keskeisiä huolenaiheita</a:t>
            </a:r>
          </a:p>
          <a:p>
            <a:pPr lvl="1"/>
            <a:r>
              <a:rPr lang="fi-FI" dirty="0" smtClean="0"/>
              <a:t>Perustoiminnot ketjussa toimivat (edelleen)</a:t>
            </a:r>
          </a:p>
          <a:p>
            <a:pPr lvl="1"/>
            <a:r>
              <a:rPr lang="fi-FI" dirty="0" smtClean="0"/>
              <a:t>Ei ole tilanteita jotka sallivat tekemisiä joita ei olisi tarkoitus sallia</a:t>
            </a:r>
          </a:p>
          <a:p>
            <a:pPr lvl="1"/>
            <a:r>
              <a:rPr lang="fi-FI" dirty="0" smtClean="0"/>
              <a:t>Toiminnot sallivat luonnollisen työrytmin (mielen muuttaminen ja keskeytykset, jatkaminen, korjaaminen)</a:t>
            </a:r>
          </a:p>
          <a:p>
            <a:pPr lvl="1"/>
            <a:r>
              <a:rPr lang="fi-FI" dirty="0" smtClean="0"/>
              <a:t>Saman toiminnon voi tehdä useammasta paikasta ja useammalla tavalla</a:t>
            </a:r>
          </a:p>
          <a:p>
            <a:pPr lvl="1"/>
            <a:r>
              <a:rPr lang="fi-FI" dirty="0" smtClean="0"/>
              <a:t>Tuki ja päätökset ohjelmistolta ohjaavat käyttäjäänsä oikeaan suuntaan</a:t>
            </a:r>
          </a:p>
          <a:p>
            <a:pPr lvl="1"/>
            <a:r>
              <a:rPr lang="fi-FI" dirty="0" smtClean="0"/>
              <a:t>Yleisiä periaatteita noudatetaan</a:t>
            </a:r>
          </a:p>
        </p:txBody>
      </p:sp>
      <p:sp>
        <p:nvSpPr>
          <p:cNvPr id="4" name="Slide Number Placeholder 3"/>
          <p:cNvSpPr>
            <a:spLocks noGrp="1"/>
          </p:cNvSpPr>
          <p:nvPr>
            <p:ph type="sldNum" sz="quarter" idx="12"/>
          </p:nvPr>
        </p:nvSpPr>
        <p:spPr/>
        <p:txBody>
          <a:bodyPr/>
          <a:lstStyle/>
          <a:p>
            <a:fld id="{14372D0E-141A-410E-BF05-6D084166F67B}" type="slidenum">
              <a:rPr lang="fi-FI" smtClean="0"/>
              <a:pPr/>
              <a:t>229</a:t>
            </a:fld>
            <a:endParaRPr lang="fi-FI"/>
          </a:p>
        </p:txBody>
      </p:sp>
    </p:spTree>
  </p:cSld>
  <p:clrMapOvr>
    <a:masterClrMapping/>
  </p:clrMapOvr>
  <p:timing>
    <p:tnLst>
      <p:par>
        <p:cTn xmlns:p14="http://schemas.microsoft.com/office/powerpoint/2010/main" id="1" dur="indefinite" restart="never" nodeType="tmRoot"/>
      </p:par>
    </p:tn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noAutofit/>
          </a:bodyPr>
          <a:lstStyle/>
          <a:p>
            <a:r>
              <a:rPr lang="fi-FI" dirty="0"/>
              <a:t>Täysin kattava testaus on mahdotonta</a:t>
            </a:r>
            <a:endParaRPr lang="en-US" dirty="0"/>
          </a:p>
        </p:txBody>
      </p:sp>
      <p:sp>
        <p:nvSpPr>
          <p:cNvPr id="59395" name="Rectangle 3"/>
          <p:cNvSpPr>
            <a:spLocks noGrp="1" noChangeArrowheads="1"/>
          </p:cNvSpPr>
          <p:nvPr>
            <p:ph idx="1"/>
          </p:nvPr>
        </p:nvSpPr>
        <p:spPr/>
        <p:txBody>
          <a:bodyPr>
            <a:normAutofit fontScale="92500" lnSpcReduction="20000"/>
          </a:bodyPr>
          <a:lstStyle/>
          <a:p>
            <a:r>
              <a:rPr lang="fi-FI"/>
              <a:t>Testataksesi kaiken, sinun täytyisi:</a:t>
            </a:r>
          </a:p>
          <a:p>
            <a:pPr lvl="1"/>
            <a:r>
              <a:rPr lang="fi-FI"/>
              <a:t>Testata jokaisen muuttujan jokainen mahdollinen syöte. </a:t>
            </a:r>
            <a:endParaRPr lang="fi-FI" sz="1600"/>
          </a:p>
          <a:p>
            <a:pPr lvl="1"/>
            <a:r>
              <a:rPr lang="fi-FI"/>
              <a:t>Testata jokainen mahdollinen yhdistelmä syötteitä ja muuttujia. </a:t>
            </a:r>
          </a:p>
          <a:p>
            <a:pPr lvl="1"/>
            <a:r>
              <a:rPr lang="fi-FI"/>
              <a:t>Testata jokainen mahdollinen toimintoketju ohjelman läpi. </a:t>
            </a:r>
          </a:p>
          <a:p>
            <a:pPr lvl="1"/>
            <a:r>
              <a:rPr lang="fi-FI"/>
              <a:t>Testata jokainen laitteisto/ ohjelmistokonfiguraatio, mukaanlukien palvelinkonfiguraatiot jotka eivät ole hallinnassasi. </a:t>
            </a:r>
          </a:p>
          <a:p>
            <a:pPr lvl="1"/>
            <a:r>
              <a:rPr lang="fi-FI"/>
              <a:t>Testata jokainen tapa, jolla käyttäjä saattaisi yrittää käyttää sovellusta.</a:t>
            </a:r>
          </a:p>
        </p:txBody>
      </p:sp>
      <p:sp>
        <p:nvSpPr>
          <p:cNvPr id="5" name="Slide Number Placeholder 4"/>
          <p:cNvSpPr>
            <a:spLocks noGrp="1"/>
          </p:cNvSpPr>
          <p:nvPr>
            <p:ph type="sldNum" sz="quarter" idx="12"/>
          </p:nvPr>
        </p:nvSpPr>
        <p:spPr/>
        <p:txBody>
          <a:bodyPr/>
          <a:lstStyle/>
          <a:p>
            <a:fld id="{6EC9AE22-300D-474E-8332-298EA3086E64}" type="slidenum">
              <a:rPr lang="en-US" smtClean="0"/>
              <a:pPr/>
              <a:t>230</a:t>
            </a:fld>
            <a:endParaRPr lang="en-US"/>
          </a:p>
        </p:txBody>
      </p:sp>
    </p:spTree>
  </p:cSld>
  <p:clrMapOvr>
    <a:masterClrMapping/>
  </p:clrMapOvr>
  <p:timing>
    <p:tnLst>
      <p:par>
        <p:cTn xmlns:p14="http://schemas.microsoft.com/office/powerpoint/2010/main" id="1" dur="indefinite" restart="never" nodeType="tmRoot"/>
      </p:par>
    </p:tn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Neljä kattavuusnäkökulmaa</a:t>
            </a:r>
            <a:endParaRPr lang="fi-FI" dirty="0"/>
          </a:p>
        </p:txBody>
      </p:sp>
      <p:sp>
        <p:nvSpPr>
          <p:cNvPr id="3" name="Content Placeholder 2"/>
          <p:cNvSpPr>
            <a:spLocks noGrp="1"/>
          </p:cNvSpPr>
          <p:nvPr>
            <p:ph idx="1"/>
          </p:nvPr>
        </p:nvSpPr>
        <p:spPr/>
        <p:txBody>
          <a:bodyPr>
            <a:normAutofit fontScale="77500" lnSpcReduction="20000"/>
          </a:bodyPr>
          <a:lstStyle/>
          <a:p>
            <a:r>
              <a:rPr lang="fi-FI" dirty="0" smtClean="0"/>
              <a:t>Vaatimuskattavuus</a:t>
            </a:r>
          </a:p>
          <a:p>
            <a:pPr lvl="1"/>
            <a:r>
              <a:rPr lang="fi-FI" dirty="0" smtClean="0"/>
              <a:t>Kuinka paljon kirjatuista </a:t>
            </a:r>
            <a:br>
              <a:rPr lang="fi-FI" dirty="0" smtClean="0"/>
            </a:br>
            <a:r>
              <a:rPr lang="fi-FI" dirty="0" smtClean="0"/>
              <a:t>toiveista on toteutettu </a:t>
            </a:r>
            <a:br>
              <a:rPr lang="fi-FI" dirty="0" smtClean="0"/>
            </a:br>
            <a:r>
              <a:rPr lang="fi-FI" dirty="0" smtClean="0"/>
              <a:t>käytännössä?</a:t>
            </a:r>
          </a:p>
          <a:p>
            <a:r>
              <a:rPr lang="fi-FI" dirty="0" smtClean="0"/>
              <a:t>Koodikattavuus</a:t>
            </a:r>
          </a:p>
          <a:p>
            <a:pPr lvl="1"/>
            <a:r>
              <a:rPr lang="fi-FI" dirty="0" smtClean="0"/>
              <a:t>Kuinka paljon siitä mitä on toteutettu on kokeiltu </a:t>
            </a:r>
            <a:br>
              <a:rPr lang="fi-FI" dirty="0" smtClean="0"/>
            </a:br>
            <a:r>
              <a:rPr lang="fi-FI" dirty="0" smtClean="0"/>
              <a:t>käytännössä?</a:t>
            </a:r>
          </a:p>
          <a:p>
            <a:r>
              <a:rPr lang="fi-FI" dirty="0" smtClean="0"/>
              <a:t>Riskikattavuus</a:t>
            </a:r>
          </a:p>
          <a:p>
            <a:pPr lvl="1"/>
            <a:r>
              <a:rPr lang="fi-FI" dirty="0" smtClean="0"/>
              <a:t>Tiedetäänkö kaikki tai edes tärkeimmät asiat jotka voivat mennä pieleen?</a:t>
            </a:r>
          </a:p>
          <a:p>
            <a:r>
              <a:rPr lang="fi-FI" dirty="0" smtClean="0"/>
              <a:t>Ympäristökattavuus</a:t>
            </a:r>
          </a:p>
          <a:p>
            <a:pPr lvl="1"/>
            <a:r>
              <a:rPr lang="fi-FI" dirty="0" smtClean="0"/>
              <a:t>Tiedetäänkö toimintavarmuus suhteessa ympäristön muunneltaviin tekijöihin? </a:t>
            </a:r>
          </a:p>
          <a:p>
            <a:endParaRPr lang="fi-FI" dirty="0"/>
          </a:p>
        </p:txBody>
      </p:sp>
      <p:sp>
        <p:nvSpPr>
          <p:cNvPr id="4" name="Text Box 30"/>
          <p:cNvSpPr txBox="1">
            <a:spLocks noChangeArrowheads="1"/>
          </p:cNvSpPr>
          <p:nvPr/>
        </p:nvSpPr>
        <p:spPr bwMode="auto">
          <a:xfrm>
            <a:off x="4899025" y="1447800"/>
            <a:ext cx="2017713" cy="1465263"/>
          </a:xfrm>
          <a:prstGeom prst="rect">
            <a:avLst/>
          </a:prstGeom>
          <a:noFill/>
          <a:ln w="9525">
            <a:noFill/>
            <a:miter lim="800000"/>
            <a:headEnd/>
            <a:tailEnd/>
          </a:ln>
          <a:effectLst/>
        </p:spPr>
        <p:txBody>
          <a:bodyPr>
            <a:spAutoFit/>
          </a:bodyPr>
          <a:lstStyle/>
          <a:p>
            <a:pPr algn="ctr" eaLnBrk="1" hangingPunct="1">
              <a:spcBef>
                <a:spcPct val="50000"/>
              </a:spcBef>
            </a:pPr>
            <a:r>
              <a:rPr lang="en-US">
                <a:solidFill>
                  <a:schemeClr val="hlink"/>
                </a:solidFill>
                <a:cs typeface="Arial" charset="0"/>
              </a:rPr>
              <a:t>…ja kertoaksemme jos on muuta ja millä tasolla tiedämme.</a:t>
            </a:r>
            <a:endParaRPr lang="en-GB">
              <a:solidFill>
                <a:schemeClr val="hlink"/>
              </a:solidFill>
              <a:cs typeface="Arial" charset="0"/>
            </a:endParaRPr>
          </a:p>
        </p:txBody>
      </p:sp>
      <p:grpSp>
        <p:nvGrpSpPr>
          <p:cNvPr id="5" name="Group 32"/>
          <p:cNvGrpSpPr>
            <a:grpSpLocks/>
          </p:cNvGrpSpPr>
          <p:nvPr/>
        </p:nvGrpSpPr>
        <p:grpSpPr bwMode="auto">
          <a:xfrm>
            <a:off x="6992938" y="1660525"/>
            <a:ext cx="1392237" cy="533400"/>
            <a:chOff x="768" y="2976"/>
            <a:chExt cx="816" cy="528"/>
          </a:xfrm>
        </p:grpSpPr>
        <p:sp>
          <p:nvSpPr>
            <p:cNvPr id="6" name="Rectangle 33"/>
            <p:cNvSpPr>
              <a:spLocks noChangeArrowheads="1"/>
            </p:cNvSpPr>
            <p:nvPr/>
          </p:nvSpPr>
          <p:spPr bwMode="auto">
            <a:xfrm>
              <a:off x="1344" y="2976"/>
              <a:ext cx="240" cy="96"/>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7" name="Line 34"/>
            <p:cNvSpPr>
              <a:spLocks noChangeShapeType="1"/>
            </p:cNvSpPr>
            <p:nvPr/>
          </p:nvSpPr>
          <p:spPr bwMode="auto">
            <a:xfrm>
              <a:off x="768" y="3024"/>
              <a:ext cx="576" cy="0"/>
            </a:xfrm>
            <a:prstGeom prst="line">
              <a:avLst/>
            </a:prstGeom>
            <a:noFill/>
            <a:ln w="12700">
              <a:solidFill>
                <a:schemeClr val="tx1"/>
              </a:solidFill>
              <a:round/>
              <a:headEnd/>
              <a:tailEnd/>
            </a:ln>
            <a:effectLst/>
          </p:spPr>
          <p:txBody>
            <a:bodyPr/>
            <a:lstStyle/>
            <a:p>
              <a:endParaRPr lang="en-US"/>
            </a:p>
          </p:txBody>
        </p:sp>
        <p:sp>
          <p:nvSpPr>
            <p:cNvPr id="8" name="Rectangle 35"/>
            <p:cNvSpPr>
              <a:spLocks noChangeArrowheads="1"/>
            </p:cNvSpPr>
            <p:nvPr/>
          </p:nvSpPr>
          <p:spPr bwMode="auto">
            <a:xfrm>
              <a:off x="1344" y="3120"/>
              <a:ext cx="240" cy="96"/>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9" name="Line 36"/>
            <p:cNvSpPr>
              <a:spLocks noChangeShapeType="1"/>
            </p:cNvSpPr>
            <p:nvPr/>
          </p:nvSpPr>
          <p:spPr bwMode="auto">
            <a:xfrm>
              <a:off x="960" y="3168"/>
              <a:ext cx="384" cy="0"/>
            </a:xfrm>
            <a:prstGeom prst="line">
              <a:avLst/>
            </a:prstGeom>
            <a:noFill/>
            <a:ln w="12700">
              <a:solidFill>
                <a:schemeClr val="tx1"/>
              </a:solidFill>
              <a:round/>
              <a:headEnd/>
              <a:tailEnd/>
            </a:ln>
            <a:effectLst/>
          </p:spPr>
          <p:txBody>
            <a:bodyPr/>
            <a:lstStyle/>
            <a:p>
              <a:endParaRPr lang="en-US"/>
            </a:p>
          </p:txBody>
        </p:sp>
        <p:sp>
          <p:nvSpPr>
            <p:cNvPr id="10" name="Rectangle 37"/>
            <p:cNvSpPr>
              <a:spLocks noChangeArrowheads="1"/>
            </p:cNvSpPr>
            <p:nvPr/>
          </p:nvSpPr>
          <p:spPr bwMode="auto">
            <a:xfrm>
              <a:off x="1344" y="3264"/>
              <a:ext cx="240" cy="96"/>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1" name="Line 38"/>
            <p:cNvSpPr>
              <a:spLocks noChangeShapeType="1"/>
            </p:cNvSpPr>
            <p:nvPr/>
          </p:nvSpPr>
          <p:spPr bwMode="auto">
            <a:xfrm>
              <a:off x="960" y="3312"/>
              <a:ext cx="384" cy="0"/>
            </a:xfrm>
            <a:prstGeom prst="line">
              <a:avLst/>
            </a:prstGeom>
            <a:noFill/>
            <a:ln w="12700">
              <a:solidFill>
                <a:schemeClr val="tx1"/>
              </a:solidFill>
              <a:round/>
              <a:headEnd/>
              <a:tailEnd/>
            </a:ln>
            <a:effectLst/>
          </p:spPr>
          <p:txBody>
            <a:bodyPr/>
            <a:lstStyle/>
            <a:p>
              <a:endParaRPr lang="en-US"/>
            </a:p>
          </p:txBody>
        </p:sp>
        <p:sp>
          <p:nvSpPr>
            <p:cNvPr id="12" name="Rectangle 39"/>
            <p:cNvSpPr>
              <a:spLocks noChangeArrowheads="1"/>
            </p:cNvSpPr>
            <p:nvPr/>
          </p:nvSpPr>
          <p:spPr bwMode="auto">
            <a:xfrm>
              <a:off x="1344" y="3408"/>
              <a:ext cx="240" cy="96"/>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3" name="Line 40"/>
            <p:cNvSpPr>
              <a:spLocks noChangeShapeType="1"/>
            </p:cNvSpPr>
            <p:nvPr/>
          </p:nvSpPr>
          <p:spPr bwMode="auto">
            <a:xfrm>
              <a:off x="864" y="3456"/>
              <a:ext cx="480" cy="0"/>
            </a:xfrm>
            <a:prstGeom prst="line">
              <a:avLst/>
            </a:prstGeom>
            <a:noFill/>
            <a:ln w="12700">
              <a:solidFill>
                <a:schemeClr val="tx1"/>
              </a:solidFill>
              <a:round/>
              <a:headEnd/>
              <a:tailEnd/>
            </a:ln>
            <a:effectLst/>
          </p:spPr>
          <p:txBody>
            <a:bodyPr/>
            <a:lstStyle/>
            <a:p>
              <a:endParaRPr lang="en-US"/>
            </a:p>
          </p:txBody>
        </p:sp>
        <p:sp>
          <p:nvSpPr>
            <p:cNvPr id="14" name="Line 41"/>
            <p:cNvSpPr>
              <a:spLocks noChangeShapeType="1"/>
            </p:cNvSpPr>
            <p:nvPr/>
          </p:nvSpPr>
          <p:spPr bwMode="auto">
            <a:xfrm flipV="1">
              <a:off x="864" y="3024"/>
              <a:ext cx="0" cy="432"/>
            </a:xfrm>
            <a:prstGeom prst="line">
              <a:avLst/>
            </a:prstGeom>
            <a:noFill/>
            <a:ln w="12700">
              <a:solidFill>
                <a:schemeClr val="tx1"/>
              </a:solidFill>
              <a:round/>
              <a:headEnd/>
              <a:tailEnd/>
            </a:ln>
            <a:effectLst/>
          </p:spPr>
          <p:txBody>
            <a:bodyPr/>
            <a:lstStyle/>
            <a:p>
              <a:endParaRPr lang="en-US"/>
            </a:p>
          </p:txBody>
        </p:sp>
        <p:sp>
          <p:nvSpPr>
            <p:cNvPr id="15" name="Line 42"/>
            <p:cNvSpPr>
              <a:spLocks noChangeShapeType="1"/>
            </p:cNvSpPr>
            <p:nvPr/>
          </p:nvSpPr>
          <p:spPr bwMode="auto">
            <a:xfrm flipV="1">
              <a:off x="960" y="3024"/>
              <a:ext cx="0" cy="288"/>
            </a:xfrm>
            <a:prstGeom prst="line">
              <a:avLst/>
            </a:prstGeom>
            <a:noFill/>
            <a:ln w="12700">
              <a:solidFill>
                <a:schemeClr val="tx1"/>
              </a:solidFill>
              <a:round/>
              <a:headEnd/>
              <a:tailEnd/>
            </a:ln>
            <a:effectLst/>
          </p:spPr>
          <p:txBody>
            <a:bodyPr/>
            <a:lstStyle/>
            <a:p>
              <a:endParaRPr lang="en-US"/>
            </a:p>
          </p:txBody>
        </p:sp>
      </p:grpSp>
      <p:sp>
        <p:nvSpPr>
          <p:cNvPr id="16" name="Text Box 43"/>
          <p:cNvSpPr txBox="1">
            <a:spLocks noChangeArrowheads="1"/>
          </p:cNvSpPr>
          <p:nvPr/>
        </p:nvSpPr>
        <p:spPr bwMode="auto">
          <a:xfrm>
            <a:off x="6764338" y="2193925"/>
            <a:ext cx="2151062" cy="1262063"/>
          </a:xfrm>
          <a:prstGeom prst="rect">
            <a:avLst/>
          </a:prstGeom>
          <a:noFill/>
          <a:ln w="9525">
            <a:noFill/>
            <a:miter lim="800000"/>
            <a:headEnd/>
            <a:tailEnd/>
          </a:ln>
          <a:effectLst/>
        </p:spPr>
        <p:txBody>
          <a:bodyPr>
            <a:spAutoFit/>
          </a:bodyPr>
          <a:lstStyle/>
          <a:p>
            <a:pPr algn="ctr" eaLnBrk="1" hangingPunct="1">
              <a:spcBef>
                <a:spcPct val="50000"/>
              </a:spcBef>
            </a:pPr>
            <a:r>
              <a:rPr lang="fi-FI" sz="1400" dirty="0">
                <a:cs typeface="Arial" charset="0"/>
              </a:rPr>
              <a:t>Kattavuus</a:t>
            </a:r>
            <a:endParaRPr lang="en-US" sz="1400" dirty="0">
              <a:cs typeface="Arial" charset="0"/>
            </a:endParaRPr>
          </a:p>
          <a:p>
            <a:pPr algn="ctr" eaLnBrk="1" hangingPunct="1">
              <a:spcBef>
                <a:spcPct val="50000"/>
              </a:spcBef>
            </a:pPr>
            <a:r>
              <a:rPr lang="en-US" sz="1400" dirty="0">
                <a:cs typeface="Arial" charset="0"/>
              </a:rPr>
              <a:t>VAATIMUKSET</a:t>
            </a:r>
            <a:br>
              <a:rPr lang="en-US" sz="1400" dirty="0">
                <a:cs typeface="Arial" charset="0"/>
              </a:rPr>
            </a:br>
            <a:r>
              <a:rPr lang="en-US" sz="1400" dirty="0">
                <a:cs typeface="Arial" charset="0"/>
              </a:rPr>
              <a:t>RISKIT</a:t>
            </a:r>
            <a:br>
              <a:rPr lang="en-US" sz="1400" dirty="0">
                <a:cs typeface="Arial" charset="0"/>
              </a:rPr>
            </a:br>
            <a:r>
              <a:rPr lang="en-US" sz="1400" dirty="0">
                <a:cs typeface="Arial" charset="0"/>
              </a:rPr>
              <a:t>KOODI</a:t>
            </a:r>
            <a:br>
              <a:rPr lang="en-US" sz="1400" dirty="0">
                <a:cs typeface="Arial" charset="0"/>
              </a:rPr>
            </a:br>
            <a:r>
              <a:rPr lang="en-US" sz="1400" dirty="0">
                <a:cs typeface="Arial" charset="0"/>
              </a:rPr>
              <a:t>YMPÄRISTÖT</a:t>
            </a:r>
            <a:endParaRPr lang="en-GB" sz="1400" dirty="0">
              <a:cs typeface="Arial" charset="0"/>
            </a:endParaRPr>
          </a:p>
        </p:txBody>
      </p:sp>
      <p:sp>
        <p:nvSpPr>
          <p:cNvPr id="17" name="Slide Number Placeholder 16"/>
          <p:cNvSpPr>
            <a:spLocks noGrp="1"/>
          </p:cNvSpPr>
          <p:nvPr>
            <p:ph type="sldNum" sz="quarter" idx="12"/>
          </p:nvPr>
        </p:nvSpPr>
        <p:spPr/>
        <p:txBody>
          <a:bodyPr/>
          <a:lstStyle/>
          <a:p>
            <a:fld id="{7A750B4A-325E-4AA4-BC07-A8C35B32A4F3}" type="slidenum">
              <a:rPr lang="fi-FI" smtClean="0"/>
              <a:pPr/>
              <a:t>231</a:t>
            </a:fld>
            <a:endParaRPr lang="fi-FI"/>
          </a:p>
        </p:txBody>
      </p:sp>
    </p:spTree>
  </p:cSld>
  <p:clrMapOvr>
    <a:masterClrMapping/>
  </p:clrMapOvr>
  <p:timing>
    <p:tnLst>
      <p:par>
        <p:cTn xmlns:p14="http://schemas.microsoft.com/office/powerpoint/2010/main" id="1" dur="indefinite" restart="never" nodeType="tmRoot"/>
      </p:par>
    </p:tn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r>
              <a:rPr lang="fi-FI"/>
              <a:t>Testauksen optimointi</a:t>
            </a:r>
            <a:endParaRPr lang="en-US"/>
          </a:p>
        </p:txBody>
      </p:sp>
      <p:sp>
        <p:nvSpPr>
          <p:cNvPr id="79876" name="Rectangle 4"/>
          <p:cNvSpPr>
            <a:spLocks noChangeArrowheads="1"/>
          </p:cNvSpPr>
          <p:nvPr/>
        </p:nvSpPr>
        <p:spPr bwMode="auto">
          <a:xfrm>
            <a:off x="611188" y="3065462"/>
            <a:ext cx="6769100" cy="863600"/>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anchor="ctr"/>
          <a:lstStyle/>
          <a:p>
            <a:pPr algn="ctr"/>
            <a:r>
              <a:rPr lang="fi-FI" sz="2000" b="1"/>
              <a:t>Käyttäjän näkökulma</a:t>
            </a:r>
            <a:r>
              <a:rPr lang="fi-FI"/>
              <a:t>: mitä kaikkea järjestelmällä / sovelluksella / komponentilla voidaankaan tehdä?</a:t>
            </a:r>
            <a:endParaRPr lang="en-US"/>
          </a:p>
        </p:txBody>
      </p:sp>
      <p:sp>
        <p:nvSpPr>
          <p:cNvPr id="79877" name="Rectangle 5"/>
          <p:cNvSpPr>
            <a:spLocks noChangeArrowheads="1"/>
          </p:cNvSpPr>
          <p:nvPr/>
        </p:nvSpPr>
        <p:spPr bwMode="auto">
          <a:xfrm>
            <a:off x="611188" y="2057400"/>
            <a:ext cx="6769100" cy="863600"/>
          </a:xfrm>
          <a:prstGeom prst="rect">
            <a:avLst/>
          </a:prstGeom>
          <a:ln>
            <a:headEnd/>
            <a:tailEnd/>
          </a:ln>
        </p:spPr>
        <p:style>
          <a:lnRef idx="3">
            <a:schemeClr val="lt1"/>
          </a:lnRef>
          <a:fillRef idx="1">
            <a:schemeClr val="accent2"/>
          </a:fillRef>
          <a:effectRef idx="1">
            <a:schemeClr val="accent2"/>
          </a:effectRef>
          <a:fontRef idx="minor">
            <a:schemeClr val="lt1"/>
          </a:fontRef>
        </p:style>
        <p:txBody>
          <a:bodyPr anchor="ctr"/>
          <a:lstStyle/>
          <a:p>
            <a:pPr algn="ctr"/>
            <a:r>
              <a:rPr lang="fi-FI" sz="2000" b="1" dirty="0"/>
              <a:t>Liiketoiminnan näkökulma</a:t>
            </a:r>
            <a:r>
              <a:rPr lang="fi-FI" dirty="0"/>
              <a:t>: mikä on tärkeää ja keskeistä? mistä pitää tietää erityisesti?</a:t>
            </a:r>
            <a:endParaRPr lang="en-US" dirty="0"/>
          </a:p>
        </p:txBody>
      </p:sp>
      <p:sp>
        <p:nvSpPr>
          <p:cNvPr id="79878" name="Rectangle 6"/>
          <p:cNvSpPr>
            <a:spLocks noChangeArrowheads="1"/>
          </p:cNvSpPr>
          <p:nvPr/>
        </p:nvSpPr>
        <p:spPr bwMode="auto">
          <a:xfrm>
            <a:off x="611188" y="4073525"/>
            <a:ext cx="6769100" cy="863600"/>
          </a:xfrm>
          <a:prstGeom prst="rect">
            <a:avLst/>
          </a:prstGeom>
          <a:ln>
            <a:headEnd/>
            <a:tailEnd/>
          </a:ln>
        </p:spPr>
        <p:style>
          <a:lnRef idx="3">
            <a:schemeClr val="lt1"/>
          </a:lnRef>
          <a:fillRef idx="1">
            <a:schemeClr val="accent2"/>
          </a:fillRef>
          <a:effectRef idx="1">
            <a:schemeClr val="accent2"/>
          </a:effectRef>
          <a:fontRef idx="minor">
            <a:schemeClr val="lt1"/>
          </a:fontRef>
        </p:style>
        <p:txBody>
          <a:bodyPr anchor="ctr"/>
          <a:lstStyle/>
          <a:p>
            <a:pPr algn="ctr"/>
            <a:r>
              <a:rPr lang="fi-FI" sz="2000" b="1" dirty="0"/>
              <a:t>Arkkitehtuurin näkökulma</a:t>
            </a:r>
            <a:r>
              <a:rPr lang="fi-FI" dirty="0"/>
              <a:t>: mikä voi vaikuttaa ja mihin? minkä suhteen uskaltaa optimoida?</a:t>
            </a:r>
            <a:endParaRPr lang="en-US" dirty="0"/>
          </a:p>
        </p:txBody>
      </p:sp>
      <p:sp>
        <p:nvSpPr>
          <p:cNvPr id="79879" name="Rectangle 7"/>
          <p:cNvSpPr>
            <a:spLocks noChangeArrowheads="1"/>
          </p:cNvSpPr>
          <p:nvPr/>
        </p:nvSpPr>
        <p:spPr bwMode="auto">
          <a:xfrm>
            <a:off x="2700338" y="5105400"/>
            <a:ext cx="5616575" cy="1152525"/>
          </a:xfrm>
          <a:prstGeom prst="rect">
            <a:avLst/>
          </a:prstGeom>
          <a:solidFill>
            <a:schemeClr val="bg2"/>
          </a:solidFill>
          <a:ln w="9525">
            <a:solidFill>
              <a:schemeClr val="tx1"/>
            </a:solidFill>
            <a:miter lim="800000"/>
            <a:headEnd/>
            <a:tailEnd/>
          </a:ln>
          <a:effectLst>
            <a:outerShdw dist="107763" dir="18900000" algn="ctr" rotWithShape="0">
              <a:schemeClr val="bg2">
                <a:alpha val="50000"/>
              </a:schemeClr>
            </a:outerShdw>
          </a:effectLst>
        </p:spPr>
        <p:txBody>
          <a:bodyPr anchor="ctr"/>
          <a:lstStyle/>
          <a:p>
            <a:pPr algn="ctr"/>
            <a:r>
              <a:rPr lang="fi-FI" dirty="0"/>
              <a:t>Eri näkökulmien ymmärtäminen ja yhdistäminen säästää merkittävästi työmääriä. Vain käyttäjän näkökulmaa käyttäen testaamme liiankin sokkona. </a:t>
            </a:r>
            <a:endParaRPr lang="en-US" dirty="0"/>
          </a:p>
        </p:txBody>
      </p:sp>
      <p:sp>
        <p:nvSpPr>
          <p:cNvPr id="79881" name="Text Box 9"/>
          <p:cNvSpPr txBox="1">
            <a:spLocks noChangeArrowheads="1"/>
          </p:cNvSpPr>
          <p:nvPr/>
        </p:nvSpPr>
        <p:spPr bwMode="auto">
          <a:xfrm>
            <a:off x="7380288" y="2128837"/>
            <a:ext cx="1295400" cy="641350"/>
          </a:xfrm>
          <a:prstGeom prst="rect">
            <a:avLst/>
          </a:prstGeom>
          <a:noFill/>
          <a:ln w="9525">
            <a:noFill/>
            <a:miter lim="800000"/>
            <a:headEnd/>
            <a:tailEnd/>
          </a:ln>
          <a:effectLst/>
        </p:spPr>
        <p:txBody>
          <a:bodyPr>
            <a:spAutoFit/>
          </a:bodyPr>
          <a:lstStyle/>
          <a:p>
            <a:pPr>
              <a:spcBef>
                <a:spcPct val="50000"/>
              </a:spcBef>
            </a:pPr>
            <a:r>
              <a:rPr lang="fi-FI">
                <a:solidFill>
                  <a:schemeClr val="hlink"/>
                </a:solidFill>
              </a:rPr>
              <a:t>PRIORI-SOINTIA</a:t>
            </a:r>
            <a:endParaRPr lang="en-US">
              <a:solidFill>
                <a:schemeClr val="hlink"/>
              </a:solidFill>
            </a:endParaRPr>
          </a:p>
        </p:txBody>
      </p:sp>
      <p:sp>
        <p:nvSpPr>
          <p:cNvPr id="79882" name="Text Box 10"/>
          <p:cNvSpPr txBox="1">
            <a:spLocks noChangeArrowheads="1"/>
          </p:cNvSpPr>
          <p:nvPr/>
        </p:nvSpPr>
        <p:spPr bwMode="auto">
          <a:xfrm>
            <a:off x="7380288" y="4144962"/>
            <a:ext cx="1295400" cy="641350"/>
          </a:xfrm>
          <a:prstGeom prst="rect">
            <a:avLst/>
          </a:prstGeom>
          <a:noFill/>
          <a:ln w="9525">
            <a:noFill/>
            <a:miter lim="800000"/>
            <a:headEnd/>
            <a:tailEnd/>
          </a:ln>
          <a:effectLst/>
        </p:spPr>
        <p:txBody>
          <a:bodyPr>
            <a:spAutoFit/>
          </a:bodyPr>
          <a:lstStyle/>
          <a:p>
            <a:pPr>
              <a:spcBef>
                <a:spcPct val="50000"/>
              </a:spcBef>
            </a:pPr>
            <a:r>
              <a:rPr lang="fi-FI">
                <a:solidFill>
                  <a:schemeClr val="hlink"/>
                </a:solidFill>
              </a:rPr>
              <a:t>PRIORI-SOINTIA</a:t>
            </a:r>
            <a:endParaRPr lang="en-US">
              <a:solidFill>
                <a:schemeClr val="hlink"/>
              </a:solidFill>
            </a:endParaRPr>
          </a:p>
        </p:txBody>
      </p:sp>
      <p:sp>
        <p:nvSpPr>
          <p:cNvPr id="79883" name="Text Box 11"/>
          <p:cNvSpPr txBox="1">
            <a:spLocks noChangeArrowheads="1"/>
          </p:cNvSpPr>
          <p:nvPr/>
        </p:nvSpPr>
        <p:spPr bwMode="auto">
          <a:xfrm>
            <a:off x="7380288" y="3136900"/>
            <a:ext cx="1295400" cy="641350"/>
          </a:xfrm>
          <a:prstGeom prst="rect">
            <a:avLst/>
          </a:prstGeom>
          <a:noFill/>
          <a:ln w="9525">
            <a:noFill/>
            <a:miter lim="800000"/>
            <a:headEnd/>
            <a:tailEnd/>
          </a:ln>
          <a:effectLst/>
        </p:spPr>
        <p:txBody>
          <a:bodyPr>
            <a:spAutoFit/>
          </a:bodyPr>
          <a:lstStyle/>
          <a:p>
            <a:pPr>
              <a:spcBef>
                <a:spcPct val="50000"/>
              </a:spcBef>
            </a:pPr>
            <a:r>
              <a:rPr lang="fi-FI">
                <a:solidFill>
                  <a:schemeClr val="tx2"/>
                </a:solidFill>
              </a:rPr>
              <a:t>LAA-JUUTTA</a:t>
            </a:r>
            <a:endParaRPr lang="en-US">
              <a:solidFill>
                <a:schemeClr val="tx2"/>
              </a:solidFill>
            </a:endParaRPr>
          </a:p>
        </p:txBody>
      </p:sp>
      <p:sp>
        <p:nvSpPr>
          <p:cNvPr id="10" name="Slide Number Placeholder 9"/>
          <p:cNvSpPr>
            <a:spLocks noGrp="1"/>
          </p:cNvSpPr>
          <p:nvPr>
            <p:ph type="sldNum" sz="quarter" idx="12"/>
          </p:nvPr>
        </p:nvSpPr>
        <p:spPr/>
        <p:txBody>
          <a:bodyPr/>
          <a:lstStyle/>
          <a:p>
            <a:fld id="{7A750B4A-325E-4AA4-BC07-A8C35B32A4F3}" type="slidenum">
              <a:rPr lang="fi-FI" smtClean="0"/>
              <a:pPr/>
              <a:t>232</a:t>
            </a:fld>
            <a:endParaRPr lang="fi-FI"/>
          </a:p>
        </p:txBody>
      </p:sp>
    </p:spTree>
  </p:cSld>
  <p:clrMapOvr>
    <a:masterClrMapping/>
  </p:clrMapOvr>
  <p:timing>
    <p:tnLst>
      <p:par>
        <p:cTn xmlns:p14="http://schemas.microsoft.com/office/powerpoint/2010/main" id="1" dur="indefinite" restart="never" nodeType="tmRoot"/>
      </p:par>
    </p:tn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0"/>
            <a:r>
              <a:rPr lang="fi-FI" sz="3200" dirty="0" smtClean="0"/>
              <a:t>Testitapausten priorisointi hyväksymistestaukselle: mistä tiedetään mikä on tärkeää liiketoiminnalle</a:t>
            </a:r>
            <a:endParaRPr lang="fi-FI" sz="3200" dirty="0"/>
          </a:p>
        </p:txBody>
      </p:sp>
      <p:sp>
        <p:nvSpPr>
          <p:cNvPr id="3" name="Content Placeholder 2"/>
          <p:cNvSpPr>
            <a:spLocks noGrp="1"/>
          </p:cNvSpPr>
          <p:nvPr>
            <p:ph idx="1"/>
          </p:nvPr>
        </p:nvSpPr>
        <p:spPr/>
        <p:txBody>
          <a:bodyPr>
            <a:normAutofit fontScale="85000" lnSpcReduction="20000"/>
          </a:bodyPr>
          <a:lstStyle/>
          <a:p>
            <a:r>
              <a:rPr lang="fi-FI" dirty="0" smtClean="0"/>
              <a:t>Kaikki vaatimukset eivät ole samanarvoisia</a:t>
            </a:r>
          </a:p>
          <a:p>
            <a:pPr lvl="1"/>
            <a:r>
              <a:rPr lang="fi-FI" dirty="0" smtClean="0"/>
              <a:t>Usein käytetty toiminnallisuus</a:t>
            </a:r>
          </a:p>
          <a:p>
            <a:pPr lvl="1"/>
            <a:r>
              <a:rPr lang="fi-FI" dirty="0" smtClean="0"/>
              <a:t>Toiminnallisuus jonka lopputuloksen oikeellisuutta järjestelmän käyttäjän on mahdoton arvioida </a:t>
            </a:r>
            <a:r>
              <a:rPr lang="fi-FI" dirty="0" smtClean="0">
                <a:sym typeface="Wingdings" pitchFamily="2" charset="2"/>
              </a:rPr>
              <a:t> virheellinen </a:t>
            </a:r>
            <a:r>
              <a:rPr lang="fi-FI" dirty="0" err="1" smtClean="0">
                <a:sym typeface="Wingdings" pitchFamily="2" charset="2"/>
              </a:rPr>
              <a:t>lopputulema</a:t>
            </a:r>
            <a:r>
              <a:rPr lang="fi-FI" dirty="0" smtClean="0">
                <a:sym typeface="Wingdings" pitchFamily="2" charset="2"/>
              </a:rPr>
              <a:t> vaikuttaa ketjussa eteenpäin</a:t>
            </a:r>
          </a:p>
          <a:p>
            <a:r>
              <a:rPr lang="fi-FI" dirty="0" smtClean="0"/>
              <a:t>Usein vaatimuksia priorisoidaan osana vaatimusten hallintaa</a:t>
            </a:r>
          </a:p>
          <a:p>
            <a:pPr lvl="1"/>
            <a:r>
              <a:rPr lang="fi-FI" dirty="0" smtClean="0"/>
              <a:t>Ei kuitenkaan kuvaa suoraan testaukseen kohdistuvia prioriteetteja</a:t>
            </a:r>
          </a:p>
          <a:p>
            <a:r>
              <a:rPr lang="fi-FI" dirty="0" smtClean="0"/>
              <a:t>Lähtökohtana järjestelmäriskit: mikä ei saa olla rikki, minkä rikkinäisyydestä toimittajan osaaminen huomaamiseen on kyseenalaistettavaa? </a:t>
            </a:r>
            <a:endParaRPr lang="fi-FI"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233</a:t>
            </a:fld>
            <a:endParaRPr lang="fi-FI"/>
          </a:p>
        </p:txBody>
      </p:sp>
    </p:spTree>
  </p:cSld>
  <p:clrMapOvr>
    <a:masterClrMapping/>
  </p:clrMapOvr>
  <p:timing>
    <p:tnLst>
      <p:par>
        <p:cTn xmlns:p14="http://schemas.microsoft.com/office/powerpoint/2010/main" id="1" dur="indefinite" restart="never" nodeType="tmRoot"/>
      </p:par>
    </p:tn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p:cNvSpPr>
            <a:spLocks noGrp="1"/>
          </p:cNvSpPr>
          <p:nvPr>
            <p:ph type="title"/>
          </p:nvPr>
        </p:nvSpPr>
        <p:spPr/>
        <p:txBody>
          <a:bodyPr>
            <a:normAutofit/>
          </a:bodyPr>
          <a:lstStyle/>
          <a:p>
            <a:r>
              <a:rPr lang="fi-FI" sz="2800" dirty="0" smtClean="0"/>
              <a:t>Milloin on testattu riittävästi kokonaisuuden näkökulmasta ja kuinka arvioida</a:t>
            </a:r>
          </a:p>
        </p:txBody>
      </p:sp>
      <p:sp>
        <p:nvSpPr>
          <p:cNvPr id="28674" name="Content Placeholder 2"/>
          <p:cNvSpPr>
            <a:spLocks noGrp="1"/>
          </p:cNvSpPr>
          <p:nvPr>
            <p:ph idx="1"/>
          </p:nvPr>
        </p:nvSpPr>
        <p:spPr/>
        <p:txBody>
          <a:bodyPr/>
          <a:lstStyle/>
          <a:p>
            <a:r>
              <a:rPr lang="fi-FI" dirty="0" smtClean="0"/>
              <a:t>Case 1</a:t>
            </a:r>
          </a:p>
          <a:p>
            <a:pPr lvl="1"/>
            <a:r>
              <a:rPr lang="fi-FI" dirty="0" smtClean="0"/>
              <a:t>Tavoite: Testauksen kohtuuttomat kattavuustavoitteet keskusteluun</a:t>
            </a:r>
          </a:p>
          <a:p>
            <a:pPr lvl="1"/>
            <a:r>
              <a:rPr lang="fi-FI" dirty="0" smtClean="0"/>
              <a:t>"Vaatimuskattavuus 100 %”</a:t>
            </a:r>
          </a:p>
          <a:p>
            <a:pPr lvl="1"/>
            <a:r>
              <a:rPr lang="fi-FI" dirty="0" smtClean="0"/>
              <a:t>"Koodikattavuus 100 %”</a:t>
            </a:r>
          </a:p>
          <a:p>
            <a:pPr lvl="1"/>
            <a:r>
              <a:rPr lang="fi-FI" dirty="0" smtClean="0"/>
              <a:t>"Regressiokattavuus 40-70 %"</a:t>
            </a:r>
          </a:p>
          <a:p>
            <a:pPr lvl="1"/>
            <a:r>
              <a:rPr lang="fi-FI" dirty="0" smtClean="0"/>
              <a:t>Pureutuminen "vaatimuskattavuuden" erilaisiin käsityksiin ja varsin erilaisiin prosentteihin</a:t>
            </a:r>
          </a:p>
          <a:p>
            <a:endParaRPr lang="fi-FI" dirty="0" smtClean="0"/>
          </a:p>
        </p:txBody>
      </p:sp>
      <p:sp>
        <p:nvSpPr>
          <p:cNvPr id="4" name="Slide Number Placeholder 3"/>
          <p:cNvSpPr>
            <a:spLocks noGrp="1"/>
          </p:cNvSpPr>
          <p:nvPr>
            <p:ph type="sldNum" sz="quarter" idx="12"/>
          </p:nvPr>
        </p:nvSpPr>
        <p:spPr/>
        <p:txBody>
          <a:bodyPr/>
          <a:lstStyle/>
          <a:p>
            <a:fld id="{7A750B4A-325E-4AA4-BC07-A8C35B32A4F3}" type="slidenum">
              <a:rPr lang="fi-FI" smtClean="0"/>
              <a:pPr/>
              <a:t>234</a:t>
            </a:fld>
            <a:endParaRPr lang="fi-FI"/>
          </a:p>
        </p:txBody>
      </p:sp>
    </p:spTree>
  </p:cSld>
  <p:clrMapOvr>
    <a:masterClrMapping/>
  </p:clrMapOvr>
  <p:timing>
    <p:tnLst>
      <p:par>
        <p:cTn xmlns:p14="http://schemas.microsoft.com/office/powerpoint/2010/main" id="1" dur="indefinite" restart="never" nodeType="tmRoot"/>
      </p:par>
    </p:tnLst>
  </p:timing>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2" name="Freeform 4"/>
          <p:cNvSpPr>
            <a:spLocks/>
          </p:cNvSpPr>
          <p:nvPr/>
        </p:nvSpPr>
        <p:spPr bwMode="auto">
          <a:xfrm>
            <a:off x="4291013" y="2955912"/>
            <a:ext cx="4384675" cy="2400300"/>
          </a:xfrm>
          <a:custGeom>
            <a:avLst/>
            <a:gdLst/>
            <a:ahLst/>
            <a:cxnLst>
              <a:cxn ang="0">
                <a:pos x="768" y="96"/>
              </a:cxn>
              <a:cxn ang="0">
                <a:pos x="864" y="384"/>
              </a:cxn>
              <a:cxn ang="0">
                <a:pos x="768" y="480"/>
              </a:cxn>
              <a:cxn ang="0">
                <a:pos x="912" y="528"/>
              </a:cxn>
              <a:cxn ang="0">
                <a:pos x="864" y="816"/>
              </a:cxn>
              <a:cxn ang="0">
                <a:pos x="624" y="864"/>
              </a:cxn>
              <a:cxn ang="0">
                <a:pos x="576" y="1008"/>
              </a:cxn>
              <a:cxn ang="0">
                <a:pos x="336" y="960"/>
              </a:cxn>
              <a:cxn ang="0">
                <a:pos x="336" y="1104"/>
              </a:cxn>
              <a:cxn ang="0">
                <a:pos x="96" y="912"/>
              </a:cxn>
              <a:cxn ang="0">
                <a:pos x="0" y="1008"/>
              </a:cxn>
              <a:cxn ang="0">
                <a:pos x="96" y="1440"/>
              </a:cxn>
              <a:cxn ang="0">
                <a:pos x="48" y="1728"/>
              </a:cxn>
              <a:cxn ang="0">
                <a:pos x="96" y="2016"/>
              </a:cxn>
              <a:cxn ang="0">
                <a:pos x="240" y="2112"/>
              </a:cxn>
              <a:cxn ang="0">
                <a:pos x="288" y="2208"/>
              </a:cxn>
              <a:cxn ang="0">
                <a:pos x="480" y="2160"/>
              </a:cxn>
              <a:cxn ang="0">
                <a:pos x="816" y="2016"/>
              </a:cxn>
              <a:cxn ang="0">
                <a:pos x="1056" y="2160"/>
              </a:cxn>
              <a:cxn ang="0">
                <a:pos x="1536" y="2064"/>
              </a:cxn>
              <a:cxn ang="0">
                <a:pos x="1776" y="2112"/>
              </a:cxn>
              <a:cxn ang="0">
                <a:pos x="1872" y="2016"/>
              </a:cxn>
              <a:cxn ang="0">
                <a:pos x="2112" y="2064"/>
              </a:cxn>
              <a:cxn ang="0">
                <a:pos x="2352" y="2016"/>
              </a:cxn>
              <a:cxn ang="0">
                <a:pos x="2496" y="2112"/>
              </a:cxn>
              <a:cxn ang="0">
                <a:pos x="2928" y="2016"/>
              </a:cxn>
              <a:cxn ang="0">
                <a:pos x="3360" y="2160"/>
              </a:cxn>
              <a:cxn ang="0">
                <a:pos x="3504" y="1824"/>
              </a:cxn>
              <a:cxn ang="0">
                <a:pos x="3360" y="1344"/>
              </a:cxn>
              <a:cxn ang="0">
                <a:pos x="3456" y="864"/>
              </a:cxn>
              <a:cxn ang="0">
                <a:pos x="3312" y="816"/>
              </a:cxn>
              <a:cxn ang="0">
                <a:pos x="3168" y="528"/>
              </a:cxn>
              <a:cxn ang="0">
                <a:pos x="3216" y="240"/>
              </a:cxn>
              <a:cxn ang="0">
                <a:pos x="3120" y="48"/>
              </a:cxn>
              <a:cxn ang="0">
                <a:pos x="2688" y="192"/>
              </a:cxn>
              <a:cxn ang="0">
                <a:pos x="2352" y="144"/>
              </a:cxn>
              <a:cxn ang="0">
                <a:pos x="2208" y="48"/>
              </a:cxn>
              <a:cxn ang="0">
                <a:pos x="2064" y="48"/>
              </a:cxn>
              <a:cxn ang="0">
                <a:pos x="1920" y="0"/>
              </a:cxn>
              <a:cxn ang="0">
                <a:pos x="1728" y="48"/>
              </a:cxn>
              <a:cxn ang="0">
                <a:pos x="1488" y="96"/>
              </a:cxn>
              <a:cxn ang="0">
                <a:pos x="1296" y="48"/>
              </a:cxn>
              <a:cxn ang="0">
                <a:pos x="1104" y="48"/>
              </a:cxn>
              <a:cxn ang="0">
                <a:pos x="1008" y="144"/>
              </a:cxn>
              <a:cxn ang="0">
                <a:pos x="864" y="48"/>
              </a:cxn>
              <a:cxn ang="0">
                <a:pos x="768" y="48"/>
              </a:cxn>
              <a:cxn ang="0">
                <a:pos x="768" y="96"/>
              </a:cxn>
            </a:cxnLst>
            <a:rect l="0" t="0" r="r" b="b"/>
            <a:pathLst>
              <a:path w="3504" h="2208">
                <a:moveTo>
                  <a:pt x="768" y="96"/>
                </a:moveTo>
                <a:lnTo>
                  <a:pt x="864" y="384"/>
                </a:lnTo>
                <a:lnTo>
                  <a:pt x="768" y="480"/>
                </a:lnTo>
                <a:lnTo>
                  <a:pt x="912" y="528"/>
                </a:lnTo>
                <a:lnTo>
                  <a:pt x="864" y="816"/>
                </a:lnTo>
                <a:lnTo>
                  <a:pt x="624" y="864"/>
                </a:lnTo>
                <a:lnTo>
                  <a:pt x="576" y="1008"/>
                </a:lnTo>
                <a:lnTo>
                  <a:pt x="336" y="960"/>
                </a:lnTo>
                <a:lnTo>
                  <a:pt x="336" y="1104"/>
                </a:lnTo>
                <a:lnTo>
                  <a:pt x="96" y="912"/>
                </a:lnTo>
                <a:lnTo>
                  <a:pt x="0" y="1008"/>
                </a:lnTo>
                <a:lnTo>
                  <a:pt x="96" y="1440"/>
                </a:lnTo>
                <a:lnTo>
                  <a:pt x="48" y="1728"/>
                </a:lnTo>
                <a:lnTo>
                  <a:pt x="96" y="2016"/>
                </a:lnTo>
                <a:lnTo>
                  <a:pt x="240" y="2112"/>
                </a:lnTo>
                <a:lnTo>
                  <a:pt x="288" y="2208"/>
                </a:lnTo>
                <a:lnTo>
                  <a:pt x="480" y="2160"/>
                </a:lnTo>
                <a:lnTo>
                  <a:pt x="816" y="2016"/>
                </a:lnTo>
                <a:lnTo>
                  <a:pt x="1056" y="2160"/>
                </a:lnTo>
                <a:lnTo>
                  <a:pt x="1536" y="2064"/>
                </a:lnTo>
                <a:lnTo>
                  <a:pt x="1776" y="2112"/>
                </a:lnTo>
                <a:lnTo>
                  <a:pt x="1872" y="2016"/>
                </a:lnTo>
                <a:lnTo>
                  <a:pt x="2112" y="2064"/>
                </a:lnTo>
                <a:lnTo>
                  <a:pt x="2352" y="2016"/>
                </a:lnTo>
                <a:lnTo>
                  <a:pt x="2496" y="2112"/>
                </a:lnTo>
                <a:lnTo>
                  <a:pt x="2928" y="2016"/>
                </a:lnTo>
                <a:lnTo>
                  <a:pt x="3360" y="2160"/>
                </a:lnTo>
                <a:lnTo>
                  <a:pt x="3504" y="1824"/>
                </a:lnTo>
                <a:lnTo>
                  <a:pt x="3360" y="1344"/>
                </a:lnTo>
                <a:lnTo>
                  <a:pt x="3456" y="864"/>
                </a:lnTo>
                <a:lnTo>
                  <a:pt x="3312" y="816"/>
                </a:lnTo>
                <a:lnTo>
                  <a:pt x="3168" y="528"/>
                </a:lnTo>
                <a:lnTo>
                  <a:pt x="3216" y="240"/>
                </a:lnTo>
                <a:lnTo>
                  <a:pt x="3120" y="48"/>
                </a:lnTo>
                <a:lnTo>
                  <a:pt x="2688" y="192"/>
                </a:lnTo>
                <a:lnTo>
                  <a:pt x="2352" y="144"/>
                </a:lnTo>
                <a:lnTo>
                  <a:pt x="2208" y="48"/>
                </a:lnTo>
                <a:lnTo>
                  <a:pt x="2064" y="48"/>
                </a:lnTo>
                <a:lnTo>
                  <a:pt x="1920" y="0"/>
                </a:lnTo>
                <a:lnTo>
                  <a:pt x="1728" y="48"/>
                </a:lnTo>
                <a:lnTo>
                  <a:pt x="1488" y="96"/>
                </a:lnTo>
                <a:lnTo>
                  <a:pt x="1296" y="48"/>
                </a:lnTo>
                <a:lnTo>
                  <a:pt x="1104" y="48"/>
                </a:lnTo>
                <a:lnTo>
                  <a:pt x="1008" y="144"/>
                </a:lnTo>
                <a:lnTo>
                  <a:pt x="864" y="48"/>
                </a:lnTo>
                <a:lnTo>
                  <a:pt x="768" y="48"/>
                </a:lnTo>
                <a:lnTo>
                  <a:pt x="768" y="96"/>
                </a:lnTo>
                <a:close/>
              </a:path>
            </a:pathLst>
          </a:custGeom>
          <a:solidFill>
            <a:schemeClr val="accent1"/>
          </a:solidFill>
          <a:ln w="9525">
            <a:solidFill>
              <a:schemeClr val="tx1"/>
            </a:solidFill>
            <a:round/>
            <a:headEnd/>
            <a:tailEnd/>
          </a:ln>
          <a:effectLst>
            <a:outerShdw dist="107763" dir="8100000" algn="ctr" rotWithShape="0">
              <a:schemeClr val="bg2"/>
            </a:outerShdw>
          </a:effectLst>
        </p:spPr>
        <p:txBody>
          <a:bodyPr/>
          <a:lstStyle/>
          <a:p>
            <a:endParaRPr lang="en-US"/>
          </a:p>
        </p:txBody>
      </p:sp>
      <p:sp>
        <p:nvSpPr>
          <p:cNvPr id="89090" name="Rectangle 2"/>
          <p:cNvSpPr>
            <a:spLocks noGrp="1" noChangeArrowheads="1"/>
          </p:cNvSpPr>
          <p:nvPr>
            <p:ph type="title"/>
          </p:nvPr>
        </p:nvSpPr>
        <p:spPr/>
        <p:txBody>
          <a:bodyPr/>
          <a:lstStyle/>
          <a:p>
            <a:r>
              <a:rPr lang="fi-FI"/>
              <a:t>Regressiotestaus</a:t>
            </a:r>
            <a:endParaRPr lang="en-US"/>
          </a:p>
        </p:txBody>
      </p:sp>
      <p:sp>
        <p:nvSpPr>
          <p:cNvPr id="89091" name="Rectangle 3"/>
          <p:cNvSpPr>
            <a:spLocks noGrp="1" noChangeArrowheads="1"/>
          </p:cNvSpPr>
          <p:nvPr>
            <p:ph type="body" idx="1"/>
          </p:nvPr>
        </p:nvSpPr>
        <p:spPr>
          <a:xfrm>
            <a:off x="685800" y="1571612"/>
            <a:ext cx="3381375" cy="3657600"/>
          </a:xfrm>
        </p:spPr>
        <p:txBody>
          <a:bodyPr/>
          <a:lstStyle/>
          <a:p>
            <a:r>
              <a:rPr lang="fi-FI" sz="2400" dirty="0"/>
              <a:t>Regressio = taantuma</a:t>
            </a:r>
          </a:p>
          <a:p>
            <a:pPr lvl="1"/>
            <a:r>
              <a:rPr lang="fi-FI" sz="2000" dirty="0"/>
              <a:t>Asiat jotka ennen toimivat eivät toimi nyt</a:t>
            </a:r>
          </a:p>
          <a:p>
            <a:r>
              <a:rPr lang="fi-FI" sz="1800" dirty="0"/>
              <a:t>Regressiotestaus on aiemmin läpäistyjen testien ajamista uudelleen sivuvaikutusten etsimistarkoituksessa</a:t>
            </a:r>
          </a:p>
          <a:p>
            <a:endParaRPr lang="en-US" sz="1400" dirty="0"/>
          </a:p>
        </p:txBody>
      </p:sp>
      <p:grpSp>
        <p:nvGrpSpPr>
          <p:cNvPr id="2" name="Group 5"/>
          <p:cNvGrpSpPr>
            <a:grpSpLocks/>
          </p:cNvGrpSpPr>
          <p:nvPr/>
        </p:nvGrpSpPr>
        <p:grpSpPr bwMode="auto">
          <a:xfrm>
            <a:off x="4454525" y="4900600"/>
            <a:ext cx="2493963" cy="1171575"/>
            <a:chOff x="0" y="3248"/>
            <a:chExt cx="2352" cy="1414"/>
          </a:xfrm>
        </p:grpSpPr>
        <p:sp>
          <p:nvSpPr>
            <p:cNvPr id="89094" name="Oval 6"/>
            <p:cNvSpPr>
              <a:spLocks noChangeArrowheads="1"/>
            </p:cNvSpPr>
            <p:nvPr/>
          </p:nvSpPr>
          <p:spPr bwMode="auto">
            <a:xfrm>
              <a:off x="1609" y="3248"/>
              <a:ext cx="144" cy="144"/>
            </a:xfrm>
            <a:prstGeom prst="ellipse">
              <a:avLst/>
            </a:prstGeom>
            <a:solidFill>
              <a:srgbClr val="FF0000"/>
            </a:solidFill>
            <a:ln w="9525">
              <a:solidFill>
                <a:srgbClr val="000000"/>
              </a:solidFill>
              <a:round/>
              <a:headEnd/>
              <a:tailEnd/>
            </a:ln>
            <a:effectLst/>
          </p:spPr>
          <p:txBody>
            <a:bodyPr wrap="none" anchor="ctr"/>
            <a:lstStyle/>
            <a:p>
              <a:endParaRPr lang="en-US"/>
            </a:p>
          </p:txBody>
        </p:sp>
        <p:sp>
          <p:nvSpPr>
            <p:cNvPr id="89095" name="Text Box 7"/>
            <p:cNvSpPr txBox="1">
              <a:spLocks noChangeArrowheads="1"/>
            </p:cNvSpPr>
            <p:nvPr/>
          </p:nvSpPr>
          <p:spPr bwMode="auto">
            <a:xfrm>
              <a:off x="0" y="3888"/>
              <a:ext cx="2352" cy="774"/>
            </a:xfrm>
            <a:prstGeom prst="rect">
              <a:avLst/>
            </a:prstGeom>
            <a:noFill/>
            <a:ln w="9525">
              <a:noFill/>
              <a:miter lim="800000"/>
              <a:headEnd/>
              <a:tailEnd/>
            </a:ln>
            <a:effectLst/>
          </p:spPr>
          <p:txBody>
            <a:bodyPr>
              <a:spAutoFit/>
            </a:bodyPr>
            <a:lstStyle/>
            <a:p>
              <a:pPr eaLnBrk="1" hangingPunct="1">
                <a:spcBef>
                  <a:spcPct val="50000"/>
                </a:spcBef>
              </a:pPr>
              <a:r>
                <a:rPr lang="fi-FI">
                  <a:solidFill>
                    <a:srgbClr val="FF0000"/>
                  </a:solidFill>
                  <a:cs typeface="Arial" charset="0"/>
                </a:rPr>
                <a:t>Testi löytää </a:t>
              </a:r>
              <a:br>
                <a:rPr lang="fi-FI">
                  <a:solidFill>
                    <a:srgbClr val="FF0000"/>
                  </a:solidFill>
                  <a:cs typeface="Arial" charset="0"/>
                </a:rPr>
              </a:br>
              <a:r>
                <a:rPr lang="fi-FI">
                  <a:solidFill>
                    <a:srgbClr val="FF0000"/>
                  </a:solidFill>
                  <a:cs typeface="Arial" charset="0"/>
                </a:rPr>
                <a:t>virheen</a:t>
              </a:r>
              <a:endParaRPr lang="en-GB">
                <a:solidFill>
                  <a:srgbClr val="FF0000"/>
                </a:solidFill>
                <a:cs typeface="Arial" charset="0"/>
              </a:endParaRPr>
            </a:p>
          </p:txBody>
        </p:sp>
        <p:sp>
          <p:nvSpPr>
            <p:cNvPr id="89096" name="Line 8"/>
            <p:cNvSpPr>
              <a:spLocks noChangeShapeType="1"/>
            </p:cNvSpPr>
            <p:nvPr/>
          </p:nvSpPr>
          <p:spPr bwMode="auto">
            <a:xfrm flipV="1">
              <a:off x="912" y="3360"/>
              <a:ext cx="672" cy="576"/>
            </a:xfrm>
            <a:prstGeom prst="line">
              <a:avLst/>
            </a:prstGeom>
            <a:noFill/>
            <a:ln w="9525">
              <a:solidFill>
                <a:srgbClr val="000000"/>
              </a:solidFill>
              <a:round/>
              <a:headEnd/>
              <a:tailEnd type="triangle" w="med" len="med"/>
            </a:ln>
            <a:effectLst/>
          </p:spPr>
          <p:txBody>
            <a:bodyPr anchor="ctr"/>
            <a:lstStyle/>
            <a:p>
              <a:endParaRPr lang="en-US"/>
            </a:p>
          </p:txBody>
        </p:sp>
      </p:grpSp>
      <p:grpSp>
        <p:nvGrpSpPr>
          <p:cNvPr id="3" name="Group 30"/>
          <p:cNvGrpSpPr>
            <a:grpSpLocks/>
          </p:cNvGrpSpPr>
          <p:nvPr/>
        </p:nvGrpSpPr>
        <p:grpSpPr bwMode="auto">
          <a:xfrm>
            <a:off x="2087563" y="3743312"/>
            <a:ext cx="6300787" cy="2741613"/>
            <a:chOff x="1315" y="2520"/>
            <a:chExt cx="3969" cy="1727"/>
          </a:xfrm>
        </p:grpSpPr>
        <p:sp>
          <p:nvSpPr>
            <p:cNvPr id="89107" name="Rectangle 19"/>
            <p:cNvSpPr>
              <a:spLocks noChangeArrowheads="1"/>
            </p:cNvSpPr>
            <p:nvPr/>
          </p:nvSpPr>
          <p:spPr bwMode="auto">
            <a:xfrm>
              <a:off x="1315" y="3324"/>
              <a:ext cx="1384" cy="923"/>
            </a:xfrm>
            <a:prstGeom prst="rect">
              <a:avLst/>
            </a:prstGeom>
            <a:noFill/>
            <a:ln w="9525">
              <a:noFill/>
              <a:miter lim="800000"/>
              <a:headEnd/>
              <a:tailEnd/>
            </a:ln>
            <a:effectLst/>
          </p:spPr>
          <p:txBody>
            <a:bodyPr>
              <a:spAutoFit/>
            </a:bodyPr>
            <a:lstStyle/>
            <a:p>
              <a:pPr eaLnBrk="1" hangingPunct="1">
                <a:spcBef>
                  <a:spcPct val="50000"/>
                </a:spcBef>
              </a:pPr>
              <a:r>
                <a:rPr lang="fi-FI">
                  <a:solidFill>
                    <a:srgbClr val="FF9900"/>
                  </a:solidFill>
                </a:rPr>
                <a:t>Uusia virheitä syntyy korjauksen vaatimien muutosten seurauksena.</a:t>
              </a:r>
              <a:endParaRPr lang="en-GB">
                <a:solidFill>
                  <a:srgbClr val="FF9900"/>
                </a:solidFill>
              </a:endParaRPr>
            </a:p>
          </p:txBody>
        </p:sp>
        <p:grpSp>
          <p:nvGrpSpPr>
            <p:cNvPr id="4" name="Group 20"/>
            <p:cNvGrpSpPr>
              <a:grpSpLocks/>
            </p:cNvGrpSpPr>
            <p:nvPr/>
          </p:nvGrpSpPr>
          <p:grpSpPr bwMode="auto">
            <a:xfrm>
              <a:off x="2944" y="2520"/>
              <a:ext cx="2340" cy="834"/>
              <a:chOff x="2944" y="2868"/>
              <a:chExt cx="2340" cy="834"/>
            </a:xfrm>
          </p:grpSpPr>
          <p:sp>
            <p:nvSpPr>
              <p:cNvPr id="89099" name="AutoShape 11"/>
              <p:cNvSpPr>
                <a:spLocks noChangeArrowheads="1"/>
              </p:cNvSpPr>
              <p:nvPr/>
            </p:nvSpPr>
            <p:spPr bwMode="auto">
              <a:xfrm>
                <a:off x="3506" y="2868"/>
                <a:ext cx="96" cy="100"/>
              </a:xfrm>
              <a:prstGeom prst="diamond">
                <a:avLst/>
              </a:prstGeom>
              <a:solidFill>
                <a:srgbClr val="FF9900"/>
              </a:solidFill>
              <a:ln w="9525">
                <a:solidFill>
                  <a:srgbClr val="000000"/>
                </a:solidFill>
                <a:miter lim="800000"/>
                <a:headEnd/>
                <a:tailEnd/>
              </a:ln>
              <a:effectLst/>
            </p:spPr>
            <p:txBody>
              <a:bodyPr wrap="none" anchor="ctr"/>
              <a:lstStyle/>
              <a:p>
                <a:endParaRPr lang="en-US"/>
              </a:p>
            </p:txBody>
          </p:sp>
          <p:sp>
            <p:nvSpPr>
              <p:cNvPr id="89100" name="AutoShape 12"/>
              <p:cNvSpPr>
                <a:spLocks noChangeArrowheads="1"/>
              </p:cNvSpPr>
              <p:nvPr/>
            </p:nvSpPr>
            <p:spPr bwMode="auto">
              <a:xfrm>
                <a:off x="4243" y="2868"/>
                <a:ext cx="96" cy="100"/>
              </a:xfrm>
              <a:prstGeom prst="diamond">
                <a:avLst/>
              </a:prstGeom>
              <a:solidFill>
                <a:srgbClr val="FF9900"/>
              </a:solidFill>
              <a:ln w="9525">
                <a:solidFill>
                  <a:srgbClr val="000000"/>
                </a:solidFill>
                <a:miter lim="800000"/>
                <a:headEnd/>
                <a:tailEnd/>
              </a:ln>
              <a:effectLst/>
            </p:spPr>
            <p:txBody>
              <a:bodyPr wrap="none" anchor="ctr"/>
              <a:lstStyle/>
              <a:p>
                <a:endParaRPr lang="en-US"/>
              </a:p>
            </p:txBody>
          </p:sp>
          <p:sp>
            <p:nvSpPr>
              <p:cNvPr id="89101" name="AutoShape 13"/>
              <p:cNvSpPr>
                <a:spLocks noChangeArrowheads="1"/>
              </p:cNvSpPr>
              <p:nvPr/>
            </p:nvSpPr>
            <p:spPr bwMode="auto">
              <a:xfrm>
                <a:off x="5188" y="3327"/>
                <a:ext cx="96" cy="100"/>
              </a:xfrm>
              <a:prstGeom prst="diamond">
                <a:avLst/>
              </a:prstGeom>
              <a:solidFill>
                <a:srgbClr val="FF9900"/>
              </a:solidFill>
              <a:ln w="9525">
                <a:solidFill>
                  <a:srgbClr val="000000"/>
                </a:solidFill>
                <a:miter lim="800000"/>
                <a:headEnd/>
                <a:tailEnd/>
              </a:ln>
              <a:effectLst/>
            </p:spPr>
            <p:txBody>
              <a:bodyPr wrap="none" anchor="ctr"/>
              <a:lstStyle/>
              <a:p>
                <a:endParaRPr lang="en-US"/>
              </a:p>
            </p:txBody>
          </p:sp>
          <p:sp>
            <p:nvSpPr>
              <p:cNvPr id="89103" name="AutoShape 15"/>
              <p:cNvSpPr>
                <a:spLocks noChangeArrowheads="1"/>
              </p:cNvSpPr>
              <p:nvPr/>
            </p:nvSpPr>
            <p:spPr bwMode="auto">
              <a:xfrm>
                <a:off x="3379" y="3385"/>
                <a:ext cx="97" cy="100"/>
              </a:xfrm>
              <a:prstGeom prst="diamond">
                <a:avLst/>
              </a:prstGeom>
              <a:solidFill>
                <a:srgbClr val="FF9900"/>
              </a:solidFill>
              <a:ln w="9525">
                <a:solidFill>
                  <a:srgbClr val="000000"/>
                </a:solidFill>
                <a:miter lim="800000"/>
                <a:headEnd/>
                <a:tailEnd/>
              </a:ln>
              <a:effectLst/>
            </p:spPr>
            <p:txBody>
              <a:bodyPr wrap="none" anchor="ctr"/>
              <a:lstStyle/>
              <a:p>
                <a:endParaRPr lang="en-US"/>
              </a:p>
            </p:txBody>
          </p:sp>
          <p:sp>
            <p:nvSpPr>
              <p:cNvPr id="89104" name="AutoShape 16"/>
              <p:cNvSpPr>
                <a:spLocks noChangeArrowheads="1"/>
              </p:cNvSpPr>
              <p:nvPr/>
            </p:nvSpPr>
            <p:spPr bwMode="auto">
              <a:xfrm>
                <a:off x="3742" y="3385"/>
                <a:ext cx="96" cy="100"/>
              </a:xfrm>
              <a:prstGeom prst="diamond">
                <a:avLst/>
              </a:prstGeom>
              <a:solidFill>
                <a:srgbClr val="FF9900"/>
              </a:solidFill>
              <a:ln w="9525">
                <a:solidFill>
                  <a:srgbClr val="000000"/>
                </a:solidFill>
                <a:miter lim="800000"/>
                <a:headEnd/>
                <a:tailEnd/>
              </a:ln>
              <a:effectLst/>
            </p:spPr>
            <p:txBody>
              <a:bodyPr wrap="none" anchor="ctr"/>
              <a:lstStyle/>
              <a:p>
                <a:endParaRPr lang="en-US"/>
              </a:p>
            </p:txBody>
          </p:sp>
          <p:sp>
            <p:nvSpPr>
              <p:cNvPr id="89105" name="AutoShape 17"/>
              <p:cNvSpPr>
                <a:spLocks noChangeArrowheads="1"/>
              </p:cNvSpPr>
              <p:nvPr/>
            </p:nvSpPr>
            <p:spPr bwMode="auto">
              <a:xfrm>
                <a:off x="2944" y="3602"/>
                <a:ext cx="96" cy="100"/>
              </a:xfrm>
              <a:prstGeom prst="diamond">
                <a:avLst/>
              </a:prstGeom>
              <a:solidFill>
                <a:srgbClr val="FF9900"/>
              </a:solidFill>
              <a:ln w="9525">
                <a:solidFill>
                  <a:srgbClr val="000000"/>
                </a:solidFill>
                <a:miter lim="800000"/>
                <a:headEnd/>
                <a:tailEnd/>
              </a:ln>
              <a:effectLst/>
            </p:spPr>
            <p:txBody>
              <a:bodyPr wrap="none" anchor="ctr"/>
              <a:lstStyle/>
              <a:p>
                <a:endParaRPr lang="en-US"/>
              </a:p>
            </p:txBody>
          </p:sp>
          <p:sp>
            <p:nvSpPr>
              <p:cNvPr id="89106" name="AutoShape 18"/>
              <p:cNvSpPr>
                <a:spLocks noChangeArrowheads="1"/>
              </p:cNvSpPr>
              <p:nvPr/>
            </p:nvSpPr>
            <p:spPr bwMode="auto">
              <a:xfrm>
                <a:off x="3553" y="3602"/>
                <a:ext cx="96" cy="100"/>
              </a:xfrm>
              <a:prstGeom prst="diamond">
                <a:avLst/>
              </a:prstGeom>
              <a:solidFill>
                <a:srgbClr val="FF9900"/>
              </a:solidFill>
              <a:ln w="9525">
                <a:solidFill>
                  <a:srgbClr val="000000"/>
                </a:solidFill>
                <a:miter lim="800000"/>
                <a:headEnd/>
                <a:tailEnd/>
              </a:ln>
              <a:effectLst/>
            </p:spPr>
            <p:txBody>
              <a:bodyPr wrap="none" anchor="ctr"/>
              <a:lstStyle/>
              <a:p>
                <a:endParaRPr lang="en-US"/>
              </a:p>
            </p:txBody>
          </p:sp>
        </p:grpSp>
      </p:grpSp>
      <p:grpSp>
        <p:nvGrpSpPr>
          <p:cNvPr id="5" name="Group 22"/>
          <p:cNvGrpSpPr>
            <a:grpSpLocks/>
          </p:cNvGrpSpPr>
          <p:nvPr/>
        </p:nvGrpSpPr>
        <p:grpSpPr bwMode="auto">
          <a:xfrm>
            <a:off x="6084888" y="4827575"/>
            <a:ext cx="2808287" cy="1695450"/>
            <a:chOff x="3833" y="3203"/>
            <a:chExt cx="1769" cy="1068"/>
          </a:xfrm>
        </p:grpSpPr>
        <p:sp>
          <p:nvSpPr>
            <p:cNvPr id="89097" name="Text Box 9"/>
            <p:cNvSpPr txBox="1">
              <a:spLocks noChangeArrowheads="1"/>
            </p:cNvSpPr>
            <p:nvPr/>
          </p:nvSpPr>
          <p:spPr bwMode="auto">
            <a:xfrm>
              <a:off x="3833" y="3521"/>
              <a:ext cx="1769" cy="750"/>
            </a:xfrm>
            <a:prstGeom prst="rect">
              <a:avLst/>
            </a:prstGeom>
            <a:noFill/>
            <a:ln w="9525">
              <a:noFill/>
              <a:miter lim="800000"/>
              <a:headEnd/>
              <a:tailEnd/>
            </a:ln>
            <a:effectLst/>
          </p:spPr>
          <p:txBody>
            <a:bodyPr>
              <a:spAutoFit/>
            </a:bodyPr>
            <a:lstStyle/>
            <a:p>
              <a:pPr>
                <a:spcBef>
                  <a:spcPct val="50000"/>
                </a:spcBef>
              </a:pPr>
              <a:r>
                <a:rPr lang="fi-FI">
                  <a:solidFill>
                    <a:schemeClr val="hlink"/>
                  </a:solidFill>
                </a:rPr>
                <a:t>Virhe korjataan ja tarkka tilanne testataan uudelleen (re-test, uudelleen testaus)</a:t>
              </a:r>
              <a:endParaRPr lang="en-US">
                <a:solidFill>
                  <a:schemeClr val="hlink"/>
                </a:solidFill>
              </a:endParaRPr>
            </a:p>
          </p:txBody>
        </p:sp>
        <p:sp>
          <p:nvSpPr>
            <p:cNvPr id="89109" name="Rectangle 21"/>
            <p:cNvSpPr>
              <a:spLocks noChangeArrowheads="1"/>
            </p:cNvSpPr>
            <p:nvPr/>
          </p:nvSpPr>
          <p:spPr bwMode="auto">
            <a:xfrm>
              <a:off x="3878" y="3203"/>
              <a:ext cx="136" cy="136"/>
            </a:xfrm>
            <a:prstGeom prst="rect">
              <a:avLst/>
            </a:prstGeom>
            <a:solidFill>
              <a:schemeClr val="hlink"/>
            </a:solidFill>
            <a:ln w="9525">
              <a:solidFill>
                <a:schemeClr val="tx1"/>
              </a:solidFill>
              <a:miter lim="800000"/>
              <a:headEnd/>
              <a:tailEnd/>
            </a:ln>
            <a:effectLst/>
          </p:spPr>
          <p:txBody>
            <a:bodyPr wrap="none" anchor="ctr"/>
            <a:lstStyle/>
            <a:p>
              <a:endParaRPr lang="en-US"/>
            </a:p>
          </p:txBody>
        </p:sp>
      </p:grpSp>
      <p:grpSp>
        <p:nvGrpSpPr>
          <p:cNvPr id="6" name="Group 28"/>
          <p:cNvGrpSpPr>
            <a:grpSpLocks/>
          </p:cNvGrpSpPr>
          <p:nvPr/>
        </p:nvGrpSpPr>
        <p:grpSpPr bwMode="auto">
          <a:xfrm>
            <a:off x="5219700" y="1824025"/>
            <a:ext cx="3455988" cy="3363912"/>
            <a:chOff x="3288" y="1311"/>
            <a:chExt cx="2177" cy="2119"/>
          </a:xfrm>
        </p:grpSpPr>
        <p:sp>
          <p:nvSpPr>
            <p:cNvPr id="89112" name="Text Box 24"/>
            <p:cNvSpPr txBox="1">
              <a:spLocks noChangeArrowheads="1"/>
            </p:cNvSpPr>
            <p:nvPr/>
          </p:nvSpPr>
          <p:spPr bwMode="auto">
            <a:xfrm>
              <a:off x="3288" y="1311"/>
              <a:ext cx="2177" cy="577"/>
            </a:xfrm>
            <a:prstGeom prst="rect">
              <a:avLst/>
            </a:prstGeom>
            <a:noFill/>
            <a:ln w="9525">
              <a:noFill/>
              <a:miter lim="800000"/>
              <a:headEnd/>
              <a:tailEnd/>
            </a:ln>
            <a:effectLst/>
          </p:spPr>
          <p:txBody>
            <a:bodyPr>
              <a:spAutoFit/>
            </a:bodyPr>
            <a:lstStyle/>
            <a:p>
              <a:pPr>
                <a:spcBef>
                  <a:spcPct val="50000"/>
                </a:spcBef>
              </a:pPr>
              <a:r>
                <a:rPr lang="fi-FI" dirty="0">
                  <a:solidFill>
                    <a:schemeClr val="folHlink"/>
                  </a:solidFill>
                </a:rPr>
                <a:t>S</a:t>
              </a:r>
              <a:r>
                <a:rPr lang="fi-FI" dirty="0" smtClean="0">
                  <a:solidFill>
                    <a:schemeClr val="folHlink"/>
                  </a:solidFill>
                </a:rPr>
                <a:t>uoritetaan </a:t>
              </a:r>
              <a:r>
                <a:rPr lang="fi-FI" dirty="0">
                  <a:solidFill>
                    <a:schemeClr val="folHlink"/>
                  </a:solidFill>
                </a:rPr>
                <a:t>aiemmin jo läpäistyjä testejä sivuvaikutusten löytämiseksi</a:t>
              </a:r>
              <a:endParaRPr lang="en-US" dirty="0">
                <a:solidFill>
                  <a:schemeClr val="folHlink"/>
                </a:solidFill>
              </a:endParaRPr>
            </a:p>
          </p:txBody>
        </p:sp>
        <p:sp>
          <p:nvSpPr>
            <p:cNvPr id="89113" name="Freeform 25"/>
            <p:cNvSpPr>
              <a:spLocks/>
            </p:cNvSpPr>
            <p:nvPr/>
          </p:nvSpPr>
          <p:spPr bwMode="auto">
            <a:xfrm>
              <a:off x="3424" y="2069"/>
              <a:ext cx="892" cy="1361"/>
            </a:xfrm>
            <a:custGeom>
              <a:avLst/>
              <a:gdLst/>
              <a:ahLst/>
              <a:cxnLst>
                <a:cxn ang="0">
                  <a:pos x="862" y="0"/>
                </a:cxn>
                <a:cxn ang="0">
                  <a:pos x="862" y="499"/>
                </a:cxn>
                <a:cxn ang="0">
                  <a:pos x="681" y="635"/>
                </a:cxn>
                <a:cxn ang="0">
                  <a:pos x="363" y="1044"/>
                </a:cxn>
                <a:cxn ang="0">
                  <a:pos x="136" y="1270"/>
                </a:cxn>
                <a:cxn ang="0">
                  <a:pos x="0" y="1361"/>
                </a:cxn>
              </a:cxnLst>
              <a:rect l="0" t="0" r="r" b="b"/>
              <a:pathLst>
                <a:path w="892" h="1361">
                  <a:moveTo>
                    <a:pt x="862" y="0"/>
                  </a:moveTo>
                  <a:cubicBezTo>
                    <a:pt x="877" y="196"/>
                    <a:pt x="892" y="393"/>
                    <a:pt x="862" y="499"/>
                  </a:cubicBezTo>
                  <a:cubicBezTo>
                    <a:pt x="832" y="605"/>
                    <a:pt x="764" y="544"/>
                    <a:pt x="681" y="635"/>
                  </a:cubicBezTo>
                  <a:cubicBezTo>
                    <a:pt x="598" y="726"/>
                    <a:pt x="454" y="938"/>
                    <a:pt x="363" y="1044"/>
                  </a:cubicBezTo>
                  <a:cubicBezTo>
                    <a:pt x="272" y="1150"/>
                    <a:pt x="197" y="1217"/>
                    <a:pt x="136" y="1270"/>
                  </a:cubicBezTo>
                  <a:cubicBezTo>
                    <a:pt x="75" y="1323"/>
                    <a:pt x="53" y="1331"/>
                    <a:pt x="0" y="1361"/>
                  </a:cubicBezTo>
                </a:path>
              </a:pathLst>
            </a:custGeom>
            <a:noFill/>
            <a:ln w="38100" cmpd="sng">
              <a:solidFill>
                <a:schemeClr val="folHlink"/>
              </a:solidFill>
              <a:round/>
              <a:headEnd type="none" w="med" len="med"/>
              <a:tailEnd type="triangle" w="med" len="med"/>
            </a:ln>
            <a:effectLst/>
          </p:spPr>
          <p:txBody>
            <a:bodyPr/>
            <a:lstStyle/>
            <a:p>
              <a:endParaRPr lang="en-US"/>
            </a:p>
          </p:txBody>
        </p:sp>
        <p:sp>
          <p:nvSpPr>
            <p:cNvPr id="89114" name="Freeform 26"/>
            <p:cNvSpPr>
              <a:spLocks/>
            </p:cNvSpPr>
            <p:nvPr/>
          </p:nvSpPr>
          <p:spPr bwMode="auto">
            <a:xfrm>
              <a:off x="4362" y="2160"/>
              <a:ext cx="378" cy="1270"/>
            </a:xfrm>
            <a:custGeom>
              <a:avLst/>
              <a:gdLst/>
              <a:ahLst/>
              <a:cxnLst>
                <a:cxn ang="0">
                  <a:pos x="106" y="0"/>
                </a:cxn>
                <a:cxn ang="0">
                  <a:pos x="287" y="680"/>
                </a:cxn>
                <a:cxn ang="0">
                  <a:pos x="15" y="862"/>
                </a:cxn>
                <a:cxn ang="0">
                  <a:pos x="378" y="1270"/>
                </a:cxn>
              </a:cxnLst>
              <a:rect l="0" t="0" r="r" b="b"/>
              <a:pathLst>
                <a:path w="378" h="1270">
                  <a:moveTo>
                    <a:pt x="106" y="0"/>
                  </a:moveTo>
                  <a:cubicBezTo>
                    <a:pt x="204" y="268"/>
                    <a:pt x="302" y="536"/>
                    <a:pt x="287" y="680"/>
                  </a:cubicBezTo>
                  <a:cubicBezTo>
                    <a:pt x="272" y="824"/>
                    <a:pt x="0" y="764"/>
                    <a:pt x="15" y="862"/>
                  </a:cubicBezTo>
                  <a:cubicBezTo>
                    <a:pt x="30" y="960"/>
                    <a:pt x="310" y="1179"/>
                    <a:pt x="378" y="1270"/>
                  </a:cubicBezTo>
                </a:path>
              </a:pathLst>
            </a:custGeom>
            <a:noFill/>
            <a:ln w="38100" cmpd="sng">
              <a:solidFill>
                <a:schemeClr val="folHlink"/>
              </a:solidFill>
              <a:round/>
              <a:headEnd type="none" w="med" len="med"/>
              <a:tailEnd type="triangle" w="med" len="med"/>
            </a:ln>
            <a:effectLst/>
          </p:spPr>
          <p:txBody>
            <a:bodyPr/>
            <a:lstStyle/>
            <a:p>
              <a:endParaRPr lang="en-US"/>
            </a:p>
          </p:txBody>
        </p:sp>
        <p:sp>
          <p:nvSpPr>
            <p:cNvPr id="89115" name="Line 27"/>
            <p:cNvSpPr>
              <a:spLocks noChangeShapeType="1"/>
            </p:cNvSpPr>
            <p:nvPr/>
          </p:nvSpPr>
          <p:spPr bwMode="auto">
            <a:xfrm flipH="1">
              <a:off x="3379" y="2160"/>
              <a:ext cx="136" cy="1270"/>
            </a:xfrm>
            <a:prstGeom prst="line">
              <a:avLst/>
            </a:prstGeom>
            <a:noFill/>
            <a:ln w="38100">
              <a:solidFill>
                <a:schemeClr val="folHlink"/>
              </a:solidFill>
              <a:round/>
              <a:headEnd/>
              <a:tailEnd type="triangle" w="med" len="med"/>
            </a:ln>
            <a:effectLst/>
          </p:spPr>
          <p:txBody>
            <a:bodyPr/>
            <a:lstStyle/>
            <a:p>
              <a:endParaRPr lang="en-US"/>
            </a:p>
          </p:txBody>
        </p:sp>
      </p:grpSp>
      <p:sp>
        <p:nvSpPr>
          <p:cNvPr id="27" name="Slide Number Placeholder 26"/>
          <p:cNvSpPr>
            <a:spLocks noGrp="1"/>
          </p:cNvSpPr>
          <p:nvPr>
            <p:ph type="sldNum" sz="quarter" idx="12"/>
          </p:nvPr>
        </p:nvSpPr>
        <p:spPr/>
        <p:txBody>
          <a:bodyPr/>
          <a:lstStyle/>
          <a:p>
            <a:fld id="{6EC9AE22-300D-474E-8332-298EA3086E64}" type="slidenum">
              <a:rPr lang="en-US" smtClean="0"/>
              <a:pPr/>
              <a:t>235</a:t>
            </a:fld>
            <a:endParaRPr lang="en-US"/>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fi-FI" dirty="0" smtClean="0"/>
              <a:t>Hyväksymistestauksen automatisointi</a:t>
            </a:r>
            <a:endParaRPr lang="fi-FI" dirty="0"/>
          </a:p>
        </p:txBody>
      </p:sp>
      <p:sp>
        <p:nvSpPr>
          <p:cNvPr id="4" name="Content Placeholder 3"/>
          <p:cNvSpPr>
            <a:spLocks noGrp="1"/>
          </p:cNvSpPr>
          <p:nvPr>
            <p:ph idx="1"/>
          </p:nvPr>
        </p:nvSpPr>
        <p:spPr/>
        <p:txBody>
          <a:bodyPr>
            <a:normAutofit fontScale="70000" lnSpcReduction="20000"/>
          </a:bodyPr>
          <a:lstStyle/>
          <a:p>
            <a:r>
              <a:rPr lang="fi-FI" dirty="0" smtClean="0"/>
              <a:t>Kuten kaikkeen toisteiseen testaukseen, myös hyväksymistestaukseen kohdistuu automatisointitoiveita</a:t>
            </a:r>
          </a:p>
          <a:p>
            <a:r>
              <a:rPr lang="fi-FI" dirty="0" smtClean="0"/>
              <a:t>Automatisoinnin haasteena käyttöliittymäautomaation herkkyys muutoksille: testit vaativat jatkuvaa ylläpitotyötä</a:t>
            </a:r>
          </a:p>
          <a:p>
            <a:r>
              <a:rPr lang="fi-FI" dirty="0" smtClean="0"/>
              <a:t>Automatisoidut hyväksymistestit kannattaa vastuuttaa ajettavaksi toimittajan / tekijäorganisaatioiden puolesta ja sen jälkeen jättää testaamatta hyväksymistestauksessa</a:t>
            </a:r>
          </a:p>
          <a:p>
            <a:pPr lvl="1"/>
            <a:r>
              <a:rPr lang="fi-FI" dirty="0" smtClean="0"/>
              <a:t>Valvontamekanismi että testit on ajettu on edelleen mahdollinen</a:t>
            </a:r>
          </a:p>
          <a:p>
            <a:pPr lvl="1"/>
            <a:r>
              <a:rPr lang="fi-FI" dirty="0" smtClean="0"/>
              <a:t>Pyrkimyksenä on huolehtia että hyväksyminen voi tapahtua, ei että hyväksymistestausporukka saa estävän virheen kiinni nopeasti</a:t>
            </a:r>
          </a:p>
          <a:p>
            <a:r>
              <a:rPr lang="fi-FI" dirty="0" smtClean="0"/>
              <a:t>Hyväksymistestauksen näkökulman testit toimivat toisinaan toimittajan testejä paremmin valmiusasteen kertojina: ei vain kuten määritelty, vaan kuten tarkoitettu käyttöön</a:t>
            </a:r>
            <a:endParaRPr lang="fi-FI" dirty="0"/>
          </a:p>
        </p:txBody>
      </p:sp>
      <p:sp>
        <p:nvSpPr>
          <p:cNvPr id="5" name="Slide Number Placeholder 4"/>
          <p:cNvSpPr>
            <a:spLocks noGrp="1"/>
          </p:cNvSpPr>
          <p:nvPr>
            <p:ph type="sldNum" sz="quarter" idx="12"/>
          </p:nvPr>
        </p:nvSpPr>
        <p:spPr/>
        <p:txBody>
          <a:bodyPr/>
          <a:lstStyle/>
          <a:p>
            <a:fld id="{7A750B4A-325E-4AA4-BC07-A8C35B32A4F3}" type="slidenum">
              <a:rPr lang="fi-FI" smtClean="0"/>
              <a:pPr/>
              <a:t>236</a:t>
            </a:fld>
            <a:endParaRPr lang="fi-FI"/>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p:txBody>
          <a:bodyPr/>
          <a:lstStyle/>
          <a:p>
            <a:pPr marL="484632" indent="0" fontAlgn="auto">
              <a:spcAft>
                <a:spcPts val="0"/>
              </a:spcAft>
              <a:defRPr/>
            </a:pPr>
            <a:r>
              <a:rPr lang="fi-FI" dirty="0"/>
              <a:t>Käyttäjä vs. Testaaja</a:t>
            </a:r>
            <a:endParaRPr lang="en-US" dirty="0"/>
          </a:p>
        </p:txBody>
      </p:sp>
      <p:sp>
        <p:nvSpPr>
          <p:cNvPr id="32771" name="Rectangle 3"/>
          <p:cNvSpPr>
            <a:spLocks noGrp="1" noChangeArrowheads="1"/>
          </p:cNvSpPr>
          <p:nvPr>
            <p:ph idx="1"/>
          </p:nvPr>
        </p:nvSpPr>
        <p:spPr/>
        <p:txBody>
          <a:bodyPr>
            <a:noAutofit/>
          </a:bodyPr>
          <a:lstStyle/>
          <a:p>
            <a:r>
              <a:rPr lang="fi-FI" sz="2800" dirty="0" smtClean="0"/>
              <a:t>Käyttäjän virheiden löytäminen testaajaa tehottomampaa</a:t>
            </a:r>
          </a:p>
          <a:p>
            <a:pPr lvl="1"/>
            <a:r>
              <a:rPr lang="fi-FI" sz="2400" dirty="0" smtClean="0"/>
              <a:t>Kuka tahansa voi vahingossa osua virheisiin, tavoitteellisuus ja tehokkuus luonnehtivat testaajaa</a:t>
            </a:r>
          </a:p>
          <a:p>
            <a:r>
              <a:rPr lang="fi-FI" sz="2800" dirty="0" smtClean="0"/>
              <a:t>Tehokas testaus</a:t>
            </a:r>
          </a:p>
          <a:p>
            <a:pPr lvl="1"/>
            <a:r>
              <a:rPr lang="fi-FI" sz="2400" dirty="0" smtClean="0"/>
              <a:t>Sisäisesti tehokas: virheitä löytyy nopeammin kuin tavallisessa käytössä</a:t>
            </a:r>
          </a:p>
          <a:p>
            <a:pPr lvl="1"/>
            <a:r>
              <a:rPr lang="fi-FI" sz="2400" dirty="0" smtClean="0"/>
              <a:t>Ulkoisesti tehokas: Löydetyt virheet ovat merkittäviä kokonaisuuden kannalta</a:t>
            </a:r>
          </a:p>
          <a:p>
            <a:r>
              <a:rPr lang="fi-FI" sz="2800" dirty="0" smtClean="0"/>
              <a:t>Erilaiset keinot eri vaiheissa omaavat eri tehokkuuden</a:t>
            </a:r>
            <a:endParaRPr lang="en-US" sz="2800" dirty="0" smtClean="0"/>
          </a:p>
        </p:txBody>
      </p:sp>
      <p:sp>
        <p:nvSpPr>
          <p:cNvPr id="32772" name="Slide Number Placeholder 4"/>
          <p:cNvSpPr>
            <a:spLocks noGrp="1"/>
          </p:cNvSpPr>
          <p:nvPr>
            <p:ph type="sldNum" sz="quarter" idx="12"/>
          </p:nvPr>
        </p:nvSpPr>
        <p:spPr bwMode="auto">
          <a:noFill/>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pPr>
            <a:fld id="{3F7596F5-4E5D-4CB1-8D21-42F3A26767ED}" type="slidenum">
              <a:rPr lang="en-US"/>
              <a:pPr fontAlgn="base">
                <a:spcBef>
                  <a:spcPct val="0"/>
                </a:spcBef>
                <a:spcAft>
                  <a:spcPct val="0"/>
                </a:spcAft>
              </a:pPr>
              <a:t>237</a:t>
            </a:fld>
            <a:endParaRPr lang="en-US"/>
          </a:p>
        </p:txBody>
      </p:sp>
    </p:spTree>
  </p:cSld>
  <p:clrMapOvr>
    <a:masterClrMapping/>
  </p:clrMapOvr>
  <p:timing>
    <p:tnLst>
      <p:par>
        <p:cTn xmlns:p14="http://schemas.microsoft.com/office/powerpoint/2010/main" id="1" dur="indefinite" restart="never" nodeType="tmRoot"/>
      </p:par>
    </p:tnLst>
  </p:timing>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r>
              <a:rPr lang="fi-FI" dirty="0" smtClean="0"/>
              <a:t>Vaatimusten lukeminen ”testaajana”, testi-ideat</a:t>
            </a:r>
            <a:endParaRPr lang="fi-FI" dirty="0"/>
          </a:p>
        </p:txBody>
      </p:sp>
      <p:sp>
        <p:nvSpPr>
          <p:cNvPr id="7" name="Content Placeholder 6"/>
          <p:cNvSpPr>
            <a:spLocks noGrp="1"/>
          </p:cNvSpPr>
          <p:nvPr>
            <p:ph idx="1"/>
          </p:nvPr>
        </p:nvSpPr>
        <p:spPr/>
        <p:txBody>
          <a:bodyPr>
            <a:normAutofit/>
          </a:bodyPr>
          <a:lstStyle/>
          <a:p>
            <a:r>
              <a:rPr lang="fi-FI" sz="2800" dirty="0" smtClean="0"/>
              <a:t>Kuvattu toiminnallisuus kuten kirjattu</a:t>
            </a:r>
          </a:p>
          <a:p>
            <a:r>
              <a:rPr lang="fi-FI" sz="2800" dirty="0" smtClean="0"/>
              <a:t>Kuvattu toiminnallisuus erilaisilla aineistoilla ja syötteillä, eri käyttöoikeuksilla ja eri ympäristöissä</a:t>
            </a:r>
          </a:p>
          <a:p>
            <a:r>
              <a:rPr lang="fi-FI" sz="2800" dirty="0" smtClean="0"/>
              <a:t>Kuvattujen toiminnallisuuksien käyttö kun syötteet ja aineistot eivät olekaan ihan täydellisiä</a:t>
            </a:r>
          </a:p>
          <a:p>
            <a:r>
              <a:rPr lang="fi-FI" sz="2800" dirty="0" smtClean="0"/>
              <a:t>Kuvattujen toiminnallisuuksien käyttö ketjuissa todellisiin tilanteisiin</a:t>
            </a:r>
          </a:p>
          <a:p>
            <a:r>
              <a:rPr lang="fi-FI" sz="2800" dirty="0" smtClean="0"/>
              <a:t>Testiheuristiikat, esim. CRUD (Create – Luo; Read – Lue; Update – Päivitä; Delete – Poista) </a:t>
            </a:r>
            <a:endParaRPr lang="fi-FI" sz="2800"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238</a:t>
            </a:fld>
            <a:endParaRPr lang="fi-FI"/>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pPr defTabSz="762000" eaLnBrk="1" hangingPunct="1"/>
            <a:r>
              <a:rPr lang="fi-FI" smtClean="0"/>
              <a:t>Hyvien testien ominaisuuksia</a:t>
            </a:r>
          </a:p>
        </p:txBody>
      </p:sp>
      <p:sp>
        <p:nvSpPr>
          <p:cNvPr id="3075" name="Rectangle 3"/>
          <p:cNvSpPr>
            <a:spLocks noGrp="1" noChangeArrowheads="1"/>
          </p:cNvSpPr>
          <p:nvPr>
            <p:ph type="body" sz="half" idx="1"/>
          </p:nvPr>
        </p:nvSpPr>
        <p:spPr/>
        <p:txBody>
          <a:bodyPr/>
          <a:lstStyle/>
          <a:p>
            <a:pPr marL="0" indent="0" defTabSz="762000" eaLnBrk="1" hangingPunct="1">
              <a:lnSpc>
                <a:spcPct val="110000"/>
              </a:lnSpc>
            </a:pPr>
            <a:r>
              <a:rPr lang="fi-FI" sz="1400" b="1" dirty="0" smtClean="0"/>
              <a:t>Teho</a:t>
            </a:r>
            <a:r>
              <a:rPr lang="fi-FI" sz="1400" dirty="0" smtClean="0"/>
              <a:t>. Jos ongelma on, testi paljastaa sen.</a:t>
            </a:r>
          </a:p>
          <a:p>
            <a:pPr marL="0" indent="0" defTabSz="762000" eaLnBrk="1" hangingPunct="1">
              <a:lnSpc>
                <a:spcPct val="110000"/>
              </a:lnSpc>
            </a:pPr>
            <a:r>
              <a:rPr lang="fi-FI" sz="1400" b="1" dirty="0" smtClean="0"/>
              <a:t>Merkitys</a:t>
            </a:r>
            <a:r>
              <a:rPr lang="fi-FI" sz="1400" dirty="0" smtClean="0"/>
              <a:t>. Jos testi paljastaa ongelman, se on todellinen. </a:t>
            </a:r>
          </a:p>
          <a:p>
            <a:pPr marL="0" indent="0" defTabSz="762000" eaLnBrk="1" hangingPunct="1">
              <a:lnSpc>
                <a:spcPct val="110000"/>
              </a:lnSpc>
            </a:pPr>
            <a:r>
              <a:rPr lang="fi-FI" sz="1400" b="1" dirty="0" smtClean="0"/>
              <a:t>Arvo</a:t>
            </a:r>
            <a:r>
              <a:rPr lang="fi-FI" sz="1400" dirty="0" smtClean="0"/>
              <a:t>. Testi paljastaa asioita joita asiakkaasi haluavat tietää järjestelmästä tai projekteista.</a:t>
            </a:r>
          </a:p>
          <a:p>
            <a:pPr marL="0" indent="0" defTabSz="762000" eaLnBrk="1" hangingPunct="1">
              <a:lnSpc>
                <a:spcPct val="110000"/>
              </a:lnSpc>
            </a:pPr>
            <a:r>
              <a:rPr lang="fi-FI" sz="1400" b="1" dirty="0" smtClean="0"/>
              <a:t>Uskottava</a:t>
            </a:r>
            <a:r>
              <a:rPr lang="fi-FI" sz="1400" dirty="0" smtClean="0"/>
              <a:t>. Asiakkaasi uskovat että testin sisältämä toiminta tapahtuu oikeassa elämässä. </a:t>
            </a:r>
          </a:p>
          <a:p>
            <a:pPr marL="0" indent="0" defTabSz="762000" eaLnBrk="1" hangingPunct="1">
              <a:lnSpc>
                <a:spcPct val="110000"/>
              </a:lnSpc>
            </a:pPr>
            <a:r>
              <a:rPr lang="fi-FI" sz="1400" b="1" dirty="0" smtClean="0"/>
              <a:t>Edustava. </a:t>
            </a:r>
            <a:r>
              <a:rPr lang="fi-FI" sz="1400" dirty="0" smtClean="0"/>
              <a:t>Käyttäjän oikeasti kohtaamien asioiden osalta. </a:t>
            </a:r>
          </a:p>
          <a:p>
            <a:pPr marL="0" indent="0" defTabSz="762000" eaLnBrk="1" hangingPunct="1">
              <a:lnSpc>
                <a:spcPct val="110000"/>
              </a:lnSpc>
            </a:pPr>
            <a:r>
              <a:rPr lang="fi-FI" sz="1400" b="1" dirty="0" smtClean="0"/>
              <a:t>Toistoa välttävä</a:t>
            </a:r>
            <a:r>
              <a:rPr lang="fi-FI" sz="1400" dirty="0" smtClean="0"/>
              <a:t>. Testi edustaa ryhmää joka kohdistuu samaan riskiin.</a:t>
            </a:r>
          </a:p>
          <a:p>
            <a:pPr marL="0" indent="0" defTabSz="762000" eaLnBrk="1" hangingPunct="1">
              <a:lnSpc>
                <a:spcPct val="110000"/>
              </a:lnSpc>
            </a:pPr>
            <a:r>
              <a:rPr lang="fi-FI" sz="1400" b="1" dirty="0" smtClean="0"/>
              <a:t>Motivoiva</a:t>
            </a:r>
            <a:r>
              <a:rPr lang="fi-FI" sz="1400" dirty="0" smtClean="0"/>
              <a:t>. Testillä löytynyt ongelma halutaan korjata. </a:t>
            </a:r>
          </a:p>
          <a:p>
            <a:pPr marL="0" indent="0" defTabSz="762000" eaLnBrk="1" hangingPunct="1">
              <a:lnSpc>
                <a:spcPct val="110000"/>
              </a:lnSpc>
            </a:pPr>
            <a:r>
              <a:rPr lang="fi-FI" sz="1400" b="1" dirty="0" smtClean="0"/>
              <a:t>Suoritettava</a:t>
            </a:r>
            <a:r>
              <a:rPr lang="fi-FI" sz="1400" dirty="0" smtClean="0"/>
              <a:t>. Voidaan toteuttaa kuten tarkoitettiin. </a:t>
            </a:r>
          </a:p>
          <a:p>
            <a:pPr marL="0" indent="0" defTabSz="762000" eaLnBrk="1" hangingPunct="1">
              <a:lnSpc>
                <a:spcPct val="110000"/>
              </a:lnSpc>
            </a:pPr>
            <a:r>
              <a:rPr lang="fi-FI" sz="1400" b="1" dirty="0" smtClean="0"/>
              <a:t>Ylläpidettävä</a:t>
            </a:r>
            <a:r>
              <a:rPr lang="fi-FI" sz="1400" dirty="0" smtClean="0"/>
              <a:t>. Helppo päivittää muutoksissa. </a:t>
            </a:r>
          </a:p>
          <a:p>
            <a:pPr marL="0" indent="0" defTabSz="762000" eaLnBrk="1" hangingPunct="1">
              <a:lnSpc>
                <a:spcPct val="110000"/>
              </a:lnSpc>
            </a:pPr>
            <a:endParaRPr lang="fi-FI" sz="1400" dirty="0" smtClean="0"/>
          </a:p>
        </p:txBody>
      </p:sp>
      <p:sp>
        <p:nvSpPr>
          <p:cNvPr id="3076" name="Rectangle 4"/>
          <p:cNvSpPr>
            <a:spLocks noGrp="1" noChangeArrowheads="1"/>
          </p:cNvSpPr>
          <p:nvPr>
            <p:ph type="body" sz="half" idx="2"/>
          </p:nvPr>
        </p:nvSpPr>
        <p:spPr/>
        <p:txBody>
          <a:bodyPr>
            <a:normAutofit/>
          </a:bodyPr>
          <a:lstStyle/>
          <a:p>
            <a:pPr marL="0" indent="0" defTabSz="762000" eaLnBrk="1" hangingPunct="1">
              <a:lnSpc>
                <a:spcPct val="110000"/>
              </a:lnSpc>
            </a:pPr>
            <a:r>
              <a:rPr lang="fi-FI" sz="1400" b="1" smtClean="0"/>
              <a:t>Toistettava</a:t>
            </a:r>
            <a:r>
              <a:rPr lang="fi-FI" sz="1400" smtClean="0"/>
              <a:t>. Helppoa ja halpaa uudelleen käyttää.</a:t>
            </a:r>
          </a:p>
          <a:p>
            <a:pPr marL="0" indent="0" defTabSz="762000" eaLnBrk="1" hangingPunct="1">
              <a:lnSpc>
                <a:spcPct val="110000"/>
              </a:lnSpc>
            </a:pPr>
            <a:r>
              <a:rPr lang="fi-FI" sz="1400" b="1" smtClean="0"/>
              <a:t>Paljastava</a:t>
            </a:r>
            <a:r>
              <a:rPr lang="fi-FI" sz="1400" smtClean="0"/>
              <a:t>. Opettaa jotain omista kriittisistä oletuksistamme.</a:t>
            </a:r>
          </a:p>
          <a:p>
            <a:pPr marL="0" indent="0" defTabSz="762000" eaLnBrk="1" hangingPunct="1">
              <a:lnSpc>
                <a:spcPct val="110000"/>
              </a:lnSpc>
            </a:pPr>
            <a:r>
              <a:rPr lang="fi-FI" sz="1400" b="1" smtClean="0"/>
              <a:t>Kattava</a:t>
            </a:r>
            <a:r>
              <a:rPr lang="fi-FI" sz="1400" smtClean="0"/>
              <a:t>. Käsittelee ominaisuuksia joita muut testit eivät kosketa</a:t>
            </a:r>
          </a:p>
          <a:p>
            <a:pPr marL="0" indent="0" defTabSz="762000" eaLnBrk="1" hangingPunct="1">
              <a:lnSpc>
                <a:spcPct val="110000"/>
              </a:lnSpc>
            </a:pPr>
            <a:r>
              <a:rPr lang="fi-FI" sz="1400" b="1" smtClean="0"/>
              <a:t>Helppo arvottaa</a:t>
            </a:r>
            <a:r>
              <a:rPr lang="fi-FI" sz="1400" smtClean="0"/>
              <a:t>. Tiedetään löytyykö virhe.  </a:t>
            </a:r>
          </a:p>
          <a:p>
            <a:pPr marL="0" indent="0" defTabSz="762000" eaLnBrk="1" hangingPunct="1">
              <a:lnSpc>
                <a:spcPct val="110000"/>
              </a:lnSpc>
            </a:pPr>
            <a:r>
              <a:rPr lang="fi-FI" sz="1400" b="1" smtClean="0"/>
              <a:t>Auttaa ongelman paikallistamisessa</a:t>
            </a:r>
            <a:r>
              <a:rPr lang="fi-FI" sz="1400" smtClean="0"/>
              <a:t>. Tietoa vikaa paikallistavalle ohjelmoijalle. </a:t>
            </a:r>
          </a:p>
          <a:p>
            <a:pPr marL="0" indent="0" defTabSz="762000" eaLnBrk="1" hangingPunct="1">
              <a:lnSpc>
                <a:spcPct val="110000"/>
              </a:lnSpc>
            </a:pPr>
            <a:r>
              <a:rPr lang="fi-FI" sz="1400" b="1" smtClean="0"/>
              <a:t>Sopivan monimutkainen</a:t>
            </a:r>
            <a:r>
              <a:rPr lang="fi-FI" sz="1400" smtClean="0"/>
              <a:t>. Perusvakauden jälkeen edustaa paremmin kokeneiden käyttäjien käyttötilanteita. </a:t>
            </a:r>
          </a:p>
          <a:p>
            <a:pPr marL="0" indent="0" defTabSz="762000" eaLnBrk="1" hangingPunct="1">
              <a:lnSpc>
                <a:spcPct val="110000"/>
              </a:lnSpc>
            </a:pPr>
            <a:r>
              <a:rPr lang="fi-FI" sz="1400" b="1" smtClean="0"/>
              <a:t>Jäljitettävissä</a:t>
            </a:r>
            <a:r>
              <a:rPr lang="fi-FI" sz="1400" smtClean="0"/>
              <a:t>. Pystyt selittämään, perustelemaan ja todistamaan että se suoritettiin.</a:t>
            </a:r>
          </a:p>
          <a:p>
            <a:pPr marL="0" indent="0" defTabSz="762000" eaLnBrk="1" hangingPunct="1">
              <a:lnSpc>
                <a:spcPct val="110000"/>
              </a:lnSpc>
            </a:pPr>
            <a:r>
              <a:rPr lang="fi-FI" sz="1400" b="1" smtClean="0"/>
              <a:t>Kustannus</a:t>
            </a:r>
            <a:r>
              <a:rPr lang="fi-FI" sz="1400" smtClean="0"/>
              <a:t>. Sisältää niin ajan kuin työmäärän, samoin kuin suorat kustannukset. </a:t>
            </a:r>
          </a:p>
          <a:p>
            <a:pPr marL="0" indent="0" defTabSz="762000" eaLnBrk="1" hangingPunct="1">
              <a:lnSpc>
                <a:spcPct val="110000"/>
              </a:lnSpc>
            </a:pPr>
            <a:r>
              <a:rPr lang="fi-FI" sz="1400" b="1" smtClean="0"/>
              <a:t>Vaihtoehtoiskustannus</a:t>
            </a:r>
            <a:r>
              <a:rPr lang="fi-FI" sz="1400" smtClean="0"/>
              <a:t>. Mitä muuta työtä testi sai jättämään tekemättä?</a:t>
            </a:r>
          </a:p>
        </p:txBody>
      </p:sp>
      <p:sp>
        <p:nvSpPr>
          <p:cNvPr id="3077" name="Rectangle 5"/>
          <p:cNvSpPr>
            <a:spLocks noChangeArrowheads="1"/>
          </p:cNvSpPr>
          <p:nvPr/>
        </p:nvSpPr>
        <p:spPr bwMode="auto">
          <a:xfrm>
            <a:off x="304800" y="6021288"/>
            <a:ext cx="8458200" cy="304800"/>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fi-FI" dirty="0"/>
              <a:t>Eri testeille eri ominaisuudet tärkeitä. Ominaisuudet osin keskenään ristiriidassa.</a:t>
            </a:r>
            <a:endParaRPr lang="en-US" dirty="0"/>
          </a:p>
        </p:txBody>
      </p:sp>
      <p:sp>
        <p:nvSpPr>
          <p:cNvPr id="6" name="Slide Number Placeholder 5"/>
          <p:cNvSpPr>
            <a:spLocks noGrp="1"/>
          </p:cNvSpPr>
          <p:nvPr>
            <p:ph type="sldNum" sz="quarter" idx="12"/>
          </p:nvPr>
        </p:nvSpPr>
        <p:spPr/>
        <p:txBody>
          <a:bodyPr/>
          <a:lstStyle/>
          <a:p>
            <a:fld id="{7A750B4A-325E-4AA4-BC07-A8C35B32A4F3}" type="slidenum">
              <a:rPr lang="fi-FI" smtClean="0"/>
              <a:pPr/>
              <a:t>239</a:t>
            </a:fld>
            <a:endParaRPr lang="fi-FI"/>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Lopetusharjoitus: Hyväksymistestauksen tarve ja tila</a:t>
            </a:r>
            <a:endParaRPr lang="fi-FI" dirty="0"/>
          </a:p>
        </p:txBody>
      </p:sp>
      <p:sp>
        <p:nvSpPr>
          <p:cNvPr id="4" name="Content Placeholder 3"/>
          <p:cNvSpPr>
            <a:spLocks noGrp="1"/>
          </p:cNvSpPr>
          <p:nvPr>
            <p:ph sz="half" idx="1"/>
          </p:nvPr>
        </p:nvSpPr>
        <p:spPr/>
        <p:txBody>
          <a:bodyPr>
            <a:normAutofit/>
          </a:bodyPr>
          <a:lstStyle/>
          <a:p>
            <a:r>
              <a:rPr lang="fi-FI" dirty="0" smtClean="0"/>
              <a:t>Päivitetään kurssin alussa tehtyä analyysia hyväksymistestauksen tarpeesta ja tilasta</a:t>
            </a:r>
          </a:p>
          <a:p>
            <a:r>
              <a:rPr lang="fi-FI" dirty="0" smtClean="0"/>
              <a:t>Katse tulevaan: millaisia uusia mahdollisuuksia ja uhkia löysimme?</a:t>
            </a:r>
          </a:p>
        </p:txBody>
      </p:sp>
      <p:graphicFrame>
        <p:nvGraphicFramePr>
          <p:cNvPr id="6" name="Content Placeholder 5"/>
          <p:cNvGraphicFramePr>
            <a:graphicFrameLocks noGrp="1"/>
          </p:cNvGraphicFramePr>
          <p:nvPr>
            <p:ph sz="half" idx="2"/>
          </p:nvPr>
        </p:nvGraphicFramePr>
        <p:xfrm>
          <a:off x="4648200" y="1600200"/>
          <a:ext cx="4038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p:cNvSpPr txBox="1"/>
          <p:nvPr/>
        </p:nvSpPr>
        <p:spPr>
          <a:xfrm>
            <a:off x="6715140" y="1571612"/>
            <a:ext cx="1714512" cy="646331"/>
          </a:xfrm>
          <a:prstGeom prst="rect">
            <a:avLst/>
          </a:prstGeom>
          <a:noFill/>
        </p:spPr>
        <p:txBody>
          <a:bodyPr wrap="square" rtlCol="0">
            <a:spAutoFit/>
          </a:bodyPr>
          <a:lstStyle/>
          <a:p>
            <a:r>
              <a:rPr lang="fi-FI" dirty="0" smtClean="0"/>
              <a:t>Tulevaisuus, muutos</a:t>
            </a:r>
            <a:endParaRPr lang="fi-FI" dirty="0"/>
          </a:p>
        </p:txBody>
      </p:sp>
      <p:sp>
        <p:nvSpPr>
          <p:cNvPr id="8" name="TextBox 7"/>
          <p:cNvSpPr txBox="1"/>
          <p:nvPr/>
        </p:nvSpPr>
        <p:spPr>
          <a:xfrm>
            <a:off x="4857752" y="1571612"/>
            <a:ext cx="1714512" cy="646331"/>
          </a:xfrm>
          <a:prstGeom prst="rect">
            <a:avLst/>
          </a:prstGeom>
          <a:noFill/>
        </p:spPr>
        <p:txBody>
          <a:bodyPr wrap="square" rtlCol="0">
            <a:spAutoFit/>
          </a:bodyPr>
          <a:lstStyle/>
          <a:p>
            <a:pPr algn="r"/>
            <a:r>
              <a:rPr lang="fi-FI" dirty="0" smtClean="0"/>
              <a:t>Nykytila, </a:t>
            </a:r>
            <a:br>
              <a:rPr lang="fi-FI" dirty="0" smtClean="0"/>
            </a:br>
            <a:r>
              <a:rPr lang="fi-FI" dirty="0" smtClean="0"/>
              <a:t>pohja</a:t>
            </a:r>
            <a:endParaRPr lang="fi-FI" dirty="0"/>
          </a:p>
        </p:txBody>
      </p:sp>
      <p:cxnSp>
        <p:nvCxnSpPr>
          <p:cNvPr id="11" name="Straight Arrow Connector 10"/>
          <p:cNvCxnSpPr/>
          <p:nvPr/>
        </p:nvCxnSpPr>
        <p:spPr>
          <a:xfrm>
            <a:off x="6786578" y="2285992"/>
            <a:ext cx="785818" cy="1588"/>
          </a:xfrm>
          <a:prstGeom prst="straightConnector1">
            <a:avLst/>
          </a:prstGeom>
          <a:ln>
            <a:tailEnd type="arrow"/>
          </a:ln>
        </p:spPr>
        <p:style>
          <a:lnRef idx="3">
            <a:schemeClr val="accent3"/>
          </a:lnRef>
          <a:fillRef idx="0">
            <a:schemeClr val="accent3"/>
          </a:fillRef>
          <a:effectRef idx="2">
            <a:schemeClr val="accent3"/>
          </a:effectRef>
          <a:fontRef idx="minor">
            <a:schemeClr val="tx1"/>
          </a:fontRef>
        </p:style>
      </p:cxnSp>
      <p:cxnSp>
        <p:nvCxnSpPr>
          <p:cNvPr id="13" name="Straight Arrow Connector 12"/>
          <p:cNvCxnSpPr/>
          <p:nvPr/>
        </p:nvCxnSpPr>
        <p:spPr>
          <a:xfrm rot="10800000">
            <a:off x="5715008" y="2285992"/>
            <a:ext cx="785818" cy="1588"/>
          </a:xfrm>
          <a:prstGeom prst="straightConnector1">
            <a:avLst/>
          </a:prstGeom>
          <a:ln>
            <a:tailEnd type="arrow"/>
          </a:ln>
        </p:spPr>
        <p:style>
          <a:lnRef idx="3">
            <a:schemeClr val="accent3"/>
          </a:lnRef>
          <a:fillRef idx="0">
            <a:schemeClr val="accent3"/>
          </a:fillRef>
          <a:effectRef idx="2">
            <a:schemeClr val="accent3"/>
          </a:effectRef>
          <a:fontRef idx="minor">
            <a:schemeClr val="tx1"/>
          </a:fontRef>
        </p:style>
      </p:cxnSp>
      <p:sp>
        <p:nvSpPr>
          <p:cNvPr id="9" name="Slide Number Placeholder 8"/>
          <p:cNvSpPr>
            <a:spLocks noGrp="1"/>
          </p:cNvSpPr>
          <p:nvPr>
            <p:ph type="sldNum" sz="quarter" idx="12"/>
          </p:nvPr>
        </p:nvSpPr>
        <p:spPr/>
        <p:txBody>
          <a:bodyPr/>
          <a:lstStyle/>
          <a:p>
            <a:fld id="{7A750B4A-325E-4AA4-BC07-A8C35B32A4F3}" type="slidenum">
              <a:rPr lang="fi-FI" smtClean="0"/>
              <a:pPr/>
              <a:t>240</a:t>
            </a:fld>
            <a:endParaRPr lang="fi-FI"/>
          </a:p>
        </p:txBody>
      </p:sp>
    </p:spTree>
  </p:cSld>
  <p:clrMapOvr>
    <a:masterClrMapping/>
  </p:clrMapOvr>
  <p:timing>
    <p:tnLst>
      <p:par>
        <p:cTn xmlns:p14="http://schemas.microsoft.com/office/powerpoint/2010/main" id="1" dur="indefinite" restart="never" nodeType="tmRoot"/>
      </p:par>
    </p:tn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fi-FI" dirty="0" smtClean="0"/>
              <a:t>Kysymyksiä, ajatuksia</a:t>
            </a:r>
            <a:br>
              <a:rPr lang="fi-FI" dirty="0" smtClean="0"/>
            </a:br>
            <a:r>
              <a:rPr lang="fi-FI" sz="2700" b="1" dirty="0" smtClean="0"/>
              <a:t>Hyväksymistestaus</a:t>
            </a:r>
            <a:endParaRPr lang="fi-FI" b="1" dirty="0"/>
          </a:p>
        </p:txBody>
      </p:sp>
      <p:graphicFrame>
        <p:nvGraphicFramePr>
          <p:cNvPr id="6" name="Content Placeholder 5"/>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Content Placeholder 4"/>
          <p:cNvSpPr>
            <a:spLocks noGrp="1"/>
          </p:cNvSpPr>
          <p:nvPr>
            <p:ph sz="half" idx="4294967295"/>
          </p:nvPr>
        </p:nvSpPr>
        <p:spPr>
          <a:xfrm>
            <a:off x="5105400" y="1600200"/>
            <a:ext cx="4038600" cy="4525963"/>
          </a:xfrm>
        </p:spPr>
        <p:txBody>
          <a:bodyPr>
            <a:normAutofit/>
          </a:bodyPr>
          <a:lstStyle/>
          <a:p>
            <a:endParaRPr lang="fi-FI" dirty="0" smtClean="0"/>
          </a:p>
          <a:p>
            <a:endParaRPr lang="fi-FI" dirty="0" smtClean="0"/>
          </a:p>
          <a:p>
            <a:pPr>
              <a:buNone/>
            </a:pPr>
            <a:endParaRPr lang="fi-FI" dirty="0"/>
          </a:p>
        </p:txBody>
      </p:sp>
      <p:pic>
        <p:nvPicPr>
          <p:cNvPr id="7" name="Picture 6" descr="C:\Documents and Settings\mpyhajar.CONFORMIQ\Application Data\Microsoft\Media Catalog\Downloaded Clips\cl1f\j0078711.wmf"/>
          <p:cNvPicPr>
            <a:picLocks noChangeAspect="1" noChangeArrowheads="1"/>
          </p:cNvPicPr>
          <p:nvPr/>
        </p:nvPicPr>
        <p:blipFill>
          <a:blip r:embed="rId7" cstate="print"/>
          <a:srcRect/>
          <a:stretch>
            <a:fillRect/>
          </a:stretch>
        </p:blipFill>
        <p:spPr bwMode="auto">
          <a:xfrm>
            <a:off x="1785918" y="2000240"/>
            <a:ext cx="1622425" cy="3933825"/>
          </a:xfrm>
          <a:prstGeom prst="rect">
            <a:avLst/>
          </a:prstGeom>
          <a:noFill/>
        </p:spPr>
      </p:pic>
      <p:pic>
        <p:nvPicPr>
          <p:cNvPr id="8" name="Picture 7" descr="C:\Documents and Settings\mpyhajar.CONFORMIQ\Application Data\Microsoft\Media Catalog\Downloaded Clips\cl1f\j0078625.wmf"/>
          <p:cNvPicPr>
            <a:picLocks noChangeAspect="1" noChangeArrowheads="1"/>
          </p:cNvPicPr>
          <p:nvPr/>
        </p:nvPicPr>
        <p:blipFill>
          <a:blip r:embed="rId8" cstate="print"/>
          <a:srcRect/>
          <a:stretch>
            <a:fillRect/>
          </a:stretch>
        </p:blipFill>
        <p:spPr bwMode="auto">
          <a:xfrm>
            <a:off x="6072198" y="1928802"/>
            <a:ext cx="1295400" cy="3933825"/>
          </a:xfrm>
          <a:prstGeom prst="rect">
            <a:avLst/>
          </a:prstGeom>
          <a:noFill/>
        </p:spPr>
      </p:pic>
      <p:sp>
        <p:nvSpPr>
          <p:cNvPr id="9" name="Slide Number Placeholder 8"/>
          <p:cNvSpPr>
            <a:spLocks noGrp="1"/>
          </p:cNvSpPr>
          <p:nvPr>
            <p:ph type="sldNum" sz="quarter" idx="12"/>
          </p:nvPr>
        </p:nvSpPr>
        <p:spPr/>
        <p:txBody>
          <a:bodyPr/>
          <a:lstStyle/>
          <a:p>
            <a:fld id="{7A750B4A-325E-4AA4-BC07-A8C35B32A4F3}" type="slidenum">
              <a:rPr lang="fi-FI" smtClean="0"/>
              <a:pPr/>
              <a:t>241</a:t>
            </a:fld>
            <a:endParaRPr lang="fi-FI"/>
          </a:p>
        </p:txBody>
      </p:sp>
    </p:spTree>
  </p:cSld>
  <p:clrMapOvr>
    <a:masterClrMapping/>
  </p:clrMapOvr>
  <p:timing>
    <p:tnLst>
      <p:par>
        <p:cTn xmlns:p14="http://schemas.microsoft.com/office/powerpoint/2010/main" id="1" dur="indefinite" restart="never" nodeType="tmRoot"/>
      </p:par>
    </p:tn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fi-FI" dirty="0" smtClean="0"/>
              <a:t>Saatesanat kurssin päätteeksi</a:t>
            </a:r>
            <a:endParaRPr lang="fi-FI" dirty="0"/>
          </a:p>
        </p:txBody>
      </p:sp>
      <p:sp>
        <p:nvSpPr>
          <p:cNvPr id="6" name="Content Placeholder 5"/>
          <p:cNvSpPr>
            <a:spLocks noGrp="1"/>
          </p:cNvSpPr>
          <p:nvPr>
            <p:ph idx="1"/>
          </p:nvPr>
        </p:nvSpPr>
        <p:spPr/>
        <p:txBody>
          <a:bodyPr>
            <a:noAutofit/>
          </a:bodyPr>
          <a:lstStyle/>
          <a:p>
            <a:r>
              <a:rPr lang="fi-FI" sz="2400" dirty="0" smtClean="0"/>
              <a:t>Suunnittelu alkaa sopimuksesta ja projektisuunnitelmasta</a:t>
            </a:r>
          </a:p>
          <a:p>
            <a:r>
              <a:rPr lang="fi-FI" sz="2400" dirty="0" smtClean="0"/>
              <a:t>Hyväksymistestausta voi valmistella irrallaan muusta projektitekemisestä, seuraten muutoksia</a:t>
            </a:r>
          </a:p>
          <a:p>
            <a:r>
              <a:rPr lang="fi-FI" sz="2400" dirty="0" smtClean="0"/>
              <a:t>Varhainen palaute on projektin etu: katselmoinnit, inkrementaaliset toimitukset, materiaalien jakaminen</a:t>
            </a:r>
          </a:p>
          <a:p>
            <a:r>
              <a:rPr lang="fi-FI" sz="2400" dirty="0" smtClean="0"/>
              <a:t>Suorituksen aikana näkyvyys etenemiseen tärkeä: saadaanko oikeasti testattua mitä pitikin, pohjana testisuunnitelman sijoittaminen testausajanjaksolle</a:t>
            </a:r>
          </a:p>
          <a:p>
            <a:r>
              <a:rPr lang="fi-FI" sz="2400" dirty="0" smtClean="0"/>
              <a:t>Asiat harvoin menevät niinkuin elokuvissa: tutustu riippuvuuksiin ja varaudu riskeihin – virheitäkin pitää varmaan korjata</a:t>
            </a:r>
            <a:endParaRPr lang="fi-FI" sz="2400"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242</a:t>
            </a:fld>
            <a:endParaRPr lang="fi-FI"/>
          </a:p>
        </p:txBody>
      </p:sp>
    </p:spTree>
  </p:cSld>
  <p:clrMapOvr>
    <a:masterClrMapping/>
  </p:clrMapOvr>
  <p:timing>
    <p:tnLst>
      <p:par>
        <p:cTn xmlns:p14="http://schemas.microsoft.com/office/powerpoint/2010/main" id="1" dur="indefinite" restart="never" nodeType="tmRoot"/>
      </p:par>
    </p:tnLst>
  </p:timing>
</p:sld>
</file>

<file path=ppt/theme/_rels/themeOverride1.xml.rels><?xml version="1.0" encoding="UTF-8" standalone="yes"?>
<Relationships xmlns="http://schemas.openxmlformats.org/package/2006/relationships"><Relationship Id="rId1" Type="http://schemas.openxmlformats.org/officeDocument/2006/relationships/image" Target="../media/image69.jpeg"/></Relationships>
</file>

<file path=ppt/theme/_rels/themeOverride2.xml.rels><?xml version="1.0" encoding="UTF-8" standalone="yes"?>
<Relationships xmlns="http://schemas.openxmlformats.org/package/2006/relationships"><Relationship Id="rId1" Type="http://schemas.openxmlformats.org/officeDocument/2006/relationships/image" Target="../media/image69.jpeg"/></Relationships>
</file>

<file path=ppt/theme/_rels/themeOverride3.xml.rels><?xml version="1.0" encoding="UTF-8" standalone="yes"?>
<Relationships xmlns="http://schemas.openxmlformats.org/package/2006/relationships"><Relationship Id="rId1" Type="http://schemas.openxmlformats.org/officeDocument/2006/relationships/image" Target="../media/image69.jpeg"/></Relationships>
</file>

<file path=ppt/theme/theme1.xml><?xml version="1.0" encoding="utf-8"?>
<a:theme xmlns:a="http://schemas.openxmlformats.org/drawingml/2006/main" name="Office-teema">
  <a:themeElements>
    <a:clrScheme name="Erkkeri">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te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Alkuperäine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Alkuperäine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Alkuperäine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Override>
</file>

<file path=ppt/theme/themeOverride2.xml><?xml version="1.0" encoding="utf-8"?>
<a:themeOverride xmlns:a="http://schemas.openxmlformats.org/drawingml/2006/main">
  <a:clrScheme name="Alkuperäine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Alkuperäine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Alkuperäine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Override>
</file>

<file path=ppt/theme/themeOverride3.xml><?xml version="1.0" encoding="utf-8"?>
<a:themeOverride xmlns:a="http://schemas.openxmlformats.org/drawingml/2006/main">
  <a:clrScheme name="Alkuperäine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Alkuperäine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Alkuperäine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Override>
</file>

<file path=docProps/app.xml><?xml version="1.0" encoding="utf-8"?>
<Properties xmlns="http://schemas.openxmlformats.org/officeDocument/2006/extended-properties" xmlns:vt="http://schemas.openxmlformats.org/officeDocument/2006/docPropsVTypes">
  <TotalTime>3004</TotalTime>
  <Words>15372</Words>
  <Application>Microsoft Macintosh PowerPoint</Application>
  <PresentationFormat>On-screen Show (4:3)</PresentationFormat>
  <Paragraphs>3227</Paragraphs>
  <Slides>242</Slides>
  <Notes>165</Notes>
  <HiddenSlides>19</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242</vt:i4>
      </vt:variant>
    </vt:vector>
  </HeadingPairs>
  <TitlesOfParts>
    <vt:vector size="245" baseType="lpstr">
      <vt:lpstr>Office-teema</vt:lpstr>
      <vt:lpstr>Visio</vt:lpstr>
      <vt:lpstr>MS Org Chart</vt:lpstr>
      <vt:lpstr>Hyväksymistestaus ”testausvastuullisena asiakkaat ja loppukäyttäjät”</vt:lpstr>
      <vt:lpstr>Materiaalista</vt:lpstr>
      <vt:lpstr>Kouluttajasta</vt:lpstr>
      <vt:lpstr>Kurssin visio</vt:lpstr>
      <vt:lpstr>Sisältö</vt:lpstr>
      <vt:lpstr>Harjoitus: Hyväksymistestauksen tarve ja tila</vt:lpstr>
      <vt:lpstr>Sisältö</vt:lpstr>
      <vt:lpstr>Hyväksymistestauksen rooli ja merkitys</vt:lpstr>
      <vt:lpstr>Testaus, laadunvarmistus ja hyväksymistestaus</vt:lpstr>
      <vt:lpstr>Esimerkillä alkuun...</vt:lpstr>
      <vt:lpstr>Hyväksymistestaus  Testausvastuullisena asiakkaat ja loppukäyttäjät </vt:lpstr>
      <vt:lpstr>Hyväksymistesteistä</vt:lpstr>
      <vt:lpstr>PowerPoint Presentation</vt:lpstr>
      <vt:lpstr>Testaus on tärkeä palautemekanismi</vt:lpstr>
      <vt:lpstr>”Testausmatematiikan” erikoislyhyt oppimäärä</vt:lpstr>
      <vt:lpstr>”Testausmatematiikan” erikoislyhyt oppimäärä</vt:lpstr>
      <vt:lpstr>Määrittelyt ja hyväksymistestaus </vt:lpstr>
      <vt:lpstr>Valmiusasteen mittaaminen testauksen kautta</vt:lpstr>
      <vt:lpstr>The ”Beer Game” Lähde mukaillen: James Bach </vt:lpstr>
      <vt:lpstr>Testaaminen vs. korjaaminen</vt:lpstr>
      <vt:lpstr>Testaus ei auta jos korjaaminen ei kuulu kuvioon</vt:lpstr>
      <vt:lpstr>Hyväksymistestauksen puolet</vt:lpstr>
      <vt:lpstr>Hyväksymistestaus</vt:lpstr>
      <vt:lpstr>WHY do testers look both ways when crossing a one-way street?</vt:lpstr>
      <vt:lpstr>Hyväksymistestaus ketterissä menetelmissä</vt:lpstr>
      <vt:lpstr>Hyväksymistestauksen erilainen merkitys ketterissä menetelmissä</vt:lpstr>
      <vt:lpstr>Hyväksymistestiohjattu kehitystapa  (ATDD = Acceptance Test –driven Development)</vt:lpstr>
      <vt:lpstr>Hyväksymistestaus vs. toimittajan tekemä testaus</vt:lpstr>
      <vt:lpstr>Kun mukana on useita organisaatioita...</vt:lpstr>
      <vt:lpstr>Hyväksymistestauksen erityispiirteistä Testaajien osaaminen ja saatavuus</vt:lpstr>
      <vt:lpstr>V-malli – testauksen tasot</vt:lpstr>
      <vt:lpstr>Testaustasojen tyypilliset merkitykset</vt:lpstr>
      <vt:lpstr>Todelliset erot tasoissa</vt:lpstr>
      <vt:lpstr>Termistö</vt:lpstr>
      <vt:lpstr>Tasot, vaiheet ja tyypit, yksi rytmitys</vt:lpstr>
      <vt:lpstr>Testaustasot ja –vaiheet, eroja projekteissa</vt:lpstr>
      <vt:lpstr>Huomioita tasoista ja vaiheista</vt:lpstr>
      <vt:lpstr>Hyväksymistestauksen erot laskunmaksuun ja tuotantoonsiirtoon liittyen</vt:lpstr>
      <vt:lpstr>Dokumentaation katselmointien rooli hyväksymistestauksessa</vt:lpstr>
      <vt:lpstr>Järjestelmätestauksen ja hyväksymistestauksen ero</vt:lpstr>
      <vt:lpstr>Käytännössä sovitaan Asiakkaan osallistuminen</vt:lpstr>
      <vt:lpstr>Hyväksymistestauksen laajuus</vt:lpstr>
      <vt:lpstr>Esimerkki: Toimintamalli 1</vt:lpstr>
      <vt:lpstr>Esimerkki: Toimintamalli 2</vt:lpstr>
      <vt:lpstr>Testauksen tuki</vt:lpstr>
      <vt:lpstr>Asiakas-toimittaja rajapinnan käytännöt</vt:lpstr>
      <vt:lpstr>Monitoimittajaympäristöt ja hyväksymistestaus</vt:lpstr>
      <vt:lpstr>Vallitsevia monitoimittajahankkeen projektinäkemyksiä</vt:lpstr>
      <vt:lpstr>Projektit ja testauksen  laajuus</vt:lpstr>
      <vt:lpstr>Keskeinen näkökulmaero:  testaus vs. projekti</vt:lpstr>
      <vt:lpstr>Huomaa: monentasoista hyväksyntää</vt:lpstr>
      <vt:lpstr>Kokonaisvastuu järjestelmästä saattaa olla asiakkaalla itsellään</vt:lpstr>
      <vt:lpstr>Osatoimituksista tuotantoonsiirtyvään kokonaisuuteen</vt:lpstr>
      <vt:lpstr>Hyväksymistestaus Totta-projektissa</vt:lpstr>
      <vt:lpstr>Laadun ja testauskohteiden monet näkökulmat</vt:lpstr>
      <vt:lpstr>Laatuhierarkia Lähde: Muokattu Gojko Adjicin ideasta</vt:lpstr>
      <vt:lpstr>Toiminnallisen testauksen testaustyyppejä</vt:lpstr>
      <vt:lpstr>Ei-toiminnallisen testauksen testaustyyppejä</vt:lpstr>
      <vt:lpstr>Laadun monet näkökulmat  [ISO 9126-1:2001 standardi]</vt:lpstr>
      <vt:lpstr>Sisältö</vt:lpstr>
      <vt:lpstr>Onnistuneen hyväksymistestauksen edellytykset</vt:lpstr>
      <vt:lpstr>Hyväksymistestauksen prosessi</vt:lpstr>
      <vt:lpstr>Toimituskokonaisuuksien määrittely ja projektointi</vt:lpstr>
      <vt:lpstr>Laatuperuste inkrementaaliselle kehitykselle</vt:lpstr>
      <vt:lpstr>Toimittajan valinta ja sopimukset</vt:lpstr>
      <vt:lpstr>Vaatimusten ja odotusten hallinta</vt:lpstr>
      <vt:lpstr>Puitteiden varmistaminen: toimittajayhteistyö</vt:lpstr>
      <vt:lpstr>Kokonaisjärjestelmän ja osajärjestelmien tunnistaminen</vt:lpstr>
      <vt:lpstr>Aika ei yleensä ole hyväksymistestauksen puolella...</vt:lpstr>
      <vt:lpstr>Testaus aikataulupuristuksessa</vt:lpstr>
      <vt:lpstr>Testaus laatupaineessa</vt:lpstr>
      <vt:lpstr>Mikä on tärkeää aloituksen kannalta?</vt:lpstr>
      <vt:lpstr>Mikä on tärkeää lopetuksen kannalta?</vt:lpstr>
      <vt:lpstr>Hyväksymistestauksen aloituskriteeri</vt:lpstr>
      <vt:lpstr>Hyväksymistestauksen jatkamiskriteeri</vt:lpstr>
      <vt:lpstr>Hyväksymistestauksen lopetuskriteeri</vt:lpstr>
      <vt:lpstr>Onnistumisen edellytyksistä</vt:lpstr>
      <vt:lpstr>Sopimukset ja testaus</vt:lpstr>
      <vt:lpstr>Sopimuksista yleensä</vt:lpstr>
      <vt:lpstr>PowerPoint Presentation</vt:lpstr>
      <vt:lpstr>Erilaisia hyväksymistestauksia</vt:lpstr>
      <vt:lpstr>Tarkistuslista: Keskeiset keskusteltavat periaatteet toimittajan kanssa</vt:lpstr>
      <vt:lpstr>Huomioita</vt:lpstr>
      <vt:lpstr>Testauksen vaatiminen osana toimitusta</vt:lpstr>
      <vt:lpstr>Vaatimusten haasteista</vt:lpstr>
      <vt:lpstr>Toimittajan ohjaamisen vaiheet</vt:lpstr>
      <vt:lpstr>PowerPoint Presentation</vt:lpstr>
      <vt:lpstr>PowerPoint Presentation</vt:lpstr>
      <vt:lpstr>PowerPoint Presentation</vt:lpstr>
      <vt:lpstr>Toimittajalta vaadittavat laadunvarmistus-kontrollit</vt:lpstr>
      <vt:lpstr>Dokumentaation laadunvarmistus</vt:lpstr>
      <vt:lpstr>Järjestelmän laadunvarmistus</vt:lpstr>
      <vt:lpstr>Esimerkki: Projektin kokonaistestauksen laatukriteeristö</vt:lpstr>
      <vt:lpstr>Vaiheittainen kehitysmalli &amp; muutoshallinnan henki</vt:lpstr>
      <vt:lpstr>Aloitus- ja luovutuskoe</vt:lpstr>
      <vt:lpstr>Luovutuskokeen tarve</vt:lpstr>
      <vt:lpstr>Aloituskoe Osana Testauksen kokonaisuutta</vt:lpstr>
      <vt:lpstr>Luovutuskoe osana testauksen kokonaisuutta</vt:lpstr>
      <vt:lpstr>Luovutuskokeen rooli hyväksymistestausprosessissa</vt:lpstr>
      <vt:lpstr>Huomattavaa: Luovutuskoe voi olla osa toimittajan testausprosessia</vt:lpstr>
      <vt:lpstr>Huomattavaa: Luovutuskoe voi olla osa asiakkaan testausprosessia</vt:lpstr>
      <vt:lpstr>Luovutuskokeen tarve</vt:lpstr>
      <vt:lpstr>Vaihtoehtoja: Miten toimittaja osoittaa virheettömyyden</vt:lpstr>
      <vt:lpstr>Keskeinen kysymys: Vaatimukset toimittajan tuottamalle testauspalvelulle</vt:lpstr>
      <vt:lpstr>Monitoimittajatilanne luovutuskokeissa</vt:lpstr>
      <vt:lpstr>Sisältö</vt:lpstr>
      <vt:lpstr>Hyväksymistestauksen organisointi ja puitteet</vt:lpstr>
      <vt:lpstr>Testausprosessi</vt:lpstr>
      <vt:lpstr>Testauksen tilannemalli</vt:lpstr>
      <vt:lpstr>Annetut tarkemmin</vt:lpstr>
      <vt:lpstr>Testausprosessi  Muokattu: Pol &amp; Van Veenendaal. TMap. </vt:lpstr>
      <vt:lpstr>Erilaisia testauspersoonia Lähde: Lloyd Roden. Choosing and Managing the Ideal Test Team. Stickyminds.com</vt:lpstr>
      <vt:lpstr>Hyväksymistestaus</vt:lpstr>
      <vt:lpstr>Yleinen toimintatapa</vt:lpstr>
      <vt:lpstr>Toivottu muutos</vt:lpstr>
      <vt:lpstr>Toivottu muutos riskitilanne</vt:lpstr>
      <vt:lpstr>Vaihtoehtoinen toivetila resurssoinnissa</vt:lpstr>
      <vt:lpstr>Toistuva hyväksymistestaus ylläpitoluonteiselle kehitystyölle</vt:lpstr>
      <vt:lpstr>Havaintojen kirjaamisen ja käsittelyn prosessi</vt:lpstr>
      <vt:lpstr>Havainnot ja virheet</vt:lpstr>
      <vt:lpstr>Havainnot välineessä – Miksi? </vt:lpstr>
      <vt:lpstr>Havaintoraportin keskeiset tiedot</vt:lpstr>
      <vt:lpstr>Yksinkertaistettu virheraportin elinkaari</vt:lpstr>
      <vt:lpstr>Tehtävät avoimena oleville havainnoille</vt:lpstr>
      <vt:lpstr>Päätöksenteko New-tilaisella havainnolla</vt:lpstr>
      <vt:lpstr>Havaintokirjausten vastuunvaihdot</vt:lpstr>
      <vt:lpstr>Havaintokirjausten vastuunvaihdot</vt:lpstr>
      <vt:lpstr>Tehtävät prosessissa / Asiakkaan kirjaamat havainnot</vt:lpstr>
      <vt:lpstr>Tuotannossa ei ole virheettömiä sovelluksia</vt:lpstr>
      <vt:lpstr>Tiedosta käsittelykustannukset Lähde: Kaner, Bach, Pettichord. 2002. Lessons Learned in Software Testing. </vt:lpstr>
      <vt:lpstr>Kaikkia virheitä ei korjata</vt:lpstr>
      <vt:lpstr>Havainnot: aika- ja kustannuslaskenta</vt:lpstr>
      <vt:lpstr>Havaintoprosessin laadunvarmistus</vt:lpstr>
      <vt:lpstr>Esimerkki havainnon käsittelystä</vt:lpstr>
      <vt:lpstr>Lopputilojen merkitykset</vt:lpstr>
      <vt:lpstr>Testiympäristöt ja -aineistot</vt:lpstr>
      <vt:lpstr>Testaus tuotannossa?</vt:lpstr>
      <vt:lpstr>Testiaineistot ja testiympäristöt</vt:lpstr>
      <vt:lpstr>Testiaineistoprosessi</vt:lpstr>
      <vt:lpstr>Testiaineiston saamisen vaihtoehtoja</vt:lpstr>
      <vt:lpstr>Testiaineiston käsittelyn haasteita</vt:lpstr>
      <vt:lpstr>Testiympäristö / Sidosryhmät</vt:lpstr>
      <vt:lpstr>Testiympäristön jakaminen toimittajan kanssa hyväksymistestauskaudella</vt:lpstr>
      <vt:lpstr>Malli 1: Ympäristöjen eriyttäminen</vt:lpstr>
      <vt:lpstr>Malli 2: Ympäristön jakaminen pelisäännöin</vt:lpstr>
      <vt:lpstr>Malli 3: Hyväksymistestauksen keskeyttäminen</vt:lpstr>
      <vt:lpstr>Testimateriaalit</vt:lpstr>
      <vt:lpstr>Tilanteen raportoiminen</vt:lpstr>
      <vt:lpstr>Hyväksymistestauksen raportointitarpeet</vt:lpstr>
      <vt:lpstr>Testauksen raportointi</vt:lpstr>
      <vt:lpstr>Testitapausten määrän mittaaminen</vt:lpstr>
      <vt:lpstr>Esimerkki: HT 10.10.2011</vt:lpstr>
      <vt:lpstr>Esimerkki: Hyväksymistestausajanjakson suunnitteluolettamat</vt:lpstr>
      <vt:lpstr>Testausvastaavan rooli</vt:lpstr>
      <vt:lpstr>Projektipäällikön ja testausvastaavan tehtävistä</vt:lpstr>
      <vt:lpstr>Testauspäällikön lisäarvo suhteessa projektipäällikköön</vt:lpstr>
      <vt:lpstr>Testauksen vastuita voi jakaa</vt:lpstr>
      <vt:lpstr>Testauspäällikön odotukset (tietämys vastuun kantamiseen)</vt:lpstr>
      <vt:lpstr>Projekti- ja testaus(projekti)päälliköt</vt:lpstr>
      <vt:lpstr>Testauspalvelukatalogi</vt:lpstr>
      <vt:lpstr>Pääteemat</vt:lpstr>
      <vt:lpstr>Hyväksymistestauksen suunnittelu</vt:lpstr>
      <vt:lpstr>Testauksen suunnittelu (planning)</vt:lpstr>
      <vt:lpstr>Testauksen suunnittelun ajoitukset</vt:lpstr>
      <vt:lpstr>Testauksen tehtäväryhmät</vt:lpstr>
      <vt:lpstr>Hyväksymistestauksen materiaalien antaminen toimittajalle</vt:lpstr>
      <vt:lpstr>Esimerkki: Testauksen suunnittelun  ja hallinnan tehtäviä TMap-testausmenetelmässä</vt:lpstr>
      <vt:lpstr>Hyväksymistestauksen valmistelut </vt:lpstr>
      <vt:lpstr>Harjoitus: Valmistelukohteet käytännössä</vt:lpstr>
      <vt:lpstr>Testaus on investointi laatutietoon</vt:lpstr>
      <vt:lpstr>Hyväksymistestauksen aikataulu ja työmäärä</vt:lpstr>
      <vt:lpstr>Testaussuunnitelman muistisäännöt Morgan, Peter. 2003. Dig the SPACEDIRT. Professional Tester, October 2003. pp. 24- 25</vt:lpstr>
      <vt:lpstr>Testaussuunnitelman kehitys</vt:lpstr>
      <vt:lpstr>Testauksen suunnittelun heuristiikkoja Lähde: Kaner, Bach, Pettichord. Lessons Learned in Software Testing. 2001.</vt:lpstr>
      <vt:lpstr>Testaussuunnitelman laatukriteerit Kaner, Bach, Pettichord. Lessons Learned in Software Testing. 2001.</vt:lpstr>
      <vt:lpstr>Harjoitus: Hyväksymistestauksen suunnittelu</vt:lpstr>
      <vt:lpstr>Harjoitus, jatkuu: Vaiheistetaan suunnittelu</vt:lpstr>
      <vt:lpstr>Testaaminen ja hyväksyminen</vt:lpstr>
      <vt:lpstr>Kuinka ”testaaminen” tapahtuu</vt:lpstr>
      <vt:lpstr>Testaajat testaavat osia kokonaisuudesta</vt:lpstr>
      <vt:lpstr>Testauksen suorittaminen ja testityön kirjaaminen testipäiväkirjaan</vt:lpstr>
      <vt:lpstr>Esimerkki: “Testihallinnan väline” voi olla jotain näinkin yksinkertaista</vt:lpstr>
      <vt:lpstr>Toimittajan testauksien tarkastelu osana hyväksymistestausta</vt:lpstr>
      <vt:lpstr>Tutkiva testaus</vt:lpstr>
      <vt:lpstr>Tutkiva Testaus: Parempia testejä, parempia testaajia!</vt:lpstr>
      <vt:lpstr>Tutkivaan testaukseen valmistautuminen</vt:lpstr>
      <vt:lpstr>Tutkivan testauksen kehikko</vt:lpstr>
      <vt:lpstr>The Pieces in Management Framework</vt:lpstr>
      <vt:lpstr>(Exploratory) Testing Dynamics  Source: Adapted from James Bach, Jon Bach, Michael Bolton. Exploratory Testing Dynamics. v.2.2. 2009</vt:lpstr>
      <vt:lpstr>Keskeisistä taidoista Source: Adapted from James Bach, Jon Bach, Michael Bolton. Exploratory Testing Dynamics. v.2.2. 2009</vt:lpstr>
      <vt:lpstr>Test Ideas / Quick-and-Dirty</vt:lpstr>
      <vt:lpstr>Työkalutuettu toteutus</vt:lpstr>
      <vt:lpstr>Testausraportti (esimerkki)</vt:lpstr>
      <vt:lpstr>Sisältö</vt:lpstr>
      <vt:lpstr>Testaus vaatimuksia ja odotuksia vastaan</vt:lpstr>
      <vt:lpstr>PowerPoint Presentation</vt:lpstr>
      <vt:lpstr>Ydintaidot</vt:lpstr>
      <vt:lpstr>PowerPoint Presentation</vt:lpstr>
      <vt:lpstr>Pitäisi suunnitella testitapauksia – siis mitä ja miksi? </vt:lpstr>
      <vt:lpstr>Vaatimukset testauksen näkökulmasta</vt:lpstr>
      <vt:lpstr>Vaatimukset testauksen näkökulmasta</vt:lpstr>
      <vt:lpstr>Kelpuutus vs. Todennus Validation vs. verification</vt:lpstr>
      <vt:lpstr>Testitapauksiin liittyviä käsitteitä</vt:lpstr>
      <vt:lpstr>Kysymyksen asettelu testauksessa</vt:lpstr>
      <vt:lpstr>Neljä kattavuusnäkökulmaa</vt:lpstr>
      <vt:lpstr>Mikä on testitapaus?</vt:lpstr>
      <vt:lpstr>Testitapaus</vt:lpstr>
      <vt:lpstr>Erilaisia testitapauksia</vt:lpstr>
      <vt:lpstr>Kattavuus: Toiminnallisuus vs. aineisto</vt:lpstr>
      <vt:lpstr>Aineiston merkitys testaukselle</vt:lpstr>
      <vt:lpstr>PowerPoint Presentation</vt:lpstr>
      <vt:lpstr>Testitapauksen koko / plan  lab</vt:lpstr>
      <vt:lpstr>Yleiskäyttöaskeleet, kahden järjestelmän esimerkit</vt:lpstr>
      <vt:lpstr>Yleiskäyttöaskeleet, määrittelyjen uudelleenkirjoitustapa</vt:lpstr>
      <vt:lpstr>PowerPoint Presentation</vt:lpstr>
      <vt:lpstr>Testauksen työjono</vt:lpstr>
      <vt:lpstr>Kuukausisuunnittelu &amp; seuranta</vt:lpstr>
      <vt:lpstr>Keskustelu dokumentaation tukemana</vt:lpstr>
      <vt:lpstr>Tarkistuslistat</vt:lpstr>
      <vt:lpstr>Selkeät havaintoraportit</vt:lpstr>
      <vt:lpstr>Virhetilanteen tunnistaminen</vt:lpstr>
      <vt:lpstr>Odotetut tulokset testauksessa</vt:lpstr>
      <vt:lpstr>Hyväksymistestausta tukevat testitapaukset</vt:lpstr>
      <vt:lpstr>Testitapauksen mallipohja</vt:lpstr>
      <vt:lpstr>Sovellusalueosaamisen ja liiketoimintaprosessin osaamisen käyttö hyväksymistestauksessa</vt:lpstr>
      <vt:lpstr>Yksityiskohtaisten ohjeiden tarve?</vt:lpstr>
      <vt:lpstr>Testitapausten toistettavuudesta</vt:lpstr>
      <vt:lpstr>PowerPoint Presentation</vt:lpstr>
      <vt:lpstr>Testitapausten tavoitteita</vt:lpstr>
      <vt:lpstr>Täysin kattava testaus on mahdotonta</vt:lpstr>
      <vt:lpstr>Neljä kattavuusnäkökulmaa</vt:lpstr>
      <vt:lpstr>Testauksen optimointi</vt:lpstr>
      <vt:lpstr>Testitapausten priorisointi hyväksymistestaukselle: mistä tiedetään mikä on tärkeää liiketoiminnalle</vt:lpstr>
      <vt:lpstr>Milloin on testattu riittävästi kokonaisuuden näkökulmasta ja kuinka arvioida</vt:lpstr>
      <vt:lpstr>Regressiotestaus</vt:lpstr>
      <vt:lpstr>Hyväksymistestauksen automatisointi</vt:lpstr>
      <vt:lpstr>Käyttäjä vs. Testaaja</vt:lpstr>
      <vt:lpstr>Vaatimusten lukeminen ”testaajana”, testi-ideat</vt:lpstr>
      <vt:lpstr>Hyvien testien ominaisuuksia</vt:lpstr>
      <vt:lpstr>Lopetusharjoitus: Hyväksymistestauksen tarve ja tila</vt:lpstr>
      <vt:lpstr>Kysymyksiä, ajatuksia Hyväksymistestaus</vt:lpstr>
      <vt:lpstr>Saatesanat kurssin päätteeksi</vt:lpstr>
    </vt:vector>
  </TitlesOfParts>
  <Company>Inst.tsto. Olof Granlund Oy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 1</dc:title>
  <dc:creator>Pyhäjärvi Maaret</dc:creator>
  <cp:lastModifiedBy>Maaret Pyhäjärvi</cp:lastModifiedBy>
  <cp:revision>93</cp:revision>
  <dcterms:created xsi:type="dcterms:W3CDTF">2014-08-14T04:25:09Z</dcterms:created>
  <dcterms:modified xsi:type="dcterms:W3CDTF">2015-03-23T07:34:44Z</dcterms:modified>
</cp:coreProperties>
</file>