
<file path=[Content_Types].xml><?xml version="1.0" encoding="utf-8"?>
<Types xmlns="http://schemas.openxmlformats.org/package/2006/content-types">
  <Default Extension="xml" ContentType="application/xml"/>
  <Default Extension="wmf" ContentType="image/x-wmf"/>
  <Default Extension="doc" ContentType="application/msword"/>
  <Default Extension="jpeg" ContentType="image/jpeg"/>
  <Default Extension="rels" ContentType="application/vnd.openxmlformats-package.relationships+xml"/>
  <Default Extension="emf" ContentType="image/x-emf"/>
  <Default Extension="vml" ContentType="application/vnd.openxmlformats-officedocument.vmlDrawing"/>
  <Default Extension="xls" ContentType="application/vnd.ms-exce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embeddings/oleObject1.bin" ContentType="application/vnd.openxmlformats-officedocument.oleObject"/>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embeddings/oleObject6.bin" ContentType="application/vnd.openxmlformats-officedocument.oleObject"/>
  <Override PartName="/ppt/notesSlides/notesSlide60.xml" ContentType="application/vnd.openxmlformats-officedocument.presentationml.notesSlide+xml"/>
  <Override PartName="/ppt/embeddings/oleObject7.bin" ContentType="application/vnd.openxmlformats-officedocument.oleObject"/>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handoutMasterIdLst>
    <p:handoutMasterId r:id="rId86"/>
  </p:handoutMasterIdLst>
  <p:sldIdLst>
    <p:sldId id="264" r:id="rId2"/>
    <p:sldId id="353" r:id="rId3"/>
    <p:sldId id="354" r:id="rId4"/>
    <p:sldId id="345" r:id="rId5"/>
    <p:sldId id="340" r:id="rId6"/>
    <p:sldId id="352" r:id="rId7"/>
    <p:sldId id="355" r:id="rId8"/>
    <p:sldId id="356" r:id="rId9"/>
    <p:sldId id="346" r:id="rId10"/>
    <p:sldId id="341" r:id="rId11"/>
    <p:sldId id="362" r:id="rId12"/>
    <p:sldId id="357" r:id="rId13"/>
    <p:sldId id="360" r:id="rId14"/>
    <p:sldId id="361" r:id="rId15"/>
    <p:sldId id="363" r:id="rId16"/>
    <p:sldId id="364" r:id="rId17"/>
    <p:sldId id="365" r:id="rId18"/>
    <p:sldId id="366" r:id="rId19"/>
    <p:sldId id="367" r:id="rId20"/>
    <p:sldId id="369" r:id="rId21"/>
    <p:sldId id="433" r:id="rId22"/>
    <p:sldId id="347" r:id="rId23"/>
    <p:sldId id="342" r:id="rId24"/>
    <p:sldId id="371" r:id="rId25"/>
    <p:sldId id="372" r:id="rId26"/>
    <p:sldId id="373" r:id="rId27"/>
    <p:sldId id="374" r:id="rId28"/>
    <p:sldId id="375" r:id="rId29"/>
    <p:sldId id="376" r:id="rId30"/>
    <p:sldId id="377" r:id="rId31"/>
    <p:sldId id="378" r:id="rId32"/>
    <p:sldId id="379" r:id="rId33"/>
    <p:sldId id="380" r:id="rId34"/>
    <p:sldId id="370" r:id="rId35"/>
    <p:sldId id="381" r:id="rId36"/>
    <p:sldId id="412" r:id="rId37"/>
    <p:sldId id="382" r:id="rId38"/>
    <p:sldId id="383" r:id="rId39"/>
    <p:sldId id="384" r:id="rId40"/>
    <p:sldId id="385" r:id="rId41"/>
    <p:sldId id="386" r:id="rId42"/>
    <p:sldId id="387" r:id="rId43"/>
    <p:sldId id="388" r:id="rId44"/>
    <p:sldId id="389" r:id="rId45"/>
    <p:sldId id="393" r:id="rId46"/>
    <p:sldId id="394" r:id="rId47"/>
    <p:sldId id="396" r:id="rId48"/>
    <p:sldId id="397" r:id="rId49"/>
    <p:sldId id="398" r:id="rId50"/>
    <p:sldId id="399" r:id="rId51"/>
    <p:sldId id="400" r:id="rId52"/>
    <p:sldId id="401" r:id="rId53"/>
    <p:sldId id="402" r:id="rId54"/>
    <p:sldId id="403" r:id="rId55"/>
    <p:sldId id="404" r:id="rId56"/>
    <p:sldId id="405" r:id="rId57"/>
    <p:sldId id="406" r:id="rId58"/>
    <p:sldId id="407" r:id="rId59"/>
    <p:sldId id="408" r:id="rId60"/>
    <p:sldId id="409" r:id="rId61"/>
    <p:sldId id="410" r:id="rId62"/>
    <p:sldId id="411" r:id="rId63"/>
    <p:sldId id="348" r:id="rId64"/>
    <p:sldId id="343" r:id="rId65"/>
    <p:sldId id="432" r:id="rId66"/>
    <p:sldId id="430" r:id="rId67"/>
    <p:sldId id="431" r:id="rId68"/>
    <p:sldId id="424" r:id="rId69"/>
    <p:sldId id="425" r:id="rId70"/>
    <p:sldId id="413" r:id="rId71"/>
    <p:sldId id="414" r:id="rId72"/>
    <p:sldId id="418" r:id="rId73"/>
    <p:sldId id="417" r:id="rId74"/>
    <p:sldId id="349" r:id="rId75"/>
    <p:sldId id="344" r:id="rId76"/>
    <p:sldId id="419" r:id="rId77"/>
    <p:sldId id="421" r:id="rId78"/>
    <p:sldId id="420" r:id="rId79"/>
    <p:sldId id="422" r:id="rId80"/>
    <p:sldId id="427" r:id="rId81"/>
    <p:sldId id="434" r:id="rId82"/>
    <p:sldId id="436" r:id="rId83"/>
    <p:sldId id="350" r:id="rId84"/>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37276" autoAdjust="0"/>
  </p:normalViewPr>
  <p:slideViewPr>
    <p:cSldViewPr>
      <p:cViewPr varScale="1">
        <p:scale>
          <a:sx n="75" d="100"/>
          <a:sy n="75" d="100"/>
        </p:scale>
        <p:origin x="-448"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53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90" Type="http://schemas.openxmlformats.org/officeDocument/2006/relationships/theme" Target="theme/theme1.xml"/><Relationship Id="rId91"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handoutMaster" Target="handoutMasters/handoutMaster1.xml"/><Relationship Id="rId87" Type="http://schemas.openxmlformats.org/officeDocument/2006/relationships/printerSettings" Target="printerSettings/printerSettings1.bin"/><Relationship Id="rId88" Type="http://schemas.openxmlformats.org/officeDocument/2006/relationships/presProps" Target="presProps.xml"/><Relationship Id="rId8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1"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A3C569D1-5813-47FA-802E-AE163CC73486}" srcId="{4A44BEF6-B48D-47C2-9C6B-BACF372027DC}" destId="{8CCD2BDA-82B8-4928-A272-B288D8CC5879}" srcOrd="0" destOrd="0" parTransId="{0BA634E7-A2BC-49B7-8399-DE8C3881EB79}" sibTransId="{BBFF361E-7CF2-4AA6-9ED3-61CE169F37A3}"/>
    <dgm:cxn modelId="{7761994B-45B9-4713-A2AE-73766EAD4859}" srcId="{9A4C0897-65C9-4D9A-AF41-8C82E8A1C916}" destId="{068F8E9C-F855-47F9-B55B-A6A68C91B775}" srcOrd="3" destOrd="0" parTransId="{DCD6262B-FFB8-495A-8D4A-170F71C45FF7}" sibTransId="{F7A8B051-0362-4D87-8F17-BF98788329AD}"/>
    <dgm:cxn modelId="{F3878B2D-E4B4-4100-84B4-4F389CD80B08}" srcId="{AAE250C6-6577-4712-82F6-592B4B4739A9}" destId="{384D3E72-4E25-4D0D-96F0-A7AD2EED6960}" srcOrd="2" destOrd="0" parTransId="{38C02242-A287-415C-856B-5BF0372F1320}" sibTransId="{D59BAC4F-7A9B-44E2-85F9-36D523FDF38F}"/>
    <dgm:cxn modelId="{3DA98A25-DAF0-4102-94B4-57BCE54C7A2A}" srcId="{9A4C0897-65C9-4D9A-AF41-8C82E8A1C916}" destId="{4A44BEF6-B48D-47C2-9C6B-BACF372027DC}" srcOrd="0" destOrd="0" parTransId="{FBB23309-879F-4723-86D9-834255385215}" sibTransId="{3DA360D5-FFB7-49A7-9B10-115E7F1DB8B2}"/>
    <dgm:cxn modelId="{62139CC3-2EC9-442B-B8F6-295F993D3CB5}" type="presOf" srcId="{E04C5566-ADA8-4B25-9DAA-E5B29808C2D2}" destId="{06A1F401-57F5-4B93-999D-ACDA9CD6E830}" srcOrd="0" destOrd="1" presId="urn:microsoft.com/office/officeart/2005/8/layout/vList2"/>
    <dgm:cxn modelId="{52CBAE99-5141-47CB-AC8E-9A2402D34489}" srcId="{02CC35B6-28B8-464B-8218-E07133A1B48B}" destId="{5CAEECCF-6CDF-41C4-91D8-14230975E224}" srcOrd="2" destOrd="0" parTransId="{6BAC0993-98F1-4826-AAAA-BCB60DC13699}" sibTransId="{55D49035-D45F-4AFE-BB19-5AC326623B98}"/>
    <dgm:cxn modelId="{6F7E0EBB-06ED-4B62-BA31-B993398379FF}" srcId="{AAE250C6-6577-4712-82F6-592B4B4739A9}" destId="{861357AE-C8A7-4ACC-945F-4E864ABCEE1E}" srcOrd="0" destOrd="0" parTransId="{3400D267-DDCB-4BCE-B945-22A30A91A666}" sibTransId="{EA0D1700-C0E8-4C47-990F-BBF717265B3B}"/>
    <dgm:cxn modelId="{5D78C300-E73F-4C19-B36A-7372E5622934}" srcId="{02CC35B6-28B8-464B-8218-E07133A1B48B}" destId="{194A508F-123E-498E-9A26-E25FC3D82174}" srcOrd="1" destOrd="0" parTransId="{30099494-3452-480B-A0FA-FEE152DB6629}" sibTransId="{E31B03A8-F10B-498C-9377-1D00A6D8E298}"/>
    <dgm:cxn modelId="{7F6DB3F1-FCAC-4A36-A1D5-093A72B74BDC}" srcId="{068F8E9C-F855-47F9-B55B-A6A68C91B775}" destId="{E04C5566-ADA8-4B25-9DAA-E5B29808C2D2}" srcOrd="1" destOrd="0" parTransId="{5F76528D-AF0D-4705-9D09-B9515D7F52D5}" sibTransId="{B3B5E256-53C2-42AE-A140-51E0394657D5}"/>
    <dgm:cxn modelId="{DD3C7865-1FE7-4D49-A0F6-73D55D779203}" srcId="{6FF65AC3-10AE-436A-9D5A-A884CB64EFEC}" destId="{6B48F48A-60B0-4642-950B-C0AA9A6978C3}" srcOrd="2" destOrd="0" parTransId="{79C2DB65-C2C2-4FC2-B87A-B7EDCA1BF314}" sibTransId="{A00E2B19-AEE4-40AC-8797-A1282DDD5B6E}"/>
    <dgm:cxn modelId="{EB050E27-F55F-4A7D-9955-88C26D31B18F}" srcId="{9A4C0897-65C9-4D9A-AF41-8C82E8A1C916}" destId="{6FF65AC3-10AE-436A-9D5A-A884CB64EFEC}" srcOrd="2" destOrd="0" parTransId="{7E887C40-BD28-4BF7-9BAB-DCE1210D4F27}" sibTransId="{2B0DBED0-7D1F-446B-AA77-AD86825D3403}"/>
    <dgm:cxn modelId="{948B51F2-88BB-4118-8EE6-8102F852AD0B}" srcId="{D13B3EEC-3F3F-42D4-949F-A37F49890F2B}" destId="{B50AF25C-8722-42BF-BB71-A0D92D37A1B2}" srcOrd="0" destOrd="0" parTransId="{EE01A423-AA1E-4316-9D69-298EF998250A}" sibTransId="{DDAA8997-6180-4D72-890E-04EF994080E5}"/>
    <dgm:cxn modelId="{FE9365F0-0F48-4CBB-B3D8-B6E84AD54D4E}" srcId="{6FF65AC3-10AE-436A-9D5A-A884CB64EFEC}" destId="{B98D8392-FB27-4752-BE1B-F50F8E217DD1}" srcOrd="1" destOrd="0" parTransId="{869316A5-2E63-4C66-AD9F-93897A66BD64}" sibTransId="{D5F39CCD-A67B-4B33-B95B-69A6DD4E51ED}"/>
    <dgm:cxn modelId="{3CD77DF7-D12D-4436-A8A0-9CDB3DED1D19}" type="presOf" srcId="{BC9DAA39-5C31-47FD-BDCD-B6CFBBD682E2}" destId="{9C9192C8-1F65-46B3-86B8-0947E3B2064C}" srcOrd="0" destOrd="2" presId="urn:microsoft.com/office/officeart/2005/8/layout/vList2"/>
    <dgm:cxn modelId="{BC0690A1-6FB5-41DA-902F-F61A31C8C00C}" type="presOf" srcId="{DA201FDA-82A3-4674-809F-A4BA6427897E}" destId="{9CD83E87-4CE4-4F55-A573-2603EC6414E3}" srcOrd="0" destOrd="0" presId="urn:microsoft.com/office/officeart/2005/8/layout/vList2"/>
    <dgm:cxn modelId="{E96282DC-90C2-48A9-90EB-F15A6A6F6618}" srcId="{D13B3EEC-3F3F-42D4-949F-A37F49890F2B}" destId="{A414D77D-650F-4071-BB31-246B49EB28F1}" srcOrd="2" destOrd="0" parTransId="{E9A0EB56-48B4-4346-9E22-FEEFD4A0F614}" sibTransId="{F1CA56AA-A594-4EBD-99C6-CF0268BB0AA2}"/>
    <dgm:cxn modelId="{4E2FEC77-F192-4117-B2FC-A1BA3E07F01D}" type="presOf" srcId="{61683D07-0C9C-4BDE-A92A-7701F66B4AE4}" destId="{06A1F401-57F5-4B93-999D-ACDA9CD6E830}" srcOrd="0" destOrd="2" presId="urn:microsoft.com/office/officeart/2005/8/layout/vList2"/>
    <dgm:cxn modelId="{9EBD7BC7-8374-4B3A-A8BE-EA6014BF18C2}" srcId="{D13B3EEC-3F3F-42D4-949F-A37F49890F2B}" destId="{5F59C612-9537-4306-B675-59FC3A11A4B1}" srcOrd="1" destOrd="0" parTransId="{516D2DA6-1C5E-4047-94D1-B09D0CEB2BA3}" sibTransId="{36481970-5DFB-4122-93A0-DFF090A3AC5A}"/>
    <dgm:cxn modelId="{99288D5B-B0BC-4822-97AD-33FA74FF6EF9}" type="presOf" srcId="{611A0B3E-27D2-45D8-A81E-0DB0CF728CCE}" destId="{E86D72E6-46A5-4ADC-8019-4BD084342D53}" srcOrd="0" destOrd="0" presId="urn:microsoft.com/office/officeart/2005/8/layout/vList2"/>
    <dgm:cxn modelId="{305CDC90-F98D-41C8-893B-980C63DEA087}" type="presOf" srcId="{9A4C0897-65C9-4D9A-AF41-8C82E8A1C916}" destId="{02DDF34C-AE9E-4C5C-B688-9B545B8BF37A}" srcOrd="0" destOrd="0" presId="urn:microsoft.com/office/officeart/2005/8/layout/vList2"/>
    <dgm:cxn modelId="{67654F08-717D-4F49-894A-9EE5E68DFED7}" type="presOf" srcId="{4A44BEF6-B48D-47C2-9C6B-BACF372027DC}" destId="{2D8FFCD5-EDC5-479E-8486-C753D09A41B6}" srcOrd="0" destOrd="0" presId="urn:microsoft.com/office/officeart/2005/8/layout/vList2"/>
    <dgm:cxn modelId="{93A0F5E1-D9FD-4A65-B714-DAC293684B34}" type="presOf" srcId="{8CCD2BDA-82B8-4928-A272-B288D8CC5879}" destId="{9C9192C8-1F65-46B3-86B8-0947E3B2064C}" srcOrd="0" destOrd="0" presId="urn:microsoft.com/office/officeart/2005/8/layout/vList2"/>
    <dgm:cxn modelId="{1247FF5A-F145-47BA-8553-04EF8A196D67}" srcId="{068F8E9C-F855-47F9-B55B-A6A68C91B775}" destId="{B012ACE8-88AA-46CF-A895-59CCA803EDB5}" srcOrd="3" destOrd="0" parTransId="{A3098587-4513-44CF-A46C-56192A4A3DE0}" sibTransId="{DE301333-89D0-46A8-BC43-D9B888FCED62}"/>
    <dgm:cxn modelId="{E87D9561-B179-4DC4-A0E7-067E339BC492}" srcId="{068F8E9C-F855-47F9-B55B-A6A68C91B775}" destId="{E88AD862-CCE8-4BCB-84F2-B0C4188C5E22}" srcOrd="0" destOrd="0" parTransId="{1A0C1AB4-DFDB-4F94-A27A-CCAD40F7D4E8}" sibTransId="{2CA19E52-34BA-4DC6-B654-A4BF2501CE10}"/>
    <dgm:cxn modelId="{59647B46-0E38-478A-ACEF-769BCEAF4E63}" type="presOf" srcId="{5CAEECCF-6CDF-41C4-91D8-14230975E224}" destId="{E86D72E6-46A5-4ADC-8019-4BD084342D53}" srcOrd="0" destOrd="2" presId="urn:microsoft.com/office/officeart/2005/8/layout/vList2"/>
    <dgm:cxn modelId="{56302CB1-6E88-49A0-9FF0-CBF1CAA87015}" srcId="{9A4C0897-65C9-4D9A-AF41-8C82E8A1C916}" destId="{02CC35B6-28B8-464B-8218-E07133A1B48B}" srcOrd="5" destOrd="0" parTransId="{0CA8619D-36E9-4717-A938-330B873683AE}" sibTransId="{9979C024-ABC4-4D41-8CF6-F2E5F235C9D0}"/>
    <dgm:cxn modelId="{12A392AF-7575-4BFF-AD09-3CFF4E9DEE6D}" type="presOf" srcId="{A414D77D-650F-4071-BB31-246B49EB28F1}" destId="{D8F08FD2-4204-40EB-A469-C0D0E460B5D7}" srcOrd="0" destOrd="2" presId="urn:microsoft.com/office/officeart/2005/8/layout/vList2"/>
    <dgm:cxn modelId="{A2F005D6-3685-47BA-8183-9005339FC9BB}" type="presOf" srcId="{384D3E72-4E25-4D0D-96F0-A7AD2EED6960}" destId="{A2C61660-0C2C-4119-8379-5F82A7F9BAF6}" srcOrd="0" destOrd="2" presId="urn:microsoft.com/office/officeart/2005/8/layout/vList2"/>
    <dgm:cxn modelId="{E20D8B0E-3EDF-4BA6-A293-B5AF951CE10A}" type="presOf" srcId="{7B930E67-3242-44CB-869C-596F15E5F9E9}" destId="{9C9192C8-1F65-46B3-86B8-0947E3B2064C}" srcOrd="0" destOrd="1" presId="urn:microsoft.com/office/officeart/2005/8/layout/vList2"/>
    <dgm:cxn modelId="{9D942193-897B-4154-A4C2-6180D73C06B1}" type="presOf" srcId="{E88AD862-CCE8-4BCB-84F2-B0C4188C5E22}" destId="{06A1F401-57F5-4B93-999D-ACDA9CD6E830}" srcOrd="0" destOrd="0" presId="urn:microsoft.com/office/officeart/2005/8/layout/vList2"/>
    <dgm:cxn modelId="{2EC85E2C-ECA8-454E-B329-306501867E99}" type="presOf" srcId="{02CC35B6-28B8-464B-8218-E07133A1B48B}" destId="{06B82C05-62FC-4128-BB7D-12C4B3AE948A}" srcOrd="0" destOrd="0" presId="urn:microsoft.com/office/officeart/2005/8/layout/vList2"/>
    <dgm:cxn modelId="{D990222E-0133-4EB7-BF3F-7E091A2C3456}" type="presOf" srcId="{194A508F-123E-498E-9A26-E25FC3D82174}" destId="{E86D72E6-46A5-4ADC-8019-4BD084342D53}" srcOrd="0" destOrd="1" presId="urn:microsoft.com/office/officeart/2005/8/layout/vList2"/>
    <dgm:cxn modelId="{339583A5-4A5A-424B-807A-4B62BCAB060E}" type="presOf" srcId="{068F8E9C-F855-47F9-B55B-A6A68C91B775}" destId="{E3CAE218-C79F-4936-8C3A-2556C9FEBCFC}" srcOrd="0" destOrd="0" presId="urn:microsoft.com/office/officeart/2005/8/layout/vList2"/>
    <dgm:cxn modelId="{28D5D8DF-DC27-4309-B6E1-88623CDA4022}" srcId="{068F8E9C-F855-47F9-B55B-A6A68C91B775}" destId="{61683D07-0C9C-4BDE-A92A-7701F66B4AE4}" srcOrd="2" destOrd="0" parTransId="{05D7471B-531E-4028-9875-346A436963A9}" sibTransId="{33AA2CDA-0538-4702-9146-2422A0BD37F6}"/>
    <dgm:cxn modelId="{4F309F37-7A3B-4978-AF80-8EF82D95D64A}" srcId="{AAE250C6-6577-4712-82F6-592B4B4739A9}" destId="{93060D19-F70B-4E74-A992-067F31D656A7}" srcOrd="1" destOrd="0" parTransId="{D3D5348C-4D0E-42BD-95C0-9DC43ABFFEEA}" sibTransId="{AA86F70B-E868-46BE-9B6C-E5EFE809D940}"/>
    <dgm:cxn modelId="{C2054BFD-6987-4B60-9227-0F60C4F81DF1}" type="presOf" srcId="{AAE250C6-6577-4712-82F6-592B4B4739A9}" destId="{1B0DB736-9C8C-4E39-B3F5-692200E0A2EA}" srcOrd="0" destOrd="0" presId="urn:microsoft.com/office/officeart/2005/8/layout/vList2"/>
    <dgm:cxn modelId="{5364FC49-39D2-4546-BD8A-F0779335DE75}" srcId="{9A4C0897-65C9-4D9A-AF41-8C82E8A1C916}" destId="{AAE250C6-6577-4712-82F6-592B4B4739A9}" srcOrd="1" destOrd="0" parTransId="{669B0A2E-18FE-4FC9-9A2A-9C3E67A12FD1}" sibTransId="{9109B175-A430-44BA-B016-A2FBE41CF93C}"/>
    <dgm:cxn modelId="{4F6CDF28-A0BC-4F58-90EA-B297B1CEECF4}" type="presOf" srcId="{D13B3EEC-3F3F-42D4-949F-A37F49890F2B}" destId="{26B3663F-67A1-4181-B690-CC922584735A}" srcOrd="0" destOrd="0" presId="urn:microsoft.com/office/officeart/2005/8/layout/vList2"/>
    <dgm:cxn modelId="{E57E4AFA-29D2-4F6F-9440-0B5C619F8FA1}" type="presOf" srcId="{B012ACE8-88AA-46CF-A895-59CCA803EDB5}" destId="{06A1F401-57F5-4B93-999D-ACDA9CD6E830}" srcOrd="0" destOrd="3" presId="urn:microsoft.com/office/officeart/2005/8/layout/vList2"/>
    <dgm:cxn modelId="{5DD3B205-0422-42EB-B25A-E9B28ECFF5FB}" type="presOf" srcId="{93060D19-F70B-4E74-A992-067F31D656A7}" destId="{A2C61660-0C2C-4119-8379-5F82A7F9BAF6}" srcOrd="0" destOrd="1" presId="urn:microsoft.com/office/officeart/2005/8/layout/vList2"/>
    <dgm:cxn modelId="{B4F40BC3-7255-460C-859E-6C55519820DB}" type="presOf" srcId="{B50AF25C-8722-42BF-BB71-A0D92D37A1B2}" destId="{D8F08FD2-4204-40EB-A469-C0D0E460B5D7}" srcOrd="0" destOrd="0" presId="urn:microsoft.com/office/officeart/2005/8/layout/vList2"/>
    <dgm:cxn modelId="{1BD9F6B9-5AD2-4C99-9CA7-AC9CB7FD0B89}" type="presOf" srcId="{6B48F48A-60B0-4642-950B-C0AA9A6978C3}" destId="{9CD83E87-4CE4-4F55-A573-2603EC6414E3}" srcOrd="0" destOrd="2" presId="urn:microsoft.com/office/officeart/2005/8/layout/vList2"/>
    <dgm:cxn modelId="{3C649DF9-24E1-49EA-B30C-78F6A5B03EBB}" srcId="{4A44BEF6-B48D-47C2-9C6B-BACF372027DC}" destId="{7B930E67-3242-44CB-869C-596F15E5F9E9}" srcOrd="1" destOrd="0" parTransId="{F953434B-BA10-4C5F-A4CD-142B97BD5AE1}" sibTransId="{8AC04EEC-5919-4A3A-9517-E949D565B367}"/>
    <dgm:cxn modelId="{4E02C651-D57A-4930-97B0-213027409112}" type="presOf" srcId="{861357AE-C8A7-4ACC-945F-4E864ABCEE1E}" destId="{A2C61660-0C2C-4119-8379-5F82A7F9BAF6}" srcOrd="0" destOrd="0" presId="urn:microsoft.com/office/officeart/2005/8/layout/vList2"/>
    <dgm:cxn modelId="{F2493A8D-EE55-45A4-A7C9-BDEA4E1066A3}" srcId="{6FF65AC3-10AE-436A-9D5A-A884CB64EFEC}" destId="{DA201FDA-82A3-4674-809F-A4BA6427897E}" srcOrd="0" destOrd="0" parTransId="{73BA85D9-7997-4813-8C21-468C2B264227}" sibTransId="{7F44B508-F483-4849-97A8-C0B7EDDF41AE}"/>
    <dgm:cxn modelId="{DAC13D79-259D-4E0D-9C03-81099E6D45D3}" type="presOf" srcId="{5F59C612-9537-4306-B675-59FC3A11A4B1}" destId="{D8F08FD2-4204-40EB-A469-C0D0E460B5D7}" srcOrd="0" destOrd="1" presId="urn:microsoft.com/office/officeart/2005/8/layout/vList2"/>
    <dgm:cxn modelId="{AF073B89-2471-4402-81DC-A406B7BCD667}" srcId="{9A4C0897-65C9-4D9A-AF41-8C82E8A1C916}" destId="{D13B3EEC-3F3F-42D4-949F-A37F49890F2B}" srcOrd="4" destOrd="0" parTransId="{ED168F77-9D83-4CE4-9660-7B9B0EE35921}" sibTransId="{9ED91A85-105C-48BF-96D9-468227DAFC80}"/>
    <dgm:cxn modelId="{02A40ECC-35E3-43BC-8A30-31432637BBD5}" srcId="{02CC35B6-28B8-464B-8218-E07133A1B48B}" destId="{611A0B3E-27D2-45D8-A81E-0DB0CF728CCE}" srcOrd="0" destOrd="0" parTransId="{2C937515-1383-4EA3-9A41-F64A5A4729A8}" sibTransId="{F1E1B24B-B737-45B7-A442-81AC3C8B2588}"/>
    <dgm:cxn modelId="{8C38EE06-C0E5-4F56-AA5D-E6E5054C1A91}" srcId="{4A44BEF6-B48D-47C2-9C6B-BACF372027DC}" destId="{BC9DAA39-5C31-47FD-BDCD-B6CFBBD682E2}" srcOrd="2" destOrd="0" parTransId="{DEFE3360-BF89-4D69-A7E8-89BF81257E92}" sibTransId="{D32A8FDD-B765-407B-B0A9-275A360C4697}"/>
    <dgm:cxn modelId="{5697B150-24CB-4BE8-AB6F-3BE0A1412D80}" type="presOf" srcId="{B98D8392-FB27-4752-BE1B-F50F8E217DD1}" destId="{9CD83E87-4CE4-4F55-A573-2603EC6414E3}" srcOrd="0" destOrd="1" presId="urn:microsoft.com/office/officeart/2005/8/layout/vList2"/>
    <dgm:cxn modelId="{CD41F51B-715D-4389-97E2-B49399817788}" type="presOf" srcId="{6FF65AC3-10AE-436A-9D5A-A884CB64EFEC}" destId="{EC3CC386-049B-4E38-8D5B-055DBA2EBEE3}" srcOrd="0" destOrd="0" presId="urn:microsoft.com/office/officeart/2005/8/layout/vList2"/>
    <dgm:cxn modelId="{14B5BBC2-CF26-4E6E-82F2-5455AFFEA3BC}" type="presParOf" srcId="{02DDF34C-AE9E-4C5C-B688-9B545B8BF37A}" destId="{2D8FFCD5-EDC5-479E-8486-C753D09A41B6}" srcOrd="0" destOrd="0" presId="urn:microsoft.com/office/officeart/2005/8/layout/vList2"/>
    <dgm:cxn modelId="{12CD9D04-2E75-4631-9413-5580219BD83B}" type="presParOf" srcId="{02DDF34C-AE9E-4C5C-B688-9B545B8BF37A}" destId="{9C9192C8-1F65-46B3-86B8-0947E3B2064C}" srcOrd="1" destOrd="0" presId="urn:microsoft.com/office/officeart/2005/8/layout/vList2"/>
    <dgm:cxn modelId="{88C3EF95-D98A-4561-966F-50837F766763}" type="presParOf" srcId="{02DDF34C-AE9E-4C5C-B688-9B545B8BF37A}" destId="{1B0DB736-9C8C-4E39-B3F5-692200E0A2EA}" srcOrd="2" destOrd="0" presId="urn:microsoft.com/office/officeart/2005/8/layout/vList2"/>
    <dgm:cxn modelId="{DFAED59A-5AB8-4424-9A59-87D41043C96D}" type="presParOf" srcId="{02DDF34C-AE9E-4C5C-B688-9B545B8BF37A}" destId="{A2C61660-0C2C-4119-8379-5F82A7F9BAF6}" srcOrd="3" destOrd="0" presId="urn:microsoft.com/office/officeart/2005/8/layout/vList2"/>
    <dgm:cxn modelId="{AB3D0A0C-BBC3-4DEB-9564-C7D3BCD91FEE}" type="presParOf" srcId="{02DDF34C-AE9E-4C5C-B688-9B545B8BF37A}" destId="{EC3CC386-049B-4E38-8D5B-055DBA2EBEE3}" srcOrd="4" destOrd="0" presId="urn:microsoft.com/office/officeart/2005/8/layout/vList2"/>
    <dgm:cxn modelId="{27BBE8CA-9E84-46B1-966B-D5D12E38C769}" type="presParOf" srcId="{02DDF34C-AE9E-4C5C-B688-9B545B8BF37A}" destId="{9CD83E87-4CE4-4F55-A573-2603EC6414E3}" srcOrd="5" destOrd="0" presId="urn:microsoft.com/office/officeart/2005/8/layout/vList2"/>
    <dgm:cxn modelId="{1EB84892-F27A-4E39-99A6-67B953F10957}" type="presParOf" srcId="{02DDF34C-AE9E-4C5C-B688-9B545B8BF37A}" destId="{E3CAE218-C79F-4936-8C3A-2556C9FEBCFC}" srcOrd="6" destOrd="0" presId="urn:microsoft.com/office/officeart/2005/8/layout/vList2"/>
    <dgm:cxn modelId="{AD2E2D16-339E-4579-83F4-D75700604BF3}" type="presParOf" srcId="{02DDF34C-AE9E-4C5C-B688-9B545B8BF37A}" destId="{06A1F401-57F5-4B93-999D-ACDA9CD6E830}" srcOrd="7" destOrd="0" presId="urn:microsoft.com/office/officeart/2005/8/layout/vList2"/>
    <dgm:cxn modelId="{603EB74D-F774-485B-9A8A-3528137DD535}" type="presParOf" srcId="{02DDF34C-AE9E-4C5C-B688-9B545B8BF37A}" destId="{26B3663F-67A1-4181-B690-CC922584735A}" srcOrd="8" destOrd="0" presId="urn:microsoft.com/office/officeart/2005/8/layout/vList2"/>
    <dgm:cxn modelId="{101A9687-24B8-4342-95B8-A5F384F0F4BF}" type="presParOf" srcId="{02DDF34C-AE9E-4C5C-B688-9B545B8BF37A}" destId="{D8F08FD2-4204-40EB-A469-C0D0E460B5D7}" srcOrd="9" destOrd="0" presId="urn:microsoft.com/office/officeart/2005/8/layout/vList2"/>
    <dgm:cxn modelId="{8EFC8E32-7D3C-4442-A425-D44C15293AD2}" type="presParOf" srcId="{02DDF34C-AE9E-4C5C-B688-9B545B8BF37A}" destId="{06B82C05-62FC-4128-BB7D-12C4B3AE948A}" srcOrd="10" destOrd="0" presId="urn:microsoft.com/office/officeart/2005/8/layout/vList2"/>
    <dgm:cxn modelId="{E099D063-27C3-4B9D-874E-D1C5E4B1BF64}"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2"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A66DB1FF-13D9-4487-BF10-9369FF27C2AE}" type="presOf" srcId="{194A508F-123E-498E-9A26-E25FC3D82174}" destId="{E86D72E6-46A5-4ADC-8019-4BD084342D53}" srcOrd="0" destOrd="1" presId="urn:microsoft.com/office/officeart/2005/8/layout/vList2"/>
    <dgm:cxn modelId="{A3C569D1-5813-47FA-802E-AE163CC73486}" srcId="{4A44BEF6-B48D-47C2-9C6B-BACF372027DC}" destId="{8CCD2BDA-82B8-4928-A272-B288D8CC5879}" srcOrd="0" destOrd="0" parTransId="{0BA634E7-A2BC-49B7-8399-DE8C3881EB79}" sibTransId="{BBFF361E-7CF2-4AA6-9ED3-61CE169F37A3}"/>
    <dgm:cxn modelId="{7761994B-45B9-4713-A2AE-73766EAD4859}" srcId="{9A4C0897-65C9-4D9A-AF41-8C82E8A1C916}" destId="{068F8E9C-F855-47F9-B55B-A6A68C91B775}" srcOrd="3" destOrd="0" parTransId="{DCD6262B-FFB8-495A-8D4A-170F71C45FF7}" sibTransId="{F7A8B051-0362-4D87-8F17-BF98788329AD}"/>
    <dgm:cxn modelId="{F3878B2D-E4B4-4100-84B4-4F389CD80B08}" srcId="{AAE250C6-6577-4712-82F6-592B4B4739A9}" destId="{384D3E72-4E25-4D0D-96F0-A7AD2EED6960}" srcOrd="2" destOrd="0" parTransId="{38C02242-A287-415C-856B-5BF0372F1320}" sibTransId="{D59BAC4F-7A9B-44E2-85F9-36D523FDF38F}"/>
    <dgm:cxn modelId="{DBC24934-C291-41CA-8B89-7CFE175BEC10}" type="presOf" srcId="{9A4C0897-65C9-4D9A-AF41-8C82E8A1C916}" destId="{02DDF34C-AE9E-4C5C-B688-9B545B8BF37A}" srcOrd="0" destOrd="0" presId="urn:microsoft.com/office/officeart/2005/8/layout/vList2"/>
    <dgm:cxn modelId="{CB2F08A9-7E7E-4B8F-B07D-DD87F5284094}" type="presOf" srcId="{A414D77D-650F-4071-BB31-246B49EB28F1}" destId="{D8F08FD2-4204-40EB-A469-C0D0E460B5D7}" srcOrd="0" destOrd="2" presId="urn:microsoft.com/office/officeart/2005/8/layout/vList2"/>
    <dgm:cxn modelId="{3DA98A25-DAF0-4102-94B4-57BCE54C7A2A}" srcId="{9A4C0897-65C9-4D9A-AF41-8C82E8A1C916}" destId="{4A44BEF6-B48D-47C2-9C6B-BACF372027DC}" srcOrd="0" destOrd="0" parTransId="{FBB23309-879F-4723-86D9-834255385215}" sibTransId="{3DA360D5-FFB7-49A7-9B10-115E7F1DB8B2}"/>
    <dgm:cxn modelId="{1933495B-1E94-47E8-929C-BF4D4965CA15}" type="presOf" srcId="{D13B3EEC-3F3F-42D4-949F-A37F49890F2B}" destId="{26B3663F-67A1-4181-B690-CC922584735A}" srcOrd="0" destOrd="0" presId="urn:microsoft.com/office/officeart/2005/8/layout/vList2"/>
    <dgm:cxn modelId="{2D6679C3-700A-4001-B807-51289596F9D7}" type="presOf" srcId="{5F59C612-9537-4306-B675-59FC3A11A4B1}" destId="{D8F08FD2-4204-40EB-A469-C0D0E460B5D7}" srcOrd="0" destOrd="1" presId="urn:microsoft.com/office/officeart/2005/8/layout/vList2"/>
    <dgm:cxn modelId="{240E91A2-4F8D-4C40-A348-2CDCDB8D417E}" type="presOf" srcId="{E88AD862-CCE8-4BCB-84F2-B0C4188C5E22}" destId="{06A1F401-57F5-4B93-999D-ACDA9CD6E830}" srcOrd="0" destOrd="0" presId="urn:microsoft.com/office/officeart/2005/8/layout/vList2"/>
    <dgm:cxn modelId="{52CBAE99-5141-47CB-AC8E-9A2402D34489}" srcId="{02CC35B6-28B8-464B-8218-E07133A1B48B}" destId="{5CAEECCF-6CDF-41C4-91D8-14230975E224}" srcOrd="2" destOrd="0" parTransId="{6BAC0993-98F1-4826-AAAA-BCB60DC13699}" sibTransId="{55D49035-D45F-4AFE-BB19-5AC326623B98}"/>
    <dgm:cxn modelId="{6F7E0EBB-06ED-4B62-BA31-B993398379FF}" srcId="{AAE250C6-6577-4712-82F6-592B4B4739A9}" destId="{861357AE-C8A7-4ACC-945F-4E864ABCEE1E}" srcOrd="0" destOrd="0" parTransId="{3400D267-DDCB-4BCE-B945-22A30A91A666}" sibTransId="{EA0D1700-C0E8-4C47-990F-BBF717265B3B}"/>
    <dgm:cxn modelId="{01D2A832-B8FC-463E-AB0D-16AD59490B58}" type="presOf" srcId="{068F8E9C-F855-47F9-B55B-A6A68C91B775}" destId="{E3CAE218-C79F-4936-8C3A-2556C9FEBCFC}" srcOrd="0" destOrd="0" presId="urn:microsoft.com/office/officeart/2005/8/layout/vList2"/>
    <dgm:cxn modelId="{5D78C300-E73F-4C19-B36A-7372E5622934}" srcId="{02CC35B6-28B8-464B-8218-E07133A1B48B}" destId="{194A508F-123E-498E-9A26-E25FC3D82174}" srcOrd="1" destOrd="0" parTransId="{30099494-3452-480B-A0FA-FEE152DB6629}" sibTransId="{E31B03A8-F10B-498C-9377-1D00A6D8E298}"/>
    <dgm:cxn modelId="{7F6DB3F1-FCAC-4A36-A1D5-093A72B74BDC}" srcId="{068F8E9C-F855-47F9-B55B-A6A68C91B775}" destId="{E04C5566-ADA8-4B25-9DAA-E5B29808C2D2}" srcOrd="1" destOrd="0" parTransId="{5F76528D-AF0D-4705-9D09-B9515D7F52D5}" sibTransId="{B3B5E256-53C2-42AE-A140-51E0394657D5}"/>
    <dgm:cxn modelId="{DD3C7865-1FE7-4D49-A0F6-73D55D779203}" srcId="{6FF65AC3-10AE-436A-9D5A-A884CB64EFEC}" destId="{6B48F48A-60B0-4642-950B-C0AA9A6978C3}" srcOrd="2" destOrd="0" parTransId="{79C2DB65-C2C2-4FC2-B87A-B7EDCA1BF314}" sibTransId="{A00E2B19-AEE4-40AC-8797-A1282DDD5B6E}"/>
    <dgm:cxn modelId="{CBDBD1B4-70E2-4685-9B04-8AF1DEFE36DF}" type="presOf" srcId="{5CAEECCF-6CDF-41C4-91D8-14230975E224}" destId="{E86D72E6-46A5-4ADC-8019-4BD084342D53}" srcOrd="0" destOrd="2" presId="urn:microsoft.com/office/officeart/2005/8/layout/vList2"/>
    <dgm:cxn modelId="{EB050E27-F55F-4A7D-9955-88C26D31B18F}" srcId="{9A4C0897-65C9-4D9A-AF41-8C82E8A1C916}" destId="{6FF65AC3-10AE-436A-9D5A-A884CB64EFEC}" srcOrd="2" destOrd="0" parTransId="{7E887C40-BD28-4BF7-9BAB-DCE1210D4F27}" sibTransId="{2B0DBED0-7D1F-446B-AA77-AD86825D3403}"/>
    <dgm:cxn modelId="{8EDD2569-F3E1-4D13-9C5F-42EFFC93AEC7}" type="presOf" srcId="{B012ACE8-88AA-46CF-A895-59CCA803EDB5}" destId="{06A1F401-57F5-4B93-999D-ACDA9CD6E830}" srcOrd="0" destOrd="3" presId="urn:microsoft.com/office/officeart/2005/8/layout/vList2"/>
    <dgm:cxn modelId="{948B51F2-88BB-4118-8EE6-8102F852AD0B}" srcId="{D13B3EEC-3F3F-42D4-949F-A37F49890F2B}" destId="{B50AF25C-8722-42BF-BB71-A0D92D37A1B2}" srcOrd="0" destOrd="0" parTransId="{EE01A423-AA1E-4316-9D69-298EF998250A}" sibTransId="{DDAA8997-6180-4D72-890E-04EF994080E5}"/>
    <dgm:cxn modelId="{FE9365F0-0F48-4CBB-B3D8-B6E84AD54D4E}" srcId="{6FF65AC3-10AE-436A-9D5A-A884CB64EFEC}" destId="{B98D8392-FB27-4752-BE1B-F50F8E217DD1}" srcOrd="1" destOrd="0" parTransId="{869316A5-2E63-4C66-AD9F-93897A66BD64}" sibTransId="{D5F39CCD-A67B-4B33-B95B-69A6DD4E51ED}"/>
    <dgm:cxn modelId="{04DA21C9-0EF8-47BD-A90F-ADB29823F54E}" type="presOf" srcId="{611A0B3E-27D2-45D8-A81E-0DB0CF728CCE}" destId="{E86D72E6-46A5-4ADC-8019-4BD084342D53}" srcOrd="0" destOrd="0" presId="urn:microsoft.com/office/officeart/2005/8/layout/vList2"/>
    <dgm:cxn modelId="{E96282DC-90C2-48A9-90EB-F15A6A6F6618}" srcId="{D13B3EEC-3F3F-42D4-949F-A37F49890F2B}" destId="{A414D77D-650F-4071-BB31-246B49EB28F1}" srcOrd="2" destOrd="0" parTransId="{E9A0EB56-48B4-4346-9E22-FEEFD4A0F614}" sibTransId="{F1CA56AA-A594-4EBD-99C6-CF0268BB0AA2}"/>
    <dgm:cxn modelId="{521C3D9D-A9B5-4166-B623-734B9B36334D}" type="presOf" srcId="{E04C5566-ADA8-4B25-9DAA-E5B29808C2D2}" destId="{06A1F401-57F5-4B93-999D-ACDA9CD6E830}" srcOrd="0" destOrd="1" presId="urn:microsoft.com/office/officeart/2005/8/layout/vList2"/>
    <dgm:cxn modelId="{9EBD7BC7-8374-4B3A-A8BE-EA6014BF18C2}" srcId="{D13B3EEC-3F3F-42D4-949F-A37F49890F2B}" destId="{5F59C612-9537-4306-B675-59FC3A11A4B1}" srcOrd="1" destOrd="0" parTransId="{516D2DA6-1C5E-4047-94D1-B09D0CEB2BA3}" sibTransId="{36481970-5DFB-4122-93A0-DFF090A3AC5A}"/>
    <dgm:cxn modelId="{441663D0-C45F-436D-83DC-2E0E68B7ACDC}" type="presOf" srcId="{AAE250C6-6577-4712-82F6-592B4B4739A9}" destId="{1B0DB736-9C8C-4E39-B3F5-692200E0A2EA}" srcOrd="0" destOrd="0" presId="urn:microsoft.com/office/officeart/2005/8/layout/vList2"/>
    <dgm:cxn modelId="{559A292B-BAEB-4020-852A-23DBBD1B3E64}" type="presOf" srcId="{4A44BEF6-B48D-47C2-9C6B-BACF372027DC}" destId="{2D8FFCD5-EDC5-479E-8486-C753D09A41B6}" srcOrd="0" destOrd="0" presId="urn:microsoft.com/office/officeart/2005/8/layout/vList2"/>
    <dgm:cxn modelId="{1247FF5A-F145-47BA-8553-04EF8A196D67}" srcId="{068F8E9C-F855-47F9-B55B-A6A68C91B775}" destId="{B012ACE8-88AA-46CF-A895-59CCA803EDB5}" srcOrd="3" destOrd="0" parTransId="{A3098587-4513-44CF-A46C-56192A4A3DE0}" sibTransId="{DE301333-89D0-46A8-BC43-D9B888FCED62}"/>
    <dgm:cxn modelId="{E87D9561-B179-4DC4-A0E7-067E339BC492}" srcId="{068F8E9C-F855-47F9-B55B-A6A68C91B775}" destId="{E88AD862-CCE8-4BCB-84F2-B0C4188C5E22}" srcOrd="0" destOrd="0" parTransId="{1A0C1AB4-DFDB-4F94-A27A-CCAD40F7D4E8}" sibTransId="{2CA19E52-34BA-4DC6-B654-A4BF2501CE10}"/>
    <dgm:cxn modelId="{56302CB1-6E88-49A0-9FF0-CBF1CAA87015}" srcId="{9A4C0897-65C9-4D9A-AF41-8C82E8A1C916}" destId="{02CC35B6-28B8-464B-8218-E07133A1B48B}" srcOrd="5" destOrd="0" parTransId="{0CA8619D-36E9-4717-A938-330B873683AE}" sibTransId="{9979C024-ABC4-4D41-8CF6-F2E5F235C9D0}"/>
    <dgm:cxn modelId="{226A69FE-879C-4A7E-B347-5AF9B74E8D8C}" type="presOf" srcId="{02CC35B6-28B8-464B-8218-E07133A1B48B}" destId="{06B82C05-62FC-4128-BB7D-12C4B3AE948A}" srcOrd="0" destOrd="0" presId="urn:microsoft.com/office/officeart/2005/8/layout/vList2"/>
    <dgm:cxn modelId="{AB7A281D-C8A0-407A-B812-A70F7EE22844}" type="presOf" srcId="{93060D19-F70B-4E74-A992-067F31D656A7}" destId="{A2C61660-0C2C-4119-8379-5F82A7F9BAF6}" srcOrd="0" destOrd="1" presId="urn:microsoft.com/office/officeart/2005/8/layout/vList2"/>
    <dgm:cxn modelId="{94B162C9-F59D-40C9-BF1F-DAF1D8270811}" type="presOf" srcId="{6FF65AC3-10AE-436A-9D5A-A884CB64EFEC}" destId="{EC3CC386-049B-4E38-8D5B-055DBA2EBEE3}" srcOrd="0" destOrd="0" presId="urn:microsoft.com/office/officeart/2005/8/layout/vList2"/>
    <dgm:cxn modelId="{3E34FE8A-CFF9-43B8-975D-C2E5E2F59005}" type="presOf" srcId="{861357AE-C8A7-4ACC-945F-4E864ABCEE1E}" destId="{A2C61660-0C2C-4119-8379-5F82A7F9BAF6}" srcOrd="0" destOrd="0" presId="urn:microsoft.com/office/officeart/2005/8/layout/vList2"/>
    <dgm:cxn modelId="{28D5D8DF-DC27-4309-B6E1-88623CDA4022}" srcId="{068F8E9C-F855-47F9-B55B-A6A68C91B775}" destId="{61683D07-0C9C-4BDE-A92A-7701F66B4AE4}" srcOrd="2" destOrd="0" parTransId="{05D7471B-531E-4028-9875-346A436963A9}" sibTransId="{33AA2CDA-0538-4702-9146-2422A0BD37F6}"/>
    <dgm:cxn modelId="{4F309F37-7A3B-4978-AF80-8EF82D95D64A}" srcId="{AAE250C6-6577-4712-82F6-592B4B4739A9}" destId="{93060D19-F70B-4E74-A992-067F31D656A7}" srcOrd="1" destOrd="0" parTransId="{D3D5348C-4D0E-42BD-95C0-9DC43ABFFEEA}" sibTransId="{AA86F70B-E868-46BE-9B6C-E5EFE809D940}"/>
    <dgm:cxn modelId="{83303E93-8C22-43B5-AAC4-10AB0D7C996F}" type="presOf" srcId="{384D3E72-4E25-4D0D-96F0-A7AD2EED6960}" destId="{A2C61660-0C2C-4119-8379-5F82A7F9BAF6}" srcOrd="0" destOrd="2" presId="urn:microsoft.com/office/officeart/2005/8/layout/vList2"/>
    <dgm:cxn modelId="{E733F947-DD17-4648-80DB-29BDCF0CA324}" type="presOf" srcId="{8CCD2BDA-82B8-4928-A272-B288D8CC5879}" destId="{9C9192C8-1F65-46B3-86B8-0947E3B2064C}" srcOrd="0" destOrd="0" presId="urn:microsoft.com/office/officeart/2005/8/layout/vList2"/>
    <dgm:cxn modelId="{5364FC49-39D2-4546-BD8A-F0779335DE75}" srcId="{9A4C0897-65C9-4D9A-AF41-8C82E8A1C916}" destId="{AAE250C6-6577-4712-82F6-592B4B4739A9}" srcOrd="1" destOrd="0" parTransId="{669B0A2E-18FE-4FC9-9A2A-9C3E67A12FD1}" sibTransId="{9109B175-A430-44BA-B016-A2FBE41CF93C}"/>
    <dgm:cxn modelId="{E5101012-7E59-4B85-93D9-4E85474DE000}" type="presOf" srcId="{61683D07-0C9C-4BDE-A92A-7701F66B4AE4}" destId="{06A1F401-57F5-4B93-999D-ACDA9CD6E830}" srcOrd="0" destOrd="2" presId="urn:microsoft.com/office/officeart/2005/8/layout/vList2"/>
    <dgm:cxn modelId="{BCE61CF4-C087-43FF-B3D5-0A4C9783A883}" type="presOf" srcId="{B50AF25C-8722-42BF-BB71-A0D92D37A1B2}" destId="{D8F08FD2-4204-40EB-A469-C0D0E460B5D7}" srcOrd="0" destOrd="0" presId="urn:microsoft.com/office/officeart/2005/8/layout/vList2"/>
    <dgm:cxn modelId="{C79634A5-7542-4D95-96D2-108E537AB756}" type="presOf" srcId="{7B930E67-3242-44CB-869C-596F15E5F9E9}" destId="{9C9192C8-1F65-46B3-86B8-0947E3B2064C}" srcOrd="0" destOrd="1" presId="urn:microsoft.com/office/officeart/2005/8/layout/vList2"/>
    <dgm:cxn modelId="{8F090BCE-E0D1-47CD-9D23-AF8D096E1071}" type="presOf" srcId="{DA201FDA-82A3-4674-809F-A4BA6427897E}" destId="{9CD83E87-4CE4-4F55-A573-2603EC6414E3}" srcOrd="0" destOrd="0" presId="urn:microsoft.com/office/officeart/2005/8/layout/vList2"/>
    <dgm:cxn modelId="{F2D03F0A-B9E0-4A20-9DA2-62ECFD26658B}" type="presOf" srcId="{B98D8392-FB27-4752-BE1B-F50F8E217DD1}" destId="{9CD83E87-4CE4-4F55-A573-2603EC6414E3}" srcOrd="0" destOrd="1" presId="urn:microsoft.com/office/officeart/2005/8/layout/vList2"/>
    <dgm:cxn modelId="{D3219845-5985-4DB2-B7A2-A89385BD8C0B}" type="presOf" srcId="{6B48F48A-60B0-4642-950B-C0AA9A6978C3}" destId="{9CD83E87-4CE4-4F55-A573-2603EC6414E3}" srcOrd="0" destOrd="2" presId="urn:microsoft.com/office/officeart/2005/8/layout/vList2"/>
    <dgm:cxn modelId="{3C649DF9-24E1-49EA-B30C-78F6A5B03EBB}" srcId="{4A44BEF6-B48D-47C2-9C6B-BACF372027DC}" destId="{7B930E67-3242-44CB-869C-596F15E5F9E9}" srcOrd="1" destOrd="0" parTransId="{F953434B-BA10-4C5F-A4CD-142B97BD5AE1}" sibTransId="{8AC04EEC-5919-4A3A-9517-E949D565B367}"/>
    <dgm:cxn modelId="{F2493A8D-EE55-45A4-A7C9-BDEA4E1066A3}" srcId="{6FF65AC3-10AE-436A-9D5A-A884CB64EFEC}" destId="{DA201FDA-82A3-4674-809F-A4BA6427897E}" srcOrd="0" destOrd="0" parTransId="{73BA85D9-7997-4813-8C21-468C2B264227}" sibTransId="{7F44B508-F483-4849-97A8-C0B7EDDF41AE}"/>
    <dgm:cxn modelId="{02A40ECC-35E3-43BC-8A30-31432637BBD5}" srcId="{02CC35B6-28B8-464B-8218-E07133A1B48B}" destId="{611A0B3E-27D2-45D8-A81E-0DB0CF728CCE}" srcOrd="0" destOrd="0" parTransId="{2C937515-1383-4EA3-9A41-F64A5A4729A8}" sibTransId="{F1E1B24B-B737-45B7-A442-81AC3C8B2588}"/>
    <dgm:cxn modelId="{AF073B89-2471-4402-81DC-A406B7BCD667}" srcId="{9A4C0897-65C9-4D9A-AF41-8C82E8A1C916}" destId="{D13B3EEC-3F3F-42D4-949F-A37F49890F2B}" srcOrd="4" destOrd="0" parTransId="{ED168F77-9D83-4CE4-9660-7B9B0EE35921}" sibTransId="{9ED91A85-105C-48BF-96D9-468227DAFC80}"/>
    <dgm:cxn modelId="{BFA3F99D-7E9F-499C-A0DC-4160C118C4AA}" type="presOf" srcId="{BC9DAA39-5C31-47FD-BDCD-B6CFBBD682E2}" destId="{9C9192C8-1F65-46B3-86B8-0947E3B2064C}" srcOrd="0" destOrd="2" presId="urn:microsoft.com/office/officeart/2005/8/layout/vList2"/>
    <dgm:cxn modelId="{8C38EE06-C0E5-4F56-AA5D-E6E5054C1A91}" srcId="{4A44BEF6-B48D-47C2-9C6B-BACF372027DC}" destId="{BC9DAA39-5C31-47FD-BDCD-B6CFBBD682E2}" srcOrd="2" destOrd="0" parTransId="{DEFE3360-BF89-4D69-A7E8-89BF81257E92}" sibTransId="{D32A8FDD-B765-407B-B0A9-275A360C4697}"/>
    <dgm:cxn modelId="{A238D9E5-6A1F-4965-8E76-F0C5E50E8201}" type="presParOf" srcId="{02DDF34C-AE9E-4C5C-B688-9B545B8BF37A}" destId="{2D8FFCD5-EDC5-479E-8486-C753D09A41B6}" srcOrd="0" destOrd="0" presId="urn:microsoft.com/office/officeart/2005/8/layout/vList2"/>
    <dgm:cxn modelId="{F559A45C-AD99-415C-A47C-36F809526689}" type="presParOf" srcId="{02DDF34C-AE9E-4C5C-B688-9B545B8BF37A}" destId="{9C9192C8-1F65-46B3-86B8-0947E3B2064C}" srcOrd="1" destOrd="0" presId="urn:microsoft.com/office/officeart/2005/8/layout/vList2"/>
    <dgm:cxn modelId="{FAC76E13-3F00-4392-8343-DFD3D38ECA5D}" type="presParOf" srcId="{02DDF34C-AE9E-4C5C-B688-9B545B8BF37A}" destId="{1B0DB736-9C8C-4E39-B3F5-692200E0A2EA}" srcOrd="2" destOrd="0" presId="urn:microsoft.com/office/officeart/2005/8/layout/vList2"/>
    <dgm:cxn modelId="{FAE6BDC2-C142-4259-B2EC-84688124A190}" type="presParOf" srcId="{02DDF34C-AE9E-4C5C-B688-9B545B8BF37A}" destId="{A2C61660-0C2C-4119-8379-5F82A7F9BAF6}" srcOrd="3" destOrd="0" presId="urn:microsoft.com/office/officeart/2005/8/layout/vList2"/>
    <dgm:cxn modelId="{AD756197-6E09-4FFD-8FF5-350F64E68CD4}" type="presParOf" srcId="{02DDF34C-AE9E-4C5C-B688-9B545B8BF37A}" destId="{EC3CC386-049B-4E38-8D5B-055DBA2EBEE3}" srcOrd="4" destOrd="0" presId="urn:microsoft.com/office/officeart/2005/8/layout/vList2"/>
    <dgm:cxn modelId="{047F06D1-F234-42A5-A8F2-AE3BF89A561D}" type="presParOf" srcId="{02DDF34C-AE9E-4C5C-B688-9B545B8BF37A}" destId="{9CD83E87-4CE4-4F55-A573-2603EC6414E3}" srcOrd="5" destOrd="0" presId="urn:microsoft.com/office/officeart/2005/8/layout/vList2"/>
    <dgm:cxn modelId="{70B61D11-6EDA-4BCB-BA96-0A7C93E8C6EE}" type="presParOf" srcId="{02DDF34C-AE9E-4C5C-B688-9B545B8BF37A}" destId="{E3CAE218-C79F-4936-8C3A-2556C9FEBCFC}" srcOrd="6" destOrd="0" presId="urn:microsoft.com/office/officeart/2005/8/layout/vList2"/>
    <dgm:cxn modelId="{EDD2F4FB-64F9-45D2-BC19-9DB94087F1A3}" type="presParOf" srcId="{02DDF34C-AE9E-4C5C-B688-9B545B8BF37A}" destId="{06A1F401-57F5-4B93-999D-ACDA9CD6E830}" srcOrd="7" destOrd="0" presId="urn:microsoft.com/office/officeart/2005/8/layout/vList2"/>
    <dgm:cxn modelId="{08AB2154-C69E-4C40-AFB8-DF27E19EF68D}" type="presParOf" srcId="{02DDF34C-AE9E-4C5C-B688-9B545B8BF37A}" destId="{26B3663F-67A1-4181-B690-CC922584735A}" srcOrd="8" destOrd="0" presId="urn:microsoft.com/office/officeart/2005/8/layout/vList2"/>
    <dgm:cxn modelId="{7CEFA5EF-EFB4-4B83-AECB-29E205E11082}" type="presParOf" srcId="{02DDF34C-AE9E-4C5C-B688-9B545B8BF37A}" destId="{D8F08FD2-4204-40EB-A469-C0D0E460B5D7}" srcOrd="9" destOrd="0" presId="urn:microsoft.com/office/officeart/2005/8/layout/vList2"/>
    <dgm:cxn modelId="{D1D37AB8-DE4E-420D-817B-0B6D6C32EA10}" type="presParOf" srcId="{02DDF34C-AE9E-4C5C-B688-9B545B8BF37A}" destId="{06B82C05-62FC-4128-BB7D-12C4B3AE948A}" srcOrd="10" destOrd="0" presId="urn:microsoft.com/office/officeart/2005/8/layout/vList2"/>
    <dgm:cxn modelId="{EDB285DA-C472-4531-B69D-1F52AE2DADFD}"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3"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A3C569D1-5813-47FA-802E-AE163CC73486}" srcId="{4A44BEF6-B48D-47C2-9C6B-BACF372027DC}" destId="{8CCD2BDA-82B8-4928-A272-B288D8CC5879}" srcOrd="0" destOrd="0" parTransId="{0BA634E7-A2BC-49B7-8399-DE8C3881EB79}" sibTransId="{BBFF361E-7CF2-4AA6-9ED3-61CE169F37A3}"/>
    <dgm:cxn modelId="{7761994B-45B9-4713-A2AE-73766EAD4859}" srcId="{9A4C0897-65C9-4D9A-AF41-8C82E8A1C916}" destId="{068F8E9C-F855-47F9-B55B-A6A68C91B775}" srcOrd="3" destOrd="0" parTransId="{DCD6262B-FFB8-495A-8D4A-170F71C45FF7}" sibTransId="{F7A8B051-0362-4D87-8F17-BF98788329AD}"/>
    <dgm:cxn modelId="{F3878B2D-E4B4-4100-84B4-4F389CD80B08}" srcId="{AAE250C6-6577-4712-82F6-592B4B4739A9}" destId="{384D3E72-4E25-4D0D-96F0-A7AD2EED6960}" srcOrd="2" destOrd="0" parTransId="{38C02242-A287-415C-856B-5BF0372F1320}" sibTransId="{D59BAC4F-7A9B-44E2-85F9-36D523FDF38F}"/>
    <dgm:cxn modelId="{43F5450D-6E78-4823-97F6-9FFDAD712108}" type="presOf" srcId="{6B48F48A-60B0-4642-950B-C0AA9A6978C3}" destId="{9CD83E87-4CE4-4F55-A573-2603EC6414E3}" srcOrd="0" destOrd="2" presId="urn:microsoft.com/office/officeart/2005/8/layout/vList2"/>
    <dgm:cxn modelId="{BF5851A0-E277-48F6-9A6D-E37C007F83E8}" type="presOf" srcId="{93060D19-F70B-4E74-A992-067F31D656A7}" destId="{A2C61660-0C2C-4119-8379-5F82A7F9BAF6}" srcOrd="0" destOrd="1" presId="urn:microsoft.com/office/officeart/2005/8/layout/vList2"/>
    <dgm:cxn modelId="{BB391554-60DE-4645-AD7D-B64F62A228A7}" type="presOf" srcId="{6FF65AC3-10AE-436A-9D5A-A884CB64EFEC}" destId="{EC3CC386-049B-4E38-8D5B-055DBA2EBEE3}" srcOrd="0" destOrd="0" presId="urn:microsoft.com/office/officeart/2005/8/layout/vList2"/>
    <dgm:cxn modelId="{3DA98A25-DAF0-4102-94B4-57BCE54C7A2A}" srcId="{9A4C0897-65C9-4D9A-AF41-8C82E8A1C916}" destId="{4A44BEF6-B48D-47C2-9C6B-BACF372027DC}" srcOrd="0" destOrd="0" parTransId="{FBB23309-879F-4723-86D9-834255385215}" sibTransId="{3DA360D5-FFB7-49A7-9B10-115E7F1DB8B2}"/>
    <dgm:cxn modelId="{52CBAE99-5141-47CB-AC8E-9A2402D34489}" srcId="{02CC35B6-28B8-464B-8218-E07133A1B48B}" destId="{5CAEECCF-6CDF-41C4-91D8-14230975E224}" srcOrd="2" destOrd="0" parTransId="{6BAC0993-98F1-4826-AAAA-BCB60DC13699}" sibTransId="{55D49035-D45F-4AFE-BB19-5AC326623B98}"/>
    <dgm:cxn modelId="{6F7E0EBB-06ED-4B62-BA31-B993398379FF}" srcId="{AAE250C6-6577-4712-82F6-592B4B4739A9}" destId="{861357AE-C8A7-4ACC-945F-4E864ABCEE1E}" srcOrd="0" destOrd="0" parTransId="{3400D267-DDCB-4BCE-B945-22A30A91A666}" sibTransId="{EA0D1700-C0E8-4C47-990F-BBF717265B3B}"/>
    <dgm:cxn modelId="{5D78C300-E73F-4C19-B36A-7372E5622934}" srcId="{02CC35B6-28B8-464B-8218-E07133A1B48B}" destId="{194A508F-123E-498E-9A26-E25FC3D82174}" srcOrd="1" destOrd="0" parTransId="{30099494-3452-480B-A0FA-FEE152DB6629}" sibTransId="{E31B03A8-F10B-498C-9377-1D00A6D8E298}"/>
    <dgm:cxn modelId="{7F6DB3F1-FCAC-4A36-A1D5-093A72B74BDC}" srcId="{068F8E9C-F855-47F9-B55B-A6A68C91B775}" destId="{E04C5566-ADA8-4B25-9DAA-E5B29808C2D2}" srcOrd="1" destOrd="0" parTransId="{5F76528D-AF0D-4705-9D09-B9515D7F52D5}" sibTransId="{B3B5E256-53C2-42AE-A140-51E0394657D5}"/>
    <dgm:cxn modelId="{DD3C7865-1FE7-4D49-A0F6-73D55D779203}" srcId="{6FF65AC3-10AE-436A-9D5A-A884CB64EFEC}" destId="{6B48F48A-60B0-4642-950B-C0AA9A6978C3}" srcOrd="2" destOrd="0" parTransId="{79C2DB65-C2C2-4FC2-B87A-B7EDCA1BF314}" sibTransId="{A00E2B19-AEE4-40AC-8797-A1282DDD5B6E}"/>
    <dgm:cxn modelId="{4BD7C409-4482-4921-9110-BE2A61D3933D}" type="presOf" srcId="{5CAEECCF-6CDF-41C4-91D8-14230975E224}" destId="{E86D72E6-46A5-4ADC-8019-4BD084342D53}" srcOrd="0" destOrd="2" presId="urn:microsoft.com/office/officeart/2005/8/layout/vList2"/>
    <dgm:cxn modelId="{EB050E27-F55F-4A7D-9955-88C26D31B18F}" srcId="{9A4C0897-65C9-4D9A-AF41-8C82E8A1C916}" destId="{6FF65AC3-10AE-436A-9D5A-A884CB64EFEC}" srcOrd="2" destOrd="0" parTransId="{7E887C40-BD28-4BF7-9BAB-DCE1210D4F27}" sibTransId="{2B0DBED0-7D1F-446B-AA77-AD86825D3403}"/>
    <dgm:cxn modelId="{7CFA4F6C-9931-4E0F-885C-4B6C6D84A919}" type="presOf" srcId="{8CCD2BDA-82B8-4928-A272-B288D8CC5879}" destId="{9C9192C8-1F65-46B3-86B8-0947E3B2064C}" srcOrd="0" destOrd="0" presId="urn:microsoft.com/office/officeart/2005/8/layout/vList2"/>
    <dgm:cxn modelId="{948B51F2-88BB-4118-8EE6-8102F852AD0B}" srcId="{D13B3EEC-3F3F-42D4-949F-A37F49890F2B}" destId="{B50AF25C-8722-42BF-BB71-A0D92D37A1B2}" srcOrd="0" destOrd="0" parTransId="{EE01A423-AA1E-4316-9D69-298EF998250A}" sibTransId="{DDAA8997-6180-4D72-890E-04EF994080E5}"/>
    <dgm:cxn modelId="{642C318F-9DB1-43B9-A5EF-2FA5FE787672}" type="presOf" srcId="{068F8E9C-F855-47F9-B55B-A6A68C91B775}" destId="{E3CAE218-C79F-4936-8C3A-2556C9FEBCFC}" srcOrd="0" destOrd="0" presId="urn:microsoft.com/office/officeart/2005/8/layout/vList2"/>
    <dgm:cxn modelId="{FE9365F0-0F48-4CBB-B3D8-B6E84AD54D4E}" srcId="{6FF65AC3-10AE-436A-9D5A-A884CB64EFEC}" destId="{B98D8392-FB27-4752-BE1B-F50F8E217DD1}" srcOrd="1" destOrd="0" parTransId="{869316A5-2E63-4C66-AD9F-93897A66BD64}" sibTransId="{D5F39CCD-A67B-4B33-B95B-69A6DD4E51ED}"/>
    <dgm:cxn modelId="{E96282DC-90C2-48A9-90EB-F15A6A6F6618}" srcId="{D13B3EEC-3F3F-42D4-949F-A37F49890F2B}" destId="{A414D77D-650F-4071-BB31-246B49EB28F1}" srcOrd="2" destOrd="0" parTransId="{E9A0EB56-48B4-4346-9E22-FEEFD4A0F614}" sibTransId="{F1CA56AA-A594-4EBD-99C6-CF0268BB0AA2}"/>
    <dgm:cxn modelId="{9EBD7BC7-8374-4B3A-A8BE-EA6014BF18C2}" srcId="{D13B3EEC-3F3F-42D4-949F-A37F49890F2B}" destId="{5F59C612-9537-4306-B675-59FC3A11A4B1}" srcOrd="1" destOrd="0" parTransId="{516D2DA6-1C5E-4047-94D1-B09D0CEB2BA3}" sibTransId="{36481970-5DFB-4122-93A0-DFF090A3AC5A}"/>
    <dgm:cxn modelId="{9D523FB2-4846-403A-9338-62283786C246}" type="presOf" srcId="{E88AD862-CCE8-4BCB-84F2-B0C4188C5E22}" destId="{06A1F401-57F5-4B93-999D-ACDA9CD6E830}" srcOrd="0" destOrd="0" presId="urn:microsoft.com/office/officeart/2005/8/layout/vList2"/>
    <dgm:cxn modelId="{1247FF5A-F145-47BA-8553-04EF8A196D67}" srcId="{068F8E9C-F855-47F9-B55B-A6A68C91B775}" destId="{B012ACE8-88AA-46CF-A895-59CCA803EDB5}" srcOrd="3" destOrd="0" parTransId="{A3098587-4513-44CF-A46C-56192A4A3DE0}" sibTransId="{DE301333-89D0-46A8-BC43-D9B888FCED62}"/>
    <dgm:cxn modelId="{E87D9561-B179-4DC4-A0E7-067E339BC492}" srcId="{068F8E9C-F855-47F9-B55B-A6A68C91B775}" destId="{E88AD862-CCE8-4BCB-84F2-B0C4188C5E22}" srcOrd="0" destOrd="0" parTransId="{1A0C1AB4-DFDB-4F94-A27A-CCAD40F7D4E8}" sibTransId="{2CA19E52-34BA-4DC6-B654-A4BF2501CE10}"/>
    <dgm:cxn modelId="{2DD7DBD1-3FA4-47A1-8890-C2409AB6536B}" type="presOf" srcId="{5F59C612-9537-4306-B675-59FC3A11A4B1}" destId="{D8F08FD2-4204-40EB-A469-C0D0E460B5D7}" srcOrd="0" destOrd="1" presId="urn:microsoft.com/office/officeart/2005/8/layout/vList2"/>
    <dgm:cxn modelId="{56302CB1-6E88-49A0-9FF0-CBF1CAA87015}" srcId="{9A4C0897-65C9-4D9A-AF41-8C82E8A1C916}" destId="{02CC35B6-28B8-464B-8218-E07133A1B48B}" srcOrd="5" destOrd="0" parTransId="{0CA8619D-36E9-4717-A938-330B873683AE}" sibTransId="{9979C024-ABC4-4D41-8CF6-F2E5F235C9D0}"/>
    <dgm:cxn modelId="{7A49ACB4-3E49-40F2-973D-FE7E9ED11513}" type="presOf" srcId="{02CC35B6-28B8-464B-8218-E07133A1B48B}" destId="{06B82C05-62FC-4128-BB7D-12C4B3AE948A}" srcOrd="0" destOrd="0" presId="urn:microsoft.com/office/officeart/2005/8/layout/vList2"/>
    <dgm:cxn modelId="{1FC2638D-4BB2-465F-86F0-ADBC3370E8E8}" type="presOf" srcId="{9A4C0897-65C9-4D9A-AF41-8C82E8A1C916}" destId="{02DDF34C-AE9E-4C5C-B688-9B545B8BF37A}" srcOrd="0" destOrd="0" presId="urn:microsoft.com/office/officeart/2005/8/layout/vList2"/>
    <dgm:cxn modelId="{FE14F60B-EE65-40F7-85D6-37D216CC82BB}" type="presOf" srcId="{611A0B3E-27D2-45D8-A81E-0DB0CF728CCE}" destId="{E86D72E6-46A5-4ADC-8019-4BD084342D53}" srcOrd="0" destOrd="0" presId="urn:microsoft.com/office/officeart/2005/8/layout/vList2"/>
    <dgm:cxn modelId="{33CBB33C-1D1E-4931-89D2-9ACE87DF9EAF}" type="presOf" srcId="{E04C5566-ADA8-4B25-9DAA-E5B29808C2D2}" destId="{06A1F401-57F5-4B93-999D-ACDA9CD6E830}" srcOrd="0" destOrd="1" presId="urn:microsoft.com/office/officeart/2005/8/layout/vList2"/>
    <dgm:cxn modelId="{D060460C-1692-472B-8EF0-3EBFD445CA12}" type="presOf" srcId="{AAE250C6-6577-4712-82F6-592B4B4739A9}" destId="{1B0DB736-9C8C-4E39-B3F5-692200E0A2EA}" srcOrd="0" destOrd="0" presId="urn:microsoft.com/office/officeart/2005/8/layout/vList2"/>
    <dgm:cxn modelId="{ABD680A9-C5D7-40B8-A2F1-421E22888336}" type="presOf" srcId="{4A44BEF6-B48D-47C2-9C6B-BACF372027DC}" destId="{2D8FFCD5-EDC5-479E-8486-C753D09A41B6}" srcOrd="0" destOrd="0" presId="urn:microsoft.com/office/officeart/2005/8/layout/vList2"/>
    <dgm:cxn modelId="{4F309F37-7A3B-4978-AF80-8EF82D95D64A}" srcId="{AAE250C6-6577-4712-82F6-592B4B4739A9}" destId="{93060D19-F70B-4E74-A992-067F31D656A7}" srcOrd="1" destOrd="0" parTransId="{D3D5348C-4D0E-42BD-95C0-9DC43ABFFEEA}" sibTransId="{AA86F70B-E868-46BE-9B6C-E5EFE809D940}"/>
    <dgm:cxn modelId="{28D5D8DF-DC27-4309-B6E1-88623CDA4022}" srcId="{068F8E9C-F855-47F9-B55B-A6A68C91B775}" destId="{61683D07-0C9C-4BDE-A92A-7701F66B4AE4}" srcOrd="2" destOrd="0" parTransId="{05D7471B-531E-4028-9875-346A436963A9}" sibTransId="{33AA2CDA-0538-4702-9146-2422A0BD37F6}"/>
    <dgm:cxn modelId="{EF63E2EE-72FD-465B-AC26-EB3C95EF85E9}" type="presOf" srcId="{194A508F-123E-498E-9A26-E25FC3D82174}" destId="{E86D72E6-46A5-4ADC-8019-4BD084342D53}" srcOrd="0" destOrd="1" presId="urn:microsoft.com/office/officeart/2005/8/layout/vList2"/>
    <dgm:cxn modelId="{FBB664F0-2187-48A5-B115-8417525A0BB6}" type="presOf" srcId="{D13B3EEC-3F3F-42D4-949F-A37F49890F2B}" destId="{26B3663F-67A1-4181-B690-CC922584735A}" srcOrd="0" destOrd="0" presId="urn:microsoft.com/office/officeart/2005/8/layout/vList2"/>
    <dgm:cxn modelId="{5364FC49-39D2-4546-BD8A-F0779335DE75}" srcId="{9A4C0897-65C9-4D9A-AF41-8C82E8A1C916}" destId="{AAE250C6-6577-4712-82F6-592B4B4739A9}" srcOrd="1" destOrd="0" parTransId="{669B0A2E-18FE-4FC9-9A2A-9C3E67A12FD1}" sibTransId="{9109B175-A430-44BA-B016-A2FBE41CF93C}"/>
    <dgm:cxn modelId="{2A714C6F-60DB-4AEA-9AE9-36F26439747E}" type="presOf" srcId="{B98D8392-FB27-4752-BE1B-F50F8E217DD1}" destId="{9CD83E87-4CE4-4F55-A573-2603EC6414E3}" srcOrd="0" destOrd="1" presId="urn:microsoft.com/office/officeart/2005/8/layout/vList2"/>
    <dgm:cxn modelId="{603BB2D5-DC17-45E5-96F5-22A3EF27A471}" type="presOf" srcId="{384D3E72-4E25-4D0D-96F0-A7AD2EED6960}" destId="{A2C61660-0C2C-4119-8379-5F82A7F9BAF6}" srcOrd="0" destOrd="2" presId="urn:microsoft.com/office/officeart/2005/8/layout/vList2"/>
    <dgm:cxn modelId="{8AACA111-2CB7-4473-899A-32519F840CB0}" type="presOf" srcId="{61683D07-0C9C-4BDE-A92A-7701F66B4AE4}" destId="{06A1F401-57F5-4B93-999D-ACDA9CD6E830}" srcOrd="0" destOrd="2" presId="urn:microsoft.com/office/officeart/2005/8/layout/vList2"/>
    <dgm:cxn modelId="{0887554A-C1ED-4ECC-A40A-A966C2F1028C}" type="presOf" srcId="{BC9DAA39-5C31-47FD-BDCD-B6CFBBD682E2}" destId="{9C9192C8-1F65-46B3-86B8-0947E3B2064C}" srcOrd="0" destOrd="2" presId="urn:microsoft.com/office/officeart/2005/8/layout/vList2"/>
    <dgm:cxn modelId="{8E335BB5-1424-4E1B-84C3-3CB3410CAC77}" type="presOf" srcId="{A414D77D-650F-4071-BB31-246B49EB28F1}" destId="{D8F08FD2-4204-40EB-A469-C0D0E460B5D7}" srcOrd="0" destOrd="2" presId="urn:microsoft.com/office/officeart/2005/8/layout/vList2"/>
    <dgm:cxn modelId="{3C649DF9-24E1-49EA-B30C-78F6A5B03EBB}" srcId="{4A44BEF6-B48D-47C2-9C6B-BACF372027DC}" destId="{7B930E67-3242-44CB-869C-596F15E5F9E9}" srcOrd="1" destOrd="0" parTransId="{F953434B-BA10-4C5F-A4CD-142B97BD5AE1}" sibTransId="{8AC04EEC-5919-4A3A-9517-E949D565B367}"/>
    <dgm:cxn modelId="{F2493A8D-EE55-45A4-A7C9-BDEA4E1066A3}" srcId="{6FF65AC3-10AE-436A-9D5A-A884CB64EFEC}" destId="{DA201FDA-82A3-4674-809F-A4BA6427897E}" srcOrd="0" destOrd="0" parTransId="{73BA85D9-7997-4813-8C21-468C2B264227}" sibTransId="{7F44B508-F483-4849-97A8-C0B7EDDF41AE}"/>
    <dgm:cxn modelId="{363D5DCD-78CC-4BF7-89E6-5D1A821EBC3E}" type="presOf" srcId="{861357AE-C8A7-4ACC-945F-4E864ABCEE1E}" destId="{A2C61660-0C2C-4119-8379-5F82A7F9BAF6}" srcOrd="0" destOrd="0" presId="urn:microsoft.com/office/officeart/2005/8/layout/vList2"/>
    <dgm:cxn modelId="{AF073B89-2471-4402-81DC-A406B7BCD667}" srcId="{9A4C0897-65C9-4D9A-AF41-8C82E8A1C916}" destId="{D13B3EEC-3F3F-42D4-949F-A37F49890F2B}" srcOrd="4" destOrd="0" parTransId="{ED168F77-9D83-4CE4-9660-7B9B0EE35921}" sibTransId="{9ED91A85-105C-48BF-96D9-468227DAFC80}"/>
    <dgm:cxn modelId="{02A40ECC-35E3-43BC-8A30-31432637BBD5}" srcId="{02CC35B6-28B8-464B-8218-E07133A1B48B}" destId="{611A0B3E-27D2-45D8-A81E-0DB0CF728CCE}" srcOrd="0" destOrd="0" parTransId="{2C937515-1383-4EA3-9A41-F64A5A4729A8}" sibTransId="{F1E1B24B-B737-45B7-A442-81AC3C8B2588}"/>
    <dgm:cxn modelId="{15A470D5-072A-43B9-B73E-EA663587D137}" type="presOf" srcId="{DA201FDA-82A3-4674-809F-A4BA6427897E}" destId="{9CD83E87-4CE4-4F55-A573-2603EC6414E3}" srcOrd="0" destOrd="0" presId="urn:microsoft.com/office/officeart/2005/8/layout/vList2"/>
    <dgm:cxn modelId="{8C38EE06-C0E5-4F56-AA5D-E6E5054C1A91}" srcId="{4A44BEF6-B48D-47C2-9C6B-BACF372027DC}" destId="{BC9DAA39-5C31-47FD-BDCD-B6CFBBD682E2}" srcOrd="2" destOrd="0" parTransId="{DEFE3360-BF89-4D69-A7E8-89BF81257E92}" sibTransId="{D32A8FDD-B765-407B-B0A9-275A360C4697}"/>
    <dgm:cxn modelId="{93821E9E-0DD6-4F24-8DC2-2859A6F950F4}" type="presOf" srcId="{7B930E67-3242-44CB-869C-596F15E5F9E9}" destId="{9C9192C8-1F65-46B3-86B8-0947E3B2064C}" srcOrd="0" destOrd="1" presId="urn:microsoft.com/office/officeart/2005/8/layout/vList2"/>
    <dgm:cxn modelId="{87570FD1-B73C-43F5-9EDF-584307275610}" type="presOf" srcId="{B50AF25C-8722-42BF-BB71-A0D92D37A1B2}" destId="{D8F08FD2-4204-40EB-A469-C0D0E460B5D7}" srcOrd="0" destOrd="0" presId="urn:microsoft.com/office/officeart/2005/8/layout/vList2"/>
    <dgm:cxn modelId="{AB3DE61E-9647-4327-B6D0-CF4A2A8028D6}" type="presOf" srcId="{B012ACE8-88AA-46CF-A895-59CCA803EDB5}" destId="{06A1F401-57F5-4B93-999D-ACDA9CD6E830}" srcOrd="0" destOrd="3" presId="urn:microsoft.com/office/officeart/2005/8/layout/vList2"/>
    <dgm:cxn modelId="{FCF541D1-5415-487F-B6D6-4DC73AA9E5F0}" type="presParOf" srcId="{02DDF34C-AE9E-4C5C-B688-9B545B8BF37A}" destId="{2D8FFCD5-EDC5-479E-8486-C753D09A41B6}" srcOrd="0" destOrd="0" presId="urn:microsoft.com/office/officeart/2005/8/layout/vList2"/>
    <dgm:cxn modelId="{B7A8E807-B253-4E55-BED1-4F4F4D00175F}" type="presParOf" srcId="{02DDF34C-AE9E-4C5C-B688-9B545B8BF37A}" destId="{9C9192C8-1F65-46B3-86B8-0947E3B2064C}" srcOrd="1" destOrd="0" presId="urn:microsoft.com/office/officeart/2005/8/layout/vList2"/>
    <dgm:cxn modelId="{C562D7E4-CF44-4BD5-84FE-29B435E19A06}" type="presParOf" srcId="{02DDF34C-AE9E-4C5C-B688-9B545B8BF37A}" destId="{1B0DB736-9C8C-4E39-B3F5-692200E0A2EA}" srcOrd="2" destOrd="0" presId="urn:microsoft.com/office/officeart/2005/8/layout/vList2"/>
    <dgm:cxn modelId="{E09B43B4-8254-45D3-BEC1-3D7EAAC1B155}" type="presParOf" srcId="{02DDF34C-AE9E-4C5C-B688-9B545B8BF37A}" destId="{A2C61660-0C2C-4119-8379-5F82A7F9BAF6}" srcOrd="3" destOrd="0" presId="urn:microsoft.com/office/officeart/2005/8/layout/vList2"/>
    <dgm:cxn modelId="{E3A4345E-DAFF-4A82-A11C-211A885B23E1}" type="presParOf" srcId="{02DDF34C-AE9E-4C5C-B688-9B545B8BF37A}" destId="{EC3CC386-049B-4E38-8D5B-055DBA2EBEE3}" srcOrd="4" destOrd="0" presId="urn:microsoft.com/office/officeart/2005/8/layout/vList2"/>
    <dgm:cxn modelId="{DF6EE7EE-08C5-4C89-B003-EFA81F2A925A}" type="presParOf" srcId="{02DDF34C-AE9E-4C5C-B688-9B545B8BF37A}" destId="{9CD83E87-4CE4-4F55-A573-2603EC6414E3}" srcOrd="5" destOrd="0" presId="urn:microsoft.com/office/officeart/2005/8/layout/vList2"/>
    <dgm:cxn modelId="{F74A2F84-AD8F-41B8-AD5C-24CE3D6BF935}" type="presParOf" srcId="{02DDF34C-AE9E-4C5C-B688-9B545B8BF37A}" destId="{E3CAE218-C79F-4936-8C3A-2556C9FEBCFC}" srcOrd="6" destOrd="0" presId="urn:microsoft.com/office/officeart/2005/8/layout/vList2"/>
    <dgm:cxn modelId="{86DA7F88-81F4-4CAF-A24B-5FB30C8F8C4E}" type="presParOf" srcId="{02DDF34C-AE9E-4C5C-B688-9B545B8BF37A}" destId="{06A1F401-57F5-4B93-999D-ACDA9CD6E830}" srcOrd="7" destOrd="0" presId="urn:microsoft.com/office/officeart/2005/8/layout/vList2"/>
    <dgm:cxn modelId="{4504961A-A7D4-4A62-8C5D-0A95CB217CF7}" type="presParOf" srcId="{02DDF34C-AE9E-4C5C-B688-9B545B8BF37A}" destId="{26B3663F-67A1-4181-B690-CC922584735A}" srcOrd="8" destOrd="0" presId="urn:microsoft.com/office/officeart/2005/8/layout/vList2"/>
    <dgm:cxn modelId="{C915BE82-1787-4B3B-9710-4312291CF197}" type="presParOf" srcId="{02DDF34C-AE9E-4C5C-B688-9B545B8BF37A}" destId="{D8F08FD2-4204-40EB-A469-C0D0E460B5D7}" srcOrd="9" destOrd="0" presId="urn:microsoft.com/office/officeart/2005/8/layout/vList2"/>
    <dgm:cxn modelId="{C46C3201-5344-487A-A2F0-4B2C7F1EDA0B}" type="presParOf" srcId="{02DDF34C-AE9E-4C5C-B688-9B545B8BF37A}" destId="{06B82C05-62FC-4128-BB7D-12C4B3AE948A}" srcOrd="10" destOrd="0" presId="urn:microsoft.com/office/officeart/2005/8/layout/vList2"/>
    <dgm:cxn modelId="{57E9D6E7-A4ED-4652-B798-C661492E9E3B}"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6"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050CFFD8-02B6-4551-ACD8-0FF8D6A57AE9}" type="presOf" srcId="{6FF65AC3-10AE-436A-9D5A-A884CB64EFEC}" destId="{EC3CC386-049B-4E38-8D5B-055DBA2EBEE3}" srcOrd="0" destOrd="0" presId="urn:microsoft.com/office/officeart/2005/8/layout/vList2"/>
    <dgm:cxn modelId="{3975FE6B-3B90-4928-88B6-D0765882BA91}" type="presOf" srcId="{93060D19-F70B-4E74-A992-067F31D656A7}" destId="{A2C61660-0C2C-4119-8379-5F82A7F9BAF6}" srcOrd="0" destOrd="1" presId="urn:microsoft.com/office/officeart/2005/8/layout/vList2"/>
    <dgm:cxn modelId="{E4601812-6F7D-4820-93DE-00621DC4305F}" type="presOf" srcId="{B012ACE8-88AA-46CF-A895-59CCA803EDB5}" destId="{06A1F401-57F5-4B93-999D-ACDA9CD6E830}" srcOrd="0" destOrd="3" presId="urn:microsoft.com/office/officeart/2005/8/layout/vList2"/>
    <dgm:cxn modelId="{7FADA568-6307-4425-84D5-DF8CCDBD1D67}" type="presOf" srcId="{BC9DAA39-5C31-47FD-BDCD-B6CFBBD682E2}" destId="{9C9192C8-1F65-46B3-86B8-0947E3B2064C}" srcOrd="0" destOrd="2" presId="urn:microsoft.com/office/officeart/2005/8/layout/vList2"/>
    <dgm:cxn modelId="{E34612AD-5C2A-4EF4-B067-0D6BE8B50F0F}" type="presOf" srcId="{AAE250C6-6577-4712-82F6-592B4B4739A9}" destId="{1B0DB736-9C8C-4E39-B3F5-692200E0A2EA}" srcOrd="0" destOrd="0" presId="urn:microsoft.com/office/officeart/2005/8/layout/vList2"/>
    <dgm:cxn modelId="{F2493A8D-EE55-45A4-A7C9-BDEA4E1066A3}" srcId="{6FF65AC3-10AE-436A-9D5A-A884CB64EFEC}" destId="{DA201FDA-82A3-4674-809F-A4BA6427897E}" srcOrd="0" destOrd="0" parTransId="{73BA85D9-7997-4813-8C21-468C2B264227}" sibTransId="{7F44B508-F483-4849-97A8-C0B7EDDF41AE}"/>
    <dgm:cxn modelId="{DD3C7865-1FE7-4D49-A0F6-73D55D779203}" srcId="{6FF65AC3-10AE-436A-9D5A-A884CB64EFEC}" destId="{6B48F48A-60B0-4642-950B-C0AA9A6978C3}" srcOrd="2" destOrd="0" parTransId="{79C2DB65-C2C2-4FC2-B87A-B7EDCA1BF314}" sibTransId="{A00E2B19-AEE4-40AC-8797-A1282DDD5B6E}"/>
    <dgm:cxn modelId="{52CBAE99-5141-47CB-AC8E-9A2402D34489}" srcId="{02CC35B6-28B8-464B-8218-E07133A1B48B}" destId="{5CAEECCF-6CDF-41C4-91D8-14230975E224}" srcOrd="2" destOrd="0" parTransId="{6BAC0993-98F1-4826-AAAA-BCB60DC13699}" sibTransId="{55D49035-D45F-4AFE-BB19-5AC326623B98}"/>
    <dgm:cxn modelId="{5D78C300-E73F-4C19-B36A-7372E5622934}" srcId="{02CC35B6-28B8-464B-8218-E07133A1B48B}" destId="{194A508F-123E-498E-9A26-E25FC3D82174}" srcOrd="1" destOrd="0" parTransId="{30099494-3452-480B-A0FA-FEE152DB6629}" sibTransId="{E31B03A8-F10B-498C-9377-1D00A6D8E298}"/>
    <dgm:cxn modelId="{6F7E0EBB-06ED-4B62-BA31-B993398379FF}" srcId="{AAE250C6-6577-4712-82F6-592B4B4739A9}" destId="{861357AE-C8A7-4ACC-945F-4E864ABCEE1E}" srcOrd="0" destOrd="0" parTransId="{3400D267-DDCB-4BCE-B945-22A30A91A666}" sibTransId="{EA0D1700-C0E8-4C47-990F-BBF717265B3B}"/>
    <dgm:cxn modelId="{3C649DF9-24E1-49EA-B30C-78F6A5B03EBB}" srcId="{4A44BEF6-B48D-47C2-9C6B-BACF372027DC}" destId="{7B930E67-3242-44CB-869C-596F15E5F9E9}" srcOrd="1" destOrd="0" parTransId="{F953434B-BA10-4C5F-A4CD-142B97BD5AE1}" sibTransId="{8AC04EEC-5919-4A3A-9517-E949D565B367}"/>
    <dgm:cxn modelId="{0D4F16C8-A373-4F6D-A650-089E4736DFC0}" type="presOf" srcId="{611A0B3E-27D2-45D8-A81E-0DB0CF728CCE}" destId="{E86D72E6-46A5-4ADC-8019-4BD084342D53}" srcOrd="0" destOrd="0" presId="urn:microsoft.com/office/officeart/2005/8/layout/vList2"/>
    <dgm:cxn modelId="{8C38EE06-C0E5-4F56-AA5D-E6E5054C1A91}" srcId="{4A44BEF6-B48D-47C2-9C6B-BACF372027DC}" destId="{BC9DAA39-5C31-47FD-BDCD-B6CFBBD682E2}" srcOrd="2" destOrd="0" parTransId="{DEFE3360-BF89-4D69-A7E8-89BF81257E92}" sibTransId="{D32A8FDD-B765-407B-B0A9-275A360C4697}"/>
    <dgm:cxn modelId="{5013BA0E-2BBB-484D-B446-B0CABA2E2E35}" type="presOf" srcId="{068F8E9C-F855-47F9-B55B-A6A68C91B775}" destId="{E3CAE218-C79F-4936-8C3A-2556C9FEBCFC}" srcOrd="0" destOrd="0" presId="urn:microsoft.com/office/officeart/2005/8/layout/vList2"/>
    <dgm:cxn modelId="{1438B917-544A-469B-B431-146F8C7274D5}" type="presOf" srcId="{61683D07-0C9C-4BDE-A92A-7701F66B4AE4}" destId="{06A1F401-57F5-4B93-999D-ACDA9CD6E830}" srcOrd="0" destOrd="2" presId="urn:microsoft.com/office/officeart/2005/8/layout/vList2"/>
    <dgm:cxn modelId="{5364FC49-39D2-4546-BD8A-F0779335DE75}" srcId="{9A4C0897-65C9-4D9A-AF41-8C82E8A1C916}" destId="{AAE250C6-6577-4712-82F6-592B4B4739A9}" srcOrd="1" destOrd="0" parTransId="{669B0A2E-18FE-4FC9-9A2A-9C3E67A12FD1}" sibTransId="{9109B175-A430-44BA-B016-A2FBE41CF93C}"/>
    <dgm:cxn modelId="{5F613E5C-0C22-47E9-BC68-7EC8CB2D1A7B}" type="presOf" srcId="{5CAEECCF-6CDF-41C4-91D8-14230975E224}" destId="{E86D72E6-46A5-4ADC-8019-4BD084342D53}" srcOrd="0" destOrd="2" presId="urn:microsoft.com/office/officeart/2005/8/layout/vList2"/>
    <dgm:cxn modelId="{15D4DEB0-5AB7-40E4-B345-8B82E16A1C56}" type="presOf" srcId="{194A508F-123E-498E-9A26-E25FC3D82174}" destId="{E86D72E6-46A5-4ADC-8019-4BD084342D53}" srcOrd="0" destOrd="1" presId="urn:microsoft.com/office/officeart/2005/8/layout/vList2"/>
    <dgm:cxn modelId="{93DE87E4-CECA-49F9-A649-FED08A8178BA}" type="presOf" srcId="{E88AD862-CCE8-4BCB-84F2-B0C4188C5E22}" destId="{06A1F401-57F5-4B93-999D-ACDA9CD6E830}" srcOrd="0" destOrd="0" presId="urn:microsoft.com/office/officeart/2005/8/layout/vList2"/>
    <dgm:cxn modelId="{948B51F2-88BB-4118-8EE6-8102F852AD0B}" srcId="{D13B3EEC-3F3F-42D4-949F-A37F49890F2B}" destId="{B50AF25C-8722-42BF-BB71-A0D92D37A1B2}" srcOrd="0" destOrd="0" parTransId="{EE01A423-AA1E-4316-9D69-298EF998250A}" sibTransId="{DDAA8997-6180-4D72-890E-04EF994080E5}"/>
    <dgm:cxn modelId="{0226E1C8-5814-41C3-B58F-2C682B039B60}" type="presOf" srcId="{6B48F48A-60B0-4642-950B-C0AA9A6978C3}" destId="{9CD83E87-4CE4-4F55-A573-2603EC6414E3}" srcOrd="0" destOrd="2" presId="urn:microsoft.com/office/officeart/2005/8/layout/vList2"/>
    <dgm:cxn modelId="{F3878B2D-E4B4-4100-84B4-4F389CD80B08}" srcId="{AAE250C6-6577-4712-82F6-592B4B4739A9}" destId="{384D3E72-4E25-4D0D-96F0-A7AD2EED6960}" srcOrd="2" destOrd="0" parTransId="{38C02242-A287-415C-856B-5BF0372F1320}" sibTransId="{D59BAC4F-7A9B-44E2-85F9-36D523FDF38F}"/>
    <dgm:cxn modelId="{E96282DC-90C2-48A9-90EB-F15A6A6F6618}" srcId="{D13B3EEC-3F3F-42D4-949F-A37F49890F2B}" destId="{A414D77D-650F-4071-BB31-246B49EB28F1}" srcOrd="2" destOrd="0" parTransId="{E9A0EB56-48B4-4346-9E22-FEEFD4A0F614}" sibTransId="{F1CA56AA-A594-4EBD-99C6-CF0268BB0AA2}"/>
    <dgm:cxn modelId="{1C382D7A-3B7E-4BE4-8562-21FC4849B4EA}" type="presOf" srcId="{8CCD2BDA-82B8-4928-A272-B288D8CC5879}" destId="{9C9192C8-1F65-46B3-86B8-0947E3B2064C}" srcOrd="0" destOrd="0" presId="urn:microsoft.com/office/officeart/2005/8/layout/vList2"/>
    <dgm:cxn modelId="{2415F526-BD60-4F01-873B-8FBA77E20452}" type="presOf" srcId="{9A4C0897-65C9-4D9A-AF41-8C82E8A1C916}" destId="{02DDF34C-AE9E-4C5C-B688-9B545B8BF37A}" srcOrd="0" destOrd="0" presId="urn:microsoft.com/office/officeart/2005/8/layout/vList2"/>
    <dgm:cxn modelId="{E87D9561-B179-4DC4-A0E7-067E339BC492}" srcId="{068F8E9C-F855-47F9-B55B-A6A68C91B775}" destId="{E88AD862-CCE8-4BCB-84F2-B0C4188C5E22}" srcOrd="0" destOrd="0" parTransId="{1A0C1AB4-DFDB-4F94-A27A-CCAD40F7D4E8}" sibTransId="{2CA19E52-34BA-4DC6-B654-A4BF2501CE10}"/>
    <dgm:cxn modelId="{3372D754-F33C-43B2-9C96-C78C1301EF2E}" type="presOf" srcId="{B50AF25C-8722-42BF-BB71-A0D92D37A1B2}" destId="{D8F08FD2-4204-40EB-A469-C0D0E460B5D7}" srcOrd="0" destOrd="0" presId="urn:microsoft.com/office/officeart/2005/8/layout/vList2"/>
    <dgm:cxn modelId="{EBDFA0BC-CCD3-40F3-9ED7-2C73D4CBFB67}" type="presOf" srcId="{02CC35B6-28B8-464B-8218-E07133A1B48B}" destId="{06B82C05-62FC-4128-BB7D-12C4B3AE948A}" srcOrd="0" destOrd="0" presId="urn:microsoft.com/office/officeart/2005/8/layout/vList2"/>
    <dgm:cxn modelId="{25F7FE44-820C-4024-A107-F94CE276D3E7}" type="presOf" srcId="{861357AE-C8A7-4ACC-945F-4E864ABCEE1E}" destId="{A2C61660-0C2C-4119-8379-5F82A7F9BAF6}" srcOrd="0" destOrd="0" presId="urn:microsoft.com/office/officeart/2005/8/layout/vList2"/>
    <dgm:cxn modelId="{56302CB1-6E88-49A0-9FF0-CBF1CAA87015}" srcId="{9A4C0897-65C9-4D9A-AF41-8C82E8A1C916}" destId="{02CC35B6-28B8-464B-8218-E07133A1B48B}" srcOrd="5" destOrd="0" parTransId="{0CA8619D-36E9-4717-A938-330B873683AE}" sibTransId="{9979C024-ABC4-4D41-8CF6-F2E5F235C9D0}"/>
    <dgm:cxn modelId="{4E9DB5ED-6969-40D8-9414-DA52D6EDA975}" type="presOf" srcId="{7B930E67-3242-44CB-869C-596F15E5F9E9}" destId="{9C9192C8-1F65-46B3-86B8-0947E3B2064C}" srcOrd="0" destOrd="1" presId="urn:microsoft.com/office/officeart/2005/8/layout/vList2"/>
    <dgm:cxn modelId="{ACD07B3A-3B1E-4CA5-875C-381270364268}" type="presOf" srcId="{B98D8392-FB27-4752-BE1B-F50F8E217DD1}" destId="{9CD83E87-4CE4-4F55-A573-2603EC6414E3}" srcOrd="0" destOrd="1" presId="urn:microsoft.com/office/officeart/2005/8/layout/vList2"/>
    <dgm:cxn modelId="{7F6DB3F1-FCAC-4A36-A1D5-093A72B74BDC}" srcId="{068F8E9C-F855-47F9-B55B-A6A68C91B775}" destId="{E04C5566-ADA8-4B25-9DAA-E5B29808C2D2}" srcOrd="1" destOrd="0" parTransId="{5F76528D-AF0D-4705-9D09-B9515D7F52D5}" sibTransId="{B3B5E256-53C2-42AE-A140-51E0394657D5}"/>
    <dgm:cxn modelId="{ED54F019-ED2E-466A-B8A4-459A65F6F5BE}" type="presOf" srcId="{A414D77D-650F-4071-BB31-246B49EB28F1}" destId="{D8F08FD2-4204-40EB-A469-C0D0E460B5D7}" srcOrd="0" destOrd="2" presId="urn:microsoft.com/office/officeart/2005/8/layout/vList2"/>
    <dgm:cxn modelId="{3DA98A25-DAF0-4102-94B4-57BCE54C7A2A}" srcId="{9A4C0897-65C9-4D9A-AF41-8C82E8A1C916}" destId="{4A44BEF6-B48D-47C2-9C6B-BACF372027DC}" srcOrd="0" destOrd="0" parTransId="{FBB23309-879F-4723-86D9-834255385215}" sibTransId="{3DA360D5-FFB7-49A7-9B10-115E7F1DB8B2}"/>
    <dgm:cxn modelId="{8477B3FC-5F76-48FD-BED9-4F1E33FC472A}" type="presOf" srcId="{384D3E72-4E25-4D0D-96F0-A7AD2EED6960}" destId="{A2C61660-0C2C-4119-8379-5F82A7F9BAF6}" srcOrd="0" destOrd="2" presId="urn:microsoft.com/office/officeart/2005/8/layout/vList2"/>
    <dgm:cxn modelId="{4F309F37-7A3B-4978-AF80-8EF82D95D64A}" srcId="{AAE250C6-6577-4712-82F6-592B4B4739A9}" destId="{93060D19-F70B-4E74-A992-067F31D656A7}" srcOrd="1" destOrd="0" parTransId="{D3D5348C-4D0E-42BD-95C0-9DC43ABFFEEA}" sibTransId="{AA86F70B-E868-46BE-9B6C-E5EFE809D940}"/>
    <dgm:cxn modelId="{C6F1DBF0-343A-4604-AF10-927B071D0BB8}" type="presOf" srcId="{D13B3EEC-3F3F-42D4-949F-A37F49890F2B}" destId="{26B3663F-67A1-4181-B690-CC922584735A}" srcOrd="0" destOrd="0" presId="urn:microsoft.com/office/officeart/2005/8/layout/vList2"/>
    <dgm:cxn modelId="{FE9365F0-0F48-4CBB-B3D8-B6E84AD54D4E}" srcId="{6FF65AC3-10AE-436A-9D5A-A884CB64EFEC}" destId="{B98D8392-FB27-4752-BE1B-F50F8E217DD1}" srcOrd="1" destOrd="0" parTransId="{869316A5-2E63-4C66-AD9F-93897A66BD64}" sibTransId="{D5F39CCD-A67B-4B33-B95B-69A6DD4E51ED}"/>
    <dgm:cxn modelId="{0CFCC646-A3FE-4047-B0EE-AB45E3AC36E2}" type="presOf" srcId="{4A44BEF6-B48D-47C2-9C6B-BACF372027DC}" destId="{2D8FFCD5-EDC5-479E-8486-C753D09A41B6}" srcOrd="0" destOrd="0" presId="urn:microsoft.com/office/officeart/2005/8/layout/vList2"/>
    <dgm:cxn modelId="{AF073B89-2471-4402-81DC-A406B7BCD667}" srcId="{9A4C0897-65C9-4D9A-AF41-8C82E8A1C916}" destId="{D13B3EEC-3F3F-42D4-949F-A37F49890F2B}" srcOrd="4" destOrd="0" parTransId="{ED168F77-9D83-4CE4-9660-7B9B0EE35921}" sibTransId="{9ED91A85-105C-48BF-96D9-468227DAFC80}"/>
    <dgm:cxn modelId="{7761994B-45B9-4713-A2AE-73766EAD4859}" srcId="{9A4C0897-65C9-4D9A-AF41-8C82E8A1C916}" destId="{068F8E9C-F855-47F9-B55B-A6A68C91B775}" srcOrd="3" destOrd="0" parTransId="{DCD6262B-FFB8-495A-8D4A-170F71C45FF7}" sibTransId="{F7A8B051-0362-4D87-8F17-BF98788329AD}"/>
    <dgm:cxn modelId="{28D5D8DF-DC27-4309-B6E1-88623CDA4022}" srcId="{068F8E9C-F855-47F9-B55B-A6A68C91B775}" destId="{61683D07-0C9C-4BDE-A92A-7701F66B4AE4}" srcOrd="2" destOrd="0" parTransId="{05D7471B-531E-4028-9875-346A436963A9}" sibTransId="{33AA2CDA-0538-4702-9146-2422A0BD37F6}"/>
    <dgm:cxn modelId="{1247FF5A-F145-47BA-8553-04EF8A196D67}" srcId="{068F8E9C-F855-47F9-B55B-A6A68C91B775}" destId="{B012ACE8-88AA-46CF-A895-59CCA803EDB5}" srcOrd="3" destOrd="0" parTransId="{A3098587-4513-44CF-A46C-56192A4A3DE0}" sibTransId="{DE301333-89D0-46A8-BC43-D9B888FCED62}"/>
    <dgm:cxn modelId="{221761B3-DD3B-4DE9-945C-907FA398A62D}" type="presOf" srcId="{DA201FDA-82A3-4674-809F-A4BA6427897E}" destId="{9CD83E87-4CE4-4F55-A573-2603EC6414E3}" srcOrd="0" destOrd="0" presId="urn:microsoft.com/office/officeart/2005/8/layout/vList2"/>
    <dgm:cxn modelId="{EB050E27-F55F-4A7D-9955-88C26D31B18F}" srcId="{9A4C0897-65C9-4D9A-AF41-8C82E8A1C916}" destId="{6FF65AC3-10AE-436A-9D5A-A884CB64EFEC}" srcOrd="2" destOrd="0" parTransId="{7E887C40-BD28-4BF7-9BAB-DCE1210D4F27}" sibTransId="{2B0DBED0-7D1F-446B-AA77-AD86825D3403}"/>
    <dgm:cxn modelId="{02A40ECC-35E3-43BC-8A30-31432637BBD5}" srcId="{02CC35B6-28B8-464B-8218-E07133A1B48B}" destId="{611A0B3E-27D2-45D8-A81E-0DB0CF728CCE}" srcOrd="0" destOrd="0" parTransId="{2C937515-1383-4EA3-9A41-F64A5A4729A8}" sibTransId="{F1E1B24B-B737-45B7-A442-81AC3C8B2588}"/>
    <dgm:cxn modelId="{A3C569D1-5813-47FA-802E-AE163CC73486}" srcId="{4A44BEF6-B48D-47C2-9C6B-BACF372027DC}" destId="{8CCD2BDA-82B8-4928-A272-B288D8CC5879}" srcOrd="0" destOrd="0" parTransId="{0BA634E7-A2BC-49B7-8399-DE8C3881EB79}" sibTransId="{BBFF361E-7CF2-4AA6-9ED3-61CE169F37A3}"/>
    <dgm:cxn modelId="{CC4CB7F7-53BF-4007-8690-13296A99982C}" type="presOf" srcId="{5F59C612-9537-4306-B675-59FC3A11A4B1}" destId="{D8F08FD2-4204-40EB-A469-C0D0E460B5D7}" srcOrd="0" destOrd="1" presId="urn:microsoft.com/office/officeart/2005/8/layout/vList2"/>
    <dgm:cxn modelId="{9EBD7BC7-8374-4B3A-A8BE-EA6014BF18C2}" srcId="{D13B3EEC-3F3F-42D4-949F-A37F49890F2B}" destId="{5F59C612-9537-4306-B675-59FC3A11A4B1}" srcOrd="1" destOrd="0" parTransId="{516D2DA6-1C5E-4047-94D1-B09D0CEB2BA3}" sibTransId="{36481970-5DFB-4122-93A0-DFF090A3AC5A}"/>
    <dgm:cxn modelId="{FABE04F2-DF5B-4FDC-B18B-89A323C9A537}" type="presOf" srcId="{E04C5566-ADA8-4B25-9DAA-E5B29808C2D2}" destId="{06A1F401-57F5-4B93-999D-ACDA9CD6E830}" srcOrd="0" destOrd="1" presId="urn:microsoft.com/office/officeart/2005/8/layout/vList2"/>
    <dgm:cxn modelId="{CA2FB86B-A7C8-457F-86FD-CB254050BC4A}" type="presParOf" srcId="{02DDF34C-AE9E-4C5C-B688-9B545B8BF37A}" destId="{2D8FFCD5-EDC5-479E-8486-C753D09A41B6}" srcOrd="0" destOrd="0" presId="urn:microsoft.com/office/officeart/2005/8/layout/vList2"/>
    <dgm:cxn modelId="{284E9C80-BCE9-4843-9C38-150502E505AF}" type="presParOf" srcId="{02DDF34C-AE9E-4C5C-B688-9B545B8BF37A}" destId="{9C9192C8-1F65-46B3-86B8-0947E3B2064C}" srcOrd="1" destOrd="0" presId="urn:microsoft.com/office/officeart/2005/8/layout/vList2"/>
    <dgm:cxn modelId="{576366F7-CE97-440B-BDA4-D4BF4C5F5B7C}" type="presParOf" srcId="{02DDF34C-AE9E-4C5C-B688-9B545B8BF37A}" destId="{1B0DB736-9C8C-4E39-B3F5-692200E0A2EA}" srcOrd="2" destOrd="0" presId="urn:microsoft.com/office/officeart/2005/8/layout/vList2"/>
    <dgm:cxn modelId="{650FE25D-68DE-4590-A001-6DBB223A2EEC}" type="presParOf" srcId="{02DDF34C-AE9E-4C5C-B688-9B545B8BF37A}" destId="{A2C61660-0C2C-4119-8379-5F82A7F9BAF6}" srcOrd="3" destOrd="0" presId="urn:microsoft.com/office/officeart/2005/8/layout/vList2"/>
    <dgm:cxn modelId="{7983F52B-E8F6-4507-9482-8865529FA566}" type="presParOf" srcId="{02DDF34C-AE9E-4C5C-B688-9B545B8BF37A}" destId="{EC3CC386-049B-4E38-8D5B-055DBA2EBEE3}" srcOrd="4" destOrd="0" presId="urn:microsoft.com/office/officeart/2005/8/layout/vList2"/>
    <dgm:cxn modelId="{5FB3C84B-38DA-4C20-B571-D514A35B4366}" type="presParOf" srcId="{02DDF34C-AE9E-4C5C-B688-9B545B8BF37A}" destId="{9CD83E87-4CE4-4F55-A573-2603EC6414E3}" srcOrd="5" destOrd="0" presId="urn:microsoft.com/office/officeart/2005/8/layout/vList2"/>
    <dgm:cxn modelId="{9F1AC0E1-C4EC-48AA-B024-DDAC96BBC6FF}" type="presParOf" srcId="{02DDF34C-AE9E-4C5C-B688-9B545B8BF37A}" destId="{E3CAE218-C79F-4936-8C3A-2556C9FEBCFC}" srcOrd="6" destOrd="0" presId="urn:microsoft.com/office/officeart/2005/8/layout/vList2"/>
    <dgm:cxn modelId="{66389F35-3322-4038-A4A6-55519DC8C030}" type="presParOf" srcId="{02DDF34C-AE9E-4C5C-B688-9B545B8BF37A}" destId="{06A1F401-57F5-4B93-999D-ACDA9CD6E830}" srcOrd="7" destOrd="0" presId="urn:microsoft.com/office/officeart/2005/8/layout/vList2"/>
    <dgm:cxn modelId="{F5A168A5-5556-4A2D-8ED4-0ABFCE506083}" type="presParOf" srcId="{02DDF34C-AE9E-4C5C-B688-9B545B8BF37A}" destId="{26B3663F-67A1-4181-B690-CC922584735A}" srcOrd="8" destOrd="0" presId="urn:microsoft.com/office/officeart/2005/8/layout/vList2"/>
    <dgm:cxn modelId="{43649BC9-D400-408B-897A-E1B484004CA1}" type="presParOf" srcId="{02DDF34C-AE9E-4C5C-B688-9B545B8BF37A}" destId="{D8F08FD2-4204-40EB-A469-C0D0E460B5D7}" srcOrd="9" destOrd="0" presId="urn:microsoft.com/office/officeart/2005/8/layout/vList2"/>
    <dgm:cxn modelId="{F40556F4-6927-4443-9CBA-0867EB726B3B}" type="presParOf" srcId="{02DDF34C-AE9E-4C5C-B688-9B545B8BF37A}" destId="{06B82C05-62FC-4128-BB7D-12C4B3AE948A}" srcOrd="10" destOrd="0" presId="urn:microsoft.com/office/officeart/2005/8/layout/vList2"/>
    <dgm:cxn modelId="{93C3A80C-5979-4B1F-939B-7C90B66CF6F4}"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7"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35E461EC-DEB3-4745-93CE-74461A8FF294}" type="presOf" srcId="{B012ACE8-88AA-46CF-A895-59CCA803EDB5}" destId="{06A1F401-57F5-4B93-999D-ACDA9CD6E830}" srcOrd="0" destOrd="3" presId="urn:microsoft.com/office/officeart/2005/8/layout/vList2"/>
    <dgm:cxn modelId="{A3C569D1-5813-47FA-802E-AE163CC73486}" srcId="{4A44BEF6-B48D-47C2-9C6B-BACF372027DC}" destId="{8CCD2BDA-82B8-4928-A272-B288D8CC5879}" srcOrd="0" destOrd="0" parTransId="{0BA634E7-A2BC-49B7-8399-DE8C3881EB79}" sibTransId="{BBFF361E-7CF2-4AA6-9ED3-61CE169F37A3}"/>
    <dgm:cxn modelId="{7761994B-45B9-4713-A2AE-73766EAD4859}" srcId="{9A4C0897-65C9-4D9A-AF41-8C82E8A1C916}" destId="{068F8E9C-F855-47F9-B55B-A6A68C91B775}" srcOrd="3" destOrd="0" parTransId="{DCD6262B-FFB8-495A-8D4A-170F71C45FF7}" sibTransId="{F7A8B051-0362-4D87-8F17-BF98788329AD}"/>
    <dgm:cxn modelId="{F3878B2D-E4B4-4100-84B4-4F389CD80B08}" srcId="{AAE250C6-6577-4712-82F6-592B4B4739A9}" destId="{384D3E72-4E25-4D0D-96F0-A7AD2EED6960}" srcOrd="2" destOrd="0" parTransId="{38C02242-A287-415C-856B-5BF0372F1320}" sibTransId="{D59BAC4F-7A9B-44E2-85F9-36D523FDF38F}"/>
    <dgm:cxn modelId="{A52A9F55-FA72-4227-B73B-800E07FDFD16}" type="presOf" srcId="{93060D19-F70B-4E74-A992-067F31D656A7}" destId="{A2C61660-0C2C-4119-8379-5F82A7F9BAF6}" srcOrd="0" destOrd="1" presId="urn:microsoft.com/office/officeart/2005/8/layout/vList2"/>
    <dgm:cxn modelId="{3DA98A25-DAF0-4102-94B4-57BCE54C7A2A}" srcId="{9A4C0897-65C9-4D9A-AF41-8C82E8A1C916}" destId="{4A44BEF6-B48D-47C2-9C6B-BACF372027DC}" srcOrd="0" destOrd="0" parTransId="{FBB23309-879F-4723-86D9-834255385215}" sibTransId="{3DA360D5-FFB7-49A7-9B10-115E7F1DB8B2}"/>
    <dgm:cxn modelId="{52CBAE99-5141-47CB-AC8E-9A2402D34489}" srcId="{02CC35B6-28B8-464B-8218-E07133A1B48B}" destId="{5CAEECCF-6CDF-41C4-91D8-14230975E224}" srcOrd="2" destOrd="0" parTransId="{6BAC0993-98F1-4826-AAAA-BCB60DC13699}" sibTransId="{55D49035-D45F-4AFE-BB19-5AC326623B98}"/>
    <dgm:cxn modelId="{6F7E0EBB-06ED-4B62-BA31-B993398379FF}" srcId="{AAE250C6-6577-4712-82F6-592B4B4739A9}" destId="{861357AE-C8A7-4ACC-945F-4E864ABCEE1E}" srcOrd="0" destOrd="0" parTransId="{3400D267-DDCB-4BCE-B945-22A30A91A666}" sibTransId="{EA0D1700-C0E8-4C47-990F-BBF717265B3B}"/>
    <dgm:cxn modelId="{5D78C300-E73F-4C19-B36A-7372E5622934}" srcId="{02CC35B6-28B8-464B-8218-E07133A1B48B}" destId="{194A508F-123E-498E-9A26-E25FC3D82174}" srcOrd="1" destOrd="0" parTransId="{30099494-3452-480B-A0FA-FEE152DB6629}" sibTransId="{E31B03A8-F10B-498C-9377-1D00A6D8E298}"/>
    <dgm:cxn modelId="{7F6DB3F1-FCAC-4A36-A1D5-093A72B74BDC}" srcId="{068F8E9C-F855-47F9-B55B-A6A68C91B775}" destId="{E04C5566-ADA8-4B25-9DAA-E5B29808C2D2}" srcOrd="1" destOrd="0" parTransId="{5F76528D-AF0D-4705-9D09-B9515D7F52D5}" sibTransId="{B3B5E256-53C2-42AE-A140-51E0394657D5}"/>
    <dgm:cxn modelId="{4E9F0C68-DB55-432E-8EFF-5075E4AEE88E}" type="presOf" srcId="{5F59C612-9537-4306-B675-59FC3A11A4B1}" destId="{D8F08FD2-4204-40EB-A469-C0D0E460B5D7}" srcOrd="0" destOrd="1" presId="urn:microsoft.com/office/officeart/2005/8/layout/vList2"/>
    <dgm:cxn modelId="{DD3C7865-1FE7-4D49-A0F6-73D55D779203}" srcId="{6FF65AC3-10AE-436A-9D5A-A884CB64EFEC}" destId="{6B48F48A-60B0-4642-950B-C0AA9A6978C3}" srcOrd="2" destOrd="0" parTransId="{79C2DB65-C2C2-4FC2-B87A-B7EDCA1BF314}" sibTransId="{A00E2B19-AEE4-40AC-8797-A1282DDD5B6E}"/>
    <dgm:cxn modelId="{EB050E27-F55F-4A7D-9955-88C26D31B18F}" srcId="{9A4C0897-65C9-4D9A-AF41-8C82E8A1C916}" destId="{6FF65AC3-10AE-436A-9D5A-A884CB64EFEC}" srcOrd="2" destOrd="0" parTransId="{7E887C40-BD28-4BF7-9BAB-DCE1210D4F27}" sibTransId="{2B0DBED0-7D1F-446B-AA77-AD86825D3403}"/>
    <dgm:cxn modelId="{948B51F2-88BB-4118-8EE6-8102F852AD0B}" srcId="{D13B3EEC-3F3F-42D4-949F-A37F49890F2B}" destId="{B50AF25C-8722-42BF-BB71-A0D92D37A1B2}" srcOrd="0" destOrd="0" parTransId="{EE01A423-AA1E-4316-9D69-298EF998250A}" sibTransId="{DDAA8997-6180-4D72-890E-04EF994080E5}"/>
    <dgm:cxn modelId="{A2F9D256-A842-4A97-91BB-5133BA3E8A23}" type="presOf" srcId="{611A0B3E-27D2-45D8-A81E-0DB0CF728CCE}" destId="{E86D72E6-46A5-4ADC-8019-4BD084342D53}" srcOrd="0" destOrd="0" presId="urn:microsoft.com/office/officeart/2005/8/layout/vList2"/>
    <dgm:cxn modelId="{5C582D50-BD97-4C10-A40E-2B68E02EB6CA}" type="presOf" srcId="{7B930E67-3242-44CB-869C-596F15E5F9E9}" destId="{9C9192C8-1F65-46B3-86B8-0947E3B2064C}" srcOrd="0" destOrd="1" presId="urn:microsoft.com/office/officeart/2005/8/layout/vList2"/>
    <dgm:cxn modelId="{FE9365F0-0F48-4CBB-B3D8-B6E84AD54D4E}" srcId="{6FF65AC3-10AE-436A-9D5A-A884CB64EFEC}" destId="{B98D8392-FB27-4752-BE1B-F50F8E217DD1}" srcOrd="1" destOrd="0" parTransId="{869316A5-2E63-4C66-AD9F-93897A66BD64}" sibTransId="{D5F39CCD-A67B-4B33-B95B-69A6DD4E51ED}"/>
    <dgm:cxn modelId="{E96282DC-90C2-48A9-90EB-F15A6A6F6618}" srcId="{D13B3EEC-3F3F-42D4-949F-A37F49890F2B}" destId="{A414D77D-650F-4071-BB31-246B49EB28F1}" srcOrd="2" destOrd="0" parTransId="{E9A0EB56-48B4-4346-9E22-FEEFD4A0F614}" sibTransId="{F1CA56AA-A594-4EBD-99C6-CF0268BB0AA2}"/>
    <dgm:cxn modelId="{51F87AC7-2D8A-4A7F-9C66-BA14B55DEE36}" type="presOf" srcId="{068F8E9C-F855-47F9-B55B-A6A68C91B775}" destId="{E3CAE218-C79F-4936-8C3A-2556C9FEBCFC}" srcOrd="0" destOrd="0" presId="urn:microsoft.com/office/officeart/2005/8/layout/vList2"/>
    <dgm:cxn modelId="{9EBD7BC7-8374-4B3A-A8BE-EA6014BF18C2}" srcId="{D13B3EEC-3F3F-42D4-949F-A37F49890F2B}" destId="{5F59C612-9537-4306-B675-59FC3A11A4B1}" srcOrd="1" destOrd="0" parTransId="{516D2DA6-1C5E-4047-94D1-B09D0CEB2BA3}" sibTransId="{36481970-5DFB-4122-93A0-DFF090A3AC5A}"/>
    <dgm:cxn modelId="{B6ACFE2A-3A6E-49BC-8A3B-4DA067AF57CD}" type="presOf" srcId="{A414D77D-650F-4071-BB31-246B49EB28F1}" destId="{D8F08FD2-4204-40EB-A469-C0D0E460B5D7}" srcOrd="0" destOrd="2" presId="urn:microsoft.com/office/officeart/2005/8/layout/vList2"/>
    <dgm:cxn modelId="{76A505D6-EA79-4284-BF25-0F3CBB009F82}" type="presOf" srcId="{6FF65AC3-10AE-436A-9D5A-A884CB64EFEC}" destId="{EC3CC386-049B-4E38-8D5B-055DBA2EBEE3}" srcOrd="0" destOrd="0" presId="urn:microsoft.com/office/officeart/2005/8/layout/vList2"/>
    <dgm:cxn modelId="{E87D9561-B179-4DC4-A0E7-067E339BC492}" srcId="{068F8E9C-F855-47F9-B55B-A6A68C91B775}" destId="{E88AD862-CCE8-4BCB-84F2-B0C4188C5E22}" srcOrd="0" destOrd="0" parTransId="{1A0C1AB4-DFDB-4F94-A27A-CCAD40F7D4E8}" sibTransId="{2CA19E52-34BA-4DC6-B654-A4BF2501CE10}"/>
    <dgm:cxn modelId="{8AF03566-6798-4208-85BD-7DE9FACEE8B9}" type="presOf" srcId="{194A508F-123E-498E-9A26-E25FC3D82174}" destId="{E86D72E6-46A5-4ADC-8019-4BD084342D53}" srcOrd="0" destOrd="1" presId="urn:microsoft.com/office/officeart/2005/8/layout/vList2"/>
    <dgm:cxn modelId="{1247FF5A-F145-47BA-8553-04EF8A196D67}" srcId="{068F8E9C-F855-47F9-B55B-A6A68C91B775}" destId="{B012ACE8-88AA-46CF-A895-59CCA803EDB5}" srcOrd="3" destOrd="0" parTransId="{A3098587-4513-44CF-A46C-56192A4A3DE0}" sibTransId="{DE301333-89D0-46A8-BC43-D9B888FCED62}"/>
    <dgm:cxn modelId="{56302CB1-6E88-49A0-9FF0-CBF1CAA87015}" srcId="{9A4C0897-65C9-4D9A-AF41-8C82E8A1C916}" destId="{02CC35B6-28B8-464B-8218-E07133A1B48B}" srcOrd="5" destOrd="0" parTransId="{0CA8619D-36E9-4717-A938-330B873683AE}" sibTransId="{9979C024-ABC4-4D41-8CF6-F2E5F235C9D0}"/>
    <dgm:cxn modelId="{8C6F230C-0EFF-4F16-B8E9-FAF89C4C67FD}" type="presOf" srcId="{61683D07-0C9C-4BDE-A92A-7701F66B4AE4}" destId="{06A1F401-57F5-4B93-999D-ACDA9CD6E830}" srcOrd="0" destOrd="2" presId="urn:microsoft.com/office/officeart/2005/8/layout/vList2"/>
    <dgm:cxn modelId="{ED675F8B-739C-4C52-9B79-8F0A34D1AAA5}" type="presOf" srcId="{6B48F48A-60B0-4642-950B-C0AA9A6978C3}" destId="{9CD83E87-4CE4-4F55-A573-2603EC6414E3}" srcOrd="0" destOrd="2" presId="urn:microsoft.com/office/officeart/2005/8/layout/vList2"/>
    <dgm:cxn modelId="{486F56CF-2CC5-4F16-B3D9-6C2687342F1A}" type="presOf" srcId="{DA201FDA-82A3-4674-809F-A4BA6427897E}" destId="{9CD83E87-4CE4-4F55-A573-2603EC6414E3}" srcOrd="0" destOrd="0" presId="urn:microsoft.com/office/officeart/2005/8/layout/vList2"/>
    <dgm:cxn modelId="{108C22D1-2F11-412F-9E2E-BB78884FBF46}" type="presOf" srcId="{D13B3EEC-3F3F-42D4-949F-A37F49890F2B}" destId="{26B3663F-67A1-4181-B690-CC922584735A}" srcOrd="0" destOrd="0" presId="urn:microsoft.com/office/officeart/2005/8/layout/vList2"/>
    <dgm:cxn modelId="{3C9C03E0-781D-4645-AF89-2FCE2607D1A8}" type="presOf" srcId="{E04C5566-ADA8-4B25-9DAA-E5B29808C2D2}" destId="{06A1F401-57F5-4B93-999D-ACDA9CD6E830}" srcOrd="0" destOrd="1" presId="urn:microsoft.com/office/officeart/2005/8/layout/vList2"/>
    <dgm:cxn modelId="{C2D083D7-F0D5-4A79-9C3B-EB4461895317}" type="presOf" srcId="{861357AE-C8A7-4ACC-945F-4E864ABCEE1E}" destId="{A2C61660-0C2C-4119-8379-5F82A7F9BAF6}" srcOrd="0" destOrd="0" presId="urn:microsoft.com/office/officeart/2005/8/layout/vList2"/>
    <dgm:cxn modelId="{4F309F37-7A3B-4978-AF80-8EF82D95D64A}" srcId="{AAE250C6-6577-4712-82F6-592B4B4739A9}" destId="{93060D19-F70B-4E74-A992-067F31D656A7}" srcOrd="1" destOrd="0" parTransId="{D3D5348C-4D0E-42BD-95C0-9DC43ABFFEEA}" sibTransId="{AA86F70B-E868-46BE-9B6C-E5EFE809D940}"/>
    <dgm:cxn modelId="{28D5D8DF-DC27-4309-B6E1-88623CDA4022}" srcId="{068F8E9C-F855-47F9-B55B-A6A68C91B775}" destId="{61683D07-0C9C-4BDE-A92A-7701F66B4AE4}" srcOrd="2" destOrd="0" parTransId="{05D7471B-531E-4028-9875-346A436963A9}" sibTransId="{33AA2CDA-0538-4702-9146-2422A0BD37F6}"/>
    <dgm:cxn modelId="{5364FC49-39D2-4546-BD8A-F0779335DE75}" srcId="{9A4C0897-65C9-4D9A-AF41-8C82E8A1C916}" destId="{AAE250C6-6577-4712-82F6-592B4B4739A9}" srcOrd="1" destOrd="0" parTransId="{669B0A2E-18FE-4FC9-9A2A-9C3E67A12FD1}" sibTransId="{9109B175-A430-44BA-B016-A2FBE41CF93C}"/>
    <dgm:cxn modelId="{09842255-9F7B-4DBF-97E8-29C3815F4BE6}" type="presOf" srcId="{B50AF25C-8722-42BF-BB71-A0D92D37A1B2}" destId="{D8F08FD2-4204-40EB-A469-C0D0E460B5D7}" srcOrd="0" destOrd="0" presId="urn:microsoft.com/office/officeart/2005/8/layout/vList2"/>
    <dgm:cxn modelId="{7277FF09-9DB8-4527-86AF-3ED3EBFD951C}" type="presOf" srcId="{5CAEECCF-6CDF-41C4-91D8-14230975E224}" destId="{E86D72E6-46A5-4ADC-8019-4BD084342D53}" srcOrd="0" destOrd="2" presId="urn:microsoft.com/office/officeart/2005/8/layout/vList2"/>
    <dgm:cxn modelId="{43A0C11A-B02A-43E2-9B17-403571492284}" type="presOf" srcId="{02CC35B6-28B8-464B-8218-E07133A1B48B}" destId="{06B82C05-62FC-4128-BB7D-12C4B3AE948A}" srcOrd="0" destOrd="0" presId="urn:microsoft.com/office/officeart/2005/8/layout/vList2"/>
    <dgm:cxn modelId="{A36A611D-469D-4762-BBF2-A7400C81169C}" type="presOf" srcId="{AAE250C6-6577-4712-82F6-592B4B4739A9}" destId="{1B0DB736-9C8C-4E39-B3F5-692200E0A2EA}" srcOrd="0" destOrd="0" presId="urn:microsoft.com/office/officeart/2005/8/layout/vList2"/>
    <dgm:cxn modelId="{BA9FA439-825D-4318-AC23-E26F7CBD1E05}" type="presOf" srcId="{BC9DAA39-5C31-47FD-BDCD-B6CFBBD682E2}" destId="{9C9192C8-1F65-46B3-86B8-0947E3B2064C}" srcOrd="0" destOrd="2" presId="urn:microsoft.com/office/officeart/2005/8/layout/vList2"/>
    <dgm:cxn modelId="{C34B8EED-17A3-4AA1-BAD7-75B98C2B2663}" type="presOf" srcId="{4A44BEF6-B48D-47C2-9C6B-BACF372027DC}" destId="{2D8FFCD5-EDC5-479E-8486-C753D09A41B6}" srcOrd="0" destOrd="0" presId="urn:microsoft.com/office/officeart/2005/8/layout/vList2"/>
    <dgm:cxn modelId="{207DFFD1-3304-4114-A69A-E78C9CAEEBD8}" type="presOf" srcId="{9A4C0897-65C9-4D9A-AF41-8C82E8A1C916}" destId="{02DDF34C-AE9E-4C5C-B688-9B545B8BF37A}" srcOrd="0" destOrd="0" presId="urn:microsoft.com/office/officeart/2005/8/layout/vList2"/>
    <dgm:cxn modelId="{3C649DF9-24E1-49EA-B30C-78F6A5B03EBB}" srcId="{4A44BEF6-B48D-47C2-9C6B-BACF372027DC}" destId="{7B930E67-3242-44CB-869C-596F15E5F9E9}" srcOrd="1" destOrd="0" parTransId="{F953434B-BA10-4C5F-A4CD-142B97BD5AE1}" sibTransId="{8AC04EEC-5919-4A3A-9517-E949D565B367}"/>
    <dgm:cxn modelId="{D4FE62B7-E351-4C00-AE6D-C5DB00D34E79}" type="presOf" srcId="{384D3E72-4E25-4D0D-96F0-A7AD2EED6960}" destId="{A2C61660-0C2C-4119-8379-5F82A7F9BAF6}" srcOrd="0" destOrd="2" presId="urn:microsoft.com/office/officeart/2005/8/layout/vList2"/>
    <dgm:cxn modelId="{F2493A8D-EE55-45A4-A7C9-BDEA4E1066A3}" srcId="{6FF65AC3-10AE-436A-9D5A-A884CB64EFEC}" destId="{DA201FDA-82A3-4674-809F-A4BA6427897E}" srcOrd="0" destOrd="0" parTransId="{73BA85D9-7997-4813-8C21-468C2B264227}" sibTransId="{7F44B508-F483-4849-97A8-C0B7EDDF41AE}"/>
    <dgm:cxn modelId="{02A40ECC-35E3-43BC-8A30-31432637BBD5}" srcId="{02CC35B6-28B8-464B-8218-E07133A1B48B}" destId="{611A0B3E-27D2-45D8-A81E-0DB0CF728CCE}" srcOrd="0" destOrd="0" parTransId="{2C937515-1383-4EA3-9A41-F64A5A4729A8}" sibTransId="{F1E1B24B-B737-45B7-A442-81AC3C8B2588}"/>
    <dgm:cxn modelId="{AF073B89-2471-4402-81DC-A406B7BCD667}" srcId="{9A4C0897-65C9-4D9A-AF41-8C82E8A1C916}" destId="{D13B3EEC-3F3F-42D4-949F-A37F49890F2B}" srcOrd="4" destOrd="0" parTransId="{ED168F77-9D83-4CE4-9660-7B9B0EE35921}" sibTransId="{9ED91A85-105C-48BF-96D9-468227DAFC80}"/>
    <dgm:cxn modelId="{C34F07D9-AB13-4F9E-A558-C24F81439D0A}" type="presOf" srcId="{B98D8392-FB27-4752-BE1B-F50F8E217DD1}" destId="{9CD83E87-4CE4-4F55-A573-2603EC6414E3}" srcOrd="0" destOrd="1" presId="urn:microsoft.com/office/officeart/2005/8/layout/vList2"/>
    <dgm:cxn modelId="{30348737-A0D8-4D37-BB3D-3D2BAB98AFB2}" type="presOf" srcId="{E88AD862-CCE8-4BCB-84F2-B0C4188C5E22}" destId="{06A1F401-57F5-4B93-999D-ACDA9CD6E830}" srcOrd="0" destOrd="0" presId="urn:microsoft.com/office/officeart/2005/8/layout/vList2"/>
    <dgm:cxn modelId="{8C38EE06-C0E5-4F56-AA5D-E6E5054C1A91}" srcId="{4A44BEF6-B48D-47C2-9C6B-BACF372027DC}" destId="{BC9DAA39-5C31-47FD-BDCD-B6CFBBD682E2}" srcOrd="2" destOrd="0" parTransId="{DEFE3360-BF89-4D69-A7E8-89BF81257E92}" sibTransId="{D32A8FDD-B765-407B-B0A9-275A360C4697}"/>
    <dgm:cxn modelId="{B2A3C5A9-B9FA-4CCD-AEF0-C62D35B51BB6}" type="presOf" srcId="{8CCD2BDA-82B8-4928-A272-B288D8CC5879}" destId="{9C9192C8-1F65-46B3-86B8-0947E3B2064C}" srcOrd="0" destOrd="0" presId="urn:microsoft.com/office/officeart/2005/8/layout/vList2"/>
    <dgm:cxn modelId="{F6181CB2-418F-48C0-939C-5B1D9F62C257}" type="presParOf" srcId="{02DDF34C-AE9E-4C5C-B688-9B545B8BF37A}" destId="{2D8FFCD5-EDC5-479E-8486-C753D09A41B6}" srcOrd="0" destOrd="0" presId="urn:microsoft.com/office/officeart/2005/8/layout/vList2"/>
    <dgm:cxn modelId="{4DA56164-5748-43E5-8A2D-A34D590B7740}" type="presParOf" srcId="{02DDF34C-AE9E-4C5C-B688-9B545B8BF37A}" destId="{9C9192C8-1F65-46B3-86B8-0947E3B2064C}" srcOrd="1" destOrd="0" presId="urn:microsoft.com/office/officeart/2005/8/layout/vList2"/>
    <dgm:cxn modelId="{2B3ED00A-9587-499D-A971-1C170C78E0FF}" type="presParOf" srcId="{02DDF34C-AE9E-4C5C-B688-9B545B8BF37A}" destId="{1B0DB736-9C8C-4E39-B3F5-692200E0A2EA}" srcOrd="2" destOrd="0" presId="urn:microsoft.com/office/officeart/2005/8/layout/vList2"/>
    <dgm:cxn modelId="{798BBDF5-2BEA-47C9-BB50-6782762DA873}" type="presParOf" srcId="{02DDF34C-AE9E-4C5C-B688-9B545B8BF37A}" destId="{A2C61660-0C2C-4119-8379-5F82A7F9BAF6}" srcOrd="3" destOrd="0" presId="urn:microsoft.com/office/officeart/2005/8/layout/vList2"/>
    <dgm:cxn modelId="{49E73AC2-FA2D-4593-A546-7B450EEE19D2}" type="presParOf" srcId="{02DDF34C-AE9E-4C5C-B688-9B545B8BF37A}" destId="{EC3CC386-049B-4E38-8D5B-055DBA2EBEE3}" srcOrd="4" destOrd="0" presId="urn:microsoft.com/office/officeart/2005/8/layout/vList2"/>
    <dgm:cxn modelId="{8F79566E-0D01-4034-93CC-47183E29FA6D}" type="presParOf" srcId="{02DDF34C-AE9E-4C5C-B688-9B545B8BF37A}" destId="{9CD83E87-4CE4-4F55-A573-2603EC6414E3}" srcOrd="5" destOrd="0" presId="urn:microsoft.com/office/officeart/2005/8/layout/vList2"/>
    <dgm:cxn modelId="{817BD96C-0B2D-413A-A496-FD7020B8EACB}" type="presParOf" srcId="{02DDF34C-AE9E-4C5C-B688-9B545B8BF37A}" destId="{E3CAE218-C79F-4936-8C3A-2556C9FEBCFC}" srcOrd="6" destOrd="0" presId="urn:microsoft.com/office/officeart/2005/8/layout/vList2"/>
    <dgm:cxn modelId="{65760D71-6080-4BA9-A39F-52F58F128AE6}" type="presParOf" srcId="{02DDF34C-AE9E-4C5C-B688-9B545B8BF37A}" destId="{06A1F401-57F5-4B93-999D-ACDA9CD6E830}" srcOrd="7" destOrd="0" presId="urn:microsoft.com/office/officeart/2005/8/layout/vList2"/>
    <dgm:cxn modelId="{67DFFC7F-0E40-4600-B0F9-20719A3635AC}" type="presParOf" srcId="{02DDF34C-AE9E-4C5C-B688-9B545B8BF37A}" destId="{26B3663F-67A1-4181-B690-CC922584735A}" srcOrd="8" destOrd="0" presId="urn:microsoft.com/office/officeart/2005/8/layout/vList2"/>
    <dgm:cxn modelId="{FBCC10BB-2243-4475-BB9E-E1E70AE7B310}" type="presParOf" srcId="{02DDF34C-AE9E-4C5C-B688-9B545B8BF37A}" destId="{D8F08FD2-4204-40EB-A469-C0D0E460B5D7}" srcOrd="9" destOrd="0" presId="urn:microsoft.com/office/officeart/2005/8/layout/vList2"/>
    <dgm:cxn modelId="{A3C8970F-F66B-436C-B44B-F5C8DAF5ED49}" type="presParOf" srcId="{02DDF34C-AE9E-4C5C-B688-9B545B8BF37A}" destId="{06B82C05-62FC-4128-BB7D-12C4B3AE948A}" srcOrd="10" destOrd="0" presId="urn:microsoft.com/office/officeart/2005/8/layout/vList2"/>
    <dgm:cxn modelId="{A425568C-79F8-496E-8F93-AC79D0BD865D}"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A4C0897-65C9-4D9A-AF41-8C82E8A1C916}" type="doc">
      <dgm:prSet loTypeId="urn:microsoft.com/office/officeart/2005/8/layout/vList2" loCatId="list" qsTypeId="urn:microsoft.com/office/officeart/2005/8/quickstyle/simple1" qsCatId="simple" csTypeId="urn:microsoft.com/office/officeart/2005/8/colors/colorful1#8" csCatId="colorful"/>
      <dgm:spPr/>
      <dgm:t>
        <a:bodyPr/>
        <a:lstStyle/>
        <a:p>
          <a:endParaRPr lang="en-US"/>
        </a:p>
      </dgm:t>
    </dgm:pt>
    <dgm:pt modelId="{4A44BEF6-B48D-47C2-9C6B-BACF372027DC}">
      <dgm:prSet custT="1"/>
      <dgm:spPr/>
      <dgm:t>
        <a:bodyPr/>
        <a:lstStyle/>
        <a:p>
          <a:pPr rtl="0"/>
          <a:r>
            <a:rPr lang="fi-FI" sz="1200" dirty="0" smtClean="0"/>
            <a:t>Työpaja: testauskohteena </a:t>
          </a:r>
          <a:r>
            <a:rPr lang="fi-FI" sz="1200" dirty="0" err="1" smtClean="0"/>
            <a:t>Boggle</a:t>
          </a:r>
          <a:r>
            <a:rPr lang="fi-FI" sz="1200" dirty="0" smtClean="0"/>
            <a:t> </a:t>
          </a:r>
          <a:r>
            <a:rPr lang="fi-FI" sz="1200" dirty="0" err="1" smtClean="0"/>
            <a:t>Flash</a:t>
          </a:r>
          <a:endParaRPr lang="fi-FI" sz="1200" dirty="0"/>
        </a:p>
      </dgm:t>
    </dgm:pt>
    <dgm:pt modelId="{FBB23309-879F-4723-86D9-834255385215}" type="parTrans" cxnId="{3DA98A25-DAF0-4102-94B4-57BCE54C7A2A}">
      <dgm:prSet/>
      <dgm:spPr/>
      <dgm:t>
        <a:bodyPr/>
        <a:lstStyle/>
        <a:p>
          <a:endParaRPr lang="en-US" sz="2800"/>
        </a:p>
      </dgm:t>
    </dgm:pt>
    <dgm:pt modelId="{3DA360D5-FFB7-49A7-9B10-115E7F1DB8B2}" type="sibTrans" cxnId="{3DA98A25-DAF0-4102-94B4-57BCE54C7A2A}">
      <dgm:prSet/>
      <dgm:spPr/>
      <dgm:t>
        <a:bodyPr/>
        <a:lstStyle/>
        <a:p>
          <a:endParaRPr lang="en-US" sz="2800"/>
        </a:p>
      </dgm:t>
    </dgm:pt>
    <dgm:pt modelId="{8CCD2BDA-82B8-4928-A272-B288D8CC5879}">
      <dgm:prSet custT="1"/>
      <dgm:spPr/>
      <dgm:t>
        <a:bodyPr/>
        <a:lstStyle/>
        <a:p>
          <a:pPr rtl="0"/>
          <a:r>
            <a:rPr lang="fi-FI" sz="1050" dirty="0" smtClean="0"/>
            <a:t>Määrittelyn mukaisen toiminnan testaus: pistelasku</a:t>
          </a:r>
          <a:endParaRPr lang="en-US" sz="1050" dirty="0"/>
        </a:p>
      </dgm:t>
    </dgm:pt>
    <dgm:pt modelId="{0BA634E7-A2BC-49B7-8399-DE8C3881EB79}" type="parTrans" cxnId="{A3C569D1-5813-47FA-802E-AE163CC73486}">
      <dgm:prSet/>
      <dgm:spPr/>
      <dgm:t>
        <a:bodyPr/>
        <a:lstStyle/>
        <a:p>
          <a:endParaRPr lang="en-US" sz="2800"/>
        </a:p>
      </dgm:t>
    </dgm:pt>
    <dgm:pt modelId="{BBFF361E-7CF2-4AA6-9ED3-61CE169F37A3}" type="sibTrans" cxnId="{A3C569D1-5813-47FA-802E-AE163CC73486}">
      <dgm:prSet/>
      <dgm:spPr/>
      <dgm:t>
        <a:bodyPr/>
        <a:lstStyle/>
        <a:p>
          <a:endParaRPr lang="en-US" sz="2800"/>
        </a:p>
      </dgm:t>
    </dgm:pt>
    <dgm:pt modelId="{7B930E67-3242-44CB-869C-596F15E5F9E9}">
      <dgm:prSet custT="1"/>
      <dgm:spPr/>
      <dgm:t>
        <a:bodyPr/>
        <a:lstStyle/>
        <a:p>
          <a:pPr rtl="0"/>
          <a:r>
            <a:rPr lang="fi-FI" sz="1050" dirty="0" smtClean="0"/>
            <a:t>Muistiinpanot testatessa</a:t>
          </a:r>
          <a:endParaRPr lang="en-US" sz="1050" dirty="0"/>
        </a:p>
      </dgm:t>
    </dgm:pt>
    <dgm:pt modelId="{F953434B-BA10-4C5F-A4CD-142B97BD5AE1}" type="parTrans" cxnId="{3C649DF9-24E1-49EA-B30C-78F6A5B03EBB}">
      <dgm:prSet/>
      <dgm:spPr/>
      <dgm:t>
        <a:bodyPr/>
        <a:lstStyle/>
        <a:p>
          <a:endParaRPr lang="en-US" sz="2800"/>
        </a:p>
      </dgm:t>
    </dgm:pt>
    <dgm:pt modelId="{8AC04EEC-5919-4A3A-9517-E949D565B367}" type="sibTrans" cxnId="{3C649DF9-24E1-49EA-B30C-78F6A5B03EBB}">
      <dgm:prSet/>
      <dgm:spPr/>
      <dgm:t>
        <a:bodyPr/>
        <a:lstStyle/>
        <a:p>
          <a:endParaRPr lang="en-US" sz="2800"/>
        </a:p>
      </dgm:t>
    </dgm:pt>
    <dgm:pt modelId="{BC9DAA39-5C31-47FD-BDCD-B6CFBBD682E2}">
      <dgm:prSet custT="1"/>
      <dgm:spPr/>
      <dgm:t>
        <a:bodyPr/>
        <a:lstStyle/>
        <a:p>
          <a:pPr rtl="0"/>
          <a:r>
            <a:rPr lang="fi-FI" sz="1050" dirty="0" smtClean="0"/>
            <a:t>Testattavuuden merkitys</a:t>
          </a:r>
          <a:endParaRPr lang="en-US" sz="1050" dirty="0"/>
        </a:p>
      </dgm:t>
    </dgm:pt>
    <dgm:pt modelId="{DEFE3360-BF89-4D69-A7E8-89BF81257E92}" type="parTrans" cxnId="{8C38EE06-C0E5-4F56-AA5D-E6E5054C1A91}">
      <dgm:prSet/>
      <dgm:spPr/>
      <dgm:t>
        <a:bodyPr/>
        <a:lstStyle/>
        <a:p>
          <a:endParaRPr lang="en-US" sz="2800"/>
        </a:p>
      </dgm:t>
    </dgm:pt>
    <dgm:pt modelId="{D32A8FDD-B765-407B-B0A9-275A360C4697}" type="sibTrans" cxnId="{8C38EE06-C0E5-4F56-AA5D-E6E5054C1A91}">
      <dgm:prSet/>
      <dgm:spPr/>
      <dgm:t>
        <a:bodyPr/>
        <a:lstStyle/>
        <a:p>
          <a:endParaRPr lang="en-US" sz="2800"/>
        </a:p>
      </dgm:t>
    </dgm:pt>
    <dgm:pt modelId="{AAE250C6-6577-4712-82F6-592B4B4739A9}">
      <dgm:prSet custT="1"/>
      <dgm:spPr/>
      <dgm:t>
        <a:bodyPr/>
        <a:lstStyle/>
        <a:p>
          <a:pPr rtl="0"/>
          <a:r>
            <a:rPr lang="fi-FI" sz="1200" dirty="0" smtClean="0"/>
            <a:t>Heuristinen testisuunnittelu: monipuolinen testauskohteen analysointi</a:t>
          </a:r>
          <a:endParaRPr lang="en-US" sz="1200" dirty="0"/>
        </a:p>
      </dgm:t>
    </dgm:pt>
    <dgm:pt modelId="{669B0A2E-18FE-4FC9-9A2A-9C3E67A12FD1}" type="parTrans" cxnId="{5364FC49-39D2-4546-BD8A-F0779335DE75}">
      <dgm:prSet/>
      <dgm:spPr/>
      <dgm:t>
        <a:bodyPr/>
        <a:lstStyle/>
        <a:p>
          <a:endParaRPr lang="en-US" sz="2800"/>
        </a:p>
      </dgm:t>
    </dgm:pt>
    <dgm:pt modelId="{9109B175-A430-44BA-B016-A2FBE41CF93C}" type="sibTrans" cxnId="{5364FC49-39D2-4546-BD8A-F0779335DE75}">
      <dgm:prSet/>
      <dgm:spPr/>
      <dgm:t>
        <a:bodyPr/>
        <a:lstStyle/>
        <a:p>
          <a:endParaRPr lang="en-US" sz="2800"/>
        </a:p>
      </dgm:t>
    </dgm:pt>
    <dgm:pt modelId="{861357AE-C8A7-4ACC-945F-4E864ABCEE1E}">
      <dgm:prSet custT="1"/>
      <dgm:spPr/>
      <dgm:t>
        <a:bodyPr/>
        <a:lstStyle/>
        <a:p>
          <a:pPr rtl="0"/>
          <a:r>
            <a:rPr lang="fi-FI" sz="1050" dirty="0" smtClean="0"/>
            <a:t>SFDPOT – testattavan ominaisuuden analysointi</a:t>
          </a:r>
          <a:endParaRPr lang="en-US" sz="1050" dirty="0"/>
        </a:p>
      </dgm:t>
    </dgm:pt>
    <dgm:pt modelId="{3400D267-DDCB-4BCE-B945-22A30A91A666}" type="parTrans" cxnId="{6F7E0EBB-06ED-4B62-BA31-B993398379FF}">
      <dgm:prSet/>
      <dgm:spPr/>
      <dgm:t>
        <a:bodyPr/>
        <a:lstStyle/>
        <a:p>
          <a:endParaRPr lang="en-US" sz="2800"/>
        </a:p>
      </dgm:t>
    </dgm:pt>
    <dgm:pt modelId="{EA0D1700-C0E8-4C47-990F-BBF717265B3B}" type="sibTrans" cxnId="{6F7E0EBB-06ED-4B62-BA31-B993398379FF}">
      <dgm:prSet/>
      <dgm:spPr/>
      <dgm:t>
        <a:bodyPr/>
        <a:lstStyle/>
        <a:p>
          <a:endParaRPr lang="en-US" sz="2800"/>
        </a:p>
      </dgm:t>
    </dgm:pt>
    <dgm:pt modelId="{93060D19-F70B-4E74-A992-067F31D656A7}">
      <dgm:prSet custT="1"/>
      <dgm:spPr/>
      <dgm:t>
        <a:bodyPr/>
        <a:lstStyle/>
        <a:p>
          <a:pPr rtl="0"/>
          <a:r>
            <a:rPr lang="fi-FI" sz="1050" dirty="0" smtClean="0"/>
            <a:t>Monipuolisen ajattelun harjoittaminen, monipuoliset heuristiikat</a:t>
          </a:r>
          <a:endParaRPr lang="en-US" sz="1050" dirty="0"/>
        </a:p>
      </dgm:t>
    </dgm:pt>
    <dgm:pt modelId="{D3D5348C-4D0E-42BD-95C0-9DC43ABFFEEA}" type="parTrans" cxnId="{4F309F37-7A3B-4978-AF80-8EF82D95D64A}">
      <dgm:prSet/>
      <dgm:spPr/>
      <dgm:t>
        <a:bodyPr/>
        <a:lstStyle/>
        <a:p>
          <a:endParaRPr lang="en-US" sz="2800"/>
        </a:p>
      </dgm:t>
    </dgm:pt>
    <dgm:pt modelId="{AA86F70B-E868-46BE-9B6C-E5EFE809D940}" type="sibTrans" cxnId="{4F309F37-7A3B-4978-AF80-8EF82D95D64A}">
      <dgm:prSet/>
      <dgm:spPr/>
      <dgm:t>
        <a:bodyPr/>
        <a:lstStyle/>
        <a:p>
          <a:endParaRPr lang="en-US" sz="2800"/>
        </a:p>
      </dgm:t>
    </dgm:pt>
    <dgm:pt modelId="{384D3E72-4E25-4D0D-96F0-A7AD2EED6960}">
      <dgm:prSet custT="1"/>
      <dgm:spPr/>
      <dgm:t>
        <a:bodyPr/>
        <a:lstStyle/>
        <a:p>
          <a:pPr rtl="0"/>
          <a:r>
            <a:rPr lang="fi-FI" sz="1050" dirty="0" smtClean="0"/>
            <a:t>Harjoitus: Soveltaminen </a:t>
          </a:r>
          <a:r>
            <a:rPr lang="fi-FI" sz="1050" dirty="0" err="1" smtClean="0"/>
            <a:t>Freemind</a:t>
          </a:r>
          <a:r>
            <a:rPr lang="fi-FI" sz="1050" dirty="0" smtClean="0"/>
            <a:t> Etsi ja korvaa -toiminnolle</a:t>
          </a:r>
          <a:endParaRPr lang="en-US" sz="1050" dirty="0"/>
        </a:p>
      </dgm:t>
    </dgm:pt>
    <dgm:pt modelId="{38C02242-A287-415C-856B-5BF0372F1320}" type="parTrans" cxnId="{F3878B2D-E4B4-4100-84B4-4F389CD80B08}">
      <dgm:prSet/>
      <dgm:spPr/>
      <dgm:t>
        <a:bodyPr/>
        <a:lstStyle/>
        <a:p>
          <a:endParaRPr lang="en-US" sz="2800"/>
        </a:p>
      </dgm:t>
    </dgm:pt>
    <dgm:pt modelId="{D59BAC4F-7A9B-44E2-85F9-36D523FDF38F}" type="sibTrans" cxnId="{F3878B2D-E4B4-4100-84B4-4F389CD80B08}">
      <dgm:prSet/>
      <dgm:spPr/>
      <dgm:t>
        <a:bodyPr/>
        <a:lstStyle/>
        <a:p>
          <a:endParaRPr lang="en-US" sz="2800"/>
        </a:p>
      </dgm:t>
    </dgm:pt>
    <dgm:pt modelId="{6FF65AC3-10AE-436A-9D5A-A884CB64EFEC}">
      <dgm:prSet custT="1"/>
      <dgm:spPr/>
      <dgm:t>
        <a:bodyPr/>
        <a:lstStyle/>
        <a:p>
          <a:pPr rtl="0"/>
          <a:r>
            <a:rPr lang="fi-FI" sz="1200" dirty="0" smtClean="0"/>
            <a:t>Riskiperusteinen testisuunnittelu: lunttilapulla alkuun ja monipuolinen ymmärrys virheistä</a:t>
          </a:r>
          <a:endParaRPr lang="en-US" sz="1200" dirty="0"/>
        </a:p>
      </dgm:t>
    </dgm:pt>
    <dgm:pt modelId="{7E887C40-BD28-4BF7-9BAB-DCE1210D4F27}" type="parTrans" cxnId="{EB050E27-F55F-4A7D-9955-88C26D31B18F}">
      <dgm:prSet/>
      <dgm:spPr/>
      <dgm:t>
        <a:bodyPr/>
        <a:lstStyle/>
        <a:p>
          <a:endParaRPr lang="en-US" sz="2800"/>
        </a:p>
      </dgm:t>
    </dgm:pt>
    <dgm:pt modelId="{2B0DBED0-7D1F-446B-AA77-AD86825D3403}" type="sibTrans" cxnId="{EB050E27-F55F-4A7D-9955-88C26D31B18F}">
      <dgm:prSet/>
      <dgm:spPr/>
      <dgm:t>
        <a:bodyPr/>
        <a:lstStyle/>
        <a:p>
          <a:endParaRPr lang="en-US" sz="2800"/>
        </a:p>
      </dgm:t>
    </dgm:pt>
    <dgm:pt modelId="{DA201FDA-82A3-4674-809F-A4BA6427897E}">
      <dgm:prSet custT="1"/>
      <dgm:spPr/>
      <dgm:t>
        <a:bodyPr/>
        <a:lstStyle/>
        <a:p>
          <a:pPr rtl="0"/>
          <a:r>
            <a:rPr lang="fi-FI" sz="1050" dirty="0" smtClean="0"/>
            <a:t>Lunttilappu: 2 A4:sta testauksen tiivistettyä kansanviisautta</a:t>
          </a:r>
          <a:endParaRPr lang="en-US" sz="1050" dirty="0"/>
        </a:p>
      </dgm:t>
    </dgm:pt>
    <dgm:pt modelId="{73BA85D9-7997-4813-8C21-468C2B264227}" type="parTrans" cxnId="{F2493A8D-EE55-45A4-A7C9-BDEA4E1066A3}">
      <dgm:prSet/>
      <dgm:spPr/>
      <dgm:t>
        <a:bodyPr/>
        <a:lstStyle/>
        <a:p>
          <a:endParaRPr lang="en-US" sz="2800"/>
        </a:p>
      </dgm:t>
    </dgm:pt>
    <dgm:pt modelId="{7F44B508-F483-4849-97A8-C0B7EDDF41AE}" type="sibTrans" cxnId="{F2493A8D-EE55-45A4-A7C9-BDEA4E1066A3}">
      <dgm:prSet/>
      <dgm:spPr/>
      <dgm:t>
        <a:bodyPr/>
        <a:lstStyle/>
        <a:p>
          <a:endParaRPr lang="en-US" sz="2800"/>
        </a:p>
      </dgm:t>
    </dgm:pt>
    <dgm:pt modelId="{B98D8392-FB27-4752-BE1B-F50F8E217DD1}">
      <dgm:prSet custT="1"/>
      <dgm:spPr/>
      <dgm:t>
        <a:bodyPr/>
        <a:lstStyle/>
        <a:p>
          <a:pPr rtl="0"/>
          <a:r>
            <a:rPr lang="fi-FI" sz="1050" dirty="0" smtClean="0"/>
            <a:t>Virheiden tunnistamisen kyky, esimerkkejä virheistä</a:t>
          </a:r>
          <a:endParaRPr lang="en-US" sz="1050" dirty="0"/>
        </a:p>
      </dgm:t>
    </dgm:pt>
    <dgm:pt modelId="{869316A5-2E63-4C66-AD9F-93897A66BD64}" type="parTrans" cxnId="{FE9365F0-0F48-4CBB-B3D8-B6E84AD54D4E}">
      <dgm:prSet/>
      <dgm:spPr/>
      <dgm:t>
        <a:bodyPr/>
        <a:lstStyle/>
        <a:p>
          <a:endParaRPr lang="en-US" sz="2800"/>
        </a:p>
      </dgm:t>
    </dgm:pt>
    <dgm:pt modelId="{D5F39CCD-A67B-4B33-B95B-69A6DD4E51ED}" type="sibTrans" cxnId="{FE9365F0-0F48-4CBB-B3D8-B6E84AD54D4E}">
      <dgm:prSet/>
      <dgm:spPr/>
      <dgm:t>
        <a:bodyPr/>
        <a:lstStyle/>
        <a:p>
          <a:endParaRPr lang="en-US" sz="2800"/>
        </a:p>
      </dgm:t>
    </dgm:pt>
    <dgm:pt modelId="{6B48F48A-60B0-4642-950B-C0AA9A6978C3}">
      <dgm:prSet custT="1"/>
      <dgm:spPr/>
      <dgm:t>
        <a:bodyPr/>
        <a:lstStyle/>
        <a:p>
          <a:pPr rtl="0"/>
          <a:r>
            <a:rPr lang="fi-FI" sz="1050" dirty="0" smtClean="0"/>
            <a:t>Harjoitus: mistä tietää että asennus toimii?</a:t>
          </a:r>
          <a:endParaRPr lang="en-US" sz="1050" dirty="0"/>
        </a:p>
      </dgm:t>
    </dgm:pt>
    <dgm:pt modelId="{79C2DB65-C2C2-4FC2-B87A-B7EDCA1BF314}" type="parTrans" cxnId="{DD3C7865-1FE7-4D49-A0F6-73D55D779203}">
      <dgm:prSet/>
      <dgm:spPr/>
      <dgm:t>
        <a:bodyPr/>
        <a:lstStyle/>
        <a:p>
          <a:endParaRPr lang="en-US" sz="2800"/>
        </a:p>
      </dgm:t>
    </dgm:pt>
    <dgm:pt modelId="{A00E2B19-AEE4-40AC-8797-A1282DDD5B6E}" type="sibTrans" cxnId="{DD3C7865-1FE7-4D49-A0F6-73D55D779203}">
      <dgm:prSet/>
      <dgm:spPr/>
      <dgm:t>
        <a:bodyPr/>
        <a:lstStyle/>
        <a:p>
          <a:endParaRPr lang="en-US" sz="2800"/>
        </a:p>
      </dgm:t>
    </dgm:pt>
    <dgm:pt modelId="{068F8E9C-F855-47F9-B55B-A6A68C91B775}">
      <dgm:prSet custT="1"/>
      <dgm:spPr/>
      <dgm:t>
        <a:bodyPr/>
        <a:lstStyle/>
        <a:p>
          <a:pPr rtl="0"/>
          <a:r>
            <a:rPr lang="fi-FI" sz="1200" dirty="0" smtClean="0"/>
            <a:t>Arvo-alueisiin perustuva testisuunnittelu</a:t>
          </a:r>
          <a:endParaRPr lang="en-US" sz="1200" dirty="0"/>
        </a:p>
      </dgm:t>
    </dgm:pt>
    <dgm:pt modelId="{DCD6262B-FFB8-495A-8D4A-170F71C45FF7}" type="parTrans" cxnId="{7761994B-45B9-4713-A2AE-73766EAD4859}">
      <dgm:prSet/>
      <dgm:spPr/>
      <dgm:t>
        <a:bodyPr/>
        <a:lstStyle/>
        <a:p>
          <a:endParaRPr lang="en-US" sz="2800"/>
        </a:p>
      </dgm:t>
    </dgm:pt>
    <dgm:pt modelId="{F7A8B051-0362-4D87-8F17-BF98788329AD}" type="sibTrans" cxnId="{7761994B-45B9-4713-A2AE-73766EAD4859}">
      <dgm:prSet/>
      <dgm:spPr/>
      <dgm:t>
        <a:bodyPr/>
        <a:lstStyle/>
        <a:p>
          <a:endParaRPr lang="en-US" sz="2800"/>
        </a:p>
      </dgm:t>
    </dgm:pt>
    <dgm:pt modelId="{E88AD862-CCE8-4BCB-84F2-B0C4188C5E22}">
      <dgm:prSet custT="1"/>
      <dgm:spPr/>
      <dgm:t>
        <a:bodyPr/>
        <a:lstStyle/>
        <a:p>
          <a:pPr rtl="0"/>
          <a:r>
            <a:rPr lang="fi-FI" sz="1050" dirty="0" smtClean="0"/>
            <a:t>Toimintojen laajentaminen käsiteltävällä aineistolla</a:t>
          </a:r>
          <a:endParaRPr lang="en-US" sz="1050" dirty="0"/>
        </a:p>
      </dgm:t>
    </dgm:pt>
    <dgm:pt modelId="{1A0C1AB4-DFDB-4F94-A27A-CCAD40F7D4E8}" type="parTrans" cxnId="{E87D9561-B179-4DC4-A0E7-067E339BC492}">
      <dgm:prSet/>
      <dgm:spPr/>
      <dgm:t>
        <a:bodyPr/>
        <a:lstStyle/>
        <a:p>
          <a:endParaRPr lang="en-US" sz="2800"/>
        </a:p>
      </dgm:t>
    </dgm:pt>
    <dgm:pt modelId="{2CA19E52-34BA-4DC6-B654-A4BF2501CE10}" type="sibTrans" cxnId="{E87D9561-B179-4DC4-A0E7-067E339BC492}">
      <dgm:prSet/>
      <dgm:spPr/>
      <dgm:t>
        <a:bodyPr/>
        <a:lstStyle/>
        <a:p>
          <a:endParaRPr lang="en-US" sz="2800"/>
        </a:p>
      </dgm:t>
    </dgm:pt>
    <dgm:pt modelId="{E04C5566-ADA8-4B25-9DAA-E5B29808C2D2}">
      <dgm:prSet custT="1"/>
      <dgm:spPr/>
      <dgm:t>
        <a:bodyPr/>
        <a:lstStyle/>
        <a:p>
          <a:pPr rtl="0"/>
          <a:r>
            <a:rPr lang="fi-FI" sz="1050" dirty="0" smtClean="0"/>
            <a:t>Ekvivalenssiluokat ja raja-arvot, yksittäisistä muuttujista muuttujapareihin ja yhdistelmiin</a:t>
          </a:r>
          <a:endParaRPr lang="en-US" sz="1050" dirty="0"/>
        </a:p>
      </dgm:t>
    </dgm:pt>
    <dgm:pt modelId="{5F76528D-AF0D-4705-9D09-B9515D7F52D5}" type="parTrans" cxnId="{7F6DB3F1-FCAC-4A36-A1D5-093A72B74BDC}">
      <dgm:prSet/>
      <dgm:spPr/>
      <dgm:t>
        <a:bodyPr/>
        <a:lstStyle/>
        <a:p>
          <a:endParaRPr lang="en-US" sz="2800"/>
        </a:p>
      </dgm:t>
    </dgm:pt>
    <dgm:pt modelId="{B3B5E256-53C2-42AE-A140-51E0394657D5}" type="sibTrans" cxnId="{7F6DB3F1-FCAC-4A36-A1D5-093A72B74BDC}">
      <dgm:prSet/>
      <dgm:spPr/>
      <dgm:t>
        <a:bodyPr/>
        <a:lstStyle/>
        <a:p>
          <a:endParaRPr lang="en-US" sz="2800"/>
        </a:p>
      </dgm:t>
    </dgm:pt>
    <dgm:pt modelId="{61683D07-0C9C-4BDE-A92A-7701F66B4AE4}">
      <dgm:prSet custT="1"/>
      <dgm:spPr/>
      <dgm:t>
        <a:bodyPr/>
        <a:lstStyle/>
        <a:p>
          <a:pPr rtl="0"/>
          <a:r>
            <a:rPr lang="fi-FI" sz="1050" dirty="0" smtClean="0"/>
            <a:t>Testiaineiston uudelleenkäytön suunnittelu</a:t>
          </a:r>
          <a:endParaRPr lang="en-US" sz="1050" dirty="0"/>
        </a:p>
      </dgm:t>
    </dgm:pt>
    <dgm:pt modelId="{05D7471B-531E-4028-9875-346A436963A9}" type="parTrans" cxnId="{28D5D8DF-DC27-4309-B6E1-88623CDA4022}">
      <dgm:prSet/>
      <dgm:spPr/>
      <dgm:t>
        <a:bodyPr/>
        <a:lstStyle/>
        <a:p>
          <a:endParaRPr lang="en-US" sz="2800"/>
        </a:p>
      </dgm:t>
    </dgm:pt>
    <dgm:pt modelId="{33AA2CDA-0538-4702-9146-2422A0BD37F6}" type="sibTrans" cxnId="{28D5D8DF-DC27-4309-B6E1-88623CDA4022}">
      <dgm:prSet/>
      <dgm:spPr/>
      <dgm:t>
        <a:bodyPr/>
        <a:lstStyle/>
        <a:p>
          <a:endParaRPr lang="en-US" sz="2800"/>
        </a:p>
      </dgm:t>
    </dgm:pt>
    <dgm:pt modelId="{B012ACE8-88AA-46CF-A895-59CCA803EDB5}">
      <dgm:prSet custT="1"/>
      <dgm:spPr/>
      <dgm:t>
        <a:bodyPr/>
        <a:lstStyle/>
        <a:p>
          <a:pPr rtl="0"/>
          <a:r>
            <a:rPr lang="fi-FI" sz="1050" dirty="0" smtClean="0"/>
            <a:t>Harjoitus: riittävien syötteiden tunnistaminen ja tulosten kuvaaminen testitapauksiin</a:t>
          </a:r>
          <a:endParaRPr lang="en-US" sz="1050" dirty="0"/>
        </a:p>
      </dgm:t>
    </dgm:pt>
    <dgm:pt modelId="{A3098587-4513-44CF-A46C-56192A4A3DE0}" type="parTrans" cxnId="{1247FF5A-F145-47BA-8553-04EF8A196D67}">
      <dgm:prSet/>
      <dgm:spPr/>
      <dgm:t>
        <a:bodyPr/>
        <a:lstStyle/>
        <a:p>
          <a:endParaRPr lang="en-US" sz="2800"/>
        </a:p>
      </dgm:t>
    </dgm:pt>
    <dgm:pt modelId="{DE301333-89D0-46A8-BC43-D9B888FCED62}" type="sibTrans" cxnId="{1247FF5A-F145-47BA-8553-04EF8A196D67}">
      <dgm:prSet/>
      <dgm:spPr/>
      <dgm:t>
        <a:bodyPr/>
        <a:lstStyle/>
        <a:p>
          <a:endParaRPr lang="en-US" sz="2800"/>
        </a:p>
      </dgm:t>
    </dgm:pt>
    <dgm:pt modelId="{D13B3EEC-3F3F-42D4-949F-A37F49890F2B}">
      <dgm:prSet custT="1"/>
      <dgm:spPr/>
      <dgm:t>
        <a:bodyPr/>
        <a:lstStyle/>
        <a:p>
          <a:pPr rtl="0"/>
          <a:r>
            <a:rPr lang="fi-FI" sz="1200" dirty="0" smtClean="0"/>
            <a:t>Vaatimusperusteinen testisuunnittelu</a:t>
          </a:r>
          <a:endParaRPr lang="en-US" sz="1200" dirty="0"/>
        </a:p>
      </dgm:t>
    </dgm:pt>
    <dgm:pt modelId="{ED168F77-9D83-4CE4-9660-7B9B0EE35921}" type="parTrans" cxnId="{AF073B89-2471-4402-81DC-A406B7BCD667}">
      <dgm:prSet/>
      <dgm:spPr/>
      <dgm:t>
        <a:bodyPr/>
        <a:lstStyle/>
        <a:p>
          <a:endParaRPr lang="en-US" sz="2800"/>
        </a:p>
      </dgm:t>
    </dgm:pt>
    <dgm:pt modelId="{9ED91A85-105C-48BF-96D9-468227DAFC80}" type="sibTrans" cxnId="{AF073B89-2471-4402-81DC-A406B7BCD667}">
      <dgm:prSet/>
      <dgm:spPr/>
      <dgm:t>
        <a:bodyPr/>
        <a:lstStyle/>
        <a:p>
          <a:endParaRPr lang="en-US" sz="2800"/>
        </a:p>
      </dgm:t>
    </dgm:pt>
    <dgm:pt modelId="{B50AF25C-8722-42BF-BB71-A0D92D37A1B2}">
      <dgm:prSet custT="1"/>
      <dgm:spPr/>
      <dgm:t>
        <a:bodyPr/>
        <a:lstStyle/>
        <a:p>
          <a:pPr rtl="0"/>
          <a:r>
            <a:rPr lang="fi-FI" sz="1050" dirty="0" smtClean="0"/>
            <a:t>Määrittelyjen lukeminen testaajana</a:t>
          </a:r>
          <a:endParaRPr lang="en-US" sz="1050" dirty="0"/>
        </a:p>
      </dgm:t>
    </dgm:pt>
    <dgm:pt modelId="{EE01A423-AA1E-4316-9D69-298EF998250A}" type="parTrans" cxnId="{948B51F2-88BB-4118-8EE6-8102F852AD0B}">
      <dgm:prSet/>
      <dgm:spPr/>
      <dgm:t>
        <a:bodyPr/>
        <a:lstStyle/>
        <a:p>
          <a:endParaRPr lang="en-US" sz="2800"/>
        </a:p>
      </dgm:t>
    </dgm:pt>
    <dgm:pt modelId="{DDAA8997-6180-4D72-890E-04EF994080E5}" type="sibTrans" cxnId="{948B51F2-88BB-4118-8EE6-8102F852AD0B}">
      <dgm:prSet/>
      <dgm:spPr/>
      <dgm:t>
        <a:bodyPr/>
        <a:lstStyle/>
        <a:p>
          <a:endParaRPr lang="en-US" sz="2800"/>
        </a:p>
      </dgm:t>
    </dgm:pt>
    <dgm:pt modelId="{5F59C612-9537-4306-B675-59FC3A11A4B1}">
      <dgm:prSet custT="1"/>
      <dgm:spPr/>
      <dgm:t>
        <a:bodyPr/>
        <a:lstStyle/>
        <a:p>
          <a:pPr rtl="0"/>
          <a:r>
            <a:rPr lang="fi-FI" sz="1050" dirty="0" smtClean="0"/>
            <a:t>Osittava ja kokoava testisuunnittelu vaatimuksiin pohjautuen</a:t>
          </a:r>
          <a:endParaRPr lang="en-US" sz="1050" dirty="0"/>
        </a:p>
      </dgm:t>
    </dgm:pt>
    <dgm:pt modelId="{516D2DA6-1C5E-4047-94D1-B09D0CEB2BA3}" type="parTrans" cxnId="{9EBD7BC7-8374-4B3A-A8BE-EA6014BF18C2}">
      <dgm:prSet/>
      <dgm:spPr/>
      <dgm:t>
        <a:bodyPr/>
        <a:lstStyle/>
        <a:p>
          <a:endParaRPr lang="en-US" sz="2800"/>
        </a:p>
      </dgm:t>
    </dgm:pt>
    <dgm:pt modelId="{36481970-5DFB-4122-93A0-DFF090A3AC5A}" type="sibTrans" cxnId="{9EBD7BC7-8374-4B3A-A8BE-EA6014BF18C2}">
      <dgm:prSet/>
      <dgm:spPr/>
      <dgm:t>
        <a:bodyPr/>
        <a:lstStyle/>
        <a:p>
          <a:endParaRPr lang="en-US" sz="2800"/>
        </a:p>
      </dgm:t>
    </dgm:pt>
    <dgm:pt modelId="{A414D77D-650F-4071-BB31-246B49EB28F1}">
      <dgm:prSet custT="1"/>
      <dgm:spPr/>
      <dgm:t>
        <a:bodyPr/>
        <a:lstStyle/>
        <a:p>
          <a:pPr rtl="0"/>
          <a:r>
            <a:rPr lang="fi-FI" sz="1050" dirty="0" smtClean="0"/>
            <a:t>Harjoitus: skenaariotesti ja määrittelyn tarkistuslista</a:t>
          </a:r>
          <a:endParaRPr lang="en-US" sz="1050" dirty="0"/>
        </a:p>
      </dgm:t>
    </dgm:pt>
    <dgm:pt modelId="{E9A0EB56-48B4-4346-9E22-FEEFD4A0F614}" type="parTrans" cxnId="{E96282DC-90C2-48A9-90EB-F15A6A6F6618}">
      <dgm:prSet/>
      <dgm:spPr/>
      <dgm:t>
        <a:bodyPr/>
        <a:lstStyle/>
        <a:p>
          <a:endParaRPr lang="en-US" sz="2800"/>
        </a:p>
      </dgm:t>
    </dgm:pt>
    <dgm:pt modelId="{F1CA56AA-A594-4EBD-99C6-CF0268BB0AA2}" type="sibTrans" cxnId="{E96282DC-90C2-48A9-90EB-F15A6A6F6618}">
      <dgm:prSet/>
      <dgm:spPr/>
      <dgm:t>
        <a:bodyPr/>
        <a:lstStyle/>
        <a:p>
          <a:endParaRPr lang="en-US" sz="2800"/>
        </a:p>
      </dgm:t>
    </dgm:pt>
    <dgm:pt modelId="{02CC35B6-28B8-464B-8218-E07133A1B48B}">
      <dgm:prSet custT="1"/>
      <dgm:spPr/>
      <dgm:t>
        <a:bodyPr/>
        <a:lstStyle/>
        <a:p>
          <a:pPr rtl="0"/>
          <a:r>
            <a:rPr lang="fi-FI" sz="1200" dirty="0" smtClean="0"/>
            <a:t>Testitapausten suunnittelun tiekartta</a:t>
          </a:r>
          <a:endParaRPr lang="en-US" sz="1200" dirty="0"/>
        </a:p>
      </dgm:t>
    </dgm:pt>
    <dgm:pt modelId="{0CA8619D-36E9-4717-A938-330B873683AE}" type="parTrans" cxnId="{56302CB1-6E88-49A0-9FF0-CBF1CAA87015}">
      <dgm:prSet/>
      <dgm:spPr/>
      <dgm:t>
        <a:bodyPr/>
        <a:lstStyle/>
        <a:p>
          <a:endParaRPr lang="en-US" sz="2800"/>
        </a:p>
      </dgm:t>
    </dgm:pt>
    <dgm:pt modelId="{9979C024-ABC4-4D41-8CF6-F2E5F235C9D0}" type="sibTrans" cxnId="{56302CB1-6E88-49A0-9FF0-CBF1CAA87015}">
      <dgm:prSet/>
      <dgm:spPr/>
      <dgm:t>
        <a:bodyPr/>
        <a:lstStyle/>
        <a:p>
          <a:endParaRPr lang="en-US" sz="2800"/>
        </a:p>
      </dgm:t>
    </dgm:pt>
    <dgm:pt modelId="{611A0B3E-27D2-45D8-A81E-0DB0CF728CCE}">
      <dgm:prSet custT="1"/>
      <dgm:spPr/>
      <dgm:t>
        <a:bodyPr/>
        <a:lstStyle/>
        <a:p>
          <a:pPr rtl="0"/>
          <a:r>
            <a:rPr lang="fi-FI" sz="1050" dirty="0" smtClean="0"/>
            <a:t>Testitapausten suunnittelun tekniikat ja valinta</a:t>
          </a:r>
          <a:endParaRPr lang="en-US" sz="1050" dirty="0"/>
        </a:p>
      </dgm:t>
    </dgm:pt>
    <dgm:pt modelId="{2C937515-1383-4EA3-9A41-F64A5A4729A8}" type="parTrans" cxnId="{02A40ECC-35E3-43BC-8A30-31432637BBD5}">
      <dgm:prSet/>
      <dgm:spPr/>
      <dgm:t>
        <a:bodyPr/>
        <a:lstStyle/>
        <a:p>
          <a:endParaRPr lang="en-US" sz="2800"/>
        </a:p>
      </dgm:t>
    </dgm:pt>
    <dgm:pt modelId="{F1E1B24B-B737-45B7-A442-81AC3C8B2588}" type="sibTrans" cxnId="{02A40ECC-35E3-43BC-8A30-31432637BBD5}">
      <dgm:prSet/>
      <dgm:spPr/>
      <dgm:t>
        <a:bodyPr/>
        <a:lstStyle/>
        <a:p>
          <a:endParaRPr lang="en-US" sz="2800"/>
        </a:p>
      </dgm:t>
    </dgm:pt>
    <dgm:pt modelId="{194A508F-123E-498E-9A26-E25FC3D82174}">
      <dgm:prSet custT="1"/>
      <dgm:spPr/>
      <dgm:t>
        <a:bodyPr/>
        <a:lstStyle/>
        <a:p>
          <a:pPr rtl="0"/>
          <a:r>
            <a:rPr lang="fi-FI" sz="1050" dirty="0" smtClean="0"/>
            <a:t>Kokonaisvaltainen testausstrategia: testauksen nelikenttä</a:t>
          </a:r>
          <a:endParaRPr lang="en-US" sz="1050" dirty="0"/>
        </a:p>
      </dgm:t>
    </dgm:pt>
    <dgm:pt modelId="{30099494-3452-480B-A0FA-FEE152DB6629}" type="parTrans" cxnId="{5D78C300-E73F-4C19-B36A-7372E5622934}">
      <dgm:prSet/>
      <dgm:spPr/>
      <dgm:t>
        <a:bodyPr/>
        <a:lstStyle/>
        <a:p>
          <a:endParaRPr lang="en-US" sz="2800"/>
        </a:p>
      </dgm:t>
    </dgm:pt>
    <dgm:pt modelId="{E31B03A8-F10B-498C-9377-1D00A6D8E298}" type="sibTrans" cxnId="{5D78C300-E73F-4C19-B36A-7372E5622934}">
      <dgm:prSet/>
      <dgm:spPr/>
      <dgm:t>
        <a:bodyPr/>
        <a:lstStyle/>
        <a:p>
          <a:endParaRPr lang="en-US" sz="2800"/>
        </a:p>
      </dgm:t>
    </dgm:pt>
    <dgm:pt modelId="{5CAEECCF-6CDF-41C4-91D8-14230975E224}">
      <dgm:prSet custT="1"/>
      <dgm:spPr/>
      <dgm:t>
        <a:bodyPr/>
        <a:lstStyle/>
        <a:p>
          <a:pPr rtl="0"/>
          <a:r>
            <a:rPr lang="fi-FI" sz="1050" dirty="0" smtClean="0"/>
            <a:t>Kasvusuunnat ja opin lähteet</a:t>
          </a:r>
          <a:endParaRPr lang="en-US" sz="1050" dirty="0"/>
        </a:p>
      </dgm:t>
    </dgm:pt>
    <dgm:pt modelId="{6BAC0993-98F1-4826-AAAA-BCB60DC13699}" type="parTrans" cxnId="{52CBAE99-5141-47CB-AC8E-9A2402D34489}">
      <dgm:prSet/>
      <dgm:spPr/>
      <dgm:t>
        <a:bodyPr/>
        <a:lstStyle/>
        <a:p>
          <a:endParaRPr lang="en-US" sz="2800"/>
        </a:p>
      </dgm:t>
    </dgm:pt>
    <dgm:pt modelId="{55D49035-D45F-4AFE-BB19-5AC326623B98}" type="sibTrans" cxnId="{52CBAE99-5141-47CB-AC8E-9A2402D34489}">
      <dgm:prSet/>
      <dgm:spPr/>
      <dgm:t>
        <a:bodyPr/>
        <a:lstStyle/>
        <a:p>
          <a:endParaRPr lang="en-US" sz="2800"/>
        </a:p>
      </dgm:t>
    </dgm:pt>
    <dgm:pt modelId="{02DDF34C-AE9E-4C5C-B688-9B545B8BF37A}" type="pres">
      <dgm:prSet presAssocID="{9A4C0897-65C9-4D9A-AF41-8C82E8A1C916}" presName="linear" presStyleCnt="0">
        <dgm:presLayoutVars>
          <dgm:animLvl val="lvl"/>
          <dgm:resizeHandles val="exact"/>
        </dgm:presLayoutVars>
      </dgm:prSet>
      <dgm:spPr/>
      <dgm:t>
        <a:bodyPr/>
        <a:lstStyle/>
        <a:p>
          <a:endParaRPr lang="en-US"/>
        </a:p>
      </dgm:t>
    </dgm:pt>
    <dgm:pt modelId="{2D8FFCD5-EDC5-479E-8486-C753D09A41B6}" type="pres">
      <dgm:prSet presAssocID="{4A44BEF6-B48D-47C2-9C6B-BACF372027DC}" presName="parentText" presStyleLbl="node1" presStyleIdx="0" presStyleCnt="6">
        <dgm:presLayoutVars>
          <dgm:chMax val="0"/>
          <dgm:bulletEnabled val="1"/>
        </dgm:presLayoutVars>
      </dgm:prSet>
      <dgm:spPr/>
      <dgm:t>
        <a:bodyPr/>
        <a:lstStyle/>
        <a:p>
          <a:endParaRPr lang="en-US"/>
        </a:p>
      </dgm:t>
    </dgm:pt>
    <dgm:pt modelId="{9C9192C8-1F65-46B3-86B8-0947E3B2064C}" type="pres">
      <dgm:prSet presAssocID="{4A44BEF6-B48D-47C2-9C6B-BACF372027DC}" presName="childText" presStyleLbl="revTx" presStyleIdx="0" presStyleCnt="6">
        <dgm:presLayoutVars>
          <dgm:bulletEnabled val="1"/>
        </dgm:presLayoutVars>
      </dgm:prSet>
      <dgm:spPr/>
      <dgm:t>
        <a:bodyPr/>
        <a:lstStyle/>
        <a:p>
          <a:endParaRPr lang="en-US"/>
        </a:p>
      </dgm:t>
    </dgm:pt>
    <dgm:pt modelId="{1B0DB736-9C8C-4E39-B3F5-692200E0A2EA}" type="pres">
      <dgm:prSet presAssocID="{AAE250C6-6577-4712-82F6-592B4B4739A9}" presName="parentText" presStyleLbl="node1" presStyleIdx="1" presStyleCnt="6">
        <dgm:presLayoutVars>
          <dgm:chMax val="0"/>
          <dgm:bulletEnabled val="1"/>
        </dgm:presLayoutVars>
      </dgm:prSet>
      <dgm:spPr/>
      <dgm:t>
        <a:bodyPr/>
        <a:lstStyle/>
        <a:p>
          <a:endParaRPr lang="en-US"/>
        </a:p>
      </dgm:t>
    </dgm:pt>
    <dgm:pt modelId="{A2C61660-0C2C-4119-8379-5F82A7F9BAF6}" type="pres">
      <dgm:prSet presAssocID="{AAE250C6-6577-4712-82F6-592B4B4739A9}" presName="childText" presStyleLbl="revTx" presStyleIdx="1" presStyleCnt="6">
        <dgm:presLayoutVars>
          <dgm:bulletEnabled val="1"/>
        </dgm:presLayoutVars>
      </dgm:prSet>
      <dgm:spPr/>
      <dgm:t>
        <a:bodyPr/>
        <a:lstStyle/>
        <a:p>
          <a:endParaRPr lang="en-US"/>
        </a:p>
      </dgm:t>
    </dgm:pt>
    <dgm:pt modelId="{EC3CC386-049B-4E38-8D5B-055DBA2EBEE3}" type="pres">
      <dgm:prSet presAssocID="{6FF65AC3-10AE-436A-9D5A-A884CB64EFEC}" presName="parentText" presStyleLbl="node1" presStyleIdx="2" presStyleCnt="6">
        <dgm:presLayoutVars>
          <dgm:chMax val="0"/>
          <dgm:bulletEnabled val="1"/>
        </dgm:presLayoutVars>
      </dgm:prSet>
      <dgm:spPr/>
      <dgm:t>
        <a:bodyPr/>
        <a:lstStyle/>
        <a:p>
          <a:endParaRPr lang="en-US"/>
        </a:p>
      </dgm:t>
    </dgm:pt>
    <dgm:pt modelId="{9CD83E87-4CE4-4F55-A573-2603EC6414E3}" type="pres">
      <dgm:prSet presAssocID="{6FF65AC3-10AE-436A-9D5A-A884CB64EFEC}" presName="childText" presStyleLbl="revTx" presStyleIdx="2" presStyleCnt="6">
        <dgm:presLayoutVars>
          <dgm:bulletEnabled val="1"/>
        </dgm:presLayoutVars>
      </dgm:prSet>
      <dgm:spPr/>
      <dgm:t>
        <a:bodyPr/>
        <a:lstStyle/>
        <a:p>
          <a:endParaRPr lang="en-US"/>
        </a:p>
      </dgm:t>
    </dgm:pt>
    <dgm:pt modelId="{E3CAE218-C79F-4936-8C3A-2556C9FEBCFC}" type="pres">
      <dgm:prSet presAssocID="{068F8E9C-F855-47F9-B55B-A6A68C91B775}" presName="parentText" presStyleLbl="node1" presStyleIdx="3" presStyleCnt="6">
        <dgm:presLayoutVars>
          <dgm:chMax val="0"/>
          <dgm:bulletEnabled val="1"/>
        </dgm:presLayoutVars>
      </dgm:prSet>
      <dgm:spPr/>
      <dgm:t>
        <a:bodyPr/>
        <a:lstStyle/>
        <a:p>
          <a:endParaRPr lang="en-US"/>
        </a:p>
      </dgm:t>
    </dgm:pt>
    <dgm:pt modelId="{06A1F401-57F5-4B93-999D-ACDA9CD6E830}" type="pres">
      <dgm:prSet presAssocID="{068F8E9C-F855-47F9-B55B-A6A68C91B775}" presName="childText" presStyleLbl="revTx" presStyleIdx="3" presStyleCnt="6">
        <dgm:presLayoutVars>
          <dgm:bulletEnabled val="1"/>
        </dgm:presLayoutVars>
      </dgm:prSet>
      <dgm:spPr/>
      <dgm:t>
        <a:bodyPr/>
        <a:lstStyle/>
        <a:p>
          <a:endParaRPr lang="en-US"/>
        </a:p>
      </dgm:t>
    </dgm:pt>
    <dgm:pt modelId="{26B3663F-67A1-4181-B690-CC922584735A}" type="pres">
      <dgm:prSet presAssocID="{D13B3EEC-3F3F-42D4-949F-A37F49890F2B}" presName="parentText" presStyleLbl="node1" presStyleIdx="4" presStyleCnt="6">
        <dgm:presLayoutVars>
          <dgm:chMax val="0"/>
          <dgm:bulletEnabled val="1"/>
        </dgm:presLayoutVars>
      </dgm:prSet>
      <dgm:spPr/>
      <dgm:t>
        <a:bodyPr/>
        <a:lstStyle/>
        <a:p>
          <a:endParaRPr lang="en-US"/>
        </a:p>
      </dgm:t>
    </dgm:pt>
    <dgm:pt modelId="{D8F08FD2-4204-40EB-A469-C0D0E460B5D7}" type="pres">
      <dgm:prSet presAssocID="{D13B3EEC-3F3F-42D4-949F-A37F49890F2B}" presName="childText" presStyleLbl="revTx" presStyleIdx="4" presStyleCnt="6">
        <dgm:presLayoutVars>
          <dgm:bulletEnabled val="1"/>
        </dgm:presLayoutVars>
      </dgm:prSet>
      <dgm:spPr/>
      <dgm:t>
        <a:bodyPr/>
        <a:lstStyle/>
        <a:p>
          <a:endParaRPr lang="en-US"/>
        </a:p>
      </dgm:t>
    </dgm:pt>
    <dgm:pt modelId="{06B82C05-62FC-4128-BB7D-12C4B3AE948A}" type="pres">
      <dgm:prSet presAssocID="{02CC35B6-28B8-464B-8218-E07133A1B48B}" presName="parentText" presStyleLbl="node1" presStyleIdx="5" presStyleCnt="6">
        <dgm:presLayoutVars>
          <dgm:chMax val="0"/>
          <dgm:bulletEnabled val="1"/>
        </dgm:presLayoutVars>
      </dgm:prSet>
      <dgm:spPr/>
      <dgm:t>
        <a:bodyPr/>
        <a:lstStyle/>
        <a:p>
          <a:endParaRPr lang="en-US"/>
        </a:p>
      </dgm:t>
    </dgm:pt>
    <dgm:pt modelId="{E86D72E6-46A5-4ADC-8019-4BD084342D53}" type="pres">
      <dgm:prSet presAssocID="{02CC35B6-28B8-464B-8218-E07133A1B48B}" presName="childText" presStyleLbl="revTx" presStyleIdx="5" presStyleCnt="6">
        <dgm:presLayoutVars>
          <dgm:bulletEnabled val="1"/>
        </dgm:presLayoutVars>
      </dgm:prSet>
      <dgm:spPr/>
      <dgm:t>
        <a:bodyPr/>
        <a:lstStyle/>
        <a:p>
          <a:endParaRPr lang="en-US"/>
        </a:p>
      </dgm:t>
    </dgm:pt>
  </dgm:ptLst>
  <dgm:cxnLst>
    <dgm:cxn modelId="{E91CA68A-0562-45BB-BE66-14A78C4FE13D}" type="presOf" srcId="{B012ACE8-88AA-46CF-A895-59CCA803EDB5}" destId="{06A1F401-57F5-4B93-999D-ACDA9CD6E830}" srcOrd="0" destOrd="3" presId="urn:microsoft.com/office/officeart/2005/8/layout/vList2"/>
    <dgm:cxn modelId="{A3C569D1-5813-47FA-802E-AE163CC73486}" srcId="{4A44BEF6-B48D-47C2-9C6B-BACF372027DC}" destId="{8CCD2BDA-82B8-4928-A272-B288D8CC5879}" srcOrd="0" destOrd="0" parTransId="{0BA634E7-A2BC-49B7-8399-DE8C3881EB79}" sibTransId="{BBFF361E-7CF2-4AA6-9ED3-61CE169F37A3}"/>
    <dgm:cxn modelId="{F3878B2D-E4B4-4100-84B4-4F389CD80B08}" srcId="{AAE250C6-6577-4712-82F6-592B4B4739A9}" destId="{384D3E72-4E25-4D0D-96F0-A7AD2EED6960}" srcOrd="2" destOrd="0" parTransId="{38C02242-A287-415C-856B-5BF0372F1320}" sibTransId="{D59BAC4F-7A9B-44E2-85F9-36D523FDF38F}"/>
    <dgm:cxn modelId="{7761994B-45B9-4713-A2AE-73766EAD4859}" srcId="{9A4C0897-65C9-4D9A-AF41-8C82E8A1C916}" destId="{068F8E9C-F855-47F9-B55B-A6A68C91B775}" srcOrd="3" destOrd="0" parTransId="{DCD6262B-FFB8-495A-8D4A-170F71C45FF7}" sibTransId="{F7A8B051-0362-4D87-8F17-BF98788329AD}"/>
    <dgm:cxn modelId="{3DA98A25-DAF0-4102-94B4-57BCE54C7A2A}" srcId="{9A4C0897-65C9-4D9A-AF41-8C82E8A1C916}" destId="{4A44BEF6-B48D-47C2-9C6B-BACF372027DC}" srcOrd="0" destOrd="0" parTransId="{FBB23309-879F-4723-86D9-834255385215}" sibTransId="{3DA360D5-FFB7-49A7-9B10-115E7F1DB8B2}"/>
    <dgm:cxn modelId="{B2B8416D-EC5C-4682-B03F-7E910C5DAD9C}" type="presOf" srcId="{B50AF25C-8722-42BF-BB71-A0D92D37A1B2}" destId="{D8F08FD2-4204-40EB-A469-C0D0E460B5D7}" srcOrd="0" destOrd="0" presId="urn:microsoft.com/office/officeart/2005/8/layout/vList2"/>
    <dgm:cxn modelId="{52CBAE99-5141-47CB-AC8E-9A2402D34489}" srcId="{02CC35B6-28B8-464B-8218-E07133A1B48B}" destId="{5CAEECCF-6CDF-41C4-91D8-14230975E224}" srcOrd="2" destOrd="0" parTransId="{6BAC0993-98F1-4826-AAAA-BCB60DC13699}" sibTransId="{55D49035-D45F-4AFE-BB19-5AC326623B98}"/>
    <dgm:cxn modelId="{6F7E0EBB-06ED-4B62-BA31-B993398379FF}" srcId="{AAE250C6-6577-4712-82F6-592B4B4739A9}" destId="{861357AE-C8A7-4ACC-945F-4E864ABCEE1E}" srcOrd="0" destOrd="0" parTransId="{3400D267-DDCB-4BCE-B945-22A30A91A666}" sibTransId="{EA0D1700-C0E8-4C47-990F-BBF717265B3B}"/>
    <dgm:cxn modelId="{AFB000C3-0AD4-481D-BAE1-C6BE0E0269EC}" type="presOf" srcId="{61683D07-0C9C-4BDE-A92A-7701F66B4AE4}" destId="{06A1F401-57F5-4B93-999D-ACDA9CD6E830}" srcOrd="0" destOrd="2" presId="urn:microsoft.com/office/officeart/2005/8/layout/vList2"/>
    <dgm:cxn modelId="{5D78C300-E73F-4C19-B36A-7372E5622934}" srcId="{02CC35B6-28B8-464B-8218-E07133A1B48B}" destId="{194A508F-123E-498E-9A26-E25FC3D82174}" srcOrd="1" destOrd="0" parTransId="{30099494-3452-480B-A0FA-FEE152DB6629}" sibTransId="{E31B03A8-F10B-498C-9377-1D00A6D8E298}"/>
    <dgm:cxn modelId="{7F6DB3F1-FCAC-4A36-A1D5-093A72B74BDC}" srcId="{068F8E9C-F855-47F9-B55B-A6A68C91B775}" destId="{E04C5566-ADA8-4B25-9DAA-E5B29808C2D2}" srcOrd="1" destOrd="0" parTransId="{5F76528D-AF0D-4705-9D09-B9515D7F52D5}" sibTransId="{B3B5E256-53C2-42AE-A140-51E0394657D5}"/>
    <dgm:cxn modelId="{DD3C7865-1FE7-4D49-A0F6-73D55D779203}" srcId="{6FF65AC3-10AE-436A-9D5A-A884CB64EFEC}" destId="{6B48F48A-60B0-4642-950B-C0AA9A6978C3}" srcOrd="2" destOrd="0" parTransId="{79C2DB65-C2C2-4FC2-B87A-B7EDCA1BF314}" sibTransId="{A00E2B19-AEE4-40AC-8797-A1282DDD5B6E}"/>
    <dgm:cxn modelId="{1F71BA65-645B-4D6D-ACC1-A72A9946EC3E}" type="presOf" srcId="{E04C5566-ADA8-4B25-9DAA-E5B29808C2D2}" destId="{06A1F401-57F5-4B93-999D-ACDA9CD6E830}" srcOrd="0" destOrd="1" presId="urn:microsoft.com/office/officeart/2005/8/layout/vList2"/>
    <dgm:cxn modelId="{EB050E27-F55F-4A7D-9955-88C26D31B18F}" srcId="{9A4C0897-65C9-4D9A-AF41-8C82E8A1C916}" destId="{6FF65AC3-10AE-436A-9D5A-A884CB64EFEC}" srcOrd="2" destOrd="0" parTransId="{7E887C40-BD28-4BF7-9BAB-DCE1210D4F27}" sibTransId="{2B0DBED0-7D1F-446B-AA77-AD86825D3403}"/>
    <dgm:cxn modelId="{03199F1E-3477-40FA-8039-4954A4B00DAA}" type="presOf" srcId="{861357AE-C8A7-4ACC-945F-4E864ABCEE1E}" destId="{A2C61660-0C2C-4119-8379-5F82A7F9BAF6}" srcOrd="0" destOrd="0" presId="urn:microsoft.com/office/officeart/2005/8/layout/vList2"/>
    <dgm:cxn modelId="{948B51F2-88BB-4118-8EE6-8102F852AD0B}" srcId="{D13B3EEC-3F3F-42D4-949F-A37F49890F2B}" destId="{B50AF25C-8722-42BF-BB71-A0D92D37A1B2}" srcOrd="0" destOrd="0" parTransId="{EE01A423-AA1E-4316-9D69-298EF998250A}" sibTransId="{DDAA8997-6180-4D72-890E-04EF994080E5}"/>
    <dgm:cxn modelId="{6509647F-15DA-46E9-8C84-26AD5EC6300A}" type="presOf" srcId="{9A4C0897-65C9-4D9A-AF41-8C82E8A1C916}" destId="{02DDF34C-AE9E-4C5C-B688-9B545B8BF37A}" srcOrd="0" destOrd="0" presId="urn:microsoft.com/office/officeart/2005/8/layout/vList2"/>
    <dgm:cxn modelId="{EDC3086F-E9F3-4B85-971B-7E2F6B01B414}" type="presOf" srcId="{384D3E72-4E25-4D0D-96F0-A7AD2EED6960}" destId="{A2C61660-0C2C-4119-8379-5F82A7F9BAF6}" srcOrd="0" destOrd="2" presId="urn:microsoft.com/office/officeart/2005/8/layout/vList2"/>
    <dgm:cxn modelId="{FE9365F0-0F48-4CBB-B3D8-B6E84AD54D4E}" srcId="{6FF65AC3-10AE-436A-9D5A-A884CB64EFEC}" destId="{B98D8392-FB27-4752-BE1B-F50F8E217DD1}" srcOrd="1" destOrd="0" parTransId="{869316A5-2E63-4C66-AD9F-93897A66BD64}" sibTransId="{D5F39CCD-A67B-4B33-B95B-69A6DD4E51ED}"/>
    <dgm:cxn modelId="{1F1E2D68-5A5E-48C6-801B-5E637992816E}" type="presOf" srcId="{D13B3EEC-3F3F-42D4-949F-A37F49890F2B}" destId="{26B3663F-67A1-4181-B690-CC922584735A}" srcOrd="0" destOrd="0" presId="urn:microsoft.com/office/officeart/2005/8/layout/vList2"/>
    <dgm:cxn modelId="{24474A4D-92C8-40E2-BDDC-08193B0A2079}" type="presOf" srcId="{611A0B3E-27D2-45D8-A81E-0DB0CF728CCE}" destId="{E86D72E6-46A5-4ADC-8019-4BD084342D53}" srcOrd="0" destOrd="0" presId="urn:microsoft.com/office/officeart/2005/8/layout/vList2"/>
    <dgm:cxn modelId="{E96282DC-90C2-48A9-90EB-F15A6A6F6618}" srcId="{D13B3EEC-3F3F-42D4-949F-A37F49890F2B}" destId="{A414D77D-650F-4071-BB31-246B49EB28F1}" srcOrd="2" destOrd="0" parTransId="{E9A0EB56-48B4-4346-9E22-FEEFD4A0F614}" sibTransId="{F1CA56AA-A594-4EBD-99C6-CF0268BB0AA2}"/>
    <dgm:cxn modelId="{5C9FDF64-CEE2-4CA5-A5E7-AFE7D378D5B7}" type="presOf" srcId="{068F8E9C-F855-47F9-B55B-A6A68C91B775}" destId="{E3CAE218-C79F-4936-8C3A-2556C9FEBCFC}" srcOrd="0" destOrd="0" presId="urn:microsoft.com/office/officeart/2005/8/layout/vList2"/>
    <dgm:cxn modelId="{9EBD7BC7-8374-4B3A-A8BE-EA6014BF18C2}" srcId="{D13B3EEC-3F3F-42D4-949F-A37F49890F2B}" destId="{5F59C612-9537-4306-B675-59FC3A11A4B1}" srcOrd="1" destOrd="0" parTransId="{516D2DA6-1C5E-4047-94D1-B09D0CEB2BA3}" sibTransId="{36481970-5DFB-4122-93A0-DFF090A3AC5A}"/>
    <dgm:cxn modelId="{1247FF5A-F145-47BA-8553-04EF8A196D67}" srcId="{068F8E9C-F855-47F9-B55B-A6A68C91B775}" destId="{B012ACE8-88AA-46CF-A895-59CCA803EDB5}" srcOrd="3" destOrd="0" parTransId="{A3098587-4513-44CF-A46C-56192A4A3DE0}" sibTransId="{DE301333-89D0-46A8-BC43-D9B888FCED62}"/>
    <dgm:cxn modelId="{E87D9561-B179-4DC4-A0E7-067E339BC492}" srcId="{068F8E9C-F855-47F9-B55B-A6A68C91B775}" destId="{E88AD862-CCE8-4BCB-84F2-B0C4188C5E22}" srcOrd="0" destOrd="0" parTransId="{1A0C1AB4-DFDB-4F94-A27A-CCAD40F7D4E8}" sibTransId="{2CA19E52-34BA-4DC6-B654-A4BF2501CE10}"/>
    <dgm:cxn modelId="{56302CB1-6E88-49A0-9FF0-CBF1CAA87015}" srcId="{9A4C0897-65C9-4D9A-AF41-8C82E8A1C916}" destId="{02CC35B6-28B8-464B-8218-E07133A1B48B}" srcOrd="5" destOrd="0" parTransId="{0CA8619D-36E9-4717-A938-330B873683AE}" sibTransId="{9979C024-ABC4-4D41-8CF6-F2E5F235C9D0}"/>
    <dgm:cxn modelId="{5026A6D2-DB41-4788-90EF-5BB7D5667E18}" type="presOf" srcId="{AAE250C6-6577-4712-82F6-592B4B4739A9}" destId="{1B0DB736-9C8C-4E39-B3F5-692200E0A2EA}" srcOrd="0" destOrd="0" presId="urn:microsoft.com/office/officeart/2005/8/layout/vList2"/>
    <dgm:cxn modelId="{6F8BD7C0-4A8B-46CF-8AC3-F95C5CFB6ADA}" type="presOf" srcId="{BC9DAA39-5C31-47FD-BDCD-B6CFBBD682E2}" destId="{9C9192C8-1F65-46B3-86B8-0947E3B2064C}" srcOrd="0" destOrd="2" presId="urn:microsoft.com/office/officeart/2005/8/layout/vList2"/>
    <dgm:cxn modelId="{C9EDD705-4A37-4A35-A7E3-BABAE3C758F6}" type="presOf" srcId="{02CC35B6-28B8-464B-8218-E07133A1B48B}" destId="{06B82C05-62FC-4128-BB7D-12C4B3AE948A}" srcOrd="0" destOrd="0" presId="urn:microsoft.com/office/officeart/2005/8/layout/vList2"/>
    <dgm:cxn modelId="{4C33538E-9AF9-47B7-893A-848C6C370976}" type="presOf" srcId="{4A44BEF6-B48D-47C2-9C6B-BACF372027DC}" destId="{2D8FFCD5-EDC5-479E-8486-C753D09A41B6}" srcOrd="0" destOrd="0" presId="urn:microsoft.com/office/officeart/2005/8/layout/vList2"/>
    <dgm:cxn modelId="{550341B7-F0A5-4FE7-AA08-264B7A20B6AF}" type="presOf" srcId="{194A508F-123E-498E-9A26-E25FC3D82174}" destId="{E86D72E6-46A5-4ADC-8019-4BD084342D53}" srcOrd="0" destOrd="1" presId="urn:microsoft.com/office/officeart/2005/8/layout/vList2"/>
    <dgm:cxn modelId="{83A09027-DB5C-49FD-9935-6F361EB2C740}" type="presOf" srcId="{DA201FDA-82A3-4674-809F-A4BA6427897E}" destId="{9CD83E87-4CE4-4F55-A573-2603EC6414E3}" srcOrd="0" destOrd="0" presId="urn:microsoft.com/office/officeart/2005/8/layout/vList2"/>
    <dgm:cxn modelId="{AAA4F373-BEBD-467A-A8DC-CF76E160949A}" type="presOf" srcId="{6B48F48A-60B0-4642-950B-C0AA9A6978C3}" destId="{9CD83E87-4CE4-4F55-A573-2603EC6414E3}" srcOrd="0" destOrd="2" presId="urn:microsoft.com/office/officeart/2005/8/layout/vList2"/>
    <dgm:cxn modelId="{418593CA-26E2-40EF-BB2F-9FB40EE8A0EC}" type="presOf" srcId="{8CCD2BDA-82B8-4928-A272-B288D8CC5879}" destId="{9C9192C8-1F65-46B3-86B8-0947E3B2064C}" srcOrd="0" destOrd="0" presId="urn:microsoft.com/office/officeart/2005/8/layout/vList2"/>
    <dgm:cxn modelId="{28D5D8DF-DC27-4309-B6E1-88623CDA4022}" srcId="{068F8E9C-F855-47F9-B55B-A6A68C91B775}" destId="{61683D07-0C9C-4BDE-A92A-7701F66B4AE4}" srcOrd="2" destOrd="0" parTransId="{05D7471B-531E-4028-9875-346A436963A9}" sibTransId="{33AA2CDA-0538-4702-9146-2422A0BD37F6}"/>
    <dgm:cxn modelId="{4F309F37-7A3B-4978-AF80-8EF82D95D64A}" srcId="{AAE250C6-6577-4712-82F6-592B4B4739A9}" destId="{93060D19-F70B-4E74-A992-067F31D656A7}" srcOrd="1" destOrd="0" parTransId="{D3D5348C-4D0E-42BD-95C0-9DC43ABFFEEA}" sibTransId="{AA86F70B-E868-46BE-9B6C-E5EFE809D940}"/>
    <dgm:cxn modelId="{B95845D5-2F95-4650-B56E-FD5A35B39A12}" type="presOf" srcId="{E88AD862-CCE8-4BCB-84F2-B0C4188C5E22}" destId="{06A1F401-57F5-4B93-999D-ACDA9CD6E830}" srcOrd="0" destOrd="0" presId="urn:microsoft.com/office/officeart/2005/8/layout/vList2"/>
    <dgm:cxn modelId="{5364FC49-39D2-4546-BD8A-F0779335DE75}" srcId="{9A4C0897-65C9-4D9A-AF41-8C82E8A1C916}" destId="{AAE250C6-6577-4712-82F6-592B4B4739A9}" srcOrd="1" destOrd="0" parTransId="{669B0A2E-18FE-4FC9-9A2A-9C3E67A12FD1}" sibTransId="{9109B175-A430-44BA-B016-A2FBE41CF93C}"/>
    <dgm:cxn modelId="{F81B6539-6862-4715-84CC-E48F094A7F43}" type="presOf" srcId="{B98D8392-FB27-4752-BE1B-F50F8E217DD1}" destId="{9CD83E87-4CE4-4F55-A573-2603EC6414E3}" srcOrd="0" destOrd="1" presId="urn:microsoft.com/office/officeart/2005/8/layout/vList2"/>
    <dgm:cxn modelId="{AE71FD71-8E20-4CF2-8032-33FCC143218F}" type="presOf" srcId="{6FF65AC3-10AE-436A-9D5A-A884CB64EFEC}" destId="{EC3CC386-049B-4E38-8D5B-055DBA2EBEE3}" srcOrd="0" destOrd="0" presId="urn:microsoft.com/office/officeart/2005/8/layout/vList2"/>
    <dgm:cxn modelId="{755A3D66-1C62-443F-B742-B005965AD95F}" type="presOf" srcId="{93060D19-F70B-4E74-A992-067F31D656A7}" destId="{A2C61660-0C2C-4119-8379-5F82A7F9BAF6}" srcOrd="0" destOrd="1" presId="urn:microsoft.com/office/officeart/2005/8/layout/vList2"/>
    <dgm:cxn modelId="{3C649DF9-24E1-49EA-B30C-78F6A5B03EBB}" srcId="{4A44BEF6-B48D-47C2-9C6B-BACF372027DC}" destId="{7B930E67-3242-44CB-869C-596F15E5F9E9}" srcOrd="1" destOrd="0" parTransId="{F953434B-BA10-4C5F-A4CD-142B97BD5AE1}" sibTransId="{8AC04EEC-5919-4A3A-9517-E949D565B367}"/>
    <dgm:cxn modelId="{02523884-C7D8-4B64-A843-627E1B54E1D3}" type="presOf" srcId="{5CAEECCF-6CDF-41C4-91D8-14230975E224}" destId="{E86D72E6-46A5-4ADC-8019-4BD084342D53}" srcOrd="0" destOrd="2" presId="urn:microsoft.com/office/officeart/2005/8/layout/vList2"/>
    <dgm:cxn modelId="{F2493A8D-EE55-45A4-A7C9-BDEA4E1066A3}" srcId="{6FF65AC3-10AE-436A-9D5A-A884CB64EFEC}" destId="{DA201FDA-82A3-4674-809F-A4BA6427897E}" srcOrd="0" destOrd="0" parTransId="{73BA85D9-7997-4813-8C21-468C2B264227}" sibTransId="{7F44B508-F483-4849-97A8-C0B7EDDF41AE}"/>
    <dgm:cxn modelId="{1742A3BA-FCB8-4921-B48F-040F4E6666EE}" type="presOf" srcId="{5F59C612-9537-4306-B675-59FC3A11A4B1}" destId="{D8F08FD2-4204-40EB-A469-C0D0E460B5D7}" srcOrd="0" destOrd="1" presId="urn:microsoft.com/office/officeart/2005/8/layout/vList2"/>
    <dgm:cxn modelId="{AF073B89-2471-4402-81DC-A406B7BCD667}" srcId="{9A4C0897-65C9-4D9A-AF41-8C82E8A1C916}" destId="{D13B3EEC-3F3F-42D4-949F-A37F49890F2B}" srcOrd="4" destOrd="0" parTransId="{ED168F77-9D83-4CE4-9660-7B9B0EE35921}" sibTransId="{9ED91A85-105C-48BF-96D9-468227DAFC80}"/>
    <dgm:cxn modelId="{02A40ECC-35E3-43BC-8A30-31432637BBD5}" srcId="{02CC35B6-28B8-464B-8218-E07133A1B48B}" destId="{611A0B3E-27D2-45D8-A81E-0DB0CF728CCE}" srcOrd="0" destOrd="0" parTransId="{2C937515-1383-4EA3-9A41-F64A5A4729A8}" sibTransId="{F1E1B24B-B737-45B7-A442-81AC3C8B2588}"/>
    <dgm:cxn modelId="{734B80EB-A880-4EE8-AD62-2C4FAEA403C9}" type="presOf" srcId="{7B930E67-3242-44CB-869C-596F15E5F9E9}" destId="{9C9192C8-1F65-46B3-86B8-0947E3B2064C}" srcOrd="0" destOrd="1" presId="urn:microsoft.com/office/officeart/2005/8/layout/vList2"/>
    <dgm:cxn modelId="{8C38EE06-C0E5-4F56-AA5D-E6E5054C1A91}" srcId="{4A44BEF6-B48D-47C2-9C6B-BACF372027DC}" destId="{BC9DAA39-5C31-47FD-BDCD-B6CFBBD682E2}" srcOrd="2" destOrd="0" parTransId="{DEFE3360-BF89-4D69-A7E8-89BF81257E92}" sibTransId="{D32A8FDD-B765-407B-B0A9-275A360C4697}"/>
    <dgm:cxn modelId="{115E9A82-3F8C-48CF-B5AB-B847A7D639AE}" type="presOf" srcId="{A414D77D-650F-4071-BB31-246B49EB28F1}" destId="{D8F08FD2-4204-40EB-A469-C0D0E460B5D7}" srcOrd="0" destOrd="2" presId="urn:microsoft.com/office/officeart/2005/8/layout/vList2"/>
    <dgm:cxn modelId="{304C72E0-9097-44E9-8643-77A8CBB5BE22}" type="presParOf" srcId="{02DDF34C-AE9E-4C5C-B688-9B545B8BF37A}" destId="{2D8FFCD5-EDC5-479E-8486-C753D09A41B6}" srcOrd="0" destOrd="0" presId="urn:microsoft.com/office/officeart/2005/8/layout/vList2"/>
    <dgm:cxn modelId="{E7311358-D07B-4ABE-AE04-014A1FDAAB8C}" type="presParOf" srcId="{02DDF34C-AE9E-4C5C-B688-9B545B8BF37A}" destId="{9C9192C8-1F65-46B3-86B8-0947E3B2064C}" srcOrd="1" destOrd="0" presId="urn:microsoft.com/office/officeart/2005/8/layout/vList2"/>
    <dgm:cxn modelId="{FC71EAD6-F31D-4C40-B4D6-0214977BDF7B}" type="presParOf" srcId="{02DDF34C-AE9E-4C5C-B688-9B545B8BF37A}" destId="{1B0DB736-9C8C-4E39-B3F5-692200E0A2EA}" srcOrd="2" destOrd="0" presId="urn:microsoft.com/office/officeart/2005/8/layout/vList2"/>
    <dgm:cxn modelId="{D0744BD7-BA47-48A6-B5D8-7E3EC9ED8BDF}" type="presParOf" srcId="{02DDF34C-AE9E-4C5C-B688-9B545B8BF37A}" destId="{A2C61660-0C2C-4119-8379-5F82A7F9BAF6}" srcOrd="3" destOrd="0" presId="urn:microsoft.com/office/officeart/2005/8/layout/vList2"/>
    <dgm:cxn modelId="{D3C7D0D6-D941-439E-BC9C-B0DC56340ADB}" type="presParOf" srcId="{02DDF34C-AE9E-4C5C-B688-9B545B8BF37A}" destId="{EC3CC386-049B-4E38-8D5B-055DBA2EBEE3}" srcOrd="4" destOrd="0" presId="urn:microsoft.com/office/officeart/2005/8/layout/vList2"/>
    <dgm:cxn modelId="{281A9069-534D-45F9-AF2E-0637A8E7317B}" type="presParOf" srcId="{02DDF34C-AE9E-4C5C-B688-9B545B8BF37A}" destId="{9CD83E87-4CE4-4F55-A573-2603EC6414E3}" srcOrd="5" destOrd="0" presId="urn:microsoft.com/office/officeart/2005/8/layout/vList2"/>
    <dgm:cxn modelId="{C8DA9EC2-047F-4DFE-A071-E2647C36CB85}" type="presParOf" srcId="{02DDF34C-AE9E-4C5C-B688-9B545B8BF37A}" destId="{E3CAE218-C79F-4936-8C3A-2556C9FEBCFC}" srcOrd="6" destOrd="0" presId="urn:microsoft.com/office/officeart/2005/8/layout/vList2"/>
    <dgm:cxn modelId="{99E4516A-ED29-40B4-8CC5-EB248984CDE3}" type="presParOf" srcId="{02DDF34C-AE9E-4C5C-B688-9B545B8BF37A}" destId="{06A1F401-57F5-4B93-999D-ACDA9CD6E830}" srcOrd="7" destOrd="0" presId="urn:microsoft.com/office/officeart/2005/8/layout/vList2"/>
    <dgm:cxn modelId="{19FAC32D-657F-49A8-B067-AA743468FEF3}" type="presParOf" srcId="{02DDF34C-AE9E-4C5C-B688-9B545B8BF37A}" destId="{26B3663F-67A1-4181-B690-CC922584735A}" srcOrd="8" destOrd="0" presId="urn:microsoft.com/office/officeart/2005/8/layout/vList2"/>
    <dgm:cxn modelId="{95472ED6-91E7-4BF4-BAAB-47739733140F}" type="presParOf" srcId="{02DDF34C-AE9E-4C5C-B688-9B545B8BF37A}" destId="{D8F08FD2-4204-40EB-A469-C0D0E460B5D7}" srcOrd="9" destOrd="0" presId="urn:microsoft.com/office/officeart/2005/8/layout/vList2"/>
    <dgm:cxn modelId="{B1023E0B-3459-40C3-A901-95E83C65FA17}" type="presParOf" srcId="{02DDF34C-AE9E-4C5C-B688-9B545B8BF37A}" destId="{06B82C05-62FC-4128-BB7D-12C4B3AE948A}" srcOrd="10" destOrd="0" presId="urn:microsoft.com/office/officeart/2005/8/layout/vList2"/>
    <dgm:cxn modelId="{561869A9-212D-49F0-A7BC-9AAF981132C3}" type="presParOf" srcId="{02DDF34C-AE9E-4C5C-B688-9B545B8BF37A}" destId="{E86D72E6-46A5-4ADC-8019-4BD084342D53}"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FFCD5-EDC5-479E-8486-C753D09A41B6}">
      <dsp:nvSpPr>
        <dsp:cNvPr id="0" name=""/>
        <dsp:cNvSpPr/>
      </dsp:nvSpPr>
      <dsp:spPr>
        <a:xfrm>
          <a:off x="0" y="4264"/>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Työpaja: testauskohteena </a:t>
          </a:r>
          <a:r>
            <a:rPr lang="fi-FI" sz="1200" kern="1200" dirty="0" err="1" smtClean="0"/>
            <a:t>Boggle</a:t>
          </a:r>
          <a:r>
            <a:rPr lang="fi-FI" sz="1200" kern="1200" dirty="0" smtClean="0"/>
            <a:t> </a:t>
          </a:r>
          <a:r>
            <a:rPr lang="fi-FI" sz="1200" kern="1200" dirty="0" err="1" smtClean="0"/>
            <a:t>Flash</a:t>
          </a:r>
          <a:endParaRPr lang="fi-FI" sz="1200" kern="1200" dirty="0"/>
        </a:p>
      </dsp:txBody>
      <dsp:txXfrm>
        <a:off x="13972" y="18236"/>
        <a:ext cx="7039184" cy="258277"/>
      </dsp:txXfrm>
    </dsp:sp>
    <dsp:sp modelId="{9C9192C8-1F65-46B3-86B8-0947E3B2064C}">
      <dsp:nvSpPr>
        <dsp:cNvPr id="0" name=""/>
        <dsp:cNvSpPr/>
      </dsp:nvSpPr>
      <dsp:spPr>
        <a:xfrm>
          <a:off x="0" y="290485"/>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Määrittelyn mukaisen toiminnan testaus: pistelasku</a:t>
          </a:r>
          <a:endParaRPr lang="en-US" sz="1050" kern="1200" dirty="0"/>
        </a:p>
        <a:p>
          <a:pPr marL="57150" lvl="1" indent="-57150" algn="l" defTabSz="466725" rtl="0">
            <a:lnSpc>
              <a:spcPct val="90000"/>
            </a:lnSpc>
            <a:spcBef>
              <a:spcPct val="0"/>
            </a:spcBef>
            <a:spcAft>
              <a:spcPct val="20000"/>
            </a:spcAft>
            <a:buChar char="••"/>
          </a:pPr>
          <a:r>
            <a:rPr lang="fi-FI" sz="1050" kern="1200" dirty="0" smtClean="0"/>
            <a:t>Muistiinpanot testatessa</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Testattavuuden merkitys</a:t>
          </a:r>
          <a:endParaRPr lang="en-US" sz="1050" kern="1200" dirty="0"/>
        </a:p>
      </dsp:txBody>
      <dsp:txXfrm>
        <a:off x="0" y="290485"/>
        <a:ext cx="7067128" cy="516520"/>
      </dsp:txXfrm>
    </dsp:sp>
    <dsp:sp modelId="{1B0DB736-9C8C-4E39-B3F5-692200E0A2EA}">
      <dsp:nvSpPr>
        <dsp:cNvPr id="0" name=""/>
        <dsp:cNvSpPr/>
      </dsp:nvSpPr>
      <dsp:spPr>
        <a:xfrm>
          <a:off x="0" y="807005"/>
          <a:ext cx="7067128" cy="28622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Heuristinen testisuunnittelu: monipuolinen testauskohteen analysointi</a:t>
          </a:r>
          <a:endParaRPr lang="en-US" sz="1200" kern="1200" dirty="0"/>
        </a:p>
      </dsp:txBody>
      <dsp:txXfrm>
        <a:off x="13972" y="820977"/>
        <a:ext cx="7039184" cy="258277"/>
      </dsp:txXfrm>
    </dsp:sp>
    <dsp:sp modelId="{A2C61660-0C2C-4119-8379-5F82A7F9BAF6}">
      <dsp:nvSpPr>
        <dsp:cNvPr id="0" name=""/>
        <dsp:cNvSpPr/>
      </dsp:nvSpPr>
      <dsp:spPr>
        <a:xfrm>
          <a:off x="0" y="109322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SFDPOT – testattavan ominaisuuden analysointi</a:t>
          </a:r>
          <a:endParaRPr lang="en-US" sz="1050" kern="1200" dirty="0"/>
        </a:p>
        <a:p>
          <a:pPr marL="57150" lvl="1" indent="-57150" algn="l" defTabSz="466725" rtl="0">
            <a:lnSpc>
              <a:spcPct val="90000"/>
            </a:lnSpc>
            <a:spcBef>
              <a:spcPct val="0"/>
            </a:spcBef>
            <a:spcAft>
              <a:spcPct val="20000"/>
            </a:spcAft>
            <a:buChar char="••"/>
          </a:pPr>
          <a:r>
            <a:rPr lang="fi-FI" sz="1050" kern="1200" dirty="0" smtClean="0"/>
            <a:t>Monipuolisen ajattelun harjoittaminen, monipuoliset heuristiikat</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Soveltaminen </a:t>
          </a:r>
          <a:r>
            <a:rPr lang="fi-FI" sz="1050" kern="1200" dirty="0" err="1" smtClean="0"/>
            <a:t>Freemind</a:t>
          </a:r>
          <a:r>
            <a:rPr lang="fi-FI" sz="1050" kern="1200" dirty="0" smtClean="0"/>
            <a:t> Etsi ja korvaa -toiminnolle</a:t>
          </a:r>
          <a:endParaRPr lang="en-US" sz="1050" kern="1200" dirty="0"/>
        </a:p>
      </dsp:txBody>
      <dsp:txXfrm>
        <a:off x="0" y="1093227"/>
        <a:ext cx="7067128" cy="516520"/>
      </dsp:txXfrm>
    </dsp:sp>
    <dsp:sp modelId="{EC3CC386-049B-4E38-8D5B-055DBA2EBEE3}">
      <dsp:nvSpPr>
        <dsp:cNvPr id="0" name=""/>
        <dsp:cNvSpPr/>
      </dsp:nvSpPr>
      <dsp:spPr>
        <a:xfrm>
          <a:off x="0" y="1609747"/>
          <a:ext cx="7067128" cy="28622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Riskiperusteinen testisuunnittelu: lunttilapulla alkuun ja monipuolinen ymmärrys virheistä</a:t>
          </a:r>
          <a:endParaRPr lang="en-US" sz="1200" kern="1200" dirty="0"/>
        </a:p>
      </dsp:txBody>
      <dsp:txXfrm>
        <a:off x="13972" y="1623719"/>
        <a:ext cx="7039184" cy="258277"/>
      </dsp:txXfrm>
    </dsp:sp>
    <dsp:sp modelId="{9CD83E87-4CE4-4F55-A573-2603EC6414E3}">
      <dsp:nvSpPr>
        <dsp:cNvPr id="0" name=""/>
        <dsp:cNvSpPr/>
      </dsp:nvSpPr>
      <dsp:spPr>
        <a:xfrm>
          <a:off x="0" y="1895969"/>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Lunttilappu: 2 A4:sta testauksen tiivistettyä kansanviisautta</a:t>
          </a:r>
          <a:endParaRPr lang="en-US" sz="1050" kern="1200" dirty="0"/>
        </a:p>
        <a:p>
          <a:pPr marL="57150" lvl="1" indent="-57150" algn="l" defTabSz="466725" rtl="0">
            <a:lnSpc>
              <a:spcPct val="90000"/>
            </a:lnSpc>
            <a:spcBef>
              <a:spcPct val="0"/>
            </a:spcBef>
            <a:spcAft>
              <a:spcPct val="20000"/>
            </a:spcAft>
            <a:buChar char="••"/>
          </a:pPr>
          <a:r>
            <a:rPr lang="fi-FI" sz="1050" kern="1200" dirty="0" smtClean="0"/>
            <a:t>Virheiden tunnistamisen kyky, esimerkkejä virheistä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mistä tietää että asennus toimii?</a:t>
          </a:r>
          <a:endParaRPr lang="en-US" sz="1050" kern="1200" dirty="0"/>
        </a:p>
      </dsp:txBody>
      <dsp:txXfrm>
        <a:off x="0" y="1895969"/>
        <a:ext cx="7067128" cy="516520"/>
      </dsp:txXfrm>
    </dsp:sp>
    <dsp:sp modelId="{E3CAE218-C79F-4936-8C3A-2556C9FEBCFC}">
      <dsp:nvSpPr>
        <dsp:cNvPr id="0" name=""/>
        <dsp:cNvSpPr/>
      </dsp:nvSpPr>
      <dsp:spPr>
        <a:xfrm>
          <a:off x="0" y="2412489"/>
          <a:ext cx="7067128" cy="28622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Arvo-alueisiin perustuva testisuunnittelu</a:t>
          </a:r>
          <a:endParaRPr lang="en-US" sz="1200" kern="1200" dirty="0"/>
        </a:p>
      </dsp:txBody>
      <dsp:txXfrm>
        <a:off x="13972" y="2426461"/>
        <a:ext cx="7039184" cy="258277"/>
      </dsp:txXfrm>
    </dsp:sp>
    <dsp:sp modelId="{06A1F401-57F5-4B93-999D-ACDA9CD6E830}">
      <dsp:nvSpPr>
        <dsp:cNvPr id="0" name=""/>
        <dsp:cNvSpPr/>
      </dsp:nvSpPr>
      <dsp:spPr>
        <a:xfrm>
          <a:off x="0" y="2698711"/>
          <a:ext cx="7067128" cy="688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Toimintojen laajentaminen käsiteltävällä aineistolla</a:t>
          </a:r>
          <a:endParaRPr lang="en-US" sz="1050" kern="1200" dirty="0"/>
        </a:p>
        <a:p>
          <a:pPr marL="57150" lvl="1" indent="-57150" algn="l" defTabSz="466725" rtl="0">
            <a:lnSpc>
              <a:spcPct val="90000"/>
            </a:lnSpc>
            <a:spcBef>
              <a:spcPct val="0"/>
            </a:spcBef>
            <a:spcAft>
              <a:spcPct val="20000"/>
            </a:spcAft>
            <a:buChar char="••"/>
          </a:pPr>
          <a:r>
            <a:rPr lang="fi-FI" sz="1050" kern="1200" dirty="0" smtClean="0"/>
            <a:t>Ekvivalenssiluokat ja raja-arvot, yksittäisistä muuttujista muuttujapareihin ja yhdistelmiin</a:t>
          </a:r>
          <a:endParaRPr lang="en-US" sz="1050" kern="1200" dirty="0"/>
        </a:p>
        <a:p>
          <a:pPr marL="57150" lvl="1" indent="-57150" algn="l" defTabSz="466725" rtl="0">
            <a:lnSpc>
              <a:spcPct val="90000"/>
            </a:lnSpc>
            <a:spcBef>
              <a:spcPct val="0"/>
            </a:spcBef>
            <a:spcAft>
              <a:spcPct val="20000"/>
            </a:spcAft>
            <a:buChar char="••"/>
          </a:pPr>
          <a:r>
            <a:rPr lang="fi-FI" sz="1050" kern="1200" dirty="0" smtClean="0"/>
            <a:t>Testiaineiston uudelleenkäytön suunnittelu</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riittävien syötteiden tunnistaminen ja tulosten kuvaaminen testitapauksiin</a:t>
          </a:r>
          <a:endParaRPr lang="en-US" sz="1050" kern="1200" dirty="0"/>
        </a:p>
      </dsp:txBody>
      <dsp:txXfrm>
        <a:off x="0" y="2698711"/>
        <a:ext cx="7067128" cy="688693"/>
      </dsp:txXfrm>
    </dsp:sp>
    <dsp:sp modelId="{26B3663F-67A1-4181-B690-CC922584735A}">
      <dsp:nvSpPr>
        <dsp:cNvPr id="0" name=""/>
        <dsp:cNvSpPr/>
      </dsp:nvSpPr>
      <dsp:spPr>
        <a:xfrm>
          <a:off x="0" y="3387404"/>
          <a:ext cx="7067128" cy="2862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Vaatimusperusteinen testisuunnittelu</a:t>
          </a:r>
          <a:endParaRPr lang="en-US" sz="1200" kern="1200" dirty="0"/>
        </a:p>
      </dsp:txBody>
      <dsp:txXfrm>
        <a:off x="13972" y="3401376"/>
        <a:ext cx="7039184" cy="258277"/>
      </dsp:txXfrm>
    </dsp:sp>
    <dsp:sp modelId="{D8F08FD2-4204-40EB-A469-C0D0E460B5D7}">
      <dsp:nvSpPr>
        <dsp:cNvPr id="0" name=""/>
        <dsp:cNvSpPr/>
      </dsp:nvSpPr>
      <dsp:spPr>
        <a:xfrm>
          <a:off x="0" y="3673626"/>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Määrittelyjen lukeminen testaajana</a:t>
          </a:r>
          <a:endParaRPr lang="en-US" sz="1050" kern="1200" dirty="0"/>
        </a:p>
        <a:p>
          <a:pPr marL="57150" lvl="1" indent="-57150" algn="l" defTabSz="466725" rtl="0">
            <a:lnSpc>
              <a:spcPct val="90000"/>
            </a:lnSpc>
            <a:spcBef>
              <a:spcPct val="0"/>
            </a:spcBef>
            <a:spcAft>
              <a:spcPct val="20000"/>
            </a:spcAft>
            <a:buChar char="••"/>
          </a:pPr>
          <a:r>
            <a:rPr lang="fi-FI" sz="1050" kern="1200" dirty="0" smtClean="0"/>
            <a:t>Osittava ja kokoava testisuunnittelu vaatimuksiin pohjautuen</a:t>
          </a:r>
          <a:endParaRPr lang="en-US" sz="1050" kern="1200" dirty="0"/>
        </a:p>
        <a:p>
          <a:pPr marL="57150" lvl="1" indent="-57150" algn="l" defTabSz="466725" rtl="0">
            <a:lnSpc>
              <a:spcPct val="90000"/>
            </a:lnSpc>
            <a:spcBef>
              <a:spcPct val="0"/>
            </a:spcBef>
            <a:spcAft>
              <a:spcPct val="20000"/>
            </a:spcAft>
            <a:buChar char="••"/>
          </a:pPr>
          <a:r>
            <a:rPr lang="fi-FI" sz="1050" kern="1200" dirty="0" smtClean="0"/>
            <a:t>Harjoitus: skenaariotesti ja määrittelyn tarkistuslista</a:t>
          </a:r>
          <a:endParaRPr lang="en-US" sz="1050" kern="1200" dirty="0"/>
        </a:p>
      </dsp:txBody>
      <dsp:txXfrm>
        <a:off x="0" y="3673626"/>
        <a:ext cx="7067128" cy="516520"/>
      </dsp:txXfrm>
    </dsp:sp>
    <dsp:sp modelId="{06B82C05-62FC-4128-BB7D-12C4B3AE948A}">
      <dsp:nvSpPr>
        <dsp:cNvPr id="0" name=""/>
        <dsp:cNvSpPr/>
      </dsp:nvSpPr>
      <dsp:spPr>
        <a:xfrm>
          <a:off x="0" y="4190146"/>
          <a:ext cx="7067128" cy="2862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l" defTabSz="533400" rtl="0">
            <a:lnSpc>
              <a:spcPct val="90000"/>
            </a:lnSpc>
            <a:spcBef>
              <a:spcPct val="0"/>
            </a:spcBef>
            <a:spcAft>
              <a:spcPct val="35000"/>
            </a:spcAft>
          </a:pPr>
          <a:r>
            <a:rPr lang="fi-FI" sz="1200" kern="1200" dirty="0" smtClean="0"/>
            <a:t>Testitapausten suunnittelun tiekartta</a:t>
          </a:r>
          <a:endParaRPr lang="en-US" sz="1200" kern="1200" dirty="0"/>
        </a:p>
      </dsp:txBody>
      <dsp:txXfrm>
        <a:off x="13972" y="4204118"/>
        <a:ext cx="7039184" cy="258277"/>
      </dsp:txXfrm>
    </dsp:sp>
    <dsp:sp modelId="{E86D72E6-46A5-4ADC-8019-4BD084342D53}">
      <dsp:nvSpPr>
        <dsp:cNvPr id="0" name=""/>
        <dsp:cNvSpPr/>
      </dsp:nvSpPr>
      <dsp:spPr>
        <a:xfrm>
          <a:off x="0" y="4476367"/>
          <a:ext cx="7067128" cy="5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381" tIns="13970" rIns="78232" bIns="13970" numCol="1" spcCol="1270" anchor="t" anchorCtr="0">
          <a:noAutofit/>
        </a:bodyPr>
        <a:lstStyle/>
        <a:p>
          <a:pPr marL="57150" lvl="1" indent="-57150" algn="l" defTabSz="466725" rtl="0">
            <a:lnSpc>
              <a:spcPct val="90000"/>
            </a:lnSpc>
            <a:spcBef>
              <a:spcPct val="0"/>
            </a:spcBef>
            <a:spcAft>
              <a:spcPct val="20000"/>
            </a:spcAft>
            <a:buChar char="••"/>
          </a:pPr>
          <a:r>
            <a:rPr lang="fi-FI" sz="1050" kern="1200" dirty="0" smtClean="0"/>
            <a:t>Testitapausten suunnittelun tekniikat ja valinta</a:t>
          </a:r>
          <a:endParaRPr lang="en-US" sz="1050" kern="1200" dirty="0"/>
        </a:p>
        <a:p>
          <a:pPr marL="57150" lvl="1" indent="-57150" algn="l" defTabSz="466725" rtl="0">
            <a:lnSpc>
              <a:spcPct val="90000"/>
            </a:lnSpc>
            <a:spcBef>
              <a:spcPct val="0"/>
            </a:spcBef>
            <a:spcAft>
              <a:spcPct val="20000"/>
            </a:spcAft>
            <a:buChar char="••"/>
          </a:pPr>
          <a:r>
            <a:rPr lang="fi-FI" sz="1050" kern="1200" dirty="0" smtClean="0"/>
            <a:t>Kokonaisvaltainen testausstrategia: testauksen nelikenttä</a:t>
          </a:r>
          <a:endParaRPr lang="en-US" sz="1050" kern="1200" dirty="0"/>
        </a:p>
        <a:p>
          <a:pPr marL="57150" lvl="1" indent="-57150" algn="l" defTabSz="466725" rtl="0">
            <a:lnSpc>
              <a:spcPct val="90000"/>
            </a:lnSpc>
            <a:spcBef>
              <a:spcPct val="0"/>
            </a:spcBef>
            <a:spcAft>
              <a:spcPct val="20000"/>
            </a:spcAft>
            <a:buChar char="••"/>
          </a:pPr>
          <a:r>
            <a:rPr lang="fi-FI" sz="1050" kern="1200" dirty="0" smtClean="0"/>
            <a:t>Kasvusuunnat ja opin lähteet</a:t>
          </a:r>
          <a:endParaRPr lang="en-US" sz="1050" kern="1200" dirty="0"/>
        </a:p>
      </dsp:txBody>
      <dsp:txXfrm>
        <a:off x="0" y="4476367"/>
        <a:ext cx="7067128" cy="5165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9.wmf"/><Relationship Id="rId4" Type="http://schemas.openxmlformats.org/officeDocument/2006/relationships/image" Target="../media/image20.wmf"/><Relationship Id="rId1" Type="http://schemas.openxmlformats.org/officeDocument/2006/relationships/image" Target="../media/image17.wmf"/><Relationship Id="rId2"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19413" cy="4937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14763" y="1"/>
            <a:ext cx="2919412" cy="493713"/>
          </a:xfrm>
          <a:prstGeom prst="rect">
            <a:avLst/>
          </a:prstGeom>
        </p:spPr>
        <p:txBody>
          <a:bodyPr vert="horz" lIns="91440" tIns="45720" rIns="91440" bIns="45720" rtlCol="0"/>
          <a:lstStyle>
            <a:lvl1pPr algn="r">
              <a:defRPr sz="1200"/>
            </a:lvl1pPr>
          </a:lstStyle>
          <a:p>
            <a:fld id="{4AC34137-6695-7044-BFB2-F873240882D6}" type="datetimeFigureOut">
              <a:rPr lang="en-US" smtClean="0"/>
              <a:t>23/04/15</a:t>
            </a:fld>
            <a:endParaRPr lang="en-US"/>
          </a:p>
        </p:txBody>
      </p:sp>
      <p:sp>
        <p:nvSpPr>
          <p:cNvPr id="4" name="Footer Placeholder 3"/>
          <p:cNvSpPr>
            <a:spLocks noGrp="1"/>
          </p:cNvSpPr>
          <p:nvPr>
            <p:ph type="ftr" sz="quarter" idx="2"/>
          </p:nvPr>
        </p:nvSpPr>
        <p:spPr>
          <a:xfrm>
            <a:off x="1" y="9374188"/>
            <a:ext cx="2919413" cy="4937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14763" y="9374188"/>
            <a:ext cx="2919412" cy="493712"/>
          </a:xfrm>
          <a:prstGeom prst="rect">
            <a:avLst/>
          </a:prstGeom>
        </p:spPr>
        <p:txBody>
          <a:bodyPr vert="horz" lIns="91440" tIns="45720" rIns="91440" bIns="45720" rtlCol="0" anchor="b"/>
          <a:lstStyle>
            <a:lvl1pPr algn="r">
              <a:defRPr sz="1200"/>
            </a:lvl1pPr>
          </a:lstStyle>
          <a:p>
            <a:fld id="{F7C0E84C-96FD-EC46-8CBB-27F83E33572B}" type="slidenum">
              <a:rPr lang="en-US" smtClean="0"/>
              <a:t>‹#›</a:t>
            </a:fld>
            <a:endParaRPr lang="en-US"/>
          </a:p>
        </p:txBody>
      </p:sp>
    </p:spTree>
    <p:extLst>
      <p:ext uri="{BB962C8B-B14F-4D97-AF65-F5344CB8AC3E}">
        <p14:creationId xmlns:p14="http://schemas.microsoft.com/office/powerpoint/2010/main" val="1071755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1" y="0"/>
            <a:ext cx="2918831" cy="493474"/>
          </a:xfrm>
          <a:prstGeom prst="rect">
            <a:avLst/>
          </a:prstGeom>
        </p:spPr>
        <p:txBody>
          <a:bodyPr vert="horz" lIns="91440" tIns="45720" rIns="91440" bIns="45720" rtlCol="0"/>
          <a:lstStyle>
            <a:lvl1pPr algn="l">
              <a:defRPr sz="1200"/>
            </a:lvl1pPr>
          </a:lstStyle>
          <a:p>
            <a:endParaRPr lang="en-US"/>
          </a:p>
        </p:txBody>
      </p:sp>
      <p:sp>
        <p:nvSpPr>
          <p:cNvPr id="3" name="Päivämäärän paikkamerkki 2"/>
          <p:cNvSpPr>
            <a:spLocks noGrp="1"/>
          </p:cNvSpPr>
          <p:nvPr>
            <p:ph type="dt" idx="1"/>
          </p:nvPr>
        </p:nvSpPr>
        <p:spPr>
          <a:xfrm>
            <a:off x="3815374" y="0"/>
            <a:ext cx="2918831" cy="493474"/>
          </a:xfrm>
          <a:prstGeom prst="rect">
            <a:avLst/>
          </a:prstGeom>
        </p:spPr>
        <p:txBody>
          <a:bodyPr vert="horz" lIns="91440" tIns="45720" rIns="91440" bIns="45720" rtlCol="0"/>
          <a:lstStyle>
            <a:lvl1pPr algn="r">
              <a:defRPr sz="1200"/>
            </a:lvl1pPr>
          </a:lstStyle>
          <a:p>
            <a:fld id="{CA9B1B12-C022-4A99-B8AB-DC6190845CFD}" type="datetimeFigureOut">
              <a:rPr lang="en-US" smtClean="0"/>
              <a:pPr/>
              <a:t>23/04/15</a:t>
            </a:fld>
            <a:endParaRPr lang="en-US"/>
          </a:p>
        </p:txBody>
      </p:sp>
      <p:sp>
        <p:nvSpPr>
          <p:cNvPr id="4" name="Dian kuvan paikkamerkki 3"/>
          <p:cNvSpPr>
            <a:spLocks noGrp="1" noRot="1" noChangeAspect="1"/>
          </p:cNvSpPr>
          <p:nvPr>
            <p:ph type="sldImg" idx="2"/>
          </p:nvPr>
        </p:nvSpPr>
        <p:spPr>
          <a:xfrm>
            <a:off x="900113" y="739775"/>
            <a:ext cx="4935537" cy="3703638"/>
          </a:xfrm>
          <a:prstGeom prst="rect">
            <a:avLst/>
          </a:prstGeom>
          <a:noFill/>
          <a:ln w="12700">
            <a:solidFill>
              <a:prstClr val="black"/>
            </a:solidFill>
          </a:ln>
        </p:spPr>
        <p:txBody>
          <a:bodyPr vert="horz" lIns="91440" tIns="45720" rIns="91440" bIns="45720" rtlCol="0" anchor="ctr"/>
          <a:lstStyle/>
          <a:p>
            <a:endParaRPr lang="en-US"/>
          </a:p>
        </p:txBody>
      </p:sp>
      <p:sp>
        <p:nvSpPr>
          <p:cNvPr id="5" name="Huomautusten paikkamerkki 4"/>
          <p:cNvSpPr>
            <a:spLocks noGrp="1"/>
          </p:cNvSpPr>
          <p:nvPr>
            <p:ph type="body" sz="quarter" idx="3"/>
          </p:nvPr>
        </p:nvSpPr>
        <p:spPr>
          <a:xfrm>
            <a:off x="673577" y="4688006"/>
            <a:ext cx="5388610" cy="4441271"/>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6" name="Alatunnisteen paikkamerkki 5"/>
          <p:cNvSpPr>
            <a:spLocks noGrp="1"/>
          </p:cNvSpPr>
          <p:nvPr>
            <p:ph type="ftr" sz="quarter" idx="4"/>
          </p:nvPr>
        </p:nvSpPr>
        <p:spPr>
          <a:xfrm>
            <a:off x="1" y="9374301"/>
            <a:ext cx="2918831" cy="493474"/>
          </a:xfrm>
          <a:prstGeom prst="rect">
            <a:avLst/>
          </a:prstGeom>
        </p:spPr>
        <p:txBody>
          <a:bodyPr vert="horz" lIns="91440" tIns="45720" rIns="91440" bIns="45720" rtlCol="0" anchor="b"/>
          <a:lstStyle>
            <a:lvl1pPr algn="l">
              <a:defRPr sz="1200"/>
            </a:lvl1pPr>
          </a:lstStyle>
          <a:p>
            <a:endParaRPr lang="en-US"/>
          </a:p>
        </p:txBody>
      </p:sp>
      <p:sp>
        <p:nvSpPr>
          <p:cNvPr id="7" name="Dian numeron paikkamerkki 6"/>
          <p:cNvSpPr>
            <a:spLocks noGrp="1"/>
          </p:cNvSpPr>
          <p:nvPr>
            <p:ph type="sldNum" sz="quarter" idx="5"/>
          </p:nvPr>
        </p:nvSpPr>
        <p:spPr>
          <a:xfrm>
            <a:off x="3815374" y="9374301"/>
            <a:ext cx="2918831" cy="493474"/>
          </a:xfrm>
          <a:prstGeom prst="rect">
            <a:avLst/>
          </a:prstGeom>
        </p:spPr>
        <p:txBody>
          <a:bodyPr vert="horz" lIns="91440" tIns="45720" rIns="91440" bIns="45720" rtlCol="0" anchor="b"/>
          <a:lstStyle>
            <a:lvl1pPr algn="r">
              <a:defRPr sz="1200"/>
            </a:lvl1pPr>
          </a:lstStyle>
          <a:p>
            <a:fld id="{A3CAE55B-CF5E-4CB9-82D9-590ECB5BAF3F}" type="slidenum">
              <a:rPr lang="en-US" smtClean="0"/>
              <a:pPr/>
              <a:t>‹#›</a:t>
            </a:fld>
            <a:endParaRPr lang="en-US"/>
          </a:p>
        </p:txBody>
      </p:sp>
    </p:spTree>
    <p:extLst>
      <p:ext uri="{BB962C8B-B14F-4D97-AF65-F5344CB8AC3E}">
        <p14:creationId xmlns:p14="http://schemas.microsoft.com/office/powerpoint/2010/main" val="190589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a:xfrm>
            <a:off x="900113" y="739775"/>
            <a:ext cx="4935537" cy="3703638"/>
          </a:xfrm>
        </p:spPr>
      </p:sp>
      <p:sp>
        <p:nvSpPr>
          <p:cNvPr id="3" name="Huomautusten paikkamerkki 2"/>
          <p:cNvSpPr>
            <a:spLocks noGrp="1"/>
          </p:cNvSpPr>
          <p:nvPr>
            <p:ph type="body" idx="1"/>
          </p:nvPr>
        </p:nvSpPr>
        <p:spPr/>
        <p:txBody>
          <a:bodyPr>
            <a:normAutofit fontScale="40000" lnSpcReduction="20000"/>
          </a:bodyPr>
          <a:lstStyle/>
          <a:p>
            <a:r>
              <a:rPr lang="fi-FI" dirty="0" smtClean="0"/>
              <a:t>STRUCTURE</a:t>
            </a:r>
          </a:p>
          <a:p>
            <a:r>
              <a:rPr lang="en-US" sz="2400" dirty="0" smtClean="0"/>
              <a:t>Print testing example</a:t>
            </a:r>
          </a:p>
          <a:p>
            <a:pPr lvl="1"/>
            <a:r>
              <a:rPr lang="en-US" sz="1800" dirty="0" smtClean="0"/>
              <a:t>Physical structure:  computer, printer, cables</a:t>
            </a:r>
          </a:p>
          <a:p>
            <a:pPr lvl="1"/>
            <a:r>
              <a:rPr lang="en-US" sz="1800" dirty="0" smtClean="0"/>
              <a:t>User interface structure: menus and dialogs related to printing</a:t>
            </a:r>
          </a:p>
          <a:p>
            <a:pPr lvl="1"/>
            <a:r>
              <a:rPr lang="en-US" sz="1800" dirty="0" smtClean="0"/>
              <a:t>Code structure:  files associated with printing</a:t>
            </a:r>
          </a:p>
          <a:p>
            <a:pPr lvl="2"/>
            <a:r>
              <a:rPr lang="en-US" sz="1600" dirty="0" smtClean="0"/>
              <a:t>code modules that implement printing</a:t>
            </a:r>
          </a:p>
          <a:p>
            <a:pPr lvl="3"/>
            <a:r>
              <a:rPr lang="en-US" sz="1600" dirty="0" smtClean="0"/>
              <a:t>classes inside the modules</a:t>
            </a:r>
          </a:p>
          <a:p>
            <a:pPr lvl="4"/>
            <a:r>
              <a:rPr lang="en-US" sz="1600" dirty="0" smtClean="0"/>
              <a:t>methods in the classes</a:t>
            </a:r>
          </a:p>
          <a:p>
            <a:pPr lvl="4"/>
            <a:r>
              <a:rPr lang="en-US" sz="1600" dirty="0" smtClean="0"/>
              <a:t>lines of code inside the methods…</a:t>
            </a:r>
          </a:p>
          <a:p>
            <a:r>
              <a:rPr lang="fi-FI" dirty="0" smtClean="0"/>
              <a:t>FUNCTION</a:t>
            </a:r>
          </a:p>
          <a:p>
            <a:r>
              <a:rPr lang="en-US" sz="2800" dirty="0" smtClean="0"/>
              <a:t>Print testing example</a:t>
            </a:r>
          </a:p>
          <a:p>
            <a:pPr lvl="1"/>
            <a:r>
              <a:rPr lang="en-US" sz="2000" dirty="0" smtClean="0"/>
              <a:t>Setup, preview, zoom</a:t>
            </a:r>
          </a:p>
          <a:p>
            <a:pPr lvl="1"/>
            <a:r>
              <a:rPr lang="en-US" sz="2000" dirty="0" smtClean="0"/>
              <a:t>Print range, print copies, scale to paper</a:t>
            </a:r>
          </a:p>
          <a:p>
            <a:pPr lvl="1"/>
            <a:r>
              <a:rPr lang="en-US" sz="2000" dirty="0" smtClean="0"/>
              <a:t>Print all, current page, or specific range</a:t>
            </a:r>
          </a:p>
          <a:p>
            <a:pPr lvl="1"/>
            <a:r>
              <a:rPr lang="en-US" sz="2000" dirty="0" smtClean="0"/>
              <a:t>Choose printer, printer properties, paper size and type</a:t>
            </a:r>
          </a:p>
          <a:p>
            <a:pPr lvl="1"/>
            <a:r>
              <a:rPr lang="en-US" sz="2000" dirty="0" smtClean="0"/>
              <a:t>Print to file instead of to printer</a:t>
            </a:r>
            <a:endParaRPr lang="fi-FI" dirty="0" smtClean="0"/>
          </a:p>
          <a:p>
            <a:r>
              <a:rPr lang="fi-FI" dirty="0" smtClean="0"/>
              <a:t>DATA</a:t>
            </a:r>
          </a:p>
          <a:p>
            <a:r>
              <a:rPr lang="en-US" sz="2800" dirty="0" smtClean="0"/>
              <a:t>Print testing example</a:t>
            </a:r>
          </a:p>
          <a:p>
            <a:pPr lvl="1"/>
            <a:r>
              <a:rPr lang="en-US" sz="2000" dirty="0" smtClean="0"/>
              <a:t>Content in documents (text, graphics, links, objects…)</a:t>
            </a:r>
          </a:p>
          <a:p>
            <a:pPr lvl="1"/>
            <a:r>
              <a:rPr lang="en-US" sz="2000" dirty="0" smtClean="0"/>
              <a:t>Types of documents (letter, envelope, book…)</a:t>
            </a:r>
          </a:p>
          <a:p>
            <a:pPr lvl="1"/>
            <a:r>
              <a:rPr lang="en-US" sz="2000" dirty="0" smtClean="0"/>
              <a:t>Size or structure of documents (empty, huge, complex…)</a:t>
            </a:r>
          </a:p>
          <a:p>
            <a:pPr lvl="1"/>
            <a:r>
              <a:rPr lang="en-US" sz="2000" dirty="0" smtClean="0"/>
              <a:t>Data about how to print (zoom factor, number of copies)</a:t>
            </a:r>
          </a:p>
          <a:p>
            <a:pPr lvl="1"/>
            <a:r>
              <a:rPr lang="en-US" sz="2000" dirty="0" smtClean="0"/>
              <a:t>Data about the hardware</a:t>
            </a:r>
            <a:endParaRPr lang="fi-FI" dirty="0" smtClean="0"/>
          </a:p>
          <a:p>
            <a:r>
              <a:rPr lang="fi-FI" dirty="0" smtClean="0"/>
              <a:t>PLATFORM</a:t>
            </a:r>
          </a:p>
          <a:p>
            <a:r>
              <a:rPr lang="en-US" dirty="0" smtClean="0"/>
              <a:t>Print testing example</a:t>
            </a:r>
          </a:p>
          <a:p>
            <a:pPr lvl="1"/>
            <a:r>
              <a:rPr lang="en-US" sz="2000" dirty="0" smtClean="0"/>
              <a:t>Printers</a:t>
            </a:r>
          </a:p>
          <a:p>
            <a:pPr lvl="1"/>
            <a:r>
              <a:rPr lang="en-US" sz="2000" dirty="0" smtClean="0"/>
              <a:t>Computers and networks</a:t>
            </a:r>
          </a:p>
          <a:p>
            <a:pPr lvl="1"/>
            <a:r>
              <a:rPr lang="en-US" sz="2000" dirty="0" smtClean="0"/>
              <a:t>Operating systems and libraries, both third-party and locally developed</a:t>
            </a:r>
          </a:p>
          <a:p>
            <a:pPr lvl="1"/>
            <a:r>
              <a:rPr lang="en-US" sz="2000" dirty="0" smtClean="0"/>
              <a:t>Printer drivers</a:t>
            </a:r>
            <a:endParaRPr lang="fi-FI" dirty="0" smtClean="0"/>
          </a:p>
          <a:p>
            <a:r>
              <a:rPr lang="fi-FI" dirty="0" smtClean="0"/>
              <a:t>OPERATIONS</a:t>
            </a:r>
          </a:p>
          <a:p>
            <a:r>
              <a:rPr lang="en-US" dirty="0" smtClean="0"/>
              <a:t>Print testing example</a:t>
            </a:r>
          </a:p>
          <a:p>
            <a:pPr lvl="1">
              <a:spcBef>
                <a:spcPct val="15000"/>
              </a:spcBef>
            </a:pPr>
            <a:r>
              <a:rPr lang="en-US" sz="2000" dirty="0" smtClean="0"/>
              <a:t>Use defaults</a:t>
            </a:r>
          </a:p>
          <a:p>
            <a:pPr lvl="1">
              <a:spcBef>
                <a:spcPct val="15000"/>
              </a:spcBef>
            </a:pPr>
            <a:r>
              <a:rPr lang="en-US" sz="2000" dirty="0" smtClean="0"/>
              <a:t>Use realistic environments</a:t>
            </a:r>
          </a:p>
          <a:p>
            <a:pPr lvl="1">
              <a:spcBef>
                <a:spcPct val="15000"/>
              </a:spcBef>
            </a:pPr>
            <a:r>
              <a:rPr lang="en-US" sz="2000" dirty="0" smtClean="0"/>
              <a:t>Use realistic scenarios</a:t>
            </a:r>
          </a:p>
          <a:p>
            <a:pPr lvl="1">
              <a:spcBef>
                <a:spcPct val="15000"/>
              </a:spcBef>
            </a:pPr>
            <a:r>
              <a:rPr lang="en-US" sz="2000" dirty="0" smtClean="0"/>
              <a:t>Print typical documents, labels and envelopes</a:t>
            </a:r>
          </a:p>
          <a:p>
            <a:pPr lvl="1">
              <a:spcBef>
                <a:spcPct val="15000"/>
              </a:spcBef>
            </a:pPr>
            <a:r>
              <a:rPr lang="en-US" sz="2000" dirty="0" smtClean="0"/>
              <a:t>Use complex task flows</a:t>
            </a:r>
          </a:p>
          <a:p>
            <a:pPr lvl="1">
              <a:spcBef>
                <a:spcPct val="15000"/>
              </a:spcBef>
            </a:pPr>
            <a:r>
              <a:rPr lang="en-US" sz="2000" dirty="0" smtClean="0"/>
              <a:t>Use different user models</a:t>
            </a:r>
          </a:p>
          <a:p>
            <a:r>
              <a:rPr lang="fi-FI" dirty="0" smtClean="0"/>
              <a:t>TIME</a:t>
            </a:r>
          </a:p>
          <a:p>
            <a:r>
              <a:rPr lang="en-US" sz="2800" dirty="0" smtClean="0"/>
              <a:t>Print testing example</a:t>
            </a:r>
          </a:p>
          <a:p>
            <a:pPr lvl="1"/>
            <a:r>
              <a:rPr lang="en-US" sz="2000" dirty="0" smtClean="0"/>
              <a:t>Try different network or port speeds</a:t>
            </a:r>
          </a:p>
          <a:p>
            <a:pPr lvl="1"/>
            <a:r>
              <a:rPr lang="en-US" sz="2000" dirty="0" smtClean="0"/>
              <a:t>Print documents right after another and after long intervals</a:t>
            </a:r>
          </a:p>
          <a:p>
            <a:pPr lvl="1"/>
            <a:r>
              <a:rPr lang="en-US" sz="2000" dirty="0" smtClean="0"/>
              <a:t>Try time-related constraints--spooling, buffering, timeouts</a:t>
            </a:r>
          </a:p>
          <a:p>
            <a:pPr lvl="1"/>
            <a:r>
              <a:rPr lang="en-US" sz="2000" dirty="0" smtClean="0"/>
              <a:t>Try printing hourly, daily, month-end, year-end reports</a:t>
            </a:r>
          </a:p>
          <a:p>
            <a:pPr lvl="1"/>
            <a:r>
              <a:rPr lang="en-US" sz="2000" dirty="0" smtClean="0"/>
              <a:t>Try printing from two workstations at the same time</a:t>
            </a:r>
          </a:p>
          <a:p>
            <a:pPr lvl="1"/>
            <a:r>
              <a:rPr lang="en-US" sz="2000" dirty="0" smtClean="0"/>
              <a:t>Try printing again, later.</a:t>
            </a:r>
          </a:p>
          <a:p>
            <a:endParaRPr lang="en-US" dirty="0"/>
          </a:p>
        </p:txBody>
      </p:sp>
      <p:sp>
        <p:nvSpPr>
          <p:cNvPr id="4" name="Dian numeron paikkamerkki 3"/>
          <p:cNvSpPr>
            <a:spLocks noGrp="1"/>
          </p:cNvSpPr>
          <p:nvPr>
            <p:ph type="sldNum" sz="quarter" idx="10"/>
          </p:nvPr>
        </p:nvSpPr>
        <p:spPr/>
        <p:txBody>
          <a:bodyPr/>
          <a:lstStyle/>
          <a:p>
            <a:fld id="{A3CAE55B-CF5E-4CB9-82D9-590ECB5BAF3F}" type="slidenum">
              <a:rPr lang="en-US" smtClean="0"/>
              <a:pPr/>
              <a:t>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6C0BFB-5C63-4363-A816-BAE4AE93B46A}" type="slidenum">
              <a:rPr lang="en-US"/>
              <a:pPr/>
              <a:t>11</a:t>
            </a:fld>
            <a:endParaRPr lang="en-US"/>
          </a:p>
        </p:txBody>
      </p:sp>
      <p:sp>
        <p:nvSpPr>
          <p:cNvPr id="94210" name="Rectangle 2"/>
          <p:cNvSpPr>
            <a:spLocks noGrp="1" noRot="1" noChangeAspect="1" noChangeArrowheads="1" noTextEdit="1"/>
          </p:cNvSpPr>
          <p:nvPr>
            <p:ph type="sldImg"/>
          </p:nvPr>
        </p:nvSpPr>
        <p:spPr>
          <a:xfrm>
            <a:off x="900113" y="739775"/>
            <a:ext cx="4935537" cy="3703638"/>
          </a:xfrm>
          <a:ln/>
        </p:spPr>
      </p:sp>
      <p:sp>
        <p:nvSpPr>
          <p:cNvPr id="94211" name="Rectangle 3"/>
          <p:cNvSpPr>
            <a:spLocks noGrp="1" noChangeArrowheads="1"/>
          </p:cNvSpPr>
          <p:nvPr>
            <p:ph type="body" idx="1"/>
          </p:nvPr>
        </p:nvSpPr>
        <p:spPr>
          <a:xfrm>
            <a:off x="898102" y="4688006"/>
            <a:ext cx="4939560" cy="4441271"/>
          </a:xfrm>
        </p:spPr>
        <p:txBody>
          <a:bodyPr/>
          <a:lstStyle/>
          <a:p>
            <a:r>
              <a:rPr lang="en-GB" b="1" i="1"/>
              <a:t>None, Some, All</a:t>
            </a:r>
            <a:endParaRPr lang="en-GB" b="1"/>
          </a:p>
          <a:p>
            <a:r>
              <a:rPr lang="en-GB"/>
              <a:t>For example, if you have a user that can have permissions, try creating users with no permissions, some permissions, and all permissions. In one system I tested, the system treated users with no permissions as administrators. Granting a user no permissions resulted in the user having root access.</a:t>
            </a:r>
          </a:p>
          <a:p>
            <a:r>
              <a:rPr lang="en-GB" b="1" i="1"/>
              <a:t>Goldilocks</a:t>
            </a:r>
            <a:r>
              <a:rPr lang="en-GB" b="1"/>
              <a:t>: too big, too small, just right</a:t>
            </a:r>
          </a:p>
          <a:p>
            <a:r>
              <a:rPr lang="en-GB"/>
              <a:t>Boundary tests on a numeric field provide one example of Goldilocks tests. Another example might be uploading an image file: try uploading a 3 Mb picture (too big), a file with nothing in it (too small), and a file of comfortable size (50 Kb).</a:t>
            </a:r>
          </a:p>
          <a:p>
            <a:r>
              <a:rPr lang="en-GB" b="1" i="1"/>
              <a:t>Position</a:t>
            </a:r>
            <a:r>
              <a:rPr lang="en-GB" b="1"/>
              <a:t>: beginning, middle, end</a:t>
            </a:r>
          </a:p>
          <a:p>
            <a:r>
              <a:rPr lang="en-GB"/>
              <a:t>Position can apply to an edit control: edit at the beginning of a line, middle of a line, end of a line. It can apply to the location of data in a file being parsed. It can apply to an item selected from a list, or where you're inserting an item into a list.</a:t>
            </a:r>
          </a:p>
          <a:p>
            <a:r>
              <a:rPr lang="en-GB" b="1" i="1"/>
              <a:t>Count</a:t>
            </a:r>
            <a:r>
              <a:rPr lang="en-GB" b="1"/>
              <a:t>: zero, one, many</a:t>
            </a:r>
          </a:p>
          <a:p>
            <a:r>
              <a:rPr lang="en-GB"/>
              <a:t>For example, if you have an invoice with line items, you could create invoices with zero line items, one line item, and many line items. Or you might perform a search intended to find zero items, one item, or many pages of items. Many systems have a small typographical error related to plurals and the count of items found, so they report "1 items found" instead of "1 item found."</a:t>
            </a:r>
          </a:p>
          <a:p>
            <a:r>
              <a:rPr lang="en-GB"/>
              <a:t>Similarly, count can apply in numerous situations: a count of dependent data records (a customer with 0 addresses, 1 address, many addresses; a group with 0 members, 1 member, many members), a count of events (0 transactions, 1 transactions, many simultaneous transactions), or anything else that can be counted.</a:t>
            </a:r>
          </a:p>
          <a:p>
            <a:r>
              <a:rPr lang="en-GB" b="1" i="1"/>
              <a:t>Select</a:t>
            </a:r>
            <a:r>
              <a:rPr lang="en-GB" b="1"/>
              <a:t>: none, some, all</a:t>
            </a:r>
          </a:p>
          <a:p>
            <a:r>
              <a:rPr lang="en-GB"/>
              <a:t>Select applies whenever the system supports multiple options. A user might have no permissions, some permissions, all permissions. An item might belong to no categories, some categories, all categories.</a:t>
            </a:r>
          </a:p>
          <a:p>
            <a:r>
              <a:rPr lang="en-GB" b="1" i="1"/>
              <a:t>CRUD</a:t>
            </a:r>
            <a:r>
              <a:rPr lang="en-GB" b="1"/>
              <a:t>: create, read, update, delete</a:t>
            </a:r>
          </a:p>
          <a:p>
            <a:r>
              <a:rPr lang="en-GB"/>
              <a:t>For each type of entity, and each data field, try to create it, read it, update it, and delete it. Now try to CRUD it while violating system constraints such as permissions. Try to CRUD in combination with Goldilocks, Position, Count, and Select heuristics: delete the last line item on an invoice, then read it; update the first line item; delete a customer with 0, 1, many invoices, etc.</a:t>
            </a:r>
          </a:p>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0E455-F612-49BE-852A-2A4F2818BCB6}" type="slidenum">
              <a:rPr lang="en-US" smtClean="0"/>
              <a:pPr/>
              <a:t>12</a:t>
            </a:fld>
            <a:endParaRPr lang="en-US"/>
          </a:p>
        </p:txBody>
      </p:sp>
    </p:spTree>
    <p:extLst>
      <p:ext uri="{BB962C8B-B14F-4D97-AF65-F5344CB8AC3E}">
        <p14:creationId xmlns:p14="http://schemas.microsoft.com/office/powerpoint/2010/main" val="4245607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47EAE5-6808-4C00-A02D-C119320F6E90}" type="slidenum">
              <a:rPr lang="en-US"/>
              <a:pPr/>
              <a:t>13</a:t>
            </a:fld>
            <a:endParaRPr lang="en-US"/>
          </a:p>
        </p:txBody>
      </p:sp>
      <p:sp>
        <p:nvSpPr>
          <p:cNvPr id="90114" name="Rectangle 2"/>
          <p:cNvSpPr>
            <a:spLocks noGrp="1" noRot="1" noChangeAspect="1" noChangeArrowheads="1" noTextEdit="1"/>
          </p:cNvSpPr>
          <p:nvPr>
            <p:ph type="sldImg"/>
          </p:nvPr>
        </p:nvSpPr>
        <p:spPr>
          <a:xfrm>
            <a:off x="901700" y="739775"/>
            <a:ext cx="4935538" cy="3703638"/>
          </a:xfrm>
          <a:ln/>
        </p:spPr>
      </p:sp>
      <p:sp>
        <p:nvSpPr>
          <p:cNvPr id="90115" name="Rectangle 3"/>
          <p:cNvSpPr>
            <a:spLocks noGrp="1" noChangeArrowheads="1"/>
          </p:cNvSpPr>
          <p:nvPr>
            <p:ph type="body" idx="1"/>
          </p:nvPr>
        </p:nvSpPr>
        <p:spPr>
          <a:xfrm>
            <a:off x="898102" y="4688006"/>
            <a:ext cx="4939560" cy="4441271"/>
          </a:xfr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14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DDBCDF7F-5AB8-470F-8C9F-B8B6C6AAA07C}" type="slidenum">
              <a:rPr lang="fi-FI" smtClean="0"/>
              <a:pPr/>
              <a:t>15</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A13E0A-11F1-4D19-9DBD-97A63ACEC716}" type="slidenum">
              <a:rPr lang="en-US"/>
              <a:pPr/>
              <a:t>16</a:t>
            </a:fld>
            <a:endParaRPr lang="en-US"/>
          </a:p>
        </p:txBody>
      </p:sp>
      <p:sp>
        <p:nvSpPr>
          <p:cNvPr id="138242" name="Rectangle 2"/>
          <p:cNvSpPr>
            <a:spLocks noGrp="1" noRot="1" noChangeAspect="1" noChangeArrowheads="1" noTextEdit="1"/>
          </p:cNvSpPr>
          <p:nvPr>
            <p:ph type="sldImg"/>
          </p:nvPr>
        </p:nvSpPr>
        <p:spPr>
          <a:xfrm>
            <a:off x="900113" y="739775"/>
            <a:ext cx="4935537" cy="3703638"/>
          </a:xfrm>
          <a:ln/>
        </p:spPr>
      </p:sp>
      <p:sp>
        <p:nvSpPr>
          <p:cNvPr id="138243" name="Rectangle 3"/>
          <p:cNvSpPr>
            <a:spLocks noGrp="1" noChangeArrowheads="1"/>
          </p:cNvSpPr>
          <p:nvPr>
            <p:ph type="body" idx="1"/>
          </p:nvPr>
        </p:nvSpPr>
        <p:spPr>
          <a:xfrm>
            <a:off x="898102" y="4688006"/>
            <a:ext cx="4939560" cy="4441271"/>
          </a:xfr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9F585C-C40F-4737-912A-128EE7243ACD}" type="slidenum">
              <a:rPr lang="en-US"/>
              <a:pPr/>
              <a:t>17</a:t>
            </a:fld>
            <a:endParaRPr lang="en-US"/>
          </a:p>
        </p:txBody>
      </p:sp>
      <p:sp>
        <p:nvSpPr>
          <p:cNvPr id="140290" name="Rectangle 2"/>
          <p:cNvSpPr>
            <a:spLocks noGrp="1" noRot="1" noChangeAspect="1" noChangeArrowheads="1" noTextEdit="1"/>
          </p:cNvSpPr>
          <p:nvPr>
            <p:ph type="sldImg"/>
          </p:nvPr>
        </p:nvSpPr>
        <p:spPr>
          <a:xfrm>
            <a:off x="900113" y="739775"/>
            <a:ext cx="4935537" cy="3703638"/>
          </a:xfrm>
          <a:ln/>
        </p:spPr>
      </p:sp>
      <p:sp>
        <p:nvSpPr>
          <p:cNvPr id="140291" name="Rectangle 3"/>
          <p:cNvSpPr>
            <a:spLocks noGrp="1" noChangeArrowheads="1"/>
          </p:cNvSpPr>
          <p:nvPr>
            <p:ph type="body" idx="1"/>
          </p:nvPr>
        </p:nvSpPr>
        <p:spPr>
          <a:xfrm>
            <a:off x="898102" y="4688006"/>
            <a:ext cx="4939560" cy="4441271"/>
          </a:xfrm>
        </p:spPr>
        <p:txBody>
          <a:bodyPr/>
          <a:lstStyle/>
          <a:p>
            <a:r>
              <a:rPr lang="fi-FI"/>
              <a:t>Odotetut tulokset ovat vain osa kokonaistarinaa – koska odotettuja tuloksia on monessa ulottuvuudessa</a:t>
            </a:r>
          </a:p>
          <a:p>
            <a:r>
              <a:rPr lang="fi-FI"/>
              <a:t>Täydellinen oraakkeli ottaisi samat syötteet kuin testattava järjestelmä ja voisi kertoa oikean tuloksen kaikissa ulottuvuuksissa. Täydellisiä oraakkeleita ei vain käytännössä juurikaan ole saatavilla. </a:t>
            </a:r>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0BC181E-A55B-45D9-8CD8-ED30E47DF0CC}" type="slidenum">
              <a:rPr lang="en-US" smtClean="0"/>
              <a:pPr/>
              <a:t>18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19</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20</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14A85E-917F-4966-A4B4-9047E96C9133}" type="slidenum">
              <a:rPr lang="en-US"/>
              <a:pPr/>
              <a:t>27</a:t>
            </a:fld>
            <a:endParaRPr lang="en-US"/>
          </a:p>
        </p:txBody>
      </p:sp>
      <p:sp>
        <p:nvSpPr>
          <p:cNvPr id="138242" name="Rectangle 2"/>
          <p:cNvSpPr>
            <a:spLocks noGrp="1" noRot="1" noChangeAspect="1" noChangeArrowheads="1" noTextEdit="1"/>
          </p:cNvSpPr>
          <p:nvPr>
            <p:ph type="sldImg"/>
          </p:nvPr>
        </p:nvSpPr>
        <p:spPr>
          <a:xfrm>
            <a:off x="900113" y="739775"/>
            <a:ext cx="4935537" cy="3703638"/>
          </a:xfrm>
          <a:ln/>
        </p:spPr>
      </p:sp>
      <p:sp>
        <p:nvSpPr>
          <p:cNvPr id="138243" name="Rectangle 3"/>
          <p:cNvSpPr>
            <a:spLocks noGrp="1" noChangeArrowheads="1"/>
          </p:cNvSpPr>
          <p:nvPr>
            <p:ph type="body" idx="1"/>
          </p:nvPr>
        </p:nvSpPr>
        <p:spPr>
          <a:xfrm>
            <a:off x="898102" y="4688006"/>
            <a:ext cx="4939560" cy="4441271"/>
          </a:xfrm>
        </p:spPr>
        <p:txBody>
          <a:bodyPr/>
          <a:lstStyle/>
          <a:p>
            <a:r>
              <a:rPr lang="fi-FI" b="1"/>
              <a:t>Generic Credit Card Numbers Useful in Testing</a:t>
            </a:r>
          </a:p>
          <a:p>
            <a:endParaRPr lang="fi-FI" b="1"/>
          </a:p>
          <a:p>
            <a:r>
              <a:rPr lang="fi-FI"/>
              <a:t>Visa                4111 1111 1111 1111      (16 digits)</a:t>
            </a:r>
          </a:p>
          <a:p>
            <a:r>
              <a:rPr lang="fi-FI"/>
              <a:t>MasterCard          5111 1111 1111 1118      (16 digits)</a:t>
            </a:r>
          </a:p>
          <a:p>
            <a:r>
              <a:rPr lang="fi-FI"/>
              <a:t>Discover            6011 0111 1111 1116      (16 digits)</a:t>
            </a:r>
          </a:p>
          <a:p>
            <a:r>
              <a:rPr lang="fi-FI"/>
              <a:t>American Express    340000000000009          (15 digits)</a:t>
            </a:r>
          </a:p>
          <a:p>
            <a:r>
              <a:rPr lang="fi-FI"/>
              <a:t>Diners Club         30000000000004           (14 digits)</a:t>
            </a:r>
          </a:p>
          <a:p>
            <a:r>
              <a:rPr lang="fi-FI"/>
              <a:t>Carte Blanche       30000000000004           (14 digits)</a:t>
            </a:r>
          </a:p>
          <a:p>
            <a:r>
              <a:rPr lang="fi-FI"/>
              <a:t>EnRoute             201400000000009          (15 digits)</a:t>
            </a:r>
          </a:p>
          <a:p>
            <a:r>
              <a:rPr lang="fi-FI"/>
              <a:t>JCB                 3088000000000008         (16 digits)</a:t>
            </a:r>
          </a:p>
          <a:p>
            <a:endParaRPr lang="fi-FI"/>
          </a:p>
          <a:p>
            <a:r>
              <a:rPr lang="fi-FI"/>
              <a:t>source:</a:t>
            </a:r>
          </a:p>
          <a:p>
            <a:r>
              <a:rPr lang="fi-FI"/>
              <a:t>http://groups.google.com/groups?safe=images&amp;ie=UTF-8&amp;oe=UTF-8&amp;as_umsgid=1e5a2404.0206040710.11f63446@posting.google.com&amp;lr=&amp;hl=en</a:t>
            </a:r>
          </a:p>
          <a:p>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30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B12FF7-55D9-49C4-8D0B-5FC27C3E5E66}" type="slidenum">
              <a:rPr lang="en-US"/>
              <a:pPr/>
              <a:t>31</a:t>
            </a:fld>
            <a:endParaRPr lang="en-US"/>
          </a:p>
        </p:txBody>
      </p:sp>
      <p:sp>
        <p:nvSpPr>
          <p:cNvPr id="143362" name="Rectangle 2"/>
          <p:cNvSpPr>
            <a:spLocks noGrp="1" noRot="1" noChangeAspect="1" noChangeArrowheads="1" noTextEdit="1"/>
          </p:cNvSpPr>
          <p:nvPr>
            <p:ph type="sldImg"/>
          </p:nvPr>
        </p:nvSpPr>
        <p:spPr>
          <a:xfrm>
            <a:off x="900113" y="739775"/>
            <a:ext cx="4935537" cy="3703638"/>
          </a:xfrm>
          <a:ln/>
        </p:spPr>
      </p:sp>
      <p:sp>
        <p:nvSpPr>
          <p:cNvPr id="143363" name="Rectangle 3"/>
          <p:cNvSpPr>
            <a:spLocks noGrp="1" noChangeArrowheads="1"/>
          </p:cNvSpPr>
          <p:nvPr>
            <p:ph type="body" idx="1"/>
          </p:nvPr>
        </p:nvSpPr>
        <p:spPr>
          <a:xfrm>
            <a:off x="898102" y="4688006"/>
            <a:ext cx="4939560" cy="4441271"/>
          </a:xfrm>
        </p:spPr>
        <p:txBody>
          <a:bodyPr/>
          <a:lstStyle/>
          <a:p>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06E8A5-D9E1-48C1-A0E1-8C4BFA762D56}" type="slidenum">
              <a:rPr lang="en-US"/>
              <a:pPr/>
              <a:t>32</a:t>
            </a:fld>
            <a:endParaRPr lang="en-US"/>
          </a:p>
        </p:txBody>
      </p:sp>
      <p:sp>
        <p:nvSpPr>
          <p:cNvPr id="145410" name="Rectangle 2"/>
          <p:cNvSpPr>
            <a:spLocks noGrp="1" noRot="1" noChangeAspect="1" noChangeArrowheads="1" noTextEdit="1"/>
          </p:cNvSpPr>
          <p:nvPr>
            <p:ph type="sldImg"/>
          </p:nvPr>
        </p:nvSpPr>
        <p:spPr>
          <a:xfrm>
            <a:off x="900113" y="739775"/>
            <a:ext cx="4935537" cy="3703638"/>
          </a:xfrm>
          <a:ln/>
        </p:spPr>
      </p:sp>
      <p:sp>
        <p:nvSpPr>
          <p:cNvPr id="145411" name="Rectangle 3"/>
          <p:cNvSpPr>
            <a:spLocks noGrp="1" noChangeArrowheads="1"/>
          </p:cNvSpPr>
          <p:nvPr>
            <p:ph type="body" idx="1"/>
          </p:nvPr>
        </p:nvSpPr>
        <p:spPr>
          <a:xfrm>
            <a:off x="898102" y="4688006"/>
            <a:ext cx="4939560" cy="4441271"/>
          </a:xfrm>
        </p:spPr>
        <p:txBody>
          <a:bodyPr/>
          <a:lstStyle/>
          <a:p>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33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35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36</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C660A6-CDE6-4F9C-9BF1-BA7E87FEB07A}" type="slidenum">
              <a:rPr lang="en-US"/>
              <a:pPr/>
              <a:t>37</a:t>
            </a:fld>
            <a:endParaRPr lang="en-US"/>
          </a:p>
        </p:txBody>
      </p:sp>
      <p:sp>
        <p:nvSpPr>
          <p:cNvPr id="147458" name="Rectangle 2"/>
          <p:cNvSpPr>
            <a:spLocks noGrp="1" noRot="1" noChangeAspect="1" noChangeArrowheads="1" noTextEdit="1"/>
          </p:cNvSpPr>
          <p:nvPr>
            <p:ph type="sldImg"/>
          </p:nvPr>
        </p:nvSpPr>
        <p:spPr>
          <a:xfrm>
            <a:off x="900113" y="739775"/>
            <a:ext cx="4935537" cy="3703638"/>
          </a:xfrm>
          <a:ln/>
        </p:spPr>
      </p:sp>
      <p:sp>
        <p:nvSpPr>
          <p:cNvPr id="147459" name="Rectangle 3"/>
          <p:cNvSpPr>
            <a:spLocks noGrp="1" noChangeArrowheads="1"/>
          </p:cNvSpPr>
          <p:nvPr>
            <p:ph type="body" idx="1"/>
          </p:nvPr>
        </p:nvSpPr>
        <p:spPr>
          <a:xfrm>
            <a:off x="898102" y="4688006"/>
            <a:ext cx="4939560" cy="4441271"/>
          </a:xfrm>
        </p:spPr>
        <p:txBody>
          <a:bodyPr/>
          <a:lstStyle/>
          <a:p>
            <a:r>
              <a:rPr lang="fi-FI">
                <a:cs typeface="Times New Roman" pitchFamily="18" charset="0"/>
              </a:rPr>
              <a:t>Vastaus: Kukin kentän osista, päivämäärä, kuukausi ja vuosi, ositetaan erillään. Kentän osilla on kuitenkin keskinäisiä riippuvuuksia: sallitut päivät riippuvat valitusta kuukaudesta sekä mahdollisen karkausvuoden mukanaolosta.</a:t>
            </a:r>
            <a:endParaRPr lang="en-GB">
              <a:cs typeface="Times New Roman" pitchFamily="18" charset="0"/>
            </a:endParaRPr>
          </a:p>
          <a:p>
            <a:r>
              <a:rPr lang="fi-FI">
                <a:cs typeface="Times New Roman" pitchFamily="18" charset="0"/>
              </a:rPr>
              <a:t>Ekvivalenssiluokkien ideana on tunnistaa syöteavaruudesta osioita, joista valitun parhaan edustajan eli tyypillisesti raja-arvon käyttäminen on testien valintaperuste. Odotamme kunkin ekvivalenssiluokan osalta että mikäli ekvivalenssiluokan osalta toiminta on virheellistä, valittu paras edustaja mahdollistaa sen löytämisen.</a:t>
            </a:r>
            <a:endParaRPr lang="en-GB">
              <a:cs typeface="Times New Roman" pitchFamily="18" charset="0"/>
            </a:endParaRPr>
          </a:p>
          <a:p>
            <a:r>
              <a:rPr lang="fi-FI">
                <a:cs typeface="Times New Roman" pitchFamily="18" charset="0"/>
              </a:rPr>
              <a:t>Ekvivalenssiluokat:</a:t>
            </a:r>
            <a:endParaRPr lang="en-GB">
              <a:cs typeface="Times New Roman" pitchFamily="18" charset="0"/>
            </a:endParaRPr>
          </a:p>
          <a:p>
            <a:r>
              <a:rPr lang="fi-FI">
                <a:cs typeface="Times New Roman" pitchFamily="18" charset="0"/>
              </a:rPr>
              <a:t>-</a:t>
            </a:r>
            <a:r>
              <a:rPr lang="fi-FI">
                <a:latin typeface="Times New Roman" pitchFamily="18" charset="0"/>
                <a:cs typeface="Times New Roman" pitchFamily="18" charset="0"/>
              </a:rPr>
              <a:t>          </a:t>
            </a:r>
            <a:r>
              <a:rPr lang="fi-FI">
                <a:cs typeface="Times New Roman" pitchFamily="18" charset="0"/>
              </a:rPr>
              <a:t>Sallitut päivät. Sallituille päiville on neljä ekvivalenssiluokkaa. Sallitut arvot ovat väliltä 0-x, jossa x={28, 29, 30, 31}. Ekvivalenssiluokat ovat osittain päällekäiset, viimeisiä päiviä lukuunottamatta. Raja-arvojen kautta päiville testattavat syötteet kussakin ekvivalenssiluokassa ovat 0, 1, x ja x+1.</a:t>
            </a:r>
            <a:endParaRPr lang="en-GB">
              <a:cs typeface="Times New Roman" pitchFamily="18" charset="0"/>
            </a:endParaRPr>
          </a:p>
          <a:p>
            <a:r>
              <a:rPr lang="fi-FI">
                <a:cs typeface="Times New Roman" pitchFamily="18" charset="0"/>
              </a:rPr>
              <a:t>-</a:t>
            </a:r>
            <a:r>
              <a:rPr lang="fi-FI">
                <a:latin typeface="Times New Roman" pitchFamily="18" charset="0"/>
                <a:cs typeface="Times New Roman" pitchFamily="18" charset="0"/>
              </a:rPr>
              <a:t>          </a:t>
            </a:r>
            <a:r>
              <a:rPr lang="fi-FI">
                <a:cs typeface="Times New Roman" pitchFamily="18" charset="0"/>
              </a:rPr>
              <a:t>Sallitut kuukaudet. Sallituille kuukausille on myös neljä ekvivalenssiluokkaa:</a:t>
            </a:r>
            <a:endParaRPr lang="en-GB">
              <a:cs typeface="Times New Roman" pitchFamily="18" charset="0"/>
            </a:endParaRPr>
          </a:p>
          <a:p>
            <a:r>
              <a:rPr lang="fi-FI">
                <a:latin typeface="Courier New" pitchFamily="49" charset="0"/>
                <a:cs typeface="Courier New" pitchFamily="49" charset="0"/>
              </a:rPr>
              <a:t>o</a:t>
            </a:r>
            <a:r>
              <a:rPr lang="fi-FI">
                <a:latin typeface="Times New Roman" pitchFamily="18" charset="0"/>
                <a:cs typeface="Times New Roman" pitchFamily="18" charset="0"/>
              </a:rPr>
              <a:t>        </a:t>
            </a:r>
            <a:r>
              <a:rPr lang="fi-FI">
                <a:cs typeface="Times New Roman" pitchFamily="18" charset="0"/>
              </a:rPr>
              <a:t>28:n päivän kuukausi, 29:n päivän kuukausi karkausvuonna, 30:n päivän kuukausi ja 31:n päivän kuukausi.</a:t>
            </a:r>
            <a:endParaRPr lang="en-GB">
              <a:cs typeface="Times New Roman" pitchFamily="18" charset="0"/>
            </a:endParaRPr>
          </a:p>
          <a:p>
            <a:r>
              <a:rPr lang="fi-FI">
                <a:latin typeface="Courier New" pitchFamily="49" charset="0"/>
                <a:cs typeface="Courier New" pitchFamily="49" charset="0"/>
              </a:rPr>
              <a:t>o</a:t>
            </a:r>
            <a:r>
              <a:rPr lang="fi-FI">
                <a:latin typeface="Times New Roman" pitchFamily="18" charset="0"/>
                <a:cs typeface="Times New Roman" pitchFamily="18" charset="0"/>
              </a:rPr>
              <a:t>        </a:t>
            </a:r>
            <a:r>
              <a:rPr lang="fi-FI">
                <a:cs typeface="Times New Roman" pitchFamily="18" charset="0"/>
              </a:rPr>
              <a:t>Kuukausi saa arvon 1-12, tammikuusta joulukuuhun.</a:t>
            </a:r>
            <a:endParaRPr lang="en-GB">
              <a:cs typeface="Times New Roman" pitchFamily="18" charset="0"/>
            </a:endParaRPr>
          </a:p>
          <a:p>
            <a:r>
              <a:rPr lang="fi-FI">
                <a:cs typeface="Times New Roman" pitchFamily="18" charset="0"/>
              </a:rPr>
              <a:t>-</a:t>
            </a:r>
            <a:r>
              <a:rPr lang="fi-FI">
                <a:latin typeface="Times New Roman" pitchFamily="18" charset="0"/>
                <a:cs typeface="Times New Roman" pitchFamily="18" charset="0"/>
              </a:rPr>
              <a:t>          </a:t>
            </a:r>
            <a:r>
              <a:rPr lang="fi-FI">
                <a:cs typeface="Times New Roman" pitchFamily="18" charset="0"/>
              </a:rPr>
              <a:t>Sallitut vuodet. Vuosi merkitään neljällä kirjaimella, joten oletetaan että sen osalta sallittuja arvoja ovat 0-9999. Koska emme tiedä tarkkaan sallittuja arvoja, valitaan ekvivalenssiluokasta edustajaksi myös tämä vuosi. Tämän vuoden valinta mukaan joukkoon on riskipohjainen.</a:t>
            </a:r>
            <a:endParaRPr lang="en-GB">
              <a:cs typeface="Times New Roman" pitchFamily="18" charset="0"/>
            </a:endParaRPr>
          </a:p>
          <a:p>
            <a:r>
              <a:rPr lang="fi-FI">
                <a:cs typeface="Times New Roman" pitchFamily="18" charset="0"/>
              </a:rPr>
              <a:t>Yhdistelemällä ekvivalenssiluokkia valitaan testitapausten tyypit. Kukin allaolevista testitapaustyypin kategorioista aukeaa useiksi testitapauksiksi, jossa kussakin valitaan arvo joukoista.</a:t>
            </a:r>
            <a:endParaRPr lang="en-GB">
              <a:cs typeface="Times New Roman" pitchFamily="18" charset="0"/>
            </a:endParaRPr>
          </a:p>
          <a:p>
            <a:r>
              <a:rPr lang="fi-FI">
                <a:cs typeface="Times New Roman" pitchFamily="18" charset="0"/>
              </a:rPr>
              <a:t>(a) {0, 1, 28, 29} {28:n päivän kuukausi} {0, tämä vuosi, 9999, 10000, karkausvuosi}</a:t>
            </a:r>
            <a:endParaRPr lang="en-GB">
              <a:cs typeface="Times New Roman" pitchFamily="18" charset="0"/>
            </a:endParaRPr>
          </a:p>
          <a:p>
            <a:r>
              <a:rPr lang="fi-FI">
                <a:cs typeface="Times New Roman" pitchFamily="18" charset="0"/>
              </a:rPr>
              <a:t>(b) {0, 1, 29, 30} {29:n päivän kuukausi} {0, tämä vuosi, 9999, 10000, karkausvuosi}</a:t>
            </a:r>
            <a:endParaRPr lang="en-GB">
              <a:cs typeface="Times New Roman" pitchFamily="18" charset="0"/>
            </a:endParaRPr>
          </a:p>
          <a:p>
            <a:r>
              <a:rPr lang="fi-FI">
                <a:cs typeface="Times New Roman" pitchFamily="18" charset="0"/>
              </a:rPr>
              <a:t>(c) (0, 1, 30, 31} {30:n päivän kuukausi} {0, tämä vuosi, 9999, 10000, karkausvuosi}</a:t>
            </a:r>
            <a:endParaRPr lang="en-GB">
              <a:cs typeface="Times New Roman" pitchFamily="18" charset="0"/>
            </a:endParaRPr>
          </a:p>
          <a:p>
            <a:r>
              <a:rPr lang="fi-FI">
                <a:cs typeface="Times New Roman" pitchFamily="18" charset="0"/>
              </a:rPr>
              <a:t>(d) {0,1,31,32} {31:n päivän kuukausi} {0, tämä vuosi, 9999, 10000, karkausvuosi}</a:t>
            </a:r>
            <a:endParaRPr lang="en-GB">
              <a:cs typeface="Times New Roman" pitchFamily="18" charset="0"/>
            </a:endParaRPr>
          </a:p>
          <a:p>
            <a:r>
              <a:rPr lang="fi-FI">
                <a:cs typeface="Times New Roman" pitchFamily="18" charset="0"/>
              </a:rPr>
              <a:t>Esimerkiksi testityypin (a) testille, valitse jokin päivistä {0, 1, 28, 29}, jokin 28:n päivän kuukausi eli helmikuu sekä jokin vuosista {0, tämä vuosi, 9999, 10000, jokin karkausvuosi}. Testitapaukseen osaltaan kuuluu vielä käsitys siitä onko yhdistelmä sallittu vai ei. Ei-sallittuihin yhdistelmiin johtavat päivien arvot on merkitty kursiivilla. Lisäksi testeihin tulee kuulua sekä sallittuja yhdistelmiä kuin sellaisiakin yhdistelmiä, jotka eivät ole sallittuja.</a:t>
            </a:r>
            <a:endParaRPr lang="en-GB">
              <a:cs typeface="Times New Roman" pitchFamily="18" charset="0"/>
            </a:endParaRPr>
          </a:p>
          <a:p>
            <a:r>
              <a:rPr lang="fi-FI">
                <a:cs typeface="Times New Roman" pitchFamily="18" charset="0"/>
              </a:rPr>
              <a:t>Esimerkin perustestien lisäksi testijaksoa voi laajentaa mm. syöttämällä kentän osiin ei-sallittuja numeerisia arvoja, kuten kuukaudelle arvot 0 tai 13 sekä etsimällä ei-sallitut arvot vuodelle.</a:t>
            </a:r>
            <a:r>
              <a:rPr lang="en-GB"/>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38</a:t>
            </a:fld>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39</a:t>
            </a:fld>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40</a:t>
            </a:fld>
            <a:endParaRPr lang="fi-FI"/>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41</a:t>
            </a:fld>
            <a:endParaRPr lang="fi-FI"/>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C9CAC1-1843-490F-ABF8-016CE883C5F5}" type="slidenum">
              <a:rPr lang="en-US"/>
              <a:pPr/>
              <a:t>42</a:t>
            </a:fld>
            <a:endParaRPr lang="en-US"/>
          </a:p>
        </p:txBody>
      </p:sp>
      <p:sp>
        <p:nvSpPr>
          <p:cNvPr id="201730" name="Rectangle 2"/>
          <p:cNvSpPr>
            <a:spLocks noGrp="1" noRot="1" noChangeAspect="1" noChangeArrowheads="1" noTextEdit="1"/>
          </p:cNvSpPr>
          <p:nvPr>
            <p:ph type="sldImg"/>
          </p:nvPr>
        </p:nvSpPr>
        <p:spPr>
          <a:xfrm>
            <a:off x="900113" y="739775"/>
            <a:ext cx="4935537" cy="3703638"/>
          </a:xfrm>
          <a:ln/>
        </p:spPr>
      </p:sp>
      <p:sp>
        <p:nvSpPr>
          <p:cNvPr id="201731" name="Rectangle 3"/>
          <p:cNvSpPr>
            <a:spLocks noGrp="1" noChangeArrowheads="1"/>
          </p:cNvSpPr>
          <p:nvPr>
            <p:ph type="body" idx="1"/>
          </p:nvPr>
        </p:nvSpPr>
        <p:spPr>
          <a:xfrm>
            <a:off x="898102" y="4688006"/>
            <a:ext cx="4939560" cy="4441271"/>
          </a:xfrm>
        </p:spPr>
        <p:txBody>
          <a:bodyPr/>
          <a:lstStyle/>
          <a:p>
            <a:r>
              <a:rPr lang="en-US" b="1">
                <a:cs typeface="Times New Roman" pitchFamily="18" charset="0"/>
              </a:rPr>
              <a:t>We should add a few more conditions based on, at least, error guessing (e.g. null input) and design test cases for these to complete the test set.</a:t>
            </a:r>
            <a:endParaRPr lang="en-GB">
              <a:cs typeface="Times New Roman" pitchFamily="18" charset="0"/>
            </a:endParaRPr>
          </a:p>
          <a:p>
            <a:endParaRPr lang="en-GB"/>
          </a:p>
          <a:p>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CF3459-4532-421A-9BF1-14CB9227B561}" type="slidenum">
              <a:rPr lang="en-US"/>
              <a:pPr/>
              <a:t>43</a:t>
            </a:fld>
            <a:endParaRPr lang="en-US"/>
          </a:p>
        </p:txBody>
      </p:sp>
      <p:sp>
        <p:nvSpPr>
          <p:cNvPr id="203778" name="Rectangle 2"/>
          <p:cNvSpPr>
            <a:spLocks noGrp="1" noRot="1" noChangeAspect="1" noChangeArrowheads="1" noTextEdit="1"/>
          </p:cNvSpPr>
          <p:nvPr>
            <p:ph type="sldImg"/>
          </p:nvPr>
        </p:nvSpPr>
        <p:spPr>
          <a:xfrm>
            <a:off x="900113" y="739775"/>
            <a:ext cx="4935537" cy="3703638"/>
          </a:xfrm>
          <a:ln/>
        </p:spPr>
      </p:sp>
      <p:sp>
        <p:nvSpPr>
          <p:cNvPr id="203779" name="Rectangle 3"/>
          <p:cNvSpPr>
            <a:spLocks noGrp="1" noChangeArrowheads="1"/>
          </p:cNvSpPr>
          <p:nvPr>
            <p:ph type="body" idx="1"/>
          </p:nvPr>
        </p:nvSpPr>
        <p:spPr>
          <a:xfrm>
            <a:off x="898102" y="4688006"/>
            <a:ext cx="4939560" cy="4441271"/>
          </a:xfrm>
        </p:spPr>
        <p:txBody>
          <a:bodyPr/>
          <a:lstStyle/>
          <a:p>
            <a:r>
              <a:rPr lang="en-GB">
                <a:latin typeface="TimesNewRomanMS" charset="0"/>
              </a:rPr>
              <a:t>The key to understanding the wide variation of responses to the triangle problem lies</a:t>
            </a:r>
          </a:p>
          <a:p>
            <a:r>
              <a:rPr lang="en-GB">
                <a:latin typeface="TimesNewRomanMS" charset="0"/>
              </a:rPr>
              <a:t>in recognizing that many of the tests have nothing to do with mishandling of a numeric</a:t>
            </a:r>
          </a:p>
          <a:p>
            <a:r>
              <a:rPr lang="en-GB">
                <a:latin typeface="TimesNewRomanMS" charset="0"/>
              </a:rPr>
              <a:t>input, such as taking the wrong path because the programmer mistyped an inequality.</a:t>
            </a:r>
          </a:p>
          <a:p>
            <a:r>
              <a:rPr lang="en-GB">
                <a:latin typeface="TimesNewRomanMS" charset="0"/>
              </a:rPr>
              <a:t>Instead, they lie on different dimensions from the number line that shows which</a:t>
            </a:r>
          </a:p>
          <a:p>
            <a:r>
              <a:rPr lang="en-GB">
                <a:latin typeface="TimesNewRomanMS" charset="0"/>
              </a:rPr>
              <a:t>number inputs are too large or too small. Each of these dimensions is subject to a</a:t>
            </a:r>
          </a:p>
          <a:p>
            <a:r>
              <a:rPr lang="en-GB">
                <a:latin typeface="TimesNewRomanMS" charset="0"/>
              </a:rPr>
              <a:t>different equivalence analysis.</a:t>
            </a:r>
          </a:p>
          <a:p>
            <a:endParaRPr lang="fi-FI">
              <a:latin typeface="TimesNewRomanMS" charset="0"/>
            </a:endParaRPr>
          </a:p>
          <a:p>
            <a:r>
              <a:rPr lang="en-GB">
                <a:latin typeface="TimesNewRomanMS" charset="0"/>
              </a:rPr>
              <a:t>Collard, R. Developing Software Test Cases, book in preparation, manuscript draft February 16, 2003</a:t>
            </a:r>
          </a:p>
          <a:p>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A15044-CDEA-4B85-BCFB-541544374793}" type="slidenum">
              <a:rPr lang="en-US"/>
              <a:pPr/>
              <a:t>44</a:t>
            </a:fld>
            <a:endParaRPr lang="en-US"/>
          </a:p>
        </p:txBody>
      </p:sp>
      <p:sp>
        <p:nvSpPr>
          <p:cNvPr id="205826" name="Rectangle 2"/>
          <p:cNvSpPr>
            <a:spLocks noGrp="1" noRot="1" noChangeAspect="1" noChangeArrowheads="1" noTextEdit="1"/>
          </p:cNvSpPr>
          <p:nvPr>
            <p:ph type="sldImg"/>
          </p:nvPr>
        </p:nvSpPr>
        <p:spPr>
          <a:xfrm>
            <a:off x="900113" y="739775"/>
            <a:ext cx="4935537" cy="3703638"/>
          </a:xfrm>
          <a:ln/>
        </p:spPr>
      </p:sp>
      <p:sp>
        <p:nvSpPr>
          <p:cNvPr id="205827" name="Rectangle 3"/>
          <p:cNvSpPr>
            <a:spLocks noGrp="1" noChangeArrowheads="1"/>
          </p:cNvSpPr>
          <p:nvPr>
            <p:ph type="body" idx="1"/>
          </p:nvPr>
        </p:nvSpPr>
        <p:spPr>
          <a:xfrm>
            <a:off x="898102" y="4688006"/>
            <a:ext cx="4939560" cy="4441271"/>
          </a:xfrm>
        </p:spPr>
        <p:txBody>
          <a:bodyPr/>
          <a:lstStyle/>
          <a:p>
            <a:r>
              <a:rPr lang="en-US">
                <a:cs typeface="Times New Roman" pitchFamily="18" charset="0"/>
              </a:rPr>
              <a:t>Kaner, C. Teaching Domain Testing: A Status Report. http://www.testingeducation.com/ . 2003. </a:t>
            </a:r>
            <a:br>
              <a:rPr lang="en-US">
                <a:cs typeface="Times New Roman" pitchFamily="18" charset="0"/>
              </a:rPr>
            </a:br>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093A0F-968B-4A21-A725-ACA9E080235C}" type="slidenum">
              <a:rPr lang="en-US"/>
              <a:pPr/>
              <a:t>45</a:t>
            </a:fld>
            <a:endParaRPr lang="en-US"/>
          </a:p>
        </p:txBody>
      </p:sp>
      <p:sp>
        <p:nvSpPr>
          <p:cNvPr id="210946" name="Rectangle 2"/>
          <p:cNvSpPr>
            <a:spLocks noGrp="1" noRot="1" noChangeAspect="1" noChangeArrowheads="1" noTextEdit="1"/>
          </p:cNvSpPr>
          <p:nvPr>
            <p:ph type="sldImg"/>
          </p:nvPr>
        </p:nvSpPr>
        <p:spPr>
          <a:xfrm>
            <a:off x="900113" y="739775"/>
            <a:ext cx="4935537" cy="3703638"/>
          </a:xfrm>
          <a:ln/>
        </p:spPr>
      </p:sp>
      <p:sp>
        <p:nvSpPr>
          <p:cNvPr id="210947" name="Rectangle 3"/>
          <p:cNvSpPr>
            <a:spLocks noGrp="1" noChangeArrowheads="1"/>
          </p:cNvSpPr>
          <p:nvPr>
            <p:ph type="body" idx="1"/>
          </p:nvPr>
        </p:nvSpPr>
        <p:spPr>
          <a:xfrm>
            <a:off x="898102" y="4688006"/>
            <a:ext cx="4939560" cy="4441271"/>
          </a:xfrm>
        </p:spPr>
        <p:txBody>
          <a:bodyPr/>
          <a:lstStyle/>
          <a:p>
            <a:pPr marL="228600" indent="-228600">
              <a:buFontTx/>
              <a:buAutoNum type="arabicPeriod"/>
            </a:pPr>
            <a:r>
              <a:rPr lang="en-GB"/>
              <a:t>Browsers: IE 5.0 / 5.5 / 6.0, Netscape 6.0 / 6.1 / 7.0, Mozilla 1.1, Opera 7</a:t>
            </a:r>
          </a:p>
          <a:p>
            <a:pPr marL="228600" indent="-228600">
              <a:buFontTx/>
              <a:buAutoNum type="arabicPeriod"/>
            </a:pPr>
            <a:r>
              <a:rPr lang="en-GB"/>
              <a:t>Plugins: RealPlayer, MediaPlayer, None</a:t>
            </a:r>
          </a:p>
          <a:p>
            <a:pPr marL="228600" indent="-228600">
              <a:buFontTx/>
              <a:buAutoNum type="arabicPeriod"/>
            </a:pPr>
            <a:r>
              <a:rPr lang="en-GB"/>
              <a:t>Win98 / Me / NT / 2000 / XP</a:t>
            </a:r>
          </a:p>
          <a:p>
            <a:pPr marL="228600" indent="-228600">
              <a:buFontTx/>
              <a:buAutoNum type="arabicPeriod"/>
            </a:pPr>
            <a:r>
              <a:rPr lang="en-GB"/>
              <a:t>Receiving pages from different servers: IIS / Apache / Weblogic</a:t>
            </a:r>
          </a:p>
          <a:p>
            <a:pPr marL="228600" indent="-228600">
              <a:buFontTx/>
              <a:buAutoNum type="arabicPeriod"/>
            </a:pPr>
            <a:r>
              <a:rPr lang="en-GB"/>
              <a:t>Running on different server OS: WinNT, 2000, Linux</a:t>
            </a:r>
          </a:p>
          <a:p>
            <a:pPr marL="228600" indent="-228600">
              <a:buFontTx/>
              <a:buAutoNum type="arabicPeriod"/>
            </a:pPr>
            <a:endParaRPr lang="en-GB"/>
          </a:p>
          <a:p>
            <a:pPr marL="228600" indent="-228600">
              <a:buFontTx/>
              <a:buAutoNum type="arabicPeriod"/>
            </a:pPr>
            <a:r>
              <a:rPr lang="en-GB"/>
              <a:t>Asiakastyypit: consumers, vip-consumers, businesses, non-profits</a:t>
            </a:r>
          </a:p>
          <a:p>
            <a:pPr marL="228600" indent="-228600">
              <a:buFontTx/>
              <a:buAutoNum type="arabicPeriod"/>
            </a:pPr>
            <a:r>
              <a:rPr lang="en-GB"/>
              <a:t>Tilityypit: checking, savings, mortgage, consymer loans, commercial loans</a:t>
            </a:r>
          </a:p>
          <a:p>
            <a:pPr marL="228600" indent="-228600">
              <a:buFontTx/>
              <a:buAutoNum type="arabicPeriod"/>
            </a:pPr>
            <a:r>
              <a:rPr lang="en-GB"/>
              <a:t> Toimipaikat: Suomi, Ruotsi,Norja, Saksa, Ranska…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46</a:t>
            </a:fld>
            <a:endParaRPr lang="fi-FI"/>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47</a:t>
            </a:fld>
            <a:endParaRPr lang="fi-FI"/>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48</a:t>
            </a:fld>
            <a:endParaRPr lang="fi-FI"/>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49</a:t>
            </a:fld>
            <a:endParaRPr lang="fi-FI"/>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50</a:t>
            </a:fld>
            <a:endParaRPr lang="fi-FI"/>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51</a:t>
            </a:fld>
            <a:endParaRPr lang="fi-FI"/>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7A9966-EFA3-4979-94A2-B0C6E2D3962D}" type="slidenum">
              <a:rPr lang="en-US"/>
              <a:pPr/>
              <a:t>52</a:t>
            </a:fld>
            <a:endParaRPr lang="en-US"/>
          </a:p>
        </p:txBody>
      </p:sp>
      <p:sp>
        <p:nvSpPr>
          <p:cNvPr id="220162" name="Rectangle 2"/>
          <p:cNvSpPr>
            <a:spLocks noGrp="1" noRot="1" noChangeAspect="1" noChangeArrowheads="1" noTextEdit="1"/>
          </p:cNvSpPr>
          <p:nvPr>
            <p:ph type="sldImg"/>
          </p:nvPr>
        </p:nvSpPr>
        <p:spPr>
          <a:xfrm>
            <a:off x="912813" y="746125"/>
            <a:ext cx="4914900" cy="3687763"/>
          </a:xfrm>
          <a:ln w="12700" cap="flat">
            <a:solidFill>
              <a:schemeClr val="tx1"/>
            </a:solidFill>
          </a:ln>
        </p:spPr>
      </p:sp>
      <p:sp>
        <p:nvSpPr>
          <p:cNvPr id="220163" name="Rectangle 3"/>
          <p:cNvSpPr>
            <a:spLocks noGrp="1" noChangeArrowheads="1"/>
          </p:cNvSpPr>
          <p:nvPr>
            <p:ph type="body" idx="1"/>
          </p:nvPr>
        </p:nvSpPr>
        <p:spPr>
          <a:xfrm>
            <a:off x="898102" y="4684580"/>
            <a:ext cx="4939560" cy="4441271"/>
          </a:xfrm>
          <a:ln/>
        </p:spPr>
        <p:txBody>
          <a:bodyPr lIns="92075" tIns="46038" rIns="92075" bIns="46038"/>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437BEA-C389-42FA-B480-492EC53A7807}" type="slidenum">
              <a:rPr lang="en-US"/>
              <a:pPr/>
              <a:t>53</a:t>
            </a:fld>
            <a:endParaRPr lang="en-US"/>
          </a:p>
        </p:txBody>
      </p:sp>
      <p:sp>
        <p:nvSpPr>
          <p:cNvPr id="222210" name="Rectangle 2"/>
          <p:cNvSpPr>
            <a:spLocks noGrp="1" noRot="1" noChangeAspect="1" noChangeArrowheads="1" noTextEdit="1"/>
          </p:cNvSpPr>
          <p:nvPr>
            <p:ph type="sldImg"/>
          </p:nvPr>
        </p:nvSpPr>
        <p:spPr>
          <a:xfrm>
            <a:off x="911225" y="746125"/>
            <a:ext cx="4918075" cy="3689350"/>
          </a:xfrm>
          <a:ln w="12700" cap="flat">
            <a:solidFill>
              <a:schemeClr val="tx1"/>
            </a:solidFill>
          </a:ln>
        </p:spPr>
      </p:sp>
      <p:sp>
        <p:nvSpPr>
          <p:cNvPr id="222211" name="Rectangle 3"/>
          <p:cNvSpPr>
            <a:spLocks noGrp="1" noChangeArrowheads="1"/>
          </p:cNvSpPr>
          <p:nvPr>
            <p:ph type="body" idx="1"/>
          </p:nvPr>
        </p:nvSpPr>
        <p:spPr>
          <a:xfrm>
            <a:off x="896543" y="4684580"/>
            <a:ext cx="4942678" cy="4441271"/>
          </a:xfrm>
          <a:ln/>
        </p:spPr>
        <p:txBody>
          <a:bodyPr lIns="95103" tIns="47553" rIns="95103" bIns="47553"/>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69BC43-203B-41CE-AE16-228CE4820C27}" type="slidenum">
              <a:rPr lang="en-US"/>
              <a:pPr/>
              <a:t>54</a:t>
            </a:fld>
            <a:endParaRPr lang="en-US"/>
          </a:p>
        </p:txBody>
      </p:sp>
      <p:sp>
        <p:nvSpPr>
          <p:cNvPr id="224258" name="Rectangle 2"/>
          <p:cNvSpPr>
            <a:spLocks noGrp="1" noRot="1" noChangeAspect="1" noChangeArrowheads="1" noTextEdit="1"/>
          </p:cNvSpPr>
          <p:nvPr>
            <p:ph type="sldImg"/>
          </p:nvPr>
        </p:nvSpPr>
        <p:spPr>
          <a:xfrm>
            <a:off x="915988" y="746125"/>
            <a:ext cx="4910137" cy="3684588"/>
          </a:xfrm>
          <a:ln w="12700" cap="flat">
            <a:solidFill>
              <a:schemeClr val="tx1"/>
            </a:solidFill>
          </a:ln>
        </p:spPr>
      </p:sp>
      <p:sp>
        <p:nvSpPr>
          <p:cNvPr id="224259" name="Rectangle 3"/>
          <p:cNvSpPr>
            <a:spLocks noGrp="1" noChangeArrowheads="1"/>
          </p:cNvSpPr>
          <p:nvPr>
            <p:ph type="body" idx="1"/>
          </p:nvPr>
        </p:nvSpPr>
        <p:spPr>
          <a:xfrm>
            <a:off x="896543" y="4684580"/>
            <a:ext cx="4942678" cy="4441271"/>
          </a:xfrm>
          <a:ln/>
        </p:spPr>
        <p:txBody>
          <a:bodyPr lIns="95113" tIns="47557" rIns="95113" bIns="47557"/>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A27F8B-01BF-4C0B-8DD6-9DE38E0AC17D}" type="slidenum">
              <a:rPr lang="en-US"/>
              <a:pPr/>
              <a:t>55</a:t>
            </a:fld>
            <a:endParaRPr lang="en-US"/>
          </a:p>
        </p:txBody>
      </p:sp>
      <p:sp>
        <p:nvSpPr>
          <p:cNvPr id="226306" name="Rectangle 2"/>
          <p:cNvSpPr>
            <a:spLocks noGrp="1" noRot="1" noChangeAspect="1" noChangeArrowheads="1" noTextEdit="1"/>
          </p:cNvSpPr>
          <p:nvPr>
            <p:ph type="sldImg"/>
          </p:nvPr>
        </p:nvSpPr>
        <p:spPr>
          <a:xfrm>
            <a:off x="912813" y="746125"/>
            <a:ext cx="4914900" cy="3687763"/>
          </a:xfrm>
          <a:ln w="12700" cap="flat">
            <a:solidFill>
              <a:schemeClr val="tx1"/>
            </a:solidFill>
          </a:ln>
        </p:spPr>
      </p:sp>
      <p:sp>
        <p:nvSpPr>
          <p:cNvPr id="226307" name="Rectangle 3"/>
          <p:cNvSpPr>
            <a:spLocks noGrp="1" noChangeArrowheads="1"/>
          </p:cNvSpPr>
          <p:nvPr>
            <p:ph type="body" idx="1"/>
          </p:nvPr>
        </p:nvSpPr>
        <p:spPr>
          <a:xfrm>
            <a:off x="898102" y="4684580"/>
            <a:ext cx="4939560" cy="4441271"/>
          </a:xfrm>
          <a:ln/>
        </p:spPr>
        <p:txBody>
          <a:bodyPr lIns="92075" tIns="46038" rIns="92075" bIns="46038"/>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481D73-7796-4B6D-B8D4-0651688F1FC8}" type="slidenum">
              <a:rPr lang="en-US"/>
              <a:pPr/>
              <a:t>56</a:t>
            </a:fld>
            <a:endParaRPr lang="en-US"/>
          </a:p>
        </p:txBody>
      </p:sp>
      <p:sp>
        <p:nvSpPr>
          <p:cNvPr id="228354" name="Rectangle 2"/>
          <p:cNvSpPr>
            <a:spLocks noGrp="1" noRot="1" noChangeAspect="1" noChangeArrowheads="1" noTextEdit="1"/>
          </p:cNvSpPr>
          <p:nvPr>
            <p:ph type="sldImg"/>
          </p:nvPr>
        </p:nvSpPr>
        <p:spPr>
          <a:xfrm>
            <a:off x="912813" y="746125"/>
            <a:ext cx="4914900" cy="3687763"/>
          </a:xfrm>
          <a:ln w="12700" cap="flat">
            <a:solidFill>
              <a:schemeClr val="tx1"/>
            </a:solidFill>
          </a:ln>
        </p:spPr>
      </p:sp>
      <p:sp>
        <p:nvSpPr>
          <p:cNvPr id="228355" name="Rectangle 3"/>
          <p:cNvSpPr>
            <a:spLocks noGrp="1" noChangeArrowheads="1"/>
          </p:cNvSpPr>
          <p:nvPr>
            <p:ph type="body" idx="1"/>
          </p:nvPr>
        </p:nvSpPr>
        <p:spPr>
          <a:xfrm>
            <a:off x="898102" y="4684580"/>
            <a:ext cx="4939560" cy="4441271"/>
          </a:xfrm>
          <a:ln/>
        </p:spPr>
        <p:txBody>
          <a:bodyPr lIns="92075" tIns="46038" rIns="92075" bIns="46038"/>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57</a:t>
            </a:fld>
            <a:endParaRPr lang="fi-FI"/>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02BCFE-39A7-4FA8-B9BC-FFA0E6BDBCF1}" type="slidenum">
              <a:rPr lang="en-US"/>
              <a:pPr/>
              <a:t>58</a:t>
            </a:fld>
            <a:endParaRPr lang="en-US"/>
          </a:p>
        </p:txBody>
      </p:sp>
      <p:sp>
        <p:nvSpPr>
          <p:cNvPr id="231426" name="Rectangle 2"/>
          <p:cNvSpPr>
            <a:spLocks noGrp="1" noRot="1" noChangeAspect="1" noChangeArrowheads="1" noTextEdit="1"/>
          </p:cNvSpPr>
          <p:nvPr>
            <p:ph type="sldImg"/>
          </p:nvPr>
        </p:nvSpPr>
        <p:spPr>
          <a:xfrm>
            <a:off x="912813" y="746125"/>
            <a:ext cx="4914900" cy="3687763"/>
          </a:xfrm>
          <a:ln w="12700" cap="flat">
            <a:solidFill>
              <a:schemeClr val="tx1"/>
            </a:solidFill>
          </a:ln>
        </p:spPr>
      </p:sp>
      <p:sp>
        <p:nvSpPr>
          <p:cNvPr id="231427" name="Rectangle 3"/>
          <p:cNvSpPr>
            <a:spLocks noGrp="1" noChangeArrowheads="1"/>
          </p:cNvSpPr>
          <p:nvPr>
            <p:ph type="body" idx="1"/>
          </p:nvPr>
        </p:nvSpPr>
        <p:spPr>
          <a:xfrm>
            <a:off x="898102" y="4684580"/>
            <a:ext cx="4939560" cy="4441271"/>
          </a:xfrm>
          <a:ln/>
        </p:spPr>
        <p:txBody>
          <a:bodyPr lIns="92075" tIns="46038" rIns="92075" bIns="46038"/>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59</a:t>
            </a:fld>
            <a:endParaRPr lang="fi-FI"/>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60</a:t>
            </a:fld>
            <a:endParaRPr lang="fi-FI"/>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28325D-514F-4C76-87ED-F729C6E4E21D}" type="slidenum">
              <a:rPr lang="en-US"/>
              <a:pPr/>
              <a:t>61</a:t>
            </a:fld>
            <a:endParaRPr lang="en-US"/>
          </a:p>
        </p:txBody>
      </p:sp>
      <p:sp>
        <p:nvSpPr>
          <p:cNvPr id="37890" name="Rectangle 2"/>
          <p:cNvSpPr>
            <a:spLocks noGrp="1" noRot="1" noChangeAspect="1" noChangeArrowheads="1" noTextEdit="1"/>
          </p:cNvSpPr>
          <p:nvPr>
            <p:ph type="sldImg"/>
          </p:nvPr>
        </p:nvSpPr>
        <p:spPr>
          <a:xfrm>
            <a:off x="900113" y="739775"/>
            <a:ext cx="4935537" cy="3703638"/>
          </a:xfrm>
          <a:ln/>
        </p:spPr>
      </p:sp>
      <p:sp>
        <p:nvSpPr>
          <p:cNvPr id="37891" name="Rectangle 3"/>
          <p:cNvSpPr>
            <a:spLocks noGrp="1" noChangeArrowheads="1"/>
          </p:cNvSpPr>
          <p:nvPr>
            <p:ph type="body" idx="1"/>
          </p:nvPr>
        </p:nvSpPr>
        <p:spPr>
          <a:xfrm>
            <a:off x="898102" y="4688006"/>
            <a:ext cx="4939560" cy="4441271"/>
          </a:xfrm>
        </p:spPr>
        <p:txBody>
          <a:bodyPr/>
          <a:lstStyle/>
          <a:p>
            <a:pPr algn="ctr">
              <a:spcBef>
                <a:spcPct val="0"/>
              </a:spcBef>
            </a:pPr>
            <a:r>
              <a:rPr lang="fi-FI">
                <a:solidFill>
                  <a:schemeClr val="bg2"/>
                </a:solidFill>
              </a:rPr>
              <a:t>Lähde: </a:t>
            </a:r>
            <a:r>
              <a:rPr lang="en-GB">
                <a:solidFill>
                  <a:schemeClr val="bg2"/>
                </a:solidFill>
              </a:rPr>
              <a:t>Craig, Jaskiel. Systematic Software Testing. 2003.</a:t>
            </a:r>
            <a:endParaRPr lang="fi-FI">
              <a:solidFill>
                <a:schemeClr val="bg2"/>
              </a:solidFill>
            </a:endParaRPr>
          </a:p>
          <a:p>
            <a:endParaRPr lang="en-GB"/>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62</a:t>
            </a:fld>
            <a:endParaRPr lang="fi-FI"/>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65</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66</a:t>
            </a:fld>
            <a:endParaRPr lang="fi-FI"/>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67</a:t>
            </a:fld>
            <a:endParaRPr lang="fi-FI"/>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7A6A13-4C41-4D62-89C6-FE52A0FC657A}" type="slidenum">
              <a:rPr lang="en-US"/>
              <a:pPr/>
              <a:t>68</a:t>
            </a:fld>
            <a:endParaRPr lang="en-US"/>
          </a:p>
        </p:txBody>
      </p:sp>
      <p:sp>
        <p:nvSpPr>
          <p:cNvPr id="80898" name="Rectangle 2"/>
          <p:cNvSpPr>
            <a:spLocks noGrp="1" noRot="1" noChangeAspect="1" noChangeArrowheads="1" noTextEdit="1"/>
          </p:cNvSpPr>
          <p:nvPr>
            <p:ph type="sldImg"/>
          </p:nvPr>
        </p:nvSpPr>
        <p:spPr>
          <a:xfrm>
            <a:off x="900113" y="739775"/>
            <a:ext cx="4935537" cy="3703638"/>
          </a:xfrm>
          <a:ln/>
        </p:spPr>
      </p:sp>
      <p:sp>
        <p:nvSpPr>
          <p:cNvPr id="80899" name="Rectangle 3"/>
          <p:cNvSpPr>
            <a:spLocks noGrp="1" noChangeArrowheads="1"/>
          </p:cNvSpPr>
          <p:nvPr>
            <p:ph type="body" idx="1"/>
          </p:nvPr>
        </p:nvSpPr>
        <p:spPr/>
        <p:txBody>
          <a:bodyPr/>
          <a:lstStyle/>
          <a:p>
            <a:r>
              <a:rPr lang="fi-FI"/>
              <a:t>Vrt. Testattavuus</a:t>
            </a:r>
          </a:p>
          <a:p>
            <a:r>
              <a:rPr lang="fi-FI"/>
              <a:t>Ohjelmisto vs. testausvaatimukset</a:t>
            </a:r>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69</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70</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71</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EF12F47-ADA5-446F-BB0A-8F3ED66DBC93}" type="slidenum">
              <a:rPr lang="fi-FI" smtClean="0"/>
              <a:pPr/>
              <a:t>76</a:t>
            </a:fld>
            <a:endParaRPr lang="fi-FI"/>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EF9EF1-E2A0-4929-82B9-078DE6907275}" type="slidenum">
              <a:rPr lang="en-US"/>
              <a:pPr/>
              <a:t>77</a:t>
            </a:fld>
            <a:endParaRPr lang="en-US"/>
          </a:p>
        </p:txBody>
      </p:sp>
      <p:sp>
        <p:nvSpPr>
          <p:cNvPr id="259074" name="Rectangle 2"/>
          <p:cNvSpPr>
            <a:spLocks noGrp="1" noRot="1" noChangeAspect="1" noChangeArrowheads="1" noTextEdit="1"/>
          </p:cNvSpPr>
          <p:nvPr>
            <p:ph type="sldImg"/>
          </p:nvPr>
        </p:nvSpPr>
        <p:spPr>
          <a:xfrm>
            <a:off x="900113" y="739775"/>
            <a:ext cx="4935537" cy="3703638"/>
          </a:xfrm>
          <a:ln/>
        </p:spPr>
      </p:sp>
      <p:sp>
        <p:nvSpPr>
          <p:cNvPr id="259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EEAA87-83F6-4E2E-BB46-F28174D5A403}" type="slidenum">
              <a:rPr lang="en-US"/>
              <a:pPr/>
              <a:t>78</a:t>
            </a:fld>
            <a:endParaRPr lang="en-US"/>
          </a:p>
        </p:txBody>
      </p:sp>
      <p:sp>
        <p:nvSpPr>
          <p:cNvPr id="239618" name="Rectangle 2"/>
          <p:cNvSpPr>
            <a:spLocks noGrp="1" noRot="1" noChangeAspect="1" noChangeArrowheads="1" noTextEdit="1"/>
          </p:cNvSpPr>
          <p:nvPr>
            <p:ph type="sldImg"/>
          </p:nvPr>
        </p:nvSpPr>
        <p:spPr>
          <a:xfrm>
            <a:off x="900113" y="739775"/>
            <a:ext cx="4935537" cy="3703638"/>
          </a:xfrm>
          <a:ln/>
        </p:spPr>
      </p:sp>
      <p:sp>
        <p:nvSpPr>
          <p:cNvPr id="239619" name="Rectangle 3"/>
          <p:cNvSpPr>
            <a:spLocks noGrp="1" noChangeArrowheads="1"/>
          </p:cNvSpPr>
          <p:nvPr>
            <p:ph type="body" idx="1"/>
          </p:nvPr>
        </p:nvSpPr>
        <p:spPr>
          <a:xfrm>
            <a:off x="898102" y="4688006"/>
            <a:ext cx="4939560" cy="4441271"/>
          </a:xfrm>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E923C9-7A58-4373-A462-8FCA4634FEC1}" type="slidenum">
              <a:rPr lang="en-US"/>
              <a:pPr/>
              <a:t>79</a:t>
            </a:fld>
            <a:endParaRPr lang="en-US"/>
          </a:p>
        </p:txBody>
      </p:sp>
      <p:sp>
        <p:nvSpPr>
          <p:cNvPr id="248834" name="Rectangle 2"/>
          <p:cNvSpPr>
            <a:spLocks noGrp="1" noRot="1" noChangeAspect="1" noChangeArrowheads="1" noTextEdit="1"/>
          </p:cNvSpPr>
          <p:nvPr>
            <p:ph type="sldImg"/>
          </p:nvPr>
        </p:nvSpPr>
        <p:spPr>
          <a:xfrm>
            <a:off x="900113" y="739775"/>
            <a:ext cx="4935537" cy="3703638"/>
          </a:xfrm>
          <a:ln/>
        </p:spPr>
      </p:sp>
      <p:sp>
        <p:nvSpPr>
          <p:cNvPr id="248835" name="Rectangle 3"/>
          <p:cNvSpPr>
            <a:spLocks noGrp="1" noChangeArrowheads="1"/>
          </p:cNvSpPr>
          <p:nvPr>
            <p:ph type="body" idx="1"/>
          </p:nvPr>
        </p:nvSpPr>
        <p:spPr>
          <a:xfrm>
            <a:off x="898102" y="4688006"/>
            <a:ext cx="4939560" cy="4441271"/>
          </a:xfrm>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304903B8-6C26-4C6B-8A55-0DBEBE34C07D}" type="slidenum">
              <a:rPr lang="en-GB"/>
              <a:pPr/>
              <a:t>81</a:t>
            </a:fld>
            <a:endParaRPr lang="en-GB"/>
          </a:p>
        </p:txBody>
      </p:sp>
      <p:sp>
        <p:nvSpPr>
          <p:cNvPr id="61442" name="Rectangle 2"/>
          <p:cNvSpPr>
            <a:spLocks noGrp="1" noRot="1" noChangeAspect="1" noChangeArrowheads="1" noTextEdit="1"/>
          </p:cNvSpPr>
          <p:nvPr>
            <p:ph type="sldImg"/>
          </p:nvPr>
        </p:nvSpPr>
        <p:spPr>
          <a:xfrm>
            <a:off x="900113" y="739775"/>
            <a:ext cx="4935537" cy="3703638"/>
          </a:xfrm>
          <a:ln/>
        </p:spPr>
      </p:sp>
      <p:sp>
        <p:nvSpPr>
          <p:cNvPr id="61443" name="Rectangle 3"/>
          <p:cNvSpPr>
            <a:spLocks noGrp="1" noChangeArrowheads="1"/>
          </p:cNvSpPr>
          <p:nvPr>
            <p:ph type="body" idx="1"/>
          </p:nvPr>
        </p:nvSpPr>
        <p:spPr/>
        <p:txBody>
          <a:bodyPr/>
          <a:lstStyle/>
          <a:p>
            <a:r>
              <a:rPr lang="en-US"/>
              <a:t>Finding is not the same as reporting! </a:t>
            </a:r>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0113" y="739775"/>
            <a:ext cx="4935537" cy="3703638"/>
          </a:xfrm>
        </p:spPr>
      </p:sp>
      <p:sp>
        <p:nvSpPr>
          <p:cNvPr id="3" name="Notes Placeholder 2"/>
          <p:cNvSpPr>
            <a:spLocks noGrp="1"/>
          </p:cNvSpPr>
          <p:nvPr>
            <p:ph type="body" idx="1"/>
          </p:nvPr>
        </p:nvSpPr>
        <p:spPr/>
        <p:txBody>
          <a:bodyPr>
            <a:normAutofit/>
          </a:bodyPr>
          <a:lstStyle/>
          <a:p>
            <a:r>
              <a:rPr lang="fi-FI" dirty="0" smtClean="0"/>
              <a:t>Kehittyä testauksessa:</a:t>
            </a:r>
            <a:r>
              <a:rPr lang="fi-FI" baseline="0" dirty="0" smtClean="0"/>
              <a:t> kunnianhimo joka jo suunnattu on usein vaikea</a:t>
            </a:r>
            <a:endParaRPr lang="fi-FI" dirty="0"/>
          </a:p>
        </p:txBody>
      </p:sp>
      <p:sp>
        <p:nvSpPr>
          <p:cNvPr id="4" name="Slide Number Placeholder 3"/>
          <p:cNvSpPr>
            <a:spLocks noGrp="1"/>
          </p:cNvSpPr>
          <p:nvPr>
            <p:ph type="sldNum" sz="quarter" idx="10"/>
          </p:nvPr>
        </p:nvSpPr>
        <p:spPr/>
        <p:txBody>
          <a:bodyPr/>
          <a:lstStyle/>
          <a:p>
            <a:fld id="{B7094B0A-0B6C-4F79-873F-D635AD60F212}" type="slidenum">
              <a:rPr lang="fi-FI" smtClean="0"/>
              <a:pPr/>
              <a:t>82</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685800" y="2130427"/>
            <a:ext cx="7772400" cy="1470025"/>
          </a:xfrm>
        </p:spPr>
        <p:txBody>
          <a:bodyPr/>
          <a:lstStyle/>
          <a:p>
            <a:r>
              <a:rPr lang="fi-FI" smtClean="0"/>
              <a:t>Muokkaa perustyyl. napsautt.</a:t>
            </a:r>
            <a:endParaRPr lang="en-US"/>
          </a:p>
        </p:txBody>
      </p:sp>
      <p:sp>
        <p:nvSpPr>
          <p:cNvPr id="3" name="Alaotsikk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smtClean="0"/>
              <a:t>Muokkaa alaotsikon perustyyliä napsautt.</a:t>
            </a:r>
            <a:endParaRPr lang="en-US"/>
          </a:p>
        </p:txBody>
      </p:sp>
      <p:sp>
        <p:nvSpPr>
          <p:cNvPr id="4" name="Päivämäärän paikkamerkki 3"/>
          <p:cNvSpPr>
            <a:spLocks noGrp="1"/>
          </p:cNvSpPr>
          <p:nvPr>
            <p:ph type="dt" sz="half" idx="10"/>
          </p:nvPr>
        </p:nvSpPr>
        <p:spPr/>
        <p:txBody>
          <a:bodyPr/>
          <a:lstStyle/>
          <a:p>
            <a:fld id="{CDD8FAE2-0552-4EB8-9C7B-ED873121B873}" type="datetime1">
              <a:rPr lang="en-US" smtClean="0"/>
              <a:pPr/>
              <a:t>23/04/15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Sisällön paikkamerkki 2"/>
          <p:cNvSpPr>
            <a:spLocks noGrp="1"/>
          </p:cNvSpPr>
          <p:nvPr>
            <p:ph idx="1"/>
          </p:nvPr>
        </p:nvSpPr>
        <p:spPr/>
        <p:txBody>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B196A396-557B-464E-B718-B8F8978E83A4}" type="datetime1">
              <a:rPr lang="en-US" smtClean="0"/>
              <a:pPr/>
              <a:t>23/04/15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722313" y="4406900"/>
            <a:ext cx="7772400" cy="1362075"/>
          </a:xfrm>
        </p:spPr>
        <p:txBody>
          <a:bodyPr anchor="t"/>
          <a:lstStyle>
            <a:lvl1pPr algn="l">
              <a:defRPr sz="4000" b="1" cap="all"/>
            </a:lvl1pPr>
          </a:lstStyle>
          <a:p>
            <a:r>
              <a:rPr lang="fi-FI" smtClean="0"/>
              <a:t>Muokkaa perustyyl. napsautt.</a:t>
            </a:r>
            <a:endParaRPr lang="en-US"/>
          </a:p>
        </p:txBody>
      </p:sp>
      <p:sp>
        <p:nvSpPr>
          <p:cNvPr id="3" name="Tekstin paikkamerkki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smtClean="0"/>
              <a:t>Muokkaa tekstin perustyylejä napsauttamalla</a:t>
            </a:r>
          </a:p>
        </p:txBody>
      </p:sp>
      <p:sp>
        <p:nvSpPr>
          <p:cNvPr id="4" name="Päivämäärän paikkamerkki 3"/>
          <p:cNvSpPr>
            <a:spLocks noGrp="1"/>
          </p:cNvSpPr>
          <p:nvPr>
            <p:ph type="dt" sz="half" idx="10"/>
          </p:nvPr>
        </p:nvSpPr>
        <p:spPr/>
        <p:txBody>
          <a:bodyPr/>
          <a:lstStyle/>
          <a:p>
            <a:fld id="{C12FC374-746A-4437-A875-AC20548014D7}" type="datetime1">
              <a:rPr lang="en-US" smtClean="0"/>
              <a:pPr/>
              <a:t>23/04/15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Sisällön paikkamerkki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Sisällön paikkamerkki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5" name="Päivämäärän paikkamerkki 4"/>
          <p:cNvSpPr>
            <a:spLocks noGrp="1"/>
          </p:cNvSpPr>
          <p:nvPr>
            <p:ph type="dt" sz="half" idx="10"/>
          </p:nvPr>
        </p:nvSpPr>
        <p:spPr/>
        <p:txBody>
          <a:bodyPr/>
          <a:lstStyle/>
          <a:p>
            <a:fld id="{020E6EE2-0FF0-49FC-9B36-C642CF1A4B25}" type="datetime1">
              <a:rPr lang="en-US" smtClean="0"/>
              <a:pPr/>
              <a:t>23/04/15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lvl1pPr>
              <a:defRPr/>
            </a:lvl1pPr>
          </a:lstStyle>
          <a:p>
            <a:r>
              <a:rPr lang="fi-FI" smtClean="0"/>
              <a:t>Muokkaa perustyyl. napsautt.</a:t>
            </a:r>
            <a:endParaRPr lang="en-US"/>
          </a:p>
        </p:txBody>
      </p:sp>
      <p:sp>
        <p:nvSpPr>
          <p:cNvPr id="3" name="Tekstin paikkamerkki 2"/>
          <p:cNvSpPr>
            <a:spLocks noGrp="1"/>
          </p:cNvSpPr>
          <p:nvPr>
            <p:ph type="body" idx="1"/>
          </p:nvPr>
        </p:nvSpPr>
        <p:spPr>
          <a:xfrm>
            <a:off x="457202"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4" name="Sisällön paikkamerkki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5" name="Tekstin paikkamerkki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smtClean="0"/>
              <a:t>Muokkaa tekstin perustyylejä napsauttamalla</a:t>
            </a:r>
          </a:p>
        </p:txBody>
      </p:sp>
      <p:sp>
        <p:nvSpPr>
          <p:cNvPr id="6" name="Sisällön paikkamerkki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7" name="Päivämäärän paikkamerkki 6"/>
          <p:cNvSpPr>
            <a:spLocks noGrp="1"/>
          </p:cNvSpPr>
          <p:nvPr>
            <p:ph type="dt" sz="half" idx="10"/>
          </p:nvPr>
        </p:nvSpPr>
        <p:spPr/>
        <p:txBody>
          <a:bodyPr/>
          <a:lstStyle/>
          <a:p>
            <a:fld id="{6864C88D-E680-4842-A524-45720D7CB60D}" type="datetime1">
              <a:rPr lang="en-US" smtClean="0"/>
              <a:pPr/>
              <a:t>23/04/15</a:t>
            </a:fld>
            <a:endParaRPr lang="en-US"/>
          </a:p>
        </p:txBody>
      </p:sp>
      <p:sp>
        <p:nvSpPr>
          <p:cNvPr id="8" name="Alatunnisteen paikkamerkki 7"/>
          <p:cNvSpPr>
            <a:spLocks noGrp="1"/>
          </p:cNvSpPr>
          <p:nvPr>
            <p:ph type="ftr" sz="quarter" idx="11"/>
          </p:nvPr>
        </p:nvSpPr>
        <p:spPr/>
        <p:txBody>
          <a:bodyPr/>
          <a:lstStyle/>
          <a:p>
            <a:endParaRPr lang="en-US"/>
          </a:p>
        </p:txBody>
      </p:sp>
      <p:sp>
        <p:nvSpPr>
          <p:cNvPr id="9" name="Dian numeron paikkamerkki 8"/>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Päivämäärän paikkamerkki 2"/>
          <p:cNvSpPr>
            <a:spLocks noGrp="1"/>
          </p:cNvSpPr>
          <p:nvPr>
            <p:ph type="dt" sz="half" idx="10"/>
          </p:nvPr>
        </p:nvSpPr>
        <p:spPr/>
        <p:txBody>
          <a:bodyPr/>
          <a:lstStyle/>
          <a:p>
            <a:fld id="{D7A03D64-3F39-47D9-A1E5-B8EAF9CC6107}" type="datetime1">
              <a:rPr lang="en-US" smtClean="0"/>
              <a:pPr/>
              <a:t>23/04/15</a:t>
            </a:fld>
            <a:endParaRPr lang="en-US"/>
          </a:p>
        </p:txBody>
      </p:sp>
      <p:sp>
        <p:nvSpPr>
          <p:cNvPr id="4" name="Alatunnisteen paikkamerkki 3"/>
          <p:cNvSpPr>
            <a:spLocks noGrp="1"/>
          </p:cNvSpPr>
          <p:nvPr>
            <p:ph type="ftr" sz="quarter" idx="11"/>
          </p:nvPr>
        </p:nvSpPr>
        <p:spPr/>
        <p:txBody>
          <a:bodyPr/>
          <a:lstStyle/>
          <a:p>
            <a:endParaRPr lang="en-US"/>
          </a:p>
        </p:txBody>
      </p:sp>
      <p:sp>
        <p:nvSpPr>
          <p:cNvPr id="5" name="Dian numeron paikkamerkki 4"/>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34D12172-478C-4CE0-9C8E-F96822430781}" type="datetime1">
              <a:rPr lang="en-US" smtClean="0"/>
              <a:pPr/>
              <a:t>23/04/15</a:t>
            </a:fld>
            <a:endParaRPr lang="en-US"/>
          </a:p>
        </p:txBody>
      </p:sp>
      <p:sp>
        <p:nvSpPr>
          <p:cNvPr id="3" name="Alatunnisteen paikkamerkki 2"/>
          <p:cNvSpPr>
            <a:spLocks noGrp="1"/>
          </p:cNvSpPr>
          <p:nvPr>
            <p:ph type="ftr" sz="quarter" idx="11"/>
          </p:nvPr>
        </p:nvSpPr>
        <p:spPr/>
        <p:txBody>
          <a:bodyPr/>
          <a:lstStyle/>
          <a:p>
            <a:endParaRPr lang="en-US"/>
          </a:p>
        </p:txBody>
      </p:sp>
      <p:sp>
        <p:nvSpPr>
          <p:cNvPr id="4" name="Dian numeron paikkamerkki 3"/>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457202" y="273050"/>
            <a:ext cx="3008313" cy="1162050"/>
          </a:xfrm>
        </p:spPr>
        <p:txBody>
          <a:bodyPr anchor="b"/>
          <a:lstStyle>
            <a:lvl1pPr algn="l">
              <a:defRPr sz="2000" b="1"/>
            </a:lvl1pPr>
          </a:lstStyle>
          <a:p>
            <a:r>
              <a:rPr lang="fi-FI" smtClean="0"/>
              <a:t>Muokkaa perustyyl. napsautt.</a:t>
            </a:r>
            <a:endParaRPr lang="en-US"/>
          </a:p>
        </p:txBody>
      </p:sp>
      <p:sp>
        <p:nvSpPr>
          <p:cNvPr id="3" name="Sisällön paikkamerkki 2"/>
          <p:cNvSpPr>
            <a:spLocks noGrp="1"/>
          </p:cNvSpPr>
          <p:nvPr>
            <p:ph idx="1"/>
          </p:nvPr>
        </p:nvSpPr>
        <p:spPr>
          <a:xfrm>
            <a:off x="3575051"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Tekstin paikkamerkki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A6A0F3A4-FC6F-47C8-9EC9-1A2EAA453FAA}" type="datetime1">
              <a:rPr lang="en-US" smtClean="0"/>
              <a:pPr/>
              <a:t>23/04/15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1792288" y="4800601"/>
            <a:ext cx="5486400" cy="566738"/>
          </a:xfrm>
        </p:spPr>
        <p:txBody>
          <a:bodyPr anchor="b"/>
          <a:lstStyle>
            <a:lvl1pPr algn="l">
              <a:defRPr sz="2000" b="1"/>
            </a:lvl1pPr>
          </a:lstStyle>
          <a:p>
            <a:r>
              <a:rPr lang="fi-FI" smtClean="0"/>
              <a:t>Muokkaa perustyyl. napsautt.</a:t>
            </a:r>
            <a:endParaRPr lang="en-US"/>
          </a:p>
        </p:txBody>
      </p:sp>
      <p:sp>
        <p:nvSpPr>
          <p:cNvPr id="3" name="Kuvan paikkamerkki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kstin paikkamerkki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smtClean="0"/>
              <a:t>Muokkaa tekstin perustyylejä napsauttamalla</a:t>
            </a:r>
          </a:p>
        </p:txBody>
      </p:sp>
      <p:sp>
        <p:nvSpPr>
          <p:cNvPr id="5" name="Päivämäärän paikkamerkki 4"/>
          <p:cNvSpPr>
            <a:spLocks noGrp="1"/>
          </p:cNvSpPr>
          <p:nvPr>
            <p:ph type="dt" sz="half" idx="10"/>
          </p:nvPr>
        </p:nvSpPr>
        <p:spPr/>
        <p:txBody>
          <a:bodyPr/>
          <a:lstStyle/>
          <a:p>
            <a:fld id="{98D468F0-3CE8-4FCE-86A6-54EB38891CBC}" type="datetime1">
              <a:rPr lang="en-US" smtClean="0"/>
              <a:pPr/>
              <a:t>23/04/15</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smtClean="0"/>
              <a:t>Muokkaa perustyyl. napsautt.</a:t>
            </a:r>
            <a:endParaRPr lang="en-US"/>
          </a:p>
        </p:txBody>
      </p:sp>
      <p:sp>
        <p:nvSpPr>
          <p:cNvPr id="3" name="Pystysuoran tekstin paikkamerkki 2"/>
          <p:cNvSpPr>
            <a:spLocks noGrp="1"/>
          </p:cNvSpPr>
          <p:nvPr>
            <p:ph type="body" orient="vert" idx="1"/>
          </p:nvPr>
        </p:nvSpPr>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35CD0664-3879-45D2-B5F5-7BCB12E5FBDC}" type="datetime1">
              <a:rPr lang="en-US" smtClean="0"/>
              <a:pPr/>
              <a:t>23/04/15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6629400" y="274640"/>
            <a:ext cx="2057400" cy="5851525"/>
          </a:xfrm>
        </p:spPr>
        <p:txBody>
          <a:bodyPr vert="eaVert"/>
          <a:lstStyle/>
          <a:p>
            <a:r>
              <a:rPr lang="fi-FI" smtClean="0"/>
              <a:t>Muokkaa perustyyl. napsautt.</a:t>
            </a:r>
            <a:endParaRPr lang="en-US"/>
          </a:p>
        </p:txBody>
      </p:sp>
      <p:sp>
        <p:nvSpPr>
          <p:cNvPr id="3" name="Pystysuoran tekstin paikkamerkki 2"/>
          <p:cNvSpPr>
            <a:spLocks noGrp="1"/>
          </p:cNvSpPr>
          <p:nvPr>
            <p:ph type="body" orient="vert" idx="1"/>
          </p:nvPr>
        </p:nvSpPr>
        <p:spPr>
          <a:xfrm>
            <a:off x="457200" y="274640"/>
            <a:ext cx="6019800" cy="5851525"/>
          </a:xfrm>
        </p:spPr>
        <p:txBody>
          <a:bodyPr vert="eaVert"/>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10"/>
          </p:nvPr>
        </p:nvSpPr>
        <p:spPr/>
        <p:txBody>
          <a:bodyPr/>
          <a:lstStyle/>
          <a:p>
            <a:fld id="{B8A5F21A-0072-4A3F-BE04-712288F1D594}" type="datetime1">
              <a:rPr lang="en-US" smtClean="0"/>
              <a:pPr/>
              <a:t>23/04/15</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005C076F-2023-4865-A680-8A52FED0D0E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2" y="152400"/>
            <a:ext cx="6870700" cy="1600200"/>
          </a:xfrm>
        </p:spPr>
        <p:txBody>
          <a:bodyPr/>
          <a:lstStyle/>
          <a:p>
            <a:r>
              <a:rPr lang="en-US" smtClean="0"/>
              <a:t>Click to edit Master title style</a:t>
            </a:r>
            <a:endParaRPr lang="fi-FI"/>
          </a:p>
        </p:txBody>
      </p:sp>
      <p:sp>
        <p:nvSpPr>
          <p:cNvPr id="3" name="Table Placeholder 2"/>
          <p:cNvSpPr>
            <a:spLocks noGrp="1"/>
          </p:cNvSpPr>
          <p:nvPr>
            <p:ph type="tbl" idx="1"/>
          </p:nvPr>
        </p:nvSpPr>
        <p:spPr>
          <a:xfrm>
            <a:off x="685800" y="1828800"/>
            <a:ext cx="7696200" cy="3657600"/>
          </a:xfrm>
        </p:spPr>
        <p:txBody>
          <a:bodyPr/>
          <a:lstStyle/>
          <a:p>
            <a:endParaRPr lang="fi-FI"/>
          </a:p>
        </p:txBody>
      </p:sp>
      <p:sp>
        <p:nvSpPr>
          <p:cNvPr id="4" name="Date Placeholder 3"/>
          <p:cNvSpPr>
            <a:spLocks noGrp="1"/>
          </p:cNvSpPr>
          <p:nvPr>
            <p:ph type="dt" sz="half" idx="10"/>
          </p:nvPr>
        </p:nvSpPr>
        <p:spPr>
          <a:xfrm>
            <a:off x="1371600" y="6248400"/>
            <a:ext cx="1905000" cy="457200"/>
          </a:xfrm>
        </p:spPr>
        <p:txBody>
          <a:bodyPr/>
          <a:lstStyle>
            <a:lvl1pPr>
              <a:defRPr/>
            </a:lvl1pPr>
          </a:lstStyle>
          <a:p>
            <a:fld id="{4E63363A-7082-4D42-8E35-CDB8841CFF35}" type="datetime1">
              <a:rPr lang="en-US" smtClean="0"/>
              <a:pPr/>
              <a:t>23/04/15</a:t>
            </a:fld>
            <a:endParaRPr lang="en-US" dirty="0"/>
          </a:p>
        </p:txBody>
      </p:sp>
      <p:sp>
        <p:nvSpPr>
          <p:cNvPr id="5" name="Footer Placeholder 4"/>
          <p:cNvSpPr>
            <a:spLocks noGrp="1"/>
          </p:cNvSpPr>
          <p:nvPr>
            <p:ph type="ftr" sz="quarter" idx="11"/>
          </p:nvPr>
        </p:nvSpPr>
        <p:spPr>
          <a:xfrm>
            <a:off x="3556000" y="6248400"/>
            <a:ext cx="2895600" cy="457200"/>
          </a:xfrm>
        </p:spPr>
        <p:txBody>
          <a:bodyPr/>
          <a:lstStyle>
            <a:lvl1pPr>
              <a:defRPr/>
            </a:lvl1pPr>
          </a:lstStyle>
          <a:p>
            <a:endParaRPr lang="en-US" dirty="0"/>
          </a:p>
        </p:txBody>
      </p:sp>
      <p:sp>
        <p:nvSpPr>
          <p:cNvPr id="6" name="Slide Number Placeholder 5"/>
          <p:cNvSpPr>
            <a:spLocks noGrp="1"/>
          </p:cNvSpPr>
          <p:nvPr>
            <p:ph type="sldNum" sz="quarter" idx="12"/>
          </p:nvPr>
        </p:nvSpPr>
        <p:spPr>
          <a:xfrm>
            <a:off x="0" y="0"/>
            <a:ext cx="1905000" cy="457200"/>
          </a:xfrm>
        </p:spPr>
        <p:txBody>
          <a:bodyPr/>
          <a:lstStyle>
            <a:lvl1pPr algn="l">
              <a:defRPr/>
            </a:lvl1pPr>
          </a:lstStyle>
          <a:p>
            <a:fld id="{F6BAA544-1D87-4DF8-B382-35943B852EA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i-FI" smtClean="0"/>
              <a:t>Muokkaa perustyyl. napsautt.</a:t>
            </a:r>
            <a:endParaRPr lang="en-US"/>
          </a:p>
        </p:txBody>
      </p:sp>
      <p:sp>
        <p:nvSpPr>
          <p:cNvPr id="3" name="Tekstin paikkamerkki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fi-FI" smtClean="0"/>
              <a:t>Muokkaa tekstin perustyylejä napsauttamalla</a:t>
            </a:r>
          </a:p>
          <a:p>
            <a:pPr lvl="1"/>
            <a:r>
              <a:rPr lang="fi-FI" smtClean="0"/>
              <a:t>toinen taso</a:t>
            </a:r>
          </a:p>
          <a:p>
            <a:pPr lvl="2"/>
            <a:r>
              <a:rPr lang="fi-FI" smtClean="0"/>
              <a:t>kolmas taso</a:t>
            </a:r>
          </a:p>
          <a:p>
            <a:pPr lvl="3"/>
            <a:r>
              <a:rPr lang="fi-FI" smtClean="0"/>
              <a:t>neljäs taso</a:t>
            </a:r>
          </a:p>
          <a:p>
            <a:pPr lvl="4"/>
            <a:r>
              <a:rPr lang="fi-FI" smtClean="0"/>
              <a:t>viides taso</a:t>
            </a:r>
            <a:endParaRPr lang="en-US"/>
          </a:p>
        </p:txBody>
      </p:sp>
      <p:sp>
        <p:nvSpPr>
          <p:cNvPr id="4" name="Päivämäärän paikkamerkki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DAACF-CB02-403D-AA16-8DEFAFDF817E}" type="datetime1">
              <a:rPr lang="en-US" smtClean="0"/>
              <a:pPr/>
              <a:t>23/04/15</a:t>
            </a:fld>
            <a:endParaRPr lang="en-US"/>
          </a:p>
        </p:txBody>
      </p:sp>
      <p:sp>
        <p:nvSpPr>
          <p:cNvPr id="5" name="Alatunnisteen paikkamerkki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Dian numeron paikkamerkki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C076F-2023-4865-A680-8A52FED0D0E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1" Type="http://schemas.openxmlformats.org/officeDocument/2006/relationships/slideLayout" Target="../slideLayouts/slideLayout2.xml"/><Relationship Id="rId2"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 Id="rId1" Type="http://schemas.openxmlformats.org/officeDocument/2006/relationships/slideLayout" Target="../slideLayouts/slideLayout2.xml"/><Relationship Id="rId2"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1.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2.xml"/><Relationship Id="rId4" Type="http://schemas.openxmlformats.org/officeDocument/2006/relationships/oleObject" Target="../embeddings/Microsoft_Excel_97_-_2004_Worksheet1.xls"/><Relationship Id="rId5" Type="http://schemas.openxmlformats.org/officeDocument/2006/relationships/image" Target="../media/image13.emf"/><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3.xml"/><Relationship Id="rId4" Type="http://schemas.openxmlformats.org/officeDocument/2006/relationships/oleObject" Target="../embeddings/oleObject1.bin"/><Relationship Id="rId5" Type="http://schemas.openxmlformats.org/officeDocument/2006/relationships/image" Target="../media/image14.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5.xml"/><Relationship Id="rId4" Type="http://schemas.openxmlformats.org/officeDocument/2006/relationships/oleObject" Target="../embeddings/Microsoft_Excel_97_-_2004_Worksheet2.xls"/><Relationship Id="rId5" Type="http://schemas.openxmlformats.org/officeDocument/2006/relationships/image" Target="../media/image15.emf"/><Relationship Id="rId1" Type="http://schemas.openxmlformats.org/officeDocument/2006/relationships/vmlDrawing" Target="../drawings/vmlDrawing3.vml"/><Relationship Id="rId2"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www.satisfice.co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8.xml"/><Relationship Id="rId4" Type="http://schemas.openxmlformats.org/officeDocument/2006/relationships/oleObject" Target="../embeddings/Microsoft_Word_97_-_2004_Document3.doc"/><Relationship Id="rId5" Type="http://schemas.openxmlformats.org/officeDocument/2006/relationships/image" Target="../media/image16.emf"/><Relationship Id="rId1" Type="http://schemas.openxmlformats.org/officeDocument/2006/relationships/vmlDrawing" Target="../drawings/vmlDrawing4.vml"/><Relationship Id="rId2"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9.xml"/><Relationship Id="rId4" Type="http://schemas.openxmlformats.org/officeDocument/2006/relationships/oleObject" Target="../embeddings/oleObject2.bin"/><Relationship Id="rId5" Type="http://schemas.openxmlformats.org/officeDocument/2006/relationships/image" Target="../media/image17.wmf"/><Relationship Id="rId6" Type="http://schemas.openxmlformats.org/officeDocument/2006/relationships/oleObject" Target="../embeddings/oleObject3.bin"/><Relationship Id="rId7" Type="http://schemas.openxmlformats.org/officeDocument/2006/relationships/image" Target="../media/image18.wmf"/><Relationship Id="rId8" Type="http://schemas.openxmlformats.org/officeDocument/2006/relationships/oleObject" Target="../embeddings/oleObject4.bin"/><Relationship Id="rId9" Type="http://schemas.openxmlformats.org/officeDocument/2006/relationships/image" Target="../media/image19.wmf"/><Relationship Id="rId10" Type="http://schemas.openxmlformats.org/officeDocument/2006/relationships/oleObject" Target="../embeddings/oleObject5.bin"/><Relationship Id="rId11" Type="http://schemas.openxmlformats.org/officeDocument/2006/relationships/image" Target="../media/image20.wmf"/><Relationship Id="rId1" Type="http://schemas.openxmlformats.org/officeDocument/2006/relationships/vmlDrawing" Target="../drawings/vmlDrawing5.vml"/><Relationship Id="rId2"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diagramData" Target="../diagrams/data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1.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 Id="rId1" Type="http://schemas.openxmlformats.org/officeDocument/2006/relationships/slideLayout" Target="../slideLayouts/slideLayout2.xml"/><Relationship Id="rId2" Type="http://schemas.openxmlformats.org/officeDocument/2006/relationships/diagramData" Target="../diagrams/data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9.xml"/><Relationship Id="rId4" Type="http://schemas.openxmlformats.org/officeDocument/2006/relationships/oleObject" Target="../embeddings/oleObject6.bin"/><Relationship Id="rId5" Type="http://schemas.openxmlformats.org/officeDocument/2006/relationships/image" Target="../media/image23.wmf"/><Relationship Id="rId1" Type="http://schemas.openxmlformats.org/officeDocument/2006/relationships/vmlDrawing" Target="../drawings/vmlDrawing6.vml"/><Relationship Id="rId2"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0.xml"/><Relationship Id="rId4" Type="http://schemas.openxmlformats.org/officeDocument/2006/relationships/oleObject" Target="../embeddings/oleObject7.bin"/><Relationship Id="rId5" Type="http://schemas.openxmlformats.org/officeDocument/2006/relationships/image" Target="../media/image24.emf"/><Relationship Id="rId1" Type="http://schemas.openxmlformats.org/officeDocument/2006/relationships/vmlDrawing" Target="../drawings/vmlDrawing7.vml"/><Relationship Id="rId2"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wmf"/><Relationship Id="rId3"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1</a:t>
            </a:fld>
            <a:endParaRPr lang="en-US"/>
          </a:p>
        </p:txBody>
      </p:sp>
      <p:sp>
        <p:nvSpPr>
          <p:cNvPr id="5" name="Nuoli oikealle 4"/>
          <p:cNvSpPr/>
          <p:nvPr/>
        </p:nvSpPr>
        <p:spPr>
          <a:xfrm>
            <a:off x="929296" y="1864248"/>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p:cNvSpPr>
            <a:spLocks noGrp="1"/>
          </p:cNvSpPr>
          <p:nvPr>
            <p:ph type="title"/>
          </p:nvPr>
        </p:nvSpPr>
        <p:spPr/>
        <p:txBody>
          <a:bodyPr/>
          <a:lstStyle/>
          <a:p>
            <a:r>
              <a:rPr lang="fi-FI" dirty="0" smtClean="0"/>
              <a:t>Testauskohteena </a:t>
            </a:r>
            <a:r>
              <a:rPr lang="fi-FI" dirty="0" err="1" smtClean="0"/>
              <a:t>Boggle</a:t>
            </a:r>
            <a:r>
              <a:rPr lang="fi-FI" dirty="0" smtClean="0"/>
              <a:t> </a:t>
            </a:r>
            <a:r>
              <a:rPr lang="fi-FI" dirty="0" err="1" smtClean="0"/>
              <a:t>Flash</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2</a:t>
            </a:fld>
            <a:endParaRPr lang="en-US"/>
          </a:p>
        </p:txBody>
      </p:sp>
      <p:pic>
        <p:nvPicPr>
          <p:cNvPr id="6" name="Kuva 5" descr="photo.JPG"/>
          <p:cNvPicPr>
            <a:picLocks noChangeAspect="1"/>
          </p:cNvPicPr>
          <p:nvPr/>
        </p:nvPicPr>
        <p:blipFill>
          <a:blip r:embed="rId2" cstate="print"/>
          <a:stretch>
            <a:fillRect/>
          </a:stretch>
        </p:blipFill>
        <p:spPr>
          <a:xfrm>
            <a:off x="2051720" y="1556792"/>
            <a:ext cx="5076056" cy="3807042"/>
          </a:xfrm>
          <a:prstGeom prst="rect">
            <a:avLst/>
          </a:prstGeom>
        </p:spPr>
      </p:pic>
      <p:sp>
        <p:nvSpPr>
          <p:cNvPr id="7" name="Tekstikehys 6"/>
          <p:cNvSpPr txBox="1"/>
          <p:nvPr/>
        </p:nvSpPr>
        <p:spPr>
          <a:xfrm>
            <a:off x="1907706" y="5445226"/>
            <a:ext cx="5225105" cy="954107"/>
          </a:xfrm>
          <a:prstGeom prst="rect">
            <a:avLst/>
          </a:prstGeom>
          <a:noFill/>
        </p:spPr>
        <p:txBody>
          <a:bodyPr wrap="square" rtlCol="0">
            <a:spAutoFit/>
          </a:bodyPr>
          <a:lstStyle/>
          <a:p>
            <a:pPr algn="ctr"/>
            <a:r>
              <a:rPr lang="fi-FI" sz="2800" dirty="0" smtClean="0"/>
              <a:t>Testattava ominaisuus: </a:t>
            </a:r>
            <a:r>
              <a:rPr lang="fi-FI" sz="2800" b="1" dirty="0" smtClean="0"/>
              <a:t>Pistelaskun oikeellisuus</a:t>
            </a:r>
            <a:endParaRPr lang="en-US" sz="2800" b="1"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p:cNvSpPr>
            <a:spLocks noGrp="1"/>
          </p:cNvSpPr>
          <p:nvPr>
            <p:ph type="title"/>
          </p:nvPr>
        </p:nvSpPr>
        <p:spPr/>
        <p:txBody>
          <a:bodyPr/>
          <a:lstStyle/>
          <a:p>
            <a:r>
              <a:rPr lang="fi-FI" dirty="0" smtClean="0"/>
              <a:t>Lisätietoja työpajasta</a:t>
            </a:r>
            <a:endParaRPr lang="en-US" dirty="0"/>
          </a:p>
        </p:txBody>
      </p:sp>
      <p:sp>
        <p:nvSpPr>
          <p:cNvPr id="6" name="Sisällön paikkamerkki 5"/>
          <p:cNvSpPr>
            <a:spLocks noGrp="1"/>
          </p:cNvSpPr>
          <p:nvPr>
            <p:ph idx="1"/>
          </p:nvPr>
        </p:nvSpPr>
        <p:spPr/>
        <p:txBody>
          <a:bodyPr>
            <a:normAutofit fontScale="92500" lnSpcReduction="20000"/>
          </a:bodyPr>
          <a:lstStyle/>
          <a:p>
            <a:r>
              <a:rPr lang="fi-FI" dirty="0" err="1" smtClean="0"/>
              <a:t>Boggle</a:t>
            </a:r>
            <a:r>
              <a:rPr lang="fi-FI" dirty="0" smtClean="0"/>
              <a:t> </a:t>
            </a:r>
            <a:r>
              <a:rPr lang="fi-FI" dirty="0" err="1" smtClean="0"/>
              <a:t>Flash</a:t>
            </a:r>
            <a:r>
              <a:rPr lang="fi-FI" dirty="0" smtClean="0"/>
              <a:t> –pelissä oikeista sanoista saa pisteitä. Pelin päätteeksi kerrotaan pelaajan pisteet vs. maksimipistemäärä.</a:t>
            </a:r>
          </a:p>
          <a:p>
            <a:r>
              <a:rPr lang="fi-FI" dirty="0" smtClean="0"/>
              <a:t>Testataan toimiiko pistelasku oikein. </a:t>
            </a:r>
          </a:p>
          <a:p>
            <a:r>
              <a:rPr lang="fi-FI" dirty="0" smtClean="0"/>
              <a:t>Pelin käyttöohje toimii määrittelynä.</a:t>
            </a:r>
          </a:p>
          <a:p>
            <a:r>
              <a:rPr lang="fi-FI" dirty="0" smtClean="0"/>
              <a:t>Kaksi testauskierrosta:</a:t>
            </a:r>
          </a:p>
          <a:p>
            <a:pPr lvl="1"/>
            <a:r>
              <a:rPr lang="fi-FI" dirty="0" smtClean="0"/>
              <a:t>Peliin tutustuminen, testauksen lähestymistavan muodostaminen (20 min)</a:t>
            </a:r>
          </a:p>
          <a:p>
            <a:pPr lvl="1"/>
            <a:r>
              <a:rPr lang="fi-FI" dirty="0" smtClean="0"/>
              <a:t>VÄLIKESKUSTELU</a:t>
            </a:r>
          </a:p>
          <a:p>
            <a:pPr lvl="1"/>
            <a:r>
              <a:rPr lang="fi-FI" dirty="0" smtClean="0"/>
              <a:t>Pistelaskun testaaminen (20 min)</a:t>
            </a:r>
          </a:p>
          <a:p>
            <a:pPr lvl="1"/>
            <a:r>
              <a:rPr lang="fi-FI" dirty="0" smtClean="0"/>
              <a:t>LOPPUKESKUSTELU</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Ryhmä 7"/>
          <p:cNvGrpSpPr/>
          <p:nvPr/>
        </p:nvGrpSpPr>
        <p:grpSpPr>
          <a:xfrm>
            <a:off x="971600" y="548682"/>
            <a:ext cx="7067128" cy="1652836"/>
            <a:chOff x="0" y="3870"/>
            <a:chExt cx="7067128" cy="281336"/>
          </a:xfrm>
        </p:grpSpPr>
        <p:sp>
          <p:nvSpPr>
            <p:cNvPr id="11" name="Pyöristetty suorakulmio 10"/>
            <p:cNvSpPr/>
            <p:nvPr/>
          </p:nvSpPr>
          <p:spPr>
            <a:xfrm>
              <a:off x="0" y="3870"/>
              <a:ext cx="7067128" cy="281336"/>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2" name="Pyöristetty suorakulmio 4"/>
            <p:cNvSpPr/>
            <p:nvPr/>
          </p:nvSpPr>
          <p:spPr>
            <a:xfrm>
              <a:off x="13734" y="17604"/>
              <a:ext cx="7039660" cy="25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Työpaja: testauskohteena </a:t>
              </a:r>
              <a:r>
                <a:rPr lang="fi-FI" sz="2800" kern="1200" dirty="0" err="1" smtClean="0"/>
                <a:t>Boggle</a:t>
              </a:r>
              <a:r>
                <a:rPr lang="fi-FI" sz="2800" kern="1200" dirty="0" smtClean="0"/>
                <a:t> </a:t>
              </a:r>
              <a:r>
                <a:rPr lang="fi-FI" sz="2800" kern="1200" dirty="0" err="1" smtClean="0"/>
                <a:t>Flash</a:t>
              </a:r>
              <a:endParaRPr lang="fi-FI"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4</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66111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5</a:t>
            </a:fld>
            <a:endParaRPr lang="en-US"/>
          </a:p>
        </p:txBody>
      </p:sp>
      <p:sp>
        <p:nvSpPr>
          <p:cNvPr id="5" name="Nuoli oikealle 4"/>
          <p:cNvSpPr/>
          <p:nvPr/>
        </p:nvSpPr>
        <p:spPr>
          <a:xfrm>
            <a:off x="929296" y="2584328"/>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SFDPOT – testauskohteen analysointi</a:t>
            </a:r>
            <a:endParaRPr lang="en-US" dirty="0"/>
          </a:p>
        </p:txBody>
      </p:sp>
      <p:sp>
        <p:nvSpPr>
          <p:cNvPr id="3" name="Sisällön paikkamerkki 2"/>
          <p:cNvSpPr>
            <a:spLocks noGrp="1"/>
          </p:cNvSpPr>
          <p:nvPr>
            <p:ph idx="1"/>
          </p:nvPr>
        </p:nvSpPr>
        <p:spPr/>
        <p:txBody>
          <a:bodyPr>
            <a:normAutofit fontScale="77500" lnSpcReduction="20000"/>
          </a:bodyPr>
          <a:lstStyle/>
          <a:p>
            <a:r>
              <a:rPr lang="en-US" dirty="0" smtClean="0"/>
              <a:t>Structure. Test what it’s made of.</a:t>
            </a:r>
          </a:p>
          <a:p>
            <a:pPr lvl="1"/>
            <a:r>
              <a:rPr lang="fi-FI" dirty="0" smtClean="0"/>
              <a:t>Rakenne. Mistä testauskohde koostuu?</a:t>
            </a:r>
            <a:endParaRPr lang="en-US" dirty="0" smtClean="0"/>
          </a:p>
          <a:p>
            <a:r>
              <a:rPr lang="en-US" dirty="0" smtClean="0"/>
              <a:t>Function. Test what it does.</a:t>
            </a:r>
          </a:p>
          <a:p>
            <a:pPr lvl="1"/>
            <a:r>
              <a:rPr lang="fi-FI" dirty="0" smtClean="0"/>
              <a:t>Toiminto. Mitä testauskohde tekee?</a:t>
            </a:r>
            <a:endParaRPr lang="en-US" dirty="0" smtClean="0"/>
          </a:p>
          <a:p>
            <a:r>
              <a:rPr lang="en-US" dirty="0" smtClean="0"/>
              <a:t>Data. Test what it does it to.</a:t>
            </a:r>
          </a:p>
          <a:p>
            <a:pPr lvl="1"/>
            <a:r>
              <a:rPr lang="fi-FI" dirty="0" smtClean="0"/>
              <a:t>Aineisto. Mitä testauskohde käsittelee?</a:t>
            </a:r>
            <a:endParaRPr lang="en-US" dirty="0" smtClean="0"/>
          </a:p>
          <a:p>
            <a:r>
              <a:rPr lang="en-US" dirty="0" smtClean="0"/>
              <a:t>Platform. Test what it depends upon.</a:t>
            </a:r>
          </a:p>
          <a:p>
            <a:pPr lvl="1"/>
            <a:r>
              <a:rPr lang="fi-FI" dirty="0" smtClean="0"/>
              <a:t>Alusta. Mille testauskohde perustuu?</a:t>
            </a:r>
            <a:endParaRPr lang="en-US" dirty="0" smtClean="0"/>
          </a:p>
          <a:p>
            <a:r>
              <a:rPr lang="en-US" dirty="0" smtClean="0"/>
              <a:t>Operations. Test how it’s used.</a:t>
            </a:r>
          </a:p>
          <a:p>
            <a:pPr lvl="1">
              <a:buNone/>
            </a:pPr>
            <a:r>
              <a:rPr lang="fi-FI" dirty="0" smtClean="0"/>
              <a:t>- Toimintoketjut. Miten testauskohdetta käytetään?</a:t>
            </a:r>
            <a:endParaRPr lang="en-US" dirty="0" smtClean="0"/>
          </a:p>
          <a:p>
            <a:r>
              <a:rPr lang="en-US" dirty="0" smtClean="0"/>
              <a:t>Time. Test how it’s affected by time.</a:t>
            </a:r>
          </a:p>
          <a:p>
            <a:pPr lvl="1"/>
            <a:r>
              <a:rPr lang="fi-FI" dirty="0" smtClean="0"/>
              <a:t>Aika. Miten aika vaikuttaa? </a:t>
            </a:r>
            <a:endParaRPr lang="en-US" dirty="0" smtClean="0"/>
          </a:p>
          <a:p>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6</a:t>
            </a:fld>
            <a:endParaRPr lang="en-US"/>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Harjoitus: SFDPOT </a:t>
            </a:r>
            <a:r>
              <a:rPr lang="fi-FI" dirty="0" err="1" smtClean="0"/>
              <a:t>Freemind</a:t>
            </a:r>
            <a:r>
              <a:rPr lang="fi-FI" dirty="0" smtClean="0"/>
              <a:t> Etsi &amp; Korvaa toiminnallisuudelle</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7</a:t>
            </a:fld>
            <a:endParaRPr lang="en-US"/>
          </a:p>
        </p:txBody>
      </p:sp>
      <p:pic>
        <p:nvPicPr>
          <p:cNvPr id="5" name="Picture 2"/>
          <p:cNvPicPr>
            <a:picLocks noChangeAspect="1" noChangeArrowheads="1"/>
          </p:cNvPicPr>
          <p:nvPr/>
        </p:nvPicPr>
        <p:blipFill>
          <a:blip r:embed="rId2" cstate="print"/>
          <a:srcRect/>
          <a:stretch>
            <a:fillRect/>
          </a:stretch>
        </p:blipFill>
        <p:spPr bwMode="auto">
          <a:xfrm>
            <a:off x="755578" y="1556792"/>
            <a:ext cx="7417996" cy="4990287"/>
          </a:xfrm>
          <a:prstGeom prst="rect">
            <a:avLst/>
          </a:prstGeom>
          <a:noFill/>
          <a:ln w="9525">
            <a:noFill/>
            <a:miter lim="800000"/>
            <a:headEnd/>
            <a:tailEnd/>
          </a:ln>
        </p:spPr>
      </p:pic>
      <p:sp>
        <p:nvSpPr>
          <p:cNvPr id="6" name="Oval 5"/>
          <p:cNvSpPr/>
          <p:nvPr/>
        </p:nvSpPr>
        <p:spPr>
          <a:xfrm>
            <a:off x="7668346" y="1484785"/>
            <a:ext cx="1214447" cy="1143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b="1" dirty="0" smtClean="0"/>
              <a:t>Free-Mind</a:t>
            </a:r>
            <a:endParaRPr lang="fi-FI" sz="2000" b="1"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a:xfrm>
            <a:off x="457200" y="413792"/>
            <a:ext cx="8229600" cy="1143000"/>
          </a:xfrm>
        </p:spPr>
        <p:txBody>
          <a:bodyPr>
            <a:normAutofit fontScale="90000"/>
          </a:bodyPr>
          <a:lstStyle/>
          <a:p>
            <a:pPr lvl="0"/>
            <a:r>
              <a:rPr lang="fi-FI" dirty="0" smtClean="0"/>
              <a:t>Monipuolisen ajattelun harjoittaminen, monipuoliset heuristiikat</a:t>
            </a:r>
            <a:endParaRPr lang="en-US" dirty="0"/>
          </a:p>
        </p:txBody>
      </p:sp>
      <p:sp>
        <p:nvSpPr>
          <p:cNvPr id="3" name="Dian numeron paikkamerkki 2"/>
          <p:cNvSpPr>
            <a:spLocks noGrp="1"/>
          </p:cNvSpPr>
          <p:nvPr>
            <p:ph type="sldNum" sz="quarter" idx="12"/>
          </p:nvPr>
        </p:nvSpPr>
        <p:spPr/>
        <p:txBody>
          <a:bodyPr/>
          <a:lstStyle/>
          <a:p>
            <a:fld id="{005C076F-2023-4865-A680-8A52FED0D0E7}" type="slidenum">
              <a:rPr lang="en-US" smtClean="0"/>
              <a:pPr/>
              <a:t>8</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323528" y="2553900"/>
            <a:ext cx="8280920" cy="2387268"/>
          </a:xfrm>
          <a:prstGeom prst="rect">
            <a:avLst/>
          </a:prstGeom>
          <a:noFill/>
          <a:ln w="9525">
            <a:noFill/>
            <a:miter lim="800000"/>
            <a:headEnd/>
            <a:tailEnd/>
          </a:ln>
          <a:effectLst/>
        </p:spPr>
      </p:pic>
      <p:sp>
        <p:nvSpPr>
          <p:cNvPr id="5" name="Tekstikehys 4"/>
          <p:cNvSpPr txBox="1"/>
          <p:nvPr/>
        </p:nvSpPr>
        <p:spPr>
          <a:xfrm>
            <a:off x="1259634" y="5301210"/>
            <a:ext cx="6122189" cy="1200329"/>
          </a:xfrm>
          <a:prstGeom prst="rect">
            <a:avLst/>
          </a:prstGeom>
          <a:noFill/>
        </p:spPr>
        <p:txBody>
          <a:bodyPr wrap="none" rtlCol="0">
            <a:spAutoFit/>
          </a:bodyPr>
          <a:lstStyle/>
          <a:p>
            <a:r>
              <a:rPr lang="fi-FI" dirty="0" err="1" smtClean="0"/>
              <a:t>Kts</a:t>
            </a:r>
            <a:r>
              <a:rPr lang="fi-FI" dirty="0" smtClean="0"/>
              <a:t>. myös </a:t>
            </a:r>
          </a:p>
          <a:p>
            <a:pPr>
              <a:buFont typeface="Arial" pitchFamily="34" charset="0"/>
              <a:buChar char="•"/>
            </a:pPr>
            <a:r>
              <a:rPr lang="fi-FI" dirty="0" smtClean="0"/>
              <a:t> The Little Black </a:t>
            </a:r>
            <a:r>
              <a:rPr lang="fi-FI" dirty="0" err="1" smtClean="0"/>
              <a:t>Book</a:t>
            </a:r>
            <a:r>
              <a:rPr lang="fi-FI" dirty="0" smtClean="0"/>
              <a:t> on </a:t>
            </a:r>
            <a:r>
              <a:rPr lang="fi-FI" dirty="0" err="1" smtClean="0"/>
              <a:t>Test</a:t>
            </a:r>
            <a:r>
              <a:rPr lang="fi-FI" dirty="0" smtClean="0"/>
              <a:t> Design. 37 </a:t>
            </a:r>
            <a:r>
              <a:rPr lang="fi-FI" dirty="0" err="1" smtClean="0"/>
              <a:t>Sources</a:t>
            </a:r>
            <a:r>
              <a:rPr lang="fi-FI" dirty="0" smtClean="0"/>
              <a:t> on </a:t>
            </a:r>
            <a:r>
              <a:rPr lang="fi-FI" dirty="0" err="1" smtClean="0"/>
              <a:t>Test</a:t>
            </a:r>
            <a:r>
              <a:rPr lang="fi-FI" dirty="0" smtClean="0"/>
              <a:t> </a:t>
            </a:r>
            <a:r>
              <a:rPr lang="fi-FI" dirty="0" err="1" smtClean="0"/>
              <a:t>Ideas</a:t>
            </a:r>
            <a:endParaRPr lang="fi-FI" dirty="0" smtClean="0"/>
          </a:p>
          <a:p>
            <a:pPr>
              <a:buFont typeface="Arial" pitchFamily="34" charset="0"/>
              <a:buChar char="•"/>
            </a:pPr>
            <a:r>
              <a:rPr lang="fi-FI" dirty="0" smtClean="0"/>
              <a:t> </a:t>
            </a:r>
            <a:r>
              <a:rPr lang="fi-FI" dirty="0" err="1" smtClean="0"/>
              <a:t>Exploratory</a:t>
            </a:r>
            <a:r>
              <a:rPr lang="fi-FI" dirty="0" smtClean="0"/>
              <a:t> </a:t>
            </a:r>
            <a:r>
              <a:rPr lang="fi-FI" dirty="0" err="1" smtClean="0"/>
              <a:t>Testing</a:t>
            </a:r>
            <a:r>
              <a:rPr lang="fi-FI" dirty="0" smtClean="0"/>
              <a:t> Dynamics</a:t>
            </a:r>
          </a:p>
          <a:p>
            <a:pPr>
              <a:buFont typeface="Arial" pitchFamily="34" charset="0"/>
              <a:buChar char="•"/>
            </a:pPr>
            <a:r>
              <a:rPr lang="fi-FI" dirty="0" smtClean="0"/>
              <a:t> </a:t>
            </a:r>
            <a:r>
              <a:rPr lang="fi-FI" dirty="0" err="1" smtClean="0"/>
              <a:t>You</a:t>
            </a:r>
            <a:r>
              <a:rPr lang="fi-FI" dirty="0" smtClean="0"/>
              <a:t> </a:t>
            </a:r>
            <a:r>
              <a:rPr lang="fi-FI" dirty="0" err="1" smtClean="0"/>
              <a:t>are</a:t>
            </a:r>
            <a:r>
              <a:rPr lang="fi-FI" dirty="0" smtClean="0"/>
              <a:t> </a:t>
            </a:r>
            <a:r>
              <a:rPr lang="fi-FI" dirty="0" err="1" smtClean="0"/>
              <a:t>not</a:t>
            </a:r>
            <a:r>
              <a:rPr lang="fi-FI" dirty="0" smtClean="0"/>
              <a:t> </a:t>
            </a:r>
            <a:r>
              <a:rPr lang="fi-FI" dirty="0" err="1" smtClean="0"/>
              <a:t>done</a:t>
            </a:r>
            <a:r>
              <a:rPr lang="fi-FI" dirty="0" smtClean="0"/>
              <a:t> </a:t>
            </a:r>
            <a:r>
              <a:rPr lang="fi-FI" dirty="0" err="1" smtClean="0"/>
              <a:t>yet</a:t>
            </a:r>
            <a:r>
              <a:rPr lang="fi-FI" dirty="0" smtClean="0"/>
              <a:t> </a:t>
            </a:r>
            <a:r>
              <a:rPr lang="fi-FI" dirty="0" err="1" smtClean="0"/>
              <a:t>-checklist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Ryhmä 7"/>
          <p:cNvGrpSpPr/>
          <p:nvPr/>
        </p:nvGrpSpPr>
        <p:grpSpPr>
          <a:xfrm>
            <a:off x="971600" y="404664"/>
            <a:ext cx="7067128" cy="1724844"/>
            <a:chOff x="0" y="803271"/>
            <a:chExt cx="7067128" cy="281336"/>
          </a:xfrm>
        </p:grpSpPr>
        <p:sp>
          <p:nvSpPr>
            <p:cNvPr id="11" name="Pyöristetty suorakulmio 10"/>
            <p:cNvSpPr/>
            <p:nvPr/>
          </p:nvSpPr>
          <p:spPr>
            <a:xfrm>
              <a:off x="0" y="803271"/>
              <a:ext cx="7067128" cy="281336"/>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2" name="Pyöristetty suorakulmio 4"/>
            <p:cNvSpPr/>
            <p:nvPr/>
          </p:nvSpPr>
          <p:spPr>
            <a:xfrm>
              <a:off x="13734" y="817005"/>
              <a:ext cx="7039660" cy="25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Heuristinen testisuunnittelu: monipuolinen testauskohteen analysointi</a:t>
              </a:r>
              <a:endParaRPr lang="en-US"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9</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66111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10</a:t>
            </a:fld>
            <a:endParaRPr lang="en-US"/>
          </a:p>
        </p:txBody>
      </p:sp>
      <p:sp>
        <p:nvSpPr>
          <p:cNvPr id="5" name="Nuoli oikealle 4"/>
          <p:cNvSpPr/>
          <p:nvPr/>
        </p:nvSpPr>
        <p:spPr>
          <a:xfrm>
            <a:off x="929296" y="3376416"/>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4425949" y="1524002"/>
            <a:ext cx="4184651" cy="4573587"/>
          </a:xfrm>
          <a:prstGeom prst="rect">
            <a:avLst/>
          </a:prstGeom>
          <a:solidFill>
            <a:schemeClr val="bg2"/>
          </a:solidFill>
          <a:ln w="12700">
            <a:noFill/>
            <a:miter lim="800000"/>
            <a:headEnd/>
            <a:tailEnd/>
          </a:ln>
          <a:effectLst/>
        </p:spPr>
        <p:txBody>
          <a:bodyPr wrap="none" lIns="90000" tIns="46800" rIns="90000" bIns="46800" anchor="ctr"/>
          <a:lstStyle/>
          <a:p>
            <a:endParaRPr lang="en-US"/>
          </a:p>
        </p:txBody>
      </p:sp>
      <p:sp>
        <p:nvSpPr>
          <p:cNvPr id="93187" name="Rectangle 3"/>
          <p:cNvSpPr>
            <a:spLocks noGrp="1" noChangeArrowheads="1"/>
          </p:cNvSpPr>
          <p:nvPr>
            <p:ph type="title"/>
          </p:nvPr>
        </p:nvSpPr>
        <p:spPr/>
        <p:txBody>
          <a:bodyPr/>
          <a:lstStyle/>
          <a:p>
            <a:pPr defTabSz="762000"/>
            <a:r>
              <a:rPr lang="en-GB"/>
              <a:t>Muutamia testausheuristiikkoja</a:t>
            </a:r>
          </a:p>
        </p:txBody>
      </p:sp>
      <p:sp>
        <p:nvSpPr>
          <p:cNvPr id="93188" name="Rectangle 4"/>
          <p:cNvSpPr>
            <a:spLocks noGrp="1" noChangeArrowheads="1"/>
          </p:cNvSpPr>
          <p:nvPr>
            <p:ph type="body" sz="half" idx="1"/>
          </p:nvPr>
        </p:nvSpPr>
        <p:spPr/>
        <p:txBody>
          <a:bodyPr/>
          <a:lstStyle/>
          <a:p>
            <a:pPr marL="0" indent="0" defTabSz="762000"/>
            <a:r>
              <a:rPr lang="en-GB" sz="2000" dirty="0" err="1"/>
              <a:t>Heuristiikka</a:t>
            </a:r>
            <a:r>
              <a:rPr lang="en-GB" sz="2000" dirty="0"/>
              <a:t> = </a:t>
            </a:r>
            <a:r>
              <a:rPr lang="en-GB" sz="2000" dirty="0" err="1"/>
              <a:t>nyrkkisääntö</a:t>
            </a:r>
            <a:endParaRPr lang="en-GB" sz="2000" dirty="0"/>
          </a:p>
          <a:p>
            <a:pPr marL="0" indent="0" defTabSz="762000"/>
            <a:r>
              <a:rPr lang="en-GB" sz="2000" dirty="0" err="1"/>
              <a:t>Ideoita</a:t>
            </a:r>
            <a:r>
              <a:rPr lang="en-GB" sz="2000" dirty="0"/>
              <a:t> </a:t>
            </a:r>
            <a:r>
              <a:rPr lang="en-GB" sz="2000" dirty="0" err="1"/>
              <a:t>asioista</a:t>
            </a:r>
            <a:r>
              <a:rPr lang="en-GB" sz="2000" dirty="0"/>
              <a:t> </a:t>
            </a:r>
            <a:r>
              <a:rPr lang="en-GB" sz="2000" dirty="0" err="1"/>
              <a:t>jotka</a:t>
            </a:r>
            <a:r>
              <a:rPr lang="en-GB" sz="2000" dirty="0"/>
              <a:t> </a:t>
            </a:r>
            <a:r>
              <a:rPr lang="en-GB" sz="2000" dirty="0" err="1"/>
              <a:t>voisi</a:t>
            </a:r>
            <a:r>
              <a:rPr lang="en-GB" sz="2000" dirty="0"/>
              <a:t> </a:t>
            </a:r>
            <a:r>
              <a:rPr lang="en-GB" sz="2000" dirty="0" err="1"/>
              <a:t>toimia</a:t>
            </a:r>
            <a:r>
              <a:rPr lang="en-GB" sz="2000" dirty="0"/>
              <a:t> – </a:t>
            </a:r>
            <a:r>
              <a:rPr lang="en-GB" sz="2000" dirty="0" err="1"/>
              <a:t>voivat</a:t>
            </a:r>
            <a:r>
              <a:rPr lang="en-GB" sz="2000" dirty="0"/>
              <a:t> olla </a:t>
            </a:r>
            <a:r>
              <a:rPr lang="en-GB" sz="2000" dirty="0" err="1"/>
              <a:t>toimimattakin</a:t>
            </a:r>
            <a:endParaRPr lang="en-GB" sz="2000" dirty="0"/>
          </a:p>
          <a:p>
            <a:pPr marL="0" indent="0" defTabSz="762000"/>
            <a:r>
              <a:rPr lang="en-GB" sz="2000" dirty="0"/>
              <a:t>“</a:t>
            </a:r>
            <a:r>
              <a:rPr lang="en-GB" sz="2000" dirty="0" err="1"/>
              <a:t>Testauksen</a:t>
            </a:r>
            <a:r>
              <a:rPr lang="en-GB" sz="2000" dirty="0"/>
              <a:t> </a:t>
            </a:r>
            <a:r>
              <a:rPr lang="en-GB" sz="2000" dirty="0" err="1"/>
              <a:t>kansanviisautta</a:t>
            </a:r>
            <a:r>
              <a:rPr lang="en-GB" sz="2000" dirty="0"/>
              <a:t>”</a:t>
            </a:r>
          </a:p>
          <a:p>
            <a:pPr marL="0" indent="0" defTabSz="762000"/>
            <a:endParaRPr lang="en-GB" sz="2000" dirty="0"/>
          </a:p>
          <a:p>
            <a:pPr marL="0" indent="0" defTabSz="762000"/>
            <a:r>
              <a:rPr lang="en-GB" sz="2000" dirty="0" err="1"/>
              <a:t>Nämä</a:t>
            </a:r>
            <a:r>
              <a:rPr lang="en-GB" sz="2000" dirty="0"/>
              <a:t> </a:t>
            </a:r>
            <a:r>
              <a:rPr lang="en-GB" sz="2000" dirty="0" err="1"/>
              <a:t>esimerkit</a:t>
            </a:r>
            <a:r>
              <a:rPr lang="en-GB" sz="2000" dirty="0"/>
              <a:t> </a:t>
            </a:r>
            <a:r>
              <a:rPr lang="en-GB" sz="2000" dirty="0" smtClean="0"/>
              <a:t>Elisabeth </a:t>
            </a:r>
            <a:r>
              <a:rPr lang="en-GB" sz="2000" smtClean="0"/>
              <a:t>Hendricksonilta. </a:t>
            </a:r>
            <a:endParaRPr lang="en-GB" sz="2000" dirty="0"/>
          </a:p>
          <a:p>
            <a:pPr marL="0" indent="0" defTabSz="762000"/>
            <a:endParaRPr lang="en-GB" sz="2000" dirty="0"/>
          </a:p>
          <a:p>
            <a:pPr marL="0" indent="0" defTabSz="762000"/>
            <a:endParaRPr lang="en-GB" sz="2000" dirty="0"/>
          </a:p>
        </p:txBody>
      </p:sp>
      <p:sp>
        <p:nvSpPr>
          <p:cNvPr id="93189" name="Rectangle 5"/>
          <p:cNvSpPr>
            <a:spLocks noGrp="1" noChangeArrowheads="1"/>
          </p:cNvSpPr>
          <p:nvPr>
            <p:ph type="body" sz="half" idx="2"/>
          </p:nvPr>
        </p:nvSpPr>
        <p:spPr>
          <a:xfrm>
            <a:off x="4616451" y="1905000"/>
            <a:ext cx="3771900" cy="3657600"/>
          </a:xfrm>
        </p:spPr>
        <p:txBody>
          <a:bodyPr>
            <a:normAutofit/>
          </a:bodyPr>
          <a:lstStyle/>
          <a:p>
            <a:pPr defTabSz="762000">
              <a:buFont typeface="Times" pitchFamily="18" charset="0"/>
              <a:buAutoNum type="arabicPeriod"/>
            </a:pPr>
            <a:r>
              <a:rPr lang="en-GB" sz="2000" dirty="0" err="1" smtClean="0"/>
              <a:t>Kultakutri:liian</a:t>
            </a:r>
            <a:r>
              <a:rPr lang="en-GB" sz="2000" dirty="0" smtClean="0"/>
              <a:t> </a:t>
            </a:r>
            <a:r>
              <a:rPr lang="en-GB" sz="2000" dirty="0" err="1"/>
              <a:t>iso</a:t>
            </a:r>
            <a:r>
              <a:rPr lang="en-GB" sz="2000" dirty="0"/>
              <a:t>, </a:t>
            </a:r>
            <a:r>
              <a:rPr lang="en-GB" sz="2000" dirty="0" err="1"/>
              <a:t>liian</a:t>
            </a:r>
            <a:r>
              <a:rPr lang="en-GB" sz="2000" dirty="0"/>
              <a:t> </a:t>
            </a:r>
            <a:r>
              <a:rPr lang="en-GB" sz="2000" dirty="0" err="1"/>
              <a:t>pieni</a:t>
            </a:r>
            <a:r>
              <a:rPr lang="en-GB" sz="2000" dirty="0"/>
              <a:t>, </a:t>
            </a:r>
            <a:r>
              <a:rPr lang="en-GB" sz="2000" dirty="0" err="1"/>
              <a:t>juuri</a:t>
            </a:r>
            <a:r>
              <a:rPr lang="en-GB" sz="2000" dirty="0"/>
              <a:t> </a:t>
            </a:r>
            <a:r>
              <a:rPr lang="en-GB" sz="2000" dirty="0" err="1"/>
              <a:t>sopiva</a:t>
            </a:r>
            <a:endParaRPr lang="en-GB" sz="2000" dirty="0"/>
          </a:p>
          <a:p>
            <a:pPr defTabSz="762000">
              <a:buFont typeface="Times" pitchFamily="18" charset="0"/>
              <a:buAutoNum type="arabicPeriod"/>
            </a:pPr>
            <a:r>
              <a:rPr lang="en-GB" sz="2000" dirty="0" err="1"/>
              <a:t>Sijainti</a:t>
            </a:r>
            <a:r>
              <a:rPr lang="en-GB" sz="2000" dirty="0"/>
              <a:t>: </a:t>
            </a:r>
            <a:r>
              <a:rPr lang="en-GB" sz="2000" dirty="0" err="1"/>
              <a:t>alussa</a:t>
            </a:r>
            <a:r>
              <a:rPr lang="en-GB" sz="2000" dirty="0"/>
              <a:t>, </a:t>
            </a:r>
            <a:r>
              <a:rPr lang="en-GB" sz="2000" dirty="0" err="1"/>
              <a:t>keskellä</a:t>
            </a:r>
            <a:r>
              <a:rPr lang="en-GB" sz="2000" dirty="0"/>
              <a:t>, </a:t>
            </a:r>
            <a:r>
              <a:rPr lang="en-GB" sz="2000" dirty="0" err="1"/>
              <a:t>lopussa</a:t>
            </a:r>
            <a:endParaRPr lang="en-GB" sz="2000" dirty="0"/>
          </a:p>
          <a:p>
            <a:pPr defTabSz="762000">
              <a:buFont typeface="Times" pitchFamily="18" charset="0"/>
              <a:buAutoNum type="arabicPeriod"/>
            </a:pPr>
            <a:r>
              <a:rPr lang="en-GB" sz="2000" dirty="0" err="1"/>
              <a:t>Laskenta</a:t>
            </a:r>
            <a:r>
              <a:rPr lang="en-GB" sz="2000" dirty="0"/>
              <a:t>: </a:t>
            </a:r>
            <a:r>
              <a:rPr lang="en-GB" sz="2000" dirty="0" err="1"/>
              <a:t>nolla</a:t>
            </a:r>
            <a:r>
              <a:rPr lang="en-GB" sz="2000" dirty="0"/>
              <a:t>, </a:t>
            </a:r>
            <a:r>
              <a:rPr lang="en-GB" sz="2000" dirty="0" err="1"/>
              <a:t>yksi</a:t>
            </a:r>
            <a:r>
              <a:rPr lang="en-GB" sz="2000" dirty="0"/>
              <a:t>, </a:t>
            </a:r>
            <a:r>
              <a:rPr lang="en-GB" sz="2000" dirty="0" err="1"/>
              <a:t>monta</a:t>
            </a:r>
            <a:endParaRPr lang="en-GB" sz="2000" dirty="0"/>
          </a:p>
          <a:p>
            <a:pPr defTabSz="762000">
              <a:buFont typeface="Times" pitchFamily="18" charset="0"/>
              <a:buAutoNum type="arabicPeriod"/>
            </a:pPr>
            <a:r>
              <a:rPr lang="en-GB" sz="2000" dirty="0" err="1"/>
              <a:t>Valinta</a:t>
            </a:r>
            <a:r>
              <a:rPr lang="en-GB" sz="2000" dirty="0"/>
              <a:t>: </a:t>
            </a:r>
            <a:r>
              <a:rPr lang="en-GB" sz="2000" dirty="0" err="1"/>
              <a:t>ei</a:t>
            </a:r>
            <a:r>
              <a:rPr lang="en-GB" sz="2000" dirty="0"/>
              <a:t> </a:t>
            </a:r>
            <a:r>
              <a:rPr lang="en-GB" sz="2000" dirty="0" err="1"/>
              <a:t>mitään</a:t>
            </a:r>
            <a:r>
              <a:rPr lang="en-GB" sz="2000" dirty="0"/>
              <a:t>, </a:t>
            </a:r>
            <a:r>
              <a:rPr lang="en-GB" sz="2000" dirty="0" err="1"/>
              <a:t>joitain</a:t>
            </a:r>
            <a:r>
              <a:rPr lang="en-GB" sz="2000" dirty="0"/>
              <a:t>, </a:t>
            </a:r>
            <a:r>
              <a:rPr lang="en-GB" sz="2000" dirty="0" err="1"/>
              <a:t>kaikki</a:t>
            </a:r>
            <a:endParaRPr lang="en-GB" sz="2000" dirty="0"/>
          </a:p>
          <a:p>
            <a:pPr defTabSz="762000">
              <a:buFont typeface="Times" pitchFamily="18" charset="0"/>
              <a:buAutoNum type="arabicPeriod"/>
            </a:pPr>
            <a:r>
              <a:rPr lang="en-GB" sz="2000" dirty="0"/>
              <a:t>CRUD: Create, Read, Update, Delete </a:t>
            </a:r>
            <a:r>
              <a:rPr lang="en-GB" sz="2000" dirty="0" err="1"/>
              <a:t>eli</a:t>
            </a:r>
            <a:r>
              <a:rPr lang="en-GB" sz="2000" dirty="0"/>
              <a:t> </a:t>
            </a:r>
            <a:r>
              <a:rPr lang="en-GB" sz="2000" dirty="0" err="1"/>
              <a:t>luo</a:t>
            </a:r>
            <a:r>
              <a:rPr lang="en-GB" sz="2000" dirty="0"/>
              <a:t>, </a:t>
            </a:r>
            <a:r>
              <a:rPr lang="en-GB" sz="2000" dirty="0" err="1"/>
              <a:t>lue</a:t>
            </a:r>
            <a:r>
              <a:rPr lang="en-GB" sz="2000" dirty="0"/>
              <a:t>, </a:t>
            </a:r>
            <a:r>
              <a:rPr lang="en-GB" sz="2000" dirty="0" err="1"/>
              <a:t>päivitä</a:t>
            </a:r>
            <a:r>
              <a:rPr lang="en-GB" sz="2000" dirty="0"/>
              <a:t>, </a:t>
            </a:r>
            <a:r>
              <a:rPr lang="en-GB" sz="2000" dirty="0" err="1"/>
              <a:t>poista</a:t>
            </a:r>
            <a:endParaRPr lang="en-GB" sz="2000" dirty="0"/>
          </a:p>
        </p:txBody>
      </p:sp>
      <p:sp>
        <p:nvSpPr>
          <p:cNvPr id="8" name="Slide Number Placeholder 7"/>
          <p:cNvSpPr>
            <a:spLocks noGrp="1"/>
          </p:cNvSpPr>
          <p:nvPr>
            <p:ph type="sldNum" sz="quarter" idx="12"/>
          </p:nvPr>
        </p:nvSpPr>
        <p:spPr/>
        <p:txBody>
          <a:bodyPr/>
          <a:lstStyle/>
          <a:p>
            <a:fld id="{6EC9AE22-300D-474E-8332-298EA3086E64}" type="slidenum">
              <a:rPr lang="en-US" smtClean="0"/>
              <a:pPr/>
              <a:t>11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Test</a:t>
            </a:r>
            <a:r>
              <a:rPr lang="fi-FI" dirty="0" smtClean="0"/>
              <a:t> </a:t>
            </a:r>
            <a:r>
              <a:rPr lang="fi-FI" dirty="0" err="1" smtClean="0"/>
              <a:t>Ideas</a:t>
            </a:r>
            <a:r>
              <a:rPr lang="fi-FI" dirty="0" smtClean="0"/>
              <a:t> / </a:t>
            </a:r>
            <a:r>
              <a:rPr lang="fi-FI" dirty="0" err="1" smtClean="0"/>
              <a:t>Quick-and-Dirty</a:t>
            </a:r>
            <a:endParaRPr lang="en-US" dirty="0"/>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781" y="1282569"/>
            <a:ext cx="8527471" cy="4522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3528" y="6093298"/>
            <a:ext cx="8640960" cy="646331"/>
          </a:xfrm>
          <a:prstGeom prst="rect">
            <a:avLst/>
          </a:prstGeom>
          <a:noFill/>
        </p:spPr>
        <p:txBody>
          <a:bodyPr wrap="square" rtlCol="0">
            <a:spAutoFit/>
          </a:bodyPr>
          <a:lstStyle/>
          <a:p>
            <a:pPr algn="ctr"/>
            <a:r>
              <a:rPr lang="fi-FI" dirty="0" err="1" smtClean="0"/>
              <a:t>Download</a:t>
            </a:r>
            <a:r>
              <a:rPr lang="fi-FI" dirty="0" smtClean="0"/>
              <a:t> the </a:t>
            </a:r>
            <a:r>
              <a:rPr lang="fi-FI" dirty="0" err="1" smtClean="0"/>
              <a:t>full</a:t>
            </a:r>
            <a:r>
              <a:rPr lang="fi-FI" dirty="0" smtClean="0"/>
              <a:t> 2-page </a:t>
            </a:r>
            <a:r>
              <a:rPr lang="fi-FI" dirty="0" err="1" smtClean="0"/>
              <a:t>Cheat</a:t>
            </a:r>
            <a:r>
              <a:rPr lang="fi-FI" dirty="0" smtClean="0"/>
              <a:t> </a:t>
            </a:r>
            <a:r>
              <a:rPr lang="fi-FI" dirty="0" err="1" smtClean="0"/>
              <a:t>Sheet</a:t>
            </a:r>
            <a:r>
              <a:rPr lang="fi-FI" dirty="0" smtClean="0"/>
              <a:t> with </a:t>
            </a:r>
            <a:r>
              <a:rPr lang="fi-FI" dirty="0" err="1" smtClean="0"/>
              <a:t>ideas</a:t>
            </a:r>
            <a:r>
              <a:rPr lang="fi-FI" dirty="0" smtClean="0"/>
              <a:t> </a:t>
            </a:r>
            <a:r>
              <a:rPr lang="fi-FI" dirty="0" err="1" smtClean="0"/>
              <a:t>from</a:t>
            </a:r>
            <a:r>
              <a:rPr lang="fi-FI" dirty="0" smtClean="0"/>
              <a:t> </a:t>
            </a:r>
            <a:r>
              <a:rPr lang="en-US" dirty="0" smtClean="0"/>
              <a:t>Elisabeth </a:t>
            </a:r>
            <a:r>
              <a:rPr lang="en-US" dirty="0"/>
              <a:t>Hendrickson, James </a:t>
            </a:r>
            <a:r>
              <a:rPr lang="en-US" dirty="0" err="1"/>
              <a:t>Lyndsay</a:t>
            </a:r>
            <a:r>
              <a:rPr lang="en-US" dirty="0"/>
              <a:t>, and Dale </a:t>
            </a:r>
            <a:r>
              <a:rPr lang="en-US" dirty="0" smtClean="0"/>
              <a:t>Emery on Qualitytree.com </a:t>
            </a:r>
            <a:endParaRPr lang="en-US" dirty="0"/>
          </a:p>
        </p:txBody>
      </p:sp>
      <p:sp>
        <p:nvSpPr>
          <p:cNvPr id="5" name="Dian numeron paikkamerkki 4"/>
          <p:cNvSpPr>
            <a:spLocks noGrp="1"/>
          </p:cNvSpPr>
          <p:nvPr>
            <p:ph type="sldNum" sz="quarter" idx="12"/>
          </p:nvPr>
        </p:nvSpPr>
        <p:spPr/>
        <p:txBody>
          <a:bodyPr/>
          <a:lstStyle/>
          <a:p>
            <a:fld id="{005C076F-2023-4865-A680-8A52FED0D0E7}" type="slidenum">
              <a:rPr lang="en-US" smtClean="0"/>
              <a:pPr/>
              <a:t>12</a:t>
            </a:fld>
            <a:endParaRPr lang="en-US"/>
          </a:p>
        </p:txBody>
      </p:sp>
    </p:spTree>
    <p:extLst>
      <p:ext uri="{BB962C8B-B14F-4D97-AF65-F5344CB8AC3E}">
        <p14:creationId xmlns:p14="http://schemas.microsoft.com/office/powerpoint/2010/main" val="127419069"/>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fi-FI" smtClean="0"/>
              <a:t>Virhelistat testien ohjauksessa</a:t>
            </a:r>
            <a:endParaRPr lang="fi-FI"/>
          </a:p>
        </p:txBody>
      </p:sp>
      <p:sp>
        <p:nvSpPr>
          <p:cNvPr id="89091" name="Rectangle 3"/>
          <p:cNvSpPr>
            <a:spLocks noGrp="1" noChangeArrowheads="1"/>
          </p:cNvSpPr>
          <p:nvPr>
            <p:ph type="body" idx="1"/>
          </p:nvPr>
        </p:nvSpPr>
        <p:spPr/>
        <p:txBody>
          <a:bodyPr>
            <a:normAutofit fontScale="62500" lnSpcReduction="20000"/>
          </a:bodyPr>
          <a:lstStyle/>
          <a:p>
            <a:r>
              <a:rPr lang="fi-FI" smtClean="0"/>
              <a:t>Testi-ideoiden luominen</a:t>
            </a:r>
          </a:p>
          <a:p>
            <a:pPr lvl="1"/>
            <a:r>
              <a:rPr lang="fi-FI" smtClean="0"/>
              <a:t>Etsi virhe listalta</a:t>
            </a:r>
          </a:p>
          <a:p>
            <a:pPr lvl="1"/>
            <a:r>
              <a:rPr lang="fi-FI" smtClean="0"/>
              <a:t>Mieti voisiko tämä olla sovelluksessa</a:t>
            </a:r>
          </a:p>
          <a:p>
            <a:pPr lvl="1"/>
            <a:r>
              <a:rPr lang="fi-FI" smtClean="0"/>
              <a:t>Mieti miten tämän virheen löytäisi</a:t>
            </a:r>
          </a:p>
          <a:p>
            <a:pPr lvl="1"/>
            <a:r>
              <a:rPr lang="fi-FI" smtClean="0"/>
              <a:t>Mieti onko seuraus testaamisen arvoinen</a:t>
            </a:r>
          </a:p>
          <a:p>
            <a:pPr lvl="1"/>
            <a:r>
              <a:rPr lang="fi-FI" smtClean="0"/>
              <a:t>Suunnittele testit löytääksesi tällaiset ongelmat</a:t>
            </a:r>
          </a:p>
          <a:p>
            <a:r>
              <a:rPr lang="fi-FI" smtClean="0"/>
              <a:t>Testisuunnitelman katselmointi</a:t>
            </a:r>
          </a:p>
          <a:p>
            <a:pPr lvl="1"/>
            <a:r>
              <a:rPr lang="fi-FI" smtClean="0"/>
              <a:t>Valitse esimerkkiluokkia</a:t>
            </a:r>
          </a:p>
          <a:p>
            <a:pPr lvl="1"/>
            <a:r>
              <a:rPr lang="fi-FI" smtClean="0"/>
              <a:t>Katso esimerkkejä kustakin luokasta</a:t>
            </a:r>
          </a:p>
          <a:p>
            <a:pPr lvl="1"/>
            <a:r>
              <a:rPr lang="fi-FI" smtClean="0"/>
              <a:t>Mieti voisiko virhe olla sovelluksessa</a:t>
            </a:r>
          </a:p>
          <a:p>
            <a:pPr lvl="1"/>
            <a:r>
              <a:rPr lang="fi-FI" smtClean="0"/>
              <a:t>Mieti löytäisikö suunniteltu testaus tämän tyyppiset ongelmat</a:t>
            </a:r>
          </a:p>
          <a:p>
            <a:r>
              <a:rPr lang="fi-FI" smtClean="0"/>
              <a:t>Jumiutumisesta vapautuminen</a:t>
            </a:r>
          </a:p>
          <a:p>
            <a:pPr lvl="1"/>
            <a:r>
              <a:rPr lang="fi-FI" smtClean="0"/>
              <a:t>Uusien ideoiden löytäminen oman laatikon ulkopuolelta</a:t>
            </a:r>
          </a:p>
          <a:p>
            <a:r>
              <a:rPr lang="fi-FI" smtClean="0"/>
              <a:t>Uusien kouluttaminen</a:t>
            </a:r>
          </a:p>
          <a:p>
            <a:pPr lvl="1"/>
            <a:r>
              <a:rPr lang="fi-FI" smtClean="0"/>
              <a:t>Esimerkkejä virheistä, haaste näiden virheiden löytämiseen</a:t>
            </a:r>
            <a:endParaRPr lang="fi-FI" dirty="0"/>
          </a:p>
        </p:txBody>
      </p:sp>
      <p:sp>
        <p:nvSpPr>
          <p:cNvPr id="6" name="Slide Number Placeholder 5"/>
          <p:cNvSpPr>
            <a:spLocks noGrp="1"/>
          </p:cNvSpPr>
          <p:nvPr>
            <p:ph type="sldNum" sz="quarter" idx="12"/>
          </p:nvPr>
        </p:nvSpPr>
        <p:spPr/>
        <p:txBody>
          <a:bodyPr/>
          <a:lstStyle/>
          <a:p>
            <a:fld id="{0925DCE1-1919-4A7B-8A7B-2A12855CDF14}" type="slidenum">
              <a:rPr lang="en-US" smtClean="0"/>
              <a:pPr/>
              <a:t>13</a:t>
            </a:fld>
            <a:endParaRPr lang="en-US"/>
          </a:p>
        </p:txBody>
      </p:sp>
      <p:sp>
        <p:nvSpPr>
          <p:cNvPr id="89092" name="Rectangle 4"/>
          <p:cNvSpPr>
            <a:spLocks noChangeArrowheads="1"/>
          </p:cNvSpPr>
          <p:nvPr/>
        </p:nvSpPr>
        <p:spPr bwMode="auto">
          <a:xfrm>
            <a:off x="6444208" y="1844825"/>
            <a:ext cx="2226965" cy="2303463"/>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en-GB">
                <a:cs typeface="Arial" pitchFamily="34" charset="0"/>
              </a:rPr>
              <a:t>Julkiset yleiskäyttöiset listat</a:t>
            </a:r>
          </a:p>
          <a:p>
            <a:pPr algn="ctr"/>
            <a:endParaRPr lang="en-GB">
              <a:cs typeface="Arial" pitchFamily="34" charset="0"/>
            </a:endParaRPr>
          </a:p>
          <a:p>
            <a:pPr algn="ctr"/>
            <a:r>
              <a:rPr lang="en-GB">
                <a:cs typeface="Arial" pitchFamily="34" charset="0"/>
              </a:rPr>
              <a:t>Oman organisaation virhetietokanta listana</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normAutofit/>
          </a:bodyPr>
          <a:lstStyle/>
          <a:p>
            <a:r>
              <a:rPr lang="en-GB" smtClean="0"/>
              <a:t>Esimerkki riskilistasta: Kustomointi</a:t>
            </a:r>
            <a:endParaRPr lang="en-GB"/>
          </a:p>
        </p:txBody>
      </p:sp>
      <p:sp>
        <p:nvSpPr>
          <p:cNvPr id="91139" name="Rectangle 3"/>
          <p:cNvSpPr>
            <a:spLocks noGrp="1" noChangeArrowheads="1"/>
          </p:cNvSpPr>
          <p:nvPr>
            <p:ph type="body" sz="half" idx="1"/>
          </p:nvPr>
        </p:nvSpPr>
        <p:spPr/>
        <p:txBody>
          <a:bodyPr>
            <a:normAutofit fontScale="47500" lnSpcReduction="20000"/>
          </a:bodyPr>
          <a:lstStyle/>
          <a:p>
            <a:r>
              <a:rPr lang="en-GB" smtClean="0"/>
              <a:t>Product customization does not change when changing a customization element</a:t>
            </a:r>
          </a:p>
          <a:p>
            <a:r>
              <a:rPr lang="en-GB" smtClean="0"/>
              <a:t>Default customization is not neutral or does not make up a full product customization (e.g. missing all text from splash)</a:t>
            </a:r>
          </a:p>
          <a:p>
            <a:r>
              <a:rPr lang="en-GB" smtClean="0"/>
              <a:t>Product falls back to default customization in error situation, which is not neutral and is too visibly spotted by users</a:t>
            </a:r>
          </a:p>
          <a:p>
            <a:r>
              <a:rPr lang="en-GB" smtClean="0"/>
              <a:t>Customizations cannot be reliably changed with keycode / segment targeting later, after the customer has installed a product</a:t>
            </a:r>
          </a:p>
          <a:p>
            <a:r>
              <a:rPr lang="en-GB" smtClean="0"/>
              <a:t>Building a Moomin IS from normal IS takes significant effort in building or testing because the process is not straightforward and error-averse</a:t>
            </a:r>
          </a:p>
          <a:p>
            <a:r>
              <a:rPr lang="en-GB" smtClean="0"/>
              <a:t>Changing resolution or other environment parameters (e.g. moving to double byte OS / to use accessibility features of OS) distorts the banners and GUI</a:t>
            </a:r>
          </a:p>
          <a:p>
            <a:r>
              <a:rPr lang="en-GB" smtClean="0"/>
              <a:t>Customization elements cannot be defined per language</a:t>
            </a:r>
          </a:p>
          <a:p>
            <a:r>
              <a:rPr lang="en-GB" smtClean="0"/>
              <a:t>Wrong structures in customization package break the product without easy recovery when taking customization package to use</a:t>
            </a:r>
          </a:p>
          <a:p>
            <a:endParaRPr lang="en-GB"/>
          </a:p>
        </p:txBody>
      </p:sp>
      <p:sp>
        <p:nvSpPr>
          <p:cNvPr id="91140" name="Rectangle 4"/>
          <p:cNvSpPr>
            <a:spLocks noGrp="1" noChangeArrowheads="1"/>
          </p:cNvSpPr>
          <p:nvPr>
            <p:ph type="body" sz="half" idx="2"/>
          </p:nvPr>
        </p:nvSpPr>
        <p:spPr/>
        <p:txBody>
          <a:bodyPr>
            <a:normAutofit fontScale="47500" lnSpcReduction="20000"/>
          </a:bodyPr>
          <a:lstStyle/>
          <a:p>
            <a:r>
              <a:rPr lang="en-GB" smtClean="0"/>
              <a:t>Customization does not get upgraded to latest changed version for some customization element with later build with changed customization</a:t>
            </a:r>
          </a:p>
          <a:p>
            <a:r>
              <a:rPr lang="en-GB" smtClean="0"/>
              <a:t>Customization bitmap is not exactly targeted size and distorts the images or does not show them properly, but is still accepted</a:t>
            </a:r>
          </a:p>
          <a:p>
            <a:r>
              <a:rPr lang="en-GB" smtClean="0"/>
              <a:t>Customization guide don't set limit on length of text, truncating the text in UI</a:t>
            </a:r>
          </a:p>
          <a:p>
            <a:r>
              <a:rPr lang="en-GB" smtClean="0"/>
              <a:t>Customization guide gives wrong string IDs for central customization elements</a:t>
            </a:r>
          </a:p>
          <a:p>
            <a:r>
              <a:rPr lang="en-GB" smtClean="0"/>
              <a:t>String IDs have changed between 6--&gt;7 and not clearly identified in customization guide and cause solution architects to recreate customization packages where strings are misplaced</a:t>
            </a:r>
          </a:p>
          <a:p>
            <a:r>
              <a:rPr lang="en-GB" smtClean="0"/>
              <a:t>MIB infopaks don't change product defaults over channel</a:t>
            </a:r>
          </a:p>
          <a:p>
            <a:r>
              <a:rPr lang="en-GB" smtClean="0"/>
              <a:t>Including new MIBs in build does not change product defaults. </a:t>
            </a:r>
          </a:p>
          <a:p>
            <a:r>
              <a:rPr lang="en-GB" smtClean="0"/>
              <a:t>F-Secure remains in some UI elements even when product is customized as ISP-version which should not be cobranded, e.g. about box </a:t>
            </a:r>
            <a:endParaRPr lang="en-GB"/>
          </a:p>
        </p:txBody>
      </p:sp>
      <p:sp>
        <p:nvSpPr>
          <p:cNvPr id="6" name="Slide Number Placeholder 6"/>
          <p:cNvSpPr>
            <a:spLocks noGrp="1"/>
          </p:cNvSpPr>
          <p:nvPr>
            <p:ph type="sldNum" sz="quarter" idx="12"/>
          </p:nvPr>
        </p:nvSpPr>
        <p:spPr/>
        <p:txBody>
          <a:bodyPr/>
          <a:lstStyle/>
          <a:p>
            <a:fld id="{3F55CF06-338A-4A4A-88B1-B7CE20636999}" type="slidenum">
              <a:rPr lang="en-US" smtClean="0"/>
              <a:pPr/>
              <a:t>14</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Virheiden tunnistamisen kyky</a:t>
            </a:r>
            <a:endParaRPr lang="fi-FI" dirty="0"/>
          </a:p>
        </p:txBody>
      </p:sp>
      <p:sp>
        <p:nvSpPr>
          <p:cNvPr id="4" name="Content Placeholder 3"/>
          <p:cNvSpPr>
            <a:spLocks noGrp="1"/>
          </p:cNvSpPr>
          <p:nvPr>
            <p:ph idx="1"/>
          </p:nvPr>
        </p:nvSpPr>
        <p:spPr/>
        <p:txBody>
          <a:bodyPr>
            <a:noAutofit/>
          </a:bodyPr>
          <a:lstStyle/>
          <a:p>
            <a:r>
              <a:rPr lang="fi-FI" sz="2000" dirty="0" smtClean="0"/>
              <a:t>Testaajan perustavaa laatua olevaa osaamista</a:t>
            </a:r>
          </a:p>
          <a:p>
            <a:pPr lvl="1"/>
            <a:r>
              <a:rPr lang="fi-FI" sz="1800" dirty="0" smtClean="0"/>
              <a:t>Oltava jokaisella testausta tekevällä: puutteesta seuraa testien suoritus ilman tuloksia</a:t>
            </a:r>
          </a:p>
          <a:p>
            <a:pPr lvl="1"/>
            <a:r>
              <a:rPr lang="fi-FI" sz="1800" dirty="0" smtClean="0"/>
              <a:t>Merkittävimpiä kehittämiskohteita henkilökohtaisen tuottavuuden lisäämiseksi</a:t>
            </a:r>
          </a:p>
          <a:p>
            <a:r>
              <a:rPr lang="fi-FI" sz="2000" dirty="0" smtClean="0"/>
              <a:t>Monenlaisia virheitä</a:t>
            </a:r>
          </a:p>
          <a:p>
            <a:pPr lvl="1"/>
            <a:r>
              <a:rPr lang="fi-FI" sz="1800" dirty="0" smtClean="0"/>
              <a:t>Kosmeettinen: kirjoitusvirheet, ulkoasu, yhdenmukaisuus</a:t>
            </a:r>
          </a:p>
          <a:p>
            <a:pPr lvl="1"/>
            <a:r>
              <a:rPr lang="fi-FI" sz="1800" dirty="0" smtClean="0"/>
              <a:t>Toiminnallinen: kaatumiset ja jumittumiset, väärä toiminnallisuus</a:t>
            </a:r>
          </a:p>
          <a:p>
            <a:pPr lvl="1"/>
            <a:r>
              <a:rPr lang="fi-FI" sz="1800" dirty="0" smtClean="0"/>
              <a:t>Tarkoitukseen sopivuus: ei ratkaise käyttäjän ongelmaa, vaikea ymmärtää</a:t>
            </a:r>
          </a:p>
          <a:p>
            <a:r>
              <a:rPr lang="fi-FI" sz="2000" dirty="0" smtClean="0"/>
              <a:t>Vinoumat vaikuttavat arviointiin</a:t>
            </a:r>
          </a:p>
          <a:p>
            <a:pPr lvl="1"/>
            <a:r>
              <a:rPr lang="fi-FI" sz="1800" dirty="0" smtClean="0"/>
              <a:t>Omat kokemukset, läheisten kokemukset, </a:t>
            </a:r>
            <a:br>
              <a:rPr lang="fi-FI" sz="1800" dirty="0" smtClean="0"/>
            </a:br>
            <a:r>
              <a:rPr lang="fi-FI" sz="1800" dirty="0" smtClean="0"/>
              <a:t>epämiellyttävien ihmisten kokemukset…</a:t>
            </a:r>
          </a:p>
          <a:p>
            <a:pPr lvl="1"/>
            <a:r>
              <a:rPr lang="fi-FI" sz="1800" dirty="0" smtClean="0"/>
              <a:t>Lähiaikojen kokemukset, menneet kokemukset</a:t>
            </a:r>
          </a:p>
          <a:p>
            <a:pPr lvl="1"/>
            <a:r>
              <a:rPr lang="fi-FI" sz="1800" dirty="0" smtClean="0"/>
              <a:t> Isot epäonnistumiset jotka koettu osuneeksi </a:t>
            </a:r>
            <a:br>
              <a:rPr lang="fi-FI" sz="1800" dirty="0" smtClean="0"/>
            </a:br>
            <a:r>
              <a:rPr lang="fi-FI" sz="1800" dirty="0" smtClean="0"/>
              <a:t>omaan nilkkaan</a:t>
            </a:r>
          </a:p>
          <a:p>
            <a:endParaRPr lang="fi-FI" sz="2000" dirty="0"/>
          </a:p>
        </p:txBody>
      </p:sp>
      <p:pic>
        <p:nvPicPr>
          <p:cNvPr id="5" name="Picture 4"/>
          <p:cNvPicPr>
            <a:picLocks noChangeAspect="1" noChangeArrowheads="1"/>
          </p:cNvPicPr>
          <p:nvPr/>
        </p:nvPicPr>
        <p:blipFill>
          <a:blip r:embed="rId3" cstate="print"/>
          <a:srcRect/>
          <a:stretch>
            <a:fillRect/>
          </a:stretch>
        </p:blipFill>
        <p:spPr bwMode="auto">
          <a:xfrm>
            <a:off x="6172200" y="5181602"/>
            <a:ext cx="2281237" cy="936625"/>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defTabSz="762000"/>
            <a:r>
              <a:rPr lang="fi-FI"/>
              <a:t>Odotetut tulokset testauksessa</a:t>
            </a:r>
          </a:p>
        </p:txBody>
      </p:sp>
      <p:sp>
        <p:nvSpPr>
          <p:cNvPr id="137219" name="AutoShape 3"/>
          <p:cNvSpPr>
            <a:spLocks noChangeArrowheads="1"/>
          </p:cNvSpPr>
          <p:nvPr/>
        </p:nvSpPr>
        <p:spPr bwMode="auto">
          <a:xfrm>
            <a:off x="5497513" y="1844675"/>
            <a:ext cx="2819400" cy="838200"/>
          </a:xfrm>
          <a:prstGeom prst="wedgeRectCallout">
            <a:avLst>
              <a:gd name="adj1" fmla="val -28546"/>
              <a:gd name="adj2" fmla="val 80491"/>
            </a:avLst>
          </a:prstGeom>
          <a:ln>
            <a:headEnd/>
            <a:tailEnd/>
          </a:ln>
        </p:spPr>
        <p:style>
          <a:lnRef idx="3">
            <a:schemeClr val="lt1"/>
          </a:lnRef>
          <a:fillRef idx="1">
            <a:schemeClr val="accent6"/>
          </a:fillRef>
          <a:effectRef idx="1">
            <a:schemeClr val="accent6"/>
          </a:effectRef>
          <a:fontRef idx="minor">
            <a:schemeClr val="lt1"/>
          </a:fontRef>
        </p:style>
        <p:txBody>
          <a:bodyPr/>
          <a:lstStyle/>
          <a:p>
            <a:pPr algn="ctr" eaLnBrk="1" hangingPunct="1"/>
            <a:r>
              <a:rPr lang="fi-FI" sz="2000" dirty="0">
                <a:solidFill>
                  <a:schemeClr val="bg1"/>
                </a:solidFill>
                <a:cs typeface="Arial" charset="0"/>
              </a:rPr>
              <a:t>Näyttää mielestäni ihan hyvältä...</a:t>
            </a:r>
            <a:endParaRPr lang="en-GB" sz="2000" dirty="0">
              <a:solidFill>
                <a:schemeClr val="bg1"/>
              </a:solidFill>
              <a:cs typeface="Arial" charset="0"/>
            </a:endParaRPr>
          </a:p>
        </p:txBody>
      </p:sp>
      <p:sp>
        <p:nvSpPr>
          <p:cNvPr id="137220" name="Rectangle 4"/>
          <p:cNvSpPr>
            <a:spLocks noChangeArrowheads="1"/>
          </p:cNvSpPr>
          <p:nvPr/>
        </p:nvSpPr>
        <p:spPr bwMode="auto">
          <a:xfrm>
            <a:off x="107951" y="1844676"/>
            <a:ext cx="2376488" cy="324008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eaLnBrk="1" hangingPunct="1"/>
            <a:r>
              <a:rPr lang="fi-FI" sz="2400">
                <a:cs typeface="Arial" charset="0"/>
              </a:rPr>
              <a:t>Oikeanlainen toiminta pitää kyetä tunnistamaan  - joskus se vaatii analysointia etukäteen. </a:t>
            </a:r>
            <a:endParaRPr lang="en-GB" sz="2400">
              <a:cs typeface="Arial" charset="0"/>
            </a:endParaRPr>
          </a:p>
        </p:txBody>
      </p:sp>
      <p:pic>
        <p:nvPicPr>
          <p:cNvPr id="137221" name="Picture 5" descr="j0078623"/>
          <p:cNvPicPr>
            <a:picLocks noChangeAspect="1" noChangeArrowheads="1"/>
          </p:cNvPicPr>
          <p:nvPr/>
        </p:nvPicPr>
        <p:blipFill>
          <a:blip r:embed="rId3" cstate="print"/>
          <a:srcRect/>
          <a:stretch>
            <a:fillRect/>
          </a:stretch>
        </p:blipFill>
        <p:spPr bwMode="auto">
          <a:xfrm>
            <a:off x="2555877" y="2133602"/>
            <a:ext cx="4146551" cy="3529013"/>
          </a:xfrm>
          <a:prstGeom prst="rect">
            <a:avLst/>
          </a:prstGeom>
          <a:noFill/>
        </p:spPr>
      </p:pic>
      <p:sp>
        <p:nvSpPr>
          <p:cNvPr id="137222" name="Rectangle 6"/>
          <p:cNvSpPr>
            <a:spLocks noChangeArrowheads="1"/>
          </p:cNvSpPr>
          <p:nvPr/>
        </p:nvSpPr>
        <p:spPr bwMode="auto">
          <a:xfrm>
            <a:off x="3635375" y="5807076"/>
            <a:ext cx="4929188" cy="935038"/>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anchor="ctr"/>
          <a:lstStyle/>
          <a:p>
            <a:pPr algn="ctr" eaLnBrk="1" hangingPunct="1"/>
            <a:r>
              <a:rPr lang="fi-FI" dirty="0">
                <a:cs typeface="Arial" charset="0"/>
              </a:rPr>
              <a:t>Testaajan pitää haluta nähdä virheitä vaikka virhettä ei osattu testitapaukseen ennustaakaan</a:t>
            </a:r>
            <a:endParaRPr lang="en-GB" dirty="0">
              <a:cs typeface="Arial"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20"/>
                                        </p:tgtEl>
                                        <p:attrNameLst>
                                          <p:attrName>style.visibility</p:attrName>
                                        </p:attrNameLst>
                                      </p:cBhvr>
                                      <p:to>
                                        <p:strVal val="visible"/>
                                      </p:to>
                                    </p:set>
                                    <p:anim calcmode="lin" valueType="num">
                                      <p:cBhvr additive="base">
                                        <p:cTn id="7" dur="500" fill="hold"/>
                                        <p:tgtEl>
                                          <p:spTgt spid="137220"/>
                                        </p:tgtEl>
                                        <p:attrNameLst>
                                          <p:attrName>ppt_x</p:attrName>
                                        </p:attrNameLst>
                                      </p:cBhvr>
                                      <p:tavLst>
                                        <p:tav tm="0">
                                          <p:val>
                                            <p:strVal val="0-#ppt_w/2"/>
                                          </p:val>
                                        </p:tav>
                                        <p:tav tm="100000">
                                          <p:val>
                                            <p:strVal val="#ppt_x"/>
                                          </p:val>
                                        </p:tav>
                                      </p:tavLst>
                                    </p:anim>
                                    <p:anim calcmode="lin" valueType="num">
                                      <p:cBhvr additive="base">
                                        <p:cTn id="8" dur="500" fill="hold"/>
                                        <p:tgtEl>
                                          <p:spTgt spid="1372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7222"/>
                                        </p:tgtEl>
                                        <p:attrNameLst>
                                          <p:attrName>style.visibility</p:attrName>
                                        </p:attrNameLst>
                                      </p:cBhvr>
                                      <p:to>
                                        <p:strVal val="visible"/>
                                      </p:to>
                                    </p:set>
                                    <p:anim calcmode="lin" valueType="num">
                                      <p:cBhvr additive="base">
                                        <p:cTn id="13" dur="500" fill="hold"/>
                                        <p:tgtEl>
                                          <p:spTgt spid="137222"/>
                                        </p:tgtEl>
                                        <p:attrNameLst>
                                          <p:attrName>ppt_x</p:attrName>
                                        </p:attrNameLst>
                                      </p:cBhvr>
                                      <p:tavLst>
                                        <p:tav tm="0">
                                          <p:val>
                                            <p:strVal val="0-#ppt_w/2"/>
                                          </p:val>
                                        </p:tav>
                                        <p:tav tm="100000">
                                          <p:val>
                                            <p:strVal val="#ppt_x"/>
                                          </p:val>
                                        </p:tav>
                                      </p:tavLst>
                                    </p:anim>
                                    <p:anim calcmode="lin" valueType="num">
                                      <p:cBhvr additive="base">
                                        <p:cTn id="14" dur="500" fill="hold"/>
                                        <p:tgtEl>
                                          <p:spTgt spid="1372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autoUpdateAnimBg="0"/>
      <p:bldP spid="137222"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AutoShape 2"/>
          <p:cNvSpPr>
            <a:spLocks noChangeArrowheads="1"/>
          </p:cNvSpPr>
          <p:nvPr/>
        </p:nvSpPr>
        <p:spPr bwMode="auto">
          <a:xfrm>
            <a:off x="6877051" y="3316288"/>
            <a:ext cx="1600200" cy="609600"/>
          </a:xfrm>
          <a:prstGeom prst="roundRect">
            <a:avLst>
              <a:gd name="adj" fmla="val 16667"/>
            </a:avLst>
          </a:prstGeom>
          <a:solidFill>
            <a:schemeClr val="folHlink"/>
          </a:solidFill>
          <a:ln w="9525">
            <a:solidFill>
              <a:schemeClr val="tx1"/>
            </a:solidFill>
            <a:miter lim="800000"/>
            <a:headEnd/>
            <a:tailEnd/>
          </a:ln>
          <a:effectLst/>
        </p:spPr>
        <p:txBody>
          <a:bodyPr anchor="ctr"/>
          <a:lstStyle/>
          <a:p>
            <a:pPr algn="ctr" eaLnBrk="1" hangingPunct="1"/>
            <a:endParaRPr lang="en-US" sz="2000">
              <a:latin typeface="Arial" charset="0"/>
              <a:cs typeface="Arial" charset="0"/>
            </a:endParaRPr>
          </a:p>
        </p:txBody>
      </p:sp>
      <p:sp>
        <p:nvSpPr>
          <p:cNvPr id="139267" name="AutoShape 3"/>
          <p:cNvSpPr>
            <a:spLocks noChangeArrowheads="1"/>
          </p:cNvSpPr>
          <p:nvPr/>
        </p:nvSpPr>
        <p:spPr bwMode="auto">
          <a:xfrm>
            <a:off x="6953251" y="4154488"/>
            <a:ext cx="1600200" cy="609600"/>
          </a:xfrm>
          <a:prstGeom prst="roundRect">
            <a:avLst>
              <a:gd name="adj" fmla="val 16667"/>
            </a:avLst>
          </a:prstGeom>
          <a:solidFill>
            <a:schemeClr val="folHlink"/>
          </a:solidFill>
          <a:ln w="9525">
            <a:solidFill>
              <a:schemeClr val="tx1"/>
            </a:solidFill>
            <a:miter lim="800000"/>
            <a:headEnd/>
            <a:tailEnd/>
          </a:ln>
          <a:effectLst/>
        </p:spPr>
        <p:txBody>
          <a:bodyPr anchor="ctr"/>
          <a:lstStyle/>
          <a:p>
            <a:pPr algn="ctr" eaLnBrk="1" hangingPunct="1"/>
            <a:endParaRPr lang="en-US" sz="2000">
              <a:latin typeface="Arial" charset="0"/>
              <a:cs typeface="Arial" charset="0"/>
            </a:endParaRPr>
          </a:p>
        </p:txBody>
      </p:sp>
      <p:sp>
        <p:nvSpPr>
          <p:cNvPr id="139268" name="AutoShape 4"/>
          <p:cNvSpPr>
            <a:spLocks noChangeArrowheads="1"/>
          </p:cNvSpPr>
          <p:nvPr/>
        </p:nvSpPr>
        <p:spPr bwMode="auto">
          <a:xfrm>
            <a:off x="6953251" y="4992688"/>
            <a:ext cx="1600200" cy="609600"/>
          </a:xfrm>
          <a:prstGeom prst="roundRect">
            <a:avLst>
              <a:gd name="adj" fmla="val 16667"/>
            </a:avLst>
          </a:prstGeom>
          <a:solidFill>
            <a:schemeClr val="folHlink"/>
          </a:solidFill>
          <a:ln w="9525">
            <a:solidFill>
              <a:schemeClr val="tx1"/>
            </a:solidFill>
            <a:miter lim="800000"/>
            <a:headEnd/>
            <a:tailEnd/>
          </a:ln>
          <a:effectLst/>
        </p:spPr>
        <p:txBody>
          <a:bodyPr anchor="ctr"/>
          <a:lstStyle/>
          <a:p>
            <a:pPr algn="ctr" eaLnBrk="1" hangingPunct="1"/>
            <a:endParaRPr lang="en-US" sz="2000">
              <a:latin typeface="Arial" charset="0"/>
              <a:cs typeface="Arial" charset="0"/>
            </a:endParaRPr>
          </a:p>
        </p:txBody>
      </p:sp>
      <p:sp>
        <p:nvSpPr>
          <p:cNvPr id="139269" name="Rectangle 5"/>
          <p:cNvSpPr>
            <a:spLocks noChangeArrowheads="1"/>
          </p:cNvSpPr>
          <p:nvPr/>
        </p:nvSpPr>
        <p:spPr bwMode="auto">
          <a:xfrm>
            <a:off x="2990851" y="3163888"/>
            <a:ext cx="2743200" cy="2819400"/>
          </a:xfrm>
          <a:prstGeom prst="rect">
            <a:avLst/>
          </a:prstGeom>
          <a:solidFill>
            <a:schemeClr val="bg2">
              <a:alpha val="50000"/>
            </a:schemeClr>
          </a:solidFill>
          <a:ln w="9525">
            <a:noFill/>
            <a:miter lim="800000"/>
            <a:headEnd/>
            <a:tailEnd/>
          </a:ln>
          <a:effectLst/>
        </p:spPr>
        <p:txBody>
          <a:bodyPr wrap="none" anchor="ctr"/>
          <a:lstStyle/>
          <a:p>
            <a:endParaRPr lang="fi-FI"/>
          </a:p>
        </p:txBody>
      </p:sp>
      <p:sp>
        <p:nvSpPr>
          <p:cNvPr id="139270" name="Rectangle 6"/>
          <p:cNvSpPr>
            <a:spLocks noChangeArrowheads="1"/>
          </p:cNvSpPr>
          <p:nvPr/>
        </p:nvSpPr>
        <p:spPr bwMode="auto">
          <a:xfrm>
            <a:off x="323851" y="1716088"/>
            <a:ext cx="8305800" cy="1447800"/>
          </a:xfrm>
          <a:prstGeom prst="rect">
            <a:avLst/>
          </a:prstGeom>
          <a:solidFill>
            <a:schemeClr val="bg2">
              <a:alpha val="50000"/>
            </a:schemeClr>
          </a:solidFill>
          <a:ln w="9525">
            <a:noFill/>
            <a:miter lim="800000"/>
            <a:headEnd/>
            <a:tailEnd/>
          </a:ln>
          <a:effectLst/>
        </p:spPr>
        <p:txBody>
          <a:bodyPr wrap="none" anchor="ctr"/>
          <a:lstStyle/>
          <a:p>
            <a:endParaRPr lang="fi-FI"/>
          </a:p>
        </p:txBody>
      </p:sp>
      <p:sp>
        <p:nvSpPr>
          <p:cNvPr id="139271" name="Rectangle 7"/>
          <p:cNvSpPr>
            <a:spLocks noGrp="1" noChangeArrowheads="1"/>
          </p:cNvSpPr>
          <p:nvPr>
            <p:ph type="title"/>
          </p:nvPr>
        </p:nvSpPr>
        <p:spPr/>
        <p:txBody>
          <a:bodyPr/>
          <a:lstStyle/>
          <a:p>
            <a:pPr defTabSz="762000"/>
            <a:r>
              <a:rPr lang="fi-FI" sz="4000"/>
              <a:t>Testattava kohde ja testioraakkeli</a:t>
            </a:r>
            <a:br>
              <a:rPr lang="fi-FI" sz="4000"/>
            </a:br>
            <a:r>
              <a:rPr lang="fi-FI" sz="1800"/>
              <a:t>Lähde: Mukaillen Doug Hoffman</a:t>
            </a:r>
          </a:p>
        </p:txBody>
      </p:sp>
      <p:sp>
        <p:nvSpPr>
          <p:cNvPr id="139272" name="Rectangle 8"/>
          <p:cNvSpPr>
            <a:spLocks noChangeArrowheads="1"/>
          </p:cNvSpPr>
          <p:nvPr/>
        </p:nvSpPr>
        <p:spPr bwMode="auto">
          <a:xfrm>
            <a:off x="3143251" y="1944688"/>
            <a:ext cx="2286000" cy="7620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sp3d>
        </p:spPr>
        <p:txBody>
          <a:bodyPr anchor="ctr">
            <a:flatTx/>
          </a:bodyPr>
          <a:lstStyle/>
          <a:p>
            <a:pPr algn="ctr" eaLnBrk="1" hangingPunct="1"/>
            <a:r>
              <a:rPr lang="fi-FI" sz="2400">
                <a:latin typeface="Arial" charset="0"/>
                <a:cs typeface="Arial" charset="0"/>
              </a:rPr>
              <a:t>Testattava järjestelmä</a:t>
            </a:r>
            <a:endParaRPr lang="en-GB" sz="2400">
              <a:latin typeface="Arial" charset="0"/>
              <a:cs typeface="Arial" charset="0"/>
            </a:endParaRPr>
          </a:p>
        </p:txBody>
      </p:sp>
      <p:sp>
        <p:nvSpPr>
          <p:cNvPr id="139273" name="Rectangle 9"/>
          <p:cNvSpPr>
            <a:spLocks noChangeArrowheads="1"/>
          </p:cNvSpPr>
          <p:nvPr/>
        </p:nvSpPr>
        <p:spPr bwMode="auto">
          <a:xfrm>
            <a:off x="3143251" y="5068888"/>
            <a:ext cx="2286000" cy="762000"/>
          </a:xfrm>
          <a:prstGeom prst="rect">
            <a:avLst/>
          </a:prstGeom>
          <a:solidFill>
            <a:schemeClr val="folHlink"/>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anchor="ctr">
            <a:flatTx/>
          </a:bodyPr>
          <a:lstStyle/>
          <a:p>
            <a:pPr algn="ctr" eaLnBrk="1" hangingPunct="1"/>
            <a:r>
              <a:rPr lang="fi-FI" sz="2400">
                <a:solidFill>
                  <a:schemeClr val="bg1"/>
                </a:solidFill>
                <a:latin typeface="Arial" charset="0"/>
                <a:cs typeface="Arial" charset="0"/>
              </a:rPr>
              <a:t>Testioraakkeli</a:t>
            </a:r>
            <a:endParaRPr lang="en-GB" sz="2400">
              <a:solidFill>
                <a:schemeClr val="bg1"/>
              </a:solidFill>
              <a:latin typeface="Arial" charset="0"/>
              <a:cs typeface="Arial" charset="0"/>
            </a:endParaRPr>
          </a:p>
        </p:txBody>
      </p:sp>
      <p:sp>
        <p:nvSpPr>
          <p:cNvPr id="139274" name="AutoShape 10"/>
          <p:cNvSpPr>
            <a:spLocks noChangeArrowheads="1"/>
          </p:cNvSpPr>
          <p:nvPr/>
        </p:nvSpPr>
        <p:spPr bwMode="auto">
          <a:xfrm>
            <a:off x="476249" y="2173288"/>
            <a:ext cx="1676400" cy="609600"/>
          </a:xfrm>
          <a:prstGeom prst="roundRect">
            <a:avLst>
              <a:gd name="adj" fmla="val 16667"/>
            </a:avLst>
          </a:prstGeom>
          <a:solidFill>
            <a:schemeClr val="accent1"/>
          </a:solidFill>
          <a:ln w="9525">
            <a:solidFill>
              <a:schemeClr val="tx1"/>
            </a:solidFill>
            <a:miter lim="800000"/>
            <a:headEnd/>
            <a:tailEnd/>
          </a:ln>
          <a:effectLst/>
        </p:spPr>
        <p:txBody>
          <a:bodyPr wrap="none" anchor="ctr"/>
          <a:lstStyle/>
          <a:p>
            <a:pPr algn="ctr" eaLnBrk="1" hangingPunct="1"/>
            <a:r>
              <a:rPr lang="fi-FI" sz="2000">
                <a:latin typeface="Arial" charset="0"/>
                <a:cs typeface="Arial" charset="0"/>
              </a:rPr>
              <a:t>Syöte</a:t>
            </a:r>
            <a:endParaRPr lang="en-GB" sz="2000">
              <a:latin typeface="Arial" charset="0"/>
              <a:cs typeface="Arial" charset="0"/>
            </a:endParaRPr>
          </a:p>
        </p:txBody>
      </p:sp>
      <p:sp>
        <p:nvSpPr>
          <p:cNvPr id="139275" name="AutoShape 11"/>
          <p:cNvSpPr>
            <a:spLocks noChangeArrowheads="1"/>
          </p:cNvSpPr>
          <p:nvPr/>
        </p:nvSpPr>
        <p:spPr bwMode="auto">
          <a:xfrm>
            <a:off x="6648451" y="1792288"/>
            <a:ext cx="1600200" cy="609600"/>
          </a:xfrm>
          <a:prstGeom prst="roundRect">
            <a:avLst>
              <a:gd name="adj" fmla="val 16667"/>
            </a:avLst>
          </a:prstGeom>
          <a:solidFill>
            <a:schemeClr val="accent1"/>
          </a:solidFill>
          <a:ln w="9525">
            <a:solidFill>
              <a:schemeClr val="tx1"/>
            </a:solidFill>
            <a:miter lim="800000"/>
            <a:headEnd/>
            <a:tailEnd/>
          </a:ln>
          <a:effectLst/>
        </p:spPr>
        <p:txBody>
          <a:bodyPr wrap="none" anchor="ctr"/>
          <a:lstStyle/>
          <a:p>
            <a:pPr algn="ctr" eaLnBrk="1" hangingPunct="1"/>
            <a:r>
              <a:rPr lang="fi-FI" sz="2000">
                <a:latin typeface="Arial" charset="0"/>
                <a:cs typeface="Arial" charset="0"/>
              </a:rPr>
              <a:t>Tulos</a:t>
            </a:r>
            <a:endParaRPr lang="en-GB" sz="2000">
              <a:latin typeface="Arial" charset="0"/>
              <a:cs typeface="Arial" charset="0"/>
            </a:endParaRPr>
          </a:p>
        </p:txBody>
      </p:sp>
      <p:cxnSp>
        <p:nvCxnSpPr>
          <p:cNvPr id="139276" name="AutoShape 12"/>
          <p:cNvCxnSpPr>
            <a:cxnSpLocks noChangeShapeType="1"/>
            <a:stCxn id="139274" idx="3"/>
            <a:endCxn id="139273" idx="1"/>
          </p:cNvCxnSpPr>
          <p:nvPr/>
        </p:nvCxnSpPr>
        <p:spPr bwMode="auto">
          <a:xfrm>
            <a:off x="2152651" y="2478088"/>
            <a:ext cx="990600" cy="2971800"/>
          </a:xfrm>
          <a:prstGeom prst="bentConnector3">
            <a:avLst>
              <a:gd name="adj1" fmla="val 50000"/>
            </a:avLst>
          </a:prstGeom>
          <a:noFill/>
          <a:ln w="19050">
            <a:solidFill>
              <a:schemeClr val="hlink"/>
            </a:solidFill>
            <a:prstDash val="sysDot"/>
            <a:miter lim="800000"/>
            <a:headEnd/>
            <a:tailEnd type="triangle" w="med" len="med"/>
          </a:ln>
          <a:effectLst/>
        </p:spPr>
      </p:cxnSp>
      <p:cxnSp>
        <p:nvCxnSpPr>
          <p:cNvPr id="139277" name="AutoShape 13"/>
          <p:cNvCxnSpPr>
            <a:cxnSpLocks noChangeShapeType="1"/>
            <a:stCxn id="139273" idx="3"/>
            <a:endCxn id="139278" idx="1"/>
          </p:cNvCxnSpPr>
          <p:nvPr/>
        </p:nvCxnSpPr>
        <p:spPr bwMode="auto">
          <a:xfrm flipV="1">
            <a:off x="5429251" y="2782888"/>
            <a:ext cx="1219200" cy="2667000"/>
          </a:xfrm>
          <a:prstGeom prst="bentConnector3">
            <a:avLst>
              <a:gd name="adj1" fmla="val 50000"/>
            </a:avLst>
          </a:prstGeom>
          <a:noFill/>
          <a:ln w="19050">
            <a:solidFill>
              <a:schemeClr val="hlink"/>
            </a:solidFill>
            <a:prstDash val="sysDot"/>
            <a:miter lim="800000"/>
            <a:headEnd/>
            <a:tailEnd type="triangle" w="med" len="med"/>
          </a:ln>
          <a:effectLst/>
        </p:spPr>
      </p:cxnSp>
      <p:sp>
        <p:nvSpPr>
          <p:cNvPr id="139278" name="AutoShape 14"/>
          <p:cNvSpPr>
            <a:spLocks noChangeArrowheads="1"/>
          </p:cNvSpPr>
          <p:nvPr/>
        </p:nvSpPr>
        <p:spPr bwMode="auto">
          <a:xfrm>
            <a:off x="6648451" y="2478088"/>
            <a:ext cx="1600200" cy="609600"/>
          </a:xfrm>
          <a:prstGeom prst="roundRect">
            <a:avLst>
              <a:gd name="adj" fmla="val 16667"/>
            </a:avLst>
          </a:prstGeom>
          <a:solidFill>
            <a:schemeClr val="folHlink"/>
          </a:solidFill>
          <a:ln w="9525">
            <a:solidFill>
              <a:schemeClr val="tx1"/>
            </a:solidFill>
            <a:miter lim="800000"/>
            <a:headEnd/>
            <a:tailEnd/>
          </a:ln>
          <a:effectLst/>
        </p:spPr>
        <p:txBody>
          <a:bodyPr anchor="ctr"/>
          <a:lstStyle/>
          <a:p>
            <a:pPr algn="ctr" eaLnBrk="1" hangingPunct="1"/>
            <a:r>
              <a:rPr lang="fi-FI" sz="2000">
                <a:solidFill>
                  <a:schemeClr val="bg1"/>
                </a:solidFill>
                <a:latin typeface="Arial" charset="0"/>
                <a:cs typeface="Arial" charset="0"/>
              </a:rPr>
              <a:t>Odotettu tulos</a:t>
            </a:r>
            <a:endParaRPr lang="en-GB" sz="2000">
              <a:solidFill>
                <a:schemeClr val="bg1"/>
              </a:solidFill>
              <a:latin typeface="Arial" charset="0"/>
              <a:cs typeface="Arial" charset="0"/>
            </a:endParaRPr>
          </a:p>
        </p:txBody>
      </p:sp>
      <p:sp>
        <p:nvSpPr>
          <p:cNvPr id="139279" name="AutoShape 15"/>
          <p:cNvSpPr>
            <a:spLocks noChangeArrowheads="1"/>
          </p:cNvSpPr>
          <p:nvPr/>
        </p:nvSpPr>
        <p:spPr bwMode="auto">
          <a:xfrm>
            <a:off x="476249" y="3468688"/>
            <a:ext cx="16764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Aineisto ennen</a:t>
            </a:r>
            <a:endParaRPr lang="en-GB" sz="2000">
              <a:latin typeface="Arial" charset="0"/>
              <a:cs typeface="Arial" charset="0"/>
            </a:endParaRPr>
          </a:p>
        </p:txBody>
      </p:sp>
      <p:sp>
        <p:nvSpPr>
          <p:cNvPr id="139280" name="AutoShape 16"/>
          <p:cNvSpPr>
            <a:spLocks noChangeArrowheads="1"/>
          </p:cNvSpPr>
          <p:nvPr/>
        </p:nvSpPr>
        <p:spPr bwMode="auto">
          <a:xfrm>
            <a:off x="476249" y="4306888"/>
            <a:ext cx="16764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Ohjelman tila ennen</a:t>
            </a:r>
            <a:endParaRPr lang="en-GB" sz="2000">
              <a:latin typeface="Arial" charset="0"/>
              <a:cs typeface="Arial" charset="0"/>
            </a:endParaRPr>
          </a:p>
        </p:txBody>
      </p:sp>
      <p:sp>
        <p:nvSpPr>
          <p:cNvPr id="139281" name="AutoShape 17"/>
          <p:cNvSpPr>
            <a:spLocks noChangeArrowheads="1"/>
          </p:cNvSpPr>
          <p:nvPr/>
        </p:nvSpPr>
        <p:spPr bwMode="auto">
          <a:xfrm>
            <a:off x="476249" y="5145088"/>
            <a:ext cx="16764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Ympäristö-syötteet</a:t>
            </a:r>
            <a:endParaRPr lang="en-GB" sz="2000">
              <a:latin typeface="Arial" charset="0"/>
              <a:cs typeface="Arial" charset="0"/>
            </a:endParaRPr>
          </a:p>
        </p:txBody>
      </p:sp>
      <p:cxnSp>
        <p:nvCxnSpPr>
          <p:cNvPr id="139282" name="AutoShape 18"/>
          <p:cNvCxnSpPr>
            <a:cxnSpLocks noChangeShapeType="1"/>
          </p:cNvCxnSpPr>
          <p:nvPr/>
        </p:nvCxnSpPr>
        <p:spPr bwMode="auto">
          <a:xfrm flipV="1">
            <a:off x="5429251" y="3621088"/>
            <a:ext cx="1447800" cy="1828800"/>
          </a:xfrm>
          <a:prstGeom prst="bentConnector3">
            <a:avLst>
              <a:gd name="adj1" fmla="val 52741"/>
            </a:avLst>
          </a:prstGeom>
          <a:noFill/>
          <a:ln w="19050">
            <a:solidFill>
              <a:schemeClr val="hlink"/>
            </a:solidFill>
            <a:prstDash val="sysDot"/>
            <a:miter lim="800000"/>
            <a:headEnd/>
            <a:tailEnd type="triangle" w="med" len="med"/>
          </a:ln>
          <a:effectLst/>
        </p:spPr>
      </p:cxnSp>
      <p:sp>
        <p:nvSpPr>
          <p:cNvPr id="139283" name="AutoShape 19"/>
          <p:cNvSpPr>
            <a:spLocks noChangeArrowheads="1"/>
          </p:cNvSpPr>
          <p:nvPr/>
        </p:nvSpPr>
        <p:spPr bwMode="auto">
          <a:xfrm>
            <a:off x="6648451" y="3468688"/>
            <a:ext cx="16002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Aineisto jälkeen</a:t>
            </a:r>
            <a:endParaRPr lang="en-GB" sz="2000">
              <a:latin typeface="Arial" charset="0"/>
              <a:cs typeface="Arial" charset="0"/>
            </a:endParaRPr>
          </a:p>
        </p:txBody>
      </p:sp>
      <p:cxnSp>
        <p:nvCxnSpPr>
          <p:cNvPr id="139284" name="AutoShape 20"/>
          <p:cNvCxnSpPr>
            <a:cxnSpLocks noChangeShapeType="1"/>
            <a:stCxn id="139273" idx="3"/>
            <a:endCxn id="139267" idx="1"/>
          </p:cNvCxnSpPr>
          <p:nvPr/>
        </p:nvCxnSpPr>
        <p:spPr bwMode="auto">
          <a:xfrm flipV="1">
            <a:off x="5429251" y="4459288"/>
            <a:ext cx="1524000" cy="990600"/>
          </a:xfrm>
          <a:prstGeom prst="bentConnector3">
            <a:avLst>
              <a:gd name="adj1" fmla="val 50000"/>
            </a:avLst>
          </a:prstGeom>
          <a:noFill/>
          <a:ln w="19050">
            <a:solidFill>
              <a:schemeClr val="hlink"/>
            </a:solidFill>
            <a:prstDash val="sysDot"/>
            <a:miter lim="800000"/>
            <a:headEnd/>
            <a:tailEnd type="triangle" w="med" len="med"/>
          </a:ln>
          <a:effectLst/>
        </p:spPr>
      </p:cxnSp>
      <p:sp>
        <p:nvSpPr>
          <p:cNvPr id="139285" name="AutoShape 21"/>
          <p:cNvSpPr>
            <a:spLocks noChangeArrowheads="1"/>
          </p:cNvSpPr>
          <p:nvPr/>
        </p:nvSpPr>
        <p:spPr bwMode="auto">
          <a:xfrm>
            <a:off x="6648451" y="4306888"/>
            <a:ext cx="16002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Ohjelman tila jälkeen</a:t>
            </a:r>
            <a:endParaRPr lang="en-GB" sz="2000">
              <a:latin typeface="Arial" charset="0"/>
              <a:cs typeface="Arial" charset="0"/>
            </a:endParaRPr>
          </a:p>
        </p:txBody>
      </p:sp>
      <p:cxnSp>
        <p:nvCxnSpPr>
          <p:cNvPr id="139286" name="AutoShape 22"/>
          <p:cNvCxnSpPr>
            <a:cxnSpLocks noChangeShapeType="1"/>
            <a:stCxn id="139273" idx="3"/>
            <a:endCxn id="139268" idx="1"/>
          </p:cNvCxnSpPr>
          <p:nvPr/>
        </p:nvCxnSpPr>
        <p:spPr bwMode="auto">
          <a:xfrm flipV="1">
            <a:off x="5429251" y="5297488"/>
            <a:ext cx="1524000" cy="152400"/>
          </a:xfrm>
          <a:prstGeom prst="bentConnector3">
            <a:avLst>
              <a:gd name="adj1" fmla="val 50000"/>
            </a:avLst>
          </a:prstGeom>
          <a:noFill/>
          <a:ln w="19050">
            <a:solidFill>
              <a:schemeClr val="hlink"/>
            </a:solidFill>
            <a:prstDash val="sysDot"/>
            <a:miter lim="800000"/>
            <a:headEnd/>
            <a:tailEnd type="triangle" w="med" len="med"/>
          </a:ln>
          <a:effectLst/>
        </p:spPr>
      </p:cxnSp>
      <p:sp>
        <p:nvSpPr>
          <p:cNvPr id="139287" name="AutoShape 23"/>
          <p:cNvSpPr>
            <a:spLocks noChangeArrowheads="1"/>
          </p:cNvSpPr>
          <p:nvPr/>
        </p:nvSpPr>
        <p:spPr bwMode="auto">
          <a:xfrm>
            <a:off x="6648451" y="5145088"/>
            <a:ext cx="1600200" cy="609600"/>
          </a:xfrm>
          <a:prstGeom prst="roundRect">
            <a:avLst>
              <a:gd name="adj" fmla="val 16667"/>
            </a:avLst>
          </a:prstGeom>
          <a:solidFill>
            <a:schemeClr val="accent1"/>
          </a:solidFill>
          <a:ln w="9525">
            <a:solidFill>
              <a:schemeClr val="tx1"/>
            </a:solidFill>
            <a:miter lim="800000"/>
            <a:headEnd/>
            <a:tailEnd/>
          </a:ln>
          <a:effectLst/>
        </p:spPr>
        <p:txBody>
          <a:bodyPr anchor="ctr"/>
          <a:lstStyle/>
          <a:p>
            <a:pPr algn="ctr" eaLnBrk="1" hangingPunct="1"/>
            <a:r>
              <a:rPr lang="fi-FI" sz="2000">
                <a:latin typeface="Arial" charset="0"/>
                <a:cs typeface="Arial" charset="0"/>
              </a:rPr>
              <a:t>Ympäristö-tulos</a:t>
            </a:r>
            <a:endParaRPr lang="en-GB" sz="2000">
              <a:latin typeface="Arial" charset="0"/>
              <a:cs typeface="Arial" charset="0"/>
            </a:endParaRPr>
          </a:p>
        </p:txBody>
      </p:sp>
      <p:cxnSp>
        <p:nvCxnSpPr>
          <p:cNvPr id="139288" name="AutoShape 24"/>
          <p:cNvCxnSpPr>
            <a:cxnSpLocks noChangeShapeType="1"/>
            <a:stCxn id="139279" idx="3"/>
            <a:endCxn id="139273" idx="1"/>
          </p:cNvCxnSpPr>
          <p:nvPr/>
        </p:nvCxnSpPr>
        <p:spPr bwMode="auto">
          <a:xfrm>
            <a:off x="2152651" y="3773488"/>
            <a:ext cx="990600" cy="1676400"/>
          </a:xfrm>
          <a:prstGeom prst="bentConnector3">
            <a:avLst>
              <a:gd name="adj1" fmla="val 50000"/>
            </a:avLst>
          </a:prstGeom>
          <a:noFill/>
          <a:ln w="19050">
            <a:solidFill>
              <a:schemeClr val="hlink"/>
            </a:solidFill>
            <a:prstDash val="sysDot"/>
            <a:miter lim="800000"/>
            <a:headEnd/>
            <a:tailEnd type="triangle" w="med" len="med"/>
          </a:ln>
          <a:effectLst/>
        </p:spPr>
      </p:cxnSp>
      <p:cxnSp>
        <p:nvCxnSpPr>
          <p:cNvPr id="139289" name="AutoShape 25"/>
          <p:cNvCxnSpPr>
            <a:cxnSpLocks noChangeShapeType="1"/>
            <a:stCxn id="139280" idx="3"/>
            <a:endCxn id="139273" idx="1"/>
          </p:cNvCxnSpPr>
          <p:nvPr/>
        </p:nvCxnSpPr>
        <p:spPr bwMode="auto">
          <a:xfrm>
            <a:off x="2152651" y="4611688"/>
            <a:ext cx="990600" cy="838200"/>
          </a:xfrm>
          <a:prstGeom prst="bentConnector3">
            <a:avLst>
              <a:gd name="adj1" fmla="val 50000"/>
            </a:avLst>
          </a:prstGeom>
          <a:noFill/>
          <a:ln w="19050">
            <a:solidFill>
              <a:schemeClr val="hlink"/>
            </a:solidFill>
            <a:prstDash val="sysDot"/>
            <a:miter lim="800000"/>
            <a:headEnd/>
            <a:tailEnd type="triangle" w="med" len="med"/>
          </a:ln>
          <a:effectLst/>
        </p:spPr>
      </p:cxnSp>
      <p:cxnSp>
        <p:nvCxnSpPr>
          <p:cNvPr id="139290" name="AutoShape 26"/>
          <p:cNvCxnSpPr>
            <a:cxnSpLocks noChangeShapeType="1"/>
            <a:stCxn id="139281" idx="3"/>
            <a:endCxn id="139273" idx="1"/>
          </p:cNvCxnSpPr>
          <p:nvPr/>
        </p:nvCxnSpPr>
        <p:spPr bwMode="auto">
          <a:xfrm>
            <a:off x="2152651" y="5449888"/>
            <a:ext cx="990600" cy="0"/>
          </a:xfrm>
          <a:prstGeom prst="straightConnector1">
            <a:avLst/>
          </a:prstGeom>
          <a:noFill/>
          <a:ln w="19050">
            <a:solidFill>
              <a:schemeClr val="hlink"/>
            </a:solidFill>
            <a:prstDash val="sysDot"/>
            <a:miter lim="800000"/>
            <a:headEnd/>
            <a:tailEnd type="triangle" w="med" len="med"/>
          </a:ln>
          <a:effectLst/>
        </p:spPr>
      </p:cxnSp>
      <p:cxnSp>
        <p:nvCxnSpPr>
          <p:cNvPr id="139291" name="AutoShape 27"/>
          <p:cNvCxnSpPr>
            <a:cxnSpLocks noChangeShapeType="1"/>
            <a:stCxn id="139274" idx="3"/>
            <a:endCxn id="139272" idx="1"/>
          </p:cNvCxnSpPr>
          <p:nvPr/>
        </p:nvCxnSpPr>
        <p:spPr bwMode="auto">
          <a:xfrm flipV="1">
            <a:off x="2152651" y="2325688"/>
            <a:ext cx="990600" cy="152400"/>
          </a:xfrm>
          <a:prstGeom prst="straightConnector1">
            <a:avLst/>
          </a:prstGeom>
          <a:noFill/>
          <a:ln w="19050">
            <a:solidFill>
              <a:schemeClr val="tx1"/>
            </a:solidFill>
            <a:miter lim="800000"/>
            <a:headEnd/>
            <a:tailEnd type="triangle" w="med" len="med"/>
          </a:ln>
          <a:effectLst/>
        </p:spPr>
      </p:cxnSp>
      <p:cxnSp>
        <p:nvCxnSpPr>
          <p:cNvPr id="139292" name="AutoShape 28"/>
          <p:cNvCxnSpPr>
            <a:cxnSpLocks noChangeShapeType="1"/>
            <a:stCxn id="139279" idx="3"/>
            <a:endCxn id="139272" idx="1"/>
          </p:cNvCxnSpPr>
          <p:nvPr/>
        </p:nvCxnSpPr>
        <p:spPr bwMode="auto">
          <a:xfrm flipV="1">
            <a:off x="2152651" y="2325688"/>
            <a:ext cx="990600" cy="1447800"/>
          </a:xfrm>
          <a:prstGeom prst="straightConnector1">
            <a:avLst/>
          </a:prstGeom>
          <a:noFill/>
          <a:ln w="19050">
            <a:solidFill>
              <a:schemeClr val="tx1"/>
            </a:solidFill>
            <a:miter lim="800000"/>
            <a:headEnd/>
            <a:tailEnd type="triangle" w="med" len="med"/>
          </a:ln>
          <a:effectLst/>
        </p:spPr>
      </p:cxnSp>
      <p:cxnSp>
        <p:nvCxnSpPr>
          <p:cNvPr id="139293" name="AutoShape 29"/>
          <p:cNvCxnSpPr>
            <a:cxnSpLocks noChangeShapeType="1"/>
            <a:stCxn id="139280" idx="3"/>
            <a:endCxn id="139272" idx="1"/>
          </p:cNvCxnSpPr>
          <p:nvPr/>
        </p:nvCxnSpPr>
        <p:spPr bwMode="auto">
          <a:xfrm flipV="1">
            <a:off x="2152651" y="2325688"/>
            <a:ext cx="990600" cy="2286000"/>
          </a:xfrm>
          <a:prstGeom prst="straightConnector1">
            <a:avLst/>
          </a:prstGeom>
          <a:noFill/>
          <a:ln w="19050">
            <a:solidFill>
              <a:schemeClr val="tx1"/>
            </a:solidFill>
            <a:miter lim="800000"/>
            <a:headEnd/>
            <a:tailEnd type="triangle" w="med" len="med"/>
          </a:ln>
          <a:effectLst/>
        </p:spPr>
      </p:cxnSp>
      <p:cxnSp>
        <p:nvCxnSpPr>
          <p:cNvPr id="139294" name="AutoShape 30"/>
          <p:cNvCxnSpPr>
            <a:cxnSpLocks noChangeShapeType="1"/>
            <a:stCxn id="139281" idx="3"/>
            <a:endCxn id="139272" idx="1"/>
          </p:cNvCxnSpPr>
          <p:nvPr/>
        </p:nvCxnSpPr>
        <p:spPr bwMode="auto">
          <a:xfrm flipV="1">
            <a:off x="2152651" y="2325688"/>
            <a:ext cx="990600" cy="3124200"/>
          </a:xfrm>
          <a:prstGeom prst="straightConnector1">
            <a:avLst/>
          </a:prstGeom>
          <a:noFill/>
          <a:ln w="19050">
            <a:solidFill>
              <a:schemeClr val="tx1"/>
            </a:solidFill>
            <a:miter lim="800000"/>
            <a:headEnd/>
            <a:tailEnd type="triangle" w="med" len="med"/>
          </a:ln>
          <a:effectLst/>
        </p:spPr>
      </p:cxnSp>
      <p:cxnSp>
        <p:nvCxnSpPr>
          <p:cNvPr id="139295" name="AutoShape 31"/>
          <p:cNvCxnSpPr>
            <a:cxnSpLocks noChangeShapeType="1"/>
            <a:stCxn id="139272" idx="3"/>
            <a:endCxn id="139275" idx="1"/>
          </p:cNvCxnSpPr>
          <p:nvPr/>
        </p:nvCxnSpPr>
        <p:spPr bwMode="auto">
          <a:xfrm flipV="1">
            <a:off x="5429251" y="2097088"/>
            <a:ext cx="1219200" cy="228600"/>
          </a:xfrm>
          <a:prstGeom prst="straightConnector1">
            <a:avLst/>
          </a:prstGeom>
          <a:noFill/>
          <a:ln w="19050">
            <a:solidFill>
              <a:schemeClr val="tx1"/>
            </a:solidFill>
            <a:miter lim="800000"/>
            <a:headEnd/>
            <a:tailEnd type="triangle" w="med" len="med"/>
          </a:ln>
          <a:effectLst/>
        </p:spPr>
      </p:cxnSp>
      <p:cxnSp>
        <p:nvCxnSpPr>
          <p:cNvPr id="139296" name="AutoShape 32"/>
          <p:cNvCxnSpPr>
            <a:cxnSpLocks noChangeShapeType="1"/>
            <a:stCxn id="139272" idx="3"/>
            <a:endCxn id="139283" idx="1"/>
          </p:cNvCxnSpPr>
          <p:nvPr/>
        </p:nvCxnSpPr>
        <p:spPr bwMode="auto">
          <a:xfrm>
            <a:off x="5429251" y="2325688"/>
            <a:ext cx="1219200" cy="1447800"/>
          </a:xfrm>
          <a:prstGeom prst="straightConnector1">
            <a:avLst/>
          </a:prstGeom>
          <a:noFill/>
          <a:ln w="19050">
            <a:solidFill>
              <a:schemeClr val="tx1"/>
            </a:solidFill>
            <a:miter lim="800000"/>
            <a:headEnd/>
            <a:tailEnd type="triangle" w="med" len="med"/>
          </a:ln>
          <a:effectLst/>
        </p:spPr>
      </p:cxnSp>
      <p:cxnSp>
        <p:nvCxnSpPr>
          <p:cNvPr id="139297" name="AutoShape 33"/>
          <p:cNvCxnSpPr>
            <a:cxnSpLocks noChangeShapeType="1"/>
            <a:stCxn id="139272" idx="3"/>
            <a:endCxn id="139285" idx="1"/>
          </p:cNvCxnSpPr>
          <p:nvPr/>
        </p:nvCxnSpPr>
        <p:spPr bwMode="auto">
          <a:xfrm>
            <a:off x="5429251" y="2325688"/>
            <a:ext cx="1219200" cy="2286000"/>
          </a:xfrm>
          <a:prstGeom prst="straightConnector1">
            <a:avLst/>
          </a:prstGeom>
          <a:noFill/>
          <a:ln w="19050">
            <a:solidFill>
              <a:schemeClr val="tx1"/>
            </a:solidFill>
            <a:miter lim="800000"/>
            <a:headEnd/>
            <a:tailEnd type="triangle" w="med" len="med"/>
          </a:ln>
          <a:effectLst/>
        </p:spPr>
      </p:cxnSp>
      <p:cxnSp>
        <p:nvCxnSpPr>
          <p:cNvPr id="139298" name="AutoShape 34"/>
          <p:cNvCxnSpPr>
            <a:cxnSpLocks noChangeShapeType="1"/>
            <a:stCxn id="139272" idx="3"/>
            <a:endCxn id="139287" idx="1"/>
          </p:cNvCxnSpPr>
          <p:nvPr/>
        </p:nvCxnSpPr>
        <p:spPr bwMode="auto">
          <a:xfrm>
            <a:off x="5429251" y="2325688"/>
            <a:ext cx="1219200" cy="3124200"/>
          </a:xfrm>
          <a:prstGeom prst="straightConnector1">
            <a:avLst/>
          </a:prstGeom>
          <a:noFill/>
          <a:ln w="19050">
            <a:solidFill>
              <a:schemeClr val="tx1"/>
            </a:solidFill>
            <a:miter lim="800000"/>
            <a:headEnd/>
            <a:tailEnd type="triangle" w="med" len="med"/>
          </a:ln>
          <a:effectLst/>
        </p:spPr>
      </p:cxnSp>
      <p:sp>
        <p:nvSpPr>
          <p:cNvPr id="139299" name="Rectangle 35"/>
          <p:cNvSpPr>
            <a:spLocks noChangeArrowheads="1"/>
          </p:cNvSpPr>
          <p:nvPr/>
        </p:nvSpPr>
        <p:spPr bwMode="auto">
          <a:xfrm>
            <a:off x="2236788" y="6132513"/>
            <a:ext cx="4495800" cy="609600"/>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fi-FI" sz="2000">
                <a:latin typeface="MetaPlusNormal" charset="0"/>
                <a:cs typeface="Arial" charset="0"/>
              </a:rPr>
              <a:t>Mieti myös: diagnostiikka vaikuttaa järjestelmään</a:t>
            </a:r>
            <a:endParaRPr lang="en-GB" sz="2000">
              <a:latin typeface="MetaPlusNormal" charset="0"/>
              <a:cs typeface="Arial" charset="0"/>
            </a:endParaRPr>
          </a:p>
        </p:txBody>
      </p:sp>
      <p:sp>
        <p:nvSpPr>
          <p:cNvPr id="36" name="Slide Number Placeholder 3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685800" y="152400"/>
            <a:ext cx="4606925" cy="1600200"/>
          </a:xfrm>
        </p:spPr>
        <p:txBody>
          <a:bodyPr/>
          <a:lstStyle/>
          <a:p>
            <a:r>
              <a:rPr lang="fi-FI"/>
              <a:t>Odotetuista </a:t>
            </a:r>
            <a:br>
              <a:rPr lang="fi-FI"/>
            </a:br>
            <a:r>
              <a:rPr lang="fi-FI"/>
              <a:t>tuloksista</a:t>
            </a:r>
            <a:endParaRPr lang="en-US"/>
          </a:p>
        </p:txBody>
      </p:sp>
      <p:sp>
        <p:nvSpPr>
          <p:cNvPr id="167939" name="Rectangle 3"/>
          <p:cNvSpPr>
            <a:spLocks noGrp="1" noChangeArrowheads="1"/>
          </p:cNvSpPr>
          <p:nvPr>
            <p:ph type="body" idx="1"/>
          </p:nvPr>
        </p:nvSpPr>
        <p:spPr>
          <a:xfrm>
            <a:off x="685801" y="1828800"/>
            <a:ext cx="4246563" cy="3657600"/>
          </a:xfrm>
        </p:spPr>
        <p:txBody>
          <a:bodyPr>
            <a:normAutofit lnSpcReduction="10000"/>
          </a:bodyPr>
          <a:lstStyle/>
          <a:p>
            <a:r>
              <a:rPr lang="fi-FI" sz="2400"/>
              <a:t>Testatessasi Windows-sovellusta, mistä tiedät mitkä näistä prosesseista kuuluu asiaan?</a:t>
            </a:r>
          </a:p>
          <a:p>
            <a:r>
              <a:rPr lang="fi-FI" sz="2400"/>
              <a:t>Miten tiedät omastasi:</a:t>
            </a:r>
          </a:p>
          <a:p>
            <a:pPr lvl="1"/>
            <a:r>
              <a:rPr lang="fi-FI" sz="2000"/>
              <a:t>onko käytössä oikea versio?</a:t>
            </a:r>
          </a:p>
          <a:p>
            <a:pPr lvl="1"/>
            <a:r>
              <a:rPr lang="fi-FI" sz="2000"/>
              <a:t>koska versio viimeksi on vaihtunut käytössä?</a:t>
            </a:r>
          </a:p>
          <a:p>
            <a:pPr lvl="1"/>
            <a:r>
              <a:rPr lang="fi-FI" sz="2000"/>
              <a:t>onko uudempia versioita olemassa? </a:t>
            </a:r>
            <a:endParaRPr lang="en-US" sz="2000"/>
          </a:p>
        </p:txBody>
      </p:sp>
      <p:pic>
        <p:nvPicPr>
          <p:cNvPr id="167940" name="Picture 4" descr="prosessilista"/>
          <p:cNvPicPr>
            <a:picLocks noChangeAspect="1" noChangeArrowheads="1"/>
          </p:cNvPicPr>
          <p:nvPr/>
        </p:nvPicPr>
        <p:blipFill>
          <a:blip r:embed="rId3" cstate="print"/>
          <a:srcRect/>
          <a:stretch>
            <a:fillRect/>
          </a:stretch>
        </p:blipFill>
        <p:spPr bwMode="auto">
          <a:xfrm>
            <a:off x="5148263" y="1052513"/>
            <a:ext cx="2768600" cy="5545137"/>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Eroista odotetun ja toteutuneen välillä</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Millä eroilla on merkitystä?</a:t>
            </a:r>
          </a:p>
          <a:p>
            <a:r>
              <a:rPr lang="fi-FI" dirty="0" smtClean="0"/>
              <a:t>Oraakkeliongelma korostaa ihmisen arviointikyvyn keskeistä merkitystä testauksessa</a:t>
            </a:r>
          </a:p>
          <a:p>
            <a:pPr lvl="1"/>
            <a:r>
              <a:rPr lang="fi-FI" dirty="0" smtClean="0"/>
              <a:t>Arviointikyky on keskeinen</a:t>
            </a:r>
          </a:p>
          <a:p>
            <a:pPr lvl="1"/>
            <a:r>
              <a:rPr lang="fi-FI" dirty="0" smtClean="0"/>
              <a:t>Testaus on jatkuvaa oppimista, ei mekaanista suoritusta</a:t>
            </a:r>
          </a:p>
          <a:p>
            <a:r>
              <a:rPr lang="fi-FI" dirty="0" smtClean="0"/>
              <a:t>Riski helpottavana tekijänä</a:t>
            </a:r>
          </a:p>
          <a:p>
            <a:pPr lvl="1"/>
            <a:r>
              <a:rPr lang="fi-FI" dirty="0" smtClean="0"/>
              <a:t>Millä on merkitystä, kenelle, mikä luo arvoa?</a:t>
            </a:r>
          </a:p>
          <a:p>
            <a:pPr lvl="1"/>
            <a:r>
              <a:rPr lang="fi-FI" dirty="0" smtClean="0"/>
              <a:t>Läpi vs. ei läpi testille, ajattele ongelma vaiko eikö?</a:t>
            </a:r>
          </a:p>
          <a:p>
            <a:pPr lvl="1"/>
            <a:r>
              <a:rPr lang="fi-FI" dirty="0" smtClean="0"/>
              <a:t>Testien valinta paljastamaan vakavia virheitä</a:t>
            </a:r>
          </a:p>
          <a:p>
            <a:pPr lvl="1"/>
            <a:r>
              <a:rPr lang="fi-FI" dirty="0" smtClean="0"/>
              <a:t>Testin ohittaminen joilla ei oleteta löytyvän ongelmia tai joilla löytyy ongelmia joilla ei ole merkitystä</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Harjoitus: Mistä tietää että asennus on onnistunut?</a:t>
            </a:r>
            <a:endParaRPr lang="fi-FI" dirty="0"/>
          </a:p>
        </p:txBody>
      </p:sp>
      <p:sp>
        <p:nvSpPr>
          <p:cNvPr id="5" name="Content Placeholder 4"/>
          <p:cNvSpPr>
            <a:spLocks noGrp="1"/>
          </p:cNvSpPr>
          <p:nvPr>
            <p:ph idx="1"/>
          </p:nvPr>
        </p:nvSpPr>
        <p:spPr/>
        <p:txBody>
          <a:bodyPr>
            <a:normAutofit/>
          </a:bodyPr>
          <a:lstStyle/>
          <a:p>
            <a:r>
              <a:rPr lang="fi-FI" sz="2800" dirty="0" smtClean="0"/>
              <a:t>Olette liittyneet testausporukkaan jossa testataan erään ohjelman asennuksia. Testitapaukset määrittelevät erilaisia asennustyyppejä, mutta eivät kuvaa yksityiskohtaisesti mistä tietää koska asennus on onnistunut.</a:t>
            </a:r>
          </a:p>
          <a:p>
            <a:r>
              <a:rPr lang="fi-FI" sz="2800" dirty="0" smtClean="0"/>
              <a:t>Millaisia virheitä etsit ja millaisia keinoja haluaisit käyttää?</a:t>
            </a:r>
            <a:endParaRPr lang="fi-FI" sz="2800" dirty="0"/>
          </a:p>
        </p:txBody>
      </p:sp>
      <p:pic>
        <p:nvPicPr>
          <p:cNvPr id="6" name="Picture 4"/>
          <p:cNvPicPr>
            <a:picLocks noChangeAspect="1" noChangeArrowheads="1"/>
          </p:cNvPicPr>
          <p:nvPr/>
        </p:nvPicPr>
        <p:blipFill>
          <a:blip r:embed="rId3" cstate="print"/>
          <a:srcRect/>
          <a:stretch>
            <a:fillRect/>
          </a:stretch>
        </p:blipFill>
        <p:spPr bwMode="auto">
          <a:xfrm>
            <a:off x="3505202" y="4718895"/>
            <a:ext cx="1917700" cy="2022475"/>
          </a:xfrm>
          <a:prstGeom prst="rect">
            <a:avLst/>
          </a:prstGeom>
          <a:noFill/>
          <a:ln w="12700">
            <a:noFill/>
            <a:miter lim="800000"/>
            <a:headEnd/>
            <a:tailEnd/>
          </a:ln>
          <a:effectLst/>
        </p:spPr>
      </p:pic>
      <p:sp>
        <p:nvSpPr>
          <p:cNvPr id="7" name="AutoShape 5"/>
          <p:cNvSpPr>
            <a:spLocks noChangeArrowheads="1"/>
          </p:cNvSpPr>
          <p:nvPr/>
        </p:nvSpPr>
        <p:spPr bwMode="auto">
          <a:xfrm>
            <a:off x="5715000" y="5257800"/>
            <a:ext cx="3124200" cy="1066800"/>
          </a:xfrm>
          <a:prstGeom prst="irregularSeal1">
            <a:avLst/>
          </a:prstGeom>
          <a:solidFill>
            <a:schemeClr val="bg2"/>
          </a:solidFill>
          <a:ln w="12700">
            <a:solidFill>
              <a:schemeClr val="accent2"/>
            </a:solidFill>
            <a:prstDash val="sysDot"/>
            <a:miter lim="800000"/>
            <a:headEnd/>
            <a:tailEnd/>
          </a:ln>
          <a:effectLst/>
        </p:spPr>
        <p:txBody>
          <a:bodyPr wrap="none" lIns="90000" tIns="46800" rIns="90000" bIns="46800" anchor="ctr"/>
          <a:lstStyle/>
          <a:p>
            <a:pPr algn="ctr"/>
            <a:r>
              <a:rPr lang="fi-FI" sz="1600">
                <a:latin typeface="Bradley Hand ITC" pitchFamily="66" charset="0"/>
                <a:cs typeface="Arial" charset="0"/>
              </a:rPr>
              <a:t>ryhmätyö</a:t>
            </a:r>
          </a:p>
        </p:txBody>
      </p:sp>
      <p:sp>
        <p:nvSpPr>
          <p:cNvPr id="8" name="Slide Number Placeholder 7"/>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smtClean="0"/>
              <a:t>Asennusharjoitus</a:t>
            </a:r>
            <a:endParaRPr lang="en-US" dirty="0"/>
          </a:p>
        </p:txBody>
      </p:sp>
      <p:sp>
        <p:nvSpPr>
          <p:cNvPr id="3" name="Sisällön paikkamerkki 2"/>
          <p:cNvSpPr>
            <a:spLocks noGrp="1"/>
          </p:cNvSpPr>
          <p:nvPr>
            <p:ph sz="half" idx="1"/>
          </p:nvPr>
        </p:nvSpPr>
        <p:spPr/>
        <p:txBody>
          <a:bodyPr>
            <a:normAutofit fontScale="62500" lnSpcReduction="20000"/>
          </a:bodyPr>
          <a:lstStyle/>
          <a:p>
            <a:r>
              <a:rPr lang="fi-FI" dirty="0" smtClean="0"/>
              <a:t>ei jumittunut / kaatunut kesken asennuksen</a:t>
            </a:r>
          </a:p>
          <a:p>
            <a:r>
              <a:rPr lang="fi-FI" dirty="0" smtClean="0"/>
              <a:t>ei virheilmoituksia</a:t>
            </a:r>
          </a:p>
          <a:p>
            <a:r>
              <a:rPr lang="fi-FI" dirty="0" smtClean="0"/>
              <a:t>versionumero</a:t>
            </a:r>
          </a:p>
          <a:p>
            <a:r>
              <a:rPr lang="fi-FI" dirty="0" smtClean="0"/>
              <a:t>käynnistyy</a:t>
            </a:r>
          </a:p>
          <a:p>
            <a:r>
              <a:rPr lang="fi-FI" dirty="0" smtClean="0"/>
              <a:t>perustoiminnallisuudet toimivat</a:t>
            </a:r>
          </a:p>
          <a:p>
            <a:r>
              <a:rPr lang="fi-FI" dirty="0" smtClean="0"/>
              <a:t>muut ohjelmat toimii edelleen</a:t>
            </a:r>
          </a:p>
          <a:p>
            <a:r>
              <a:rPr lang="fi-FI" dirty="0" smtClean="0"/>
              <a:t>vanhojen versioiden tietoyhteensopivuus</a:t>
            </a:r>
          </a:p>
          <a:p>
            <a:r>
              <a:rPr lang="fi-FI" dirty="0" smtClean="0"/>
              <a:t>asennusmuuttujien vaikutus (esim. </a:t>
            </a:r>
            <a:r>
              <a:rPr lang="fi-FI" dirty="0" err="1" smtClean="0"/>
              <a:t>asentui</a:t>
            </a:r>
            <a:r>
              <a:rPr lang="fi-FI" dirty="0" smtClean="0"/>
              <a:t> oikeaan paikkaan)</a:t>
            </a:r>
          </a:p>
          <a:p>
            <a:r>
              <a:rPr lang="fi-FI" dirty="0" smtClean="0"/>
              <a:t>prosessikuorma asennuksen jälkeen kohtuullinen</a:t>
            </a:r>
          </a:p>
          <a:p>
            <a:r>
              <a:rPr lang="fi-FI" dirty="0" smtClean="0"/>
              <a:t>uusi toiminnallisuus ilmaantunut kuten piti</a:t>
            </a:r>
          </a:p>
          <a:p>
            <a:r>
              <a:rPr lang="fi-FI" dirty="0" smtClean="0"/>
              <a:t>odotetut korjaukset mukana</a:t>
            </a:r>
          </a:p>
          <a:p>
            <a:endParaRPr lang="fi-FI" dirty="0" smtClean="0"/>
          </a:p>
        </p:txBody>
      </p:sp>
      <p:sp>
        <p:nvSpPr>
          <p:cNvPr id="5" name="Sisällön paikkamerkki 4"/>
          <p:cNvSpPr>
            <a:spLocks noGrp="1"/>
          </p:cNvSpPr>
          <p:nvPr>
            <p:ph sz="half" idx="2"/>
          </p:nvPr>
        </p:nvSpPr>
        <p:spPr/>
        <p:txBody>
          <a:bodyPr>
            <a:normAutofit fontScale="62500" lnSpcReduction="20000"/>
          </a:bodyPr>
          <a:lstStyle/>
          <a:p>
            <a:r>
              <a:rPr lang="fi-FI" dirty="0" smtClean="0"/>
              <a:t>oikeat tiedostot oikeassa paikassa</a:t>
            </a:r>
          </a:p>
          <a:p>
            <a:r>
              <a:rPr lang="fi-FI" dirty="0" smtClean="0"/>
              <a:t>vain oikeat tiedostot ilmaantuneet, ei väliaikaistiedostoja syömään levytilaa</a:t>
            </a:r>
          </a:p>
          <a:p>
            <a:r>
              <a:rPr lang="fi-FI" dirty="0" smtClean="0"/>
              <a:t>tiedostojen päivämäärät ja koot</a:t>
            </a:r>
          </a:p>
          <a:p>
            <a:r>
              <a:rPr lang="fi-FI" dirty="0" smtClean="0"/>
              <a:t>rekistereissä tiedot oikein, ei vanhoja </a:t>
            </a:r>
            <a:r>
              <a:rPr lang="fi-FI" smtClean="0"/>
              <a:t>turhia tietoja</a:t>
            </a:r>
            <a:endParaRPr lang="fi-FI" dirty="0" smtClean="0"/>
          </a:p>
          <a:p>
            <a:r>
              <a:rPr lang="fi-FI" dirty="0" smtClean="0"/>
              <a:t>ohjelma löytyy </a:t>
            </a:r>
            <a:r>
              <a:rPr lang="fi-FI" dirty="0" err="1" smtClean="0"/>
              <a:t>Control</a:t>
            </a:r>
            <a:r>
              <a:rPr lang="fi-FI" dirty="0" smtClean="0"/>
              <a:t> </a:t>
            </a:r>
            <a:r>
              <a:rPr lang="fi-FI" dirty="0" err="1" smtClean="0"/>
              <a:t>Panel</a:t>
            </a:r>
            <a:r>
              <a:rPr lang="fi-FI" dirty="0" smtClean="0"/>
              <a:t> | </a:t>
            </a:r>
            <a:r>
              <a:rPr lang="fi-FI" dirty="0" err="1" smtClean="0"/>
              <a:t>Add</a:t>
            </a:r>
            <a:r>
              <a:rPr lang="fi-FI" dirty="0" smtClean="0"/>
              <a:t> </a:t>
            </a:r>
            <a:r>
              <a:rPr lang="fi-FI" dirty="0" err="1" smtClean="0"/>
              <a:t>remove</a:t>
            </a:r>
            <a:r>
              <a:rPr lang="fi-FI" dirty="0" smtClean="0"/>
              <a:t> </a:t>
            </a:r>
            <a:r>
              <a:rPr lang="fi-FI" dirty="0" err="1" smtClean="0"/>
              <a:t>programs</a:t>
            </a:r>
            <a:r>
              <a:rPr lang="fi-FI" dirty="0" smtClean="0"/>
              <a:t> –listalta</a:t>
            </a:r>
          </a:p>
          <a:p>
            <a:r>
              <a:rPr lang="fi-FI" dirty="0" smtClean="0"/>
              <a:t>toimii vielä uudelleenkäynnistyksen jälkeen</a:t>
            </a:r>
          </a:p>
          <a:p>
            <a:r>
              <a:rPr lang="fi-FI" dirty="0" smtClean="0"/>
              <a:t>asennuksen voi poistaakin</a:t>
            </a:r>
          </a:p>
          <a:p>
            <a:r>
              <a:rPr lang="fi-FI" dirty="0" smtClean="0"/>
              <a:t>asennusloki</a:t>
            </a:r>
          </a:p>
          <a:p>
            <a:r>
              <a:rPr lang="fi-FI" dirty="0" smtClean="0"/>
              <a:t>asennusten edellytykset (järjestelmävaatimukset)</a:t>
            </a:r>
          </a:p>
          <a:p>
            <a:r>
              <a:rPr lang="fi-FI" dirty="0" smtClean="0"/>
              <a:t>toimii rajallisilla käyttöoikeuksillakin kun asennettu korkeilla käyttöoikeuksilla</a:t>
            </a:r>
            <a:endParaRPr lang="en-US" dirty="0" smtClean="0"/>
          </a:p>
          <a:p>
            <a:endParaRPr lang="en-US" dirty="0"/>
          </a:p>
        </p:txBody>
      </p:sp>
      <p:sp>
        <p:nvSpPr>
          <p:cNvPr id="4" name="Dian numeron paikkamerkki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Ryhmä 7"/>
          <p:cNvGrpSpPr/>
          <p:nvPr/>
        </p:nvGrpSpPr>
        <p:grpSpPr>
          <a:xfrm>
            <a:off x="1043608" y="404665"/>
            <a:ext cx="7067128" cy="1796852"/>
            <a:chOff x="0" y="1602672"/>
            <a:chExt cx="7067128" cy="281336"/>
          </a:xfrm>
        </p:grpSpPr>
        <p:sp>
          <p:nvSpPr>
            <p:cNvPr id="11" name="Pyöristetty suorakulmio 10"/>
            <p:cNvSpPr/>
            <p:nvPr/>
          </p:nvSpPr>
          <p:spPr>
            <a:xfrm>
              <a:off x="0" y="1602672"/>
              <a:ext cx="7067128" cy="281336"/>
            </a:xfrm>
            <a:prstGeom prst="roundRect">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2" name="Pyöristetty suorakulmio 4"/>
            <p:cNvSpPr/>
            <p:nvPr/>
          </p:nvSpPr>
          <p:spPr>
            <a:xfrm>
              <a:off x="13734" y="1616406"/>
              <a:ext cx="7039660" cy="25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Riskiperusteinen testisuunnittelu: lunttilapulla alkuun ja monipuolinen ymmärrys virheistä</a:t>
              </a:r>
              <a:endParaRPr lang="en-US"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22</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94344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23</a:t>
            </a:fld>
            <a:endParaRPr lang="en-US"/>
          </a:p>
        </p:txBody>
      </p:sp>
      <p:sp>
        <p:nvSpPr>
          <p:cNvPr id="5" name="Nuoli oikealle 4"/>
          <p:cNvSpPr/>
          <p:nvPr/>
        </p:nvSpPr>
        <p:spPr>
          <a:xfrm>
            <a:off x="929296" y="4240512"/>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fld id="{C9D9779B-82BC-4112-BD63-34E16E43BC21}" type="slidenum">
              <a:rPr lang="en-US"/>
              <a:pPr/>
              <a:t>24</a:t>
            </a:fld>
            <a:endParaRPr lang="en-US"/>
          </a:p>
        </p:txBody>
      </p:sp>
      <p:sp>
        <p:nvSpPr>
          <p:cNvPr id="57346" name="Rectangle 2"/>
          <p:cNvSpPr>
            <a:spLocks noGrp="1" noChangeArrowheads="1"/>
          </p:cNvSpPr>
          <p:nvPr>
            <p:ph type="title"/>
          </p:nvPr>
        </p:nvSpPr>
        <p:spPr/>
        <p:txBody>
          <a:bodyPr>
            <a:normAutofit/>
          </a:bodyPr>
          <a:lstStyle/>
          <a:p>
            <a:pPr defTabSz="762000"/>
            <a:r>
              <a:rPr lang="en-GB"/>
              <a:t>Toimintotestaus ja aineistotestaus</a:t>
            </a:r>
          </a:p>
        </p:txBody>
      </p:sp>
      <p:sp>
        <p:nvSpPr>
          <p:cNvPr id="57347" name="Line 3"/>
          <p:cNvSpPr>
            <a:spLocks noChangeShapeType="1"/>
          </p:cNvSpPr>
          <p:nvPr/>
        </p:nvSpPr>
        <p:spPr bwMode="auto">
          <a:xfrm>
            <a:off x="914400" y="4495800"/>
            <a:ext cx="7543800" cy="0"/>
          </a:xfrm>
          <a:prstGeom prst="line">
            <a:avLst/>
          </a:prstGeom>
          <a:noFill/>
          <a:ln w="12700">
            <a:solidFill>
              <a:schemeClr val="accent2"/>
            </a:solidFill>
            <a:round/>
            <a:headEnd/>
            <a:tailEnd type="triangle" w="med" len="med"/>
          </a:ln>
          <a:effectLst/>
        </p:spPr>
        <p:txBody>
          <a:bodyPr lIns="90000" tIns="46800" rIns="90000" bIns="46800"/>
          <a:lstStyle/>
          <a:p>
            <a:endParaRPr lang="fi-FI"/>
          </a:p>
        </p:txBody>
      </p:sp>
      <p:sp>
        <p:nvSpPr>
          <p:cNvPr id="57348" name="Text Box 4"/>
          <p:cNvSpPr txBox="1">
            <a:spLocks noChangeArrowheads="1"/>
          </p:cNvSpPr>
          <p:nvPr/>
        </p:nvSpPr>
        <p:spPr bwMode="auto">
          <a:xfrm>
            <a:off x="381000" y="4648202"/>
            <a:ext cx="2209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Toiminto 1</a:t>
            </a:r>
          </a:p>
        </p:txBody>
      </p:sp>
      <p:sp>
        <p:nvSpPr>
          <p:cNvPr id="57349" name="Text Box 5"/>
          <p:cNvSpPr txBox="1">
            <a:spLocks noChangeArrowheads="1"/>
          </p:cNvSpPr>
          <p:nvPr/>
        </p:nvSpPr>
        <p:spPr bwMode="auto">
          <a:xfrm>
            <a:off x="1752600" y="4648202"/>
            <a:ext cx="2209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Toiminto 2</a:t>
            </a:r>
          </a:p>
        </p:txBody>
      </p:sp>
      <p:sp>
        <p:nvSpPr>
          <p:cNvPr id="57350" name="Text Box 6"/>
          <p:cNvSpPr txBox="1">
            <a:spLocks noChangeArrowheads="1"/>
          </p:cNvSpPr>
          <p:nvPr/>
        </p:nvSpPr>
        <p:spPr bwMode="auto">
          <a:xfrm>
            <a:off x="3200400" y="4648202"/>
            <a:ext cx="2209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Toiminto 3</a:t>
            </a:r>
          </a:p>
        </p:txBody>
      </p:sp>
      <p:sp>
        <p:nvSpPr>
          <p:cNvPr id="57351" name="Text Box 7"/>
          <p:cNvSpPr txBox="1">
            <a:spLocks noChangeArrowheads="1"/>
          </p:cNvSpPr>
          <p:nvPr/>
        </p:nvSpPr>
        <p:spPr bwMode="auto">
          <a:xfrm>
            <a:off x="4724400" y="4648202"/>
            <a:ext cx="2209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Toiminto 4</a:t>
            </a:r>
          </a:p>
        </p:txBody>
      </p:sp>
      <p:sp>
        <p:nvSpPr>
          <p:cNvPr id="57352" name="Text Box 8"/>
          <p:cNvSpPr txBox="1">
            <a:spLocks noChangeArrowheads="1"/>
          </p:cNvSpPr>
          <p:nvPr/>
        </p:nvSpPr>
        <p:spPr bwMode="auto">
          <a:xfrm>
            <a:off x="6172200" y="4648202"/>
            <a:ext cx="2209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a:t>
            </a:r>
          </a:p>
        </p:txBody>
      </p:sp>
      <p:sp>
        <p:nvSpPr>
          <p:cNvPr id="57353" name="AutoShape 9"/>
          <p:cNvSpPr>
            <a:spLocks noChangeArrowheads="1"/>
          </p:cNvSpPr>
          <p:nvPr/>
        </p:nvSpPr>
        <p:spPr bwMode="auto">
          <a:xfrm flipH="1" flipV="1">
            <a:off x="1828800" y="2133600"/>
            <a:ext cx="6019800" cy="2209800"/>
          </a:xfrm>
          <a:prstGeom prst="downArrow">
            <a:avLst>
              <a:gd name="adj1" fmla="val 50000"/>
              <a:gd name="adj2" fmla="val 25000"/>
            </a:avLst>
          </a:prstGeom>
          <a:solidFill>
            <a:schemeClr val="bg2"/>
          </a:solidFill>
          <a:ln w="12700">
            <a:noFill/>
            <a:miter lim="800000"/>
            <a:headEnd/>
            <a:tailEnd/>
          </a:ln>
          <a:effectLst/>
        </p:spPr>
        <p:txBody>
          <a:bodyPr rot="10800000" wrap="none" lIns="90000" tIns="46800" rIns="90000" bIns="46800" anchor="ctr"/>
          <a:lstStyle/>
          <a:p>
            <a:pPr algn="ctr"/>
            <a:r>
              <a:rPr lang="en-GB" b="1">
                <a:cs typeface="Arial" pitchFamily="34" charset="0"/>
              </a:rPr>
              <a:t>aineisto</a:t>
            </a:r>
          </a:p>
        </p:txBody>
      </p:sp>
      <p:sp>
        <p:nvSpPr>
          <p:cNvPr id="57354" name="Line 10"/>
          <p:cNvSpPr>
            <a:spLocks noChangeShapeType="1"/>
          </p:cNvSpPr>
          <p:nvPr/>
        </p:nvSpPr>
        <p:spPr bwMode="auto">
          <a:xfrm flipV="1">
            <a:off x="1447800" y="1981200"/>
            <a:ext cx="0" cy="2514600"/>
          </a:xfrm>
          <a:prstGeom prst="line">
            <a:avLst/>
          </a:prstGeom>
          <a:noFill/>
          <a:ln w="38100">
            <a:solidFill>
              <a:schemeClr val="accent1"/>
            </a:solidFill>
            <a:round/>
            <a:headEnd/>
            <a:tailEnd type="triangle" w="med" len="med"/>
          </a:ln>
          <a:effectLst/>
        </p:spPr>
        <p:txBody>
          <a:bodyPr lIns="90000" tIns="46800" rIns="90000" bIns="46800"/>
          <a:lstStyle/>
          <a:p>
            <a:endParaRPr lang="fi-FI"/>
          </a:p>
        </p:txBody>
      </p:sp>
      <p:sp>
        <p:nvSpPr>
          <p:cNvPr id="57355" name="Line 11"/>
          <p:cNvSpPr>
            <a:spLocks noChangeShapeType="1"/>
          </p:cNvSpPr>
          <p:nvPr/>
        </p:nvSpPr>
        <p:spPr bwMode="auto">
          <a:xfrm flipV="1">
            <a:off x="2819400" y="1981200"/>
            <a:ext cx="0" cy="2514600"/>
          </a:xfrm>
          <a:prstGeom prst="line">
            <a:avLst/>
          </a:prstGeom>
          <a:noFill/>
          <a:ln w="38100">
            <a:solidFill>
              <a:schemeClr val="accent1"/>
            </a:solidFill>
            <a:round/>
            <a:headEnd/>
            <a:tailEnd type="triangle" w="med" len="med"/>
          </a:ln>
          <a:effectLst/>
        </p:spPr>
        <p:txBody>
          <a:bodyPr lIns="90000" tIns="46800" rIns="90000" bIns="46800"/>
          <a:lstStyle/>
          <a:p>
            <a:endParaRPr lang="fi-FI"/>
          </a:p>
        </p:txBody>
      </p:sp>
      <p:sp>
        <p:nvSpPr>
          <p:cNvPr id="57356" name="Line 12"/>
          <p:cNvSpPr>
            <a:spLocks noChangeShapeType="1"/>
          </p:cNvSpPr>
          <p:nvPr/>
        </p:nvSpPr>
        <p:spPr bwMode="auto">
          <a:xfrm flipV="1">
            <a:off x="4267200" y="1981200"/>
            <a:ext cx="0" cy="2514600"/>
          </a:xfrm>
          <a:prstGeom prst="line">
            <a:avLst/>
          </a:prstGeom>
          <a:noFill/>
          <a:ln w="38100">
            <a:solidFill>
              <a:schemeClr val="accent1"/>
            </a:solidFill>
            <a:round/>
            <a:headEnd/>
            <a:tailEnd type="triangle" w="med" len="med"/>
          </a:ln>
          <a:effectLst/>
        </p:spPr>
        <p:txBody>
          <a:bodyPr lIns="90000" tIns="46800" rIns="90000" bIns="46800"/>
          <a:lstStyle/>
          <a:p>
            <a:endParaRPr lang="fi-FI"/>
          </a:p>
        </p:txBody>
      </p:sp>
      <p:sp>
        <p:nvSpPr>
          <p:cNvPr id="57357" name="Line 13"/>
          <p:cNvSpPr>
            <a:spLocks noChangeShapeType="1"/>
          </p:cNvSpPr>
          <p:nvPr/>
        </p:nvSpPr>
        <p:spPr bwMode="auto">
          <a:xfrm flipV="1">
            <a:off x="5791200" y="1981200"/>
            <a:ext cx="0" cy="2514600"/>
          </a:xfrm>
          <a:prstGeom prst="line">
            <a:avLst/>
          </a:prstGeom>
          <a:noFill/>
          <a:ln w="38100">
            <a:solidFill>
              <a:schemeClr val="accent1"/>
            </a:solidFill>
            <a:round/>
            <a:headEnd/>
            <a:tailEnd type="triangle" w="med" len="med"/>
          </a:ln>
          <a:effectLst/>
        </p:spPr>
        <p:txBody>
          <a:bodyPr lIns="90000" tIns="46800" rIns="90000" bIns="46800"/>
          <a:lstStyle/>
          <a:p>
            <a:endParaRPr lang="fi-FI"/>
          </a:p>
        </p:txBody>
      </p:sp>
      <p:sp>
        <p:nvSpPr>
          <p:cNvPr id="57358" name="Rectangle 14"/>
          <p:cNvSpPr>
            <a:spLocks noChangeArrowheads="1"/>
          </p:cNvSpPr>
          <p:nvPr/>
        </p:nvSpPr>
        <p:spPr bwMode="auto">
          <a:xfrm>
            <a:off x="4114800" y="5257800"/>
            <a:ext cx="4419600" cy="1143000"/>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en-GB" sz="1600" dirty="0" err="1">
                <a:cs typeface="Arial" pitchFamily="34" charset="0"/>
              </a:rPr>
              <a:t>Toimintotestaus</a:t>
            </a:r>
            <a:r>
              <a:rPr lang="en-GB" sz="1600" dirty="0">
                <a:cs typeface="Arial" pitchFamily="34" charset="0"/>
              </a:rPr>
              <a:t> on </a:t>
            </a:r>
            <a:r>
              <a:rPr lang="en-GB" sz="1600" dirty="0" err="1">
                <a:cs typeface="Arial" pitchFamily="34" charset="0"/>
              </a:rPr>
              <a:t>luonnollinen</a:t>
            </a:r>
            <a:r>
              <a:rPr lang="en-GB" sz="1600" dirty="0">
                <a:cs typeface="Arial" pitchFamily="34" charset="0"/>
              </a:rPr>
              <a:t> </a:t>
            </a:r>
            <a:r>
              <a:rPr lang="en-GB" sz="1600" dirty="0" err="1">
                <a:cs typeface="Arial" pitchFamily="34" charset="0"/>
              </a:rPr>
              <a:t>pohja</a:t>
            </a:r>
            <a:r>
              <a:rPr lang="en-GB" sz="1600" dirty="0">
                <a:cs typeface="Arial" pitchFamily="34" charset="0"/>
              </a:rPr>
              <a:t> </a:t>
            </a:r>
            <a:r>
              <a:rPr lang="en-GB" sz="1600" dirty="0" err="1">
                <a:cs typeface="Arial" pitchFamily="34" charset="0"/>
              </a:rPr>
              <a:t>arvoaluetestaukselle</a:t>
            </a:r>
            <a:r>
              <a:rPr lang="en-GB" sz="1600" dirty="0">
                <a:cs typeface="Arial" pitchFamily="34" charset="0"/>
              </a:rPr>
              <a:t>, </a:t>
            </a:r>
            <a:r>
              <a:rPr lang="en-GB" sz="1600" dirty="0" err="1">
                <a:cs typeface="Arial" pitchFamily="34" charset="0"/>
              </a:rPr>
              <a:t>jonka</a:t>
            </a:r>
            <a:r>
              <a:rPr lang="en-GB" sz="1600" dirty="0">
                <a:cs typeface="Arial" pitchFamily="34" charset="0"/>
              </a:rPr>
              <a:t> </a:t>
            </a:r>
            <a:r>
              <a:rPr lang="en-GB" sz="1600" dirty="0" err="1">
                <a:cs typeface="Arial" pitchFamily="34" charset="0"/>
              </a:rPr>
              <a:t>tarkoituksena</a:t>
            </a:r>
            <a:r>
              <a:rPr lang="en-GB" sz="1600" dirty="0">
                <a:cs typeface="Arial" pitchFamily="34" charset="0"/>
              </a:rPr>
              <a:t> on </a:t>
            </a:r>
            <a:r>
              <a:rPr lang="en-GB" sz="1600" dirty="0" err="1">
                <a:cs typeface="Arial" pitchFamily="34" charset="0"/>
              </a:rPr>
              <a:t>minimoida</a:t>
            </a:r>
            <a:r>
              <a:rPr lang="en-GB" sz="1600" dirty="0">
                <a:cs typeface="Arial" pitchFamily="34" charset="0"/>
              </a:rPr>
              <a:t> </a:t>
            </a:r>
            <a:r>
              <a:rPr lang="en-GB" sz="1600" dirty="0" err="1">
                <a:cs typeface="Arial" pitchFamily="34" charset="0"/>
              </a:rPr>
              <a:t>aineistoa</a:t>
            </a:r>
            <a:r>
              <a:rPr lang="en-GB" sz="1600" dirty="0">
                <a:cs typeface="Arial" pitchFamily="34" charset="0"/>
              </a:rPr>
              <a:t> </a:t>
            </a:r>
            <a:r>
              <a:rPr lang="en-GB" sz="1600" dirty="0" err="1">
                <a:cs typeface="Arial" pitchFamily="34" charset="0"/>
              </a:rPr>
              <a:t>maksimoiden</a:t>
            </a:r>
            <a:r>
              <a:rPr lang="en-GB" sz="1600" dirty="0">
                <a:cs typeface="Arial" pitchFamily="34" charset="0"/>
              </a:rPr>
              <a:t> </a:t>
            </a:r>
            <a:r>
              <a:rPr lang="en-GB" sz="1600" dirty="0" err="1">
                <a:cs typeface="Arial" pitchFamily="34" charset="0"/>
              </a:rPr>
              <a:t>virheiden</a:t>
            </a:r>
            <a:r>
              <a:rPr lang="en-GB" sz="1600" dirty="0">
                <a:cs typeface="Arial" pitchFamily="34" charset="0"/>
              </a:rPr>
              <a:t> </a:t>
            </a:r>
            <a:r>
              <a:rPr lang="en-GB" sz="1600" dirty="0" err="1">
                <a:cs typeface="Arial" pitchFamily="34" charset="0"/>
              </a:rPr>
              <a:t>löytymistä</a:t>
            </a:r>
            <a:r>
              <a:rPr lang="en-GB" sz="1600" dirty="0">
                <a:cs typeface="Arial" pitchFamily="34" charset="0"/>
              </a:rPr>
              <a:t>.</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p:txBody>
          <a:bodyPr/>
          <a:lstStyle/>
          <a:p>
            <a:fld id="{6EFB6E5A-098C-4BC6-8CEB-83DEE2C224EA}" type="slidenum">
              <a:rPr lang="en-US"/>
              <a:pPr/>
              <a:t>25</a:t>
            </a:fld>
            <a:endParaRPr lang="en-US"/>
          </a:p>
        </p:txBody>
      </p:sp>
      <p:sp>
        <p:nvSpPr>
          <p:cNvPr id="58370" name="Rectangle 2"/>
          <p:cNvSpPr>
            <a:spLocks noGrp="1" noChangeArrowheads="1"/>
          </p:cNvSpPr>
          <p:nvPr>
            <p:ph type="title"/>
          </p:nvPr>
        </p:nvSpPr>
        <p:spPr/>
        <p:txBody>
          <a:bodyPr>
            <a:normAutofit fontScale="90000"/>
          </a:bodyPr>
          <a:lstStyle/>
          <a:p>
            <a:pPr defTabSz="762000"/>
            <a:r>
              <a:rPr lang="en-GB" sz="3600"/>
              <a:t>Arvoaluetestaus käsittelee aineiston ositusta ja tunnistamista</a:t>
            </a:r>
          </a:p>
        </p:txBody>
      </p:sp>
      <p:sp>
        <p:nvSpPr>
          <p:cNvPr id="58371" name="Rectangle 3"/>
          <p:cNvSpPr>
            <a:spLocks noGrp="1" noChangeArrowheads="1"/>
          </p:cNvSpPr>
          <p:nvPr>
            <p:ph type="body" idx="1"/>
          </p:nvPr>
        </p:nvSpPr>
        <p:spPr/>
        <p:txBody>
          <a:bodyPr>
            <a:noAutofit/>
          </a:bodyPr>
          <a:lstStyle/>
          <a:p>
            <a:pPr marL="0" indent="0" defTabSz="762000">
              <a:lnSpc>
                <a:spcPct val="110000"/>
              </a:lnSpc>
            </a:pPr>
            <a:r>
              <a:rPr lang="en-GB" sz="2000" dirty="0" err="1"/>
              <a:t>Pyritään</a:t>
            </a:r>
            <a:r>
              <a:rPr lang="en-GB" sz="2000" dirty="0"/>
              <a:t> </a:t>
            </a:r>
            <a:r>
              <a:rPr lang="en-GB" sz="2000" dirty="0" err="1"/>
              <a:t>vähentämään</a:t>
            </a:r>
            <a:r>
              <a:rPr lang="en-GB" sz="2000" dirty="0"/>
              <a:t> </a:t>
            </a:r>
            <a:r>
              <a:rPr lang="en-GB" sz="2000" dirty="0" err="1"/>
              <a:t>erilaisten</a:t>
            </a:r>
            <a:r>
              <a:rPr lang="en-GB" sz="2000" dirty="0"/>
              <a:t> </a:t>
            </a:r>
            <a:r>
              <a:rPr lang="en-GB" sz="2000" dirty="0" err="1"/>
              <a:t>syötteiden</a:t>
            </a:r>
            <a:r>
              <a:rPr lang="en-GB" sz="2000" dirty="0"/>
              <a:t> </a:t>
            </a:r>
            <a:r>
              <a:rPr lang="en-GB" sz="2000" dirty="0" err="1"/>
              <a:t>ja</a:t>
            </a:r>
            <a:r>
              <a:rPr lang="en-GB" sz="2000" dirty="0"/>
              <a:t> </a:t>
            </a:r>
            <a:r>
              <a:rPr lang="en-GB" sz="2000" dirty="0" err="1"/>
              <a:t>tulosten</a:t>
            </a:r>
            <a:r>
              <a:rPr lang="en-GB" sz="2000" dirty="0"/>
              <a:t> </a:t>
            </a:r>
            <a:r>
              <a:rPr lang="en-GB" sz="2000" dirty="0" err="1"/>
              <a:t>määrää</a:t>
            </a:r>
            <a:r>
              <a:rPr lang="en-GB" sz="2000" dirty="0"/>
              <a:t>.</a:t>
            </a:r>
          </a:p>
          <a:p>
            <a:pPr marL="0" indent="0" defTabSz="762000">
              <a:lnSpc>
                <a:spcPct val="110000"/>
              </a:lnSpc>
            </a:pPr>
            <a:r>
              <a:rPr lang="en-GB" sz="2000" dirty="0" err="1"/>
              <a:t>Perustekniikat</a:t>
            </a:r>
            <a:r>
              <a:rPr lang="en-GB" sz="2000" dirty="0"/>
              <a:t>:</a:t>
            </a:r>
          </a:p>
          <a:p>
            <a:pPr marL="377825" lvl="1" indent="-187325" defTabSz="762000">
              <a:lnSpc>
                <a:spcPct val="90000"/>
              </a:lnSpc>
            </a:pPr>
            <a:r>
              <a:rPr lang="en-GB" sz="1800" dirty="0" err="1"/>
              <a:t>Ekvivalenssiluokat</a:t>
            </a:r>
            <a:r>
              <a:rPr lang="en-GB" sz="1800" dirty="0"/>
              <a:t> (1)</a:t>
            </a:r>
          </a:p>
          <a:p>
            <a:pPr marL="377825" lvl="1" indent="-187325" defTabSz="762000">
              <a:lnSpc>
                <a:spcPct val="90000"/>
              </a:lnSpc>
            </a:pPr>
            <a:r>
              <a:rPr lang="en-GB" sz="1800" dirty="0"/>
              <a:t>Raja-</a:t>
            </a:r>
            <a:r>
              <a:rPr lang="en-GB" sz="1800" dirty="0" err="1"/>
              <a:t>arvot</a:t>
            </a:r>
            <a:r>
              <a:rPr lang="en-GB" sz="1800" dirty="0"/>
              <a:t> (2)</a:t>
            </a:r>
          </a:p>
          <a:p>
            <a:pPr marL="0" indent="0" defTabSz="762000">
              <a:lnSpc>
                <a:spcPct val="110000"/>
              </a:lnSpc>
            </a:pPr>
            <a:r>
              <a:rPr lang="en-GB" sz="2000" dirty="0" err="1"/>
              <a:t>Laajennoksia</a:t>
            </a:r>
            <a:r>
              <a:rPr lang="en-GB" sz="2000" dirty="0"/>
              <a:t>:</a:t>
            </a:r>
          </a:p>
          <a:p>
            <a:pPr marL="377825" lvl="1" indent="-187325" defTabSz="762000">
              <a:lnSpc>
                <a:spcPct val="90000"/>
              </a:lnSpc>
            </a:pPr>
            <a:r>
              <a:rPr lang="en-GB" sz="1800" dirty="0" err="1"/>
              <a:t>Yhdistelmät</a:t>
            </a:r>
            <a:endParaRPr lang="en-GB" sz="1800" dirty="0"/>
          </a:p>
          <a:p>
            <a:pPr marL="377825" lvl="1" indent="-187325" defTabSz="762000">
              <a:lnSpc>
                <a:spcPct val="90000"/>
              </a:lnSpc>
            </a:pPr>
            <a:r>
              <a:rPr lang="en-GB" sz="1800" dirty="0" err="1"/>
              <a:t>Päällekäiset</a:t>
            </a:r>
            <a:r>
              <a:rPr lang="en-GB" sz="1800" dirty="0"/>
              <a:t> </a:t>
            </a:r>
            <a:r>
              <a:rPr lang="en-GB" sz="1800" dirty="0" err="1"/>
              <a:t>ekvivalenssiluokat</a:t>
            </a:r>
            <a:r>
              <a:rPr lang="en-GB" sz="1800" dirty="0"/>
              <a:t> </a:t>
            </a:r>
            <a:r>
              <a:rPr lang="en-GB" sz="1800" dirty="0" err="1"/>
              <a:t>ja</a:t>
            </a:r>
            <a:r>
              <a:rPr lang="en-GB" sz="1800" dirty="0"/>
              <a:t> </a:t>
            </a:r>
            <a:r>
              <a:rPr lang="en-GB" sz="1800" dirty="0" err="1"/>
              <a:t>muuttujien</a:t>
            </a:r>
            <a:r>
              <a:rPr lang="en-GB" sz="1800" dirty="0"/>
              <a:t> </a:t>
            </a:r>
            <a:r>
              <a:rPr lang="en-GB" sz="1800" dirty="0" err="1"/>
              <a:t>väliset</a:t>
            </a:r>
            <a:r>
              <a:rPr lang="en-GB" sz="1800" dirty="0"/>
              <a:t> </a:t>
            </a:r>
            <a:r>
              <a:rPr lang="en-GB" sz="1800" dirty="0" err="1"/>
              <a:t>riippuvuudet</a:t>
            </a:r>
            <a:endParaRPr lang="en-GB" sz="1800" dirty="0"/>
          </a:p>
          <a:p>
            <a:pPr marL="0" indent="0" defTabSz="762000">
              <a:lnSpc>
                <a:spcPct val="110000"/>
              </a:lnSpc>
            </a:pPr>
            <a:r>
              <a:rPr lang="en-GB" sz="2000" dirty="0" err="1"/>
              <a:t>Ekvivalenssiluokkien</a:t>
            </a:r>
            <a:r>
              <a:rPr lang="en-GB" sz="2000" dirty="0"/>
              <a:t> </a:t>
            </a:r>
            <a:r>
              <a:rPr lang="en-GB" sz="2000" dirty="0" err="1"/>
              <a:t>perusolettama</a:t>
            </a:r>
            <a:r>
              <a:rPr lang="en-GB" sz="2000" dirty="0"/>
              <a:t>: </a:t>
            </a:r>
            <a:r>
              <a:rPr lang="en-GB" sz="2000" dirty="0" err="1"/>
              <a:t>jos</a:t>
            </a:r>
            <a:r>
              <a:rPr lang="en-GB" sz="2000" dirty="0"/>
              <a:t> </a:t>
            </a:r>
            <a:r>
              <a:rPr lang="en-GB" sz="2000" dirty="0" err="1"/>
              <a:t>yksi</a:t>
            </a:r>
            <a:r>
              <a:rPr lang="en-GB" sz="2000" dirty="0"/>
              <a:t> </a:t>
            </a:r>
            <a:r>
              <a:rPr lang="en-GB" sz="2000" dirty="0" err="1"/>
              <a:t>arvo</a:t>
            </a:r>
            <a:r>
              <a:rPr lang="en-GB" sz="2000" dirty="0"/>
              <a:t> </a:t>
            </a:r>
            <a:r>
              <a:rPr lang="en-GB" sz="2000" dirty="0" err="1"/>
              <a:t>toimii</a:t>
            </a:r>
            <a:r>
              <a:rPr lang="en-GB" sz="2000" dirty="0"/>
              <a:t>, </a:t>
            </a:r>
            <a:r>
              <a:rPr lang="en-GB" sz="2000" dirty="0" err="1"/>
              <a:t>kaikki</a:t>
            </a:r>
            <a:r>
              <a:rPr lang="en-GB" sz="2000" dirty="0"/>
              <a:t> </a:t>
            </a:r>
            <a:r>
              <a:rPr lang="en-GB" sz="2000" dirty="0" err="1"/>
              <a:t>luokan</a:t>
            </a:r>
            <a:r>
              <a:rPr lang="en-GB" sz="2000" dirty="0"/>
              <a:t> </a:t>
            </a:r>
            <a:r>
              <a:rPr lang="en-GB" sz="2000" dirty="0" err="1"/>
              <a:t>arvot</a:t>
            </a:r>
            <a:r>
              <a:rPr lang="en-GB" sz="2000" dirty="0"/>
              <a:t> </a:t>
            </a:r>
            <a:r>
              <a:rPr lang="en-GB" sz="2000" dirty="0" err="1"/>
              <a:t>toimivat</a:t>
            </a:r>
            <a:r>
              <a:rPr lang="en-GB" sz="2000" dirty="0"/>
              <a:t>. </a:t>
            </a:r>
            <a:r>
              <a:rPr lang="en-GB" sz="2000" dirty="0" err="1"/>
              <a:t>Jos</a:t>
            </a:r>
            <a:r>
              <a:rPr lang="en-GB" sz="2000" dirty="0"/>
              <a:t> </a:t>
            </a:r>
            <a:r>
              <a:rPr lang="en-GB" sz="2000" dirty="0" err="1"/>
              <a:t>ohjelmistossa</a:t>
            </a:r>
            <a:r>
              <a:rPr lang="en-GB" sz="2000" dirty="0"/>
              <a:t> on </a:t>
            </a:r>
            <a:r>
              <a:rPr lang="en-GB" sz="2000" dirty="0" err="1"/>
              <a:t>virhe</a:t>
            </a:r>
            <a:r>
              <a:rPr lang="en-GB" sz="2000" dirty="0"/>
              <a:t>, </a:t>
            </a:r>
            <a:r>
              <a:rPr lang="en-GB" sz="2000" dirty="0" err="1"/>
              <a:t>kaikki</a:t>
            </a:r>
            <a:r>
              <a:rPr lang="en-GB" sz="2000" dirty="0"/>
              <a:t> </a:t>
            </a:r>
            <a:r>
              <a:rPr lang="en-GB" sz="2000" dirty="0" err="1"/>
              <a:t>ekvivalenssiluokan</a:t>
            </a:r>
            <a:r>
              <a:rPr lang="en-GB" sz="2000" dirty="0"/>
              <a:t> </a:t>
            </a:r>
            <a:r>
              <a:rPr lang="en-GB" sz="2000" dirty="0" err="1"/>
              <a:t>arvot</a:t>
            </a:r>
            <a:r>
              <a:rPr lang="en-GB" sz="2000" dirty="0"/>
              <a:t> </a:t>
            </a:r>
            <a:r>
              <a:rPr lang="en-GB" sz="2000" dirty="0" err="1"/>
              <a:t>ovat</a:t>
            </a:r>
            <a:r>
              <a:rPr lang="en-GB" sz="2000" dirty="0"/>
              <a:t> </a:t>
            </a:r>
            <a:r>
              <a:rPr lang="en-GB" sz="2000" dirty="0" err="1"/>
              <a:t>yhtä</a:t>
            </a:r>
            <a:r>
              <a:rPr lang="en-GB" sz="2000" dirty="0"/>
              <a:t> </a:t>
            </a:r>
            <a:r>
              <a:rPr lang="en-GB" sz="2000" dirty="0" err="1"/>
              <a:t>hyviä</a:t>
            </a:r>
            <a:r>
              <a:rPr lang="en-GB" sz="2000" dirty="0"/>
              <a:t> </a:t>
            </a:r>
            <a:r>
              <a:rPr lang="en-GB" sz="2000" dirty="0" err="1"/>
              <a:t>löytämään</a:t>
            </a:r>
            <a:r>
              <a:rPr lang="en-GB" sz="2000" dirty="0"/>
              <a:t> </a:t>
            </a:r>
            <a:r>
              <a:rPr lang="en-GB" sz="2000" dirty="0" err="1"/>
              <a:t>sen</a:t>
            </a:r>
            <a:r>
              <a:rPr lang="en-GB" sz="2000" dirty="0"/>
              <a:t>. </a:t>
            </a:r>
          </a:p>
          <a:p>
            <a:pPr marL="0" indent="0" defTabSz="762000">
              <a:lnSpc>
                <a:spcPct val="110000"/>
              </a:lnSpc>
            </a:pPr>
            <a:r>
              <a:rPr lang="en-GB" sz="2000" dirty="0"/>
              <a:t>Raja-</a:t>
            </a:r>
            <a:r>
              <a:rPr lang="en-GB" sz="2000" dirty="0" err="1"/>
              <a:t>arvojen</a:t>
            </a:r>
            <a:r>
              <a:rPr lang="en-GB" sz="2000" dirty="0"/>
              <a:t> </a:t>
            </a:r>
            <a:r>
              <a:rPr lang="en-GB" sz="2000" dirty="0" err="1"/>
              <a:t>perusolettama</a:t>
            </a:r>
            <a:r>
              <a:rPr lang="en-GB" sz="2000" dirty="0"/>
              <a:t>: </a:t>
            </a:r>
            <a:r>
              <a:rPr lang="en-GB" sz="2000" dirty="0" err="1"/>
              <a:t>virheet</a:t>
            </a:r>
            <a:r>
              <a:rPr lang="en-GB" sz="2000" dirty="0"/>
              <a:t> </a:t>
            </a:r>
            <a:r>
              <a:rPr lang="en-GB" sz="2000" dirty="0" err="1"/>
              <a:t>ovat</a:t>
            </a:r>
            <a:r>
              <a:rPr lang="en-GB" sz="2000" dirty="0"/>
              <a:t> </a:t>
            </a:r>
            <a:r>
              <a:rPr lang="en-GB" sz="2000" dirty="0" err="1"/>
              <a:t>yleisimpiä</a:t>
            </a:r>
            <a:r>
              <a:rPr lang="en-GB" sz="2000" dirty="0"/>
              <a:t> </a:t>
            </a:r>
            <a:r>
              <a:rPr lang="en-GB" sz="2000" dirty="0" err="1"/>
              <a:t>rajalla</a:t>
            </a:r>
            <a:r>
              <a:rPr lang="en-GB" sz="2000" dirty="0"/>
              <a:t>, </a:t>
            </a:r>
            <a:r>
              <a:rPr lang="en-GB" sz="2000" dirty="0" err="1"/>
              <a:t>joten</a:t>
            </a:r>
            <a:r>
              <a:rPr lang="en-GB" sz="2000" dirty="0"/>
              <a:t> ne </a:t>
            </a:r>
            <a:r>
              <a:rPr lang="en-GB" sz="2000" dirty="0" err="1"/>
              <a:t>ovat</a:t>
            </a:r>
            <a:r>
              <a:rPr lang="en-GB" sz="2000" dirty="0"/>
              <a:t> </a:t>
            </a:r>
            <a:r>
              <a:rPr lang="en-GB" sz="2000" dirty="0" err="1"/>
              <a:t>erikoistapauksia</a:t>
            </a:r>
            <a:r>
              <a:rPr lang="en-GB" sz="2000" dirty="0"/>
              <a:t> tai </a:t>
            </a:r>
            <a:r>
              <a:rPr lang="en-GB" sz="2000" dirty="0" err="1"/>
              <a:t>kunkin</a:t>
            </a:r>
            <a:r>
              <a:rPr lang="en-GB" sz="2000" dirty="0"/>
              <a:t> </a:t>
            </a:r>
            <a:r>
              <a:rPr lang="en-GB" sz="2000" dirty="0" err="1"/>
              <a:t>luokan</a:t>
            </a:r>
            <a:r>
              <a:rPr lang="en-GB" sz="2000" dirty="0"/>
              <a:t> </a:t>
            </a:r>
            <a:r>
              <a:rPr lang="en-GB" sz="2000" dirty="0" err="1"/>
              <a:t>parhaita</a:t>
            </a:r>
            <a:r>
              <a:rPr lang="en-GB" sz="2000" dirty="0"/>
              <a:t> </a:t>
            </a:r>
            <a:r>
              <a:rPr lang="en-GB" sz="2000" dirty="0" err="1"/>
              <a:t>edustajia</a:t>
            </a:r>
            <a:r>
              <a:rPr lang="en-GB" sz="2000" dirty="0"/>
              <a:t> </a:t>
            </a:r>
            <a:r>
              <a:rPr lang="en-GB" sz="2000" dirty="0" err="1"/>
              <a:t>testaukseen</a:t>
            </a:r>
            <a:r>
              <a:rPr lang="en-GB" sz="2000" dirty="0"/>
              <a:t> – </a:t>
            </a:r>
            <a:r>
              <a:rPr lang="en-GB" sz="2000" dirty="0" err="1"/>
              <a:t>mitätöidään</a:t>
            </a:r>
            <a:r>
              <a:rPr lang="en-GB" sz="2000" dirty="0"/>
              <a:t> </a:t>
            </a:r>
            <a:r>
              <a:rPr lang="en-GB" sz="2000" dirty="0" err="1"/>
              <a:t>oletus</a:t>
            </a:r>
            <a:r>
              <a:rPr lang="en-GB" sz="2000" dirty="0"/>
              <a:t> </a:t>
            </a:r>
            <a:r>
              <a:rPr lang="en-GB" sz="2000" dirty="0" err="1"/>
              <a:t>että</a:t>
            </a:r>
            <a:r>
              <a:rPr lang="en-GB" sz="2000" dirty="0"/>
              <a:t> </a:t>
            </a:r>
            <a:r>
              <a:rPr lang="en-GB" sz="2000" dirty="0" err="1"/>
              <a:t>mikä</a:t>
            </a:r>
            <a:r>
              <a:rPr lang="en-GB" sz="2000" dirty="0"/>
              <a:t> </a:t>
            </a:r>
            <a:r>
              <a:rPr lang="en-GB" sz="2000" dirty="0" err="1"/>
              <a:t>tahansa</a:t>
            </a:r>
            <a:r>
              <a:rPr lang="en-GB" sz="2000" dirty="0"/>
              <a:t> </a:t>
            </a:r>
            <a:r>
              <a:rPr lang="en-GB" sz="2000" dirty="0" err="1"/>
              <a:t>arvo</a:t>
            </a:r>
            <a:r>
              <a:rPr lang="en-GB" sz="2000" dirty="0"/>
              <a:t> </a:t>
            </a:r>
            <a:r>
              <a:rPr lang="en-GB" sz="2000" dirty="0" err="1"/>
              <a:t>olisi</a:t>
            </a:r>
            <a:r>
              <a:rPr lang="en-GB" sz="2000" dirty="0"/>
              <a:t> </a:t>
            </a:r>
            <a:r>
              <a:rPr lang="en-GB" sz="2000" dirty="0" err="1"/>
              <a:t>yhtä</a:t>
            </a:r>
            <a:r>
              <a:rPr lang="en-GB" sz="2000" dirty="0"/>
              <a:t> </a:t>
            </a:r>
            <a:r>
              <a:rPr lang="en-GB" sz="2000" dirty="0" err="1"/>
              <a:t>hyvä</a:t>
            </a:r>
            <a:endParaRPr lang="en-GB" sz="2000" dirty="0"/>
          </a:p>
        </p:txBody>
      </p:sp>
      <p:grpSp>
        <p:nvGrpSpPr>
          <p:cNvPr id="2" name="Group 15"/>
          <p:cNvGrpSpPr>
            <a:grpSpLocks/>
          </p:cNvGrpSpPr>
          <p:nvPr/>
        </p:nvGrpSpPr>
        <p:grpSpPr bwMode="auto">
          <a:xfrm>
            <a:off x="4572000" y="2209800"/>
            <a:ext cx="3886200" cy="1163638"/>
            <a:chOff x="2880" y="1392"/>
            <a:chExt cx="2448" cy="733"/>
          </a:xfrm>
        </p:grpSpPr>
        <p:sp>
          <p:nvSpPr>
            <p:cNvPr id="58373" name="Line 5"/>
            <p:cNvSpPr>
              <a:spLocks noChangeShapeType="1"/>
            </p:cNvSpPr>
            <p:nvPr/>
          </p:nvSpPr>
          <p:spPr bwMode="auto">
            <a:xfrm>
              <a:off x="2928" y="1618"/>
              <a:ext cx="2400" cy="0"/>
            </a:xfrm>
            <a:prstGeom prst="line">
              <a:avLst/>
            </a:prstGeom>
            <a:noFill/>
            <a:ln w="38100">
              <a:solidFill>
                <a:schemeClr val="accent2"/>
              </a:solidFill>
              <a:round/>
              <a:headEnd/>
              <a:tailEnd type="triangle" w="med" len="med"/>
            </a:ln>
            <a:effectLst/>
          </p:spPr>
          <p:txBody>
            <a:bodyPr lIns="90000" tIns="46800" rIns="90000" bIns="46800"/>
            <a:lstStyle/>
            <a:p>
              <a:endParaRPr lang="fi-FI"/>
            </a:p>
          </p:txBody>
        </p:sp>
        <p:sp>
          <p:nvSpPr>
            <p:cNvPr id="58374" name="Line 6"/>
            <p:cNvSpPr>
              <a:spLocks noChangeShapeType="1"/>
            </p:cNvSpPr>
            <p:nvPr/>
          </p:nvSpPr>
          <p:spPr bwMode="auto">
            <a:xfrm>
              <a:off x="3408" y="1570"/>
              <a:ext cx="0" cy="96"/>
            </a:xfrm>
            <a:prstGeom prst="line">
              <a:avLst/>
            </a:prstGeom>
            <a:noFill/>
            <a:ln w="57150">
              <a:solidFill>
                <a:schemeClr val="accent1"/>
              </a:solidFill>
              <a:round/>
              <a:headEnd/>
              <a:tailEnd/>
            </a:ln>
            <a:effectLst/>
          </p:spPr>
          <p:txBody>
            <a:bodyPr lIns="90000" tIns="46800" rIns="90000" bIns="46800"/>
            <a:lstStyle/>
            <a:p>
              <a:endParaRPr lang="fi-FI"/>
            </a:p>
          </p:txBody>
        </p:sp>
        <p:sp>
          <p:nvSpPr>
            <p:cNvPr id="58375" name="Line 7"/>
            <p:cNvSpPr>
              <a:spLocks noChangeShapeType="1"/>
            </p:cNvSpPr>
            <p:nvPr/>
          </p:nvSpPr>
          <p:spPr bwMode="auto">
            <a:xfrm>
              <a:off x="4512" y="1570"/>
              <a:ext cx="0" cy="96"/>
            </a:xfrm>
            <a:prstGeom prst="line">
              <a:avLst/>
            </a:prstGeom>
            <a:noFill/>
            <a:ln w="57150">
              <a:solidFill>
                <a:schemeClr val="accent1"/>
              </a:solidFill>
              <a:round/>
              <a:headEnd/>
              <a:tailEnd/>
            </a:ln>
            <a:effectLst/>
          </p:spPr>
          <p:txBody>
            <a:bodyPr lIns="90000" tIns="46800" rIns="90000" bIns="46800"/>
            <a:lstStyle/>
            <a:p>
              <a:endParaRPr lang="fi-FI"/>
            </a:p>
          </p:txBody>
        </p:sp>
        <p:sp>
          <p:nvSpPr>
            <p:cNvPr id="58376" name="Text Box 8"/>
            <p:cNvSpPr txBox="1">
              <a:spLocks noChangeArrowheads="1"/>
            </p:cNvSpPr>
            <p:nvPr/>
          </p:nvSpPr>
          <p:spPr bwMode="auto">
            <a:xfrm>
              <a:off x="3000" y="1714"/>
              <a:ext cx="816" cy="21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latin typeface="MetaPlusNormal" charset="0"/>
                  <a:cs typeface="Arial" pitchFamily="34" charset="0"/>
                </a:rPr>
                <a:t>0</a:t>
              </a:r>
            </a:p>
          </p:txBody>
        </p:sp>
        <p:sp>
          <p:nvSpPr>
            <p:cNvPr id="58377" name="Text Box 9"/>
            <p:cNvSpPr txBox="1">
              <a:spLocks noChangeArrowheads="1"/>
            </p:cNvSpPr>
            <p:nvPr/>
          </p:nvSpPr>
          <p:spPr bwMode="auto">
            <a:xfrm>
              <a:off x="4128" y="1714"/>
              <a:ext cx="816" cy="21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latin typeface="MetaPlusNormal" charset="0"/>
                  <a:cs typeface="Arial" pitchFamily="34" charset="0"/>
                </a:rPr>
                <a:t>99</a:t>
              </a:r>
            </a:p>
          </p:txBody>
        </p:sp>
        <p:sp>
          <p:nvSpPr>
            <p:cNvPr id="58378" name="AutoShape 10"/>
            <p:cNvSpPr>
              <a:spLocks noChangeArrowheads="1"/>
            </p:cNvSpPr>
            <p:nvPr/>
          </p:nvSpPr>
          <p:spPr bwMode="auto">
            <a:xfrm>
              <a:off x="3288" y="1933"/>
              <a:ext cx="240" cy="192"/>
            </a:xfrm>
            <a:prstGeom prst="upArrow">
              <a:avLst>
                <a:gd name="adj1" fmla="val 50000"/>
                <a:gd name="adj2" fmla="val 25000"/>
              </a:avLst>
            </a:prstGeom>
            <a:solidFill>
              <a:schemeClr val="folHlink"/>
            </a:solidFill>
            <a:ln w="12700">
              <a:solidFill>
                <a:schemeClr val="folHlink"/>
              </a:solidFill>
              <a:miter lim="800000"/>
              <a:headEnd/>
              <a:tailEnd/>
            </a:ln>
            <a:effectLst/>
          </p:spPr>
          <p:txBody>
            <a:bodyPr wrap="none" lIns="90000" tIns="46800" rIns="90000" bIns="46800" anchor="ctr"/>
            <a:lstStyle/>
            <a:p>
              <a:pPr algn="ctr"/>
              <a:r>
                <a:rPr lang="en-GB" sz="1600">
                  <a:solidFill>
                    <a:schemeClr val="bg1"/>
                  </a:solidFill>
                  <a:latin typeface="MetaPlusNormal" charset="0"/>
                  <a:cs typeface="Arial" pitchFamily="34" charset="0"/>
                </a:rPr>
                <a:t>2</a:t>
              </a:r>
            </a:p>
          </p:txBody>
        </p:sp>
        <p:sp>
          <p:nvSpPr>
            <p:cNvPr id="58379" name="AutoShape 11"/>
            <p:cNvSpPr>
              <a:spLocks noChangeArrowheads="1"/>
            </p:cNvSpPr>
            <p:nvPr/>
          </p:nvSpPr>
          <p:spPr bwMode="auto">
            <a:xfrm>
              <a:off x="4416" y="1933"/>
              <a:ext cx="240" cy="192"/>
            </a:xfrm>
            <a:prstGeom prst="upArrow">
              <a:avLst>
                <a:gd name="adj1" fmla="val 50000"/>
                <a:gd name="adj2" fmla="val 25000"/>
              </a:avLst>
            </a:prstGeom>
            <a:solidFill>
              <a:schemeClr val="folHlink"/>
            </a:solidFill>
            <a:ln w="12700">
              <a:solidFill>
                <a:schemeClr val="folHlink"/>
              </a:solidFill>
              <a:miter lim="800000"/>
              <a:headEnd/>
              <a:tailEnd/>
            </a:ln>
            <a:effectLst/>
          </p:spPr>
          <p:txBody>
            <a:bodyPr wrap="none" lIns="90000" tIns="46800" rIns="90000" bIns="46800" anchor="ctr"/>
            <a:lstStyle/>
            <a:p>
              <a:pPr algn="ctr"/>
              <a:r>
                <a:rPr lang="en-GB" sz="1600">
                  <a:solidFill>
                    <a:schemeClr val="bg1"/>
                  </a:solidFill>
                  <a:latin typeface="MetaPlusNormal" charset="0"/>
                  <a:cs typeface="Arial" pitchFamily="34" charset="0"/>
                </a:rPr>
                <a:t>2</a:t>
              </a:r>
            </a:p>
          </p:txBody>
        </p:sp>
        <p:sp>
          <p:nvSpPr>
            <p:cNvPr id="58380" name="AutoShape 12"/>
            <p:cNvSpPr>
              <a:spLocks noChangeArrowheads="1"/>
            </p:cNvSpPr>
            <p:nvPr/>
          </p:nvSpPr>
          <p:spPr bwMode="auto">
            <a:xfrm flipV="1">
              <a:off x="4800" y="1392"/>
              <a:ext cx="240" cy="192"/>
            </a:xfrm>
            <a:prstGeom prst="upArrow">
              <a:avLst>
                <a:gd name="adj1" fmla="val 50000"/>
                <a:gd name="adj2" fmla="val 25000"/>
              </a:avLst>
            </a:prstGeom>
            <a:solidFill>
              <a:schemeClr val="hlink"/>
            </a:solidFill>
            <a:ln w="12700">
              <a:noFill/>
              <a:miter lim="800000"/>
              <a:headEnd/>
              <a:tailEnd/>
            </a:ln>
            <a:effectLst/>
          </p:spPr>
          <p:txBody>
            <a:bodyPr rot="10800000" wrap="none" lIns="90000" tIns="46800" rIns="90000" bIns="46800" anchor="ctr"/>
            <a:lstStyle/>
            <a:p>
              <a:pPr algn="ctr"/>
              <a:r>
                <a:rPr lang="en-GB" sz="1600">
                  <a:solidFill>
                    <a:schemeClr val="bg1"/>
                  </a:solidFill>
                  <a:latin typeface="MetaPlusNormal" charset="0"/>
                  <a:cs typeface="Arial" pitchFamily="34" charset="0"/>
                </a:rPr>
                <a:t>1</a:t>
              </a:r>
            </a:p>
          </p:txBody>
        </p:sp>
        <p:sp>
          <p:nvSpPr>
            <p:cNvPr id="58381" name="AutoShape 13"/>
            <p:cNvSpPr>
              <a:spLocks noChangeArrowheads="1"/>
            </p:cNvSpPr>
            <p:nvPr/>
          </p:nvSpPr>
          <p:spPr bwMode="auto">
            <a:xfrm flipV="1">
              <a:off x="3792" y="1392"/>
              <a:ext cx="240" cy="192"/>
            </a:xfrm>
            <a:prstGeom prst="upArrow">
              <a:avLst>
                <a:gd name="adj1" fmla="val 50000"/>
                <a:gd name="adj2" fmla="val 25000"/>
              </a:avLst>
            </a:prstGeom>
            <a:solidFill>
              <a:schemeClr val="hlink"/>
            </a:solidFill>
            <a:ln w="12700">
              <a:noFill/>
              <a:miter lim="800000"/>
              <a:headEnd/>
              <a:tailEnd/>
            </a:ln>
            <a:effectLst/>
          </p:spPr>
          <p:txBody>
            <a:bodyPr rot="10800000" wrap="none" lIns="90000" tIns="46800" rIns="90000" bIns="46800" anchor="ctr"/>
            <a:lstStyle/>
            <a:p>
              <a:pPr algn="ctr"/>
              <a:r>
                <a:rPr lang="en-GB" sz="1600">
                  <a:solidFill>
                    <a:schemeClr val="bg1"/>
                  </a:solidFill>
                  <a:latin typeface="MetaPlusNormal" charset="0"/>
                  <a:cs typeface="Arial" pitchFamily="34" charset="0"/>
                </a:rPr>
                <a:t>1</a:t>
              </a:r>
            </a:p>
          </p:txBody>
        </p:sp>
        <p:sp>
          <p:nvSpPr>
            <p:cNvPr id="58382" name="AutoShape 14"/>
            <p:cNvSpPr>
              <a:spLocks noChangeArrowheads="1"/>
            </p:cNvSpPr>
            <p:nvPr/>
          </p:nvSpPr>
          <p:spPr bwMode="auto">
            <a:xfrm flipV="1">
              <a:off x="2880" y="1392"/>
              <a:ext cx="240" cy="192"/>
            </a:xfrm>
            <a:prstGeom prst="upArrow">
              <a:avLst>
                <a:gd name="adj1" fmla="val 50000"/>
                <a:gd name="adj2" fmla="val 25000"/>
              </a:avLst>
            </a:prstGeom>
            <a:solidFill>
              <a:schemeClr val="hlink"/>
            </a:solidFill>
            <a:ln w="12700">
              <a:noFill/>
              <a:miter lim="800000"/>
              <a:headEnd/>
              <a:tailEnd/>
            </a:ln>
            <a:effectLst/>
          </p:spPr>
          <p:txBody>
            <a:bodyPr rot="10800000" wrap="none" lIns="90000" tIns="46800" rIns="90000" bIns="46800" anchor="ctr"/>
            <a:lstStyle/>
            <a:p>
              <a:pPr algn="ctr"/>
              <a:r>
                <a:rPr lang="en-GB" sz="1600">
                  <a:solidFill>
                    <a:schemeClr val="bg1"/>
                  </a:solidFill>
                  <a:latin typeface="MetaPlusNormal" charset="0"/>
                  <a:cs typeface="Arial" pitchFamily="34" charset="0"/>
                </a:rPr>
                <a:t>1</a:t>
              </a:r>
            </a:p>
          </p:txBody>
        </p:sp>
      </p:gr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Slide Number Placeholder 5"/>
          <p:cNvSpPr>
            <a:spLocks noGrp="1"/>
          </p:cNvSpPr>
          <p:nvPr>
            <p:ph type="sldNum" sz="quarter" idx="12"/>
          </p:nvPr>
        </p:nvSpPr>
        <p:spPr/>
        <p:txBody>
          <a:bodyPr/>
          <a:lstStyle/>
          <a:p>
            <a:fld id="{03862CE0-032E-4B19-A1BF-5D3173658848}" type="slidenum">
              <a:rPr lang="en-US"/>
              <a:pPr/>
              <a:t>26</a:t>
            </a:fld>
            <a:endParaRPr lang="en-US"/>
          </a:p>
        </p:txBody>
      </p:sp>
      <p:sp>
        <p:nvSpPr>
          <p:cNvPr id="59394" name="Rectangle 2"/>
          <p:cNvSpPr>
            <a:spLocks noGrp="1" noChangeArrowheads="1"/>
          </p:cNvSpPr>
          <p:nvPr>
            <p:ph type="title"/>
          </p:nvPr>
        </p:nvSpPr>
        <p:spPr/>
        <p:txBody>
          <a:bodyPr>
            <a:normAutofit fontScale="90000"/>
          </a:bodyPr>
          <a:lstStyle/>
          <a:p>
            <a:pPr defTabSz="762000"/>
            <a:r>
              <a:rPr lang="en-GB" sz="3600"/>
              <a:t>Arvoaluetestaus perustuu olettamiin tavoista toteuttaa</a:t>
            </a:r>
            <a:br>
              <a:rPr lang="en-GB" sz="3600"/>
            </a:br>
            <a:endParaRPr lang="en-GB" sz="3600"/>
          </a:p>
        </p:txBody>
      </p:sp>
      <p:sp>
        <p:nvSpPr>
          <p:cNvPr id="59395" name="Rectangle 3"/>
          <p:cNvSpPr>
            <a:spLocks noGrp="1" noChangeArrowheads="1"/>
          </p:cNvSpPr>
          <p:nvPr>
            <p:ph type="body" idx="1"/>
          </p:nvPr>
        </p:nvSpPr>
        <p:spPr>
          <a:xfrm>
            <a:off x="107953" y="1828800"/>
            <a:ext cx="4608513" cy="3657600"/>
          </a:xfrm>
        </p:spPr>
        <p:txBody>
          <a:bodyPr/>
          <a:lstStyle/>
          <a:p>
            <a:pPr marL="0" indent="0" defTabSz="762000">
              <a:buFontTx/>
              <a:buNone/>
            </a:pPr>
            <a:r>
              <a:rPr lang="en-GB" sz="1400" b="1">
                <a:latin typeface="Courier New" pitchFamily="49" charset="0"/>
              </a:rPr>
              <a:t>if (hakijanIka == 0) paatos = “EI”;</a:t>
            </a:r>
          </a:p>
          <a:p>
            <a:pPr marL="0" indent="0" defTabSz="762000">
              <a:buFontTx/>
              <a:buNone/>
            </a:pPr>
            <a:r>
              <a:rPr lang="en-GB" sz="1400" b="1">
                <a:latin typeface="Courier New" pitchFamily="49" charset="0"/>
              </a:rPr>
              <a:t>if (hakijanIka == 1) paatos = “EI”;</a:t>
            </a:r>
          </a:p>
          <a:p>
            <a:pPr marL="0" indent="0" defTabSz="762000">
              <a:buFontTx/>
              <a:buNone/>
            </a:pPr>
            <a:r>
              <a:rPr lang="en-GB" sz="1400" b="1">
                <a:latin typeface="Courier New" pitchFamily="49" charset="0"/>
              </a:rPr>
              <a:t>…</a:t>
            </a:r>
          </a:p>
          <a:p>
            <a:pPr marL="0" indent="0" defTabSz="762000">
              <a:buFontTx/>
              <a:buNone/>
            </a:pPr>
            <a:r>
              <a:rPr lang="en-GB" sz="1400" b="1">
                <a:latin typeface="Courier New" pitchFamily="49" charset="0"/>
              </a:rPr>
              <a:t>if (hakijanIka == 14) paatos = “EI”;</a:t>
            </a:r>
          </a:p>
          <a:p>
            <a:pPr marL="0" indent="0" defTabSz="762000">
              <a:buFontTx/>
              <a:buNone/>
            </a:pPr>
            <a:r>
              <a:rPr lang="en-GB" sz="1400" b="1">
                <a:latin typeface="Courier New" pitchFamily="49" charset="0"/>
              </a:rPr>
              <a:t>if (hakijanIka == 15) paatos = “EI”;</a:t>
            </a:r>
          </a:p>
          <a:p>
            <a:pPr marL="0" indent="0" defTabSz="762000">
              <a:buFontTx/>
              <a:buNone/>
            </a:pPr>
            <a:r>
              <a:rPr lang="en-GB" sz="1400" b="1">
                <a:latin typeface="Courier New" pitchFamily="49" charset="0"/>
              </a:rPr>
              <a:t>if (hakijanIka == 16) paatos = “OSA”;</a:t>
            </a:r>
          </a:p>
          <a:p>
            <a:pPr marL="0" indent="0" defTabSz="762000">
              <a:buFontTx/>
              <a:buNone/>
            </a:pPr>
            <a:r>
              <a:rPr lang="en-GB" sz="1400" b="1">
                <a:latin typeface="Courier New" pitchFamily="49" charset="0"/>
              </a:rPr>
              <a:t>if (hakijanIka == 17) paatos = “OSA”;</a:t>
            </a:r>
          </a:p>
          <a:p>
            <a:pPr marL="0" indent="0" defTabSz="762000">
              <a:buFontTx/>
              <a:buNone/>
            </a:pPr>
            <a:r>
              <a:rPr lang="en-GB" sz="1400" b="1">
                <a:latin typeface="Courier New" pitchFamily="49" charset="0"/>
              </a:rPr>
              <a:t>if (hakijanIka == 18) paatos = “TAYSI”;</a:t>
            </a:r>
          </a:p>
          <a:p>
            <a:pPr marL="0" indent="0" defTabSz="762000">
              <a:buFontTx/>
              <a:buNone/>
            </a:pPr>
            <a:r>
              <a:rPr lang="en-GB" sz="1400" b="1">
                <a:latin typeface="Courier New" pitchFamily="49" charset="0"/>
              </a:rPr>
              <a:t>…</a:t>
            </a:r>
          </a:p>
          <a:p>
            <a:pPr marL="0" indent="0" defTabSz="762000">
              <a:buFontTx/>
              <a:buNone/>
            </a:pPr>
            <a:r>
              <a:rPr lang="en-GB" sz="1400" b="1">
                <a:latin typeface="Courier New" pitchFamily="49" charset="0"/>
              </a:rPr>
              <a:t>if (hakijanIka == 54) paatos = “TAYSI”;</a:t>
            </a:r>
          </a:p>
          <a:p>
            <a:pPr marL="0" indent="0" defTabSz="762000">
              <a:buFontTx/>
              <a:buNone/>
            </a:pPr>
            <a:r>
              <a:rPr lang="en-GB" sz="1400" b="1">
                <a:latin typeface="Courier New" pitchFamily="49" charset="0"/>
              </a:rPr>
              <a:t>if (hakijanIka == 55) paatos = “EI”;</a:t>
            </a:r>
          </a:p>
          <a:p>
            <a:pPr marL="0" indent="0" defTabSz="762000">
              <a:buFontTx/>
              <a:buNone/>
            </a:pPr>
            <a:r>
              <a:rPr lang="en-GB" sz="1400" b="1">
                <a:latin typeface="Courier New" pitchFamily="49" charset="0"/>
              </a:rPr>
              <a:t>…</a:t>
            </a:r>
          </a:p>
          <a:p>
            <a:pPr marL="0" indent="0" defTabSz="762000">
              <a:buFontTx/>
              <a:buNone/>
            </a:pPr>
            <a:r>
              <a:rPr lang="en-GB" sz="1400" b="1">
                <a:latin typeface="Courier New" pitchFamily="49" charset="0"/>
              </a:rPr>
              <a:t>if (hakijanIka == 99) paatos = “EI”;</a:t>
            </a:r>
          </a:p>
        </p:txBody>
      </p:sp>
      <p:sp>
        <p:nvSpPr>
          <p:cNvPr id="59396" name="Rectangle 4"/>
          <p:cNvSpPr>
            <a:spLocks noGrp="1" noChangeArrowheads="1"/>
          </p:cNvSpPr>
          <p:nvPr>
            <p:ph type="body" sz="half" idx="4294967295"/>
          </p:nvPr>
        </p:nvSpPr>
        <p:spPr>
          <a:xfrm>
            <a:off x="4859339" y="3124200"/>
            <a:ext cx="4284663" cy="3200400"/>
          </a:xfrm>
        </p:spPr>
        <p:txBody>
          <a:bodyPr/>
          <a:lstStyle/>
          <a:p>
            <a:pPr marL="0" indent="0" defTabSz="762000">
              <a:buFontTx/>
              <a:buNone/>
            </a:pPr>
            <a:r>
              <a:rPr lang="en-GB" sz="1200" b="1">
                <a:latin typeface="Courier New" pitchFamily="49" charset="0"/>
              </a:rPr>
              <a:t>if (hakijanIka &gt;= 0 &amp;&amp; hakijanIka &lt;= 16) </a:t>
            </a:r>
          </a:p>
          <a:p>
            <a:pPr marL="0" indent="0" defTabSz="762000">
              <a:buFontTx/>
              <a:buNone/>
            </a:pPr>
            <a:r>
              <a:rPr lang="en-GB" sz="1200" b="1">
                <a:latin typeface="Courier New" pitchFamily="49" charset="0"/>
              </a:rPr>
              <a:t>	paatos = “EI”;</a:t>
            </a:r>
          </a:p>
          <a:p>
            <a:pPr marL="0" indent="0" defTabSz="762000">
              <a:buFontTx/>
              <a:buNone/>
            </a:pPr>
            <a:r>
              <a:rPr lang="en-GB" sz="1200" b="1">
                <a:latin typeface="Courier New" pitchFamily="49" charset="0"/>
              </a:rPr>
              <a:t>if (hakijanIka &gt;= 16 &amp;&amp; hakijanIka &lt;= 18) </a:t>
            </a:r>
          </a:p>
          <a:p>
            <a:pPr marL="0" indent="0" defTabSz="762000">
              <a:buFontTx/>
              <a:buNone/>
            </a:pPr>
            <a:r>
              <a:rPr lang="en-GB" sz="1200" b="1">
                <a:latin typeface="Courier New" pitchFamily="49" charset="0"/>
              </a:rPr>
              <a:t>	paatos = “OSA”;</a:t>
            </a:r>
          </a:p>
          <a:p>
            <a:pPr marL="0" indent="0" defTabSz="762000">
              <a:buFontTx/>
              <a:buNone/>
            </a:pPr>
            <a:r>
              <a:rPr lang="en-GB" sz="1200" b="1">
                <a:latin typeface="Courier New" pitchFamily="49" charset="0"/>
              </a:rPr>
              <a:t>if (hakijanIka &gt;= 18 &amp;&amp; hakijanIka &lt;= 55) </a:t>
            </a:r>
          </a:p>
          <a:p>
            <a:pPr marL="0" indent="0" defTabSz="762000">
              <a:buFontTx/>
              <a:buNone/>
            </a:pPr>
            <a:r>
              <a:rPr lang="en-GB" sz="1200" b="1">
                <a:latin typeface="Courier New" pitchFamily="49" charset="0"/>
              </a:rPr>
              <a:t>	paatos = “TAYSI”;</a:t>
            </a:r>
          </a:p>
          <a:p>
            <a:pPr marL="0" indent="0" defTabSz="762000">
              <a:buFontTx/>
              <a:buNone/>
            </a:pPr>
            <a:r>
              <a:rPr lang="en-GB" sz="1200" b="1">
                <a:latin typeface="Courier New" pitchFamily="49" charset="0"/>
              </a:rPr>
              <a:t>if (hakijanIka &gt;= 55 &amp;&amp; hakijanIka &lt;= 99) </a:t>
            </a:r>
          </a:p>
          <a:p>
            <a:pPr marL="0" indent="0" defTabSz="762000">
              <a:buFontTx/>
              <a:buNone/>
            </a:pPr>
            <a:r>
              <a:rPr lang="en-GB" sz="1200" b="1">
                <a:latin typeface="Courier New" pitchFamily="49" charset="0"/>
              </a:rPr>
              <a:t>	paatos = “EI”;</a:t>
            </a:r>
          </a:p>
          <a:p>
            <a:pPr marL="0" indent="0" defTabSz="762000">
              <a:buFontTx/>
              <a:buNone/>
            </a:pPr>
            <a:endParaRPr lang="en-GB" sz="1200" b="1">
              <a:latin typeface="Courier New" pitchFamily="49" charset="0"/>
            </a:endParaRPr>
          </a:p>
          <a:p>
            <a:pPr marL="0" indent="0" defTabSz="762000">
              <a:buFontTx/>
              <a:buNone/>
            </a:pPr>
            <a:endParaRPr lang="en-GB" sz="1200" b="1">
              <a:latin typeface="Courier New" pitchFamily="49" charset="0"/>
            </a:endParaRPr>
          </a:p>
          <a:p>
            <a:pPr marL="0" indent="0" defTabSz="762000">
              <a:buFontTx/>
              <a:buNone/>
            </a:pPr>
            <a:endParaRPr lang="en-GB" sz="1200" b="1">
              <a:latin typeface="Courier New" pitchFamily="49" charset="0"/>
            </a:endParaRPr>
          </a:p>
        </p:txBody>
      </p:sp>
      <p:sp>
        <p:nvSpPr>
          <p:cNvPr id="59397" name="Rectangle 5"/>
          <p:cNvSpPr>
            <a:spLocks noChangeArrowheads="1"/>
          </p:cNvSpPr>
          <p:nvPr/>
        </p:nvSpPr>
        <p:spPr bwMode="auto">
          <a:xfrm>
            <a:off x="4876800" y="1268415"/>
            <a:ext cx="3352800" cy="1627187"/>
          </a:xfrm>
          <a:prstGeom prst="rect">
            <a:avLst/>
          </a:prstGeom>
          <a:solidFill>
            <a:schemeClr val="bg2"/>
          </a:solidFill>
          <a:ln w="12700">
            <a:noFill/>
            <a:miter lim="800000"/>
            <a:headEnd/>
            <a:tailEnd/>
          </a:ln>
          <a:effectLst/>
        </p:spPr>
        <p:txBody>
          <a:bodyPr lIns="90000" tIns="46800" rIns="90000" bIns="46800" anchor="ctr"/>
          <a:lstStyle/>
          <a:p>
            <a:pPr algn="ctr"/>
            <a:r>
              <a:rPr lang="en-GB" sz="1400">
                <a:cs typeface="Arial" pitchFamily="34" charset="0"/>
              </a:rPr>
              <a:t>ESIMERKKI: Ikään perustuva palkkauspäätös</a:t>
            </a:r>
          </a:p>
          <a:p>
            <a:pPr algn="ctr"/>
            <a:endParaRPr lang="en-GB" sz="1400">
              <a:cs typeface="Arial" pitchFamily="34" charset="0"/>
            </a:endParaRPr>
          </a:p>
          <a:p>
            <a:r>
              <a:rPr lang="en-GB" sz="1400">
                <a:cs typeface="Arial" pitchFamily="34" charset="0"/>
              </a:rPr>
              <a:t>0-16	alaikäinen, ei palkata</a:t>
            </a:r>
          </a:p>
          <a:p>
            <a:r>
              <a:rPr lang="en-GB" sz="1400">
                <a:cs typeface="Arial" pitchFamily="34" charset="0"/>
              </a:rPr>
              <a:t>16-18	saa tehdä osapäivätyötä</a:t>
            </a:r>
          </a:p>
          <a:p>
            <a:r>
              <a:rPr lang="en-GB" sz="1400">
                <a:cs typeface="Arial" pitchFamily="34" charset="0"/>
              </a:rPr>
              <a:t>18-55	työntekoiässä, palkataan</a:t>
            </a:r>
          </a:p>
          <a:p>
            <a:r>
              <a:rPr lang="en-GB" sz="1400">
                <a:cs typeface="Arial" pitchFamily="34" charset="0"/>
              </a:rPr>
              <a:t>55-99	ei palkata</a:t>
            </a:r>
          </a:p>
        </p:txBody>
      </p:sp>
      <p:grpSp>
        <p:nvGrpSpPr>
          <p:cNvPr id="2" name="Group 6"/>
          <p:cNvGrpSpPr>
            <a:grpSpLocks/>
          </p:cNvGrpSpPr>
          <p:nvPr/>
        </p:nvGrpSpPr>
        <p:grpSpPr bwMode="auto">
          <a:xfrm>
            <a:off x="381000" y="1295400"/>
            <a:ext cx="3657600" cy="4800600"/>
            <a:chOff x="240" y="816"/>
            <a:chExt cx="2304" cy="3024"/>
          </a:xfrm>
        </p:grpSpPr>
        <p:sp>
          <p:nvSpPr>
            <p:cNvPr id="59399" name="Line 7"/>
            <p:cNvSpPr>
              <a:spLocks noChangeShapeType="1"/>
            </p:cNvSpPr>
            <p:nvPr/>
          </p:nvSpPr>
          <p:spPr bwMode="auto">
            <a:xfrm>
              <a:off x="240" y="864"/>
              <a:ext cx="2208" cy="2928"/>
            </a:xfrm>
            <a:prstGeom prst="line">
              <a:avLst/>
            </a:prstGeom>
            <a:noFill/>
            <a:ln w="76200">
              <a:solidFill>
                <a:schemeClr val="accent2"/>
              </a:solidFill>
              <a:round/>
              <a:headEnd/>
              <a:tailEnd/>
            </a:ln>
            <a:effectLst/>
          </p:spPr>
          <p:txBody>
            <a:bodyPr lIns="90000" tIns="46800" rIns="90000" bIns="46800"/>
            <a:lstStyle/>
            <a:p>
              <a:endParaRPr lang="fi-FI"/>
            </a:p>
          </p:txBody>
        </p:sp>
        <p:sp>
          <p:nvSpPr>
            <p:cNvPr id="59400" name="Line 8"/>
            <p:cNvSpPr>
              <a:spLocks noChangeShapeType="1"/>
            </p:cNvSpPr>
            <p:nvPr/>
          </p:nvSpPr>
          <p:spPr bwMode="auto">
            <a:xfrm flipV="1">
              <a:off x="240" y="816"/>
              <a:ext cx="2304" cy="3024"/>
            </a:xfrm>
            <a:prstGeom prst="line">
              <a:avLst/>
            </a:prstGeom>
            <a:noFill/>
            <a:ln w="76200">
              <a:solidFill>
                <a:schemeClr val="accent2"/>
              </a:solidFill>
              <a:round/>
              <a:headEnd/>
              <a:tailEnd/>
            </a:ln>
            <a:effectLst/>
          </p:spPr>
          <p:txBody>
            <a:bodyPr lIns="90000" tIns="46800" rIns="90000" bIns="46800"/>
            <a:lstStyle/>
            <a:p>
              <a:endParaRPr lang="fi-FI"/>
            </a:p>
          </p:txBody>
        </p:sp>
      </p:grpSp>
      <p:sp>
        <p:nvSpPr>
          <p:cNvPr id="59401" name="Rectangle 9"/>
          <p:cNvSpPr>
            <a:spLocks noChangeArrowheads="1"/>
          </p:cNvSpPr>
          <p:nvPr/>
        </p:nvSpPr>
        <p:spPr bwMode="auto">
          <a:xfrm>
            <a:off x="4284663" y="5734052"/>
            <a:ext cx="4800600" cy="1011688"/>
          </a:xfrm>
          <a:prstGeom prst="rect">
            <a:avLst/>
          </a:prstGeom>
          <a:noFill/>
          <a:ln w="12700">
            <a:noFill/>
            <a:miter lim="800000"/>
            <a:headEnd/>
            <a:tailEnd/>
          </a:ln>
          <a:effectLst/>
        </p:spPr>
        <p:txBody>
          <a:bodyPr lIns="90000" tIns="46800" rIns="90000" bIns="46800">
            <a:spAutoFit/>
          </a:bodyPr>
          <a:lstStyle/>
          <a:p>
            <a:pPr>
              <a:lnSpc>
                <a:spcPct val="120000"/>
              </a:lnSpc>
              <a:spcBef>
                <a:spcPct val="50000"/>
              </a:spcBef>
              <a:spcAft>
                <a:spcPct val="20000"/>
              </a:spcAft>
              <a:buFont typeface="Times" pitchFamily="18" charset="0"/>
              <a:buNone/>
            </a:pPr>
            <a:r>
              <a:rPr lang="en-GB" sz="1200" b="1">
                <a:latin typeface="Courier New" pitchFamily="49" charset="0"/>
                <a:cs typeface="Arial" pitchFamily="34" charset="0"/>
              </a:rPr>
              <a:t>//KUMMALLISIA LISÄEHTOJA</a:t>
            </a:r>
          </a:p>
          <a:p>
            <a:pPr>
              <a:lnSpc>
                <a:spcPct val="120000"/>
              </a:lnSpc>
              <a:spcBef>
                <a:spcPct val="50000"/>
              </a:spcBef>
              <a:spcAft>
                <a:spcPct val="20000"/>
              </a:spcAft>
              <a:buFont typeface="Times" pitchFamily="18" charset="0"/>
              <a:buNone/>
            </a:pPr>
            <a:r>
              <a:rPr lang="en-GB" sz="1200" b="1">
                <a:latin typeface="Courier New" pitchFamily="49" charset="0"/>
                <a:cs typeface="Arial" pitchFamily="34" charset="0"/>
              </a:rPr>
              <a:t>if (hakijanNimi == “Maaret”) </a:t>
            </a:r>
          </a:p>
          <a:p>
            <a:pPr>
              <a:lnSpc>
                <a:spcPct val="120000"/>
              </a:lnSpc>
              <a:spcBef>
                <a:spcPct val="50000"/>
              </a:spcBef>
              <a:spcAft>
                <a:spcPct val="20000"/>
              </a:spcAft>
              <a:buFont typeface="Times" pitchFamily="18" charset="0"/>
              <a:buNone/>
            </a:pPr>
            <a:r>
              <a:rPr lang="en-GB" sz="1200" b="1">
                <a:latin typeface="Courier New" pitchFamily="49" charset="0"/>
                <a:cs typeface="Arial" pitchFamily="34" charset="0"/>
              </a:rPr>
              <a:t>	paatos = “TAYSI” &amp; palkka = 1000*muiden;</a:t>
            </a:r>
          </a:p>
        </p:txBody>
      </p:sp>
      <p:sp>
        <p:nvSpPr>
          <p:cNvPr id="59402" name="Rectangle 10"/>
          <p:cNvSpPr>
            <a:spLocks noChangeArrowheads="1"/>
          </p:cNvSpPr>
          <p:nvPr/>
        </p:nvSpPr>
        <p:spPr bwMode="auto">
          <a:xfrm>
            <a:off x="990600" y="5562600"/>
            <a:ext cx="2971800" cy="1066800"/>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en-GB" sz="1600">
                <a:cs typeface="Arial" pitchFamily="34" charset="0"/>
              </a:rPr>
              <a:t>Mustalaatikkonäkökulmasta emme voi kuin arvailla toteutusta – ellemme kysy!</a:t>
            </a:r>
          </a:p>
        </p:txBody>
      </p:sp>
    </p:spTree>
  </p:cSld>
  <p:clrMapOvr>
    <a:masterClrMapping/>
  </p:clrMapOvr>
  <p:transition xmlns:p14="http://schemas.microsoft.com/office/powerpoint/2010/main" spd="slow">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396"/>
                                        </p:tgtEl>
                                        <p:attrNameLst>
                                          <p:attrName>style.visibility</p:attrName>
                                        </p:attrNameLst>
                                      </p:cBhvr>
                                      <p:to>
                                        <p:strVal val="visible"/>
                                      </p:to>
                                    </p:set>
                                    <p:anim calcmode="lin" valueType="num">
                                      <p:cBhvr additive="base">
                                        <p:cTn id="19" dur="500" fill="hold"/>
                                        <p:tgtEl>
                                          <p:spTgt spid="59396"/>
                                        </p:tgtEl>
                                        <p:attrNameLst>
                                          <p:attrName>ppt_x</p:attrName>
                                        </p:attrNameLst>
                                      </p:cBhvr>
                                      <p:tavLst>
                                        <p:tav tm="0">
                                          <p:val>
                                            <p:strVal val="0-#ppt_w/2"/>
                                          </p:val>
                                        </p:tav>
                                        <p:tav tm="100000">
                                          <p:val>
                                            <p:strVal val="#ppt_x"/>
                                          </p:val>
                                        </p:tav>
                                      </p:tavLst>
                                    </p:anim>
                                    <p:anim calcmode="lin" valueType="num">
                                      <p:cBhvr additive="base">
                                        <p:cTn id="20"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401"/>
                                        </p:tgtEl>
                                        <p:attrNameLst>
                                          <p:attrName>style.visibility</p:attrName>
                                        </p:attrNameLst>
                                      </p:cBhvr>
                                      <p:to>
                                        <p:strVal val="visible"/>
                                      </p:to>
                                    </p:set>
                                    <p:anim calcmode="lin" valueType="num">
                                      <p:cBhvr additive="base">
                                        <p:cTn id="25" dur="500" fill="hold"/>
                                        <p:tgtEl>
                                          <p:spTgt spid="59401"/>
                                        </p:tgtEl>
                                        <p:attrNameLst>
                                          <p:attrName>ppt_x</p:attrName>
                                        </p:attrNameLst>
                                      </p:cBhvr>
                                      <p:tavLst>
                                        <p:tav tm="0">
                                          <p:val>
                                            <p:strVal val="0-#ppt_w/2"/>
                                          </p:val>
                                        </p:tav>
                                        <p:tav tm="100000">
                                          <p:val>
                                            <p:strVal val="#ppt_x"/>
                                          </p:val>
                                        </p:tav>
                                      </p:tavLst>
                                    </p:anim>
                                    <p:anim calcmode="lin" valueType="num">
                                      <p:cBhvr additive="base">
                                        <p:cTn id="26" dur="500" fill="hold"/>
                                        <p:tgtEl>
                                          <p:spTgt spid="5940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402"/>
                                        </p:tgtEl>
                                        <p:attrNameLst>
                                          <p:attrName>style.visibility</p:attrName>
                                        </p:attrNameLst>
                                      </p:cBhvr>
                                      <p:to>
                                        <p:strVal val="visible"/>
                                      </p:to>
                                    </p:set>
                                    <p:anim calcmode="lin" valueType="num">
                                      <p:cBhvr additive="base">
                                        <p:cTn id="31" dur="500" fill="hold"/>
                                        <p:tgtEl>
                                          <p:spTgt spid="59402"/>
                                        </p:tgtEl>
                                        <p:attrNameLst>
                                          <p:attrName>ppt_x</p:attrName>
                                        </p:attrNameLst>
                                      </p:cBhvr>
                                      <p:tavLst>
                                        <p:tav tm="0">
                                          <p:val>
                                            <p:strVal val="0-#ppt_w/2"/>
                                          </p:val>
                                        </p:tav>
                                        <p:tav tm="100000">
                                          <p:val>
                                            <p:strVal val="#ppt_x"/>
                                          </p:val>
                                        </p:tav>
                                      </p:tavLst>
                                    </p:anim>
                                    <p:anim calcmode="lin" valueType="num">
                                      <p:cBhvr additive="base">
                                        <p:cTn id="32" dur="500" fill="hold"/>
                                        <p:tgtEl>
                                          <p:spTgt spid="594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utoUpdateAnimBg="0"/>
      <p:bldP spid="59396" grpId="0" autoUpdateAnimBg="0"/>
      <p:bldP spid="59401" grpId="0" autoUpdateAnimBg="0"/>
      <p:bldP spid="59402"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4"/>
          <p:cNvSpPr>
            <a:spLocks noGrp="1"/>
          </p:cNvSpPr>
          <p:nvPr>
            <p:ph type="sldNum" sz="quarter" idx="12"/>
          </p:nvPr>
        </p:nvSpPr>
        <p:spPr/>
        <p:txBody>
          <a:bodyPr/>
          <a:lstStyle/>
          <a:p>
            <a:fld id="{3DB9DE51-67BF-4953-9AFE-F9A467F7176E}" type="slidenum">
              <a:rPr lang="en-US"/>
              <a:pPr/>
              <a:t>27</a:t>
            </a:fld>
            <a:endParaRPr lang="en-US"/>
          </a:p>
        </p:txBody>
      </p:sp>
      <p:sp>
        <p:nvSpPr>
          <p:cNvPr id="137218" name="AutoShape 2"/>
          <p:cNvSpPr>
            <a:spLocks noChangeArrowheads="1"/>
          </p:cNvSpPr>
          <p:nvPr/>
        </p:nvSpPr>
        <p:spPr bwMode="auto">
          <a:xfrm>
            <a:off x="127001" y="2349502"/>
            <a:ext cx="5113339" cy="3024188"/>
          </a:xfrm>
          <a:prstGeom prst="roundRect">
            <a:avLst>
              <a:gd name="adj" fmla="val 1838"/>
            </a:avLst>
          </a:prstGeom>
          <a:solidFill>
            <a:srgbClr val="99CCFF"/>
          </a:solidFill>
          <a:ln w="9525">
            <a:solidFill>
              <a:srgbClr val="000000"/>
            </a:solidFill>
            <a:round/>
            <a:headEnd/>
            <a:tailEnd/>
          </a:ln>
          <a:effectLst/>
        </p:spPr>
        <p:txBody>
          <a:bodyPr wrap="none" anchor="ctr"/>
          <a:lstStyle/>
          <a:p>
            <a:endParaRPr lang="fi-FI"/>
          </a:p>
        </p:txBody>
      </p:sp>
      <p:sp>
        <p:nvSpPr>
          <p:cNvPr id="137219" name="AutoShape 3"/>
          <p:cNvSpPr>
            <a:spLocks noChangeArrowheads="1"/>
          </p:cNvSpPr>
          <p:nvPr/>
        </p:nvSpPr>
        <p:spPr bwMode="auto">
          <a:xfrm>
            <a:off x="127001" y="1989140"/>
            <a:ext cx="5113339" cy="358775"/>
          </a:xfrm>
          <a:prstGeom prst="roundRect">
            <a:avLst>
              <a:gd name="adj" fmla="val 16667"/>
            </a:avLst>
          </a:prstGeom>
          <a:solidFill>
            <a:srgbClr val="0066FF"/>
          </a:solidFill>
          <a:ln w="9525">
            <a:solidFill>
              <a:srgbClr val="000000"/>
            </a:solidFill>
            <a:round/>
            <a:headEnd/>
            <a:tailEnd/>
          </a:ln>
          <a:effectLst/>
        </p:spPr>
        <p:txBody>
          <a:bodyPr wrap="none" anchor="ctr"/>
          <a:lstStyle/>
          <a:p>
            <a:endParaRPr lang="fi-FI"/>
          </a:p>
        </p:txBody>
      </p:sp>
      <p:sp>
        <p:nvSpPr>
          <p:cNvPr id="137220" name="Rectangle 4"/>
          <p:cNvSpPr>
            <a:spLocks noGrp="1" noChangeArrowheads="1"/>
          </p:cNvSpPr>
          <p:nvPr>
            <p:ph type="title"/>
          </p:nvPr>
        </p:nvSpPr>
        <p:spPr/>
        <p:txBody>
          <a:bodyPr/>
          <a:lstStyle/>
          <a:p>
            <a:pPr defTabSz="762000"/>
            <a:r>
              <a:rPr lang="fi-FI"/>
              <a:t>Esimerkki: Luottokorttimaksu</a:t>
            </a:r>
          </a:p>
        </p:txBody>
      </p:sp>
      <p:sp>
        <p:nvSpPr>
          <p:cNvPr id="137221" name="Rectangle 5"/>
          <p:cNvSpPr>
            <a:spLocks noChangeArrowheads="1"/>
          </p:cNvSpPr>
          <p:nvPr/>
        </p:nvSpPr>
        <p:spPr bwMode="auto">
          <a:xfrm>
            <a:off x="5431596" y="2683461"/>
            <a:ext cx="1287532" cy="338554"/>
          </a:xfrm>
          <a:prstGeom prst="rect">
            <a:avLst/>
          </a:prstGeom>
          <a:solidFill>
            <a:srgbClr val="CCFFCC"/>
          </a:solidFill>
          <a:ln w="9525">
            <a:solidFill>
              <a:srgbClr val="000000"/>
            </a:solidFill>
            <a:miter lim="800000"/>
            <a:headEnd/>
            <a:tailEnd/>
          </a:ln>
          <a:effectLst/>
        </p:spPr>
        <p:txBody>
          <a:bodyPr wrap="none" anchor="ctr">
            <a:spAutoFit/>
          </a:bodyPr>
          <a:lstStyle/>
          <a:p>
            <a:pPr algn="ctr" eaLnBrk="1" hangingPunct="1">
              <a:spcBef>
                <a:spcPct val="50000"/>
              </a:spcBef>
            </a:pPr>
            <a:r>
              <a:rPr lang="fi-FI" sz="1600">
                <a:solidFill>
                  <a:srgbClr val="000000"/>
                </a:solidFill>
                <a:cs typeface="Arial" pitchFamily="34" charset="0"/>
              </a:rPr>
              <a:t>2-64 merkkiä</a:t>
            </a:r>
            <a:endParaRPr lang="en-GB" sz="1600">
              <a:solidFill>
                <a:srgbClr val="000000"/>
              </a:solidFill>
              <a:cs typeface="Arial" pitchFamily="34" charset="0"/>
            </a:endParaRPr>
          </a:p>
        </p:txBody>
      </p:sp>
      <p:sp>
        <p:nvSpPr>
          <p:cNvPr id="137222" name="Rectangle 6"/>
          <p:cNvSpPr>
            <a:spLocks noChangeArrowheads="1"/>
          </p:cNvSpPr>
          <p:nvPr/>
        </p:nvSpPr>
        <p:spPr bwMode="auto">
          <a:xfrm>
            <a:off x="5600855" y="3188286"/>
            <a:ext cx="2366654" cy="338554"/>
          </a:xfrm>
          <a:prstGeom prst="rect">
            <a:avLst/>
          </a:prstGeom>
          <a:solidFill>
            <a:srgbClr val="CCFFCC"/>
          </a:solidFill>
          <a:ln w="9525">
            <a:solidFill>
              <a:srgbClr val="000000"/>
            </a:solidFill>
            <a:miter lim="800000"/>
            <a:headEnd/>
            <a:tailEnd/>
          </a:ln>
          <a:effectLst/>
        </p:spPr>
        <p:txBody>
          <a:bodyPr wrap="none" anchor="ctr">
            <a:spAutoFit/>
          </a:bodyPr>
          <a:lstStyle/>
          <a:p>
            <a:pPr algn="ctr" eaLnBrk="1" hangingPunct="1">
              <a:spcBef>
                <a:spcPct val="50000"/>
              </a:spcBef>
            </a:pPr>
            <a:r>
              <a:rPr lang="fi-FI" sz="1600">
                <a:solidFill>
                  <a:srgbClr val="000000"/>
                </a:solidFill>
                <a:cs typeface="Arial" pitchFamily="34" charset="0"/>
              </a:rPr>
              <a:t>Visa, Amex, Master, Diners</a:t>
            </a:r>
            <a:endParaRPr lang="en-GB" sz="1600">
              <a:solidFill>
                <a:srgbClr val="000000"/>
              </a:solidFill>
              <a:cs typeface="Arial" pitchFamily="34" charset="0"/>
            </a:endParaRPr>
          </a:p>
        </p:txBody>
      </p:sp>
      <p:sp>
        <p:nvSpPr>
          <p:cNvPr id="137223" name="Rectangle 7"/>
          <p:cNvSpPr>
            <a:spLocks noChangeArrowheads="1"/>
          </p:cNvSpPr>
          <p:nvPr/>
        </p:nvSpPr>
        <p:spPr bwMode="auto">
          <a:xfrm>
            <a:off x="5383213" y="3691524"/>
            <a:ext cx="3185588" cy="338554"/>
          </a:xfrm>
          <a:prstGeom prst="rect">
            <a:avLst/>
          </a:prstGeom>
          <a:solidFill>
            <a:srgbClr val="CCFFCC"/>
          </a:solidFill>
          <a:ln w="9525">
            <a:solidFill>
              <a:srgbClr val="000000"/>
            </a:solidFill>
            <a:miter lim="800000"/>
            <a:headEnd/>
            <a:tailEnd/>
          </a:ln>
          <a:effectLst/>
        </p:spPr>
        <p:txBody>
          <a:bodyPr wrap="none" anchor="ctr">
            <a:spAutoFit/>
          </a:bodyPr>
          <a:lstStyle/>
          <a:p>
            <a:pPr eaLnBrk="1" hangingPunct="1">
              <a:spcBef>
                <a:spcPct val="50000"/>
              </a:spcBef>
            </a:pPr>
            <a:r>
              <a:rPr lang="fi-FI" sz="1600">
                <a:solidFill>
                  <a:srgbClr val="000000"/>
                </a:solidFill>
                <a:cs typeface="Arial" pitchFamily="34" charset="0"/>
              </a:rPr>
              <a:t>xxxx xxxx xxxx xxxx (16 numeroa)</a:t>
            </a:r>
            <a:endParaRPr lang="en-GB" sz="1600">
              <a:solidFill>
                <a:srgbClr val="000000"/>
              </a:solidFill>
              <a:cs typeface="Arial" pitchFamily="34" charset="0"/>
            </a:endParaRPr>
          </a:p>
        </p:txBody>
      </p:sp>
      <p:sp>
        <p:nvSpPr>
          <p:cNvPr id="137224" name="Rectangle 8"/>
          <p:cNvSpPr>
            <a:spLocks noChangeArrowheads="1"/>
          </p:cNvSpPr>
          <p:nvPr/>
        </p:nvSpPr>
        <p:spPr bwMode="auto">
          <a:xfrm>
            <a:off x="5383215" y="4196349"/>
            <a:ext cx="1620957" cy="338554"/>
          </a:xfrm>
          <a:prstGeom prst="rect">
            <a:avLst/>
          </a:prstGeom>
          <a:solidFill>
            <a:srgbClr val="CCFFCC"/>
          </a:solidFill>
          <a:ln w="9525">
            <a:solidFill>
              <a:srgbClr val="000000"/>
            </a:solidFill>
            <a:miter lim="800000"/>
            <a:headEnd/>
            <a:tailEnd/>
          </a:ln>
          <a:effectLst/>
        </p:spPr>
        <p:txBody>
          <a:bodyPr wrap="none" anchor="ctr">
            <a:spAutoFit/>
          </a:bodyPr>
          <a:lstStyle/>
          <a:p>
            <a:pPr eaLnBrk="1" hangingPunct="1">
              <a:spcBef>
                <a:spcPct val="50000"/>
              </a:spcBef>
            </a:pPr>
            <a:r>
              <a:rPr lang="fi-FI" sz="1600">
                <a:solidFill>
                  <a:srgbClr val="000000"/>
                </a:solidFill>
                <a:cs typeface="Arial" pitchFamily="34" charset="0"/>
              </a:rPr>
              <a:t>Päivämäärä: kk/vv</a:t>
            </a:r>
            <a:endParaRPr lang="en-GB" sz="1600">
              <a:solidFill>
                <a:srgbClr val="000000"/>
              </a:solidFill>
              <a:cs typeface="Arial" pitchFamily="34" charset="0"/>
            </a:endParaRPr>
          </a:p>
        </p:txBody>
      </p:sp>
      <p:sp>
        <p:nvSpPr>
          <p:cNvPr id="137225" name="Rectangle 9"/>
          <p:cNvSpPr>
            <a:spLocks noChangeArrowheads="1"/>
          </p:cNvSpPr>
          <p:nvPr/>
        </p:nvSpPr>
        <p:spPr bwMode="auto">
          <a:xfrm>
            <a:off x="5383213" y="4699586"/>
            <a:ext cx="1162698" cy="338554"/>
          </a:xfrm>
          <a:prstGeom prst="rect">
            <a:avLst/>
          </a:prstGeom>
          <a:solidFill>
            <a:srgbClr val="CCFFCC"/>
          </a:solidFill>
          <a:ln w="9525">
            <a:solidFill>
              <a:srgbClr val="000000"/>
            </a:solidFill>
            <a:miter lim="800000"/>
            <a:headEnd/>
            <a:tailEnd/>
          </a:ln>
          <a:effectLst/>
        </p:spPr>
        <p:txBody>
          <a:bodyPr wrap="none" anchor="ctr">
            <a:spAutoFit/>
          </a:bodyPr>
          <a:lstStyle/>
          <a:p>
            <a:pPr eaLnBrk="1" hangingPunct="1">
              <a:spcBef>
                <a:spcPct val="50000"/>
              </a:spcBef>
            </a:pPr>
            <a:r>
              <a:rPr lang="fi-FI" sz="1600">
                <a:solidFill>
                  <a:srgbClr val="000000"/>
                </a:solidFill>
                <a:cs typeface="Arial" pitchFamily="34" charset="0"/>
              </a:rPr>
              <a:t>10 - 5000 €</a:t>
            </a:r>
            <a:endParaRPr lang="en-GB" sz="1600">
              <a:solidFill>
                <a:srgbClr val="000000"/>
              </a:solidFill>
              <a:cs typeface="Arial" pitchFamily="34" charset="0"/>
            </a:endParaRPr>
          </a:p>
        </p:txBody>
      </p:sp>
      <p:sp>
        <p:nvSpPr>
          <p:cNvPr id="137226" name="Text Box 10"/>
          <p:cNvSpPr txBox="1">
            <a:spLocks noChangeArrowheads="1"/>
          </p:cNvSpPr>
          <p:nvPr/>
        </p:nvSpPr>
        <p:spPr bwMode="auto">
          <a:xfrm>
            <a:off x="701675" y="2684463"/>
            <a:ext cx="1676400" cy="338554"/>
          </a:xfrm>
          <a:prstGeom prst="rect">
            <a:avLst/>
          </a:prstGeom>
          <a:noFill/>
          <a:ln w="9525">
            <a:noFill/>
            <a:miter lim="800000"/>
            <a:headEnd/>
            <a:tailEnd/>
          </a:ln>
          <a:effectLst/>
        </p:spPr>
        <p:txBody>
          <a:bodyPr>
            <a:spAutoFit/>
          </a:bodyPr>
          <a:lstStyle/>
          <a:p>
            <a:pPr eaLnBrk="1" hangingPunct="1">
              <a:spcBef>
                <a:spcPct val="50000"/>
              </a:spcBef>
            </a:pPr>
            <a:r>
              <a:rPr lang="fi-FI" sz="1600">
                <a:solidFill>
                  <a:srgbClr val="000000"/>
                </a:solidFill>
                <a:cs typeface="Arial" pitchFamily="34" charset="0"/>
              </a:rPr>
              <a:t>Asiakkaan nimi</a:t>
            </a:r>
            <a:endParaRPr lang="en-GB" sz="1600">
              <a:solidFill>
                <a:srgbClr val="000000"/>
              </a:solidFill>
              <a:cs typeface="Arial" pitchFamily="34" charset="0"/>
            </a:endParaRPr>
          </a:p>
        </p:txBody>
      </p:sp>
      <p:sp>
        <p:nvSpPr>
          <p:cNvPr id="137227" name="Rectangle 11"/>
          <p:cNvSpPr>
            <a:spLocks noChangeArrowheads="1"/>
          </p:cNvSpPr>
          <p:nvPr/>
        </p:nvSpPr>
        <p:spPr bwMode="auto">
          <a:xfrm>
            <a:off x="2719389" y="2668074"/>
            <a:ext cx="1604963" cy="369332"/>
          </a:xfrm>
          <a:prstGeom prst="rect">
            <a:avLst/>
          </a:prstGeom>
          <a:solidFill>
            <a:srgbClr val="FFFFFF"/>
          </a:solidFill>
          <a:ln w="9525">
            <a:solidFill>
              <a:srgbClr val="000000"/>
            </a:solidFill>
            <a:miter lim="800000"/>
            <a:headEnd/>
            <a:tailEnd/>
          </a:ln>
          <a:effectLst/>
        </p:spPr>
        <p:txBody>
          <a:bodyPr anchor="ctr">
            <a:spAutoFit/>
          </a:bodyPr>
          <a:lstStyle/>
          <a:p>
            <a:endParaRPr lang="fi-FI"/>
          </a:p>
        </p:txBody>
      </p:sp>
      <p:sp>
        <p:nvSpPr>
          <p:cNvPr id="137228" name="Text Box 12"/>
          <p:cNvSpPr txBox="1">
            <a:spLocks noChangeArrowheads="1"/>
          </p:cNvSpPr>
          <p:nvPr/>
        </p:nvSpPr>
        <p:spPr bwMode="auto">
          <a:xfrm>
            <a:off x="701675" y="3189288"/>
            <a:ext cx="1905000" cy="338554"/>
          </a:xfrm>
          <a:prstGeom prst="rect">
            <a:avLst/>
          </a:prstGeom>
          <a:noFill/>
          <a:ln w="9525">
            <a:noFill/>
            <a:miter lim="800000"/>
            <a:headEnd/>
            <a:tailEnd/>
          </a:ln>
          <a:effectLst/>
        </p:spPr>
        <p:txBody>
          <a:bodyPr>
            <a:spAutoFit/>
          </a:bodyPr>
          <a:lstStyle/>
          <a:p>
            <a:pPr eaLnBrk="1" hangingPunct="1">
              <a:spcBef>
                <a:spcPct val="50000"/>
              </a:spcBef>
            </a:pPr>
            <a:r>
              <a:rPr lang="fi-FI" sz="1600">
                <a:solidFill>
                  <a:srgbClr val="000000"/>
                </a:solidFill>
                <a:cs typeface="Arial" pitchFamily="34" charset="0"/>
              </a:rPr>
              <a:t>Kortin tyyppi</a:t>
            </a:r>
            <a:endParaRPr lang="en-GB" sz="1600">
              <a:solidFill>
                <a:srgbClr val="000000"/>
              </a:solidFill>
              <a:cs typeface="Arial" pitchFamily="34" charset="0"/>
            </a:endParaRPr>
          </a:p>
        </p:txBody>
      </p:sp>
      <p:sp>
        <p:nvSpPr>
          <p:cNvPr id="137229" name="Text Box 13"/>
          <p:cNvSpPr txBox="1">
            <a:spLocks noChangeArrowheads="1"/>
          </p:cNvSpPr>
          <p:nvPr/>
        </p:nvSpPr>
        <p:spPr bwMode="auto">
          <a:xfrm>
            <a:off x="701675" y="3692525"/>
            <a:ext cx="2590800" cy="338554"/>
          </a:xfrm>
          <a:prstGeom prst="rect">
            <a:avLst/>
          </a:prstGeom>
          <a:noFill/>
          <a:ln w="9525">
            <a:noFill/>
            <a:miter lim="800000"/>
            <a:headEnd/>
            <a:tailEnd/>
          </a:ln>
          <a:effectLst/>
        </p:spPr>
        <p:txBody>
          <a:bodyPr>
            <a:spAutoFit/>
          </a:bodyPr>
          <a:lstStyle/>
          <a:p>
            <a:pPr eaLnBrk="1" hangingPunct="1">
              <a:spcBef>
                <a:spcPct val="50000"/>
              </a:spcBef>
            </a:pPr>
            <a:r>
              <a:rPr lang="fi-FI" sz="1600">
                <a:solidFill>
                  <a:srgbClr val="000000"/>
                </a:solidFill>
                <a:cs typeface="Arial" pitchFamily="34" charset="0"/>
              </a:rPr>
              <a:t>Kortin numero</a:t>
            </a:r>
            <a:endParaRPr lang="en-GB" sz="1600">
              <a:solidFill>
                <a:srgbClr val="000000"/>
              </a:solidFill>
              <a:cs typeface="Arial" pitchFamily="34" charset="0"/>
            </a:endParaRPr>
          </a:p>
        </p:txBody>
      </p:sp>
      <p:sp>
        <p:nvSpPr>
          <p:cNvPr id="137230" name="Rectangle 14"/>
          <p:cNvSpPr>
            <a:spLocks noChangeArrowheads="1"/>
          </p:cNvSpPr>
          <p:nvPr/>
        </p:nvSpPr>
        <p:spPr bwMode="auto">
          <a:xfrm>
            <a:off x="2719388" y="3172899"/>
            <a:ext cx="1244600" cy="369332"/>
          </a:xfrm>
          <a:prstGeom prst="rect">
            <a:avLst/>
          </a:prstGeom>
          <a:solidFill>
            <a:schemeClr val="bg1"/>
          </a:solidFill>
          <a:ln w="9525">
            <a:solidFill>
              <a:srgbClr val="000000"/>
            </a:solidFill>
            <a:miter lim="800000"/>
            <a:headEnd/>
            <a:tailEnd/>
          </a:ln>
          <a:effectLst/>
        </p:spPr>
        <p:txBody>
          <a:bodyPr anchor="ctr">
            <a:spAutoFit/>
          </a:bodyPr>
          <a:lstStyle/>
          <a:p>
            <a:endParaRPr lang="fi-FI"/>
          </a:p>
        </p:txBody>
      </p:sp>
      <p:sp>
        <p:nvSpPr>
          <p:cNvPr id="137231" name="Rectangle 15"/>
          <p:cNvSpPr>
            <a:spLocks noChangeArrowheads="1"/>
          </p:cNvSpPr>
          <p:nvPr/>
        </p:nvSpPr>
        <p:spPr bwMode="auto">
          <a:xfrm>
            <a:off x="2719389" y="3676134"/>
            <a:ext cx="1604963" cy="369332"/>
          </a:xfrm>
          <a:prstGeom prst="rect">
            <a:avLst/>
          </a:prstGeom>
          <a:solidFill>
            <a:srgbClr val="FFFFFF"/>
          </a:solidFill>
          <a:ln w="9525">
            <a:solidFill>
              <a:srgbClr val="000000"/>
            </a:solidFill>
            <a:miter lim="800000"/>
            <a:headEnd/>
            <a:tailEnd/>
          </a:ln>
          <a:effectLst/>
        </p:spPr>
        <p:txBody>
          <a:bodyPr anchor="ctr">
            <a:spAutoFit/>
          </a:bodyPr>
          <a:lstStyle/>
          <a:p>
            <a:endParaRPr lang="fi-FI"/>
          </a:p>
        </p:txBody>
      </p:sp>
      <p:sp>
        <p:nvSpPr>
          <p:cNvPr id="137232" name="Text Box 16"/>
          <p:cNvSpPr txBox="1">
            <a:spLocks noChangeArrowheads="1"/>
          </p:cNvSpPr>
          <p:nvPr/>
        </p:nvSpPr>
        <p:spPr bwMode="auto">
          <a:xfrm>
            <a:off x="701675" y="4197350"/>
            <a:ext cx="1752600" cy="338554"/>
          </a:xfrm>
          <a:prstGeom prst="rect">
            <a:avLst/>
          </a:prstGeom>
          <a:noFill/>
          <a:ln w="9525">
            <a:noFill/>
            <a:miter lim="800000"/>
            <a:headEnd/>
            <a:tailEnd/>
          </a:ln>
          <a:effectLst/>
        </p:spPr>
        <p:txBody>
          <a:bodyPr>
            <a:spAutoFit/>
          </a:bodyPr>
          <a:lstStyle/>
          <a:p>
            <a:pPr eaLnBrk="1" hangingPunct="1">
              <a:spcBef>
                <a:spcPct val="50000"/>
              </a:spcBef>
            </a:pPr>
            <a:r>
              <a:rPr lang="fi-FI" sz="1600">
                <a:solidFill>
                  <a:srgbClr val="000000"/>
                </a:solidFill>
                <a:cs typeface="Arial" pitchFamily="34" charset="0"/>
              </a:rPr>
              <a:t>Voimassa</a:t>
            </a:r>
            <a:endParaRPr lang="en-GB" sz="1600">
              <a:solidFill>
                <a:srgbClr val="000000"/>
              </a:solidFill>
              <a:cs typeface="Arial" pitchFamily="34" charset="0"/>
            </a:endParaRPr>
          </a:p>
        </p:txBody>
      </p:sp>
      <p:sp>
        <p:nvSpPr>
          <p:cNvPr id="137233" name="Text Box 17"/>
          <p:cNvSpPr txBox="1">
            <a:spLocks noChangeArrowheads="1"/>
          </p:cNvSpPr>
          <p:nvPr/>
        </p:nvSpPr>
        <p:spPr bwMode="auto">
          <a:xfrm>
            <a:off x="661988" y="4700588"/>
            <a:ext cx="2057400" cy="338554"/>
          </a:xfrm>
          <a:prstGeom prst="rect">
            <a:avLst/>
          </a:prstGeom>
          <a:noFill/>
          <a:ln w="9525">
            <a:noFill/>
            <a:miter lim="800000"/>
            <a:headEnd/>
            <a:tailEnd/>
          </a:ln>
          <a:effectLst/>
        </p:spPr>
        <p:txBody>
          <a:bodyPr>
            <a:spAutoFit/>
          </a:bodyPr>
          <a:lstStyle/>
          <a:p>
            <a:pPr eaLnBrk="1" hangingPunct="1">
              <a:spcBef>
                <a:spcPct val="50000"/>
              </a:spcBef>
            </a:pPr>
            <a:r>
              <a:rPr lang="fi-FI" sz="1600">
                <a:solidFill>
                  <a:srgbClr val="000000"/>
                </a:solidFill>
                <a:cs typeface="Arial" pitchFamily="34" charset="0"/>
              </a:rPr>
              <a:t>Veloitettava summa</a:t>
            </a:r>
            <a:endParaRPr lang="en-GB" sz="1600">
              <a:solidFill>
                <a:srgbClr val="000000"/>
              </a:solidFill>
              <a:cs typeface="Arial" pitchFamily="34" charset="0"/>
            </a:endParaRPr>
          </a:p>
        </p:txBody>
      </p:sp>
      <p:sp>
        <p:nvSpPr>
          <p:cNvPr id="137234" name="Rectangle 18"/>
          <p:cNvSpPr>
            <a:spLocks noChangeArrowheads="1"/>
          </p:cNvSpPr>
          <p:nvPr/>
        </p:nvSpPr>
        <p:spPr bwMode="auto">
          <a:xfrm>
            <a:off x="2719389" y="4178578"/>
            <a:ext cx="1604963" cy="369332"/>
          </a:xfrm>
          <a:prstGeom prst="rect">
            <a:avLst/>
          </a:prstGeom>
          <a:solidFill>
            <a:srgbClr val="FFFFFF"/>
          </a:solidFill>
          <a:ln w="9525">
            <a:solidFill>
              <a:srgbClr val="000000"/>
            </a:solidFill>
            <a:miter lim="800000"/>
            <a:headEnd/>
            <a:tailEnd/>
          </a:ln>
          <a:effectLst/>
        </p:spPr>
        <p:txBody>
          <a:bodyPr anchor="ctr">
            <a:spAutoFit/>
          </a:bodyPr>
          <a:lstStyle/>
          <a:p>
            <a:pPr algn="ctr" eaLnBrk="1" hangingPunct="1"/>
            <a:r>
              <a:rPr lang="en-US" b="1">
                <a:cs typeface="Arial" pitchFamily="34" charset="0"/>
              </a:rPr>
              <a:t>/</a:t>
            </a:r>
          </a:p>
        </p:txBody>
      </p:sp>
      <p:sp>
        <p:nvSpPr>
          <p:cNvPr id="137235" name="Rectangle 19"/>
          <p:cNvSpPr>
            <a:spLocks noChangeArrowheads="1"/>
          </p:cNvSpPr>
          <p:nvPr/>
        </p:nvSpPr>
        <p:spPr bwMode="auto">
          <a:xfrm>
            <a:off x="2719389" y="4684197"/>
            <a:ext cx="1604963" cy="369332"/>
          </a:xfrm>
          <a:prstGeom prst="rect">
            <a:avLst/>
          </a:prstGeom>
          <a:solidFill>
            <a:srgbClr val="FFFFFF"/>
          </a:solidFill>
          <a:ln w="9525">
            <a:solidFill>
              <a:srgbClr val="000000"/>
            </a:solidFill>
            <a:miter lim="800000"/>
            <a:headEnd/>
            <a:tailEnd/>
          </a:ln>
          <a:effectLst/>
        </p:spPr>
        <p:txBody>
          <a:bodyPr anchor="ctr">
            <a:spAutoFit/>
          </a:bodyPr>
          <a:lstStyle/>
          <a:p>
            <a:endParaRPr lang="fi-FI"/>
          </a:p>
        </p:txBody>
      </p:sp>
      <p:cxnSp>
        <p:nvCxnSpPr>
          <p:cNvPr id="137236" name="AutoShape 20"/>
          <p:cNvCxnSpPr>
            <a:cxnSpLocks noChangeShapeType="1"/>
            <a:stCxn id="137227" idx="3"/>
            <a:endCxn id="137221" idx="1"/>
          </p:cNvCxnSpPr>
          <p:nvPr/>
        </p:nvCxnSpPr>
        <p:spPr bwMode="auto">
          <a:xfrm flipV="1">
            <a:off x="4324352" y="2852738"/>
            <a:ext cx="1107244" cy="2"/>
          </a:xfrm>
          <a:prstGeom prst="straightConnector1">
            <a:avLst/>
          </a:prstGeom>
          <a:noFill/>
          <a:ln w="28575">
            <a:solidFill>
              <a:srgbClr val="000000"/>
            </a:solidFill>
            <a:round/>
            <a:headEnd/>
            <a:tailEnd/>
          </a:ln>
          <a:effectLst/>
        </p:spPr>
      </p:cxnSp>
      <p:cxnSp>
        <p:nvCxnSpPr>
          <p:cNvPr id="137237" name="AutoShape 21"/>
          <p:cNvCxnSpPr>
            <a:cxnSpLocks noChangeShapeType="1"/>
            <a:stCxn id="137241" idx="3"/>
            <a:endCxn id="137222" idx="1"/>
          </p:cNvCxnSpPr>
          <p:nvPr/>
        </p:nvCxnSpPr>
        <p:spPr bwMode="auto">
          <a:xfrm flipV="1">
            <a:off x="4324352" y="3357563"/>
            <a:ext cx="1276503" cy="2"/>
          </a:xfrm>
          <a:prstGeom prst="straightConnector1">
            <a:avLst/>
          </a:prstGeom>
          <a:noFill/>
          <a:ln w="28575">
            <a:solidFill>
              <a:srgbClr val="000000"/>
            </a:solidFill>
            <a:round/>
            <a:headEnd/>
            <a:tailEnd/>
          </a:ln>
          <a:effectLst/>
        </p:spPr>
      </p:cxnSp>
      <p:cxnSp>
        <p:nvCxnSpPr>
          <p:cNvPr id="137238" name="AutoShape 22"/>
          <p:cNvCxnSpPr>
            <a:cxnSpLocks noChangeShapeType="1"/>
            <a:stCxn id="137231" idx="3"/>
            <a:endCxn id="137223" idx="1"/>
          </p:cNvCxnSpPr>
          <p:nvPr/>
        </p:nvCxnSpPr>
        <p:spPr bwMode="auto">
          <a:xfrm>
            <a:off x="4324352" y="3860800"/>
            <a:ext cx="1058861" cy="1"/>
          </a:xfrm>
          <a:prstGeom prst="straightConnector1">
            <a:avLst/>
          </a:prstGeom>
          <a:noFill/>
          <a:ln w="28575">
            <a:solidFill>
              <a:srgbClr val="000000"/>
            </a:solidFill>
            <a:round/>
            <a:headEnd/>
            <a:tailEnd/>
          </a:ln>
          <a:effectLst/>
        </p:spPr>
      </p:cxnSp>
      <p:cxnSp>
        <p:nvCxnSpPr>
          <p:cNvPr id="137239" name="AutoShape 23"/>
          <p:cNvCxnSpPr>
            <a:cxnSpLocks noChangeShapeType="1"/>
            <a:stCxn id="137234" idx="3"/>
            <a:endCxn id="137224" idx="1"/>
          </p:cNvCxnSpPr>
          <p:nvPr/>
        </p:nvCxnSpPr>
        <p:spPr bwMode="auto">
          <a:xfrm>
            <a:off x="4324352" y="4363244"/>
            <a:ext cx="1058863" cy="2382"/>
          </a:xfrm>
          <a:prstGeom prst="straightConnector1">
            <a:avLst/>
          </a:prstGeom>
          <a:noFill/>
          <a:ln w="28575">
            <a:solidFill>
              <a:srgbClr val="000000"/>
            </a:solidFill>
            <a:round/>
            <a:headEnd/>
            <a:tailEnd/>
          </a:ln>
          <a:effectLst/>
        </p:spPr>
      </p:cxnSp>
      <p:cxnSp>
        <p:nvCxnSpPr>
          <p:cNvPr id="137240" name="AutoShape 24"/>
          <p:cNvCxnSpPr>
            <a:cxnSpLocks noChangeShapeType="1"/>
            <a:stCxn id="137235" idx="3"/>
            <a:endCxn id="137225" idx="1"/>
          </p:cNvCxnSpPr>
          <p:nvPr/>
        </p:nvCxnSpPr>
        <p:spPr bwMode="auto">
          <a:xfrm>
            <a:off x="4324352" y="4868863"/>
            <a:ext cx="1058861" cy="0"/>
          </a:xfrm>
          <a:prstGeom prst="straightConnector1">
            <a:avLst/>
          </a:prstGeom>
          <a:noFill/>
          <a:ln w="28575">
            <a:solidFill>
              <a:srgbClr val="000000"/>
            </a:solidFill>
            <a:round/>
            <a:headEnd/>
            <a:tailEnd/>
          </a:ln>
          <a:effectLst/>
        </p:spPr>
      </p:cxnSp>
      <p:sp>
        <p:nvSpPr>
          <p:cNvPr id="137241" name="Rectangle 25"/>
          <p:cNvSpPr>
            <a:spLocks noChangeArrowheads="1"/>
          </p:cNvSpPr>
          <p:nvPr/>
        </p:nvSpPr>
        <p:spPr bwMode="auto">
          <a:xfrm>
            <a:off x="3963989" y="3172899"/>
            <a:ext cx="360363" cy="369332"/>
          </a:xfrm>
          <a:prstGeom prst="rect">
            <a:avLst/>
          </a:prstGeom>
          <a:solidFill>
            <a:srgbClr val="C0C0C0"/>
          </a:solidFill>
          <a:ln w="9525">
            <a:solidFill>
              <a:srgbClr val="000000"/>
            </a:solidFill>
            <a:miter lim="800000"/>
            <a:headEnd/>
            <a:tailEnd/>
          </a:ln>
          <a:effectLst/>
        </p:spPr>
        <p:txBody>
          <a:bodyPr anchor="ctr">
            <a:spAutoFit/>
          </a:bodyPr>
          <a:lstStyle/>
          <a:p>
            <a:endParaRPr lang="fi-FI"/>
          </a:p>
        </p:txBody>
      </p:sp>
      <p:sp>
        <p:nvSpPr>
          <p:cNvPr id="137242" name="AutoShape 26"/>
          <p:cNvSpPr>
            <a:spLocks noChangeArrowheads="1"/>
          </p:cNvSpPr>
          <p:nvPr/>
        </p:nvSpPr>
        <p:spPr bwMode="auto">
          <a:xfrm>
            <a:off x="3963989" y="3213102"/>
            <a:ext cx="360363" cy="288925"/>
          </a:xfrm>
          <a:prstGeom prst="downArrow">
            <a:avLst>
              <a:gd name="adj1" fmla="val 50000"/>
              <a:gd name="adj2" fmla="val 25000"/>
            </a:avLst>
          </a:prstGeom>
          <a:solidFill>
            <a:schemeClr val="tx1"/>
          </a:solidFill>
          <a:ln w="9525">
            <a:solidFill>
              <a:srgbClr val="000000"/>
            </a:solidFill>
            <a:miter lim="800000"/>
            <a:headEnd/>
            <a:tailEnd/>
          </a:ln>
          <a:effectLst/>
        </p:spPr>
        <p:txBody>
          <a:bodyPr wrap="none" anchor="ctr"/>
          <a:lstStyle/>
          <a:p>
            <a:endParaRPr lang="fi-FI"/>
          </a:p>
        </p:txBody>
      </p:sp>
      <p:sp>
        <p:nvSpPr>
          <p:cNvPr id="137243" name="Text Box 27"/>
          <p:cNvSpPr txBox="1">
            <a:spLocks noChangeArrowheads="1"/>
          </p:cNvSpPr>
          <p:nvPr/>
        </p:nvSpPr>
        <p:spPr bwMode="auto">
          <a:xfrm>
            <a:off x="342901" y="1989138"/>
            <a:ext cx="3673475" cy="369332"/>
          </a:xfrm>
          <a:prstGeom prst="rect">
            <a:avLst/>
          </a:prstGeom>
          <a:noFill/>
          <a:ln w="9525">
            <a:noFill/>
            <a:miter lim="800000"/>
            <a:headEnd/>
            <a:tailEnd/>
          </a:ln>
          <a:effectLst/>
        </p:spPr>
        <p:txBody>
          <a:bodyPr>
            <a:spAutoFit/>
          </a:bodyPr>
          <a:lstStyle/>
          <a:p>
            <a:pPr eaLnBrk="1" hangingPunct="1"/>
            <a:r>
              <a:rPr lang="en-US" b="1">
                <a:cs typeface="Arial" pitchFamily="34" charset="0"/>
              </a:rPr>
              <a:t>www.helppoheikki.com</a:t>
            </a:r>
          </a:p>
        </p:txBody>
      </p:sp>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lide Number Placeholder 4"/>
          <p:cNvSpPr>
            <a:spLocks noGrp="1"/>
          </p:cNvSpPr>
          <p:nvPr>
            <p:ph type="sldNum" sz="quarter" idx="12"/>
          </p:nvPr>
        </p:nvSpPr>
        <p:spPr/>
        <p:txBody>
          <a:bodyPr/>
          <a:lstStyle/>
          <a:p>
            <a:fld id="{1C24A8BA-F7D0-4B23-96F9-7FF810F51CA9}" type="slidenum">
              <a:rPr lang="en-US"/>
              <a:pPr/>
              <a:t>28</a:t>
            </a:fld>
            <a:endParaRPr lang="en-US"/>
          </a:p>
        </p:txBody>
      </p:sp>
      <p:sp>
        <p:nvSpPr>
          <p:cNvPr id="139266" name="Rectangle 2"/>
          <p:cNvSpPr>
            <a:spLocks noGrp="1" noChangeArrowheads="1"/>
          </p:cNvSpPr>
          <p:nvPr>
            <p:ph type="title"/>
          </p:nvPr>
        </p:nvSpPr>
        <p:spPr/>
        <p:txBody>
          <a:bodyPr/>
          <a:lstStyle/>
          <a:p>
            <a:pPr defTabSz="762000"/>
            <a:r>
              <a:rPr lang="fi-FI"/>
              <a:t>Asiakkaan nimi</a:t>
            </a:r>
          </a:p>
        </p:txBody>
      </p:sp>
      <p:sp>
        <p:nvSpPr>
          <p:cNvPr id="139267" name="Line 3"/>
          <p:cNvSpPr>
            <a:spLocks noChangeShapeType="1"/>
          </p:cNvSpPr>
          <p:nvPr/>
        </p:nvSpPr>
        <p:spPr bwMode="auto">
          <a:xfrm>
            <a:off x="1600200" y="2438400"/>
            <a:ext cx="5867400" cy="0"/>
          </a:xfrm>
          <a:prstGeom prst="line">
            <a:avLst/>
          </a:prstGeom>
          <a:noFill/>
          <a:ln w="38100">
            <a:solidFill>
              <a:schemeClr val="tx1"/>
            </a:solidFill>
            <a:round/>
            <a:headEnd type="triangle" w="med" len="med"/>
            <a:tailEnd type="triangle" w="med" len="med"/>
          </a:ln>
          <a:effectLst/>
        </p:spPr>
        <p:txBody>
          <a:bodyPr anchor="ctr">
            <a:spAutoFit/>
          </a:bodyPr>
          <a:lstStyle/>
          <a:p>
            <a:endParaRPr lang="fi-FI"/>
          </a:p>
        </p:txBody>
      </p:sp>
      <p:sp>
        <p:nvSpPr>
          <p:cNvPr id="139268" name="Line 4"/>
          <p:cNvSpPr>
            <a:spLocks noChangeShapeType="1"/>
          </p:cNvSpPr>
          <p:nvPr/>
        </p:nvSpPr>
        <p:spPr bwMode="auto">
          <a:xfrm>
            <a:off x="3124200" y="2209800"/>
            <a:ext cx="0" cy="457200"/>
          </a:xfrm>
          <a:prstGeom prst="line">
            <a:avLst/>
          </a:prstGeom>
          <a:noFill/>
          <a:ln w="28575">
            <a:solidFill>
              <a:schemeClr val="tx1"/>
            </a:solidFill>
            <a:round/>
            <a:headEnd/>
            <a:tailEnd/>
          </a:ln>
          <a:effectLst/>
        </p:spPr>
        <p:txBody>
          <a:bodyPr anchor="ctr">
            <a:spAutoFit/>
          </a:bodyPr>
          <a:lstStyle/>
          <a:p>
            <a:endParaRPr lang="fi-FI"/>
          </a:p>
        </p:txBody>
      </p:sp>
      <p:sp>
        <p:nvSpPr>
          <p:cNvPr id="139269" name="Line 5"/>
          <p:cNvSpPr>
            <a:spLocks noChangeShapeType="1"/>
          </p:cNvSpPr>
          <p:nvPr/>
        </p:nvSpPr>
        <p:spPr bwMode="auto">
          <a:xfrm>
            <a:off x="5943600" y="2209800"/>
            <a:ext cx="0" cy="457200"/>
          </a:xfrm>
          <a:prstGeom prst="line">
            <a:avLst/>
          </a:prstGeom>
          <a:noFill/>
          <a:ln w="28575">
            <a:solidFill>
              <a:schemeClr val="tx1"/>
            </a:solidFill>
            <a:round/>
            <a:headEnd/>
            <a:tailEnd/>
          </a:ln>
          <a:effectLst/>
        </p:spPr>
        <p:txBody>
          <a:bodyPr anchor="ctr">
            <a:spAutoFit/>
          </a:bodyPr>
          <a:lstStyle/>
          <a:p>
            <a:endParaRPr lang="fi-FI"/>
          </a:p>
        </p:txBody>
      </p:sp>
      <p:sp>
        <p:nvSpPr>
          <p:cNvPr id="139270" name="Text Box 6"/>
          <p:cNvSpPr txBox="1">
            <a:spLocks noChangeArrowheads="1"/>
          </p:cNvSpPr>
          <p:nvPr/>
        </p:nvSpPr>
        <p:spPr bwMode="auto">
          <a:xfrm>
            <a:off x="533400" y="1828801"/>
            <a:ext cx="22860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Merkkien lkm:</a:t>
            </a:r>
            <a:endParaRPr lang="en-GB">
              <a:cs typeface="Arial" pitchFamily="34" charset="0"/>
            </a:endParaRPr>
          </a:p>
        </p:txBody>
      </p:sp>
      <p:sp>
        <p:nvSpPr>
          <p:cNvPr id="139271" name="Text Box 7"/>
          <p:cNvSpPr txBox="1">
            <a:spLocks noChangeArrowheads="1"/>
          </p:cNvSpPr>
          <p:nvPr/>
        </p:nvSpPr>
        <p:spPr bwMode="auto">
          <a:xfrm>
            <a:off x="2819400" y="2438401"/>
            <a:ext cx="3048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1</a:t>
            </a:r>
            <a:endParaRPr lang="en-GB">
              <a:cs typeface="Arial" pitchFamily="34" charset="0"/>
            </a:endParaRPr>
          </a:p>
        </p:txBody>
      </p:sp>
      <p:sp>
        <p:nvSpPr>
          <p:cNvPr id="139272" name="Text Box 8"/>
          <p:cNvSpPr txBox="1">
            <a:spLocks noChangeArrowheads="1"/>
          </p:cNvSpPr>
          <p:nvPr/>
        </p:nvSpPr>
        <p:spPr bwMode="auto">
          <a:xfrm>
            <a:off x="3124200" y="2438401"/>
            <a:ext cx="3048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2</a:t>
            </a:r>
            <a:endParaRPr lang="en-GB">
              <a:cs typeface="Arial" pitchFamily="34" charset="0"/>
            </a:endParaRPr>
          </a:p>
        </p:txBody>
      </p:sp>
      <p:sp>
        <p:nvSpPr>
          <p:cNvPr id="139273" name="Text Box 9"/>
          <p:cNvSpPr txBox="1">
            <a:spLocks noChangeArrowheads="1"/>
          </p:cNvSpPr>
          <p:nvPr/>
        </p:nvSpPr>
        <p:spPr bwMode="auto">
          <a:xfrm>
            <a:off x="5292725" y="2438401"/>
            <a:ext cx="65087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64</a:t>
            </a:r>
            <a:endParaRPr lang="en-GB">
              <a:cs typeface="Arial" pitchFamily="34" charset="0"/>
            </a:endParaRPr>
          </a:p>
        </p:txBody>
      </p:sp>
      <p:sp>
        <p:nvSpPr>
          <p:cNvPr id="139274" name="Text Box 10"/>
          <p:cNvSpPr txBox="1">
            <a:spLocks noChangeArrowheads="1"/>
          </p:cNvSpPr>
          <p:nvPr/>
        </p:nvSpPr>
        <p:spPr bwMode="auto">
          <a:xfrm>
            <a:off x="5795966" y="2438401"/>
            <a:ext cx="8604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65</a:t>
            </a:r>
            <a:endParaRPr lang="en-GB">
              <a:cs typeface="Arial" pitchFamily="34" charset="0"/>
            </a:endParaRPr>
          </a:p>
        </p:txBody>
      </p:sp>
      <p:sp>
        <p:nvSpPr>
          <p:cNvPr id="139275" name="Text Box 11"/>
          <p:cNvSpPr txBox="1">
            <a:spLocks noChangeArrowheads="1"/>
          </p:cNvSpPr>
          <p:nvPr/>
        </p:nvSpPr>
        <p:spPr bwMode="auto">
          <a:xfrm>
            <a:off x="1619253" y="2514601"/>
            <a:ext cx="13684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sp>
        <p:nvSpPr>
          <p:cNvPr id="139276" name="Text Box 12"/>
          <p:cNvSpPr txBox="1">
            <a:spLocks noChangeArrowheads="1"/>
          </p:cNvSpPr>
          <p:nvPr/>
        </p:nvSpPr>
        <p:spPr bwMode="auto">
          <a:xfrm>
            <a:off x="4114801" y="2514601"/>
            <a:ext cx="1249363"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sallittu</a:t>
            </a:r>
            <a:endParaRPr lang="en-GB">
              <a:cs typeface="Arial" pitchFamily="34" charset="0"/>
            </a:endParaRPr>
          </a:p>
        </p:txBody>
      </p:sp>
      <p:sp>
        <p:nvSpPr>
          <p:cNvPr id="139277" name="Text Box 13"/>
          <p:cNvSpPr txBox="1">
            <a:spLocks noChangeArrowheads="1"/>
          </p:cNvSpPr>
          <p:nvPr/>
        </p:nvSpPr>
        <p:spPr bwMode="auto">
          <a:xfrm>
            <a:off x="6324602" y="2514601"/>
            <a:ext cx="13430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sp>
        <p:nvSpPr>
          <p:cNvPr id="139278" name="Text Box 14"/>
          <p:cNvSpPr txBox="1">
            <a:spLocks noChangeArrowheads="1"/>
          </p:cNvSpPr>
          <p:nvPr/>
        </p:nvSpPr>
        <p:spPr bwMode="auto">
          <a:xfrm>
            <a:off x="457200" y="3124201"/>
            <a:ext cx="18288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Sallitut merkit:</a:t>
            </a:r>
            <a:endParaRPr lang="en-GB">
              <a:cs typeface="Arial" pitchFamily="34" charset="0"/>
            </a:endParaRPr>
          </a:p>
        </p:txBody>
      </p:sp>
      <p:sp>
        <p:nvSpPr>
          <p:cNvPr id="139279" name="Oval 15"/>
          <p:cNvSpPr>
            <a:spLocks noChangeArrowheads="1"/>
          </p:cNvSpPr>
          <p:nvPr/>
        </p:nvSpPr>
        <p:spPr bwMode="auto">
          <a:xfrm>
            <a:off x="2418712" y="2877235"/>
            <a:ext cx="1576085" cy="1341656"/>
          </a:xfrm>
          <a:prstGeom prst="ellipse">
            <a:avLst/>
          </a:prstGeom>
          <a:noFill/>
          <a:ln w="9525">
            <a:solidFill>
              <a:schemeClr val="tx1"/>
            </a:solidFill>
            <a:round/>
            <a:headEnd/>
            <a:tailEnd/>
          </a:ln>
          <a:effectLst/>
        </p:spPr>
        <p:txBody>
          <a:bodyPr wrap="none" anchor="ctr">
            <a:spAutoFit/>
          </a:bodyPr>
          <a:lstStyle/>
          <a:p>
            <a:pPr algn="ctr" eaLnBrk="1" hangingPunct="1">
              <a:spcBef>
                <a:spcPct val="50000"/>
              </a:spcBef>
            </a:pPr>
            <a:r>
              <a:rPr lang="fi-FI" sz="1400" b="1">
                <a:cs typeface="Arial" pitchFamily="34" charset="0"/>
              </a:rPr>
              <a:t>A-Z</a:t>
            </a:r>
          </a:p>
          <a:p>
            <a:pPr algn="ctr" eaLnBrk="1" hangingPunct="1">
              <a:spcBef>
                <a:spcPct val="50000"/>
              </a:spcBef>
            </a:pPr>
            <a:r>
              <a:rPr lang="fi-FI" sz="1400" b="1">
                <a:cs typeface="Arial" pitchFamily="34" charset="0"/>
              </a:rPr>
              <a:t>_,</a:t>
            </a:r>
            <a:r>
              <a:rPr lang="fi-FI" sz="1400">
                <a:cs typeface="Arial" pitchFamily="34" charset="0"/>
              </a:rPr>
              <a:t>           </a:t>
            </a:r>
            <a:r>
              <a:rPr lang="fi-FI" sz="1400" b="1">
                <a:cs typeface="Arial" pitchFamily="34" charset="0"/>
              </a:rPr>
              <a:t>a-z</a:t>
            </a:r>
          </a:p>
          <a:p>
            <a:pPr algn="ctr" eaLnBrk="1" hangingPunct="1">
              <a:spcBef>
                <a:spcPct val="50000"/>
              </a:spcBef>
            </a:pPr>
            <a:r>
              <a:rPr lang="fi-FI" sz="1400" b="1">
                <a:cs typeface="Arial" pitchFamily="34" charset="0"/>
              </a:rPr>
              <a:t>välilyönti</a:t>
            </a:r>
            <a:endParaRPr lang="en-GB" sz="1400" b="1">
              <a:cs typeface="Arial" pitchFamily="34" charset="0"/>
            </a:endParaRPr>
          </a:p>
        </p:txBody>
      </p:sp>
      <p:sp>
        <p:nvSpPr>
          <p:cNvPr id="139280" name="Text Box 16"/>
          <p:cNvSpPr txBox="1">
            <a:spLocks noChangeArrowheads="1"/>
          </p:cNvSpPr>
          <p:nvPr/>
        </p:nvSpPr>
        <p:spPr bwMode="auto">
          <a:xfrm>
            <a:off x="4110041" y="3152775"/>
            <a:ext cx="1038225" cy="923330"/>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Mikä tahansa muu</a:t>
            </a:r>
            <a:endParaRPr lang="en-GB">
              <a:cs typeface="Arial" pitchFamily="34" charset="0"/>
            </a:endParaRPr>
          </a:p>
        </p:txBody>
      </p:sp>
      <p:graphicFrame>
        <p:nvGraphicFramePr>
          <p:cNvPr id="139313" name="Group 49"/>
          <p:cNvGraphicFramePr>
            <a:graphicFrameLocks noGrp="1"/>
          </p:cNvGraphicFramePr>
          <p:nvPr>
            <p:extLst>
              <p:ext uri="{D42A27DB-BD31-4B8C-83A1-F6EECF244321}">
                <p14:modId xmlns:p14="http://schemas.microsoft.com/office/powerpoint/2010/main" val="807239416"/>
              </p:ext>
            </p:extLst>
          </p:nvPr>
        </p:nvGraphicFramePr>
        <p:xfrm>
          <a:off x="1115616" y="4365104"/>
          <a:ext cx="7395419" cy="2309976"/>
        </p:xfrm>
        <a:graphic>
          <a:graphicData uri="http://schemas.openxmlformats.org/drawingml/2006/table">
            <a:tbl>
              <a:tblPr/>
              <a:tblGrid>
                <a:gridCol w="1289894"/>
                <a:gridCol w="1511300"/>
                <a:gridCol w="1728788"/>
                <a:gridCol w="1371600"/>
                <a:gridCol w="1493837"/>
              </a:tblGrid>
              <a:tr h="914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Ehdot</a:t>
                      </a:r>
                      <a:endParaRPr kumimoji="0" lang="en-GB" sz="1800" b="0" i="0" u="none" strike="noStrike" cap="none" normalizeH="0" baseline="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53752">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Asiakkaan nimi</a:t>
                      </a:r>
                      <a:endParaRPr kumimoji="0" lang="en-GB" sz="1800" b="0" i="0" u="none" strike="noStrike" cap="none" normalizeH="0" baseline="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2 - 64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&lt;2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2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 merkki</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9736">
                <a:tc vMerge="1">
                  <a:txBody>
                    <a:bodyPr/>
                    <a:lstStyle/>
                    <a:p>
                      <a:endParaRPr lang="fi-FI"/>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merkit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&gt;64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64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65 merkkiä</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436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merkit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0 merkkiä</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4"/>
          <p:cNvSpPr>
            <a:spLocks noGrp="1"/>
          </p:cNvSpPr>
          <p:nvPr>
            <p:ph type="sldNum" sz="quarter" idx="12"/>
          </p:nvPr>
        </p:nvSpPr>
        <p:spPr/>
        <p:txBody>
          <a:bodyPr/>
          <a:lstStyle/>
          <a:p>
            <a:fld id="{C3B6466E-57BD-439E-8698-23D71FF8CAFD}" type="slidenum">
              <a:rPr lang="en-US"/>
              <a:pPr/>
              <a:t>29</a:t>
            </a:fld>
            <a:endParaRPr lang="en-US"/>
          </a:p>
        </p:txBody>
      </p:sp>
      <p:sp>
        <p:nvSpPr>
          <p:cNvPr id="140290" name="Rectangle 2"/>
          <p:cNvSpPr>
            <a:spLocks noGrp="1" noChangeArrowheads="1"/>
          </p:cNvSpPr>
          <p:nvPr>
            <p:ph type="title"/>
          </p:nvPr>
        </p:nvSpPr>
        <p:spPr/>
        <p:txBody>
          <a:bodyPr/>
          <a:lstStyle/>
          <a:p>
            <a:pPr defTabSz="762000"/>
            <a:r>
              <a:rPr lang="fi-FI"/>
              <a:t>Kortin numero</a:t>
            </a:r>
          </a:p>
        </p:txBody>
      </p:sp>
      <p:graphicFrame>
        <p:nvGraphicFramePr>
          <p:cNvPr id="140334" name="Group 46"/>
          <p:cNvGraphicFramePr>
            <a:graphicFrameLocks noGrp="1"/>
          </p:cNvGraphicFramePr>
          <p:nvPr>
            <p:extLst>
              <p:ext uri="{D42A27DB-BD31-4B8C-83A1-F6EECF244321}">
                <p14:modId xmlns:p14="http://schemas.microsoft.com/office/powerpoint/2010/main" val="1543342750"/>
              </p:ext>
            </p:extLst>
          </p:nvPr>
        </p:nvGraphicFramePr>
        <p:xfrm>
          <a:off x="684215" y="3501008"/>
          <a:ext cx="7778755" cy="2807865"/>
        </p:xfrm>
        <a:graphic>
          <a:graphicData uri="http://schemas.openxmlformats.org/drawingml/2006/table">
            <a:tbl>
              <a:tblPr/>
              <a:tblGrid>
                <a:gridCol w="1555751"/>
                <a:gridCol w="1555751"/>
                <a:gridCol w="1555751"/>
                <a:gridCol w="1555751"/>
                <a:gridCol w="1555751"/>
              </a:tblGrid>
              <a:tr h="914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Ehdot</a:t>
                      </a:r>
                      <a:endParaRPr kumimoji="0" lang="en-GB" sz="1800" b="0" i="0" u="none" strike="noStrike" cap="none" normalizeH="0" baseline="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53305">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Kortin numero</a:t>
                      </a:r>
                      <a:endParaRPr kumimoji="0" lang="en-GB" sz="1800" b="0" i="0" u="none" strike="noStrike" cap="none" normalizeH="0" baseline="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16 numeroa</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&lt;16 numeroa</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15 numeroa</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040">
                <a:tc vMerge="1">
                  <a:txBody>
                    <a:bodyPr/>
                    <a:lstStyle/>
                    <a:p>
                      <a:endParaRPr lang="fi-FI"/>
                    </a:p>
                  </a:txBody>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&gt;16 numeroa</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17 numeroa</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328">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laiton</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tr>
              <a:tr h="128032">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muu kuin numero</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tr>
              <a:tr h="520040">
                <a:tc vMerge="1">
                  <a:txBody>
                    <a:bodyPr/>
                    <a:lstStyle/>
                    <a:p>
                      <a:endParaRPr lang="fi-FI"/>
                    </a:p>
                  </a:txBody>
                  <a:tcPr/>
                </a:tc>
                <a:tc vMerge="1">
                  <a:txBody>
                    <a:bodyPr/>
                    <a:lstStyle/>
                    <a:p>
                      <a:endParaRPr lang="fi-FI"/>
                    </a:p>
                  </a:txBody>
                  <a:tcPr/>
                </a:tc>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fi-FI"/>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0 numeroa</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0324" name="Text Box 36"/>
          <p:cNvSpPr txBox="1">
            <a:spLocks noChangeArrowheads="1"/>
          </p:cNvSpPr>
          <p:nvPr/>
        </p:nvSpPr>
        <p:spPr bwMode="auto">
          <a:xfrm>
            <a:off x="971551" y="2060577"/>
            <a:ext cx="19050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numeroiden lkm:</a:t>
            </a:r>
            <a:endParaRPr lang="en-GB">
              <a:cs typeface="Arial" pitchFamily="34" charset="0"/>
            </a:endParaRPr>
          </a:p>
        </p:txBody>
      </p:sp>
      <p:sp>
        <p:nvSpPr>
          <p:cNvPr id="140325" name="Line 37"/>
          <p:cNvSpPr>
            <a:spLocks noChangeShapeType="1"/>
          </p:cNvSpPr>
          <p:nvPr/>
        </p:nvSpPr>
        <p:spPr bwMode="auto">
          <a:xfrm>
            <a:off x="3419477" y="2276475"/>
            <a:ext cx="1657351" cy="0"/>
          </a:xfrm>
          <a:prstGeom prst="line">
            <a:avLst/>
          </a:prstGeom>
          <a:noFill/>
          <a:ln w="38100">
            <a:solidFill>
              <a:schemeClr val="tx1"/>
            </a:solidFill>
            <a:round/>
            <a:headEnd type="triangle" w="med" len="med"/>
            <a:tailEnd type="triangle" w="med" len="med"/>
          </a:ln>
          <a:effectLst/>
        </p:spPr>
        <p:txBody>
          <a:bodyPr anchor="ctr">
            <a:spAutoFit/>
          </a:bodyPr>
          <a:lstStyle/>
          <a:p>
            <a:endParaRPr lang="fi-FI"/>
          </a:p>
        </p:txBody>
      </p:sp>
      <p:sp>
        <p:nvSpPr>
          <p:cNvPr id="140326" name="Line 38"/>
          <p:cNvSpPr>
            <a:spLocks noChangeShapeType="1"/>
          </p:cNvSpPr>
          <p:nvPr/>
        </p:nvSpPr>
        <p:spPr bwMode="auto">
          <a:xfrm>
            <a:off x="3924300" y="1989138"/>
            <a:ext cx="0" cy="647700"/>
          </a:xfrm>
          <a:prstGeom prst="line">
            <a:avLst/>
          </a:prstGeom>
          <a:noFill/>
          <a:ln w="9525">
            <a:solidFill>
              <a:schemeClr val="tx1"/>
            </a:solidFill>
            <a:round/>
            <a:headEnd/>
            <a:tailEnd/>
          </a:ln>
          <a:effectLst/>
        </p:spPr>
        <p:txBody>
          <a:bodyPr anchor="ctr">
            <a:spAutoFit/>
          </a:bodyPr>
          <a:lstStyle/>
          <a:p>
            <a:endParaRPr lang="fi-FI"/>
          </a:p>
        </p:txBody>
      </p:sp>
      <p:sp>
        <p:nvSpPr>
          <p:cNvPr id="140327" name="Line 39"/>
          <p:cNvSpPr>
            <a:spLocks noChangeShapeType="1"/>
          </p:cNvSpPr>
          <p:nvPr/>
        </p:nvSpPr>
        <p:spPr bwMode="auto">
          <a:xfrm>
            <a:off x="4643439" y="1989138"/>
            <a:ext cx="0" cy="609600"/>
          </a:xfrm>
          <a:prstGeom prst="line">
            <a:avLst/>
          </a:prstGeom>
          <a:noFill/>
          <a:ln w="9525">
            <a:solidFill>
              <a:schemeClr val="tx1"/>
            </a:solidFill>
            <a:round/>
            <a:headEnd/>
            <a:tailEnd/>
          </a:ln>
          <a:effectLst/>
        </p:spPr>
        <p:txBody>
          <a:bodyPr anchor="ctr">
            <a:spAutoFit/>
          </a:bodyPr>
          <a:lstStyle/>
          <a:p>
            <a:endParaRPr lang="fi-FI"/>
          </a:p>
        </p:txBody>
      </p:sp>
      <p:sp>
        <p:nvSpPr>
          <p:cNvPr id="140328" name="Text Box 40"/>
          <p:cNvSpPr txBox="1">
            <a:spLocks noChangeArrowheads="1"/>
          </p:cNvSpPr>
          <p:nvPr/>
        </p:nvSpPr>
        <p:spPr bwMode="auto">
          <a:xfrm>
            <a:off x="3851278" y="2708277"/>
            <a:ext cx="9366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sallittu</a:t>
            </a:r>
            <a:endParaRPr lang="en-GB">
              <a:cs typeface="Arial" pitchFamily="34" charset="0"/>
            </a:endParaRPr>
          </a:p>
        </p:txBody>
      </p:sp>
      <p:sp>
        <p:nvSpPr>
          <p:cNvPr id="140329" name="Text Box 41"/>
          <p:cNvSpPr txBox="1">
            <a:spLocks noChangeArrowheads="1"/>
          </p:cNvSpPr>
          <p:nvPr/>
        </p:nvSpPr>
        <p:spPr bwMode="auto">
          <a:xfrm>
            <a:off x="3276602" y="2420940"/>
            <a:ext cx="4699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15</a:t>
            </a:r>
            <a:endParaRPr lang="en-GB">
              <a:cs typeface="Arial" pitchFamily="34" charset="0"/>
            </a:endParaRPr>
          </a:p>
        </p:txBody>
      </p:sp>
      <p:sp>
        <p:nvSpPr>
          <p:cNvPr id="140330" name="Text Box 42"/>
          <p:cNvSpPr txBox="1">
            <a:spLocks noChangeArrowheads="1"/>
          </p:cNvSpPr>
          <p:nvPr/>
        </p:nvSpPr>
        <p:spPr bwMode="auto">
          <a:xfrm>
            <a:off x="3995737" y="2420939"/>
            <a:ext cx="563563"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16</a:t>
            </a:r>
            <a:endParaRPr lang="en-GB">
              <a:cs typeface="Arial" pitchFamily="34" charset="0"/>
            </a:endParaRPr>
          </a:p>
        </p:txBody>
      </p:sp>
      <p:sp>
        <p:nvSpPr>
          <p:cNvPr id="140331" name="Text Box 43"/>
          <p:cNvSpPr txBox="1">
            <a:spLocks noChangeArrowheads="1"/>
          </p:cNvSpPr>
          <p:nvPr/>
        </p:nvSpPr>
        <p:spPr bwMode="auto">
          <a:xfrm>
            <a:off x="4716463" y="2420940"/>
            <a:ext cx="5048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17</a:t>
            </a:r>
            <a:endParaRPr lang="en-GB">
              <a:cs typeface="Arial" pitchFamily="34" charset="0"/>
            </a:endParaRPr>
          </a:p>
        </p:txBody>
      </p:sp>
      <p:sp>
        <p:nvSpPr>
          <p:cNvPr id="140332" name="Text Box 44"/>
          <p:cNvSpPr txBox="1">
            <a:spLocks noChangeArrowheads="1"/>
          </p:cNvSpPr>
          <p:nvPr/>
        </p:nvSpPr>
        <p:spPr bwMode="auto">
          <a:xfrm>
            <a:off x="2484440" y="2708276"/>
            <a:ext cx="13303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sp>
        <p:nvSpPr>
          <p:cNvPr id="140333" name="Text Box 45"/>
          <p:cNvSpPr txBox="1">
            <a:spLocks noChangeArrowheads="1"/>
          </p:cNvSpPr>
          <p:nvPr/>
        </p:nvSpPr>
        <p:spPr bwMode="auto">
          <a:xfrm>
            <a:off x="4787900" y="2708276"/>
            <a:ext cx="1223963"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4"/>
          <p:cNvSpPr>
            <a:spLocks noGrp="1"/>
          </p:cNvSpPr>
          <p:nvPr>
            <p:ph type="sldNum" sz="quarter" idx="12"/>
          </p:nvPr>
        </p:nvSpPr>
        <p:spPr/>
        <p:txBody>
          <a:bodyPr/>
          <a:lstStyle/>
          <a:p>
            <a:fld id="{89AA82B9-6DD9-4979-ADD8-4F9A1D32BBD9}" type="slidenum">
              <a:rPr lang="en-US"/>
              <a:pPr/>
              <a:t>30</a:t>
            </a:fld>
            <a:endParaRPr lang="en-US"/>
          </a:p>
        </p:txBody>
      </p:sp>
      <p:sp>
        <p:nvSpPr>
          <p:cNvPr id="141314" name="Rectangle 2"/>
          <p:cNvSpPr>
            <a:spLocks noGrp="1" noChangeArrowheads="1"/>
          </p:cNvSpPr>
          <p:nvPr>
            <p:ph type="title"/>
          </p:nvPr>
        </p:nvSpPr>
        <p:spPr/>
        <p:txBody>
          <a:bodyPr/>
          <a:lstStyle/>
          <a:p>
            <a:pPr defTabSz="762000"/>
            <a:r>
              <a:rPr lang="fi-FI" dirty="0"/>
              <a:t>Veloitettava summa</a:t>
            </a:r>
          </a:p>
        </p:txBody>
      </p:sp>
      <p:sp>
        <p:nvSpPr>
          <p:cNvPr id="141315" name="Line 3"/>
          <p:cNvSpPr>
            <a:spLocks noChangeShapeType="1"/>
          </p:cNvSpPr>
          <p:nvPr/>
        </p:nvSpPr>
        <p:spPr bwMode="auto">
          <a:xfrm>
            <a:off x="1524000" y="2667000"/>
            <a:ext cx="5410200" cy="0"/>
          </a:xfrm>
          <a:prstGeom prst="line">
            <a:avLst/>
          </a:prstGeom>
          <a:noFill/>
          <a:ln w="38100">
            <a:solidFill>
              <a:schemeClr val="tx1"/>
            </a:solidFill>
            <a:round/>
            <a:headEnd type="triangle" w="med" len="med"/>
            <a:tailEnd type="triangle" w="med" len="med"/>
          </a:ln>
          <a:effectLst/>
        </p:spPr>
        <p:txBody>
          <a:bodyPr anchor="ctr">
            <a:spAutoFit/>
          </a:bodyPr>
          <a:lstStyle/>
          <a:p>
            <a:endParaRPr lang="fi-FI"/>
          </a:p>
        </p:txBody>
      </p:sp>
      <p:sp>
        <p:nvSpPr>
          <p:cNvPr id="141316" name="Line 4"/>
          <p:cNvSpPr>
            <a:spLocks noChangeShapeType="1"/>
          </p:cNvSpPr>
          <p:nvPr/>
        </p:nvSpPr>
        <p:spPr bwMode="auto">
          <a:xfrm>
            <a:off x="2667000" y="2286000"/>
            <a:ext cx="0" cy="762000"/>
          </a:xfrm>
          <a:prstGeom prst="line">
            <a:avLst/>
          </a:prstGeom>
          <a:noFill/>
          <a:ln w="28575">
            <a:solidFill>
              <a:schemeClr val="tx1"/>
            </a:solidFill>
            <a:round/>
            <a:headEnd/>
            <a:tailEnd/>
          </a:ln>
          <a:effectLst/>
        </p:spPr>
        <p:txBody>
          <a:bodyPr anchor="ctr">
            <a:spAutoFit/>
          </a:bodyPr>
          <a:lstStyle/>
          <a:p>
            <a:endParaRPr lang="fi-FI"/>
          </a:p>
        </p:txBody>
      </p:sp>
      <p:sp>
        <p:nvSpPr>
          <p:cNvPr id="141317" name="Line 5"/>
          <p:cNvSpPr>
            <a:spLocks noChangeShapeType="1"/>
          </p:cNvSpPr>
          <p:nvPr/>
        </p:nvSpPr>
        <p:spPr bwMode="auto">
          <a:xfrm>
            <a:off x="5791200" y="2286000"/>
            <a:ext cx="0" cy="762000"/>
          </a:xfrm>
          <a:prstGeom prst="line">
            <a:avLst/>
          </a:prstGeom>
          <a:noFill/>
          <a:ln w="28575">
            <a:solidFill>
              <a:schemeClr val="tx1"/>
            </a:solidFill>
            <a:round/>
            <a:headEnd/>
            <a:tailEnd/>
          </a:ln>
          <a:effectLst/>
        </p:spPr>
        <p:txBody>
          <a:bodyPr anchor="ctr">
            <a:spAutoFit/>
          </a:bodyPr>
          <a:lstStyle/>
          <a:p>
            <a:endParaRPr lang="fi-FI"/>
          </a:p>
        </p:txBody>
      </p:sp>
      <p:sp>
        <p:nvSpPr>
          <p:cNvPr id="141318" name="Text Box 6"/>
          <p:cNvSpPr txBox="1">
            <a:spLocks noChangeArrowheads="1"/>
          </p:cNvSpPr>
          <p:nvPr/>
        </p:nvSpPr>
        <p:spPr bwMode="auto">
          <a:xfrm>
            <a:off x="2057400" y="2667001"/>
            <a:ext cx="6096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9</a:t>
            </a:r>
            <a:endParaRPr lang="en-GB">
              <a:cs typeface="Arial" pitchFamily="34" charset="0"/>
            </a:endParaRPr>
          </a:p>
        </p:txBody>
      </p:sp>
      <p:sp>
        <p:nvSpPr>
          <p:cNvPr id="141319" name="Text Box 7"/>
          <p:cNvSpPr txBox="1">
            <a:spLocks noChangeArrowheads="1"/>
          </p:cNvSpPr>
          <p:nvPr/>
        </p:nvSpPr>
        <p:spPr bwMode="auto">
          <a:xfrm>
            <a:off x="2555875" y="2636838"/>
            <a:ext cx="7620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10</a:t>
            </a:r>
            <a:endParaRPr lang="en-GB">
              <a:cs typeface="Arial" pitchFamily="34" charset="0"/>
            </a:endParaRPr>
          </a:p>
        </p:txBody>
      </p:sp>
      <p:sp>
        <p:nvSpPr>
          <p:cNvPr id="141320" name="Text Box 8"/>
          <p:cNvSpPr txBox="1">
            <a:spLocks noChangeArrowheads="1"/>
          </p:cNvSpPr>
          <p:nvPr/>
        </p:nvSpPr>
        <p:spPr bwMode="auto">
          <a:xfrm>
            <a:off x="4953000" y="2667001"/>
            <a:ext cx="8382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5000</a:t>
            </a:r>
            <a:endParaRPr lang="en-GB">
              <a:cs typeface="Arial" pitchFamily="34" charset="0"/>
            </a:endParaRPr>
          </a:p>
        </p:txBody>
      </p:sp>
      <p:sp>
        <p:nvSpPr>
          <p:cNvPr id="141321" name="Text Box 9"/>
          <p:cNvSpPr txBox="1">
            <a:spLocks noChangeArrowheads="1"/>
          </p:cNvSpPr>
          <p:nvPr/>
        </p:nvSpPr>
        <p:spPr bwMode="auto">
          <a:xfrm>
            <a:off x="5791200" y="2667001"/>
            <a:ext cx="7620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5001</a:t>
            </a:r>
            <a:endParaRPr lang="en-GB">
              <a:cs typeface="Arial" pitchFamily="34" charset="0"/>
            </a:endParaRPr>
          </a:p>
        </p:txBody>
      </p:sp>
      <p:sp>
        <p:nvSpPr>
          <p:cNvPr id="141322" name="Text Box 10"/>
          <p:cNvSpPr txBox="1">
            <a:spLocks noChangeArrowheads="1"/>
          </p:cNvSpPr>
          <p:nvPr/>
        </p:nvSpPr>
        <p:spPr bwMode="auto">
          <a:xfrm>
            <a:off x="1116013" y="3068639"/>
            <a:ext cx="1474787"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sp>
        <p:nvSpPr>
          <p:cNvPr id="141323" name="Text Box 11"/>
          <p:cNvSpPr txBox="1">
            <a:spLocks noChangeArrowheads="1"/>
          </p:cNvSpPr>
          <p:nvPr/>
        </p:nvSpPr>
        <p:spPr bwMode="auto">
          <a:xfrm>
            <a:off x="3352800" y="3068639"/>
            <a:ext cx="1676400"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sallittu</a:t>
            </a:r>
            <a:endParaRPr lang="en-GB">
              <a:cs typeface="Arial" pitchFamily="34" charset="0"/>
            </a:endParaRPr>
          </a:p>
        </p:txBody>
      </p:sp>
      <p:sp>
        <p:nvSpPr>
          <p:cNvPr id="141324" name="Text Box 12"/>
          <p:cNvSpPr txBox="1">
            <a:spLocks noChangeArrowheads="1"/>
          </p:cNvSpPr>
          <p:nvPr/>
        </p:nvSpPr>
        <p:spPr bwMode="auto">
          <a:xfrm>
            <a:off x="5867400" y="3068640"/>
            <a:ext cx="1152525" cy="369332"/>
          </a:xfrm>
          <a:prstGeom prst="rect">
            <a:avLst/>
          </a:prstGeom>
          <a:noFill/>
          <a:ln w="9525">
            <a:noFill/>
            <a:miter lim="800000"/>
            <a:headEnd/>
            <a:tailEnd/>
          </a:ln>
          <a:effectLst/>
        </p:spPr>
        <p:txBody>
          <a:bodyPr>
            <a:spAutoFit/>
          </a:bodyPr>
          <a:lstStyle/>
          <a:p>
            <a:pPr algn="ctr" eaLnBrk="1" hangingPunct="1">
              <a:spcBef>
                <a:spcPct val="50000"/>
              </a:spcBef>
            </a:pPr>
            <a:r>
              <a:rPr lang="fi-FI">
                <a:cs typeface="Arial" pitchFamily="34" charset="0"/>
              </a:rPr>
              <a:t>kielletty</a:t>
            </a:r>
            <a:endParaRPr lang="en-GB">
              <a:cs typeface="Arial" pitchFamily="34" charset="0"/>
            </a:endParaRPr>
          </a:p>
        </p:txBody>
      </p:sp>
      <p:graphicFrame>
        <p:nvGraphicFramePr>
          <p:cNvPr id="141357" name="Group 45"/>
          <p:cNvGraphicFramePr>
            <a:graphicFrameLocks noGrp="1"/>
          </p:cNvGraphicFramePr>
          <p:nvPr>
            <p:extLst>
              <p:ext uri="{D42A27DB-BD31-4B8C-83A1-F6EECF244321}">
                <p14:modId xmlns:p14="http://schemas.microsoft.com/office/powerpoint/2010/main" val="3427292329"/>
              </p:ext>
            </p:extLst>
          </p:nvPr>
        </p:nvGraphicFramePr>
        <p:xfrm>
          <a:off x="920751" y="3449528"/>
          <a:ext cx="7467603" cy="3017520"/>
        </p:xfrm>
        <a:graphic>
          <a:graphicData uri="http://schemas.openxmlformats.org/drawingml/2006/table">
            <a:tbl>
              <a:tblPr/>
              <a:tblGrid>
                <a:gridCol w="1493839"/>
                <a:gridCol w="1493837"/>
                <a:gridCol w="1492251"/>
                <a:gridCol w="1493839"/>
                <a:gridCol w="1493837"/>
              </a:tblGrid>
              <a:tr h="914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Ehdot</a:t>
                      </a:r>
                      <a:endParaRPr kumimoji="0" lang="en-GB"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luokat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Sallitut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Kielletyt raja-arvot</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65760">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Veloitettava </a:t>
                      </a:r>
                      <a:r>
                        <a:rPr kumimoji="0" lang="fi-FI" sz="1800" b="0" i="0" u="none" strike="noStrike" cap="none" normalizeH="0" baseline="0" dirty="0" smtClean="0">
                          <a:ln>
                            <a:noFill/>
                          </a:ln>
                          <a:solidFill>
                            <a:schemeClr val="tx1"/>
                          </a:solidFill>
                          <a:effectLst/>
                          <a:latin typeface="+mn-lt"/>
                        </a:rPr>
                        <a:t>summa</a:t>
                      </a:r>
                      <a:endParaRPr kumimoji="0" lang="en-GB"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10-5000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&lt;10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10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9</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60">
                <a:tc vMerge="1">
                  <a:txBody>
                    <a:bodyPr/>
                    <a:lstStyle/>
                    <a:p>
                      <a:endParaRPr lang="fi-FI"/>
                    </a:p>
                  </a:txBody>
                  <a:tcPr/>
                </a:tc>
                <a:tc vMerge="1">
                  <a:txBody>
                    <a:bodyPr/>
                    <a:lstStyle/>
                    <a:p>
                      <a:endParaRPr lang="fi-FI"/>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&gt;5000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5000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5001</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65760">
                <a:tc vMerge="1">
                  <a:txBody>
                    <a:bodyPr/>
                    <a:lstStyle/>
                    <a:p>
                      <a:endParaRPr lang="fi-FI"/>
                    </a:p>
                  </a:txBody>
                  <a:tcPr/>
                </a:tc>
                <a:tc vMerge="1">
                  <a:txBody>
                    <a:bodyPr/>
                    <a:lstStyle/>
                    <a:p>
                      <a:endParaRPr lang="fi-FI"/>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fi-FI"/>
                    </a:p>
                  </a:txBody>
                  <a:tcPr/>
                </a:tc>
                <a:tc vMerge="1">
                  <a:txBody>
                    <a:bodyPr/>
                    <a:lstStyle/>
                    <a:p>
                      <a:endParaRPr lang="fi-FI"/>
                    </a:p>
                  </a:txBody>
                  <a:tcPr/>
                </a:tc>
              </a:tr>
              <a:tr h="632088">
                <a:tc vMerge="1">
                  <a:txBody>
                    <a:bodyPr/>
                    <a:lstStyle/>
                    <a:p>
                      <a:endParaRPr lang="fi-FI"/>
                    </a:p>
                  </a:txBody>
                  <a:tcPr/>
                </a:tc>
                <a:tc vMerge="1">
                  <a:txBody>
                    <a:bodyPr/>
                    <a:lstStyle/>
                    <a:p>
                      <a:endParaRPr lang="fi-FI"/>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muu kuin numero</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fi-FI"/>
                    </a:p>
                  </a:txBody>
                  <a:tcPr/>
                </a:tc>
                <a:tc vMerge="1">
                  <a:txBody>
                    <a:bodyPr/>
                    <a:lstStyle/>
                    <a:p>
                      <a:endParaRPr lang="fi-FI"/>
                    </a:p>
                  </a:txBody>
                  <a:tcPr/>
                </a:tc>
              </a:tr>
              <a:tr h="0">
                <a:tc vMerge="1">
                  <a:txBody>
                    <a:bodyPr/>
                    <a:lstStyle/>
                    <a:p>
                      <a:endParaRPr lang="fi-FI"/>
                    </a:p>
                  </a:txBody>
                  <a:tcPr/>
                </a:tc>
                <a:tc vMerge="1">
                  <a:txBody>
                    <a:bodyPr/>
                    <a:lstStyle/>
                    <a:p>
                      <a:endParaRPr lang="fi-FI"/>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null</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fi-FI"/>
                    </a:p>
                  </a:txBody>
                  <a:tcPr/>
                </a:tc>
                <a:tc vMerge="1">
                  <a:txBody>
                    <a:bodyPr/>
                    <a:lstStyle/>
                    <a:p>
                      <a:endParaRPr lang="fi-FI"/>
                    </a:p>
                  </a:txBody>
                  <a:tcPr/>
                </a:tc>
              </a:tr>
            </a:tbl>
          </a:graphicData>
        </a:graphic>
      </p:graphicFrame>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lide Number Placeholder 4"/>
          <p:cNvSpPr>
            <a:spLocks noGrp="1"/>
          </p:cNvSpPr>
          <p:nvPr>
            <p:ph type="sldNum" sz="quarter" idx="12"/>
          </p:nvPr>
        </p:nvSpPr>
        <p:spPr/>
        <p:txBody>
          <a:bodyPr/>
          <a:lstStyle/>
          <a:p>
            <a:fld id="{0D45E842-EE91-4B22-9BAB-493DA031EB05}" type="slidenum">
              <a:rPr lang="en-US"/>
              <a:pPr/>
              <a:t>31</a:t>
            </a:fld>
            <a:endParaRPr lang="en-US"/>
          </a:p>
        </p:txBody>
      </p:sp>
      <p:sp>
        <p:nvSpPr>
          <p:cNvPr id="142338" name="Rectangle 2"/>
          <p:cNvSpPr>
            <a:spLocks noGrp="1" noChangeArrowheads="1"/>
          </p:cNvSpPr>
          <p:nvPr>
            <p:ph type="title"/>
          </p:nvPr>
        </p:nvSpPr>
        <p:spPr/>
        <p:txBody>
          <a:bodyPr>
            <a:normAutofit fontScale="90000"/>
          </a:bodyPr>
          <a:lstStyle/>
          <a:p>
            <a:pPr defTabSz="762000"/>
            <a:r>
              <a:rPr lang="fi-FI"/>
              <a:t>Raja-arvotaulukko</a:t>
            </a:r>
            <a:br>
              <a:rPr lang="fi-FI"/>
            </a:br>
            <a:endParaRPr lang="fi-FI"/>
          </a:p>
        </p:txBody>
      </p:sp>
      <p:sp>
        <p:nvSpPr>
          <p:cNvPr id="142339" name="Rectangle 3"/>
          <p:cNvSpPr>
            <a:spLocks noChangeArrowheads="1"/>
          </p:cNvSpPr>
          <p:nvPr/>
        </p:nvSpPr>
        <p:spPr bwMode="auto">
          <a:xfrm>
            <a:off x="3276600" y="4213227"/>
            <a:ext cx="1295400" cy="334963"/>
          </a:xfrm>
          <a:prstGeom prst="rect">
            <a:avLst/>
          </a:prstGeom>
          <a:noFill/>
          <a:ln w="9525">
            <a:noFill/>
            <a:miter lim="800000"/>
            <a:headEnd/>
            <a:tailEnd/>
          </a:ln>
          <a:effectLst/>
        </p:spPr>
        <p:txBody>
          <a:bodyPr/>
          <a:lstStyle/>
          <a:p>
            <a:pPr algn="ctr" eaLnBrk="1" hangingPunct="1">
              <a:spcBef>
                <a:spcPct val="20000"/>
              </a:spcBef>
            </a:pPr>
            <a:r>
              <a:rPr lang="fi-FI" sz="1400"/>
              <a:t>ei-luku</a:t>
            </a:r>
            <a:endParaRPr lang="en-GB" sz="1400"/>
          </a:p>
        </p:txBody>
      </p:sp>
      <p:sp>
        <p:nvSpPr>
          <p:cNvPr id="142340" name="Rectangle 4"/>
          <p:cNvSpPr>
            <a:spLocks noChangeArrowheads="1"/>
          </p:cNvSpPr>
          <p:nvPr/>
        </p:nvSpPr>
        <p:spPr bwMode="auto">
          <a:xfrm>
            <a:off x="3276600" y="5888038"/>
            <a:ext cx="1295400" cy="334962"/>
          </a:xfrm>
          <a:prstGeom prst="rect">
            <a:avLst/>
          </a:prstGeom>
          <a:noFill/>
          <a:ln w="9525">
            <a:noFill/>
            <a:miter lim="800000"/>
            <a:headEnd/>
            <a:tailEnd/>
          </a:ln>
          <a:effectLst/>
        </p:spPr>
        <p:txBody>
          <a:bodyPr/>
          <a:lstStyle/>
          <a:p>
            <a:pPr algn="ctr" eaLnBrk="1" hangingPunct="1">
              <a:spcBef>
                <a:spcPct val="20000"/>
              </a:spcBef>
            </a:pPr>
            <a:r>
              <a:rPr lang="fi-FI" sz="1400"/>
              <a:t>null</a:t>
            </a:r>
            <a:endParaRPr lang="en-GB" sz="1400"/>
          </a:p>
        </p:txBody>
      </p:sp>
      <p:sp>
        <p:nvSpPr>
          <p:cNvPr id="142341" name="Rectangle 5"/>
          <p:cNvSpPr>
            <a:spLocks noChangeArrowheads="1"/>
          </p:cNvSpPr>
          <p:nvPr/>
        </p:nvSpPr>
        <p:spPr bwMode="auto">
          <a:xfrm>
            <a:off x="3276600" y="5553077"/>
            <a:ext cx="1295400" cy="334963"/>
          </a:xfrm>
          <a:prstGeom prst="rect">
            <a:avLst/>
          </a:prstGeom>
          <a:noFill/>
          <a:ln w="9525">
            <a:noFill/>
            <a:miter lim="800000"/>
            <a:headEnd/>
            <a:tailEnd/>
          </a:ln>
          <a:effectLst/>
        </p:spPr>
        <p:txBody>
          <a:bodyPr/>
          <a:lstStyle/>
          <a:p>
            <a:pPr algn="ctr" eaLnBrk="1" hangingPunct="1">
              <a:spcBef>
                <a:spcPct val="20000"/>
              </a:spcBef>
            </a:pPr>
            <a:r>
              <a:rPr lang="fi-FI" sz="1400"/>
              <a:t>ei-luku</a:t>
            </a:r>
            <a:endParaRPr lang="en-GB" sz="1400"/>
          </a:p>
        </p:txBody>
      </p:sp>
      <p:sp>
        <p:nvSpPr>
          <p:cNvPr id="142342" name="Rectangle 6"/>
          <p:cNvSpPr>
            <a:spLocks noChangeArrowheads="1"/>
          </p:cNvSpPr>
          <p:nvPr/>
        </p:nvSpPr>
        <p:spPr bwMode="auto">
          <a:xfrm>
            <a:off x="3276600" y="5218113"/>
            <a:ext cx="1295400" cy="334962"/>
          </a:xfrm>
          <a:prstGeom prst="rect">
            <a:avLst/>
          </a:prstGeom>
          <a:noFill/>
          <a:ln w="9525">
            <a:noFill/>
            <a:miter lim="800000"/>
            <a:headEnd/>
            <a:tailEnd/>
          </a:ln>
          <a:effectLst/>
        </p:spPr>
        <p:txBody>
          <a:bodyPr/>
          <a:lstStyle/>
          <a:p>
            <a:pPr algn="ctr" eaLnBrk="1" hangingPunct="1">
              <a:spcBef>
                <a:spcPct val="20000"/>
              </a:spcBef>
            </a:pPr>
            <a:r>
              <a:rPr lang="fi-FI" sz="1400"/>
              <a:t>0</a:t>
            </a:r>
            <a:endParaRPr lang="en-GB" sz="1400"/>
          </a:p>
        </p:txBody>
      </p:sp>
      <p:sp>
        <p:nvSpPr>
          <p:cNvPr id="142343" name="Rectangle 7"/>
          <p:cNvSpPr>
            <a:spLocks noChangeArrowheads="1"/>
          </p:cNvSpPr>
          <p:nvPr/>
        </p:nvSpPr>
        <p:spPr bwMode="auto">
          <a:xfrm>
            <a:off x="7010400" y="3878265"/>
            <a:ext cx="1219200" cy="669925"/>
          </a:xfrm>
          <a:prstGeom prst="rect">
            <a:avLst/>
          </a:prstGeom>
          <a:noFill/>
          <a:ln w="9525">
            <a:noFill/>
            <a:miter lim="800000"/>
            <a:headEnd/>
            <a:tailEnd/>
          </a:ln>
          <a:effectLst/>
        </p:spPr>
        <p:txBody>
          <a:bodyPr/>
          <a:lstStyle/>
          <a:p>
            <a:pPr algn="ctr" eaLnBrk="1" hangingPunct="1">
              <a:spcBef>
                <a:spcPct val="20000"/>
              </a:spcBef>
            </a:pPr>
            <a:r>
              <a:rPr lang="fi-FI" sz="1400"/>
              <a:t>0 kpl digit</a:t>
            </a:r>
            <a:endParaRPr lang="en-GB" sz="1400"/>
          </a:p>
        </p:txBody>
      </p:sp>
      <p:sp>
        <p:nvSpPr>
          <p:cNvPr id="142344" name="Rectangle 8"/>
          <p:cNvSpPr>
            <a:spLocks noChangeArrowheads="1"/>
          </p:cNvSpPr>
          <p:nvPr/>
        </p:nvSpPr>
        <p:spPr bwMode="auto">
          <a:xfrm>
            <a:off x="3276600" y="3878263"/>
            <a:ext cx="1295400" cy="334962"/>
          </a:xfrm>
          <a:prstGeom prst="rect">
            <a:avLst/>
          </a:prstGeom>
          <a:noFill/>
          <a:ln w="9525">
            <a:noFill/>
            <a:miter lim="800000"/>
            <a:headEnd/>
            <a:tailEnd/>
          </a:ln>
          <a:effectLst/>
        </p:spPr>
        <p:txBody>
          <a:bodyPr/>
          <a:lstStyle/>
          <a:p>
            <a:pPr algn="ctr" eaLnBrk="1" hangingPunct="1">
              <a:spcBef>
                <a:spcPct val="20000"/>
              </a:spcBef>
            </a:pPr>
            <a:r>
              <a:rPr lang="fi-FI" sz="1400"/>
              <a:t>laiton</a:t>
            </a:r>
          </a:p>
        </p:txBody>
      </p:sp>
      <p:sp>
        <p:nvSpPr>
          <p:cNvPr id="142345" name="Rectangle 9"/>
          <p:cNvSpPr>
            <a:spLocks noChangeArrowheads="1"/>
          </p:cNvSpPr>
          <p:nvPr/>
        </p:nvSpPr>
        <p:spPr bwMode="auto">
          <a:xfrm>
            <a:off x="7010400" y="2716213"/>
            <a:ext cx="1219200" cy="354012"/>
          </a:xfrm>
          <a:prstGeom prst="rect">
            <a:avLst/>
          </a:prstGeom>
          <a:noFill/>
          <a:ln w="9525">
            <a:noFill/>
            <a:miter lim="800000"/>
            <a:headEnd/>
            <a:tailEnd/>
          </a:ln>
          <a:effectLst/>
        </p:spPr>
        <p:txBody>
          <a:bodyPr/>
          <a:lstStyle/>
          <a:p>
            <a:pPr algn="ctr" eaLnBrk="1" hangingPunct="1">
              <a:spcBef>
                <a:spcPct val="20000"/>
              </a:spcBef>
            </a:pPr>
            <a:r>
              <a:rPr lang="fi-FI" sz="1400"/>
              <a:t>0 kpl char</a:t>
            </a:r>
            <a:endParaRPr lang="en-GB" sz="1400"/>
          </a:p>
        </p:txBody>
      </p:sp>
      <p:sp>
        <p:nvSpPr>
          <p:cNvPr id="142346" name="Rectangle 10"/>
          <p:cNvSpPr>
            <a:spLocks noChangeArrowheads="1"/>
          </p:cNvSpPr>
          <p:nvPr/>
        </p:nvSpPr>
        <p:spPr bwMode="auto">
          <a:xfrm>
            <a:off x="3276600" y="2716213"/>
            <a:ext cx="1295400" cy="354012"/>
          </a:xfrm>
          <a:prstGeom prst="rect">
            <a:avLst/>
          </a:prstGeom>
          <a:noFill/>
          <a:ln w="9525">
            <a:noFill/>
            <a:miter lim="800000"/>
            <a:headEnd/>
            <a:tailEnd/>
          </a:ln>
          <a:effectLst/>
        </p:spPr>
        <p:txBody>
          <a:bodyPr/>
          <a:lstStyle/>
          <a:p>
            <a:pPr algn="ctr" eaLnBrk="1" hangingPunct="1">
              <a:spcBef>
                <a:spcPct val="20000"/>
              </a:spcBef>
            </a:pPr>
            <a:r>
              <a:rPr lang="fi-FI" sz="1400"/>
              <a:t>ei-sallittuja</a:t>
            </a:r>
            <a:endParaRPr lang="en-GB" sz="1400"/>
          </a:p>
        </p:txBody>
      </p:sp>
      <p:sp>
        <p:nvSpPr>
          <p:cNvPr id="142347" name="Rectangle 11"/>
          <p:cNvSpPr>
            <a:spLocks noChangeArrowheads="1"/>
          </p:cNvSpPr>
          <p:nvPr/>
        </p:nvSpPr>
        <p:spPr bwMode="auto">
          <a:xfrm>
            <a:off x="7010400" y="4883152"/>
            <a:ext cx="1219200" cy="1339850"/>
          </a:xfrm>
          <a:prstGeom prst="rect">
            <a:avLst/>
          </a:prstGeom>
          <a:noFill/>
          <a:ln w="9525">
            <a:noFill/>
            <a:miter lim="800000"/>
            <a:headEnd/>
            <a:tailEnd/>
          </a:ln>
          <a:effectLst/>
        </p:spPr>
        <p:txBody>
          <a:bodyPr/>
          <a:lstStyle/>
          <a:p>
            <a:pPr algn="ctr" eaLnBrk="1" hangingPunct="1">
              <a:spcBef>
                <a:spcPct val="20000"/>
              </a:spcBef>
            </a:pPr>
            <a:r>
              <a:rPr lang="fi-FI" sz="1400"/>
              <a:t>5001</a:t>
            </a:r>
            <a:endParaRPr lang="en-GB" sz="1400"/>
          </a:p>
        </p:txBody>
      </p:sp>
      <p:sp>
        <p:nvSpPr>
          <p:cNvPr id="142348" name="Rectangle 12"/>
          <p:cNvSpPr>
            <a:spLocks noChangeArrowheads="1"/>
          </p:cNvSpPr>
          <p:nvPr/>
        </p:nvSpPr>
        <p:spPr bwMode="auto">
          <a:xfrm>
            <a:off x="5105400" y="4883152"/>
            <a:ext cx="1295400" cy="1339850"/>
          </a:xfrm>
          <a:prstGeom prst="rect">
            <a:avLst/>
          </a:prstGeom>
          <a:noFill/>
          <a:ln w="9525">
            <a:noFill/>
            <a:miter lim="800000"/>
            <a:headEnd/>
            <a:tailEnd/>
          </a:ln>
          <a:effectLst/>
        </p:spPr>
        <p:txBody>
          <a:bodyPr/>
          <a:lstStyle/>
          <a:p>
            <a:pPr algn="ctr" eaLnBrk="1" hangingPunct="1">
              <a:spcBef>
                <a:spcPct val="20000"/>
              </a:spcBef>
            </a:pPr>
            <a:r>
              <a:rPr lang="fi-FI" sz="1400"/>
              <a:t>5000</a:t>
            </a:r>
            <a:endParaRPr lang="en-GB" sz="1400"/>
          </a:p>
        </p:txBody>
      </p:sp>
      <p:sp>
        <p:nvSpPr>
          <p:cNvPr id="142349" name="Rectangle 13"/>
          <p:cNvSpPr>
            <a:spLocks noChangeArrowheads="1"/>
          </p:cNvSpPr>
          <p:nvPr/>
        </p:nvSpPr>
        <p:spPr bwMode="auto">
          <a:xfrm>
            <a:off x="3276600" y="4883152"/>
            <a:ext cx="1295400" cy="334963"/>
          </a:xfrm>
          <a:prstGeom prst="rect">
            <a:avLst/>
          </a:prstGeom>
          <a:noFill/>
          <a:ln w="9525">
            <a:noFill/>
            <a:miter lim="800000"/>
            <a:headEnd/>
            <a:tailEnd/>
          </a:ln>
          <a:effectLst/>
        </p:spPr>
        <p:txBody>
          <a:bodyPr/>
          <a:lstStyle/>
          <a:p>
            <a:pPr algn="ctr" eaLnBrk="1" hangingPunct="1">
              <a:spcBef>
                <a:spcPct val="20000"/>
              </a:spcBef>
            </a:pPr>
            <a:r>
              <a:rPr lang="fi-FI" sz="1400"/>
              <a:t>&gt;9000</a:t>
            </a:r>
            <a:endParaRPr lang="en-GB" sz="1400"/>
          </a:p>
        </p:txBody>
      </p:sp>
      <p:sp>
        <p:nvSpPr>
          <p:cNvPr id="142350" name="Rectangle 14"/>
          <p:cNvSpPr>
            <a:spLocks noChangeArrowheads="1"/>
          </p:cNvSpPr>
          <p:nvPr/>
        </p:nvSpPr>
        <p:spPr bwMode="auto">
          <a:xfrm>
            <a:off x="7010400" y="3532190"/>
            <a:ext cx="1219200" cy="346075"/>
          </a:xfrm>
          <a:prstGeom prst="rect">
            <a:avLst/>
          </a:prstGeom>
          <a:noFill/>
          <a:ln w="9525">
            <a:noFill/>
            <a:miter lim="800000"/>
            <a:headEnd/>
            <a:tailEnd/>
          </a:ln>
          <a:effectLst/>
        </p:spPr>
        <p:txBody>
          <a:bodyPr/>
          <a:lstStyle/>
          <a:p>
            <a:pPr algn="ctr" eaLnBrk="1" hangingPunct="1">
              <a:spcBef>
                <a:spcPct val="20000"/>
              </a:spcBef>
            </a:pPr>
            <a:r>
              <a:rPr lang="fi-FI" sz="1400"/>
              <a:t>17 kpl digit</a:t>
            </a:r>
            <a:endParaRPr lang="en-GB" sz="1400"/>
          </a:p>
        </p:txBody>
      </p:sp>
      <p:sp>
        <p:nvSpPr>
          <p:cNvPr id="142351" name="Rectangle 15"/>
          <p:cNvSpPr>
            <a:spLocks noChangeArrowheads="1"/>
          </p:cNvSpPr>
          <p:nvPr/>
        </p:nvSpPr>
        <p:spPr bwMode="auto">
          <a:xfrm>
            <a:off x="5105400" y="3532189"/>
            <a:ext cx="1295400" cy="1016000"/>
          </a:xfrm>
          <a:prstGeom prst="rect">
            <a:avLst/>
          </a:prstGeom>
          <a:noFill/>
          <a:ln w="9525">
            <a:noFill/>
            <a:miter lim="800000"/>
            <a:headEnd/>
            <a:tailEnd/>
          </a:ln>
          <a:effectLst/>
        </p:spPr>
        <p:txBody>
          <a:bodyPr/>
          <a:lstStyle/>
          <a:p>
            <a:pPr algn="ctr" eaLnBrk="1" hangingPunct="1">
              <a:spcBef>
                <a:spcPct val="20000"/>
              </a:spcBef>
              <a:buFontTx/>
              <a:buChar char="•"/>
            </a:pPr>
            <a:endParaRPr lang="en-US" sz="1400"/>
          </a:p>
        </p:txBody>
      </p:sp>
      <p:sp>
        <p:nvSpPr>
          <p:cNvPr id="142352" name="Rectangle 16"/>
          <p:cNvSpPr>
            <a:spLocks noChangeArrowheads="1"/>
          </p:cNvSpPr>
          <p:nvPr/>
        </p:nvSpPr>
        <p:spPr bwMode="auto">
          <a:xfrm>
            <a:off x="3276600" y="3532190"/>
            <a:ext cx="1295400" cy="346075"/>
          </a:xfrm>
          <a:prstGeom prst="rect">
            <a:avLst/>
          </a:prstGeom>
          <a:noFill/>
          <a:ln w="9525">
            <a:noFill/>
            <a:miter lim="800000"/>
            <a:headEnd/>
            <a:tailEnd/>
          </a:ln>
          <a:effectLst/>
        </p:spPr>
        <p:txBody>
          <a:bodyPr/>
          <a:lstStyle/>
          <a:p>
            <a:pPr algn="ctr" eaLnBrk="1" hangingPunct="1">
              <a:spcBef>
                <a:spcPct val="20000"/>
              </a:spcBef>
            </a:pPr>
            <a:r>
              <a:rPr lang="fi-FI" sz="1400"/>
              <a:t>&gt;16 digit</a:t>
            </a:r>
            <a:endParaRPr lang="en-GB" sz="1400"/>
          </a:p>
        </p:txBody>
      </p:sp>
      <p:sp>
        <p:nvSpPr>
          <p:cNvPr id="142353" name="Rectangle 17"/>
          <p:cNvSpPr>
            <a:spLocks noChangeArrowheads="1"/>
          </p:cNvSpPr>
          <p:nvPr/>
        </p:nvSpPr>
        <p:spPr bwMode="auto">
          <a:xfrm>
            <a:off x="1447800" y="3532189"/>
            <a:ext cx="1295400" cy="1016000"/>
          </a:xfrm>
          <a:prstGeom prst="rect">
            <a:avLst/>
          </a:prstGeom>
          <a:noFill/>
          <a:ln w="9525">
            <a:noFill/>
            <a:miter lim="800000"/>
            <a:headEnd/>
            <a:tailEnd/>
          </a:ln>
          <a:effectLst/>
        </p:spPr>
        <p:txBody>
          <a:bodyPr/>
          <a:lstStyle/>
          <a:p>
            <a:pPr algn="ctr" eaLnBrk="1" hangingPunct="1">
              <a:spcBef>
                <a:spcPct val="20000"/>
              </a:spcBef>
            </a:pPr>
            <a:r>
              <a:rPr lang="fi-FI" sz="1400"/>
              <a:t>Visa</a:t>
            </a:r>
          </a:p>
          <a:p>
            <a:pPr algn="ctr" eaLnBrk="1" hangingPunct="1">
              <a:spcBef>
                <a:spcPct val="20000"/>
              </a:spcBef>
            </a:pPr>
            <a:r>
              <a:rPr lang="fi-FI" sz="1400"/>
              <a:t>Amex</a:t>
            </a:r>
          </a:p>
          <a:p>
            <a:pPr algn="ctr" eaLnBrk="1" hangingPunct="1">
              <a:spcBef>
                <a:spcPct val="20000"/>
              </a:spcBef>
            </a:pPr>
            <a:r>
              <a:rPr lang="fi-FI" sz="1400"/>
              <a:t>Mastercard</a:t>
            </a:r>
          </a:p>
          <a:p>
            <a:pPr algn="ctr" eaLnBrk="1" hangingPunct="1">
              <a:spcBef>
                <a:spcPct val="20000"/>
              </a:spcBef>
            </a:pPr>
            <a:r>
              <a:rPr lang="fi-FI" sz="1400"/>
              <a:t>Diners Club</a:t>
            </a:r>
            <a:endParaRPr lang="en-GB" sz="1400"/>
          </a:p>
        </p:txBody>
      </p:sp>
      <p:sp>
        <p:nvSpPr>
          <p:cNvPr id="142354" name="Rectangle 18"/>
          <p:cNvSpPr>
            <a:spLocks noChangeArrowheads="1"/>
          </p:cNvSpPr>
          <p:nvPr/>
        </p:nvSpPr>
        <p:spPr bwMode="auto">
          <a:xfrm>
            <a:off x="7010400" y="2335213"/>
            <a:ext cx="1219200" cy="381000"/>
          </a:xfrm>
          <a:prstGeom prst="rect">
            <a:avLst/>
          </a:prstGeom>
          <a:noFill/>
          <a:ln w="9525">
            <a:noFill/>
            <a:miter lim="800000"/>
            <a:headEnd/>
            <a:tailEnd/>
          </a:ln>
          <a:effectLst/>
        </p:spPr>
        <p:txBody>
          <a:bodyPr/>
          <a:lstStyle/>
          <a:p>
            <a:pPr algn="ctr" eaLnBrk="1" hangingPunct="1">
              <a:spcBef>
                <a:spcPct val="20000"/>
              </a:spcBef>
            </a:pPr>
            <a:r>
              <a:rPr lang="fi-FI" sz="1400"/>
              <a:t>65kpl char</a:t>
            </a:r>
            <a:endParaRPr lang="en-GB" sz="1400"/>
          </a:p>
        </p:txBody>
      </p:sp>
      <p:sp>
        <p:nvSpPr>
          <p:cNvPr id="142355" name="Rectangle 19"/>
          <p:cNvSpPr>
            <a:spLocks noChangeArrowheads="1"/>
          </p:cNvSpPr>
          <p:nvPr/>
        </p:nvSpPr>
        <p:spPr bwMode="auto">
          <a:xfrm>
            <a:off x="5105400" y="2335213"/>
            <a:ext cx="1295400" cy="735012"/>
          </a:xfrm>
          <a:prstGeom prst="rect">
            <a:avLst/>
          </a:prstGeom>
          <a:noFill/>
          <a:ln w="9525">
            <a:noFill/>
            <a:miter lim="800000"/>
            <a:headEnd/>
            <a:tailEnd/>
          </a:ln>
          <a:effectLst/>
        </p:spPr>
        <p:txBody>
          <a:bodyPr/>
          <a:lstStyle/>
          <a:p>
            <a:pPr algn="ctr" eaLnBrk="1" hangingPunct="1">
              <a:spcBef>
                <a:spcPct val="20000"/>
              </a:spcBef>
            </a:pPr>
            <a:r>
              <a:rPr lang="fi-FI" sz="1400"/>
              <a:t>64 kpl char</a:t>
            </a:r>
            <a:endParaRPr lang="en-GB" sz="1400"/>
          </a:p>
        </p:txBody>
      </p:sp>
      <p:sp>
        <p:nvSpPr>
          <p:cNvPr id="142356" name="Rectangle 20"/>
          <p:cNvSpPr>
            <a:spLocks noChangeArrowheads="1"/>
          </p:cNvSpPr>
          <p:nvPr/>
        </p:nvSpPr>
        <p:spPr bwMode="auto">
          <a:xfrm>
            <a:off x="3276600" y="2335213"/>
            <a:ext cx="1295400" cy="381000"/>
          </a:xfrm>
          <a:prstGeom prst="rect">
            <a:avLst/>
          </a:prstGeom>
          <a:noFill/>
          <a:ln w="9525">
            <a:noFill/>
            <a:miter lim="800000"/>
            <a:headEnd/>
            <a:tailEnd/>
          </a:ln>
          <a:effectLst/>
        </p:spPr>
        <p:txBody>
          <a:bodyPr/>
          <a:lstStyle/>
          <a:p>
            <a:pPr algn="ctr" eaLnBrk="1" hangingPunct="1">
              <a:spcBef>
                <a:spcPct val="20000"/>
              </a:spcBef>
            </a:pPr>
            <a:r>
              <a:rPr lang="fi-FI" sz="1400"/>
              <a:t>&gt;64kpl char</a:t>
            </a:r>
            <a:endParaRPr lang="en-GB" sz="1400"/>
          </a:p>
        </p:txBody>
      </p:sp>
      <p:sp>
        <p:nvSpPr>
          <p:cNvPr id="142357" name="Rectangle 21"/>
          <p:cNvSpPr>
            <a:spLocks noChangeArrowheads="1"/>
          </p:cNvSpPr>
          <p:nvPr/>
        </p:nvSpPr>
        <p:spPr bwMode="auto">
          <a:xfrm>
            <a:off x="1447800" y="2335213"/>
            <a:ext cx="1295400" cy="735012"/>
          </a:xfrm>
          <a:prstGeom prst="rect">
            <a:avLst/>
          </a:prstGeom>
          <a:noFill/>
          <a:ln w="9525">
            <a:noFill/>
            <a:miter lim="800000"/>
            <a:headEnd/>
            <a:tailEnd/>
          </a:ln>
          <a:effectLst/>
        </p:spPr>
        <p:txBody>
          <a:bodyPr/>
          <a:lstStyle/>
          <a:p>
            <a:pPr algn="ctr" eaLnBrk="1" hangingPunct="1">
              <a:spcBef>
                <a:spcPct val="20000"/>
              </a:spcBef>
            </a:pPr>
            <a:r>
              <a:rPr lang="fi-FI" sz="1400"/>
              <a:t>sallittuja merkkejä</a:t>
            </a:r>
            <a:endParaRPr lang="en-GB" sz="1400"/>
          </a:p>
        </p:txBody>
      </p:sp>
      <p:sp>
        <p:nvSpPr>
          <p:cNvPr id="142358" name="Rectangle 22"/>
          <p:cNvSpPr>
            <a:spLocks noChangeArrowheads="1"/>
          </p:cNvSpPr>
          <p:nvPr/>
        </p:nvSpPr>
        <p:spPr bwMode="auto">
          <a:xfrm>
            <a:off x="8229600" y="4548188"/>
            <a:ext cx="609600" cy="1674812"/>
          </a:xfrm>
          <a:prstGeom prst="rect">
            <a:avLst/>
          </a:prstGeom>
          <a:noFill/>
          <a:ln w="9525">
            <a:noFill/>
            <a:miter lim="800000"/>
            <a:headEnd/>
            <a:tailEnd/>
          </a:ln>
          <a:effectLst/>
        </p:spPr>
        <p:txBody>
          <a:bodyPr/>
          <a:lstStyle/>
          <a:p>
            <a:pPr algn="ctr" eaLnBrk="1" hangingPunct="1">
              <a:spcBef>
                <a:spcPct val="20000"/>
              </a:spcBef>
            </a:pPr>
            <a:r>
              <a:rPr lang="fi-FI" sz="1400"/>
              <a:t>D7</a:t>
            </a:r>
          </a:p>
          <a:p>
            <a:pPr algn="ctr" eaLnBrk="1" hangingPunct="1">
              <a:spcBef>
                <a:spcPct val="20000"/>
              </a:spcBef>
            </a:pPr>
            <a:endParaRPr lang="fi-FI" sz="500"/>
          </a:p>
          <a:p>
            <a:pPr algn="ctr" eaLnBrk="1" hangingPunct="1">
              <a:spcBef>
                <a:spcPct val="20000"/>
              </a:spcBef>
            </a:pPr>
            <a:r>
              <a:rPr lang="fi-FI" sz="1400"/>
              <a:t>D8</a:t>
            </a:r>
            <a:endParaRPr lang="en-GB" sz="1400"/>
          </a:p>
        </p:txBody>
      </p:sp>
      <p:sp>
        <p:nvSpPr>
          <p:cNvPr id="142359" name="Rectangle 23"/>
          <p:cNvSpPr>
            <a:spLocks noChangeArrowheads="1"/>
          </p:cNvSpPr>
          <p:nvPr/>
        </p:nvSpPr>
        <p:spPr bwMode="auto">
          <a:xfrm>
            <a:off x="7010400" y="4548188"/>
            <a:ext cx="1219200" cy="334962"/>
          </a:xfrm>
          <a:prstGeom prst="rect">
            <a:avLst/>
          </a:prstGeom>
          <a:noFill/>
          <a:ln w="9525">
            <a:noFill/>
            <a:miter lim="800000"/>
            <a:headEnd/>
            <a:tailEnd/>
          </a:ln>
          <a:effectLst/>
        </p:spPr>
        <p:txBody>
          <a:bodyPr/>
          <a:lstStyle/>
          <a:p>
            <a:pPr algn="ctr" eaLnBrk="1" hangingPunct="1">
              <a:spcBef>
                <a:spcPct val="20000"/>
              </a:spcBef>
            </a:pPr>
            <a:r>
              <a:rPr lang="fi-FI" sz="1400"/>
              <a:t>9</a:t>
            </a:r>
            <a:endParaRPr lang="en-GB" sz="1400"/>
          </a:p>
        </p:txBody>
      </p:sp>
      <p:sp>
        <p:nvSpPr>
          <p:cNvPr id="142360" name="Rectangle 24"/>
          <p:cNvSpPr>
            <a:spLocks noChangeArrowheads="1"/>
          </p:cNvSpPr>
          <p:nvPr/>
        </p:nvSpPr>
        <p:spPr bwMode="auto">
          <a:xfrm>
            <a:off x="6400800" y="4548188"/>
            <a:ext cx="609600" cy="1674812"/>
          </a:xfrm>
          <a:prstGeom prst="rect">
            <a:avLst/>
          </a:prstGeom>
          <a:noFill/>
          <a:ln w="9525">
            <a:noFill/>
            <a:miter lim="800000"/>
            <a:headEnd/>
            <a:tailEnd/>
          </a:ln>
          <a:effectLst/>
        </p:spPr>
        <p:txBody>
          <a:bodyPr/>
          <a:lstStyle/>
          <a:p>
            <a:pPr algn="ctr" eaLnBrk="1" hangingPunct="1">
              <a:spcBef>
                <a:spcPct val="20000"/>
              </a:spcBef>
            </a:pPr>
            <a:r>
              <a:rPr lang="fi-FI" sz="1400"/>
              <a:t>C3</a:t>
            </a:r>
          </a:p>
          <a:p>
            <a:pPr algn="ctr" eaLnBrk="1" hangingPunct="1">
              <a:spcBef>
                <a:spcPct val="20000"/>
              </a:spcBef>
            </a:pPr>
            <a:endParaRPr lang="fi-FI" sz="500"/>
          </a:p>
          <a:p>
            <a:pPr algn="ctr" eaLnBrk="1" hangingPunct="1">
              <a:spcBef>
                <a:spcPct val="20000"/>
              </a:spcBef>
            </a:pPr>
            <a:r>
              <a:rPr lang="fi-FI" sz="1400"/>
              <a:t>C4</a:t>
            </a:r>
            <a:endParaRPr lang="en-GB" sz="1400"/>
          </a:p>
        </p:txBody>
      </p:sp>
      <p:sp>
        <p:nvSpPr>
          <p:cNvPr id="142361" name="Rectangle 25"/>
          <p:cNvSpPr>
            <a:spLocks noChangeArrowheads="1"/>
          </p:cNvSpPr>
          <p:nvPr/>
        </p:nvSpPr>
        <p:spPr bwMode="auto">
          <a:xfrm>
            <a:off x="5105400" y="4548188"/>
            <a:ext cx="1295400" cy="334962"/>
          </a:xfrm>
          <a:prstGeom prst="rect">
            <a:avLst/>
          </a:prstGeom>
          <a:noFill/>
          <a:ln w="9525">
            <a:noFill/>
            <a:miter lim="800000"/>
            <a:headEnd/>
            <a:tailEnd/>
          </a:ln>
          <a:effectLst/>
        </p:spPr>
        <p:txBody>
          <a:bodyPr/>
          <a:lstStyle/>
          <a:p>
            <a:pPr algn="ctr" eaLnBrk="1" hangingPunct="1">
              <a:spcBef>
                <a:spcPct val="20000"/>
              </a:spcBef>
            </a:pPr>
            <a:r>
              <a:rPr lang="fi-FI" sz="1400"/>
              <a:t>10</a:t>
            </a:r>
            <a:endParaRPr lang="en-GB" sz="1400"/>
          </a:p>
        </p:txBody>
      </p:sp>
      <p:sp>
        <p:nvSpPr>
          <p:cNvPr id="142362" name="Rectangle 26"/>
          <p:cNvSpPr>
            <a:spLocks noChangeArrowheads="1"/>
          </p:cNvSpPr>
          <p:nvPr/>
        </p:nvSpPr>
        <p:spPr bwMode="auto">
          <a:xfrm>
            <a:off x="4572000" y="4548188"/>
            <a:ext cx="533400" cy="1674812"/>
          </a:xfrm>
          <a:prstGeom prst="rect">
            <a:avLst/>
          </a:prstGeom>
          <a:noFill/>
          <a:ln w="9525">
            <a:noFill/>
            <a:miter lim="800000"/>
            <a:headEnd/>
            <a:tailEnd/>
          </a:ln>
          <a:effectLst/>
        </p:spPr>
        <p:txBody>
          <a:bodyPr/>
          <a:lstStyle/>
          <a:p>
            <a:pPr algn="ctr" eaLnBrk="1" hangingPunct="1">
              <a:spcBef>
                <a:spcPct val="20000"/>
              </a:spcBef>
            </a:pPr>
            <a:r>
              <a:rPr lang="fi-FI" sz="1400"/>
              <a:t>B8</a:t>
            </a:r>
          </a:p>
          <a:p>
            <a:pPr algn="ctr" eaLnBrk="1" hangingPunct="1">
              <a:spcBef>
                <a:spcPct val="20000"/>
              </a:spcBef>
            </a:pPr>
            <a:endParaRPr lang="fi-FI" sz="500"/>
          </a:p>
          <a:p>
            <a:pPr algn="ctr" eaLnBrk="1" hangingPunct="1">
              <a:spcBef>
                <a:spcPct val="20000"/>
              </a:spcBef>
            </a:pPr>
            <a:r>
              <a:rPr lang="fi-FI" sz="1400"/>
              <a:t>B9</a:t>
            </a:r>
          </a:p>
          <a:p>
            <a:pPr algn="ctr" eaLnBrk="1" hangingPunct="1">
              <a:spcBef>
                <a:spcPct val="20000"/>
              </a:spcBef>
            </a:pPr>
            <a:endParaRPr lang="fi-FI" sz="500"/>
          </a:p>
          <a:p>
            <a:pPr algn="ctr" eaLnBrk="1" hangingPunct="1">
              <a:spcBef>
                <a:spcPct val="20000"/>
              </a:spcBef>
            </a:pPr>
            <a:r>
              <a:rPr lang="fi-FI" sz="1400"/>
              <a:t>B10</a:t>
            </a:r>
          </a:p>
          <a:p>
            <a:pPr algn="ctr" eaLnBrk="1" hangingPunct="1">
              <a:spcBef>
                <a:spcPct val="20000"/>
              </a:spcBef>
            </a:pPr>
            <a:endParaRPr lang="fi-FI" sz="500"/>
          </a:p>
          <a:p>
            <a:pPr algn="ctr" eaLnBrk="1" hangingPunct="1">
              <a:spcBef>
                <a:spcPct val="20000"/>
              </a:spcBef>
            </a:pPr>
            <a:r>
              <a:rPr lang="fi-FI" sz="1400"/>
              <a:t>B11</a:t>
            </a:r>
          </a:p>
          <a:p>
            <a:pPr algn="ctr" eaLnBrk="1" hangingPunct="1">
              <a:spcBef>
                <a:spcPct val="20000"/>
              </a:spcBef>
            </a:pPr>
            <a:endParaRPr lang="fi-FI" sz="500"/>
          </a:p>
          <a:p>
            <a:pPr algn="ctr" eaLnBrk="1" hangingPunct="1">
              <a:spcBef>
                <a:spcPct val="20000"/>
              </a:spcBef>
            </a:pPr>
            <a:r>
              <a:rPr lang="fi-FI" sz="1400"/>
              <a:t>B12</a:t>
            </a:r>
            <a:endParaRPr lang="en-GB" sz="1400"/>
          </a:p>
        </p:txBody>
      </p:sp>
      <p:sp>
        <p:nvSpPr>
          <p:cNvPr id="142363" name="Rectangle 27"/>
          <p:cNvSpPr>
            <a:spLocks noChangeArrowheads="1"/>
          </p:cNvSpPr>
          <p:nvPr/>
        </p:nvSpPr>
        <p:spPr bwMode="auto">
          <a:xfrm>
            <a:off x="3276600" y="4548188"/>
            <a:ext cx="1295400" cy="334962"/>
          </a:xfrm>
          <a:prstGeom prst="rect">
            <a:avLst/>
          </a:prstGeom>
          <a:noFill/>
          <a:ln w="9525">
            <a:noFill/>
            <a:miter lim="800000"/>
            <a:headEnd/>
            <a:tailEnd/>
          </a:ln>
          <a:effectLst/>
        </p:spPr>
        <p:txBody>
          <a:bodyPr/>
          <a:lstStyle/>
          <a:p>
            <a:pPr algn="ctr" eaLnBrk="1" hangingPunct="1">
              <a:spcBef>
                <a:spcPct val="20000"/>
              </a:spcBef>
            </a:pPr>
            <a:r>
              <a:rPr lang="fi-FI" sz="1400"/>
              <a:t>&lt;500</a:t>
            </a:r>
            <a:endParaRPr lang="en-GB" sz="1400"/>
          </a:p>
        </p:txBody>
      </p:sp>
      <p:sp>
        <p:nvSpPr>
          <p:cNvPr id="142364" name="Rectangle 28"/>
          <p:cNvSpPr>
            <a:spLocks noChangeArrowheads="1"/>
          </p:cNvSpPr>
          <p:nvPr/>
        </p:nvSpPr>
        <p:spPr bwMode="auto">
          <a:xfrm>
            <a:off x="2743200" y="4548188"/>
            <a:ext cx="533400" cy="1674812"/>
          </a:xfrm>
          <a:prstGeom prst="rect">
            <a:avLst/>
          </a:prstGeom>
          <a:noFill/>
          <a:ln w="9525">
            <a:noFill/>
            <a:miter lim="800000"/>
            <a:headEnd/>
            <a:tailEnd/>
          </a:ln>
          <a:effectLst/>
        </p:spPr>
        <p:txBody>
          <a:bodyPr/>
          <a:lstStyle/>
          <a:p>
            <a:pPr algn="ctr" eaLnBrk="1" hangingPunct="1">
              <a:spcBef>
                <a:spcPct val="20000"/>
              </a:spcBef>
            </a:pPr>
            <a:r>
              <a:rPr lang="fi-FI" sz="1400"/>
              <a:t>A8</a:t>
            </a:r>
            <a:endParaRPr lang="en-GB" sz="1400"/>
          </a:p>
        </p:txBody>
      </p:sp>
      <p:sp>
        <p:nvSpPr>
          <p:cNvPr id="142365" name="Rectangle 29"/>
          <p:cNvSpPr>
            <a:spLocks noChangeArrowheads="1"/>
          </p:cNvSpPr>
          <p:nvPr/>
        </p:nvSpPr>
        <p:spPr bwMode="auto">
          <a:xfrm>
            <a:off x="1447800" y="4548188"/>
            <a:ext cx="1295400" cy="1674812"/>
          </a:xfrm>
          <a:prstGeom prst="rect">
            <a:avLst/>
          </a:prstGeom>
          <a:noFill/>
          <a:ln w="9525">
            <a:noFill/>
            <a:miter lim="800000"/>
            <a:headEnd/>
            <a:tailEnd/>
          </a:ln>
          <a:effectLst/>
        </p:spPr>
        <p:txBody>
          <a:bodyPr/>
          <a:lstStyle/>
          <a:p>
            <a:pPr algn="ctr" eaLnBrk="1" hangingPunct="1">
              <a:spcBef>
                <a:spcPct val="20000"/>
              </a:spcBef>
            </a:pPr>
            <a:r>
              <a:rPr lang="fi-FI" sz="1400"/>
              <a:t>10 – 5000</a:t>
            </a:r>
            <a:endParaRPr lang="en-GB" sz="1400"/>
          </a:p>
        </p:txBody>
      </p:sp>
      <p:sp>
        <p:nvSpPr>
          <p:cNvPr id="142366" name="Rectangle 30"/>
          <p:cNvSpPr>
            <a:spLocks noChangeArrowheads="1"/>
          </p:cNvSpPr>
          <p:nvPr/>
        </p:nvSpPr>
        <p:spPr bwMode="auto">
          <a:xfrm>
            <a:off x="304800" y="4548188"/>
            <a:ext cx="1143000" cy="1674812"/>
          </a:xfrm>
          <a:prstGeom prst="rect">
            <a:avLst/>
          </a:prstGeom>
          <a:noFill/>
          <a:ln w="9525">
            <a:noFill/>
            <a:miter lim="800000"/>
            <a:headEnd/>
            <a:tailEnd/>
          </a:ln>
          <a:effectLst/>
        </p:spPr>
        <p:txBody>
          <a:bodyPr/>
          <a:lstStyle/>
          <a:p>
            <a:pPr algn="ctr" eaLnBrk="1" hangingPunct="1">
              <a:spcBef>
                <a:spcPct val="20000"/>
              </a:spcBef>
            </a:pPr>
            <a:r>
              <a:rPr lang="fi-FI" sz="1400" dirty="0" smtClean="0"/>
              <a:t>Veloitettava </a:t>
            </a:r>
            <a:r>
              <a:rPr lang="fi-FI" sz="1400" dirty="0"/>
              <a:t>summa</a:t>
            </a:r>
            <a:endParaRPr lang="en-GB" sz="1400" dirty="0"/>
          </a:p>
        </p:txBody>
      </p:sp>
      <p:sp>
        <p:nvSpPr>
          <p:cNvPr id="142367" name="Rectangle 31"/>
          <p:cNvSpPr>
            <a:spLocks noChangeArrowheads="1"/>
          </p:cNvSpPr>
          <p:nvPr/>
        </p:nvSpPr>
        <p:spPr bwMode="auto">
          <a:xfrm>
            <a:off x="8229600" y="3070227"/>
            <a:ext cx="609600" cy="1477963"/>
          </a:xfrm>
          <a:prstGeom prst="rect">
            <a:avLst/>
          </a:prstGeom>
          <a:noFill/>
          <a:ln w="9525">
            <a:noFill/>
            <a:miter lim="800000"/>
            <a:headEnd/>
            <a:tailEnd/>
          </a:ln>
          <a:effectLst/>
        </p:spPr>
        <p:txBody>
          <a:bodyPr/>
          <a:lstStyle/>
          <a:p>
            <a:pPr algn="ctr" eaLnBrk="1" hangingPunct="1">
              <a:spcBef>
                <a:spcPct val="20000"/>
              </a:spcBef>
            </a:pPr>
            <a:r>
              <a:rPr lang="fi-FI" sz="1400"/>
              <a:t>D4</a:t>
            </a:r>
          </a:p>
          <a:p>
            <a:pPr algn="ctr" eaLnBrk="1" hangingPunct="1">
              <a:spcBef>
                <a:spcPct val="20000"/>
              </a:spcBef>
            </a:pPr>
            <a:endParaRPr lang="fi-FI" sz="1200"/>
          </a:p>
          <a:p>
            <a:pPr algn="ctr" eaLnBrk="1" hangingPunct="1">
              <a:spcBef>
                <a:spcPct val="20000"/>
              </a:spcBef>
            </a:pPr>
            <a:r>
              <a:rPr lang="fi-FI" sz="1400"/>
              <a:t>D5</a:t>
            </a:r>
          </a:p>
          <a:p>
            <a:pPr algn="ctr" eaLnBrk="1" hangingPunct="1">
              <a:spcBef>
                <a:spcPct val="20000"/>
              </a:spcBef>
            </a:pPr>
            <a:endParaRPr lang="fi-FI" sz="500"/>
          </a:p>
          <a:p>
            <a:pPr algn="ctr" eaLnBrk="1" hangingPunct="1">
              <a:spcBef>
                <a:spcPct val="20000"/>
              </a:spcBef>
            </a:pPr>
            <a:r>
              <a:rPr lang="fi-FI" sz="1400"/>
              <a:t>D6</a:t>
            </a:r>
            <a:endParaRPr lang="en-GB" sz="1400"/>
          </a:p>
        </p:txBody>
      </p:sp>
      <p:sp>
        <p:nvSpPr>
          <p:cNvPr id="142368" name="Rectangle 32"/>
          <p:cNvSpPr>
            <a:spLocks noChangeArrowheads="1"/>
          </p:cNvSpPr>
          <p:nvPr/>
        </p:nvSpPr>
        <p:spPr bwMode="auto">
          <a:xfrm>
            <a:off x="7010400" y="3070227"/>
            <a:ext cx="1219200" cy="461963"/>
          </a:xfrm>
          <a:prstGeom prst="rect">
            <a:avLst/>
          </a:prstGeom>
          <a:noFill/>
          <a:ln w="9525">
            <a:noFill/>
            <a:miter lim="800000"/>
            <a:headEnd/>
            <a:tailEnd/>
          </a:ln>
          <a:effectLst/>
        </p:spPr>
        <p:txBody>
          <a:bodyPr/>
          <a:lstStyle/>
          <a:p>
            <a:pPr algn="ctr" eaLnBrk="1" hangingPunct="1">
              <a:spcBef>
                <a:spcPct val="20000"/>
              </a:spcBef>
            </a:pPr>
            <a:r>
              <a:rPr lang="fi-FI" sz="1400"/>
              <a:t>15 digit</a:t>
            </a:r>
            <a:endParaRPr lang="en-GB" sz="1400"/>
          </a:p>
        </p:txBody>
      </p:sp>
      <p:sp>
        <p:nvSpPr>
          <p:cNvPr id="142369" name="Rectangle 33"/>
          <p:cNvSpPr>
            <a:spLocks noChangeArrowheads="1"/>
          </p:cNvSpPr>
          <p:nvPr/>
        </p:nvSpPr>
        <p:spPr bwMode="auto">
          <a:xfrm>
            <a:off x="6400800" y="3070227"/>
            <a:ext cx="609600" cy="1477963"/>
          </a:xfrm>
          <a:prstGeom prst="rect">
            <a:avLst/>
          </a:prstGeom>
          <a:noFill/>
          <a:ln w="9525">
            <a:noFill/>
            <a:miter lim="800000"/>
            <a:headEnd/>
            <a:tailEnd/>
          </a:ln>
          <a:effectLst/>
        </p:spPr>
        <p:txBody>
          <a:bodyPr/>
          <a:lstStyle/>
          <a:p>
            <a:pPr algn="ctr" eaLnBrk="1" hangingPunct="1">
              <a:spcBef>
                <a:spcPct val="20000"/>
              </a:spcBef>
              <a:buFontTx/>
              <a:buChar char="•"/>
            </a:pPr>
            <a:endParaRPr lang="en-US" sz="1400"/>
          </a:p>
        </p:txBody>
      </p:sp>
      <p:sp>
        <p:nvSpPr>
          <p:cNvPr id="142370" name="Rectangle 34"/>
          <p:cNvSpPr>
            <a:spLocks noChangeArrowheads="1"/>
          </p:cNvSpPr>
          <p:nvPr/>
        </p:nvSpPr>
        <p:spPr bwMode="auto">
          <a:xfrm>
            <a:off x="5105400" y="3070227"/>
            <a:ext cx="1295400" cy="461963"/>
          </a:xfrm>
          <a:prstGeom prst="rect">
            <a:avLst/>
          </a:prstGeom>
          <a:noFill/>
          <a:ln w="9525">
            <a:noFill/>
            <a:miter lim="800000"/>
            <a:headEnd/>
            <a:tailEnd/>
          </a:ln>
          <a:effectLst/>
        </p:spPr>
        <p:txBody>
          <a:bodyPr/>
          <a:lstStyle/>
          <a:p>
            <a:pPr algn="ctr" eaLnBrk="1" hangingPunct="1">
              <a:spcBef>
                <a:spcPct val="20000"/>
              </a:spcBef>
              <a:buFontTx/>
              <a:buChar char="•"/>
            </a:pPr>
            <a:endParaRPr lang="en-US" sz="1400"/>
          </a:p>
        </p:txBody>
      </p:sp>
      <p:sp>
        <p:nvSpPr>
          <p:cNvPr id="142371" name="Rectangle 35"/>
          <p:cNvSpPr>
            <a:spLocks noChangeArrowheads="1"/>
          </p:cNvSpPr>
          <p:nvPr/>
        </p:nvSpPr>
        <p:spPr bwMode="auto">
          <a:xfrm>
            <a:off x="4572000" y="3070227"/>
            <a:ext cx="533400" cy="1477963"/>
          </a:xfrm>
          <a:prstGeom prst="rect">
            <a:avLst/>
          </a:prstGeom>
          <a:noFill/>
          <a:ln w="9525">
            <a:noFill/>
            <a:miter lim="800000"/>
            <a:headEnd/>
            <a:tailEnd/>
          </a:ln>
          <a:effectLst/>
        </p:spPr>
        <p:txBody>
          <a:bodyPr/>
          <a:lstStyle/>
          <a:p>
            <a:pPr algn="ctr" eaLnBrk="1" hangingPunct="1">
              <a:spcBef>
                <a:spcPct val="20000"/>
              </a:spcBef>
            </a:pPr>
            <a:r>
              <a:rPr lang="fi-FI" sz="1400"/>
              <a:t>B4</a:t>
            </a:r>
          </a:p>
          <a:p>
            <a:pPr algn="ctr" eaLnBrk="1" hangingPunct="1">
              <a:spcBef>
                <a:spcPct val="20000"/>
              </a:spcBef>
            </a:pPr>
            <a:endParaRPr lang="fi-FI" sz="1400"/>
          </a:p>
          <a:p>
            <a:pPr algn="ctr" eaLnBrk="1" hangingPunct="1">
              <a:spcBef>
                <a:spcPct val="20000"/>
              </a:spcBef>
            </a:pPr>
            <a:r>
              <a:rPr lang="fi-FI" sz="1400"/>
              <a:t>B5</a:t>
            </a:r>
          </a:p>
          <a:p>
            <a:pPr algn="ctr" eaLnBrk="1" hangingPunct="1">
              <a:spcBef>
                <a:spcPct val="20000"/>
              </a:spcBef>
            </a:pPr>
            <a:endParaRPr lang="fi-FI" sz="500"/>
          </a:p>
          <a:p>
            <a:pPr algn="ctr" eaLnBrk="1" hangingPunct="1">
              <a:spcBef>
                <a:spcPct val="20000"/>
              </a:spcBef>
            </a:pPr>
            <a:r>
              <a:rPr lang="fi-FI" sz="1400"/>
              <a:t>B6</a:t>
            </a:r>
          </a:p>
          <a:p>
            <a:pPr algn="ctr" eaLnBrk="1" hangingPunct="1">
              <a:spcBef>
                <a:spcPct val="20000"/>
              </a:spcBef>
            </a:pPr>
            <a:endParaRPr lang="fi-FI" sz="500"/>
          </a:p>
          <a:p>
            <a:pPr algn="ctr" eaLnBrk="1" hangingPunct="1">
              <a:spcBef>
                <a:spcPct val="20000"/>
              </a:spcBef>
            </a:pPr>
            <a:r>
              <a:rPr lang="fi-FI" sz="1400"/>
              <a:t>B7</a:t>
            </a:r>
            <a:endParaRPr lang="en-GB" sz="1400"/>
          </a:p>
        </p:txBody>
      </p:sp>
      <p:sp>
        <p:nvSpPr>
          <p:cNvPr id="142372" name="Rectangle 36"/>
          <p:cNvSpPr>
            <a:spLocks noChangeArrowheads="1"/>
          </p:cNvSpPr>
          <p:nvPr/>
        </p:nvSpPr>
        <p:spPr bwMode="auto">
          <a:xfrm>
            <a:off x="3276600" y="3070227"/>
            <a:ext cx="1295400" cy="461963"/>
          </a:xfrm>
          <a:prstGeom prst="rect">
            <a:avLst/>
          </a:prstGeom>
          <a:noFill/>
          <a:ln w="9525">
            <a:noFill/>
            <a:miter lim="800000"/>
            <a:headEnd/>
            <a:tailEnd/>
          </a:ln>
          <a:effectLst/>
        </p:spPr>
        <p:txBody>
          <a:bodyPr/>
          <a:lstStyle/>
          <a:p>
            <a:pPr algn="ctr" eaLnBrk="1" hangingPunct="1">
              <a:spcBef>
                <a:spcPct val="20000"/>
              </a:spcBef>
            </a:pPr>
            <a:r>
              <a:rPr lang="fi-FI" sz="1400"/>
              <a:t>&lt;16 digit</a:t>
            </a:r>
            <a:endParaRPr lang="en-GB" sz="1400"/>
          </a:p>
        </p:txBody>
      </p:sp>
      <p:sp>
        <p:nvSpPr>
          <p:cNvPr id="142373" name="Rectangle 37"/>
          <p:cNvSpPr>
            <a:spLocks noChangeArrowheads="1"/>
          </p:cNvSpPr>
          <p:nvPr/>
        </p:nvSpPr>
        <p:spPr bwMode="auto">
          <a:xfrm>
            <a:off x="2743200" y="3070227"/>
            <a:ext cx="533400" cy="1477963"/>
          </a:xfrm>
          <a:prstGeom prst="rect">
            <a:avLst/>
          </a:prstGeom>
          <a:noFill/>
          <a:ln w="9525">
            <a:noFill/>
            <a:miter lim="800000"/>
            <a:headEnd/>
            <a:tailEnd/>
          </a:ln>
          <a:effectLst/>
        </p:spPr>
        <p:txBody>
          <a:bodyPr/>
          <a:lstStyle/>
          <a:p>
            <a:pPr algn="ctr" eaLnBrk="1" hangingPunct="1">
              <a:spcBef>
                <a:spcPct val="20000"/>
              </a:spcBef>
            </a:pPr>
            <a:r>
              <a:rPr lang="fi-FI" sz="1400"/>
              <a:t>A3</a:t>
            </a:r>
            <a:endParaRPr lang="en-GB" sz="1400"/>
          </a:p>
          <a:p>
            <a:pPr algn="ctr" eaLnBrk="1" hangingPunct="1">
              <a:spcBef>
                <a:spcPct val="20000"/>
              </a:spcBef>
            </a:pPr>
            <a:endParaRPr lang="fi-FI" sz="900"/>
          </a:p>
          <a:p>
            <a:pPr algn="ctr" eaLnBrk="1" hangingPunct="1">
              <a:spcBef>
                <a:spcPct val="20000"/>
              </a:spcBef>
            </a:pPr>
            <a:r>
              <a:rPr lang="fi-FI" sz="1400"/>
              <a:t>A4</a:t>
            </a:r>
          </a:p>
          <a:p>
            <a:pPr algn="ctr" eaLnBrk="1" hangingPunct="1">
              <a:spcBef>
                <a:spcPct val="20000"/>
              </a:spcBef>
            </a:pPr>
            <a:r>
              <a:rPr lang="fi-FI" sz="1400"/>
              <a:t>A5</a:t>
            </a:r>
          </a:p>
          <a:p>
            <a:pPr algn="ctr" eaLnBrk="1" hangingPunct="1">
              <a:spcBef>
                <a:spcPct val="20000"/>
              </a:spcBef>
            </a:pPr>
            <a:r>
              <a:rPr lang="fi-FI" sz="1400"/>
              <a:t>A6</a:t>
            </a:r>
          </a:p>
          <a:p>
            <a:pPr algn="ctr" eaLnBrk="1" hangingPunct="1">
              <a:spcBef>
                <a:spcPct val="20000"/>
              </a:spcBef>
            </a:pPr>
            <a:r>
              <a:rPr lang="fi-FI" sz="1400"/>
              <a:t>A7</a:t>
            </a:r>
            <a:endParaRPr lang="en-GB" sz="1400"/>
          </a:p>
        </p:txBody>
      </p:sp>
      <p:sp>
        <p:nvSpPr>
          <p:cNvPr id="142374" name="Rectangle 38"/>
          <p:cNvSpPr>
            <a:spLocks noChangeArrowheads="1"/>
          </p:cNvSpPr>
          <p:nvPr/>
        </p:nvSpPr>
        <p:spPr bwMode="auto">
          <a:xfrm>
            <a:off x="1447800" y="3070227"/>
            <a:ext cx="1295400" cy="461963"/>
          </a:xfrm>
          <a:prstGeom prst="rect">
            <a:avLst/>
          </a:prstGeom>
          <a:noFill/>
          <a:ln w="9525">
            <a:noFill/>
            <a:miter lim="800000"/>
            <a:headEnd/>
            <a:tailEnd/>
          </a:ln>
          <a:effectLst/>
        </p:spPr>
        <p:txBody>
          <a:bodyPr/>
          <a:lstStyle/>
          <a:p>
            <a:pPr algn="ctr" eaLnBrk="1" hangingPunct="1">
              <a:spcBef>
                <a:spcPct val="20000"/>
              </a:spcBef>
            </a:pPr>
            <a:r>
              <a:rPr lang="fi-FI" sz="1400"/>
              <a:t>16 digit</a:t>
            </a:r>
            <a:endParaRPr lang="en-GB" sz="1400"/>
          </a:p>
        </p:txBody>
      </p:sp>
      <p:sp>
        <p:nvSpPr>
          <p:cNvPr id="142375" name="Rectangle 39"/>
          <p:cNvSpPr>
            <a:spLocks noChangeArrowheads="1"/>
          </p:cNvSpPr>
          <p:nvPr/>
        </p:nvSpPr>
        <p:spPr bwMode="auto">
          <a:xfrm>
            <a:off x="304800" y="3070227"/>
            <a:ext cx="1143000" cy="1477963"/>
          </a:xfrm>
          <a:prstGeom prst="rect">
            <a:avLst/>
          </a:prstGeom>
          <a:noFill/>
          <a:ln w="9525">
            <a:noFill/>
            <a:miter lim="800000"/>
            <a:headEnd/>
            <a:tailEnd/>
          </a:ln>
          <a:effectLst/>
        </p:spPr>
        <p:txBody>
          <a:bodyPr/>
          <a:lstStyle/>
          <a:p>
            <a:pPr algn="ctr" eaLnBrk="1" hangingPunct="1">
              <a:spcBef>
                <a:spcPct val="20000"/>
              </a:spcBef>
            </a:pPr>
            <a:r>
              <a:rPr lang="fi-FI" sz="1400"/>
              <a:t>Kortin numero</a:t>
            </a:r>
            <a:endParaRPr lang="en-GB" sz="1400"/>
          </a:p>
        </p:txBody>
      </p:sp>
      <p:sp>
        <p:nvSpPr>
          <p:cNvPr id="142376" name="Rectangle 40"/>
          <p:cNvSpPr>
            <a:spLocks noChangeArrowheads="1"/>
          </p:cNvSpPr>
          <p:nvPr/>
        </p:nvSpPr>
        <p:spPr bwMode="auto">
          <a:xfrm>
            <a:off x="8229600" y="2000252"/>
            <a:ext cx="609600" cy="1069975"/>
          </a:xfrm>
          <a:prstGeom prst="rect">
            <a:avLst/>
          </a:prstGeom>
          <a:noFill/>
          <a:ln w="9525">
            <a:noFill/>
            <a:miter lim="800000"/>
            <a:headEnd/>
            <a:tailEnd/>
          </a:ln>
          <a:effectLst/>
        </p:spPr>
        <p:txBody>
          <a:bodyPr/>
          <a:lstStyle/>
          <a:p>
            <a:pPr algn="ctr" eaLnBrk="1" hangingPunct="1">
              <a:spcBef>
                <a:spcPct val="20000"/>
              </a:spcBef>
            </a:pPr>
            <a:r>
              <a:rPr lang="fi-FI" sz="1400"/>
              <a:t>D1</a:t>
            </a:r>
          </a:p>
          <a:p>
            <a:pPr algn="ctr" eaLnBrk="1" hangingPunct="1">
              <a:spcBef>
                <a:spcPct val="20000"/>
              </a:spcBef>
            </a:pPr>
            <a:endParaRPr lang="fi-FI" sz="500"/>
          </a:p>
          <a:p>
            <a:pPr algn="ctr" eaLnBrk="1" hangingPunct="1">
              <a:spcBef>
                <a:spcPct val="20000"/>
              </a:spcBef>
            </a:pPr>
            <a:r>
              <a:rPr lang="fi-FI" sz="1400"/>
              <a:t>D2</a:t>
            </a:r>
          </a:p>
          <a:p>
            <a:pPr algn="ctr" eaLnBrk="1" hangingPunct="1">
              <a:spcBef>
                <a:spcPct val="20000"/>
              </a:spcBef>
            </a:pPr>
            <a:endParaRPr lang="fi-FI" sz="500"/>
          </a:p>
          <a:p>
            <a:pPr algn="ctr" eaLnBrk="1" hangingPunct="1">
              <a:spcBef>
                <a:spcPct val="20000"/>
              </a:spcBef>
            </a:pPr>
            <a:r>
              <a:rPr lang="fi-FI" sz="1400"/>
              <a:t>D3</a:t>
            </a:r>
            <a:endParaRPr lang="en-GB" sz="1400"/>
          </a:p>
        </p:txBody>
      </p:sp>
      <p:sp>
        <p:nvSpPr>
          <p:cNvPr id="142377" name="Rectangle 41"/>
          <p:cNvSpPr>
            <a:spLocks noChangeArrowheads="1"/>
          </p:cNvSpPr>
          <p:nvPr/>
        </p:nvSpPr>
        <p:spPr bwMode="auto">
          <a:xfrm>
            <a:off x="7010400" y="2000252"/>
            <a:ext cx="1219200" cy="334963"/>
          </a:xfrm>
          <a:prstGeom prst="rect">
            <a:avLst/>
          </a:prstGeom>
          <a:noFill/>
          <a:ln w="9525">
            <a:noFill/>
            <a:miter lim="800000"/>
            <a:headEnd/>
            <a:tailEnd/>
          </a:ln>
          <a:effectLst/>
        </p:spPr>
        <p:txBody>
          <a:bodyPr/>
          <a:lstStyle/>
          <a:p>
            <a:pPr algn="ctr" eaLnBrk="1" hangingPunct="1">
              <a:spcBef>
                <a:spcPct val="20000"/>
              </a:spcBef>
            </a:pPr>
            <a:r>
              <a:rPr lang="fi-FI" sz="1400"/>
              <a:t>1 kpl char</a:t>
            </a:r>
            <a:endParaRPr lang="en-GB" sz="1400"/>
          </a:p>
        </p:txBody>
      </p:sp>
      <p:sp>
        <p:nvSpPr>
          <p:cNvPr id="142378" name="Rectangle 42"/>
          <p:cNvSpPr>
            <a:spLocks noChangeArrowheads="1"/>
          </p:cNvSpPr>
          <p:nvPr/>
        </p:nvSpPr>
        <p:spPr bwMode="auto">
          <a:xfrm>
            <a:off x="6400800" y="2000252"/>
            <a:ext cx="609600" cy="1069975"/>
          </a:xfrm>
          <a:prstGeom prst="rect">
            <a:avLst/>
          </a:prstGeom>
          <a:noFill/>
          <a:ln w="9525">
            <a:noFill/>
            <a:miter lim="800000"/>
            <a:headEnd/>
            <a:tailEnd/>
          </a:ln>
          <a:effectLst/>
        </p:spPr>
        <p:txBody>
          <a:bodyPr/>
          <a:lstStyle/>
          <a:p>
            <a:pPr algn="ctr" eaLnBrk="1" hangingPunct="1">
              <a:spcBef>
                <a:spcPct val="20000"/>
              </a:spcBef>
            </a:pPr>
            <a:r>
              <a:rPr lang="fi-FI" sz="1400"/>
              <a:t>C1</a:t>
            </a:r>
          </a:p>
          <a:p>
            <a:pPr algn="ctr" eaLnBrk="1" hangingPunct="1">
              <a:spcBef>
                <a:spcPct val="20000"/>
              </a:spcBef>
            </a:pPr>
            <a:endParaRPr lang="fi-FI" sz="500"/>
          </a:p>
          <a:p>
            <a:pPr algn="ctr" eaLnBrk="1" hangingPunct="1">
              <a:spcBef>
                <a:spcPct val="20000"/>
              </a:spcBef>
            </a:pPr>
            <a:r>
              <a:rPr lang="fi-FI" sz="1400"/>
              <a:t>C2</a:t>
            </a:r>
            <a:endParaRPr lang="en-GB" sz="1400"/>
          </a:p>
        </p:txBody>
      </p:sp>
      <p:sp>
        <p:nvSpPr>
          <p:cNvPr id="142379" name="Rectangle 43"/>
          <p:cNvSpPr>
            <a:spLocks noChangeArrowheads="1"/>
          </p:cNvSpPr>
          <p:nvPr/>
        </p:nvSpPr>
        <p:spPr bwMode="auto">
          <a:xfrm>
            <a:off x="5105400" y="2000252"/>
            <a:ext cx="1295400" cy="334963"/>
          </a:xfrm>
          <a:prstGeom prst="rect">
            <a:avLst/>
          </a:prstGeom>
          <a:noFill/>
          <a:ln w="9525">
            <a:noFill/>
            <a:miter lim="800000"/>
            <a:headEnd/>
            <a:tailEnd/>
          </a:ln>
          <a:effectLst/>
        </p:spPr>
        <p:txBody>
          <a:bodyPr/>
          <a:lstStyle/>
          <a:p>
            <a:pPr algn="ctr" eaLnBrk="1" hangingPunct="1">
              <a:spcBef>
                <a:spcPct val="20000"/>
              </a:spcBef>
            </a:pPr>
            <a:r>
              <a:rPr lang="fi-FI" sz="1400"/>
              <a:t>2 kpl char</a:t>
            </a:r>
            <a:endParaRPr lang="en-GB" sz="1400"/>
          </a:p>
        </p:txBody>
      </p:sp>
      <p:sp>
        <p:nvSpPr>
          <p:cNvPr id="142380" name="Rectangle 44"/>
          <p:cNvSpPr>
            <a:spLocks noChangeArrowheads="1"/>
          </p:cNvSpPr>
          <p:nvPr/>
        </p:nvSpPr>
        <p:spPr bwMode="auto">
          <a:xfrm>
            <a:off x="4572000" y="2000252"/>
            <a:ext cx="533400" cy="1069975"/>
          </a:xfrm>
          <a:prstGeom prst="rect">
            <a:avLst/>
          </a:prstGeom>
          <a:noFill/>
          <a:ln w="9525">
            <a:noFill/>
            <a:miter lim="800000"/>
            <a:headEnd/>
            <a:tailEnd/>
          </a:ln>
          <a:effectLst/>
        </p:spPr>
        <p:txBody>
          <a:bodyPr/>
          <a:lstStyle/>
          <a:p>
            <a:pPr algn="ctr" eaLnBrk="1" hangingPunct="1">
              <a:spcBef>
                <a:spcPct val="20000"/>
              </a:spcBef>
            </a:pPr>
            <a:r>
              <a:rPr lang="fi-FI" sz="1400"/>
              <a:t>B1</a:t>
            </a:r>
          </a:p>
          <a:p>
            <a:pPr algn="ctr" eaLnBrk="1" hangingPunct="1">
              <a:spcBef>
                <a:spcPct val="20000"/>
              </a:spcBef>
            </a:pPr>
            <a:endParaRPr lang="fi-FI" sz="500"/>
          </a:p>
          <a:p>
            <a:pPr algn="ctr" eaLnBrk="1" hangingPunct="1">
              <a:spcBef>
                <a:spcPct val="20000"/>
              </a:spcBef>
            </a:pPr>
            <a:r>
              <a:rPr lang="fi-FI" sz="1400"/>
              <a:t>B2</a:t>
            </a:r>
          </a:p>
          <a:p>
            <a:pPr algn="ctr" eaLnBrk="1" hangingPunct="1">
              <a:spcBef>
                <a:spcPct val="20000"/>
              </a:spcBef>
            </a:pPr>
            <a:endParaRPr lang="fi-FI" sz="900"/>
          </a:p>
          <a:p>
            <a:pPr algn="ctr" eaLnBrk="1" hangingPunct="1">
              <a:spcBef>
                <a:spcPct val="20000"/>
              </a:spcBef>
            </a:pPr>
            <a:r>
              <a:rPr lang="fi-FI" sz="1400"/>
              <a:t>B3</a:t>
            </a:r>
            <a:endParaRPr lang="en-GB" sz="1400"/>
          </a:p>
        </p:txBody>
      </p:sp>
      <p:sp>
        <p:nvSpPr>
          <p:cNvPr id="142381" name="Rectangle 45"/>
          <p:cNvSpPr>
            <a:spLocks noChangeArrowheads="1"/>
          </p:cNvSpPr>
          <p:nvPr/>
        </p:nvSpPr>
        <p:spPr bwMode="auto">
          <a:xfrm>
            <a:off x="3276600" y="2000252"/>
            <a:ext cx="1295400" cy="334963"/>
          </a:xfrm>
          <a:prstGeom prst="rect">
            <a:avLst/>
          </a:prstGeom>
          <a:noFill/>
          <a:ln w="9525">
            <a:noFill/>
            <a:miter lim="800000"/>
            <a:headEnd/>
            <a:tailEnd/>
          </a:ln>
          <a:effectLst/>
        </p:spPr>
        <p:txBody>
          <a:bodyPr/>
          <a:lstStyle/>
          <a:p>
            <a:pPr algn="ctr" eaLnBrk="1" hangingPunct="1">
              <a:spcBef>
                <a:spcPct val="20000"/>
              </a:spcBef>
            </a:pPr>
            <a:r>
              <a:rPr lang="fi-FI" sz="1400"/>
              <a:t>&lt;2 kpl char</a:t>
            </a:r>
            <a:endParaRPr lang="en-GB" sz="1400"/>
          </a:p>
        </p:txBody>
      </p:sp>
      <p:sp>
        <p:nvSpPr>
          <p:cNvPr id="142382" name="Rectangle 46"/>
          <p:cNvSpPr>
            <a:spLocks noChangeArrowheads="1"/>
          </p:cNvSpPr>
          <p:nvPr/>
        </p:nvSpPr>
        <p:spPr bwMode="auto">
          <a:xfrm>
            <a:off x="2743200" y="2000252"/>
            <a:ext cx="533400" cy="1069975"/>
          </a:xfrm>
          <a:prstGeom prst="rect">
            <a:avLst/>
          </a:prstGeom>
          <a:noFill/>
          <a:ln w="9525">
            <a:noFill/>
            <a:miter lim="800000"/>
            <a:headEnd/>
            <a:tailEnd/>
          </a:ln>
          <a:effectLst/>
        </p:spPr>
        <p:txBody>
          <a:bodyPr/>
          <a:lstStyle/>
          <a:p>
            <a:pPr algn="ctr" eaLnBrk="1" hangingPunct="1">
              <a:spcBef>
                <a:spcPct val="20000"/>
              </a:spcBef>
            </a:pPr>
            <a:r>
              <a:rPr lang="fi-FI" sz="1400"/>
              <a:t>A1</a:t>
            </a:r>
            <a:endParaRPr lang="en-GB" sz="1400"/>
          </a:p>
          <a:p>
            <a:pPr algn="ctr" eaLnBrk="1" hangingPunct="1">
              <a:spcBef>
                <a:spcPct val="20000"/>
              </a:spcBef>
            </a:pPr>
            <a:endParaRPr lang="fi-FI" sz="1400"/>
          </a:p>
          <a:p>
            <a:pPr algn="ctr" eaLnBrk="1" hangingPunct="1">
              <a:spcBef>
                <a:spcPct val="20000"/>
              </a:spcBef>
            </a:pPr>
            <a:r>
              <a:rPr lang="fi-FI" sz="1400"/>
              <a:t>A2</a:t>
            </a:r>
            <a:endParaRPr lang="en-GB" sz="1400"/>
          </a:p>
        </p:txBody>
      </p:sp>
      <p:sp>
        <p:nvSpPr>
          <p:cNvPr id="142383" name="Rectangle 47"/>
          <p:cNvSpPr>
            <a:spLocks noChangeArrowheads="1"/>
          </p:cNvSpPr>
          <p:nvPr/>
        </p:nvSpPr>
        <p:spPr bwMode="auto">
          <a:xfrm>
            <a:off x="1447800" y="2000252"/>
            <a:ext cx="1295400" cy="334963"/>
          </a:xfrm>
          <a:prstGeom prst="rect">
            <a:avLst/>
          </a:prstGeom>
          <a:noFill/>
          <a:ln w="9525">
            <a:noFill/>
            <a:miter lim="800000"/>
            <a:headEnd/>
            <a:tailEnd/>
          </a:ln>
          <a:effectLst/>
        </p:spPr>
        <p:txBody>
          <a:bodyPr/>
          <a:lstStyle/>
          <a:p>
            <a:pPr algn="ctr" eaLnBrk="1" hangingPunct="1">
              <a:spcBef>
                <a:spcPct val="20000"/>
              </a:spcBef>
            </a:pPr>
            <a:r>
              <a:rPr lang="fi-FI" sz="1400"/>
              <a:t>2 - 64 char</a:t>
            </a:r>
            <a:endParaRPr lang="en-GB" sz="1400"/>
          </a:p>
        </p:txBody>
      </p:sp>
      <p:sp>
        <p:nvSpPr>
          <p:cNvPr id="142384" name="Rectangle 48"/>
          <p:cNvSpPr>
            <a:spLocks noChangeArrowheads="1"/>
          </p:cNvSpPr>
          <p:nvPr/>
        </p:nvSpPr>
        <p:spPr bwMode="auto">
          <a:xfrm>
            <a:off x="304800" y="2000252"/>
            <a:ext cx="1143000" cy="1069975"/>
          </a:xfrm>
          <a:prstGeom prst="rect">
            <a:avLst/>
          </a:prstGeom>
          <a:noFill/>
          <a:ln w="9525">
            <a:noFill/>
            <a:miter lim="800000"/>
            <a:headEnd/>
            <a:tailEnd/>
          </a:ln>
          <a:effectLst/>
        </p:spPr>
        <p:txBody>
          <a:bodyPr/>
          <a:lstStyle/>
          <a:p>
            <a:pPr algn="ctr" eaLnBrk="1" hangingPunct="1">
              <a:spcBef>
                <a:spcPct val="20000"/>
              </a:spcBef>
            </a:pPr>
            <a:r>
              <a:rPr lang="fi-FI" sz="1400"/>
              <a:t>Asiakkaan nimi</a:t>
            </a:r>
            <a:endParaRPr lang="en-GB" sz="1400"/>
          </a:p>
        </p:txBody>
      </p:sp>
      <p:sp>
        <p:nvSpPr>
          <p:cNvPr id="142385" name="Rectangle 49"/>
          <p:cNvSpPr>
            <a:spLocks noChangeArrowheads="1"/>
          </p:cNvSpPr>
          <p:nvPr/>
        </p:nvSpPr>
        <p:spPr bwMode="auto">
          <a:xfrm>
            <a:off x="8229600" y="1371600"/>
            <a:ext cx="6096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D</a:t>
            </a:r>
            <a:endParaRPr lang="en-GB" sz="1400">
              <a:solidFill>
                <a:schemeClr val="bg1"/>
              </a:solidFill>
            </a:endParaRPr>
          </a:p>
        </p:txBody>
      </p:sp>
      <p:sp>
        <p:nvSpPr>
          <p:cNvPr id="142386" name="Rectangle 50"/>
          <p:cNvSpPr>
            <a:spLocks noChangeArrowheads="1"/>
          </p:cNvSpPr>
          <p:nvPr/>
        </p:nvSpPr>
        <p:spPr bwMode="auto">
          <a:xfrm>
            <a:off x="7010400" y="1371600"/>
            <a:ext cx="12192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Ei-sallittu</a:t>
            </a:r>
          </a:p>
          <a:p>
            <a:pPr algn="ctr" eaLnBrk="1" hangingPunct="1">
              <a:spcBef>
                <a:spcPct val="20000"/>
              </a:spcBef>
              <a:buFontTx/>
              <a:buChar char="•"/>
            </a:pPr>
            <a:r>
              <a:rPr lang="fi-FI" sz="1400">
                <a:solidFill>
                  <a:schemeClr val="bg1"/>
                </a:solidFill>
              </a:rPr>
              <a:t>raja-arvo</a:t>
            </a:r>
            <a:endParaRPr lang="en-GB" sz="1400">
              <a:solidFill>
                <a:schemeClr val="bg1"/>
              </a:solidFill>
            </a:endParaRPr>
          </a:p>
        </p:txBody>
      </p:sp>
      <p:sp>
        <p:nvSpPr>
          <p:cNvPr id="142387" name="Rectangle 51"/>
          <p:cNvSpPr>
            <a:spLocks noChangeArrowheads="1"/>
          </p:cNvSpPr>
          <p:nvPr/>
        </p:nvSpPr>
        <p:spPr bwMode="auto">
          <a:xfrm>
            <a:off x="6400800" y="1371600"/>
            <a:ext cx="6096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C</a:t>
            </a:r>
            <a:endParaRPr lang="en-GB" sz="1400">
              <a:solidFill>
                <a:schemeClr val="bg1"/>
              </a:solidFill>
            </a:endParaRPr>
          </a:p>
        </p:txBody>
      </p:sp>
      <p:sp>
        <p:nvSpPr>
          <p:cNvPr id="142388" name="Rectangle 52"/>
          <p:cNvSpPr>
            <a:spLocks noChangeArrowheads="1"/>
          </p:cNvSpPr>
          <p:nvPr/>
        </p:nvSpPr>
        <p:spPr bwMode="auto">
          <a:xfrm>
            <a:off x="5105400" y="1371600"/>
            <a:ext cx="12954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Sallittu</a:t>
            </a:r>
          </a:p>
          <a:p>
            <a:pPr algn="ctr" eaLnBrk="1" hangingPunct="1">
              <a:spcBef>
                <a:spcPct val="20000"/>
              </a:spcBef>
              <a:buFontTx/>
              <a:buChar char="•"/>
            </a:pPr>
            <a:r>
              <a:rPr lang="fi-FI" sz="1400">
                <a:solidFill>
                  <a:schemeClr val="bg1"/>
                </a:solidFill>
              </a:rPr>
              <a:t>raja-arvo</a:t>
            </a:r>
            <a:endParaRPr lang="en-GB" sz="1400">
              <a:solidFill>
                <a:schemeClr val="bg1"/>
              </a:solidFill>
            </a:endParaRPr>
          </a:p>
        </p:txBody>
      </p:sp>
      <p:sp>
        <p:nvSpPr>
          <p:cNvPr id="142389" name="Rectangle 53"/>
          <p:cNvSpPr>
            <a:spLocks noChangeArrowheads="1"/>
          </p:cNvSpPr>
          <p:nvPr/>
        </p:nvSpPr>
        <p:spPr bwMode="auto">
          <a:xfrm>
            <a:off x="4572000" y="1371600"/>
            <a:ext cx="5334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B</a:t>
            </a:r>
            <a:endParaRPr lang="en-GB" sz="1400">
              <a:solidFill>
                <a:schemeClr val="bg1"/>
              </a:solidFill>
            </a:endParaRPr>
          </a:p>
        </p:txBody>
      </p:sp>
      <p:sp>
        <p:nvSpPr>
          <p:cNvPr id="142390" name="Rectangle 54"/>
          <p:cNvSpPr>
            <a:spLocks noChangeArrowheads="1"/>
          </p:cNvSpPr>
          <p:nvPr/>
        </p:nvSpPr>
        <p:spPr bwMode="auto">
          <a:xfrm>
            <a:off x="3276600" y="1371600"/>
            <a:ext cx="12954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Ei-sallittu</a:t>
            </a:r>
          </a:p>
          <a:p>
            <a:pPr algn="ctr" eaLnBrk="1" hangingPunct="1">
              <a:spcBef>
                <a:spcPct val="20000"/>
              </a:spcBef>
              <a:buFontTx/>
              <a:buChar char="•"/>
            </a:pPr>
            <a:r>
              <a:rPr lang="en-GB" sz="1400">
                <a:solidFill>
                  <a:schemeClr val="bg1"/>
                </a:solidFill>
              </a:rPr>
              <a:t>Arvo</a:t>
            </a:r>
          </a:p>
        </p:txBody>
      </p:sp>
      <p:sp>
        <p:nvSpPr>
          <p:cNvPr id="142391" name="Rectangle 55"/>
          <p:cNvSpPr>
            <a:spLocks noChangeArrowheads="1"/>
          </p:cNvSpPr>
          <p:nvPr/>
        </p:nvSpPr>
        <p:spPr bwMode="auto">
          <a:xfrm>
            <a:off x="2743200" y="1371600"/>
            <a:ext cx="5334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en-GB" sz="1400">
                <a:solidFill>
                  <a:schemeClr val="bg1"/>
                </a:solidFill>
              </a:rPr>
              <a:t>A</a:t>
            </a:r>
          </a:p>
        </p:txBody>
      </p:sp>
      <p:sp>
        <p:nvSpPr>
          <p:cNvPr id="142392" name="Rectangle 56"/>
          <p:cNvSpPr>
            <a:spLocks noChangeArrowheads="1"/>
          </p:cNvSpPr>
          <p:nvPr/>
        </p:nvSpPr>
        <p:spPr bwMode="auto">
          <a:xfrm>
            <a:off x="1447800" y="1371600"/>
            <a:ext cx="12954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Sallittu</a:t>
            </a:r>
          </a:p>
          <a:p>
            <a:pPr algn="ctr" eaLnBrk="1" hangingPunct="1">
              <a:spcBef>
                <a:spcPct val="20000"/>
              </a:spcBef>
              <a:buFontTx/>
              <a:buChar char="•"/>
            </a:pPr>
            <a:r>
              <a:rPr lang="fi-FI" sz="1400">
                <a:solidFill>
                  <a:schemeClr val="bg1"/>
                </a:solidFill>
              </a:rPr>
              <a:t>arvo</a:t>
            </a:r>
            <a:endParaRPr lang="en-GB" sz="1400">
              <a:solidFill>
                <a:schemeClr val="bg1"/>
              </a:solidFill>
            </a:endParaRPr>
          </a:p>
        </p:txBody>
      </p:sp>
      <p:sp>
        <p:nvSpPr>
          <p:cNvPr id="142393" name="Rectangle 57"/>
          <p:cNvSpPr>
            <a:spLocks noChangeArrowheads="1"/>
          </p:cNvSpPr>
          <p:nvPr/>
        </p:nvSpPr>
        <p:spPr bwMode="auto">
          <a:xfrm>
            <a:off x="304800" y="1371600"/>
            <a:ext cx="1143000" cy="628650"/>
          </a:xfrm>
          <a:prstGeom prst="rect">
            <a:avLst/>
          </a:prstGeom>
          <a:solidFill>
            <a:schemeClr val="accent1"/>
          </a:solidFill>
          <a:ln w="9525">
            <a:noFill/>
            <a:miter lim="800000"/>
            <a:headEnd/>
            <a:tailEnd/>
          </a:ln>
          <a:effectLst/>
        </p:spPr>
        <p:txBody>
          <a:bodyPr/>
          <a:lstStyle/>
          <a:p>
            <a:pPr algn="ctr" eaLnBrk="1" hangingPunct="1">
              <a:spcBef>
                <a:spcPct val="20000"/>
              </a:spcBef>
              <a:buFontTx/>
              <a:buChar char="•"/>
            </a:pPr>
            <a:r>
              <a:rPr lang="fi-FI" sz="1400">
                <a:solidFill>
                  <a:schemeClr val="bg1"/>
                </a:solidFill>
              </a:rPr>
              <a:t>Muuttuja</a:t>
            </a:r>
            <a:endParaRPr lang="en-GB" sz="1400">
              <a:solidFill>
                <a:schemeClr val="bg1"/>
              </a:solidFill>
            </a:endParaRPr>
          </a:p>
        </p:txBody>
      </p:sp>
      <p:sp>
        <p:nvSpPr>
          <p:cNvPr id="142394" name="Line 58"/>
          <p:cNvSpPr>
            <a:spLocks noChangeShapeType="1"/>
          </p:cNvSpPr>
          <p:nvPr/>
        </p:nvSpPr>
        <p:spPr bwMode="auto">
          <a:xfrm>
            <a:off x="304800" y="1371600"/>
            <a:ext cx="8534400" cy="0"/>
          </a:xfrm>
          <a:prstGeom prst="line">
            <a:avLst/>
          </a:prstGeom>
          <a:noFill/>
          <a:ln w="12700" cap="sq">
            <a:solidFill>
              <a:srgbClr val="000000"/>
            </a:solidFill>
            <a:round/>
            <a:headEnd/>
            <a:tailEnd/>
          </a:ln>
          <a:effectLst/>
        </p:spPr>
        <p:txBody>
          <a:bodyPr anchor="ctr">
            <a:spAutoFit/>
          </a:bodyPr>
          <a:lstStyle/>
          <a:p>
            <a:endParaRPr lang="fi-FI"/>
          </a:p>
        </p:txBody>
      </p:sp>
      <p:sp>
        <p:nvSpPr>
          <p:cNvPr id="142395" name="Line 59"/>
          <p:cNvSpPr>
            <a:spLocks noChangeShapeType="1"/>
          </p:cNvSpPr>
          <p:nvPr/>
        </p:nvSpPr>
        <p:spPr bwMode="auto">
          <a:xfrm>
            <a:off x="304800" y="2000250"/>
            <a:ext cx="8534400" cy="0"/>
          </a:xfrm>
          <a:prstGeom prst="line">
            <a:avLst/>
          </a:prstGeom>
          <a:noFill/>
          <a:ln w="12700">
            <a:solidFill>
              <a:srgbClr val="000000"/>
            </a:solidFill>
            <a:round/>
            <a:headEnd/>
            <a:tailEnd/>
          </a:ln>
          <a:effectLst/>
        </p:spPr>
        <p:txBody>
          <a:bodyPr anchor="ctr">
            <a:spAutoFit/>
          </a:bodyPr>
          <a:lstStyle/>
          <a:p>
            <a:endParaRPr lang="fi-FI"/>
          </a:p>
        </p:txBody>
      </p:sp>
      <p:sp>
        <p:nvSpPr>
          <p:cNvPr id="142396" name="Line 60"/>
          <p:cNvSpPr>
            <a:spLocks noChangeShapeType="1"/>
          </p:cNvSpPr>
          <p:nvPr/>
        </p:nvSpPr>
        <p:spPr bwMode="auto">
          <a:xfrm>
            <a:off x="304800" y="3070225"/>
            <a:ext cx="8534400" cy="0"/>
          </a:xfrm>
          <a:prstGeom prst="line">
            <a:avLst/>
          </a:prstGeom>
          <a:noFill/>
          <a:ln w="12700">
            <a:solidFill>
              <a:srgbClr val="000000"/>
            </a:solidFill>
            <a:round/>
            <a:headEnd/>
            <a:tailEnd/>
          </a:ln>
          <a:effectLst/>
        </p:spPr>
        <p:txBody>
          <a:bodyPr anchor="ctr">
            <a:spAutoFit/>
          </a:bodyPr>
          <a:lstStyle/>
          <a:p>
            <a:endParaRPr lang="fi-FI"/>
          </a:p>
        </p:txBody>
      </p:sp>
      <p:sp>
        <p:nvSpPr>
          <p:cNvPr id="142397" name="Line 61"/>
          <p:cNvSpPr>
            <a:spLocks noChangeShapeType="1"/>
          </p:cNvSpPr>
          <p:nvPr/>
        </p:nvSpPr>
        <p:spPr bwMode="auto">
          <a:xfrm>
            <a:off x="304800" y="4548188"/>
            <a:ext cx="8534400" cy="0"/>
          </a:xfrm>
          <a:prstGeom prst="line">
            <a:avLst/>
          </a:prstGeom>
          <a:noFill/>
          <a:ln w="12700">
            <a:solidFill>
              <a:srgbClr val="000000"/>
            </a:solidFill>
            <a:round/>
            <a:headEnd/>
            <a:tailEnd/>
          </a:ln>
          <a:effectLst/>
        </p:spPr>
        <p:txBody>
          <a:bodyPr anchor="ctr">
            <a:spAutoFit/>
          </a:bodyPr>
          <a:lstStyle/>
          <a:p>
            <a:endParaRPr lang="fi-FI"/>
          </a:p>
        </p:txBody>
      </p:sp>
      <p:sp>
        <p:nvSpPr>
          <p:cNvPr id="142398" name="Line 62"/>
          <p:cNvSpPr>
            <a:spLocks noChangeShapeType="1"/>
          </p:cNvSpPr>
          <p:nvPr/>
        </p:nvSpPr>
        <p:spPr bwMode="auto">
          <a:xfrm>
            <a:off x="304800" y="6223000"/>
            <a:ext cx="8534400" cy="0"/>
          </a:xfrm>
          <a:prstGeom prst="line">
            <a:avLst/>
          </a:prstGeom>
          <a:noFill/>
          <a:ln w="12700" cap="sq">
            <a:solidFill>
              <a:srgbClr val="000000"/>
            </a:solidFill>
            <a:round/>
            <a:headEnd/>
            <a:tailEnd/>
          </a:ln>
          <a:effectLst/>
        </p:spPr>
        <p:txBody>
          <a:bodyPr anchor="ctr">
            <a:spAutoFit/>
          </a:bodyPr>
          <a:lstStyle/>
          <a:p>
            <a:endParaRPr lang="fi-FI"/>
          </a:p>
        </p:txBody>
      </p:sp>
      <p:sp>
        <p:nvSpPr>
          <p:cNvPr id="142399" name="Line 63"/>
          <p:cNvSpPr>
            <a:spLocks noChangeShapeType="1"/>
          </p:cNvSpPr>
          <p:nvPr/>
        </p:nvSpPr>
        <p:spPr bwMode="auto">
          <a:xfrm>
            <a:off x="304800" y="1371600"/>
            <a:ext cx="0" cy="4851400"/>
          </a:xfrm>
          <a:prstGeom prst="line">
            <a:avLst/>
          </a:prstGeom>
          <a:noFill/>
          <a:ln w="12700" cap="sq">
            <a:solidFill>
              <a:srgbClr val="000000"/>
            </a:solidFill>
            <a:round/>
            <a:headEnd/>
            <a:tailEnd/>
          </a:ln>
          <a:effectLst/>
        </p:spPr>
        <p:txBody>
          <a:bodyPr anchor="ctr">
            <a:spAutoFit/>
          </a:bodyPr>
          <a:lstStyle/>
          <a:p>
            <a:endParaRPr lang="fi-FI"/>
          </a:p>
        </p:txBody>
      </p:sp>
      <p:sp>
        <p:nvSpPr>
          <p:cNvPr id="142400" name="Line 64"/>
          <p:cNvSpPr>
            <a:spLocks noChangeShapeType="1"/>
          </p:cNvSpPr>
          <p:nvPr/>
        </p:nvSpPr>
        <p:spPr bwMode="auto">
          <a:xfrm>
            <a:off x="14478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1" name="Line 65"/>
          <p:cNvSpPr>
            <a:spLocks noChangeShapeType="1"/>
          </p:cNvSpPr>
          <p:nvPr/>
        </p:nvSpPr>
        <p:spPr bwMode="auto">
          <a:xfrm>
            <a:off x="27432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2" name="Line 66"/>
          <p:cNvSpPr>
            <a:spLocks noChangeShapeType="1"/>
          </p:cNvSpPr>
          <p:nvPr/>
        </p:nvSpPr>
        <p:spPr bwMode="auto">
          <a:xfrm>
            <a:off x="32766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3" name="Line 67"/>
          <p:cNvSpPr>
            <a:spLocks noChangeShapeType="1"/>
          </p:cNvSpPr>
          <p:nvPr/>
        </p:nvSpPr>
        <p:spPr bwMode="auto">
          <a:xfrm>
            <a:off x="45720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4" name="Line 68"/>
          <p:cNvSpPr>
            <a:spLocks noChangeShapeType="1"/>
          </p:cNvSpPr>
          <p:nvPr/>
        </p:nvSpPr>
        <p:spPr bwMode="auto">
          <a:xfrm>
            <a:off x="51054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5" name="Line 69"/>
          <p:cNvSpPr>
            <a:spLocks noChangeShapeType="1"/>
          </p:cNvSpPr>
          <p:nvPr/>
        </p:nvSpPr>
        <p:spPr bwMode="auto">
          <a:xfrm>
            <a:off x="64008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6" name="Line 70"/>
          <p:cNvSpPr>
            <a:spLocks noChangeShapeType="1"/>
          </p:cNvSpPr>
          <p:nvPr/>
        </p:nvSpPr>
        <p:spPr bwMode="auto">
          <a:xfrm>
            <a:off x="70104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7" name="Line 71"/>
          <p:cNvSpPr>
            <a:spLocks noChangeShapeType="1"/>
          </p:cNvSpPr>
          <p:nvPr/>
        </p:nvSpPr>
        <p:spPr bwMode="auto">
          <a:xfrm>
            <a:off x="8229600" y="1371600"/>
            <a:ext cx="0" cy="4851400"/>
          </a:xfrm>
          <a:prstGeom prst="line">
            <a:avLst/>
          </a:prstGeom>
          <a:noFill/>
          <a:ln w="12700">
            <a:solidFill>
              <a:srgbClr val="000000"/>
            </a:solidFill>
            <a:round/>
            <a:headEnd/>
            <a:tailEnd/>
          </a:ln>
          <a:effectLst/>
        </p:spPr>
        <p:txBody>
          <a:bodyPr anchor="ctr">
            <a:spAutoFit/>
          </a:bodyPr>
          <a:lstStyle/>
          <a:p>
            <a:endParaRPr lang="fi-FI"/>
          </a:p>
        </p:txBody>
      </p:sp>
      <p:sp>
        <p:nvSpPr>
          <p:cNvPr id="142408" name="Line 72"/>
          <p:cNvSpPr>
            <a:spLocks noChangeShapeType="1"/>
          </p:cNvSpPr>
          <p:nvPr/>
        </p:nvSpPr>
        <p:spPr bwMode="auto">
          <a:xfrm>
            <a:off x="8839200" y="1371600"/>
            <a:ext cx="0" cy="4851400"/>
          </a:xfrm>
          <a:prstGeom prst="line">
            <a:avLst/>
          </a:prstGeom>
          <a:noFill/>
          <a:ln w="12700" cap="sq">
            <a:solidFill>
              <a:srgbClr val="000000"/>
            </a:solidFill>
            <a:round/>
            <a:headEnd/>
            <a:tailEnd/>
          </a:ln>
          <a:effectLst/>
        </p:spPr>
        <p:txBody>
          <a:bodyPr anchor="ctr">
            <a:spAutoFit/>
          </a:bodyPr>
          <a:lstStyle/>
          <a:p>
            <a:endParaRPr lang="fi-FI"/>
          </a:p>
        </p:txBody>
      </p:sp>
      <p:sp>
        <p:nvSpPr>
          <p:cNvPr id="142409" name="Line 73"/>
          <p:cNvSpPr>
            <a:spLocks noChangeShapeType="1"/>
          </p:cNvSpPr>
          <p:nvPr/>
        </p:nvSpPr>
        <p:spPr bwMode="auto">
          <a:xfrm>
            <a:off x="1447800" y="233521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0" name="Line 74"/>
          <p:cNvSpPr>
            <a:spLocks noChangeShapeType="1"/>
          </p:cNvSpPr>
          <p:nvPr/>
        </p:nvSpPr>
        <p:spPr bwMode="auto">
          <a:xfrm>
            <a:off x="1447800" y="3532188"/>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1" name="Line 75"/>
          <p:cNvSpPr>
            <a:spLocks noChangeShapeType="1"/>
          </p:cNvSpPr>
          <p:nvPr/>
        </p:nvSpPr>
        <p:spPr bwMode="auto">
          <a:xfrm>
            <a:off x="3276600" y="4883150"/>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2" name="Line 76"/>
          <p:cNvSpPr>
            <a:spLocks noChangeShapeType="1"/>
          </p:cNvSpPr>
          <p:nvPr/>
        </p:nvSpPr>
        <p:spPr bwMode="auto">
          <a:xfrm>
            <a:off x="3276600" y="3532188"/>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3" name="Line 77"/>
          <p:cNvSpPr>
            <a:spLocks noChangeShapeType="1"/>
          </p:cNvSpPr>
          <p:nvPr/>
        </p:nvSpPr>
        <p:spPr bwMode="auto">
          <a:xfrm>
            <a:off x="3276600" y="233521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4" name="Line 78"/>
          <p:cNvSpPr>
            <a:spLocks noChangeShapeType="1"/>
          </p:cNvSpPr>
          <p:nvPr/>
        </p:nvSpPr>
        <p:spPr bwMode="auto">
          <a:xfrm>
            <a:off x="5105400" y="233521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5" name="Line 79"/>
          <p:cNvSpPr>
            <a:spLocks noChangeShapeType="1"/>
          </p:cNvSpPr>
          <p:nvPr/>
        </p:nvSpPr>
        <p:spPr bwMode="auto">
          <a:xfrm>
            <a:off x="5105400" y="3532188"/>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6" name="Line 80"/>
          <p:cNvSpPr>
            <a:spLocks noChangeShapeType="1"/>
          </p:cNvSpPr>
          <p:nvPr/>
        </p:nvSpPr>
        <p:spPr bwMode="auto">
          <a:xfrm>
            <a:off x="5105400" y="4883150"/>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17" name="Line 81"/>
          <p:cNvSpPr>
            <a:spLocks noChangeShapeType="1"/>
          </p:cNvSpPr>
          <p:nvPr/>
        </p:nvSpPr>
        <p:spPr bwMode="auto">
          <a:xfrm>
            <a:off x="7010400" y="2335213"/>
            <a:ext cx="1219200" cy="0"/>
          </a:xfrm>
          <a:prstGeom prst="line">
            <a:avLst/>
          </a:prstGeom>
          <a:noFill/>
          <a:ln w="12700">
            <a:solidFill>
              <a:srgbClr val="000000"/>
            </a:solidFill>
            <a:round/>
            <a:headEnd/>
            <a:tailEnd/>
          </a:ln>
          <a:effectLst/>
        </p:spPr>
        <p:txBody>
          <a:bodyPr anchor="ctr">
            <a:spAutoFit/>
          </a:bodyPr>
          <a:lstStyle/>
          <a:p>
            <a:endParaRPr lang="fi-FI"/>
          </a:p>
        </p:txBody>
      </p:sp>
      <p:sp>
        <p:nvSpPr>
          <p:cNvPr id="142418" name="Line 82"/>
          <p:cNvSpPr>
            <a:spLocks noChangeShapeType="1"/>
          </p:cNvSpPr>
          <p:nvPr/>
        </p:nvSpPr>
        <p:spPr bwMode="auto">
          <a:xfrm>
            <a:off x="7010400" y="3532188"/>
            <a:ext cx="1219200" cy="0"/>
          </a:xfrm>
          <a:prstGeom prst="line">
            <a:avLst/>
          </a:prstGeom>
          <a:noFill/>
          <a:ln w="12700">
            <a:solidFill>
              <a:srgbClr val="000000"/>
            </a:solidFill>
            <a:round/>
            <a:headEnd/>
            <a:tailEnd/>
          </a:ln>
          <a:effectLst/>
        </p:spPr>
        <p:txBody>
          <a:bodyPr anchor="ctr">
            <a:spAutoFit/>
          </a:bodyPr>
          <a:lstStyle/>
          <a:p>
            <a:endParaRPr lang="fi-FI"/>
          </a:p>
        </p:txBody>
      </p:sp>
      <p:sp>
        <p:nvSpPr>
          <p:cNvPr id="142419" name="Line 83"/>
          <p:cNvSpPr>
            <a:spLocks noChangeShapeType="1"/>
          </p:cNvSpPr>
          <p:nvPr/>
        </p:nvSpPr>
        <p:spPr bwMode="auto">
          <a:xfrm>
            <a:off x="7010400" y="4883150"/>
            <a:ext cx="1219200" cy="0"/>
          </a:xfrm>
          <a:prstGeom prst="line">
            <a:avLst/>
          </a:prstGeom>
          <a:noFill/>
          <a:ln w="12700">
            <a:solidFill>
              <a:srgbClr val="000000"/>
            </a:solidFill>
            <a:round/>
            <a:headEnd/>
            <a:tailEnd/>
          </a:ln>
          <a:effectLst/>
        </p:spPr>
        <p:txBody>
          <a:bodyPr anchor="ctr">
            <a:spAutoFit/>
          </a:bodyPr>
          <a:lstStyle/>
          <a:p>
            <a:endParaRPr lang="fi-FI"/>
          </a:p>
        </p:txBody>
      </p:sp>
      <p:sp>
        <p:nvSpPr>
          <p:cNvPr id="142420" name="Line 84"/>
          <p:cNvSpPr>
            <a:spLocks noChangeShapeType="1"/>
          </p:cNvSpPr>
          <p:nvPr/>
        </p:nvSpPr>
        <p:spPr bwMode="auto">
          <a:xfrm>
            <a:off x="3276600" y="271621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21" name="Line 85"/>
          <p:cNvSpPr>
            <a:spLocks noChangeShapeType="1"/>
          </p:cNvSpPr>
          <p:nvPr/>
        </p:nvSpPr>
        <p:spPr bwMode="auto">
          <a:xfrm>
            <a:off x="3276600" y="387826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22" name="Line 86"/>
          <p:cNvSpPr>
            <a:spLocks noChangeShapeType="1"/>
          </p:cNvSpPr>
          <p:nvPr/>
        </p:nvSpPr>
        <p:spPr bwMode="auto">
          <a:xfrm>
            <a:off x="3276600" y="5218113"/>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23" name="Line 87"/>
          <p:cNvSpPr>
            <a:spLocks noChangeShapeType="1"/>
          </p:cNvSpPr>
          <p:nvPr/>
        </p:nvSpPr>
        <p:spPr bwMode="auto">
          <a:xfrm>
            <a:off x="3276600" y="5553075"/>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24" name="Line 88"/>
          <p:cNvSpPr>
            <a:spLocks noChangeShapeType="1"/>
          </p:cNvSpPr>
          <p:nvPr/>
        </p:nvSpPr>
        <p:spPr bwMode="auto">
          <a:xfrm>
            <a:off x="3276600" y="5888038"/>
            <a:ext cx="1295400" cy="0"/>
          </a:xfrm>
          <a:prstGeom prst="line">
            <a:avLst/>
          </a:prstGeom>
          <a:noFill/>
          <a:ln w="12700">
            <a:solidFill>
              <a:srgbClr val="000000"/>
            </a:solidFill>
            <a:round/>
            <a:headEnd/>
            <a:tailEnd/>
          </a:ln>
          <a:effectLst/>
        </p:spPr>
        <p:txBody>
          <a:bodyPr anchor="ctr">
            <a:spAutoFit/>
          </a:bodyPr>
          <a:lstStyle/>
          <a:p>
            <a:endParaRPr lang="fi-FI"/>
          </a:p>
        </p:txBody>
      </p:sp>
      <p:sp>
        <p:nvSpPr>
          <p:cNvPr id="142425" name="Line 89"/>
          <p:cNvSpPr>
            <a:spLocks noChangeShapeType="1"/>
          </p:cNvSpPr>
          <p:nvPr/>
        </p:nvSpPr>
        <p:spPr bwMode="auto">
          <a:xfrm>
            <a:off x="7010400" y="2716213"/>
            <a:ext cx="1219200" cy="0"/>
          </a:xfrm>
          <a:prstGeom prst="line">
            <a:avLst/>
          </a:prstGeom>
          <a:noFill/>
          <a:ln w="12700">
            <a:solidFill>
              <a:srgbClr val="000000"/>
            </a:solidFill>
            <a:round/>
            <a:headEnd/>
            <a:tailEnd/>
          </a:ln>
          <a:effectLst/>
        </p:spPr>
        <p:txBody>
          <a:bodyPr anchor="ctr">
            <a:spAutoFit/>
          </a:bodyPr>
          <a:lstStyle/>
          <a:p>
            <a:endParaRPr lang="fi-FI"/>
          </a:p>
        </p:txBody>
      </p:sp>
      <p:sp>
        <p:nvSpPr>
          <p:cNvPr id="142426" name="Line 90"/>
          <p:cNvSpPr>
            <a:spLocks noChangeShapeType="1"/>
          </p:cNvSpPr>
          <p:nvPr/>
        </p:nvSpPr>
        <p:spPr bwMode="auto">
          <a:xfrm>
            <a:off x="7010400" y="3878263"/>
            <a:ext cx="1219200" cy="0"/>
          </a:xfrm>
          <a:prstGeom prst="line">
            <a:avLst/>
          </a:prstGeom>
          <a:noFill/>
          <a:ln w="12700">
            <a:solidFill>
              <a:srgbClr val="000000"/>
            </a:solidFill>
            <a:round/>
            <a:headEnd/>
            <a:tailEnd/>
          </a:ln>
          <a:effectLst/>
        </p:spPr>
        <p:txBody>
          <a:bodyPr anchor="ctr">
            <a:spAutoFit/>
          </a:bodyPr>
          <a:lstStyle/>
          <a:p>
            <a:endParaRPr lang="fi-FI"/>
          </a:p>
        </p:txBody>
      </p:sp>
      <p:sp>
        <p:nvSpPr>
          <p:cNvPr id="142427" name="Line 91"/>
          <p:cNvSpPr>
            <a:spLocks noChangeShapeType="1"/>
          </p:cNvSpPr>
          <p:nvPr/>
        </p:nvSpPr>
        <p:spPr bwMode="auto">
          <a:xfrm>
            <a:off x="3276600" y="4213225"/>
            <a:ext cx="1295400" cy="0"/>
          </a:xfrm>
          <a:prstGeom prst="line">
            <a:avLst/>
          </a:prstGeom>
          <a:noFill/>
          <a:ln w="12700">
            <a:solidFill>
              <a:srgbClr val="000000"/>
            </a:solidFill>
            <a:round/>
            <a:headEnd/>
            <a:tailEnd/>
          </a:ln>
          <a:effectLst/>
        </p:spPr>
        <p:txBody>
          <a:bodyPr anchor="ctr"/>
          <a:lstStyle/>
          <a:p>
            <a:endParaRPr lang="fi-FI"/>
          </a:p>
        </p:txBody>
      </p:sp>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4"/>
          <p:cNvSpPr>
            <a:spLocks noGrp="1"/>
          </p:cNvSpPr>
          <p:nvPr>
            <p:ph type="sldNum" sz="quarter" idx="12"/>
          </p:nvPr>
        </p:nvSpPr>
        <p:spPr/>
        <p:txBody>
          <a:bodyPr/>
          <a:lstStyle/>
          <a:p>
            <a:fld id="{29FB0AD0-4C4C-42D9-9B8B-F4440521DE2C}" type="slidenum">
              <a:rPr lang="en-US"/>
              <a:pPr/>
              <a:t>32</a:t>
            </a:fld>
            <a:endParaRPr lang="en-US"/>
          </a:p>
        </p:txBody>
      </p:sp>
      <p:sp>
        <p:nvSpPr>
          <p:cNvPr id="144386" name="Rectangle 2"/>
          <p:cNvSpPr>
            <a:spLocks noGrp="1" noChangeArrowheads="1"/>
          </p:cNvSpPr>
          <p:nvPr>
            <p:ph type="title"/>
          </p:nvPr>
        </p:nvSpPr>
        <p:spPr/>
        <p:txBody>
          <a:bodyPr>
            <a:normAutofit fontScale="90000"/>
          </a:bodyPr>
          <a:lstStyle/>
          <a:p>
            <a:pPr defTabSz="762000"/>
            <a:r>
              <a:rPr lang="fi-FI"/>
              <a:t>Tarkkojen testitapausten suunnittelu</a:t>
            </a:r>
          </a:p>
        </p:txBody>
      </p:sp>
      <p:sp>
        <p:nvSpPr>
          <p:cNvPr id="144387" name="Rectangle 3"/>
          <p:cNvSpPr>
            <a:spLocks noChangeArrowheads="1"/>
          </p:cNvSpPr>
          <p:nvPr/>
        </p:nvSpPr>
        <p:spPr bwMode="auto">
          <a:xfrm>
            <a:off x="6400800" y="4022727"/>
            <a:ext cx="1143000" cy="1354138"/>
          </a:xfrm>
          <a:prstGeom prst="rect">
            <a:avLst/>
          </a:prstGeom>
          <a:noFill/>
          <a:ln w="9525">
            <a:noFill/>
            <a:miter lim="800000"/>
            <a:headEnd/>
            <a:tailEnd/>
          </a:ln>
          <a:effectLst/>
        </p:spPr>
        <p:txBody>
          <a:bodyPr/>
          <a:lstStyle/>
          <a:p>
            <a:pPr eaLnBrk="1" hangingPunct="1">
              <a:spcBef>
                <a:spcPct val="20000"/>
              </a:spcBef>
            </a:pPr>
            <a:r>
              <a:rPr lang="fi-FI" sz="1600"/>
              <a:t>C1, A7, C4, …</a:t>
            </a:r>
            <a:endParaRPr lang="en-GB" sz="1600"/>
          </a:p>
        </p:txBody>
      </p:sp>
      <p:sp>
        <p:nvSpPr>
          <p:cNvPr id="144388" name="Rectangle 4"/>
          <p:cNvSpPr>
            <a:spLocks noChangeArrowheads="1"/>
          </p:cNvSpPr>
          <p:nvPr/>
        </p:nvSpPr>
        <p:spPr bwMode="auto">
          <a:xfrm>
            <a:off x="4343400" y="4022727"/>
            <a:ext cx="2057400" cy="1354138"/>
          </a:xfrm>
          <a:prstGeom prst="rect">
            <a:avLst/>
          </a:prstGeom>
          <a:noFill/>
          <a:ln w="9525">
            <a:noFill/>
            <a:miter lim="800000"/>
            <a:headEnd/>
            <a:tailEnd/>
          </a:ln>
          <a:effectLst/>
        </p:spPr>
        <p:txBody>
          <a:bodyPr/>
          <a:lstStyle/>
          <a:p>
            <a:pPr eaLnBrk="1" hangingPunct="1">
              <a:spcBef>
                <a:spcPct val="20000"/>
              </a:spcBef>
            </a:pPr>
            <a:r>
              <a:rPr lang="fi-FI" sz="1600"/>
              <a:t>Hyväksytty</a:t>
            </a:r>
            <a:endParaRPr lang="en-GB" sz="1600"/>
          </a:p>
        </p:txBody>
      </p:sp>
      <p:sp>
        <p:nvSpPr>
          <p:cNvPr id="144389" name="Rectangle 5"/>
          <p:cNvSpPr>
            <a:spLocks noChangeArrowheads="1"/>
          </p:cNvSpPr>
          <p:nvPr/>
        </p:nvSpPr>
        <p:spPr bwMode="auto">
          <a:xfrm>
            <a:off x="1676400" y="4022727"/>
            <a:ext cx="2667000" cy="1354138"/>
          </a:xfrm>
          <a:prstGeom prst="rect">
            <a:avLst/>
          </a:prstGeom>
          <a:noFill/>
          <a:ln w="9525">
            <a:noFill/>
            <a:miter lim="800000"/>
            <a:headEnd/>
            <a:tailEnd/>
          </a:ln>
          <a:effectLst/>
        </p:spPr>
        <p:txBody>
          <a:bodyPr/>
          <a:lstStyle/>
          <a:p>
            <a:pPr eaLnBrk="1" hangingPunct="1">
              <a:spcBef>
                <a:spcPct val="20000"/>
              </a:spcBef>
            </a:pPr>
            <a:r>
              <a:rPr lang="fi-FI" sz="1400"/>
              <a:t>Nimi: AB</a:t>
            </a:r>
          </a:p>
          <a:p>
            <a:pPr eaLnBrk="1" hangingPunct="1">
              <a:spcBef>
                <a:spcPct val="20000"/>
              </a:spcBef>
            </a:pPr>
            <a:r>
              <a:rPr lang="fi-FI" sz="1400"/>
              <a:t>Kortin tyyppi: Diners Club</a:t>
            </a:r>
          </a:p>
          <a:p>
            <a:pPr eaLnBrk="1" hangingPunct="1">
              <a:spcBef>
                <a:spcPct val="20000"/>
              </a:spcBef>
            </a:pPr>
            <a:r>
              <a:rPr lang="fi-FI" sz="1400"/>
              <a:t>Kortin numero: 2345 678...</a:t>
            </a:r>
          </a:p>
          <a:p>
            <a:pPr eaLnBrk="1" hangingPunct="1">
              <a:spcBef>
                <a:spcPct val="20000"/>
              </a:spcBef>
            </a:pPr>
            <a:r>
              <a:rPr lang="fi-FI" sz="1400"/>
              <a:t>Voimassa: 12/04</a:t>
            </a:r>
          </a:p>
          <a:p>
            <a:pPr eaLnBrk="1" hangingPunct="1">
              <a:spcBef>
                <a:spcPct val="20000"/>
              </a:spcBef>
            </a:pPr>
            <a:r>
              <a:rPr lang="en-GB" sz="1400"/>
              <a:t>Summa: 5000€</a:t>
            </a:r>
          </a:p>
        </p:txBody>
      </p:sp>
      <p:sp>
        <p:nvSpPr>
          <p:cNvPr id="144390" name="Rectangle 6"/>
          <p:cNvSpPr>
            <a:spLocks noChangeArrowheads="1"/>
          </p:cNvSpPr>
          <p:nvPr/>
        </p:nvSpPr>
        <p:spPr bwMode="auto">
          <a:xfrm>
            <a:off x="914400" y="4022727"/>
            <a:ext cx="762000" cy="1354138"/>
          </a:xfrm>
          <a:prstGeom prst="rect">
            <a:avLst/>
          </a:prstGeom>
          <a:noFill/>
          <a:ln w="9525">
            <a:noFill/>
            <a:miter lim="800000"/>
            <a:headEnd/>
            <a:tailEnd/>
          </a:ln>
          <a:effectLst/>
        </p:spPr>
        <p:txBody>
          <a:bodyPr/>
          <a:lstStyle/>
          <a:p>
            <a:pPr eaLnBrk="1" hangingPunct="1">
              <a:spcBef>
                <a:spcPct val="20000"/>
              </a:spcBef>
            </a:pPr>
            <a:r>
              <a:rPr lang="fi-FI" sz="1600"/>
              <a:t>2</a:t>
            </a:r>
            <a:endParaRPr lang="en-GB" sz="1600"/>
          </a:p>
        </p:txBody>
      </p:sp>
      <p:sp>
        <p:nvSpPr>
          <p:cNvPr id="144391" name="Rectangle 7"/>
          <p:cNvSpPr>
            <a:spLocks noChangeArrowheads="1"/>
          </p:cNvSpPr>
          <p:nvPr/>
        </p:nvSpPr>
        <p:spPr bwMode="auto">
          <a:xfrm>
            <a:off x="6400800" y="2667002"/>
            <a:ext cx="1143000" cy="1355725"/>
          </a:xfrm>
          <a:prstGeom prst="rect">
            <a:avLst/>
          </a:prstGeom>
          <a:noFill/>
          <a:ln w="9525">
            <a:noFill/>
            <a:miter lim="800000"/>
            <a:headEnd/>
            <a:tailEnd/>
          </a:ln>
          <a:effectLst/>
        </p:spPr>
        <p:txBody>
          <a:bodyPr/>
          <a:lstStyle/>
          <a:p>
            <a:pPr eaLnBrk="1" hangingPunct="1">
              <a:spcBef>
                <a:spcPct val="20000"/>
              </a:spcBef>
            </a:pPr>
            <a:r>
              <a:rPr lang="fi-FI" sz="1600"/>
              <a:t>A1, A2, A3, A4, A8</a:t>
            </a:r>
            <a:endParaRPr lang="en-GB" sz="1600"/>
          </a:p>
        </p:txBody>
      </p:sp>
      <p:sp>
        <p:nvSpPr>
          <p:cNvPr id="144392" name="Rectangle 8"/>
          <p:cNvSpPr>
            <a:spLocks noChangeArrowheads="1"/>
          </p:cNvSpPr>
          <p:nvPr/>
        </p:nvSpPr>
        <p:spPr bwMode="auto">
          <a:xfrm>
            <a:off x="4343400" y="2667002"/>
            <a:ext cx="2057400" cy="1355725"/>
          </a:xfrm>
          <a:prstGeom prst="rect">
            <a:avLst/>
          </a:prstGeom>
          <a:noFill/>
          <a:ln w="9525">
            <a:noFill/>
            <a:miter lim="800000"/>
            <a:headEnd/>
            <a:tailEnd/>
          </a:ln>
          <a:effectLst/>
        </p:spPr>
        <p:txBody>
          <a:bodyPr/>
          <a:lstStyle/>
          <a:p>
            <a:pPr eaLnBrk="1" hangingPunct="1">
              <a:spcBef>
                <a:spcPct val="20000"/>
              </a:spcBef>
            </a:pPr>
            <a:r>
              <a:rPr lang="fi-FI" sz="1600"/>
              <a:t>Hyväksytty</a:t>
            </a:r>
            <a:endParaRPr lang="en-GB" sz="1600"/>
          </a:p>
        </p:txBody>
      </p:sp>
      <p:sp>
        <p:nvSpPr>
          <p:cNvPr id="144393" name="Rectangle 9"/>
          <p:cNvSpPr>
            <a:spLocks noChangeArrowheads="1"/>
          </p:cNvSpPr>
          <p:nvPr/>
        </p:nvSpPr>
        <p:spPr bwMode="auto">
          <a:xfrm>
            <a:off x="1676400" y="2667002"/>
            <a:ext cx="2667000" cy="1355725"/>
          </a:xfrm>
          <a:prstGeom prst="rect">
            <a:avLst/>
          </a:prstGeom>
          <a:noFill/>
          <a:ln w="9525">
            <a:noFill/>
            <a:miter lim="800000"/>
            <a:headEnd/>
            <a:tailEnd/>
          </a:ln>
          <a:effectLst/>
        </p:spPr>
        <p:txBody>
          <a:bodyPr/>
          <a:lstStyle/>
          <a:p>
            <a:pPr eaLnBrk="1" hangingPunct="1">
              <a:spcBef>
                <a:spcPct val="20000"/>
              </a:spcBef>
            </a:pPr>
            <a:r>
              <a:rPr lang="fi-FI" sz="1400" dirty="0"/>
              <a:t>Nimi: John Smith</a:t>
            </a:r>
          </a:p>
          <a:p>
            <a:pPr eaLnBrk="1" hangingPunct="1">
              <a:spcBef>
                <a:spcPct val="20000"/>
              </a:spcBef>
            </a:pPr>
            <a:r>
              <a:rPr lang="fi-FI" sz="1400" dirty="0"/>
              <a:t>Kortin tyyppi: Visa</a:t>
            </a:r>
          </a:p>
          <a:p>
            <a:pPr eaLnBrk="1" hangingPunct="1">
              <a:spcBef>
                <a:spcPct val="20000"/>
              </a:spcBef>
            </a:pPr>
            <a:r>
              <a:rPr lang="fi-FI" sz="1400" dirty="0"/>
              <a:t>Kortin numero: 1234 56...</a:t>
            </a:r>
          </a:p>
          <a:p>
            <a:pPr eaLnBrk="1" hangingPunct="1">
              <a:spcBef>
                <a:spcPct val="20000"/>
              </a:spcBef>
            </a:pPr>
            <a:r>
              <a:rPr lang="fi-FI" sz="1400" dirty="0"/>
              <a:t>Voimassa: 02/05</a:t>
            </a:r>
          </a:p>
          <a:p>
            <a:pPr eaLnBrk="1" hangingPunct="1">
              <a:spcBef>
                <a:spcPct val="20000"/>
              </a:spcBef>
            </a:pPr>
            <a:r>
              <a:rPr lang="en-GB" sz="1400" dirty="0"/>
              <a:t>Summa: 15€</a:t>
            </a:r>
          </a:p>
        </p:txBody>
      </p:sp>
      <p:sp>
        <p:nvSpPr>
          <p:cNvPr id="144394" name="Rectangle 10"/>
          <p:cNvSpPr>
            <a:spLocks noChangeArrowheads="1"/>
          </p:cNvSpPr>
          <p:nvPr/>
        </p:nvSpPr>
        <p:spPr bwMode="auto">
          <a:xfrm>
            <a:off x="914400" y="2667002"/>
            <a:ext cx="762000" cy="1355725"/>
          </a:xfrm>
          <a:prstGeom prst="rect">
            <a:avLst/>
          </a:prstGeom>
          <a:noFill/>
          <a:ln w="9525">
            <a:noFill/>
            <a:miter lim="800000"/>
            <a:headEnd/>
            <a:tailEnd/>
          </a:ln>
          <a:effectLst/>
        </p:spPr>
        <p:txBody>
          <a:bodyPr/>
          <a:lstStyle/>
          <a:p>
            <a:pPr eaLnBrk="1" hangingPunct="1">
              <a:spcBef>
                <a:spcPct val="20000"/>
              </a:spcBef>
            </a:pPr>
            <a:r>
              <a:rPr lang="fi-FI" sz="1600"/>
              <a:t>1</a:t>
            </a:r>
            <a:endParaRPr lang="en-GB" sz="1600"/>
          </a:p>
        </p:txBody>
      </p:sp>
      <p:sp>
        <p:nvSpPr>
          <p:cNvPr id="144395" name="Rectangle 11"/>
          <p:cNvSpPr>
            <a:spLocks noChangeArrowheads="1"/>
          </p:cNvSpPr>
          <p:nvPr/>
        </p:nvSpPr>
        <p:spPr bwMode="auto">
          <a:xfrm>
            <a:off x="6400800" y="2057400"/>
            <a:ext cx="1143000" cy="609600"/>
          </a:xfrm>
          <a:prstGeom prst="rect">
            <a:avLst/>
          </a:prstGeom>
          <a:solidFill>
            <a:schemeClr val="accent1"/>
          </a:solidFill>
          <a:ln w="9525">
            <a:noFill/>
            <a:miter lim="800000"/>
            <a:headEnd/>
            <a:tailEnd/>
          </a:ln>
          <a:effectLst/>
        </p:spPr>
        <p:txBody>
          <a:bodyPr/>
          <a:lstStyle/>
          <a:p>
            <a:pPr eaLnBrk="1" hangingPunct="1">
              <a:spcBef>
                <a:spcPct val="20000"/>
              </a:spcBef>
            </a:pPr>
            <a:r>
              <a:rPr lang="en-GB" sz="1600"/>
              <a:t>Katetut tapaukset</a:t>
            </a:r>
          </a:p>
        </p:txBody>
      </p:sp>
      <p:sp>
        <p:nvSpPr>
          <p:cNvPr id="144396" name="Rectangle 12"/>
          <p:cNvSpPr>
            <a:spLocks noChangeArrowheads="1"/>
          </p:cNvSpPr>
          <p:nvPr/>
        </p:nvSpPr>
        <p:spPr bwMode="auto">
          <a:xfrm>
            <a:off x="4343400" y="2057400"/>
            <a:ext cx="2057400" cy="609600"/>
          </a:xfrm>
          <a:prstGeom prst="rect">
            <a:avLst/>
          </a:prstGeom>
          <a:solidFill>
            <a:schemeClr val="accent1"/>
          </a:solidFill>
          <a:ln w="9525">
            <a:noFill/>
            <a:miter lim="800000"/>
            <a:headEnd/>
            <a:tailEnd/>
          </a:ln>
          <a:effectLst/>
        </p:spPr>
        <p:txBody>
          <a:bodyPr/>
          <a:lstStyle/>
          <a:p>
            <a:pPr eaLnBrk="1" hangingPunct="1">
              <a:spcBef>
                <a:spcPct val="20000"/>
              </a:spcBef>
            </a:pPr>
            <a:r>
              <a:rPr lang="fi-FI" sz="1600"/>
              <a:t>Odotettu tulos</a:t>
            </a:r>
            <a:endParaRPr lang="en-GB" sz="1600"/>
          </a:p>
        </p:txBody>
      </p:sp>
      <p:sp>
        <p:nvSpPr>
          <p:cNvPr id="144397" name="Rectangle 13"/>
          <p:cNvSpPr>
            <a:spLocks noChangeArrowheads="1"/>
          </p:cNvSpPr>
          <p:nvPr/>
        </p:nvSpPr>
        <p:spPr bwMode="auto">
          <a:xfrm>
            <a:off x="1676400" y="2057400"/>
            <a:ext cx="2667000" cy="609600"/>
          </a:xfrm>
          <a:prstGeom prst="rect">
            <a:avLst/>
          </a:prstGeom>
          <a:solidFill>
            <a:schemeClr val="accent1"/>
          </a:solidFill>
          <a:ln w="9525">
            <a:noFill/>
            <a:miter lim="800000"/>
            <a:headEnd/>
            <a:tailEnd/>
          </a:ln>
          <a:effectLst/>
        </p:spPr>
        <p:txBody>
          <a:bodyPr/>
          <a:lstStyle/>
          <a:p>
            <a:pPr eaLnBrk="1" hangingPunct="1">
              <a:spcBef>
                <a:spcPct val="20000"/>
              </a:spcBef>
            </a:pPr>
            <a:r>
              <a:rPr lang="fi-FI" sz="1600"/>
              <a:t>Kuvaus</a:t>
            </a:r>
            <a:endParaRPr lang="en-GB" sz="1600"/>
          </a:p>
        </p:txBody>
      </p:sp>
      <p:sp>
        <p:nvSpPr>
          <p:cNvPr id="144398" name="Rectangle 14"/>
          <p:cNvSpPr>
            <a:spLocks noChangeArrowheads="1"/>
          </p:cNvSpPr>
          <p:nvPr/>
        </p:nvSpPr>
        <p:spPr bwMode="auto">
          <a:xfrm>
            <a:off x="914400" y="2057400"/>
            <a:ext cx="762000" cy="609600"/>
          </a:xfrm>
          <a:prstGeom prst="rect">
            <a:avLst/>
          </a:prstGeom>
          <a:solidFill>
            <a:schemeClr val="accent1"/>
          </a:solidFill>
          <a:ln w="9525">
            <a:noFill/>
            <a:miter lim="800000"/>
            <a:headEnd/>
            <a:tailEnd/>
          </a:ln>
          <a:effectLst/>
        </p:spPr>
        <p:txBody>
          <a:bodyPr/>
          <a:lstStyle/>
          <a:p>
            <a:pPr eaLnBrk="1" hangingPunct="1">
              <a:spcBef>
                <a:spcPct val="20000"/>
              </a:spcBef>
            </a:pPr>
            <a:r>
              <a:rPr lang="fi-FI" sz="1400"/>
              <a:t>Testi-tapaus</a:t>
            </a:r>
            <a:endParaRPr lang="en-GB" sz="1400"/>
          </a:p>
        </p:txBody>
      </p:sp>
      <p:sp>
        <p:nvSpPr>
          <p:cNvPr id="144399" name="Line 15"/>
          <p:cNvSpPr>
            <a:spLocks noChangeShapeType="1"/>
          </p:cNvSpPr>
          <p:nvPr/>
        </p:nvSpPr>
        <p:spPr bwMode="auto">
          <a:xfrm>
            <a:off x="914400" y="2057400"/>
            <a:ext cx="6629400" cy="0"/>
          </a:xfrm>
          <a:prstGeom prst="line">
            <a:avLst/>
          </a:prstGeom>
          <a:noFill/>
          <a:ln w="12700" cap="sq">
            <a:solidFill>
              <a:srgbClr val="000000"/>
            </a:solidFill>
            <a:round/>
            <a:headEnd/>
            <a:tailEnd/>
          </a:ln>
          <a:effectLst/>
        </p:spPr>
        <p:txBody>
          <a:bodyPr anchor="ctr">
            <a:spAutoFit/>
          </a:bodyPr>
          <a:lstStyle/>
          <a:p>
            <a:endParaRPr lang="fi-FI"/>
          </a:p>
        </p:txBody>
      </p:sp>
      <p:sp>
        <p:nvSpPr>
          <p:cNvPr id="144400" name="Line 16"/>
          <p:cNvSpPr>
            <a:spLocks noChangeShapeType="1"/>
          </p:cNvSpPr>
          <p:nvPr/>
        </p:nvSpPr>
        <p:spPr bwMode="auto">
          <a:xfrm>
            <a:off x="914400" y="2667000"/>
            <a:ext cx="6629400" cy="0"/>
          </a:xfrm>
          <a:prstGeom prst="line">
            <a:avLst/>
          </a:prstGeom>
          <a:noFill/>
          <a:ln w="12700">
            <a:solidFill>
              <a:srgbClr val="000000"/>
            </a:solidFill>
            <a:round/>
            <a:headEnd/>
            <a:tailEnd/>
          </a:ln>
          <a:effectLst/>
        </p:spPr>
        <p:txBody>
          <a:bodyPr anchor="ctr">
            <a:spAutoFit/>
          </a:bodyPr>
          <a:lstStyle/>
          <a:p>
            <a:endParaRPr lang="fi-FI"/>
          </a:p>
        </p:txBody>
      </p:sp>
      <p:sp>
        <p:nvSpPr>
          <p:cNvPr id="144401" name="Line 17"/>
          <p:cNvSpPr>
            <a:spLocks noChangeShapeType="1"/>
          </p:cNvSpPr>
          <p:nvPr/>
        </p:nvSpPr>
        <p:spPr bwMode="auto">
          <a:xfrm>
            <a:off x="914400" y="4022725"/>
            <a:ext cx="6629400" cy="0"/>
          </a:xfrm>
          <a:prstGeom prst="line">
            <a:avLst/>
          </a:prstGeom>
          <a:noFill/>
          <a:ln w="12700">
            <a:solidFill>
              <a:srgbClr val="000000"/>
            </a:solidFill>
            <a:round/>
            <a:headEnd/>
            <a:tailEnd/>
          </a:ln>
          <a:effectLst/>
        </p:spPr>
        <p:txBody>
          <a:bodyPr anchor="ctr">
            <a:spAutoFit/>
          </a:bodyPr>
          <a:lstStyle/>
          <a:p>
            <a:endParaRPr lang="fi-FI"/>
          </a:p>
        </p:txBody>
      </p:sp>
      <p:sp>
        <p:nvSpPr>
          <p:cNvPr id="144402" name="Line 18"/>
          <p:cNvSpPr>
            <a:spLocks noChangeShapeType="1"/>
          </p:cNvSpPr>
          <p:nvPr/>
        </p:nvSpPr>
        <p:spPr bwMode="auto">
          <a:xfrm>
            <a:off x="914400" y="5376863"/>
            <a:ext cx="6629400" cy="0"/>
          </a:xfrm>
          <a:prstGeom prst="line">
            <a:avLst/>
          </a:prstGeom>
          <a:noFill/>
          <a:ln w="12700" cap="sq">
            <a:solidFill>
              <a:srgbClr val="000000"/>
            </a:solidFill>
            <a:round/>
            <a:headEnd/>
            <a:tailEnd/>
          </a:ln>
          <a:effectLst/>
        </p:spPr>
        <p:txBody>
          <a:bodyPr anchor="ctr">
            <a:spAutoFit/>
          </a:bodyPr>
          <a:lstStyle/>
          <a:p>
            <a:endParaRPr lang="fi-FI"/>
          </a:p>
        </p:txBody>
      </p:sp>
      <p:sp>
        <p:nvSpPr>
          <p:cNvPr id="144403" name="Line 19"/>
          <p:cNvSpPr>
            <a:spLocks noChangeShapeType="1"/>
          </p:cNvSpPr>
          <p:nvPr/>
        </p:nvSpPr>
        <p:spPr bwMode="auto">
          <a:xfrm>
            <a:off x="914400" y="2057402"/>
            <a:ext cx="0" cy="3319463"/>
          </a:xfrm>
          <a:prstGeom prst="line">
            <a:avLst/>
          </a:prstGeom>
          <a:noFill/>
          <a:ln w="12700" cap="sq">
            <a:solidFill>
              <a:srgbClr val="000000"/>
            </a:solidFill>
            <a:round/>
            <a:headEnd/>
            <a:tailEnd/>
          </a:ln>
          <a:effectLst/>
        </p:spPr>
        <p:txBody>
          <a:bodyPr anchor="ctr">
            <a:spAutoFit/>
          </a:bodyPr>
          <a:lstStyle/>
          <a:p>
            <a:endParaRPr lang="fi-FI"/>
          </a:p>
        </p:txBody>
      </p:sp>
      <p:sp>
        <p:nvSpPr>
          <p:cNvPr id="144404" name="Line 20"/>
          <p:cNvSpPr>
            <a:spLocks noChangeShapeType="1"/>
          </p:cNvSpPr>
          <p:nvPr/>
        </p:nvSpPr>
        <p:spPr bwMode="auto">
          <a:xfrm>
            <a:off x="1676400" y="2057402"/>
            <a:ext cx="0" cy="3319463"/>
          </a:xfrm>
          <a:prstGeom prst="line">
            <a:avLst/>
          </a:prstGeom>
          <a:noFill/>
          <a:ln w="12700">
            <a:solidFill>
              <a:srgbClr val="000000"/>
            </a:solidFill>
            <a:round/>
            <a:headEnd/>
            <a:tailEnd/>
          </a:ln>
          <a:effectLst/>
        </p:spPr>
        <p:txBody>
          <a:bodyPr anchor="ctr">
            <a:spAutoFit/>
          </a:bodyPr>
          <a:lstStyle/>
          <a:p>
            <a:endParaRPr lang="fi-FI"/>
          </a:p>
        </p:txBody>
      </p:sp>
      <p:sp>
        <p:nvSpPr>
          <p:cNvPr id="144405" name="Line 21"/>
          <p:cNvSpPr>
            <a:spLocks noChangeShapeType="1"/>
          </p:cNvSpPr>
          <p:nvPr/>
        </p:nvSpPr>
        <p:spPr bwMode="auto">
          <a:xfrm>
            <a:off x="4343400" y="2057402"/>
            <a:ext cx="0" cy="3319463"/>
          </a:xfrm>
          <a:prstGeom prst="line">
            <a:avLst/>
          </a:prstGeom>
          <a:noFill/>
          <a:ln w="12700">
            <a:solidFill>
              <a:srgbClr val="000000"/>
            </a:solidFill>
            <a:round/>
            <a:headEnd/>
            <a:tailEnd/>
          </a:ln>
          <a:effectLst/>
        </p:spPr>
        <p:txBody>
          <a:bodyPr anchor="ctr">
            <a:spAutoFit/>
          </a:bodyPr>
          <a:lstStyle/>
          <a:p>
            <a:endParaRPr lang="fi-FI"/>
          </a:p>
        </p:txBody>
      </p:sp>
      <p:sp>
        <p:nvSpPr>
          <p:cNvPr id="144406" name="Line 22"/>
          <p:cNvSpPr>
            <a:spLocks noChangeShapeType="1"/>
          </p:cNvSpPr>
          <p:nvPr/>
        </p:nvSpPr>
        <p:spPr bwMode="auto">
          <a:xfrm>
            <a:off x="6400800" y="2057402"/>
            <a:ext cx="0" cy="3319463"/>
          </a:xfrm>
          <a:prstGeom prst="line">
            <a:avLst/>
          </a:prstGeom>
          <a:noFill/>
          <a:ln w="12700">
            <a:solidFill>
              <a:srgbClr val="000000"/>
            </a:solidFill>
            <a:round/>
            <a:headEnd/>
            <a:tailEnd/>
          </a:ln>
          <a:effectLst/>
        </p:spPr>
        <p:txBody>
          <a:bodyPr anchor="ctr">
            <a:spAutoFit/>
          </a:bodyPr>
          <a:lstStyle/>
          <a:p>
            <a:endParaRPr lang="fi-FI"/>
          </a:p>
        </p:txBody>
      </p:sp>
      <p:sp>
        <p:nvSpPr>
          <p:cNvPr id="144407" name="Line 23"/>
          <p:cNvSpPr>
            <a:spLocks noChangeShapeType="1"/>
          </p:cNvSpPr>
          <p:nvPr/>
        </p:nvSpPr>
        <p:spPr bwMode="auto">
          <a:xfrm>
            <a:off x="7543800" y="2057402"/>
            <a:ext cx="0" cy="3319463"/>
          </a:xfrm>
          <a:prstGeom prst="line">
            <a:avLst/>
          </a:prstGeom>
          <a:noFill/>
          <a:ln w="12700" cap="sq">
            <a:solidFill>
              <a:srgbClr val="000000"/>
            </a:solidFill>
            <a:round/>
            <a:headEnd/>
            <a:tailEnd/>
          </a:ln>
          <a:effectLst/>
        </p:spPr>
        <p:txBody>
          <a:bodyPr anchor="ctr">
            <a:spAutoFit/>
          </a:bodyPr>
          <a:lstStyle/>
          <a:p>
            <a:endParaRPr lang="fi-FI"/>
          </a:p>
        </p:txBody>
      </p:sp>
    </p:spTree>
  </p:cSld>
  <p:clrMapOvr>
    <a:masterClrMapping/>
  </p:clrMapOvr>
  <p:transition xmlns:p14="http://schemas.microsoft.com/office/powerpoint/2010/main">
    <p:random/>
  </p:transition>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4"/>
          <p:cNvSpPr>
            <a:spLocks noGrp="1"/>
          </p:cNvSpPr>
          <p:nvPr>
            <p:ph type="sldNum" sz="quarter" idx="12"/>
          </p:nvPr>
        </p:nvSpPr>
        <p:spPr/>
        <p:txBody>
          <a:bodyPr/>
          <a:lstStyle/>
          <a:p>
            <a:fld id="{973B9EEB-AD85-45C9-A4BE-5D3487FBF587}" type="slidenum">
              <a:rPr lang="en-US"/>
              <a:pPr/>
              <a:t>33</a:t>
            </a:fld>
            <a:endParaRPr lang="en-US"/>
          </a:p>
        </p:txBody>
      </p:sp>
      <p:sp>
        <p:nvSpPr>
          <p:cNvPr id="114690" name="Rectangle 2"/>
          <p:cNvSpPr>
            <a:spLocks noChangeArrowheads="1"/>
          </p:cNvSpPr>
          <p:nvPr/>
        </p:nvSpPr>
        <p:spPr bwMode="auto">
          <a:xfrm>
            <a:off x="6019800" y="685800"/>
            <a:ext cx="3048000" cy="990600"/>
          </a:xfrm>
          <a:prstGeom prst="rect">
            <a:avLst/>
          </a:prstGeom>
          <a:solidFill>
            <a:schemeClr val="bg2">
              <a:alpha val="50000"/>
            </a:schemeClr>
          </a:solidFill>
          <a:ln w="12700">
            <a:noFill/>
            <a:miter lim="800000"/>
            <a:headEnd/>
            <a:tailEnd/>
          </a:ln>
          <a:effectLst/>
        </p:spPr>
        <p:txBody>
          <a:bodyPr wrap="none" lIns="90000" tIns="46800" rIns="90000" bIns="46800" anchor="ctr"/>
          <a:lstStyle/>
          <a:p>
            <a:endParaRPr lang="fi-FI"/>
          </a:p>
        </p:txBody>
      </p:sp>
      <p:sp>
        <p:nvSpPr>
          <p:cNvPr id="114691" name="Rectangle 3"/>
          <p:cNvSpPr>
            <a:spLocks noGrp="1" noChangeArrowheads="1"/>
          </p:cNvSpPr>
          <p:nvPr>
            <p:ph type="title"/>
          </p:nvPr>
        </p:nvSpPr>
        <p:spPr/>
        <p:txBody>
          <a:bodyPr>
            <a:normAutofit fontScale="90000"/>
          </a:bodyPr>
          <a:lstStyle/>
          <a:p>
            <a:pPr defTabSz="762000"/>
            <a:r>
              <a:rPr lang="en-GB" dirty="0" err="1" smtClean="0"/>
              <a:t>Luokittelupuut</a:t>
            </a:r>
            <a:r>
              <a:rPr lang="en-GB" dirty="0"/>
              <a:t/>
            </a:r>
            <a:br>
              <a:rPr lang="en-GB" dirty="0"/>
            </a:br>
            <a:endParaRPr lang="en-GB" dirty="0"/>
          </a:p>
        </p:txBody>
      </p:sp>
      <p:sp>
        <p:nvSpPr>
          <p:cNvPr id="114692" name="Rectangle 4"/>
          <p:cNvSpPr>
            <a:spLocks noChangeArrowheads="1"/>
          </p:cNvSpPr>
          <p:nvPr/>
        </p:nvSpPr>
        <p:spPr bwMode="auto">
          <a:xfrm>
            <a:off x="3200400" y="1295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a:cs typeface="Arial" pitchFamily="34" charset="0"/>
              </a:rPr>
              <a:t>sisäänkirjautuminen</a:t>
            </a:r>
          </a:p>
        </p:txBody>
      </p:sp>
      <p:sp>
        <p:nvSpPr>
          <p:cNvPr id="114693" name="Rectangle 5"/>
          <p:cNvSpPr>
            <a:spLocks noChangeArrowheads="1"/>
          </p:cNvSpPr>
          <p:nvPr/>
        </p:nvSpPr>
        <p:spPr bwMode="auto">
          <a:xfrm>
            <a:off x="6096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dirty="0" err="1">
                <a:cs typeface="Arial" pitchFamily="34" charset="0"/>
              </a:rPr>
              <a:t>Sähköposti</a:t>
            </a:r>
            <a:endParaRPr lang="en-GB" sz="1600" dirty="0">
              <a:cs typeface="Arial" pitchFamily="34" charset="0"/>
            </a:endParaRPr>
          </a:p>
        </p:txBody>
      </p:sp>
      <p:sp>
        <p:nvSpPr>
          <p:cNvPr id="114694" name="Rectangle 6"/>
          <p:cNvSpPr>
            <a:spLocks noChangeArrowheads="1"/>
          </p:cNvSpPr>
          <p:nvPr/>
        </p:nvSpPr>
        <p:spPr bwMode="auto">
          <a:xfrm>
            <a:off x="32004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a:cs typeface="Arial" pitchFamily="34" charset="0"/>
              </a:rPr>
              <a:t>Salasana </a:t>
            </a:r>
          </a:p>
        </p:txBody>
      </p:sp>
      <p:sp>
        <p:nvSpPr>
          <p:cNvPr id="114695" name="Rectangle 7"/>
          <p:cNvSpPr>
            <a:spLocks noChangeArrowheads="1"/>
          </p:cNvSpPr>
          <p:nvPr/>
        </p:nvSpPr>
        <p:spPr bwMode="auto">
          <a:xfrm>
            <a:off x="57912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a:cs typeface="Arial" pitchFamily="34" charset="0"/>
              </a:rPr>
              <a:t>Toiminto </a:t>
            </a:r>
          </a:p>
        </p:txBody>
      </p:sp>
      <p:sp>
        <p:nvSpPr>
          <p:cNvPr id="114696" name="Rectangle 8"/>
          <p:cNvSpPr>
            <a:spLocks noChangeArrowheads="1"/>
          </p:cNvSpPr>
          <p:nvPr/>
        </p:nvSpPr>
        <p:spPr bwMode="auto">
          <a:xfrm>
            <a:off x="7162800" y="762000"/>
            <a:ext cx="1828800" cy="152400"/>
          </a:xfrm>
          <a:prstGeom prst="rect">
            <a:avLst/>
          </a:prstGeom>
          <a:noFill/>
          <a:ln w="12700">
            <a:solidFill>
              <a:schemeClr val="tx1"/>
            </a:solidFill>
            <a:miter lim="800000"/>
            <a:headEnd/>
            <a:tailEnd/>
          </a:ln>
          <a:effectLst/>
        </p:spPr>
        <p:txBody>
          <a:bodyPr wrap="none" lIns="90000" tIns="46800" rIns="90000" bIns="46800" anchor="ctr"/>
          <a:lstStyle/>
          <a:p>
            <a:endParaRPr lang="fi-FI"/>
          </a:p>
        </p:txBody>
      </p:sp>
      <p:sp>
        <p:nvSpPr>
          <p:cNvPr id="114697" name="Rectangle 9"/>
          <p:cNvSpPr>
            <a:spLocks noChangeArrowheads="1"/>
          </p:cNvSpPr>
          <p:nvPr/>
        </p:nvSpPr>
        <p:spPr bwMode="auto">
          <a:xfrm>
            <a:off x="7162800" y="990600"/>
            <a:ext cx="1828800" cy="152400"/>
          </a:xfrm>
          <a:prstGeom prst="rect">
            <a:avLst/>
          </a:prstGeom>
          <a:noFill/>
          <a:ln w="12700">
            <a:solidFill>
              <a:schemeClr val="tx1"/>
            </a:solidFill>
            <a:miter lim="800000"/>
            <a:headEnd/>
            <a:tailEnd/>
          </a:ln>
          <a:effectLst/>
        </p:spPr>
        <p:txBody>
          <a:bodyPr wrap="none" lIns="90000" tIns="46800" rIns="90000" bIns="46800" anchor="ctr"/>
          <a:lstStyle/>
          <a:p>
            <a:endParaRPr lang="fi-FI"/>
          </a:p>
        </p:txBody>
      </p:sp>
      <p:sp>
        <p:nvSpPr>
          <p:cNvPr id="114698" name="Rectangle 10"/>
          <p:cNvSpPr>
            <a:spLocks noChangeArrowheads="1"/>
          </p:cNvSpPr>
          <p:nvPr/>
        </p:nvSpPr>
        <p:spPr bwMode="auto">
          <a:xfrm>
            <a:off x="7315200" y="1295400"/>
            <a:ext cx="609600" cy="304800"/>
          </a:xfrm>
          <a:prstGeom prst="rect">
            <a:avLst/>
          </a:prstGeom>
          <a:noFill/>
          <a:ln w="12700">
            <a:solidFill>
              <a:schemeClr val="tx1"/>
            </a:solidFill>
            <a:miter lim="800000"/>
            <a:headEnd/>
            <a:tailEnd/>
          </a:ln>
          <a:effectLst/>
        </p:spPr>
        <p:txBody>
          <a:bodyPr wrap="none" lIns="90000" tIns="46800" rIns="90000" bIns="46800" anchor="ctr"/>
          <a:lstStyle/>
          <a:p>
            <a:pPr algn="ctr"/>
            <a:r>
              <a:rPr lang="en-GB" sz="1600">
                <a:cs typeface="Arial" pitchFamily="34" charset="0"/>
              </a:rPr>
              <a:t>Login</a:t>
            </a:r>
          </a:p>
        </p:txBody>
      </p:sp>
      <p:sp>
        <p:nvSpPr>
          <p:cNvPr id="114699" name="Rectangle 11"/>
          <p:cNvSpPr>
            <a:spLocks noChangeArrowheads="1"/>
          </p:cNvSpPr>
          <p:nvPr/>
        </p:nvSpPr>
        <p:spPr bwMode="auto">
          <a:xfrm>
            <a:off x="8077200" y="1295400"/>
            <a:ext cx="609600" cy="304800"/>
          </a:xfrm>
          <a:prstGeom prst="rect">
            <a:avLst/>
          </a:prstGeom>
          <a:noFill/>
          <a:ln w="12700">
            <a:solidFill>
              <a:schemeClr val="tx1"/>
            </a:solidFill>
            <a:miter lim="800000"/>
            <a:headEnd/>
            <a:tailEnd/>
          </a:ln>
          <a:effectLst/>
        </p:spPr>
        <p:txBody>
          <a:bodyPr wrap="none" lIns="90000" tIns="46800" rIns="90000" bIns="46800" anchor="ctr"/>
          <a:lstStyle/>
          <a:p>
            <a:pPr algn="ctr"/>
            <a:r>
              <a:rPr lang="en-GB" sz="1600">
                <a:cs typeface="Arial" pitchFamily="34" charset="0"/>
              </a:rPr>
              <a:t>Clear</a:t>
            </a:r>
          </a:p>
        </p:txBody>
      </p:sp>
      <p:sp>
        <p:nvSpPr>
          <p:cNvPr id="114700" name="Text Box 12"/>
          <p:cNvSpPr txBox="1">
            <a:spLocks noChangeArrowheads="1"/>
          </p:cNvSpPr>
          <p:nvPr/>
        </p:nvSpPr>
        <p:spPr bwMode="auto">
          <a:xfrm>
            <a:off x="5181600" y="654052"/>
            <a:ext cx="1981200" cy="340735"/>
          </a:xfrm>
          <a:prstGeom prst="rect">
            <a:avLst/>
          </a:prstGeom>
          <a:noFill/>
          <a:ln w="12700">
            <a:noFill/>
            <a:miter lim="800000"/>
            <a:headEnd/>
            <a:tailEnd/>
          </a:ln>
          <a:effectLst/>
        </p:spPr>
        <p:txBody>
          <a:bodyPr lIns="90000" tIns="46800" rIns="90000" bIns="46800">
            <a:spAutoFit/>
          </a:bodyPr>
          <a:lstStyle/>
          <a:p>
            <a:pPr algn="r">
              <a:spcBef>
                <a:spcPct val="50000"/>
              </a:spcBef>
            </a:pPr>
            <a:r>
              <a:rPr lang="en-GB" sz="1600">
                <a:latin typeface="MetaPlusNormal" charset="0"/>
                <a:cs typeface="Arial" pitchFamily="34" charset="0"/>
              </a:rPr>
              <a:t>sähköposti</a:t>
            </a:r>
          </a:p>
        </p:txBody>
      </p:sp>
      <p:sp>
        <p:nvSpPr>
          <p:cNvPr id="114701" name="Text Box 13"/>
          <p:cNvSpPr txBox="1">
            <a:spLocks noChangeArrowheads="1"/>
          </p:cNvSpPr>
          <p:nvPr/>
        </p:nvSpPr>
        <p:spPr bwMode="auto">
          <a:xfrm>
            <a:off x="5181600" y="914402"/>
            <a:ext cx="1981200" cy="340735"/>
          </a:xfrm>
          <a:prstGeom prst="rect">
            <a:avLst/>
          </a:prstGeom>
          <a:noFill/>
          <a:ln w="12700">
            <a:noFill/>
            <a:miter lim="800000"/>
            <a:headEnd/>
            <a:tailEnd/>
          </a:ln>
          <a:effectLst/>
        </p:spPr>
        <p:txBody>
          <a:bodyPr lIns="90000" tIns="46800" rIns="90000" bIns="46800">
            <a:spAutoFit/>
          </a:bodyPr>
          <a:lstStyle/>
          <a:p>
            <a:pPr algn="r">
              <a:spcBef>
                <a:spcPct val="50000"/>
              </a:spcBef>
            </a:pPr>
            <a:r>
              <a:rPr lang="en-GB" sz="1600">
                <a:cs typeface="Arial" pitchFamily="34" charset="0"/>
              </a:rPr>
              <a:t>salasana</a:t>
            </a:r>
          </a:p>
        </p:txBody>
      </p:sp>
      <p:sp>
        <p:nvSpPr>
          <p:cNvPr id="114702" name="Text Box 14"/>
          <p:cNvSpPr txBox="1">
            <a:spLocks noChangeArrowheads="1"/>
          </p:cNvSpPr>
          <p:nvPr/>
        </p:nvSpPr>
        <p:spPr bwMode="auto">
          <a:xfrm>
            <a:off x="2590800" y="3733801"/>
            <a:ext cx="1219200" cy="586957"/>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erikois-merkkejä</a:t>
            </a:r>
          </a:p>
        </p:txBody>
      </p:sp>
      <p:sp>
        <p:nvSpPr>
          <p:cNvPr id="114703" name="Text Box 15"/>
          <p:cNvSpPr txBox="1">
            <a:spLocks noChangeArrowheads="1"/>
          </p:cNvSpPr>
          <p:nvPr/>
        </p:nvSpPr>
        <p:spPr bwMode="auto">
          <a:xfrm>
            <a:off x="3581400" y="3733802"/>
            <a:ext cx="1219200" cy="586957"/>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ei erikois-merkkejä</a:t>
            </a:r>
          </a:p>
        </p:txBody>
      </p:sp>
      <p:cxnSp>
        <p:nvCxnSpPr>
          <p:cNvPr id="114704" name="AutoShape 16"/>
          <p:cNvCxnSpPr>
            <a:cxnSpLocks noChangeShapeType="1"/>
            <a:stCxn id="114692" idx="2"/>
            <a:endCxn id="114694" idx="0"/>
          </p:cNvCxnSpPr>
          <p:nvPr/>
        </p:nvCxnSpPr>
        <p:spPr bwMode="auto">
          <a:xfrm rot="5400000">
            <a:off x="4343400" y="1981200"/>
            <a:ext cx="152400" cy="0"/>
          </a:xfrm>
          <a:prstGeom prst="straightConnector1">
            <a:avLst/>
          </a:prstGeom>
          <a:noFill/>
          <a:ln w="12700">
            <a:solidFill>
              <a:schemeClr val="tx1"/>
            </a:solidFill>
            <a:round/>
            <a:headEnd/>
            <a:tailEnd/>
          </a:ln>
          <a:effectLst/>
        </p:spPr>
      </p:cxnSp>
      <p:cxnSp>
        <p:nvCxnSpPr>
          <p:cNvPr id="114705" name="AutoShape 17"/>
          <p:cNvCxnSpPr>
            <a:cxnSpLocks noChangeShapeType="1"/>
            <a:stCxn id="114692" idx="2"/>
            <a:endCxn id="114693" idx="0"/>
          </p:cNvCxnSpPr>
          <p:nvPr/>
        </p:nvCxnSpPr>
        <p:spPr bwMode="auto">
          <a:xfrm rot="5400000">
            <a:off x="3048000" y="685800"/>
            <a:ext cx="152400" cy="2590800"/>
          </a:xfrm>
          <a:prstGeom prst="bentConnector3">
            <a:avLst>
              <a:gd name="adj1" fmla="val 50000"/>
            </a:avLst>
          </a:prstGeom>
          <a:noFill/>
          <a:ln w="12700">
            <a:solidFill>
              <a:schemeClr val="tx1"/>
            </a:solidFill>
            <a:miter lim="800000"/>
            <a:headEnd/>
            <a:tailEnd/>
          </a:ln>
          <a:effectLst/>
        </p:spPr>
      </p:cxnSp>
      <p:cxnSp>
        <p:nvCxnSpPr>
          <p:cNvPr id="114706" name="AutoShape 18"/>
          <p:cNvCxnSpPr>
            <a:cxnSpLocks noChangeShapeType="1"/>
            <a:stCxn id="114692" idx="2"/>
            <a:endCxn id="114695" idx="0"/>
          </p:cNvCxnSpPr>
          <p:nvPr/>
        </p:nvCxnSpPr>
        <p:spPr bwMode="auto">
          <a:xfrm rot="16200000" flipH="1">
            <a:off x="5638800" y="685800"/>
            <a:ext cx="152400" cy="2590800"/>
          </a:xfrm>
          <a:prstGeom prst="bentConnector3">
            <a:avLst>
              <a:gd name="adj1" fmla="val 50000"/>
            </a:avLst>
          </a:prstGeom>
          <a:noFill/>
          <a:ln w="12700">
            <a:solidFill>
              <a:schemeClr val="tx1"/>
            </a:solidFill>
            <a:miter lim="800000"/>
            <a:headEnd/>
            <a:tailEnd/>
          </a:ln>
          <a:effectLst/>
        </p:spPr>
      </p:cxnSp>
      <p:cxnSp>
        <p:nvCxnSpPr>
          <p:cNvPr id="114707" name="AutoShape 19"/>
          <p:cNvCxnSpPr>
            <a:cxnSpLocks noChangeShapeType="1"/>
            <a:stCxn id="114693" idx="2"/>
            <a:endCxn id="114739" idx="0"/>
          </p:cNvCxnSpPr>
          <p:nvPr/>
        </p:nvCxnSpPr>
        <p:spPr bwMode="auto">
          <a:xfrm rot="5400000">
            <a:off x="1142999" y="2514601"/>
            <a:ext cx="533402" cy="838200"/>
          </a:xfrm>
          <a:prstGeom prst="bentConnector3">
            <a:avLst>
              <a:gd name="adj1" fmla="val 50000"/>
            </a:avLst>
          </a:prstGeom>
          <a:noFill/>
          <a:ln w="12700">
            <a:solidFill>
              <a:schemeClr val="tx1"/>
            </a:solidFill>
            <a:miter lim="800000"/>
            <a:headEnd/>
            <a:tailEnd/>
          </a:ln>
          <a:effectLst/>
        </p:spPr>
      </p:cxnSp>
      <p:cxnSp>
        <p:nvCxnSpPr>
          <p:cNvPr id="114708" name="AutoShape 20"/>
          <p:cNvCxnSpPr>
            <a:cxnSpLocks noChangeShapeType="1"/>
            <a:stCxn id="114693" idx="2"/>
            <a:endCxn id="114740" idx="2"/>
          </p:cNvCxnSpPr>
          <p:nvPr/>
        </p:nvCxnSpPr>
        <p:spPr bwMode="auto">
          <a:xfrm rot="16200000" flipH="1">
            <a:off x="1582232" y="2913568"/>
            <a:ext cx="874137" cy="381000"/>
          </a:xfrm>
          <a:prstGeom prst="bentConnector5">
            <a:avLst>
              <a:gd name="adj1" fmla="val 30510"/>
              <a:gd name="adj2" fmla="val 320000"/>
              <a:gd name="adj3" fmla="val 126152"/>
            </a:avLst>
          </a:prstGeom>
          <a:noFill/>
          <a:ln w="12700">
            <a:noFill/>
            <a:miter lim="800000"/>
            <a:headEnd/>
            <a:tailEnd/>
          </a:ln>
          <a:effectLst/>
        </p:spPr>
      </p:cxnSp>
      <p:cxnSp>
        <p:nvCxnSpPr>
          <p:cNvPr id="114709" name="AutoShape 21"/>
          <p:cNvCxnSpPr>
            <a:cxnSpLocks noChangeShapeType="1"/>
            <a:stCxn id="114693" idx="2"/>
            <a:endCxn id="114740" idx="0"/>
          </p:cNvCxnSpPr>
          <p:nvPr/>
        </p:nvCxnSpPr>
        <p:spPr bwMode="auto">
          <a:xfrm rot="16200000" flipH="1">
            <a:off x="1752599" y="2743201"/>
            <a:ext cx="533402" cy="381000"/>
          </a:xfrm>
          <a:prstGeom prst="bentConnector3">
            <a:avLst>
              <a:gd name="adj1" fmla="val 50000"/>
            </a:avLst>
          </a:prstGeom>
          <a:noFill/>
          <a:ln w="12700">
            <a:solidFill>
              <a:schemeClr val="tx1"/>
            </a:solidFill>
            <a:miter lim="800000"/>
            <a:headEnd/>
            <a:tailEnd/>
          </a:ln>
          <a:effectLst/>
        </p:spPr>
      </p:cxnSp>
      <p:cxnSp>
        <p:nvCxnSpPr>
          <p:cNvPr id="114710" name="AutoShape 22"/>
          <p:cNvCxnSpPr>
            <a:cxnSpLocks noChangeShapeType="1"/>
            <a:stCxn id="114694" idx="2"/>
            <a:endCxn id="114741" idx="0"/>
          </p:cNvCxnSpPr>
          <p:nvPr/>
        </p:nvCxnSpPr>
        <p:spPr bwMode="auto">
          <a:xfrm rot="5400000">
            <a:off x="3809999" y="2590801"/>
            <a:ext cx="533402" cy="685800"/>
          </a:xfrm>
          <a:prstGeom prst="bentConnector3">
            <a:avLst>
              <a:gd name="adj1" fmla="val 50000"/>
            </a:avLst>
          </a:prstGeom>
          <a:noFill/>
          <a:ln w="12700">
            <a:solidFill>
              <a:schemeClr val="tx1"/>
            </a:solidFill>
            <a:miter lim="800000"/>
            <a:headEnd/>
            <a:tailEnd/>
          </a:ln>
          <a:effectLst/>
        </p:spPr>
      </p:cxnSp>
      <p:cxnSp>
        <p:nvCxnSpPr>
          <p:cNvPr id="114711" name="AutoShape 23"/>
          <p:cNvCxnSpPr>
            <a:cxnSpLocks noChangeShapeType="1"/>
            <a:stCxn id="114694" idx="2"/>
            <a:endCxn id="114742" idx="0"/>
          </p:cNvCxnSpPr>
          <p:nvPr/>
        </p:nvCxnSpPr>
        <p:spPr bwMode="auto">
          <a:xfrm rot="16200000" flipH="1">
            <a:off x="4419599" y="2667001"/>
            <a:ext cx="533402" cy="533400"/>
          </a:xfrm>
          <a:prstGeom prst="bentConnector3">
            <a:avLst>
              <a:gd name="adj1" fmla="val 50000"/>
            </a:avLst>
          </a:prstGeom>
          <a:noFill/>
          <a:ln w="12700">
            <a:solidFill>
              <a:schemeClr val="tx1"/>
            </a:solidFill>
            <a:miter lim="800000"/>
            <a:headEnd/>
            <a:tailEnd/>
          </a:ln>
          <a:effectLst/>
        </p:spPr>
      </p:cxnSp>
      <p:cxnSp>
        <p:nvCxnSpPr>
          <p:cNvPr id="114712" name="AutoShape 24"/>
          <p:cNvCxnSpPr>
            <a:cxnSpLocks noChangeShapeType="1"/>
            <a:stCxn id="114695" idx="2"/>
            <a:endCxn id="114743" idx="0"/>
          </p:cNvCxnSpPr>
          <p:nvPr/>
        </p:nvCxnSpPr>
        <p:spPr bwMode="auto">
          <a:xfrm rot="5400000">
            <a:off x="6438899" y="2628901"/>
            <a:ext cx="533402" cy="609600"/>
          </a:xfrm>
          <a:prstGeom prst="bentConnector3">
            <a:avLst>
              <a:gd name="adj1" fmla="val 50000"/>
            </a:avLst>
          </a:prstGeom>
          <a:noFill/>
          <a:ln w="12700">
            <a:solidFill>
              <a:schemeClr val="tx1"/>
            </a:solidFill>
            <a:miter lim="800000"/>
            <a:headEnd/>
            <a:tailEnd/>
          </a:ln>
          <a:effectLst/>
        </p:spPr>
      </p:cxnSp>
      <p:cxnSp>
        <p:nvCxnSpPr>
          <p:cNvPr id="114713" name="AutoShape 25"/>
          <p:cNvCxnSpPr>
            <a:cxnSpLocks noChangeShapeType="1"/>
            <a:stCxn id="114695" idx="2"/>
            <a:endCxn id="114744" idx="0"/>
          </p:cNvCxnSpPr>
          <p:nvPr/>
        </p:nvCxnSpPr>
        <p:spPr bwMode="auto">
          <a:xfrm rot="16200000" flipH="1">
            <a:off x="7048499" y="2628901"/>
            <a:ext cx="533402" cy="609600"/>
          </a:xfrm>
          <a:prstGeom prst="bentConnector3">
            <a:avLst>
              <a:gd name="adj1" fmla="val 50000"/>
            </a:avLst>
          </a:prstGeom>
          <a:noFill/>
          <a:ln w="12700">
            <a:solidFill>
              <a:schemeClr val="tx1"/>
            </a:solidFill>
            <a:miter lim="800000"/>
            <a:headEnd/>
            <a:tailEnd/>
          </a:ln>
          <a:effectLst/>
        </p:spPr>
      </p:cxnSp>
      <p:cxnSp>
        <p:nvCxnSpPr>
          <p:cNvPr id="114714" name="AutoShape 26"/>
          <p:cNvCxnSpPr>
            <a:cxnSpLocks noChangeShapeType="1"/>
            <a:stCxn id="114741" idx="2"/>
            <a:endCxn id="114702" idx="0"/>
          </p:cNvCxnSpPr>
          <p:nvPr/>
        </p:nvCxnSpPr>
        <p:spPr bwMode="auto">
          <a:xfrm rot="5400000">
            <a:off x="3370768" y="3370769"/>
            <a:ext cx="192664" cy="533400"/>
          </a:xfrm>
          <a:prstGeom prst="bentConnector3">
            <a:avLst>
              <a:gd name="adj1" fmla="val 50000"/>
            </a:avLst>
          </a:prstGeom>
          <a:noFill/>
          <a:ln w="12700">
            <a:solidFill>
              <a:schemeClr val="tx1"/>
            </a:solidFill>
            <a:miter lim="800000"/>
            <a:headEnd/>
            <a:tailEnd/>
          </a:ln>
          <a:effectLst/>
        </p:spPr>
      </p:cxnSp>
      <p:cxnSp>
        <p:nvCxnSpPr>
          <p:cNvPr id="114715" name="AutoShape 27"/>
          <p:cNvCxnSpPr>
            <a:cxnSpLocks noChangeShapeType="1"/>
            <a:stCxn id="114741" idx="2"/>
            <a:endCxn id="114703" idx="0"/>
          </p:cNvCxnSpPr>
          <p:nvPr/>
        </p:nvCxnSpPr>
        <p:spPr bwMode="auto">
          <a:xfrm rot="16200000" flipH="1">
            <a:off x="3866068" y="3408869"/>
            <a:ext cx="192665" cy="457200"/>
          </a:xfrm>
          <a:prstGeom prst="bentConnector3">
            <a:avLst>
              <a:gd name="adj1" fmla="val 50000"/>
            </a:avLst>
          </a:prstGeom>
          <a:noFill/>
          <a:ln w="12700">
            <a:solidFill>
              <a:schemeClr val="tx1"/>
            </a:solidFill>
            <a:miter lim="800000"/>
            <a:headEnd/>
            <a:tailEnd/>
          </a:ln>
          <a:effectLst/>
        </p:spPr>
      </p:cxnSp>
      <p:sp>
        <p:nvSpPr>
          <p:cNvPr id="114716" name="Line 28"/>
          <p:cNvSpPr>
            <a:spLocks noChangeShapeType="1"/>
          </p:cNvSpPr>
          <p:nvPr/>
        </p:nvSpPr>
        <p:spPr bwMode="auto">
          <a:xfrm>
            <a:off x="9906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7" name="Line 29"/>
          <p:cNvSpPr>
            <a:spLocks noChangeShapeType="1"/>
          </p:cNvSpPr>
          <p:nvPr/>
        </p:nvSpPr>
        <p:spPr bwMode="auto">
          <a:xfrm>
            <a:off x="22098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8" name="Line 30"/>
          <p:cNvSpPr>
            <a:spLocks noChangeShapeType="1"/>
          </p:cNvSpPr>
          <p:nvPr/>
        </p:nvSpPr>
        <p:spPr bwMode="auto">
          <a:xfrm>
            <a:off x="3200400" y="4267200"/>
            <a:ext cx="0" cy="25908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9" name="Line 31"/>
          <p:cNvSpPr>
            <a:spLocks noChangeShapeType="1"/>
          </p:cNvSpPr>
          <p:nvPr/>
        </p:nvSpPr>
        <p:spPr bwMode="auto">
          <a:xfrm>
            <a:off x="4191000" y="4267200"/>
            <a:ext cx="0" cy="25908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0" name="Line 32"/>
          <p:cNvSpPr>
            <a:spLocks noChangeShapeType="1"/>
          </p:cNvSpPr>
          <p:nvPr/>
        </p:nvSpPr>
        <p:spPr bwMode="auto">
          <a:xfrm>
            <a:off x="49530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1" name="Line 33"/>
          <p:cNvSpPr>
            <a:spLocks noChangeShapeType="1"/>
          </p:cNvSpPr>
          <p:nvPr/>
        </p:nvSpPr>
        <p:spPr bwMode="auto">
          <a:xfrm>
            <a:off x="64008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2" name="Line 34"/>
          <p:cNvSpPr>
            <a:spLocks noChangeShapeType="1"/>
          </p:cNvSpPr>
          <p:nvPr/>
        </p:nvSpPr>
        <p:spPr bwMode="auto">
          <a:xfrm>
            <a:off x="76200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3" name="Line 35"/>
          <p:cNvSpPr>
            <a:spLocks noChangeShapeType="1"/>
          </p:cNvSpPr>
          <p:nvPr/>
        </p:nvSpPr>
        <p:spPr bwMode="auto">
          <a:xfrm>
            <a:off x="381000" y="47244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4" name="Line 36"/>
          <p:cNvSpPr>
            <a:spLocks noChangeShapeType="1"/>
          </p:cNvSpPr>
          <p:nvPr/>
        </p:nvSpPr>
        <p:spPr bwMode="auto">
          <a:xfrm>
            <a:off x="381000" y="51816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5" name="Line 37"/>
          <p:cNvSpPr>
            <a:spLocks noChangeShapeType="1"/>
          </p:cNvSpPr>
          <p:nvPr/>
        </p:nvSpPr>
        <p:spPr bwMode="auto">
          <a:xfrm>
            <a:off x="381000" y="56388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6" name="Text Box 38"/>
          <p:cNvSpPr txBox="1">
            <a:spLocks noChangeArrowheads="1"/>
          </p:cNvSpPr>
          <p:nvPr/>
        </p:nvSpPr>
        <p:spPr bwMode="auto">
          <a:xfrm>
            <a:off x="-152400" y="4387852"/>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Testi 1</a:t>
            </a:r>
          </a:p>
        </p:txBody>
      </p:sp>
      <p:sp>
        <p:nvSpPr>
          <p:cNvPr id="114727" name="Text Box 39"/>
          <p:cNvSpPr txBox="1">
            <a:spLocks noChangeArrowheads="1"/>
          </p:cNvSpPr>
          <p:nvPr/>
        </p:nvSpPr>
        <p:spPr bwMode="auto">
          <a:xfrm>
            <a:off x="-152400" y="4845052"/>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Testi 2</a:t>
            </a:r>
          </a:p>
        </p:txBody>
      </p:sp>
      <p:sp>
        <p:nvSpPr>
          <p:cNvPr id="114728" name="Text Box 40"/>
          <p:cNvSpPr txBox="1">
            <a:spLocks noChangeArrowheads="1"/>
          </p:cNvSpPr>
          <p:nvPr/>
        </p:nvSpPr>
        <p:spPr bwMode="auto">
          <a:xfrm>
            <a:off x="-152400" y="5302252"/>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Testi 3</a:t>
            </a:r>
          </a:p>
        </p:txBody>
      </p:sp>
      <p:sp>
        <p:nvSpPr>
          <p:cNvPr id="114729" name="Oval 41"/>
          <p:cNvSpPr>
            <a:spLocks noChangeArrowheads="1"/>
          </p:cNvSpPr>
          <p:nvPr/>
        </p:nvSpPr>
        <p:spPr bwMode="auto">
          <a:xfrm>
            <a:off x="881063" y="459422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0" name="Oval 42"/>
          <p:cNvSpPr>
            <a:spLocks noChangeArrowheads="1"/>
          </p:cNvSpPr>
          <p:nvPr/>
        </p:nvSpPr>
        <p:spPr bwMode="auto">
          <a:xfrm>
            <a:off x="2090739" y="5029200"/>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1" name="Oval 43"/>
          <p:cNvSpPr>
            <a:spLocks noChangeArrowheads="1"/>
          </p:cNvSpPr>
          <p:nvPr/>
        </p:nvSpPr>
        <p:spPr bwMode="auto">
          <a:xfrm>
            <a:off x="871539" y="5529263"/>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2" name="Oval 44"/>
          <p:cNvSpPr>
            <a:spLocks noChangeArrowheads="1"/>
          </p:cNvSpPr>
          <p:nvPr/>
        </p:nvSpPr>
        <p:spPr bwMode="auto">
          <a:xfrm>
            <a:off x="3101975" y="4605338"/>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3" name="Oval 45"/>
          <p:cNvSpPr>
            <a:spLocks noChangeArrowheads="1"/>
          </p:cNvSpPr>
          <p:nvPr/>
        </p:nvSpPr>
        <p:spPr bwMode="auto">
          <a:xfrm>
            <a:off x="4852988" y="554037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4" name="Oval 46"/>
          <p:cNvSpPr>
            <a:spLocks noChangeArrowheads="1"/>
          </p:cNvSpPr>
          <p:nvPr/>
        </p:nvSpPr>
        <p:spPr bwMode="auto">
          <a:xfrm>
            <a:off x="4092575" y="505142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5" name="Oval 47"/>
          <p:cNvSpPr>
            <a:spLocks noChangeArrowheads="1"/>
          </p:cNvSpPr>
          <p:nvPr/>
        </p:nvSpPr>
        <p:spPr bwMode="auto">
          <a:xfrm>
            <a:off x="6281739" y="508317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6" name="Oval 48"/>
          <p:cNvSpPr>
            <a:spLocks noChangeArrowheads="1"/>
          </p:cNvSpPr>
          <p:nvPr/>
        </p:nvSpPr>
        <p:spPr bwMode="auto">
          <a:xfrm>
            <a:off x="7532688" y="5529263"/>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7" name="Oval 49"/>
          <p:cNvSpPr>
            <a:spLocks noChangeArrowheads="1"/>
          </p:cNvSpPr>
          <p:nvPr/>
        </p:nvSpPr>
        <p:spPr bwMode="auto">
          <a:xfrm>
            <a:off x="6292851" y="4616450"/>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8" name="Text Box 50"/>
          <p:cNvSpPr txBox="1">
            <a:spLocks noChangeArrowheads="1"/>
          </p:cNvSpPr>
          <p:nvPr/>
        </p:nvSpPr>
        <p:spPr bwMode="auto">
          <a:xfrm>
            <a:off x="1247775" y="6248400"/>
            <a:ext cx="8077200" cy="309958"/>
          </a:xfrm>
          <a:prstGeom prst="rect">
            <a:avLst/>
          </a:prstGeom>
          <a:solidFill>
            <a:schemeClr val="bg1"/>
          </a:solidFill>
          <a:ln w="12700">
            <a:noFill/>
            <a:miter lim="800000"/>
            <a:headEnd/>
            <a:tailEnd/>
          </a:ln>
          <a:effectLst/>
        </p:spPr>
        <p:txBody>
          <a:bodyPr lIns="90000" tIns="46800" rIns="90000" bIns="46800">
            <a:spAutoFit/>
          </a:bodyPr>
          <a:lstStyle/>
          <a:p>
            <a:pPr>
              <a:spcBef>
                <a:spcPct val="50000"/>
              </a:spcBef>
            </a:pPr>
            <a:r>
              <a:rPr lang="en-GB" sz="1400" i="1" dirty="0" err="1">
                <a:cs typeface="Arial" pitchFamily="34" charset="0"/>
              </a:rPr>
              <a:t>Työkalu</a:t>
            </a:r>
            <a:r>
              <a:rPr lang="en-GB" sz="1400" i="1" dirty="0">
                <a:cs typeface="Arial" pitchFamily="34" charset="0"/>
              </a:rPr>
              <a:t>: </a:t>
            </a:r>
            <a:r>
              <a:rPr lang="en-GB" sz="1400" i="1" dirty="0" err="1">
                <a:cs typeface="Arial" pitchFamily="34" charset="0"/>
              </a:rPr>
              <a:t>DaimlerCrysler</a:t>
            </a:r>
            <a:r>
              <a:rPr lang="en-GB" sz="1400" i="1" dirty="0">
                <a:cs typeface="Arial" pitchFamily="34" charset="0"/>
              </a:rPr>
              <a:t> CTE XL (</a:t>
            </a:r>
            <a:r>
              <a:rPr lang="en-GB" sz="1400" i="1" dirty="0" smtClean="0">
                <a:cs typeface="Arial" pitchFamily="34" charset="0"/>
              </a:rPr>
              <a:t>1.9.4) </a:t>
            </a:r>
            <a:r>
              <a:rPr lang="en-GB" sz="1400" i="1" dirty="0" err="1">
                <a:cs typeface="Arial" pitchFamily="34" charset="0"/>
              </a:rPr>
              <a:t>löytyy</a:t>
            </a:r>
            <a:r>
              <a:rPr lang="en-GB" sz="1400" i="1" dirty="0">
                <a:cs typeface="Arial" pitchFamily="34" charset="0"/>
              </a:rPr>
              <a:t> </a:t>
            </a:r>
            <a:r>
              <a:rPr lang="en-GB" sz="1400" i="1" dirty="0" err="1">
                <a:cs typeface="Arial" pitchFamily="34" charset="0"/>
              </a:rPr>
              <a:t>ilmaiseksi</a:t>
            </a:r>
            <a:r>
              <a:rPr lang="en-GB" sz="1400" i="1" dirty="0">
                <a:cs typeface="Arial" pitchFamily="34" charset="0"/>
              </a:rPr>
              <a:t> </a:t>
            </a:r>
            <a:r>
              <a:rPr lang="en-GB" sz="1400" i="1" dirty="0" err="1">
                <a:cs typeface="Arial" pitchFamily="34" charset="0"/>
              </a:rPr>
              <a:t>verkosta</a:t>
            </a:r>
            <a:r>
              <a:rPr lang="en-GB" sz="1400" i="1" dirty="0">
                <a:cs typeface="Arial" pitchFamily="34" charset="0"/>
              </a:rPr>
              <a:t> – Julie Gardiner</a:t>
            </a:r>
          </a:p>
        </p:txBody>
      </p:sp>
      <p:sp>
        <p:nvSpPr>
          <p:cNvPr id="114739" name="Text Box 51"/>
          <p:cNvSpPr txBox="1">
            <a:spLocks noChangeArrowheads="1"/>
          </p:cNvSpPr>
          <p:nvPr/>
        </p:nvSpPr>
        <p:spPr bwMode="auto">
          <a:xfrm>
            <a:off x="3810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sallittu</a:t>
            </a:r>
          </a:p>
        </p:txBody>
      </p:sp>
      <p:sp>
        <p:nvSpPr>
          <p:cNvPr id="114740" name="Text Box 52"/>
          <p:cNvSpPr txBox="1">
            <a:spLocks noChangeArrowheads="1"/>
          </p:cNvSpPr>
          <p:nvPr/>
        </p:nvSpPr>
        <p:spPr bwMode="auto">
          <a:xfrm>
            <a:off x="16002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ei sallittu</a:t>
            </a:r>
          </a:p>
        </p:txBody>
      </p:sp>
      <p:sp>
        <p:nvSpPr>
          <p:cNvPr id="114741" name="Text Box 53"/>
          <p:cNvSpPr txBox="1">
            <a:spLocks noChangeArrowheads="1"/>
          </p:cNvSpPr>
          <p:nvPr/>
        </p:nvSpPr>
        <p:spPr bwMode="auto">
          <a:xfrm>
            <a:off x="31242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sallittu</a:t>
            </a:r>
          </a:p>
        </p:txBody>
      </p:sp>
      <p:sp>
        <p:nvSpPr>
          <p:cNvPr id="114742" name="Text Box 54"/>
          <p:cNvSpPr txBox="1">
            <a:spLocks noChangeArrowheads="1"/>
          </p:cNvSpPr>
          <p:nvPr/>
        </p:nvSpPr>
        <p:spPr bwMode="auto">
          <a:xfrm>
            <a:off x="43434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ei sallittu</a:t>
            </a:r>
          </a:p>
        </p:txBody>
      </p:sp>
      <p:sp>
        <p:nvSpPr>
          <p:cNvPr id="114743" name="Text Box 55"/>
          <p:cNvSpPr txBox="1">
            <a:spLocks noChangeArrowheads="1"/>
          </p:cNvSpPr>
          <p:nvPr/>
        </p:nvSpPr>
        <p:spPr bwMode="auto">
          <a:xfrm>
            <a:off x="57912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login</a:t>
            </a:r>
          </a:p>
        </p:txBody>
      </p:sp>
      <p:sp>
        <p:nvSpPr>
          <p:cNvPr id="114744" name="Text Box 56"/>
          <p:cNvSpPr txBox="1">
            <a:spLocks noChangeArrowheads="1"/>
          </p:cNvSpPr>
          <p:nvPr/>
        </p:nvSpPr>
        <p:spPr bwMode="auto">
          <a:xfrm>
            <a:off x="7010400" y="3200402"/>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clear</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Autofit/>
          </a:bodyPr>
          <a:lstStyle/>
          <a:p>
            <a:pPr lvl="0"/>
            <a:r>
              <a:rPr lang="fi-FI" sz="3600" dirty="0" smtClean="0"/>
              <a:t>Harjoitus: riittävien syötteiden tunnistaminen ja tulosten kuvaaminen testitapauksiin</a:t>
            </a:r>
            <a:endParaRPr lang="en-US" sz="3600" dirty="0"/>
          </a:p>
        </p:txBody>
      </p:sp>
      <p:sp>
        <p:nvSpPr>
          <p:cNvPr id="3" name="Sisällön paikkamerkki 2"/>
          <p:cNvSpPr>
            <a:spLocks noGrp="1"/>
          </p:cNvSpPr>
          <p:nvPr>
            <p:ph idx="1"/>
          </p:nvPr>
        </p:nvSpPr>
        <p:spPr>
          <a:xfrm>
            <a:off x="457200" y="2132858"/>
            <a:ext cx="8229600" cy="3993307"/>
          </a:xfrm>
        </p:spPr>
        <p:txBody>
          <a:bodyPr/>
          <a:lstStyle/>
          <a:p>
            <a:r>
              <a:rPr lang="fi-FI" dirty="0" smtClean="0"/>
              <a:t>Luokittelupuu </a:t>
            </a:r>
            <a:r>
              <a:rPr lang="fi-FI" dirty="0" err="1" smtClean="0"/>
              <a:t>OmaMatkasuunnitelma</a:t>
            </a:r>
            <a:r>
              <a:rPr lang="fi-FI" dirty="0" smtClean="0"/>
              <a:t> –sovellukselle / Suunnittele matka -käyttötapaus</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34</a:t>
            </a:fld>
            <a:endParaRPr lang="en-US"/>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2E6BC007-74E7-4E41-BEE6-6002FDE19473}" type="slidenum">
              <a:rPr lang="en-US"/>
              <a:pPr/>
              <a:t>35</a:t>
            </a:fld>
            <a:endParaRPr lang="en-US"/>
          </a:p>
        </p:txBody>
      </p:sp>
      <p:sp>
        <p:nvSpPr>
          <p:cNvPr id="188418" name="Rectangle 2"/>
          <p:cNvSpPr>
            <a:spLocks noGrp="1" noChangeArrowheads="1"/>
          </p:cNvSpPr>
          <p:nvPr>
            <p:ph type="title"/>
          </p:nvPr>
        </p:nvSpPr>
        <p:spPr/>
        <p:txBody>
          <a:bodyPr>
            <a:normAutofit fontScale="90000"/>
          </a:bodyPr>
          <a:lstStyle/>
          <a:p>
            <a:pPr defTabSz="762000"/>
            <a:r>
              <a:rPr lang="fi-FI"/>
              <a:t>Käyttötapaukset: OmaMatkasuunnitelma</a:t>
            </a:r>
          </a:p>
        </p:txBody>
      </p:sp>
      <p:sp>
        <p:nvSpPr>
          <p:cNvPr id="188419" name="Rectangle 3"/>
          <p:cNvSpPr>
            <a:spLocks noGrp="1" noChangeArrowheads="1"/>
          </p:cNvSpPr>
          <p:nvPr>
            <p:ph type="body" sz="half" idx="1"/>
          </p:nvPr>
        </p:nvSpPr>
        <p:spPr>
          <a:xfrm>
            <a:off x="685800" y="1828800"/>
            <a:ext cx="3773488" cy="3657600"/>
          </a:xfrm>
        </p:spPr>
        <p:txBody>
          <a:bodyPr/>
          <a:lstStyle/>
          <a:p>
            <a:pPr defTabSz="762000">
              <a:buFontTx/>
              <a:buNone/>
            </a:pPr>
            <a:r>
              <a:rPr lang="fi-FI" sz="1600"/>
              <a:t>Käyttötapaus: Suunnittele matka</a:t>
            </a:r>
          </a:p>
          <a:p>
            <a:pPr defTabSz="762000"/>
            <a:r>
              <a:rPr lang="fi-FI" sz="1600"/>
              <a:t>Tapahtumien kulku:</a:t>
            </a:r>
          </a:p>
          <a:p>
            <a:pPr marL="495300" lvl="1" indent="-304800" defTabSz="762000">
              <a:buFont typeface="Times" pitchFamily="18" charset="0"/>
              <a:buAutoNum type="arabicPeriod"/>
            </a:pPr>
            <a:r>
              <a:rPr lang="fi-FI" sz="1400"/>
              <a:t>Kuljettaja aktivoi tietokoneen ja kirjautuu palveluun verkossa</a:t>
            </a:r>
          </a:p>
          <a:p>
            <a:pPr marL="495300" lvl="1" indent="-304800" defTabSz="762000">
              <a:buFont typeface="Times" pitchFamily="18" charset="0"/>
              <a:buAutoNum type="arabicPeriod"/>
            </a:pPr>
            <a:r>
              <a:rPr lang="fi-FI" sz="1400"/>
              <a:t>Kuljettaja syöttää matkan rajoitteet sarjana matkakohteita</a:t>
            </a:r>
          </a:p>
          <a:p>
            <a:pPr marL="495300" lvl="1" indent="-304800" defTabSz="762000">
              <a:buFont typeface="Times" pitchFamily="18" charset="0"/>
              <a:buAutoNum type="arabicPeriod"/>
            </a:pPr>
            <a:r>
              <a:rPr lang="fi-FI" sz="1400"/>
              <a:t>Perustuen karttatietokantaan, palvelu laskee lyhimmän reitin matkakohteiden kautta annetussa järjestyksessä. Tuloksena on on ajo-ohjeet. </a:t>
            </a:r>
          </a:p>
          <a:p>
            <a:pPr marL="495300" lvl="1" indent="-304800" defTabSz="762000">
              <a:buFont typeface="Times" pitchFamily="18" charset="0"/>
              <a:buAutoNum type="arabicPeriod"/>
            </a:pPr>
            <a:r>
              <a:rPr lang="fi-FI" sz="1400"/>
              <a:t>Kuljettaja voi muokata matkaa lisäämällä tai poistamalla matkakohteita. </a:t>
            </a:r>
          </a:p>
          <a:p>
            <a:pPr marL="495300" lvl="1" indent="-304800" defTabSz="762000">
              <a:buFont typeface="Times" pitchFamily="18" charset="0"/>
              <a:buAutoNum type="arabicPeriod"/>
            </a:pPr>
            <a:r>
              <a:rPr lang="fi-FI" sz="1400"/>
              <a:t>Kuljettaja tallentaa matkan nimellä palveluun myöhempää käyttöä varten. </a:t>
            </a:r>
          </a:p>
          <a:p>
            <a:pPr defTabSz="762000"/>
            <a:endParaRPr lang="fi-FI" sz="1800"/>
          </a:p>
        </p:txBody>
      </p:sp>
      <p:sp>
        <p:nvSpPr>
          <p:cNvPr id="188420" name="Rectangle 4"/>
          <p:cNvSpPr>
            <a:spLocks noGrp="1" noChangeArrowheads="1"/>
          </p:cNvSpPr>
          <p:nvPr>
            <p:ph type="body" sz="half" idx="2"/>
          </p:nvPr>
        </p:nvSpPr>
        <p:spPr>
          <a:xfrm>
            <a:off x="4608515" y="1828800"/>
            <a:ext cx="3773487" cy="3657600"/>
          </a:xfrm>
        </p:spPr>
        <p:txBody>
          <a:bodyPr/>
          <a:lstStyle/>
          <a:p>
            <a:pPr defTabSz="762000">
              <a:buFontTx/>
              <a:buNone/>
            </a:pPr>
            <a:r>
              <a:rPr lang="fi-FI" sz="1600"/>
              <a:t>Käyttötapaus: Matkusta</a:t>
            </a:r>
          </a:p>
          <a:p>
            <a:pPr defTabSz="762000"/>
            <a:r>
              <a:rPr lang="fi-FI" sz="1600"/>
              <a:t>Tapahtumien kulku:</a:t>
            </a:r>
          </a:p>
          <a:p>
            <a:pPr marL="495300" lvl="1" indent="-304800" defTabSz="762000">
              <a:buFont typeface="Times" pitchFamily="18" charset="0"/>
              <a:buAutoNum type="arabicPeriod"/>
            </a:pPr>
            <a:r>
              <a:rPr lang="fi-FI" sz="1400"/>
              <a:t>Kuljettaja käynnistää auton ja kirjautuu reittiapulaiseen</a:t>
            </a:r>
          </a:p>
          <a:p>
            <a:pPr marL="495300" lvl="1" indent="-304800" defTabSz="762000">
              <a:buFont typeface="Times" pitchFamily="18" charset="0"/>
              <a:buAutoNum type="arabicPeriod"/>
            </a:pPr>
            <a:r>
              <a:rPr lang="fi-FI" sz="1400"/>
              <a:t>Kirjautumisen jälkeen kuljettaja määrittele suunnittelupalvelun ja matkan nimen</a:t>
            </a:r>
          </a:p>
          <a:p>
            <a:pPr marL="495300" lvl="1" indent="-304800" defTabSz="762000">
              <a:buFont typeface="Times" pitchFamily="18" charset="0"/>
              <a:buAutoNum type="arabicPeriod"/>
            </a:pPr>
            <a:r>
              <a:rPr lang="fi-FI" sz="1400"/>
              <a:t>Reittiapulainen hakee listan kohteista ja ohjeista</a:t>
            </a:r>
          </a:p>
          <a:p>
            <a:pPr marL="495300" lvl="1" indent="-304800" defTabSz="762000">
              <a:buFont typeface="Times" pitchFamily="18" charset="0"/>
              <a:buAutoNum type="arabicPeriod"/>
            </a:pPr>
            <a:r>
              <a:rPr lang="fi-FI" sz="1400"/>
              <a:t>Nykyiseen sijaintiin perustuen, reittiapulainen ohjeistaa kuljettajaa seuraavista suuntimista. </a:t>
            </a:r>
          </a:p>
          <a:p>
            <a:pPr marL="495300" lvl="1" indent="-304800" defTabSz="762000">
              <a:buFont typeface="Times" pitchFamily="18" charset="0"/>
              <a:buAutoNum type="arabicPeriod"/>
            </a:pPr>
            <a:r>
              <a:rPr lang="fi-FI" sz="1400"/>
              <a:t>Kuljettaja saapuu kohteeseen ja sammuttaa reittiapulaisen. </a:t>
            </a:r>
          </a:p>
          <a:p>
            <a:pPr defTabSz="762000"/>
            <a:endParaRPr lang="fi-FI" sz="1600"/>
          </a:p>
        </p:txBody>
      </p:sp>
      <p:sp>
        <p:nvSpPr>
          <p:cNvPr id="7" name="Rectangle 6"/>
          <p:cNvSpPr/>
          <p:nvPr/>
        </p:nvSpPr>
        <p:spPr>
          <a:xfrm>
            <a:off x="533400" y="1600200"/>
            <a:ext cx="4038600" cy="441960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F28BF8F-E078-4842-B936-52628ACF120E}" type="slidenum">
              <a:rPr lang="en-US"/>
              <a:pPr/>
              <a:t>36</a:t>
            </a:fld>
            <a:endParaRPr lang="en-US"/>
          </a:p>
        </p:txBody>
      </p:sp>
      <p:sp>
        <p:nvSpPr>
          <p:cNvPr id="208898" name="Rectangle 2"/>
          <p:cNvSpPr>
            <a:spLocks noGrp="1" noChangeArrowheads="1"/>
          </p:cNvSpPr>
          <p:nvPr>
            <p:ph type="title"/>
          </p:nvPr>
        </p:nvSpPr>
        <p:spPr/>
        <p:txBody>
          <a:bodyPr/>
          <a:lstStyle/>
          <a:p>
            <a:pPr defTabSz="762000"/>
            <a:r>
              <a:rPr lang="fi-FI" sz="4000"/>
              <a:t>Uudelleenk</a:t>
            </a:r>
            <a:r>
              <a:rPr lang="fi-FI" sz="4000">
                <a:latin typeface="Arial"/>
              </a:rPr>
              <a:t>ä</a:t>
            </a:r>
            <a:r>
              <a:rPr lang="fi-FI" sz="4000"/>
              <a:t>ytett</a:t>
            </a:r>
            <a:r>
              <a:rPr lang="fi-FI" sz="4000">
                <a:latin typeface="Arial"/>
              </a:rPr>
              <a:t>ä</a:t>
            </a:r>
            <a:r>
              <a:rPr lang="fi-FI" sz="4000"/>
              <a:t>v</a:t>
            </a:r>
            <a:r>
              <a:rPr lang="fi-FI" sz="4000">
                <a:latin typeface="Arial"/>
              </a:rPr>
              <a:t>ä</a:t>
            </a:r>
            <a:r>
              <a:rPr lang="fi-FI" sz="4000"/>
              <a:t> testimatriisi</a:t>
            </a:r>
          </a:p>
        </p:txBody>
      </p:sp>
      <p:pic>
        <p:nvPicPr>
          <p:cNvPr id="208899" name="Picture 3"/>
          <p:cNvPicPr>
            <a:picLocks noChangeAspect="1" noChangeArrowheads="1"/>
          </p:cNvPicPr>
          <p:nvPr/>
        </p:nvPicPr>
        <p:blipFill>
          <a:blip r:embed="rId3" cstate="print"/>
          <a:srcRect/>
          <a:stretch>
            <a:fillRect/>
          </a:stretch>
        </p:blipFill>
        <p:spPr bwMode="auto">
          <a:xfrm>
            <a:off x="269876" y="1784352"/>
            <a:ext cx="8604251" cy="4021138"/>
          </a:xfrm>
          <a:prstGeom prst="rect">
            <a:avLst/>
          </a:prstGeom>
          <a:noFill/>
          <a:ln w="9525">
            <a:noFill/>
            <a:miter lim="800000"/>
            <a:headEnd/>
            <a:tailEnd/>
          </a:ln>
          <a:effectLst/>
        </p:spPr>
      </p:pic>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CD9235F-02B7-40DE-B24D-23E8B13E5047}" type="slidenum">
              <a:rPr lang="en-US"/>
              <a:pPr/>
              <a:t>37</a:t>
            </a:fld>
            <a:endParaRPr lang="en-US"/>
          </a:p>
        </p:txBody>
      </p:sp>
      <p:sp>
        <p:nvSpPr>
          <p:cNvPr id="146434" name="Rectangle 2"/>
          <p:cNvSpPr>
            <a:spLocks noGrp="1" noChangeArrowheads="1"/>
          </p:cNvSpPr>
          <p:nvPr>
            <p:ph type="title"/>
          </p:nvPr>
        </p:nvSpPr>
        <p:spPr/>
        <p:txBody>
          <a:bodyPr>
            <a:normAutofit fontScale="90000"/>
          </a:bodyPr>
          <a:lstStyle/>
          <a:p>
            <a:pPr defTabSz="762000"/>
            <a:r>
              <a:rPr lang="fi-FI" sz="3600"/>
              <a:t>Esimerkki: Päällekkäiset ekvivalenssiluokat analyysissä</a:t>
            </a:r>
          </a:p>
        </p:txBody>
      </p:sp>
      <p:sp>
        <p:nvSpPr>
          <p:cNvPr id="146435" name="Rectangle 3"/>
          <p:cNvSpPr>
            <a:spLocks noGrp="1" noChangeArrowheads="1"/>
          </p:cNvSpPr>
          <p:nvPr>
            <p:ph type="body" idx="1"/>
          </p:nvPr>
        </p:nvSpPr>
        <p:spPr/>
        <p:txBody>
          <a:bodyPr/>
          <a:lstStyle/>
          <a:p>
            <a:pPr marL="0" indent="0" defTabSz="762000"/>
            <a:r>
              <a:rPr lang="fi-FI" sz="2800"/>
              <a:t>Kenttä on muotoa PP.KK.VVVV, jossa </a:t>
            </a:r>
          </a:p>
          <a:p>
            <a:pPr marL="377825" lvl="1" indent="-187325" defTabSz="762000"/>
            <a:r>
              <a:rPr lang="fi-FI" sz="2400"/>
              <a:t>PP on päivämäärä, </a:t>
            </a:r>
          </a:p>
          <a:p>
            <a:pPr marL="377825" lvl="1" indent="-187325" defTabSz="762000"/>
            <a:r>
              <a:rPr lang="fi-FI" sz="2400"/>
              <a:t>KK on kuukausi ja </a:t>
            </a:r>
          </a:p>
          <a:p>
            <a:pPr marL="377825" lvl="1" indent="-187325" defTabSz="762000"/>
            <a:r>
              <a:rPr lang="fi-FI" sz="2400"/>
              <a:t>VVVV on vuosi. </a:t>
            </a:r>
          </a:p>
          <a:p>
            <a:pPr marL="0" indent="0" defTabSz="762000"/>
            <a:r>
              <a:rPr lang="fi-FI" sz="2800"/>
              <a:t>Tee ekvivalenssiluokka-analyysi ja tunnista raja-arvot. Määrittele tältä pohjalta testitapaukset, jotka pitää suorittaa.</a:t>
            </a:r>
          </a:p>
          <a:p>
            <a:pPr marL="0" indent="0" defTabSz="762000"/>
            <a:r>
              <a:rPr lang="fi-FI" sz="2800"/>
              <a:t>Jätä ei-numeeriset arvot huomiotta.</a:t>
            </a:r>
          </a:p>
        </p:txBody>
      </p:sp>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7DAE78-1AD3-4BDC-8FE0-3E861D95D9E9}" type="slidenum">
              <a:rPr lang="en-US"/>
              <a:pPr/>
              <a:t>38</a:t>
            </a:fld>
            <a:endParaRPr lang="en-US"/>
          </a:p>
        </p:txBody>
      </p:sp>
      <p:sp>
        <p:nvSpPr>
          <p:cNvPr id="190466" name="Rectangle 2"/>
          <p:cNvSpPr>
            <a:spLocks noGrp="1" noChangeArrowheads="1"/>
          </p:cNvSpPr>
          <p:nvPr>
            <p:ph type="body" idx="4294967295"/>
          </p:nvPr>
        </p:nvSpPr>
        <p:spPr>
          <a:xfrm>
            <a:off x="76200" y="0"/>
            <a:ext cx="9067800" cy="6858000"/>
          </a:xfrm>
          <a:solidFill>
            <a:schemeClr val="bg1"/>
          </a:solidFill>
        </p:spPr>
        <p:txBody>
          <a:bodyPr/>
          <a:lstStyle/>
          <a:p>
            <a:pPr marL="0" indent="0" defTabSz="762000">
              <a:lnSpc>
                <a:spcPct val="110000"/>
              </a:lnSpc>
            </a:pPr>
            <a:r>
              <a:rPr lang="fi-FI" sz="1200" dirty="0">
                <a:cs typeface="Times New Roman" pitchFamily="18" charset="0"/>
              </a:rPr>
              <a:t>Vastaus: Kukin kentän osista, päivämäärä, kuukausi ja vuosi, ositetaan erillään. Kentän osilla on kuitenkin keskinäisiä riippuvuuksia: sallitut päivät riippuvat valitusta kuukaudesta sekä mahdollisen karkausvuoden mukanaolosta.</a:t>
            </a:r>
            <a:endParaRPr lang="en-GB" sz="1200" dirty="0">
              <a:cs typeface="Times New Roman" pitchFamily="18" charset="0"/>
            </a:endParaRPr>
          </a:p>
          <a:p>
            <a:pPr marL="0" indent="0" defTabSz="762000">
              <a:lnSpc>
                <a:spcPct val="110000"/>
              </a:lnSpc>
            </a:pPr>
            <a:r>
              <a:rPr lang="fi-FI" sz="1200" dirty="0">
                <a:cs typeface="Times New Roman" pitchFamily="18" charset="0"/>
              </a:rPr>
              <a:t>Ekvivalenssiluokkien ideana on tunnistaa syöteavaruudesta osioita, joista valitun parhaan edustajan eli tyypillisesti raja-arvon käyttäminen on testien valintaperuste. Odotamme kunkin ekvivalenssiluokan osalta että mikäli ekvivalenssiluokan osalta toiminta on virheellistä, valittu paras edustaja mahdollistaa sen löytämisen.</a:t>
            </a:r>
            <a:endParaRPr lang="en-GB" sz="1200" dirty="0">
              <a:cs typeface="Times New Roman" pitchFamily="18" charset="0"/>
            </a:endParaRPr>
          </a:p>
          <a:p>
            <a:pPr marL="0" indent="0" defTabSz="762000">
              <a:lnSpc>
                <a:spcPct val="110000"/>
              </a:lnSpc>
            </a:pPr>
            <a:r>
              <a:rPr lang="fi-FI" sz="1200" dirty="0">
                <a:cs typeface="Times New Roman" pitchFamily="18" charset="0"/>
              </a:rPr>
              <a:t>Ekvivalenssiluokat:</a:t>
            </a:r>
            <a:endParaRPr lang="en-GB" sz="1200" dirty="0">
              <a:cs typeface="Times New Roman" pitchFamily="18" charset="0"/>
            </a:endParaRPr>
          </a:p>
          <a:p>
            <a:pPr marL="0" indent="0" defTabSz="762000">
              <a:lnSpc>
                <a:spcPct val="110000"/>
              </a:lnSpc>
            </a:pPr>
            <a:r>
              <a:rPr lang="fi-FI" sz="1400" dirty="0">
                <a:latin typeface="Times New Roman" pitchFamily="18" charset="0"/>
                <a:cs typeface="Times New Roman" pitchFamily="18" charset="0"/>
              </a:rPr>
              <a:t> </a:t>
            </a:r>
            <a:r>
              <a:rPr lang="fi-FI" sz="1400" b="1" dirty="0">
                <a:cs typeface="Times New Roman" pitchFamily="18" charset="0"/>
              </a:rPr>
              <a:t>Sallitut päivät</a:t>
            </a:r>
            <a:r>
              <a:rPr lang="fi-FI" sz="1400" dirty="0">
                <a:cs typeface="Times New Roman" pitchFamily="18" charset="0"/>
              </a:rPr>
              <a:t>. Sallituille päiville on neljä ekvivalenssiluokkaa. Sallitut arvot ovat väliltä 0-x, jossa x={28, 29, 30, 31}. Ekvivalenssiluokat ovat osittain </a:t>
            </a:r>
            <a:r>
              <a:rPr lang="fi-FI" sz="1400" dirty="0" smtClean="0">
                <a:cs typeface="Times New Roman" pitchFamily="18" charset="0"/>
              </a:rPr>
              <a:t>päällekkäiset</a:t>
            </a:r>
            <a:r>
              <a:rPr lang="fi-FI" sz="1400" dirty="0">
                <a:cs typeface="Times New Roman" pitchFamily="18" charset="0"/>
              </a:rPr>
              <a:t>, viimeisiä päiviä lukuunottamatta. Raja-arvojen kautta päiville testattavat syötteet kussakin ekvivalenssiluokassa ovat 0, 1, x ja x+1.</a:t>
            </a:r>
            <a:endParaRPr lang="en-GB" sz="1400" dirty="0">
              <a:cs typeface="Times New Roman" pitchFamily="18" charset="0"/>
            </a:endParaRPr>
          </a:p>
          <a:p>
            <a:pPr marL="0" indent="0" defTabSz="762000">
              <a:lnSpc>
                <a:spcPct val="110000"/>
              </a:lnSpc>
            </a:pPr>
            <a:r>
              <a:rPr lang="fi-FI" sz="1400" dirty="0">
                <a:latin typeface="Times New Roman" pitchFamily="18" charset="0"/>
                <a:cs typeface="Times New Roman" pitchFamily="18" charset="0"/>
              </a:rPr>
              <a:t>  </a:t>
            </a:r>
            <a:r>
              <a:rPr lang="fi-FI" sz="1400" b="1" dirty="0">
                <a:cs typeface="Times New Roman" pitchFamily="18" charset="0"/>
              </a:rPr>
              <a:t>Sallitut kuukaudet</a:t>
            </a:r>
            <a:r>
              <a:rPr lang="fi-FI" sz="1400" dirty="0">
                <a:cs typeface="Times New Roman" pitchFamily="18" charset="0"/>
              </a:rPr>
              <a:t>. Sallituille kuukausille on myös neljä ekvivalenssiluokkaa:</a:t>
            </a:r>
            <a:endParaRPr lang="en-GB" sz="1400" dirty="0">
              <a:cs typeface="Times New Roman" pitchFamily="18" charset="0"/>
            </a:endParaRPr>
          </a:p>
          <a:p>
            <a:pPr marL="377825" lvl="1" indent="-187325" defTabSz="762000">
              <a:lnSpc>
                <a:spcPct val="90000"/>
              </a:lnSpc>
            </a:pPr>
            <a:r>
              <a:rPr lang="fi-FI" sz="1200" dirty="0">
                <a:cs typeface="Times New Roman" pitchFamily="18" charset="0"/>
              </a:rPr>
              <a:t>28:n päivän kuukausi, 29:n päivän kuukausi karkausvuonna, 30:n päivän kuukausi ja 31:n päivän kuukausi.</a:t>
            </a:r>
          </a:p>
          <a:p>
            <a:pPr marL="377825" lvl="1" indent="-187325" defTabSz="762000">
              <a:lnSpc>
                <a:spcPct val="90000"/>
              </a:lnSpc>
            </a:pPr>
            <a:r>
              <a:rPr lang="fi-FI" sz="1200" dirty="0">
                <a:cs typeface="Times New Roman" pitchFamily="18" charset="0"/>
              </a:rPr>
              <a:t>Kuukausi saa arvon 1-12, tammikuusta joulukuuhun.</a:t>
            </a:r>
            <a:endParaRPr lang="en-GB" sz="1200" dirty="0">
              <a:cs typeface="Times New Roman" pitchFamily="18" charset="0"/>
            </a:endParaRPr>
          </a:p>
          <a:p>
            <a:pPr marL="0" indent="0" defTabSz="762000">
              <a:lnSpc>
                <a:spcPct val="110000"/>
              </a:lnSpc>
            </a:pPr>
            <a:r>
              <a:rPr lang="fi-FI" sz="1400" dirty="0">
                <a:latin typeface="Times New Roman" pitchFamily="18" charset="0"/>
                <a:cs typeface="Times New Roman" pitchFamily="18" charset="0"/>
              </a:rPr>
              <a:t> </a:t>
            </a:r>
            <a:r>
              <a:rPr lang="fi-FI" sz="1400" b="1" dirty="0">
                <a:cs typeface="Times New Roman" pitchFamily="18" charset="0"/>
              </a:rPr>
              <a:t>Sallitut vuodet</a:t>
            </a:r>
            <a:r>
              <a:rPr lang="fi-FI" sz="1400" dirty="0">
                <a:cs typeface="Times New Roman" pitchFamily="18" charset="0"/>
              </a:rPr>
              <a:t>. Vuosi merkitään neljällä kirjaimella, joten oletetaan että sen osalta sallittuja arvoja ovat 0-9999. Koska emme tiedä tarkkaan sallittuja arvoja, valitaan ekvivalenssiluokasta edustajaksi myös tämä vuosi. Tämän vuoden valinta mukaan joukkoon on riskipohjainen.</a:t>
            </a:r>
            <a:endParaRPr lang="en-GB" sz="1400" dirty="0">
              <a:cs typeface="Times New Roman" pitchFamily="18" charset="0"/>
            </a:endParaRPr>
          </a:p>
          <a:p>
            <a:pPr marL="0" indent="0" defTabSz="762000">
              <a:lnSpc>
                <a:spcPct val="110000"/>
              </a:lnSpc>
            </a:pPr>
            <a:r>
              <a:rPr lang="fi-FI" sz="1200" dirty="0">
                <a:cs typeface="Times New Roman" pitchFamily="18" charset="0"/>
              </a:rPr>
              <a:t>Yhdistelemällä ekvivalenssiluokkia valitaan testitapausten tyypit. Kukin allaolevista testitapaustyypin kategorioista aukeaa useiksi testitapauksiksi, jossa kussakin valitaan arvo joukoista.</a:t>
            </a:r>
            <a:endParaRPr lang="en-GB" sz="1200" dirty="0">
              <a:cs typeface="Times New Roman" pitchFamily="18" charset="0"/>
            </a:endParaRPr>
          </a:p>
          <a:p>
            <a:pPr marL="0" indent="0" defTabSz="762000">
              <a:lnSpc>
                <a:spcPct val="110000"/>
              </a:lnSpc>
            </a:pPr>
            <a:r>
              <a:rPr lang="fi-FI" sz="1400" dirty="0">
                <a:cs typeface="Times New Roman" pitchFamily="18" charset="0"/>
              </a:rPr>
              <a:t>(a) {0, 1, 28, 29} {28:n päivän kuukausi} {0, tämä vuosi, 9999, 10000, karkausvuosi}</a:t>
            </a:r>
            <a:endParaRPr lang="en-GB" sz="1400" dirty="0">
              <a:cs typeface="Times New Roman" pitchFamily="18" charset="0"/>
            </a:endParaRPr>
          </a:p>
          <a:p>
            <a:pPr marL="0" indent="0" defTabSz="762000">
              <a:lnSpc>
                <a:spcPct val="110000"/>
              </a:lnSpc>
            </a:pPr>
            <a:r>
              <a:rPr lang="fi-FI" sz="1400" dirty="0">
                <a:cs typeface="Times New Roman" pitchFamily="18" charset="0"/>
              </a:rPr>
              <a:t>(b) {0, 1, 29, 30} {29:n päivän kuukausi} {0, tämä vuosi, 9999, 10000, karkausvuosi}</a:t>
            </a:r>
            <a:endParaRPr lang="en-GB" sz="1400" dirty="0">
              <a:cs typeface="Times New Roman" pitchFamily="18" charset="0"/>
            </a:endParaRPr>
          </a:p>
          <a:p>
            <a:pPr marL="0" indent="0" defTabSz="762000">
              <a:lnSpc>
                <a:spcPct val="110000"/>
              </a:lnSpc>
            </a:pPr>
            <a:r>
              <a:rPr lang="fi-FI" sz="1400" dirty="0">
                <a:cs typeface="Times New Roman" pitchFamily="18" charset="0"/>
              </a:rPr>
              <a:t>(c) (0, 1, 30, 31} {30:n päivän kuukausi} {0, tämä vuosi, 9999, 10000, karkausvuosi}</a:t>
            </a:r>
            <a:endParaRPr lang="en-GB" sz="1400" dirty="0">
              <a:cs typeface="Times New Roman" pitchFamily="18" charset="0"/>
            </a:endParaRPr>
          </a:p>
          <a:p>
            <a:pPr marL="0" indent="0" defTabSz="762000">
              <a:lnSpc>
                <a:spcPct val="110000"/>
              </a:lnSpc>
            </a:pPr>
            <a:r>
              <a:rPr lang="fi-FI" sz="1400" dirty="0">
                <a:cs typeface="Times New Roman" pitchFamily="18" charset="0"/>
              </a:rPr>
              <a:t>(d) {0,1,31,32} {31:n päivän kuukausi} {0, tämä vuosi, 9999, 10000, karkausvuosi}</a:t>
            </a:r>
            <a:endParaRPr lang="en-GB" sz="1400" dirty="0">
              <a:cs typeface="Times New Roman" pitchFamily="18" charset="0"/>
            </a:endParaRPr>
          </a:p>
          <a:p>
            <a:pPr marL="0" indent="0" defTabSz="762000">
              <a:lnSpc>
                <a:spcPct val="110000"/>
              </a:lnSpc>
            </a:pPr>
            <a:r>
              <a:rPr lang="fi-FI" sz="1200" dirty="0">
                <a:cs typeface="Times New Roman" pitchFamily="18" charset="0"/>
              </a:rPr>
              <a:t>Esimerkiksi testityypin (a) testille, valitse jokin päivistä {0, 1, 28, 29}, jokin 28:n päivän kuukausi eli helmikuu sekä jokin vuosista {0, tämä vuosi, 9999, 10000, jokin karkausvuosi}. Testitapaukseen osaltaan kuuluu vielä käsitys siitä onko yhdistelmä sallittu vai ei. Ei-sallittuihin yhdistelmiin johtavat päivien arvot on merkitty kursiivilla. Lisäksi testeihin tulee kuulua sekä sallittuja yhdistelmiä kuin sellaisiakin yhdistelmiä, jotka eivät ole sallittuja.</a:t>
            </a:r>
            <a:endParaRPr lang="en-GB" sz="1200" dirty="0">
              <a:cs typeface="Times New Roman" pitchFamily="18" charset="0"/>
            </a:endParaRPr>
          </a:p>
          <a:p>
            <a:pPr marL="0" indent="0" defTabSz="762000">
              <a:lnSpc>
                <a:spcPct val="110000"/>
              </a:lnSpc>
            </a:pPr>
            <a:r>
              <a:rPr lang="fi-FI" sz="1200" dirty="0">
                <a:cs typeface="Times New Roman" pitchFamily="18" charset="0"/>
              </a:rPr>
              <a:t>Esimerkin perustestien lisäksi testijaksoa voi laajentaa mm. syöttämällä kentän osiin ei-sallittuja numeerisia arvoja, kuten kuukaudelle arvot 0 tai 13 sekä etsimällä ei-sallitut arvot vuodelle.</a:t>
            </a:r>
            <a:r>
              <a:rPr lang="en-GB" sz="1200" dirty="0"/>
              <a:t>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p:txBody>
          <a:bodyPr/>
          <a:lstStyle/>
          <a:p>
            <a:fld id="{03EB88C6-C424-4E8C-8EED-948BA207DBEB}" type="slidenum">
              <a:rPr lang="en-US"/>
              <a:pPr/>
              <a:t>39</a:t>
            </a:fld>
            <a:endParaRPr lang="en-US"/>
          </a:p>
        </p:txBody>
      </p:sp>
      <p:sp>
        <p:nvSpPr>
          <p:cNvPr id="197634" name="Rectangle 2"/>
          <p:cNvSpPr>
            <a:spLocks noGrp="1" noChangeArrowheads="1"/>
          </p:cNvSpPr>
          <p:nvPr>
            <p:ph type="title"/>
          </p:nvPr>
        </p:nvSpPr>
        <p:spPr/>
        <p:txBody>
          <a:bodyPr>
            <a:normAutofit fontScale="90000"/>
          </a:bodyPr>
          <a:lstStyle/>
          <a:p>
            <a:pPr defTabSz="762000"/>
            <a:r>
              <a:rPr lang="fi-FI"/>
              <a:t>Esimerkki: Kolmio-ohjelman testaaminen</a:t>
            </a:r>
          </a:p>
        </p:txBody>
      </p:sp>
      <p:sp>
        <p:nvSpPr>
          <p:cNvPr id="197635" name="Rectangle 3"/>
          <p:cNvSpPr>
            <a:spLocks noGrp="1" noChangeArrowheads="1"/>
          </p:cNvSpPr>
          <p:nvPr>
            <p:ph type="body" idx="1"/>
          </p:nvPr>
        </p:nvSpPr>
        <p:spPr>
          <a:xfrm>
            <a:off x="250825" y="1628777"/>
            <a:ext cx="6049963" cy="4752975"/>
          </a:xfrm>
        </p:spPr>
        <p:txBody>
          <a:bodyPr/>
          <a:lstStyle/>
          <a:p>
            <a:pPr marL="0" indent="0" defTabSz="762000">
              <a:lnSpc>
                <a:spcPct val="80000"/>
              </a:lnSpc>
            </a:pPr>
            <a:r>
              <a:rPr lang="fi-FI"/>
              <a:t>Ohjelman määrittely:</a:t>
            </a:r>
          </a:p>
          <a:p>
            <a:pPr marL="0" indent="0" defTabSz="762000">
              <a:lnSpc>
                <a:spcPct val="80000"/>
              </a:lnSpc>
              <a:buFontTx/>
              <a:buNone/>
            </a:pPr>
            <a:r>
              <a:rPr lang="fi-FI" sz="1800"/>
              <a:t>Ohjelma lukee tiedostosta kolme (3) kokonaislukua, jotka edustavat kolmion kolmen sivun pituutta. Ohjelma tulostaa viestin, joka kertoo onko kolmio tasasivuinen (kaikki sivut yhtä pitkiä), tasakylkinen (kaksi sivua yhtä pitkiä) vai ovatko kaikki sivut eri mittaisia. Huomaa, että kolmen luvun on muodostettava mahdollinen kolmio. Esimerkiksi 4,4 ja 6 on hyväksyttävä, mutta 1,1 ja 6 ei ole.</a:t>
            </a:r>
            <a:endParaRPr lang="fi-FI" sz="2000"/>
          </a:p>
          <a:p>
            <a:pPr marL="0" indent="0" defTabSz="762000">
              <a:lnSpc>
                <a:spcPct val="80000"/>
              </a:lnSpc>
            </a:pPr>
            <a:endParaRPr lang="fi-FI" sz="500"/>
          </a:p>
          <a:p>
            <a:pPr marL="0" indent="0" defTabSz="762000">
              <a:lnSpc>
                <a:spcPct val="80000"/>
              </a:lnSpc>
            </a:pPr>
            <a:r>
              <a:rPr lang="fi-FI"/>
              <a:t>Tehtävä:</a:t>
            </a:r>
            <a:endParaRPr lang="fi-FI" sz="6000"/>
          </a:p>
          <a:p>
            <a:pPr marL="0" indent="0" defTabSz="762000">
              <a:lnSpc>
                <a:spcPct val="80000"/>
              </a:lnSpc>
              <a:buFontTx/>
              <a:buNone/>
            </a:pPr>
            <a:r>
              <a:rPr lang="fi-FI" sz="1800"/>
              <a:t>Suunnittele testijoukko, jonka arvelet testaavan tämän ohjelman tarpeeksi hyvin. Määrittele kaikki testit, joita harkitsisit suoritettavaksi, jos tämä olisi “oikea” ja tärkeä ohjelma ja kirjoita ne niin, että joku muu voisi suorittaa testit.</a:t>
            </a:r>
            <a:endParaRPr lang="fi-FI" sz="2000"/>
          </a:p>
        </p:txBody>
      </p:sp>
      <p:sp>
        <p:nvSpPr>
          <p:cNvPr id="197636" name="AutoShape 4"/>
          <p:cNvSpPr>
            <a:spLocks noChangeArrowheads="1"/>
          </p:cNvSpPr>
          <p:nvPr/>
        </p:nvSpPr>
        <p:spPr bwMode="auto">
          <a:xfrm>
            <a:off x="6804027" y="1773238"/>
            <a:ext cx="1871663" cy="1008062"/>
          </a:xfrm>
          <a:prstGeom prst="triangle">
            <a:avLst>
              <a:gd name="adj" fmla="val 50000"/>
            </a:avLst>
          </a:prstGeom>
          <a:solidFill>
            <a:schemeClr val="accent1"/>
          </a:solidFill>
          <a:ln w="25400">
            <a:solidFill>
              <a:srgbClr val="000000"/>
            </a:solidFill>
            <a:miter lim="800000"/>
            <a:headEnd/>
            <a:tailEnd/>
          </a:ln>
          <a:effectLst/>
        </p:spPr>
        <p:txBody>
          <a:bodyPr wrap="none" anchor="ctr"/>
          <a:lstStyle/>
          <a:p>
            <a:pPr algn="ctr" eaLnBrk="1" hangingPunct="1"/>
            <a:r>
              <a:rPr lang="en-US" sz="1600">
                <a:solidFill>
                  <a:schemeClr val="bg1"/>
                </a:solidFill>
                <a:latin typeface="Arial" pitchFamily="34" charset="0"/>
                <a:cs typeface="Arial" pitchFamily="34" charset="0"/>
              </a:rPr>
              <a:t>Sallittu</a:t>
            </a:r>
          </a:p>
        </p:txBody>
      </p:sp>
      <p:sp>
        <p:nvSpPr>
          <p:cNvPr id="197637" name="Text Box 5"/>
          <p:cNvSpPr txBox="1">
            <a:spLocks noChangeArrowheads="1"/>
          </p:cNvSpPr>
          <p:nvPr/>
        </p:nvSpPr>
        <p:spPr bwMode="auto">
          <a:xfrm>
            <a:off x="6946619" y="1952626"/>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4</a:t>
            </a:r>
          </a:p>
        </p:txBody>
      </p:sp>
      <p:sp>
        <p:nvSpPr>
          <p:cNvPr id="197638" name="Text Box 6"/>
          <p:cNvSpPr txBox="1">
            <a:spLocks noChangeArrowheads="1"/>
          </p:cNvSpPr>
          <p:nvPr/>
        </p:nvSpPr>
        <p:spPr bwMode="auto">
          <a:xfrm>
            <a:off x="8242019" y="1952626"/>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4</a:t>
            </a:r>
          </a:p>
        </p:txBody>
      </p:sp>
      <p:sp>
        <p:nvSpPr>
          <p:cNvPr id="197639" name="Text Box 7"/>
          <p:cNvSpPr txBox="1">
            <a:spLocks noChangeArrowheads="1"/>
          </p:cNvSpPr>
          <p:nvPr/>
        </p:nvSpPr>
        <p:spPr bwMode="auto">
          <a:xfrm>
            <a:off x="7575268" y="2852738"/>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6</a:t>
            </a:r>
          </a:p>
        </p:txBody>
      </p:sp>
      <p:sp>
        <p:nvSpPr>
          <p:cNvPr id="197640" name="AutoShape 8"/>
          <p:cNvSpPr>
            <a:spLocks noChangeArrowheads="1"/>
          </p:cNvSpPr>
          <p:nvPr/>
        </p:nvSpPr>
        <p:spPr bwMode="auto">
          <a:xfrm>
            <a:off x="6804027" y="3429002"/>
            <a:ext cx="1871663" cy="1008063"/>
          </a:xfrm>
          <a:prstGeom prst="triangle">
            <a:avLst>
              <a:gd name="adj" fmla="val 50000"/>
            </a:avLst>
          </a:prstGeom>
          <a:gradFill rotWithShape="0">
            <a:gsLst>
              <a:gs pos="0">
                <a:srgbClr val="FFFFFF"/>
              </a:gs>
              <a:gs pos="100000">
                <a:schemeClr val="accent1"/>
              </a:gs>
            </a:gsLst>
            <a:lin ang="5400000" scaled="1"/>
          </a:gradFill>
          <a:ln w="25400">
            <a:solidFill>
              <a:srgbClr val="000000"/>
            </a:solidFill>
            <a:miter lim="800000"/>
            <a:headEnd/>
            <a:tailEnd/>
          </a:ln>
          <a:effectLst/>
        </p:spPr>
        <p:txBody>
          <a:bodyPr wrap="none" anchor="ctr"/>
          <a:lstStyle/>
          <a:p>
            <a:pPr algn="ctr" eaLnBrk="1" hangingPunct="1"/>
            <a:r>
              <a:rPr lang="en-US" sz="1600">
                <a:solidFill>
                  <a:schemeClr val="bg1"/>
                </a:solidFill>
                <a:latin typeface="Arial" pitchFamily="34" charset="0"/>
                <a:cs typeface="Arial" pitchFamily="34" charset="0"/>
              </a:rPr>
              <a:t>Virheellinen</a:t>
            </a:r>
          </a:p>
        </p:txBody>
      </p:sp>
      <p:sp>
        <p:nvSpPr>
          <p:cNvPr id="197641" name="Text Box 9"/>
          <p:cNvSpPr txBox="1">
            <a:spLocks noChangeArrowheads="1"/>
          </p:cNvSpPr>
          <p:nvPr/>
        </p:nvSpPr>
        <p:spPr bwMode="auto">
          <a:xfrm>
            <a:off x="6657695" y="3895726"/>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2</a:t>
            </a:r>
          </a:p>
        </p:txBody>
      </p:sp>
      <p:sp>
        <p:nvSpPr>
          <p:cNvPr id="197642" name="Text Box 10"/>
          <p:cNvSpPr txBox="1">
            <a:spLocks noChangeArrowheads="1"/>
          </p:cNvSpPr>
          <p:nvPr/>
        </p:nvSpPr>
        <p:spPr bwMode="auto">
          <a:xfrm>
            <a:off x="8530943" y="3895726"/>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2</a:t>
            </a:r>
          </a:p>
        </p:txBody>
      </p:sp>
      <p:sp>
        <p:nvSpPr>
          <p:cNvPr id="197643" name="Text Box 11"/>
          <p:cNvSpPr txBox="1">
            <a:spLocks noChangeArrowheads="1"/>
          </p:cNvSpPr>
          <p:nvPr/>
        </p:nvSpPr>
        <p:spPr bwMode="auto">
          <a:xfrm>
            <a:off x="7575268" y="4508500"/>
            <a:ext cx="327308" cy="400110"/>
          </a:xfrm>
          <a:prstGeom prst="rect">
            <a:avLst/>
          </a:prstGeom>
          <a:noFill/>
          <a:ln w="3175">
            <a:noFill/>
            <a:miter lim="800000"/>
            <a:headEnd/>
            <a:tailEnd/>
          </a:ln>
          <a:effectLst/>
        </p:spPr>
        <p:txBody>
          <a:bodyPr wrap="none">
            <a:spAutoFit/>
          </a:bodyPr>
          <a:lstStyle/>
          <a:p>
            <a:pPr algn="r" eaLnBrk="1" hangingPunct="1"/>
            <a:r>
              <a:rPr lang="en-US" sz="2000">
                <a:latin typeface="Arial" pitchFamily="34" charset="0"/>
                <a:cs typeface="Arial" pitchFamily="34" charset="0"/>
              </a:rPr>
              <a:t>6</a:t>
            </a:r>
          </a:p>
        </p:txBody>
      </p:sp>
      <p:sp>
        <p:nvSpPr>
          <p:cNvPr id="197644" name="Rectangle 12"/>
          <p:cNvSpPr>
            <a:spLocks noChangeArrowheads="1"/>
          </p:cNvSpPr>
          <p:nvPr/>
        </p:nvSpPr>
        <p:spPr bwMode="auto">
          <a:xfrm>
            <a:off x="7308851" y="3357565"/>
            <a:ext cx="863600" cy="503237"/>
          </a:xfrm>
          <a:prstGeom prst="rect">
            <a:avLst/>
          </a:prstGeom>
          <a:solidFill>
            <a:srgbClr val="FFFFFF"/>
          </a:solidFill>
          <a:ln w="3175">
            <a:noFill/>
            <a:miter lim="800000"/>
            <a:headEnd/>
            <a:tailEnd/>
          </a:ln>
          <a:effectLst/>
        </p:spPr>
        <p:txBody>
          <a:bodyPr wrap="none" anchor="ctr"/>
          <a:lstStyle/>
          <a:p>
            <a:endParaRPr lang="fi-FI"/>
          </a:p>
        </p:txBody>
      </p:sp>
      <p:sp>
        <p:nvSpPr>
          <p:cNvPr id="197645" name="Text Box 13"/>
          <p:cNvSpPr txBox="1">
            <a:spLocks noChangeArrowheads="1"/>
          </p:cNvSpPr>
          <p:nvPr/>
        </p:nvSpPr>
        <p:spPr bwMode="auto">
          <a:xfrm>
            <a:off x="1547815" y="6096002"/>
            <a:ext cx="6686551" cy="307777"/>
          </a:xfrm>
          <a:prstGeom prst="rect">
            <a:avLst/>
          </a:prstGeom>
          <a:noFill/>
          <a:ln w="3175">
            <a:noFill/>
            <a:miter lim="800000"/>
            <a:headEnd/>
            <a:tailEnd/>
          </a:ln>
          <a:effectLst/>
        </p:spPr>
        <p:txBody>
          <a:bodyPr>
            <a:spAutoFit/>
          </a:bodyPr>
          <a:lstStyle/>
          <a:p>
            <a:pPr eaLnBrk="1" hangingPunct="1"/>
            <a:r>
              <a:rPr lang="en-US" sz="1400" i="1">
                <a:solidFill>
                  <a:srgbClr val="000000"/>
                </a:solidFill>
                <a:cs typeface="Arial" pitchFamily="34" charset="0"/>
              </a:rPr>
              <a:t>Harjoitus on mukailtu Glenford Myersin kirjasta: “The Art of Software Testing”, Wiley, 1979 </a:t>
            </a:r>
          </a:p>
        </p:txBody>
      </p:sp>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6F7E14A-02B0-4FFE-82E3-7D59DDF9AFF4}" type="slidenum">
              <a:rPr lang="en-US"/>
              <a:pPr/>
              <a:t>40</a:t>
            </a:fld>
            <a:endParaRPr lang="en-US"/>
          </a:p>
        </p:txBody>
      </p:sp>
      <p:sp>
        <p:nvSpPr>
          <p:cNvPr id="198658" name="Rectangle 2"/>
          <p:cNvSpPr>
            <a:spLocks noGrp="1" noChangeArrowheads="1"/>
          </p:cNvSpPr>
          <p:nvPr>
            <p:ph type="body" idx="1"/>
          </p:nvPr>
        </p:nvSpPr>
        <p:spPr>
          <a:xfrm>
            <a:off x="250825" y="188915"/>
            <a:ext cx="7777163" cy="5665787"/>
          </a:xfrm>
        </p:spPr>
        <p:txBody>
          <a:bodyPr/>
          <a:lstStyle/>
          <a:p>
            <a:pPr marL="0" indent="0" defTabSz="762000">
              <a:lnSpc>
                <a:spcPct val="80000"/>
              </a:lnSpc>
            </a:pPr>
            <a:r>
              <a:rPr lang="fi-FI" sz="1200"/>
              <a:t>Tätä ohjelmaa ei ole niin helppo kirjoittaa, kuin ensin vaikuttaa. Myers antaa listan kolmestatoista virheestä, jotka ovat olleet ohjelman eri versioissa (kerrottu alla). Arvioi listaasi testitapauksista, anna piste kyllä-vastauksista. Huomioi, kysymys 14 käsittelee yleisiä virheitä määriteltäessä testejä mille tahansa ohjelmalle.</a:t>
            </a:r>
          </a:p>
          <a:p>
            <a:pPr marL="0" indent="0" defTabSz="762000">
              <a:lnSpc>
                <a:spcPct val="80000"/>
              </a:lnSpc>
            </a:pPr>
            <a:endParaRPr lang="fi-FI" sz="1200"/>
          </a:p>
          <a:p>
            <a:pPr marL="0" indent="0" defTabSz="762000">
              <a:lnSpc>
                <a:spcPct val="80000"/>
              </a:lnSpc>
            </a:pPr>
            <a:r>
              <a:rPr lang="fi-FI" sz="1200"/>
              <a:t>Onko sinulla järkevä testitapaus:</a:t>
            </a:r>
          </a:p>
          <a:p>
            <a:pPr marL="0" indent="0" defTabSz="762000">
              <a:lnSpc>
                <a:spcPct val="80000"/>
              </a:lnSpc>
            </a:pPr>
            <a:r>
              <a:rPr lang="fi-FI" sz="1200"/>
              <a:t>1. erisivuiselle kolmiolle?</a:t>
            </a:r>
          </a:p>
          <a:p>
            <a:pPr marL="0" indent="0" defTabSz="762000">
              <a:lnSpc>
                <a:spcPct val="80000"/>
              </a:lnSpc>
            </a:pPr>
            <a:r>
              <a:rPr lang="fi-FI" sz="1200"/>
              <a:t>2. tasasivuiselle kolmiolle?</a:t>
            </a:r>
          </a:p>
          <a:p>
            <a:pPr marL="0" indent="0" defTabSz="762000">
              <a:lnSpc>
                <a:spcPct val="80000"/>
              </a:lnSpc>
            </a:pPr>
            <a:r>
              <a:rPr lang="fi-FI" sz="1200"/>
              <a:t>3. tasakylkiselle kolmiolle?</a:t>
            </a:r>
          </a:p>
          <a:p>
            <a:pPr marL="0" indent="0" defTabSz="762000">
              <a:lnSpc>
                <a:spcPct val="80000"/>
              </a:lnSpc>
            </a:pPr>
            <a:r>
              <a:rPr lang="fi-FI" sz="1200"/>
              <a:t>4. kaikille kolmelle tasakylkisen kolmion vaihtoehdolle, joiden kaksi sivua on yhtä pitkät?</a:t>
            </a:r>
          </a:p>
          <a:p>
            <a:pPr marL="0" indent="0" defTabSz="762000">
              <a:lnSpc>
                <a:spcPct val="80000"/>
              </a:lnSpc>
            </a:pPr>
            <a:r>
              <a:rPr lang="fi-FI" sz="1200"/>
              <a:t>5. kolmiolle, jonka yhden sivun pituus on nolla?</a:t>
            </a:r>
          </a:p>
          <a:p>
            <a:pPr marL="0" indent="0" defTabSz="762000">
              <a:lnSpc>
                <a:spcPct val="80000"/>
              </a:lnSpc>
            </a:pPr>
            <a:r>
              <a:rPr lang="fi-FI" sz="1200"/>
              <a:t>6. kolmiolle, jonka yhdellä sivulla on negatiivinen pituus?</a:t>
            </a:r>
          </a:p>
          <a:p>
            <a:pPr marL="0" indent="0" defTabSz="762000">
              <a:lnSpc>
                <a:spcPct val="80000"/>
              </a:lnSpc>
            </a:pPr>
            <a:r>
              <a:rPr lang="fi-FI" sz="1200"/>
              <a:t>7. kolmiolle, jonka kahden sivun summa on yhtäsuuri kuin kolmannen sivun pituus?</a:t>
            </a:r>
          </a:p>
          <a:p>
            <a:pPr marL="0" indent="0" defTabSz="762000">
              <a:lnSpc>
                <a:spcPct val="80000"/>
              </a:lnSpc>
            </a:pPr>
            <a:r>
              <a:rPr lang="fi-FI" sz="1200"/>
              <a:t>8. jokaiselle kolmelle vaihtoehdolle tapauksessa 7?</a:t>
            </a:r>
          </a:p>
          <a:p>
            <a:pPr marL="0" indent="0" defTabSz="762000">
              <a:lnSpc>
                <a:spcPct val="80000"/>
              </a:lnSpc>
            </a:pPr>
            <a:r>
              <a:rPr lang="fi-FI" sz="1200"/>
              <a:t>9. kolmiolle, jonka kahden sivun summa on pienempi kuin kolmannen pituus?</a:t>
            </a:r>
          </a:p>
          <a:p>
            <a:pPr marL="0" indent="0" defTabSz="762000">
              <a:lnSpc>
                <a:spcPct val="80000"/>
              </a:lnSpc>
            </a:pPr>
            <a:r>
              <a:rPr lang="fi-FI" sz="1200"/>
              <a:t>10. jokaiselle kolmelle vaihtoehdolle kohdassa 9?</a:t>
            </a:r>
          </a:p>
          <a:p>
            <a:pPr marL="0" indent="0" defTabSz="762000">
              <a:lnSpc>
                <a:spcPct val="80000"/>
              </a:lnSpc>
            </a:pPr>
            <a:r>
              <a:rPr lang="fi-FI" sz="1200"/>
              <a:t>11. kolmiolle, jonka kaikkien sivujen pituus on nolla?</a:t>
            </a:r>
          </a:p>
          <a:p>
            <a:pPr marL="0" indent="0" defTabSz="762000">
              <a:lnSpc>
                <a:spcPct val="80000"/>
              </a:lnSpc>
            </a:pPr>
            <a:r>
              <a:rPr lang="fi-FI" sz="1200"/>
              <a:t>12. jossa käytetään muita kuin kokonaislukuja syötearvoina?</a:t>
            </a:r>
          </a:p>
          <a:p>
            <a:pPr marL="0" indent="0" defTabSz="762000">
              <a:lnSpc>
                <a:spcPct val="80000"/>
              </a:lnSpc>
            </a:pPr>
            <a:r>
              <a:rPr lang="fi-FI" sz="1200"/>
              <a:t>13. jossa käytetään väärää määrää syötearvoja?</a:t>
            </a:r>
          </a:p>
          <a:p>
            <a:pPr marL="0" indent="0" defTabSz="762000">
              <a:lnSpc>
                <a:spcPct val="80000"/>
              </a:lnSpc>
            </a:pPr>
            <a:r>
              <a:rPr lang="fi-FI" sz="1200"/>
              <a:t>14. onko kaikissa testitapauksissasi odotetut tulokset?</a:t>
            </a:r>
          </a:p>
          <a:p>
            <a:pPr marL="0" indent="0" defTabSz="762000">
              <a:lnSpc>
                <a:spcPct val="80000"/>
              </a:lnSpc>
            </a:pPr>
            <a:endParaRPr lang="fi-FI" sz="1200"/>
          </a:p>
          <a:p>
            <a:pPr marL="0" indent="0" defTabSz="762000">
              <a:lnSpc>
                <a:spcPct val="80000"/>
              </a:lnSpc>
            </a:pPr>
            <a:r>
              <a:rPr lang="fi-FI" sz="1200"/>
              <a:t>Seuraavat lisäkysymykset kuvaavat muita asioita, joita voit joutua ottaa huomioon ohjelmistoa testattaessa:</a:t>
            </a:r>
          </a:p>
          <a:p>
            <a:pPr marL="0" indent="0" defTabSz="762000">
              <a:lnSpc>
                <a:spcPct val="80000"/>
              </a:lnSpc>
            </a:pPr>
            <a:r>
              <a:rPr lang="fi-FI" sz="1200"/>
              <a:t>15. harkitsitko eri käyttöoikeuksien kokeilemista tiedoston käsittelyssä?  (esim. lukuoikeuksien poistaminen)</a:t>
            </a:r>
          </a:p>
          <a:p>
            <a:pPr marL="0" indent="0" defTabSz="762000">
              <a:lnSpc>
                <a:spcPct val="80000"/>
              </a:lnSpc>
            </a:pPr>
            <a:r>
              <a:rPr lang="fi-FI" sz="1200"/>
              <a:t>16. huomioitko ei-toiminnalliset ominaisuudet? (esim. käytettävyys, suorituskyky, dokumentaatio)</a:t>
            </a:r>
          </a:p>
          <a:p>
            <a:pPr marL="0" indent="0" defTabSz="762000">
              <a:lnSpc>
                <a:spcPct val="80000"/>
              </a:lnSpc>
            </a:pPr>
            <a:r>
              <a:rPr lang="fi-FI" sz="1200"/>
              <a:t>17. järjestitkö testitapauksesi prioriteetin mukaan, mikä suoritetaan ensimmäisenä?</a:t>
            </a:r>
          </a:p>
          <a:p>
            <a:pPr marL="0" indent="0" defTabSz="762000">
              <a:lnSpc>
                <a:spcPct val="80000"/>
              </a:lnSpc>
            </a:pPr>
            <a:endParaRPr lang="fi-FI" sz="1200"/>
          </a:p>
          <a:p>
            <a:pPr marL="0" indent="0" defTabSz="762000">
              <a:spcBef>
                <a:spcPct val="0"/>
              </a:spcBef>
              <a:buFontTx/>
              <a:buNone/>
            </a:pPr>
            <a:r>
              <a:rPr lang="en-US" sz="1400"/>
              <a:t>Myersin mukaan kokeneen ammattimaisen ohjelmoijan keskiarvo oli 7,8 kyllä-vastausta kysymyksistä 1-14.</a:t>
            </a:r>
            <a:endParaRPr lang="fi-FI" sz="1400"/>
          </a:p>
        </p:txBody>
      </p:sp>
    </p:spTree>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lide Number Placeholder 5"/>
          <p:cNvSpPr>
            <a:spLocks noGrp="1"/>
          </p:cNvSpPr>
          <p:nvPr>
            <p:ph type="sldNum" sz="quarter" idx="12"/>
          </p:nvPr>
        </p:nvSpPr>
        <p:spPr/>
        <p:txBody>
          <a:bodyPr/>
          <a:lstStyle/>
          <a:p>
            <a:fld id="{52B7A61A-725F-4106-A35A-412EADABE23F}" type="slidenum">
              <a:rPr lang="en-US"/>
              <a:pPr/>
              <a:t>41</a:t>
            </a:fld>
            <a:endParaRPr lang="en-US"/>
          </a:p>
        </p:txBody>
      </p:sp>
      <p:sp>
        <p:nvSpPr>
          <p:cNvPr id="199682" name="Rectangle 2"/>
          <p:cNvSpPr>
            <a:spLocks noGrp="1" noChangeArrowheads="1"/>
          </p:cNvSpPr>
          <p:nvPr>
            <p:ph type="title"/>
          </p:nvPr>
        </p:nvSpPr>
        <p:spPr/>
        <p:txBody>
          <a:bodyPr/>
          <a:lstStyle/>
          <a:p>
            <a:pPr defTabSz="762000"/>
            <a:r>
              <a:rPr lang="fi-FI"/>
              <a:t>Kolmion testaus-yksi ratkaisu</a:t>
            </a:r>
            <a:endParaRPr lang="en-GB"/>
          </a:p>
        </p:txBody>
      </p:sp>
      <p:graphicFrame>
        <p:nvGraphicFramePr>
          <p:cNvPr id="199683" name="Group 3"/>
          <p:cNvGraphicFramePr>
            <a:graphicFrameLocks noGrp="1"/>
          </p:cNvGraphicFramePr>
          <p:nvPr>
            <p:ph type="tbl" idx="1"/>
            <p:extLst>
              <p:ext uri="{D42A27DB-BD31-4B8C-83A1-F6EECF244321}">
                <p14:modId xmlns:p14="http://schemas.microsoft.com/office/powerpoint/2010/main" val="649973198"/>
              </p:ext>
            </p:extLst>
          </p:nvPr>
        </p:nvGraphicFramePr>
        <p:xfrm>
          <a:off x="152400" y="1292060"/>
          <a:ext cx="8839203" cy="4873244"/>
        </p:xfrm>
        <a:graphic>
          <a:graphicData uri="http://schemas.openxmlformats.org/drawingml/2006/table">
            <a:tbl>
              <a:tblPr/>
              <a:tblGrid>
                <a:gridCol w="1265239"/>
                <a:gridCol w="1265237"/>
                <a:gridCol w="534988"/>
                <a:gridCol w="1268412"/>
                <a:gridCol w="641351"/>
                <a:gridCol w="1311275"/>
                <a:gridCol w="642939"/>
                <a:gridCol w="1265237"/>
                <a:gridCol w="644525"/>
              </a:tblGrid>
              <a:tr h="8229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Ehdot</a:t>
                      </a:r>
                      <a:endParaRPr kumimoji="0" lang="en-GB" sz="1200" b="0" i="0" u="none" strike="noStrike" cap="none" normalizeH="0" baseline="0" dirty="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Sallitut</a:t>
                      </a:r>
                      <a:endParaRPr kumimoji="0" lang="en-US" sz="1200" b="1" i="0" u="none" strike="noStrike" cap="none" normalizeH="0" baseline="0" dirty="0" smtClean="0">
                        <a:ln>
                          <a:noFill/>
                        </a:ln>
                        <a:solidFill>
                          <a:schemeClr val="bg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arvot</a:t>
                      </a:r>
                      <a:r>
                        <a:rPr kumimoji="0" lang="en-GB" sz="1200" b="0" i="0" u="none" strike="noStrike" cap="none" normalizeH="0" baseline="0" dirty="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Viite</a:t>
                      </a:r>
                      <a:endParaRPr kumimoji="0" lang="en-GB" sz="1200" b="1" i="0" u="none" strike="noStrike" cap="none" normalizeH="0" baseline="0" dirty="0" smtClean="0">
                        <a:ln>
                          <a:noFill/>
                        </a:ln>
                        <a:solidFill>
                          <a:schemeClr val="bg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Ei-sallitut</a:t>
                      </a:r>
                      <a:endParaRPr kumimoji="0" lang="en-US" sz="1200" b="1" i="0" u="none" strike="noStrike" cap="none" normalizeH="0" baseline="0" dirty="0" smtClean="0">
                        <a:ln>
                          <a:noFill/>
                        </a:ln>
                        <a:solidFill>
                          <a:schemeClr val="bg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arvot</a:t>
                      </a:r>
                      <a:endParaRPr kumimoji="0" lang="en-GB" sz="1200" b="0" i="0" u="none" strike="noStrike" cap="none" normalizeH="0" baseline="0" dirty="0" smtClean="0">
                        <a:ln>
                          <a:noFill/>
                        </a:ln>
                        <a:solidFill>
                          <a:schemeClr val="bg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Viite</a:t>
                      </a:r>
                      <a:r>
                        <a:rPr kumimoji="0" lang="en-GB" sz="1200" b="0" i="0" u="none" strike="noStrike" cap="none" normalizeH="0" baseline="0" dirty="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Sallitut</a:t>
                      </a:r>
                      <a:r>
                        <a:rPr kumimoji="0" lang="en-US" sz="1200" b="1" i="0" u="none" strike="noStrike" cap="none" normalizeH="0" baseline="0" dirty="0" smtClean="0">
                          <a:ln>
                            <a:noFill/>
                          </a:ln>
                          <a:solidFill>
                            <a:schemeClr val="bg1"/>
                          </a:solidFill>
                          <a:effectLst/>
                          <a:latin typeface="Comic Sans MS" pitchFamily="66" charset="0"/>
                          <a:cs typeface="Times New Roman" pitchFamily="18" charset="0"/>
                        </a:rPr>
                        <a:t> raja-</a:t>
                      </a: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arvot</a:t>
                      </a:r>
                      <a:r>
                        <a:rPr kumimoji="0" lang="en-GB" sz="1200" b="0" i="0" u="none" strike="noStrike" cap="none" normalizeH="0" baseline="0" dirty="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Viite</a:t>
                      </a:r>
                      <a:endParaRPr kumimoji="0" lang="en-GB" sz="1200" b="1" i="0" u="none" strike="noStrike" cap="none" normalizeH="0" baseline="0" smtClean="0">
                        <a:ln>
                          <a:noFill/>
                        </a:ln>
                        <a:solidFill>
                          <a:schemeClr val="bg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Ei-sallitut</a:t>
                      </a:r>
                      <a:r>
                        <a:rPr kumimoji="0" lang="en-US" sz="1200" b="1" i="0" u="none" strike="noStrike" cap="none" normalizeH="0" baseline="0" dirty="0" smtClean="0">
                          <a:ln>
                            <a:noFill/>
                          </a:ln>
                          <a:solidFill>
                            <a:schemeClr val="bg1"/>
                          </a:solidFill>
                          <a:effectLst/>
                          <a:latin typeface="Comic Sans MS" pitchFamily="66" charset="0"/>
                          <a:cs typeface="Times New Roman" pitchFamily="18" charset="0"/>
                        </a:rPr>
                        <a:t> raja-</a:t>
                      </a: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arvot</a:t>
                      </a:r>
                      <a:r>
                        <a:rPr kumimoji="0" lang="en-GB" sz="1200" b="0" i="0" u="none" strike="noStrike" cap="none" normalizeH="0" baseline="0" dirty="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err="1" smtClean="0">
                          <a:ln>
                            <a:noFill/>
                          </a:ln>
                          <a:solidFill>
                            <a:schemeClr val="bg1"/>
                          </a:solidFill>
                          <a:effectLst/>
                          <a:latin typeface="Comic Sans MS" pitchFamily="66" charset="0"/>
                          <a:cs typeface="Times New Roman" pitchFamily="18" charset="0"/>
                        </a:rPr>
                        <a:t>Viite</a:t>
                      </a:r>
                      <a:r>
                        <a:rPr kumimoji="0" lang="en-GB" sz="12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r>
              <a:tr h="10789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Sivun pituus</a:t>
                      </a:r>
                      <a:endParaRPr kumimoji="0" lang="en-GB" sz="12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V1</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&lt;1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&gt;M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ei kokonaisluku</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X2</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X3</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1</a:t>
                      </a:r>
                      <a:endParaRPr kumimoji="0" lang="en-GB" sz="1200" b="0" i="0" u="none" strike="noStrike" cap="none" normalizeH="0" baseline="0" dirty="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M</a:t>
                      </a:r>
                      <a:r>
                        <a:rPr kumimoji="0" lang="en-US" sz="1200" b="0" i="0" u="none" strike="noStrike" cap="none" normalizeH="0" baseline="-30000" dirty="0" smtClean="0">
                          <a:ln>
                            <a:noFill/>
                          </a:ln>
                          <a:solidFill>
                            <a:schemeClr val="tx1"/>
                          </a:solidFill>
                          <a:effectLst/>
                          <a:latin typeface="Comic Sans MS" pitchFamily="66" charset="0"/>
                          <a:cs typeface="Times New Roman" pitchFamily="18" charset="0"/>
                        </a:rPr>
                        <a:t>i</a:t>
                      </a:r>
                      <a:r>
                        <a:rPr kumimoji="0" lang="en-GB" sz="12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VB1</a:t>
                      </a:r>
                      <a:endParaRPr kumimoji="0" lang="en-GB" sz="1200" b="0" i="0" u="none" strike="noStrike" cap="none" normalizeH="0" baseline="0" dirty="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VB2</a:t>
                      </a:r>
                      <a:r>
                        <a:rPr kumimoji="0" lang="en-GB" sz="12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0</a:t>
                      </a:r>
                      <a:endParaRPr kumimoji="0" lang="en-GB" sz="1200" b="0" i="0" u="none" strike="noStrike" cap="none" normalizeH="0" baseline="0" dirty="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M</a:t>
                      </a:r>
                      <a:r>
                        <a:rPr kumimoji="0" lang="en-US" sz="1200" b="0" i="0" u="none" strike="noStrike" cap="none" normalizeH="0" baseline="-30000" dirty="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+1</a:t>
                      </a:r>
                      <a:r>
                        <a:rPr kumimoji="0" lang="en-GB" sz="12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XB2</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20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Sivujen lukumäärä</a:t>
                      </a:r>
                      <a:endParaRPr kumimoji="0" lang="en-GB" sz="12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3</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V2</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&lt;3</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&gt;3</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X4</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X5</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2</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4</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XB3</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XB4</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56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Mikä tahansa kolmio</a:t>
                      </a:r>
                      <a:r>
                        <a:rPr kumimoji="0" lang="en-GB" sz="1200" b="0" i="0" u="none" strike="noStrike" cap="none" normalizeH="0" baseline="0" smtClean="0">
                          <a:ln>
                            <a:noFill/>
                          </a:ln>
                          <a:solidFill>
                            <a:schemeClr val="bg1"/>
                          </a:solidFill>
                          <a:effectLst/>
                          <a:latin typeface="Comic Sans MS" pitchFamily="66"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A+B&gt;C</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A+C&gt;B</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B+C&gt;A</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V3</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C</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A+C</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B+C</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X6</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X7</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X8</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 =(C+1)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A+C=(B+1)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B+C=(A+1)</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VB3</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VB4</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VB5</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A+B=C</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A+C=B</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B+C=A</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XB5</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XB6</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XB7</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980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Tasakylkinen</a:t>
                      </a:r>
                      <a:endParaRPr kumimoji="0" lang="en-GB" sz="12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C</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A=C</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B=C</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V4</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V5</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V6</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2, 2, 1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VB6</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VB7</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1, 1, 2</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XB8</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Tasasivuinen</a:t>
                      </a:r>
                      <a:r>
                        <a:rPr kumimoji="0" lang="en-GB" sz="1200" b="0" i="0" u="none" strike="noStrike" cap="none" normalizeH="0" baseline="0" smtClean="0">
                          <a:ln>
                            <a:noFill/>
                          </a:ln>
                          <a:solidFill>
                            <a:schemeClr val="bg1"/>
                          </a:solidFill>
                          <a:effectLst/>
                          <a:latin typeface="Comic Sans MS" pitchFamily="66"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A=B=C</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V7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1, 1, 1</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VB8</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VB9</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0, 0, 0</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XB9</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smtClean="0">
                          <a:ln>
                            <a:noFill/>
                          </a:ln>
                          <a:solidFill>
                            <a:schemeClr val="bg1"/>
                          </a:solidFill>
                          <a:effectLst/>
                          <a:latin typeface="Comic Sans MS" pitchFamily="66" charset="0"/>
                          <a:cs typeface="Times New Roman" pitchFamily="18" charset="0"/>
                        </a:rPr>
                        <a:t>Erisivuinen</a:t>
                      </a:r>
                      <a:r>
                        <a:rPr kumimoji="0" lang="en-GB" sz="1200" b="0" i="0" u="none" strike="noStrike" cap="none" normalizeH="0" baseline="0" smtClean="0">
                          <a:ln>
                            <a:noFill/>
                          </a:ln>
                          <a:solidFill>
                            <a:schemeClr val="bg1"/>
                          </a:solidFill>
                          <a:effectLst/>
                          <a:latin typeface="Comic Sans MS" pitchFamily="66"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A</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B</a:t>
                      </a:r>
                      <a:r>
                        <a:rPr kumimoji="0" lang="en-US" sz="12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C</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V8</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2, 3, 4</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 M</a:t>
                      </a:r>
                      <a:r>
                        <a:rPr kumimoji="0" lang="en-US" sz="1200" b="0" i="0" u="none" strike="noStrike" cap="none" normalizeH="0" baseline="-30000" smtClean="0">
                          <a:ln>
                            <a:noFill/>
                          </a:ln>
                          <a:solidFill>
                            <a:schemeClr val="tx1"/>
                          </a:solidFill>
                          <a:effectLst/>
                          <a:latin typeface="Comic Sans MS" pitchFamily="66" charset="0"/>
                          <a:cs typeface="Times New Roman" pitchFamily="18" charset="0"/>
                        </a:rPr>
                        <a:t>i</a:t>
                      </a: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-2)</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VB10</a:t>
                      </a:r>
                      <a:endParaRPr kumimoji="0" lang="en-GB" sz="1200" b="0" i="0" u="none" strike="noStrike" cap="none" normalizeH="0" baseline="0" smtClean="0">
                        <a:ln>
                          <a:noFill/>
                        </a:ln>
                        <a:solidFill>
                          <a:schemeClr val="tx1"/>
                        </a:solidFill>
                        <a:effectLst/>
                        <a:latin typeface="Comic Sans MS" pitchFamily="66" charset="0"/>
                        <a:cs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VB11</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Comic Sans MS" pitchFamily="66" charset="0"/>
                          <a:cs typeface="Times New Roman" pitchFamily="18" charset="0"/>
                        </a:rPr>
                        <a:t>1, 2, 3</a:t>
                      </a:r>
                      <a:r>
                        <a:rPr kumimoji="0" lang="en-GB" sz="12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Comic Sans MS" pitchFamily="66" charset="0"/>
                          <a:cs typeface="Times New Roman" pitchFamily="18" charset="0"/>
                        </a:rPr>
                        <a:t>XB10</a:t>
                      </a:r>
                      <a:endParaRPr kumimoji="0" lang="en-GB" sz="12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lide Number Placeholder 3"/>
          <p:cNvSpPr>
            <a:spLocks noGrp="1"/>
          </p:cNvSpPr>
          <p:nvPr>
            <p:ph type="sldNum" sz="quarter" idx="12"/>
          </p:nvPr>
        </p:nvSpPr>
        <p:spPr/>
        <p:txBody>
          <a:bodyPr/>
          <a:lstStyle/>
          <a:p>
            <a:fld id="{B173FE37-5652-4E6B-A8E4-98C41C2DC762}" type="slidenum">
              <a:rPr lang="en-US"/>
              <a:pPr/>
              <a:t>42</a:t>
            </a:fld>
            <a:endParaRPr lang="en-US"/>
          </a:p>
        </p:txBody>
      </p:sp>
      <p:graphicFrame>
        <p:nvGraphicFramePr>
          <p:cNvPr id="200706" name="Group 2"/>
          <p:cNvGraphicFramePr>
            <a:graphicFrameLocks noGrp="1"/>
          </p:cNvGraphicFramePr>
          <p:nvPr>
            <p:ph type="tbl" idx="4294967295"/>
            <p:extLst>
              <p:ext uri="{D42A27DB-BD31-4B8C-83A1-F6EECF244321}">
                <p14:modId xmlns:p14="http://schemas.microsoft.com/office/powerpoint/2010/main" val="3574955129"/>
              </p:ext>
            </p:extLst>
          </p:nvPr>
        </p:nvGraphicFramePr>
        <p:xfrm>
          <a:off x="0" y="-315416"/>
          <a:ext cx="9144000" cy="7132320"/>
        </p:xfrm>
        <a:graphic>
          <a:graphicData uri="http://schemas.openxmlformats.org/drawingml/2006/table">
            <a:tbl>
              <a:tblPr/>
              <a:tblGrid>
                <a:gridCol w="1122363"/>
                <a:gridCol w="2535237"/>
                <a:gridCol w="1830388"/>
                <a:gridCol w="1827212"/>
                <a:gridCol w="1828800"/>
              </a:tblGrid>
              <a:tr h="3657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err="1" smtClean="0">
                          <a:ln>
                            <a:noFill/>
                          </a:ln>
                          <a:solidFill>
                            <a:schemeClr val="bg1"/>
                          </a:solidFill>
                          <a:effectLst/>
                          <a:latin typeface="Comic Sans MS" pitchFamily="66" charset="0"/>
                          <a:cs typeface="Times New Roman" pitchFamily="18" charset="0"/>
                        </a:rPr>
                        <a:t>Testitapaus</a:t>
                      </a:r>
                      <a:r>
                        <a:rPr kumimoji="0" lang="en-GB" sz="900" b="1" i="0" u="none" strike="noStrike" cap="none" normalizeH="0" baseline="0" dirty="0" smtClean="0">
                          <a:ln>
                            <a:noFill/>
                          </a:ln>
                          <a:solidFill>
                            <a:schemeClr val="bg1"/>
                          </a:solidFill>
                          <a:effectLst/>
                          <a:latin typeface="Comic Sans MS" pitchFamily="66"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err="1" smtClean="0">
                          <a:ln>
                            <a:noFill/>
                          </a:ln>
                          <a:solidFill>
                            <a:schemeClr val="bg1"/>
                          </a:solidFill>
                          <a:effectLst/>
                          <a:latin typeface="Comic Sans MS" pitchFamily="66" charset="0"/>
                          <a:cs typeface="Times New Roman" pitchFamily="18" charset="0"/>
                        </a:rPr>
                        <a:t>Syötteet</a:t>
                      </a:r>
                      <a:endParaRPr kumimoji="0" lang="en-GB" sz="900" b="1" i="0" u="none" strike="noStrike" cap="none" normalizeH="0" baseline="0" dirty="0" smtClean="0">
                        <a:ln>
                          <a:noFill/>
                        </a:ln>
                        <a:solidFill>
                          <a:schemeClr val="bg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smtClean="0">
                          <a:ln>
                            <a:noFill/>
                          </a:ln>
                          <a:solidFill>
                            <a:schemeClr val="bg1"/>
                          </a:solidFill>
                          <a:effectLst/>
                          <a:latin typeface="Comic Sans MS" pitchFamily="66" charset="0"/>
                          <a:cs typeface="Times New Roman" pitchFamily="18" charset="0"/>
                        </a:rPr>
                        <a:t>Odotettu tulos</a:t>
                      </a:r>
                      <a:r>
                        <a:rPr kumimoji="0" lang="en-GB" sz="900" b="1" i="0" u="none" strike="noStrike" cap="none" normalizeH="0" baseline="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smtClean="0">
                          <a:ln>
                            <a:noFill/>
                          </a:ln>
                          <a:solidFill>
                            <a:schemeClr val="bg1"/>
                          </a:solidFill>
                          <a:effectLst/>
                          <a:latin typeface="Comic Sans MS" pitchFamily="66" charset="0"/>
                          <a:cs typeface="Times New Roman" pitchFamily="18" charset="0"/>
                        </a:rPr>
                        <a:t>Uudet ehdot</a:t>
                      </a:r>
                      <a:r>
                        <a:rPr kumimoji="0" lang="en-GB" sz="900" b="1" i="0" u="none" strike="noStrike" cap="none" normalizeH="0" baseline="0" smtClean="0">
                          <a:ln>
                            <a:noFill/>
                          </a:ln>
                          <a:solidFill>
                            <a:schemeClr val="bg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err="1" smtClean="0">
                          <a:ln>
                            <a:noFill/>
                          </a:ln>
                          <a:solidFill>
                            <a:schemeClr val="bg1"/>
                          </a:solidFill>
                          <a:effectLst/>
                          <a:latin typeface="Comic Sans MS" pitchFamily="66" charset="0"/>
                          <a:cs typeface="Times New Roman" pitchFamily="18" charset="0"/>
                        </a:rPr>
                        <a:t>Myersin</a:t>
                      </a:r>
                      <a:r>
                        <a:rPr kumimoji="0" lang="en-US" sz="900" b="1" i="0" u="none" strike="noStrike" cap="none" normalizeH="0" baseline="0" dirty="0" smtClean="0">
                          <a:ln>
                            <a:noFill/>
                          </a:ln>
                          <a:solidFill>
                            <a:schemeClr val="bg1"/>
                          </a:solidFill>
                          <a:effectLst/>
                          <a:latin typeface="Comic Sans MS" pitchFamily="66" charset="0"/>
                          <a:cs typeface="Times New Roman" pitchFamily="18" charset="0"/>
                        </a:rPr>
                        <a:t> </a:t>
                      </a:r>
                      <a:r>
                        <a:rPr kumimoji="0" lang="en-US" sz="900" b="1" i="0" u="none" strike="noStrike" cap="none" normalizeH="0" baseline="0" dirty="0" err="1" smtClean="0">
                          <a:ln>
                            <a:noFill/>
                          </a:ln>
                          <a:solidFill>
                            <a:schemeClr val="bg1"/>
                          </a:solidFill>
                          <a:effectLst/>
                          <a:latin typeface="Comic Sans MS" pitchFamily="66" charset="0"/>
                          <a:cs typeface="Times New Roman" pitchFamily="18" charset="0"/>
                        </a:rPr>
                        <a:t>kohdat</a:t>
                      </a:r>
                      <a:endParaRPr kumimoji="0" lang="en-GB" sz="900" b="1" i="0" u="none" strike="noStrike" cap="none" normalizeH="0" baseline="0" dirty="0" smtClean="0">
                        <a:ln>
                          <a:noFill/>
                        </a:ln>
                        <a:solidFill>
                          <a:schemeClr val="bg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Comic Sans MS" pitchFamily="66" charset="0"/>
                          <a:cs typeface="Times New Roman" pitchFamily="18" charset="0"/>
                        </a:rPr>
                        <a:t>10, 15, 20</a:t>
                      </a:r>
                      <a:r>
                        <a:rPr kumimoji="0" lang="en-GB" sz="9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dirty="0" smtClean="0">
                          <a:ln>
                            <a:noFill/>
                          </a:ln>
                          <a:solidFill>
                            <a:schemeClr val="tx1"/>
                          </a:solidFill>
                          <a:effectLst/>
                          <a:latin typeface="Comic Sans MS" pitchFamily="66" charset="0"/>
                        </a:rPr>
                        <a:t>Erisivuinen</a:t>
                      </a:r>
                      <a:endParaRPr kumimoji="0" lang="en-GB" sz="9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Comic Sans MS" pitchFamily="66" charset="0"/>
                          <a:cs typeface="Times New Roman" pitchFamily="18" charset="0"/>
                        </a:rPr>
                        <a:t>V1, V2, V3, V8</a:t>
                      </a:r>
                      <a:r>
                        <a:rPr kumimoji="0" lang="en-GB" sz="9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dirty="0" smtClean="0">
                          <a:ln>
                            <a:noFill/>
                          </a:ln>
                          <a:solidFill>
                            <a:schemeClr val="tx1"/>
                          </a:solidFill>
                          <a:effectLst/>
                          <a:latin typeface="Comic Sans MS" pitchFamily="66" charset="0"/>
                        </a:rPr>
                        <a:t>1, 14</a:t>
                      </a:r>
                      <a:endParaRPr kumimoji="0" lang="en-GB" sz="9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13, 13, 13</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Tasasivuinen</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3</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123, 123, 3</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Tasakylkinen</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V4</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3, 4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1234, 4, 1234</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Tasakylkinen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5</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5, 12345, 12345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Tasakylkinen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V6</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6</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2, 2, 1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Tasakylkinen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VB1, VB5, VB6</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7</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1, 1, 1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Tasasivuinen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VB4, VB8</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2, 3, 4</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Erisivuinen</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VB3, VB10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9</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32767, 32767, 32766</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Tasakylkinen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V2, VB7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15, 17</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10</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32767, 32767, 32767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Tasasivuinen</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VB9</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11</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32767, 32766, 32765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Erisivuinen</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VB11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-4, 5, 6</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6</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13</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12345, 12345, 54321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100, 99.5, 101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X3</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15</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dirty="0" smtClean="0">
                          <a:ln>
                            <a:noFill/>
                          </a:ln>
                          <a:solidFill>
                            <a:schemeClr val="tx1"/>
                          </a:solidFill>
                          <a:effectLst/>
                          <a:latin typeface="Comic Sans MS" pitchFamily="66" charset="0"/>
                          <a:cs typeface="Times New Roman" pitchFamily="18" charset="0"/>
                        </a:rPr>
                        <a:t>500</a:t>
                      </a:r>
                      <a:r>
                        <a:rPr kumimoji="0" lang="en-GB" sz="900" b="0" i="0" u="none" strike="noStrike" cap="none" normalizeH="0" baseline="0" dirty="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13</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57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16</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1000, 2000, 1500, 1500, 1500, 100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X5</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17</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5, 6, 70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X6</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9, 10</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5, 60, 7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X7</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10</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19</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50, 6, 7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X8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10</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20</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1, 1, 0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XB1</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5</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21</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32767, 32767, 32768</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22</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111, 222</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XB3</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23</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111, 222, 333, 444</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Syöte virhe</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XB4</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24</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75, 50, 125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7, 8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25</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50, 125, 75</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XB6</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26</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125, 75, 50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XB7</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27</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1, 1, 2</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XB8</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28</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0, 0, 0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XB9</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11</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i-FI" sz="900" b="0" i="0" u="none" strike="noStrike" cap="none" normalizeH="0" baseline="0" smtClean="0">
                          <a:ln>
                            <a:noFill/>
                          </a:ln>
                          <a:solidFill>
                            <a:schemeClr val="tx1"/>
                          </a:solidFill>
                          <a:effectLst/>
                          <a:latin typeface="Comic Sans MS" pitchFamily="66" charset="0"/>
                        </a:rPr>
                        <a:t>29</a:t>
                      </a:r>
                      <a:endParaRPr kumimoji="0" lang="en-GB" sz="900" b="0"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1, 2, 3</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Ei kolmio</a:t>
                      </a:r>
                      <a:endParaRPr kumimoji="0" lang="en-GB" sz="900" b="0" i="0" u="none" strike="noStrike" cap="none" normalizeH="0" baseline="0" smtClean="0">
                        <a:ln>
                          <a:noFill/>
                        </a:ln>
                        <a:solidFill>
                          <a:schemeClr val="tx1"/>
                        </a:solidFill>
                        <a:effectLst/>
                        <a:latin typeface="Comic Sans MS" pitchFamily="66"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900" b="0" i="0" u="none" strike="noStrike" cap="none" normalizeH="0" baseline="0" smtClean="0">
                          <a:ln>
                            <a:noFill/>
                          </a:ln>
                          <a:solidFill>
                            <a:schemeClr val="tx1"/>
                          </a:solidFill>
                          <a:effectLst/>
                          <a:latin typeface="Comic Sans MS" pitchFamily="66" charset="0"/>
                          <a:cs typeface="Times New Roman" pitchFamily="18" charset="0"/>
                        </a:rPr>
                        <a:t>XB10</a:t>
                      </a:r>
                      <a:r>
                        <a:rPr kumimoji="0" lang="en-GB" sz="900" b="0" i="0" u="none" strike="noStrike" cap="none" normalizeH="0" baseline="0" smtClean="0">
                          <a:ln>
                            <a:noFill/>
                          </a:ln>
                          <a:solidFill>
                            <a:schemeClr val="tx1"/>
                          </a:solidFill>
                          <a:effectLst/>
                          <a:latin typeface="Comic Sans MS" pitchFamily="66"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fi-FI" sz="9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normAutofit fontScale="90000"/>
          </a:bodyPr>
          <a:lstStyle/>
          <a:p>
            <a:r>
              <a:rPr lang="fi-FI" smtClean="0"/>
              <a:t>Kolmioesimerkki ja testausasiantuntijat</a:t>
            </a:r>
            <a:endParaRPr lang="en-GB"/>
          </a:p>
        </p:txBody>
      </p:sp>
      <p:sp>
        <p:nvSpPr>
          <p:cNvPr id="202755" name="Rectangle 3"/>
          <p:cNvSpPr>
            <a:spLocks noGrp="1" noChangeArrowheads="1"/>
          </p:cNvSpPr>
          <p:nvPr>
            <p:ph type="body" idx="1"/>
          </p:nvPr>
        </p:nvSpPr>
        <p:spPr/>
        <p:txBody>
          <a:bodyPr>
            <a:normAutofit/>
          </a:bodyPr>
          <a:lstStyle/>
          <a:p>
            <a:r>
              <a:rPr lang="en-GB" sz="2000" dirty="0" err="1" smtClean="0"/>
              <a:t>Myersin</a:t>
            </a:r>
            <a:r>
              <a:rPr lang="en-GB" sz="2000" dirty="0" smtClean="0"/>
              <a:t> </a:t>
            </a:r>
            <a:r>
              <a:rPr lang="en-GB" sz="2000" dirty="0" err="1" smtClean="0"/>
              <a:t>vastaus</a:t>
            </a:r>
            <a:r>
              <a:rPr lang="en-GB" sz="2000" dirty="0" smtClean="0"/>
              <a:t> </a:t>
            </a:r>
            <a:r>
              <a:rPr lang="en-GB" sz="2000" dirty="0" err="1" smtClean="0"/>
              <a:t>sisälsi</a:t>
            </a:r>
            <a:r>
              <a:rPr lang="en-GB" sz="2000" dirty="0" smtClean="0"/>
              <a:t> </a:t>
            </a:r>
            <a:r>
              <a:rPr lang="en-GB" sz="2000" dirty="0" err="1" smtClean="0"/>
              <a:t>testitapauksia</a:t>
            </a:r>
            <a:r>
              <a:rPr lang="en-GB" sz="2000" dirty="0" smtClean="0"/>
              <a:t>, </a:t>
            </a:r>
            <a:r>
              <a:rPr lang="en-GB" sz="2000" dirty="0" err="1" smtClean="0"/>
              <a:t>joissa</a:t>
            </a:r>
            <a:r>
              <a:rPr lang="en-GB" sz="2000" dirty="0" smtClean="0"/>
              <a:t> </a:t>
            </a:r>
            <a:r>
              <a:rPr lang="en-GB" sz="2000" dirty="0" err="1" smtClean="0"/>
              <a:t>syötteenä</a:t>
            </a:r>
            <a:r>
              <a:rPr lang="en-GB" sz="2000" dirty="0" smtClean="0"/>
              <a:t> </a:t>
            </a:r>
            <a:r>
              <a:rPr lang="en-GB" sz="2000" dirty="0" err="1" smtClean="0"/>
              <a:t>oli</a:t>
            </a:r>
            <a:r>
              <a:rPr lang="en-GB" sz="2000" dirty="0" smtClean="0"/>
              <a:t> </a:t>
            </a:r>
            <a:r>
              <a:rPr lang="fi-FI" sz="2000" dirty="0" smtClean="0"/>
              <a:t>merkkejä, ei lukuja</a:t>
            </a:r>
            <a:r>
              <a:rPr lang="en-GB" sz="2000" dirty="0" smtClean="0"/>
              <a:t> </a:t>
            </a:r>
            <a:r>
              <a:rPr lang="fi-FI" sz="2000" dirty="0" smtClean="0"/>
              <a:t>sekä </a:t>
            </a:r>
            <a:r>
              <a:rPr lang="en-GB" sz="2000" dirty="0" err="1" smtClean="0"/>
              <a:t>väärä</a:t>
            </a:r>
            <a:r>
              <a:rPr lang="en-GB" sz="2000" dirty="0" smtClean="0"/>
              <a:t> </a:t>
            </a:r>
            <a:r>
              <a:rPr lang="en-GB" sz="2000" dirty="0" err="1" smtClean="0"/>
              <a:t>määrä</a:t>
            </a:r>
            <a:r>
              <a:rPr lang="en-GB" sz="2000" dirty="0" smtClean="0"/>
              <a:t> </a:t>
            </a:r>
            <a:r>
              <a:rPr lang="fi-FI" sz="2000" dirty="0" smtClean="0"/>
              <a:t>syötteitä</a:t>
            </a:r>
            <a:endParaRPr lang="en-GB" sz="2000" dirty="0" smtClean="0"/>
          </a:p>
          <a:p>
            <a:r>
              <a:rPr lang="en-GB" sz="2000" dirty="0" smtClean="0"/>
              <a:t>Binder </a:t>
            </a:r>
            <a:r>
              <a:rPr lang="en-GB" sz="2000" dirty="0" err="1" smtClean="0"/>
              <a:t>luetteli</a:t>
            </a:r>
            <a:r>
              <a:rPr lang="en-GB" sz="2000" dirty="0" smtClean="0"/>
              <a:t> 65 </a:t>
            </a:r>
            <a:r>
              <a:rPr lang="en-GB" sz="2000" dirty="0" err="1" smtClean="0"/>
              <a:t>testiä</a:t>
            </a:r>
            <a:r>
              <a:rPr lang="en-GB" sz="2000" dirty="0" smtClean="0"/>
              <a:t> </a:t>
            </a:r>
            <a:r>
              <a:rPr lang="en-GB" sz="2000" dirty="0" err="1" smtClean="0"/>
              <a:t>kolmio-ongelmaan</a:t>
            </a:r>
            <a:r>
              <a:rPr lang="en-GB" sz="2000" dirty="0" smtClean="0"/>
              <a:t>, </a:t>
            </a:r>
            <a:r>
              <a:rPr lang="fi-FI" sz="2000" dirty="0" smtClean="0"/>
              <a:t>käsitellen</a:t>
            </a:r>
            <a:r>
              <a:rPr lang="en-GB" sz="2000" dirty="0" smtClean="0"/>
              <a:t> </a:t>
            </a:r>
            <a:r>
              <a:rPr lang="en-GB" sz="2000" dirty="0" err="1" smtClean="0"/>
              <a:t>useita</a:t>
            </a:r>
            <a:r>
              <a:rPr lang="en-GB" sz="2000" dirty="0" smtClean="0"/>
              <a:t> </a:t>
            </a:r>
            <a:r>
              <a:rPr lang="en-GB" sz="2000" dirty="0" err="1" smtClean="0"/>
              <a:t>uusia</a:t>
            </a:r>
            <a:r>
              <a:rPr lang="en-GB" sz="2000" dirty="0" smtClean="0"/>
              <a:t> </a:t>
            </a:r>
            <a:r>
              <a:rPr lang="en-GB" sz="2000" dirty="0" err="1" smtClean="0"/>
              <a:t>ulottuvuuksia</a:t>
            </a:r>
            <a:r>
              <a:rPr lang="en-GB" sz="2000" dirty="0" smtClean="0"/>
              <a:t> </a:t>
            </a:r>
            <a:r>
              <a:rPr lang="en-GB" sz="2000" dirty="0" err="1" smtClean="0"/>
              <a:t>riskeistä</a:t>
            </a:r>
            <a:r>
              <a:rPr lang="en-GB" sz="2000" dirty="0" smtClean="0"/>
              <a:t>, </a:t>
            </a:r>
            <a:r>
              <a:rPr lang="fi-FI" sz="2000" dirty="0" smtClean="0"/>
              <a:t>kuten mitä </a:t>
            </a:r>
            <a:r>
              <a:rPr lang="en-GB" sz="2000" dirty="0" err="1" smtClean="0"/>
              <a:t>mahdollisia</a:t>
            </a:r>
            <a:r>
              <a:rPr lang="en-GB" sz="2000" dirty="0" smtClean="0"/>
              <a:t> </a:t>
            </a:r>
            <a:r>
              <a:rPr lang="en-GB" sz="2000" dirty="0" err="1" smtClean="0"/>
              <a:t>virheitä</a:t>
            </a:r>
            <a:r>
              <a:rPr lang="en-GB" sz="2000" dirty="0" smtClean="0"/>
              <a:t> </a:t>
            </a:r>
            <a:r>
              <a:rPr lang="en-GB" sz="2000" dirty="0" err="1" smtClean="0"/>
              <a:t>syntyy</a:t>
            </a:r>
            <a:r>
              <a:rPr lang="en-GB" sz="2000" dirty="0" smtClean="0"/>
              <a:t>, </a:t>
            </a:r>
            <a:r>
              <a:rPr lang="en-GB" sz="2000" dirty="0" err="1" smtClean="0"/>
              <a:t>jos</a:t>
            </a:r>
            <a:r>
              <a:rPr lang="en-GB" sz="2000" dirty="0" smtClean="0"/>
              <a:t> </a:t>
            </a:r>
            <a:r>
              <a:rPr lang="en-GB" sz="2000" dirty="0" err="1" smtClean="0"/>
              <a:t>yrität</a:t>
            </a:r>
            <a:r>
              <a:rPr lang="en-GB" sz="2000" dirty="0" smtClean="0"/>
              <a:t> </a:t>
            </a:r>
            <a:r>
              <a:rPr lang="en-GB" sz="2000" dirty="0" err="1" smtClean="0"/>
              <a:t>toistaa</a:t>
            </a:r>
            <a:r>
              <a:rPr lang="en-GB" sz="2000" dirty="0" smtClean="0"/>
              <a:t> </a:t>
            </a:r>
            <a:r>
              <a:rPr lang="en-GB" sz="2000" dirty="0" err="1" smtClean="0"/>
              <a:t>testin</a:t>
            </a:r>
            <a:r>
              <a:rPr lang="en-GB" sz="2000" dirty="0" smtClean="0"/>
              <a:t> </a:t>
            </a:r>
            <a:r>
              <a:rPr lang="en-GB" sz="2000" dirty="0" err="1" smtClean="0"/>
              <a:t>useammin</a:t>
            </a:r>
            <a:r>
              <a:rPr lang="en-GB" sz="2000" dirty="0" smtClean="0"/>
              <a:t> </a:t>
            </a:r>
            <a:r>
              <a:rPr lang="en-GB" sz="2000" dirty="0" err="1" smtClean="0"/>
              <a:t>kuin</a:t>
            </a:r>
            <a:r>
              <a:rPr lang="en-GB" sz="2000" dirty="0" smtClean="0"/>
              <a:t> </a:t>
            </a:r>
            <a:r>
              <a:rPr lang="en-GB" sz="2000" dirty="0" err="1" smtClean="0"/>
              <a:t>kerran</a:t>
            </a:r>
            <a:r>
              <a:rPr lang="en-GB" sz="2000" dirty="0" smtClean="0"/>
              <a:t> </a:t>
            </a:r>
          </a:p>
          <a:p>
            <a:r>
              <a:rPr lang="en-GB" sz="2000" dirty="0" smtClean="0"/>
              <a:t>Collard </a:t>
            </a:r>
            <a:r>
              <a:rPr lang="en-GB" sz="2000" dirty="0" err="1" smtClean="0"/>
              <a:t>luetteli</a:t>
            </a:r>
            <a:r>
              <a:rPr lang="en-GB" sz="2000" dirty="0" smtClean="0"/>
              <a:t> 4 </a:t>
            </a:r>
            <a:r>
              <a:rPr lang="en-GB" sz="2000" dirty="0" err="1" smtClean="0"/>
              <a:t>testiä</a:t>
            </a:r>
            <a:r>
              <a:rPr lang="en-GB" sz="2000" dirty="0" smtClean="0"/>
              <a:t>, </a:t>
            </a:r>
            <a:r>
              <a:rPr lang="en-GB" sz="2000" dirty="0" err="1" smtClean="0"/>
              <a:t>jotka</a:t>
            </a:r>
            <a:r>
              <a:rPr lang="en-GB" sz="2000" dirty="0" smtClean="0"/>
              <a:t> </a:t>
            </a:r>
            <a:r>
              <a:rPr lang="en-GB" sz="2000" dirty="0" err="1" smtClean="0"/>
              <a:t>voisivat</a:t>
            </a:r>
            <a:r>
              <a:rPr lang="en-GB" sz="2000" dirty="0" smtClean="0"/>
              <a:t> </a:t>
            </a:r>
            <a:r>
              <a:rPr lang="en-GB" sz="2000" dirty="0" err="1" smtClean="0"/>
              <a:t>riittää</a:t>
            </a:r>
            <a:endParaRPr lang="fi-FI" sz="2000" dirty="0" smtClean="0"/>
          </a:p>
          <a:p>
            <a:r>
              <a:rPr lang="en-GB" sz="2000" dirty="0" smtClean="0"/>
              <a:t>Jorgensen </a:t>
            </a:r>
            <a:r>
              <a:rPr lang="en-GB" sz="2000" dirty="0" err="1" smtClean="0"/>
              <a:t>luetteli</a:t>
            </a:r>
            <a:r>
              <a:rPr lang="en-GB" sz="2000" dirty="0" smtClean="0"/>
              <a:t> 140 </a:t>
            </a:r>
            <a:r>
              <a:rPr lang="en-GB" sz="2000" dirty="0" err="1" smtClean="0"/>
              <a:t>testitapausta</a:t>
            </a:r>
            <a:endParaRPr lang="fi-FI" sz="2000" dirty="0"/>
          </a:p>
        </p:txBody>
      </p:sp>
      <p:sp>
        <p:nvSpPr>
          <p:cNvPr id="7" name="Slide Number Placeholder 5"/>
          <p:cNvSpPr>
            <a:spLocks noGrp="1"/>
          </p:cNvSpPr>
          <p:nvPr>
            <p:ph type="sldNum" sz="quarter" idx="12"/>
          </p:nvPr>
        </p:nvSpPr>
        <p:spPr/>
        <p:txBody>
          <a:bodyPr/>
          <a:lstStyle/>
          <a:p>
            <a:fld id="{D573A22C-D53F-4E7A-BB8F-BB41AFD07707}" type="slidenum">
              <a:rPr lang="en-US" smtClean="0"/>
              <a:pPr/>
              <a:t>43</a:t>
            </a:fld>
            <a:endParaRPr lang="en-US"/>
          </a:p>
        </p:txBody>
      </p:sp>
      <p:sp>
        <p:nvSpPr>
          <p:cNvPr id="202756" name="Rectangle 4"/>
          <p:cNvSpPr>
            <a:spLocks noChangeArrowheads="1"/>
          </p:cNvSpPr>
          <p:nvPr/>
        </p:nvSpPr>
        <p:spPr bwMode="auto">
          <a:xfrm>
            <a:off x="827584" y="4725144"/>
            <a:ext cx="7924800" cy="1219200"/>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wrap="none" anchor="ctr"/>
          <a:lstStyle/>
          <a:p>
            <a:pPr algn="ctr" eaLnBrk="1" hangingPunct="1">
              <a:lnSpc>
                <a:spcPct val="90000"/>
              </a:lnSpc>
              <a:spcBef>
                <a:spcPct val="20000"/>
              </a:spcBef>
              <a:buSzPct val="65000"/>
              <a:buFont typeface="Times" pitchFamily="18" charset="0"/>
              <a:buNone/>
            </a:pPr>
            <a:r>
              <a:rPr lang="en-GB" sz="2000">
                <a:solidFill>
                  <a:srgbClr val="000000"/>
                </a:solidFill>
                <a:cs typeface="Arial" pitchFamily="34" charset="0"/>
              </a:rPr>
              <a:t>“Tämä kuulostaa huonolta vitsiltä –</a:t>
            </a:r>
            <a:r>
              <a:rPr lang="fi-FI" sz="2000">
                <a:solidFill>
                  <a:srgbClr val="000000"/>
                </a:solidFill>
                <a:cs typeface="Arial" pitchFamily="34" charset="0"/>
              </a:rPr>
              <a:t> kysy neljältä asiantuntijalta</a:t>
            </a:r>
            <a:r>
              <a:rPr lang="en-GB" sz="2000">
                <a:solidFill>
                  <a:srgbClr val="000000"/>
                </a:solidFill>
                <a:cs typeface="Arial" pitchFamily="34" charset="0"/>
              </a:rPr>
              <a:t>, </a:t>
            </a:r>
            <a:endParaRPr lang="fi-FI" sz="2000">
              <a:solidFill>
                <a:srgbClr val="000000"/>
              </a:solidFill>
              <a:cs typeface="Arial" pitchFamily="34" charset="0"/>
            </a:endParaRPr>
          </a:p>
          <a:p>
            <a:pPr algn="ctr" eaLnBrk="1" hangingPunct="1">
              <a:lnSpc>
                <a:spcPct val="90000"/>
              </a:lnSpc>
              <a:spcBef>
                <a:spcPct val="20000"/>
              </a:spcBef>
              <a:buSzPct val="65000"/>
              <a:buFont typeface="Times" pitchFamily="18" charset="0"/>
              <a:buNone/>
            </a:pPr>
            <a:r>
              <a:rPr lang="en-GB" sz="2000">
                <a:solidFill>
                  <a:srgbClr val="000000"/>
                </a:solidFill>
                <a:cs typeface="Arial" pitchFamily="34" charset="0"/>
              </a:rPr>
              <a:t>saat neljä erilaista vastausta; neljästä 140:n testitapaukseen </a:t>
            </a:r>
          </a:p>
          <a:p>
            <a:pPr algn="ctr" eaLnBrk="1" hangingPunct="1">
              <a:lnSpc>
                <a:spcPct val="90000"/>
              </a:lnSpc>
              <a:spcBef>
                <a:spcPct val="20000"/>
              </a:spcBef>
              <a:buSzPct val="65000"/>
              <a:buFont typeface="Times" pitchFamily="18" charset="0"/>
              <a:buNone/>
            </a:pPr>
            <a:r>
              <a:rPr lang="en-GB" sz="2000">
                <a:solidFill>
                  <a:srgbClr val="000000"/>
                </a:solidFill>
                <a:cs typeface="Arial" pitchFamily="34" charset="0"/>
              </a:rPr>
              <a:t>– ja neljä konsulttilaskua.”</a:t>
            </a:r>
            <a:r>
              <a:rPr lang="fi-FI" sz="2000">
                <a:solidFill>
                  <a:srgbClr val="000000"/>
                </a:solidFill>
                <a:cs typeface="Arial" pitchFamily="34" charset="0"/>
              </a:rPr>
              <a:t> (Collard) </a:t>
            </a:r>
            <a:endParaRPr lang="en-GB" sz="1000">
              <a:cs typeface="Arial" pitchFamily="34" charset="0"/>
            </a:endParaRPr>
          </a:p>
        </p:txBody>
      </p:sp>
      <p:sp>
        <p:nvSpPr>
          <p:cNvPr id="202757" name="Text Box 5"/>
          <p:cNvSpPr txBox="1">
            <a:spLocks noChangeArrowheads="1"/>
          </p:cNvSpPr>
          <p:nvPr/>
        </p:nvSpPr>
        <p:spPr bwMode="auto">
          <a:xfrm>
            <a:off x="5577408" y="6394724"/>
            <a:ext cx="26670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dirty="0">
                <a:latin typeface="Arial" pitchFamily="34" charset="0"/>
                <a:cs typeface="Arial" pitchFamily="34" charset="0"/>
              </a:rPr>
              <a:t>[</a:t>
            </a:r>
            <a:r>
              <a:rPr lang="fi-FI" sz="1200" dirty="0" err="1">
                <a:latin typeface="Arial" pitchFamily="34" charset="0"/>
                <a:cs typeface="Arial" pitchFamily="34" charset="0"/>
              </a:rPr>
              <a:t>Kaner</a:t>
            </a:r>
            <a:r>
              <a:rPr lang="fi-FI" sz="1200" dirty="0">
                <a:latin typeface="Arial" pitchFamily="34" charset="0"/>
                <a:cs typeface="Arial" pitchFamily="34" charset="0"/>
              </a:rPr>
              <a:t> 2003]</a:t>
            </a:r>
            <a:endParaRPr lang="en-GB" sz="1200" dirty="0">
              <a:latin typeface="Arial" pitchFamily="34" charset="0"/>
              <a:cs typeface="Arial"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normAutofit fontScale="90000"/>
          </a:bodyPr>
          <a:lstStyle/>
          <a:p>
            <a:r>
              <a:rPr lang="fi-FI" smtClean="0"/>
              <a:t>Vaihtelujen ymmärtäminen kolmion testauksessa</a:t>
            </a:r>
            <a:endParaRPr lang="fi-FI"/>
          </a:p>
        </p:txBody>
      </p:sp>
      <p:sp>
        <p:nvSpPr>
          <p:cNvPr id="204803" name="Rectangle 3"/>
          <p:cNvSpPr>
            <a:spLocks noGrp="1" noChangeArrowheads="1"/>
          </p:cNvSpPr>
          <p:nvPr>
            <p:ph type="body" idx="1"/>
          </p:nvPr>
        </p:nvSpPr>
        <p:spPr/>
        <p:txBody>
          <a:bodyPr>
            <a:noAutofit/>
          </a:bodyPr>
          <a:lstStyle/>
          <a:p>
            <a:r>
              <a:rPr lang="fi-FI" sz="2000" dirty="0" smtClean="0"/>
              <a:t>Useilla testeillä ei ole mitään tekemistä numeeristen arvojen väärällä käsittelyllä, kuten ohjelman suorituksen suuntautumisella väärään polkuun, koska ohjelmoija on näppäillyt väärin vertailulausekkeen.</a:t>
            </a:r>
          </a:p>
          <a:p>
            <a:r>
              <a:rPr lang="fi-FI" sz="2000" dirty="0" smtClean="0"/>
              <a:t>Sen sijaan testit ovat eri ulottuvuudessa kuin lukuvalikoima, joka osoittaa mitkä syötteet ovat liian suuria tai pieniä. </a:t>
            </a:r>
          </a:p>
          <a:p>
            <a:r>
              <a:rPr lang="fi-FI" sz="2000" dirty="0" smtClean="0"/>
              <a:t>Esimerkit:</a:t>
            </a:r>
          </a:p>
          <a:p>
            <a:pPr lvl="1"/>
            <a:r>
              <a:rPr lang="fi-FI" sz="1800" dirty="0" smtClean="0"/>
              <a:t>Sallittu sivujen lukumäärä, jonka voi syöttää kolmiolle on kolme. Kaksi ja neljä ovat esimerkkejä ekvivalenssiluokista, joissa on liian vähän tai monta kolmion sivua. </a:t>
            </a:r>
          </a:p>
          <a:p>
            <a:pPr lvl="1"/>
            <a:r>
              <a:rPr lang="fi-FI" sz="1800" dirty="0" smtClean="0"/>
              <a:t>Jos syöte on ASCII koodattu, sallitut arvot (numerot) 48:sta (“0”) 57:n (“9”). Merkit 47 (“/”) ja 58 (“:”) ovat kiinnostavia raja-arvoja ei–numero syötteestä</a:t>
            </a:r>
          </a:p>
          <a:p>
            <a:pPr lvl="1"/>
            <a:r>
              <a:rPr lang="fi-FI" sz="1800" dirty="0" smtClean="0"/>
              <a:t>Jos syöte on interaktiivinen, pitkä viive kahden numeron syöttämisessä, voidaan tauko tulkita virheeksi. Viive joka on juuri lyhyempi kuin ajastimen raja-arvo ja juuri pidempi johtaa toiseen ekvivalenssiluokkaan</a:t>
            </a:r>
            <a:endParaRPr lang="fi-FI" sz="1800" dirty="0"/>
          </a:p>
        </p:txBody>
      </p:sp>
      <p:sp>
        <p:nvSpPr>
          <p:cNvPr id="5" name="Slide Number Placeholder 5"/>
          <p:cNvSpPr>
            <a:spLocks noGrp="1"/>
          </p:cNvSpPr>
          <p:nvPr>
            <p:ph type="sldNum" sz="quarter" idx="12"/>
          </p:nvPr>
        </p:nvSpPr>
        <p:spPr/>
        <p:txBody>
          <a:bodyPr/>
          <a:lstStyle/>
          <a:p>
            <a:fld id="{22608018-BD07-425D-A946-31C2BDB6D333}" type="slidenum">
              <a:rPr lang="en-US" smtClean="0"/>
              <a:pPr/>
              <a:t>44</a:t>
            </a:fld>
            <a:endParaRPr lang="en-US"/>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fld id="{FEB6B6DE-1BD7-47A7-8FAB-14E20C4DC1C7}" type="slidenum">
              <a:rPr lang="en-US"/>
              <a:pPr/>
              <a:t>45</a:t>
            </a:fld>
            <a:endParaRPr lang="en-US"/>
          </a:p>
        </p:txBody>
      </p:sp>
      <p:sp>
        <p:nvSpPr>
          <p:cNvPr id="209922" name="Rectangle 2"/>
          <p:cNvSpPr>
            <a:spLocks noGrp="1" noChangeArrowheads="1"/>
          </p:cNvSpPr>
          <p:nvPr>
            <p:ph type="title"/>
          </p:nvPr>
        </p:nvSpPr>
        <p:spPr/>
        <p:txBody>
          <a:bodyPr/>
          <a:lstStyle/>
          <a:p>
            <a:pPr defTabSz="762000"/>
            <a:r>
              <a:rPr lang="en-GB"/>
              <a:t>Mieti seuraavia testaustilanteita</a:t>
            </a:r>
          </a:p>
        </p:txBody>
      </p:sp>
      <p:sp>
        <p:nvSpPr>
          <p:cNvPr id="209923" name="Text Box 3"/>
          <p:cNvSpPr txBox="1">
            <a:spLocks noChangeArrowheads="1"/>
          </p:cNvSpPr>
          <p:nvPr/>
        </p:nvSpPr>
        <p:spPr bwMode="auto">
          <a:xfrm>
            <a:off x="838200" y="1828801"/>
            <a:ext cx="2971800" cy="2556727"/>
          </a:xfrm>
          <a:prstGeom prst="rect">
            <a:avLst/>
          </a:prstGeom>
          <a:noFill/>
          <a:ln w="12700">
            <a:noFill/>
            <a:miter lim="800000"/>
            <a:headEnd/>
            <a:tailEnd/>
          </a:ln>
          <a:effectLst/>
        </p:spPr>
        <p:txBody>
          <a:bodyPr lIns="90000" tIns="46800" rIns="90000" bIns="46800">
            <a:spAutoFit/>
          </a:bodyPr>
          <a:lstStyle/>
          <a:p>
            <a:pPr>
              <a:spcBef>
                <a:spcPct val="50000"/>
              </a:spcBef>
            </a:pPr>
            <a:r>
              <a:rPr lang="en-GB" sz="1600" b="1">
                <a:cs typeface="Arial" pitchFamily="34" charset="0"/>
              </a:rPr>
              <a:t>Web-testauksen yhdistelmät</a:t>
            </a:r>
          </a:p>
          <a:p>
            <a:pPr>
              <a:spcBef>
                <a:spcPct val="50000"/>
              </a:spcBef>
            </a:pPr>
            <a:r>
              <a:rPr lang="en-GB" sz="1600">
                <a:cs typeface="Arial" pitchFamily="34" charset="0"/>
              </a:rPr>
              <a:t>8 selainta </a:t>
            </a:r>
          </a:p>
          <a:p>
            <a:pPr>
              <a:spcBef>
                <a:spcPct val="50000"/>
              </a:spcBef>
            </a:pPr>
            <a:r>
              <a:rPr lang="en-GB" sz="1600">
                <a:cs typeface="Arial" pitchFamily="34" charset="0"/>
              </a:rPr>
              <a:t>3 plug-in teknologiaa </a:t>
            </a:r>
          </a:p>
          <a:p>
            <a:pPr>
              <a:spcBef>
                <a:spcPct val="50000"/>
              </a:spcBef>
            </a:pPr>
            <a:r>
              <a:rPr lang="en-GB" sz="1600">
                <a:cs typeface="Arial" pitchFamily="34" charset="0"/>
              </a:rPr>
              <a:t>6 käyttöjärjestelmää</a:t>
            </a:r>
          </a:p>
          <a:p>
            <a:pPr>
              <a:spcBef>
                <a:spcPct val="50000"/>
              </a:spcBef>
            </a:pPr>
            <a:r>
              <a:rPr lang="en-GB" sz="1600">
                <a:cs typeface="Arial" pitchFamily="34" charset="0"/>
              </a:rPr>
              <a:t>3 http-palvelinta</a:t>
            </a:r>
          </a:p>
          <a:p>
            <a:pPr>
              <a:spcBef>
                <a:spcPct val="50000"/>
              </a:spcBef>
            </a:pPr>
            <a:r>
              <a:rPr lang="en-GB" sz="1600">
                <a:cs typeface="Arial" pitchFamily="34" charset="0"/>
              </a:rPr>
              <a:t>3 palvelinkäyttöjärjestelmää</a:t>
            </a:r>
          </a:p>
          <a:p>
            <a:pPr>
              <a:spcBef>
                <a:spcPct val="50000"/>
              </a:spcBef>
            </a:pPr>
            <a:r>
              <a:rPr lang="en-GB" sz="1600">
                <a:cs typeface="Arial" pitchFamily="34" charset="0"/>
                <a:sym typeface="Wingdings" pitchFamily="2" charset="2"/>
              </a:rPr>
              <a:t> 1296 yhdistelmää</a:t>
            </a:r>
            <a:endParaRPr lang="en-GB" sz="1600">
              <a:cs typeface="Arial" pitchFamily="34" charset="0"/>
            </a:endParaRPr>
          </a:p>
        </p:txBody>
      </p:sp>
      <p:sp>
        <p:nvSpPr>
          <p:cNvPr id="209924" name="Text Box 4"/>
          <p:cNvSpPr txBox="1">
            <a:spLocks noChangeArrowheads="1"/>
          </p:cNvSpPr>
          <p:nvPr/>
        </p:nvSpPr>
        <p:spPr bwMode="auto">
          <a:xfrm>
            <a:off x="4724400" y="1841501"/>
            <a:ext cx="3352800" cy="1818063"/>
          </a:xfrm>
          <a:prstGeom prst="rect">
            <a:avLst/>
          </a:prstGeom>
          <a:noFill/>
          <a:ln w="12700">
            <a:noFill/>
            <a:miter lim="800000"/>
            <a:headEnd/>
            <a:tailEnd/>
          </a:ln>
          <a:effectLst/>
        </p:spPr>
        <p:txBody>
          <a:bodyPr lIns="90000" tIns="46800" rIns="90000" bIns="46800">
            <a:spAutoFit/>
          </a:bodyPr>
          <a:lstStyle/>
          <a:p>
            <a:pPr>
              <a:spcBef>
                <a:spcPct val="50000"/>
              </a:spcBef>
            </a:pPr>
            <a:r>
              <a:rPr lang="en-GB" sz="1600" b="1">
                <a:cs typeface="Arial" pitchFamily="34" charset="0"/>
              </a:rPr>
              <a:t>Pankkitestauksen yhdistelmät</a:t>
            </a:r>
          </a:p>
          <a:p>
            <a:pPr>
              <a:spcBef>
                <a:spcPct val="50000"/>
              </a:spcBef>
            </a:pPr>
            <a:r>
              <a:rPr lang="en-GB" sz="1600">
                <a:cs typeface="Arial" pitchFamily="34" charset="0"/>
                <a:sym typeface="Wingdings" pitchFamily="2" charset="2"/>
              </a:rPr>
              <a:t>4 asiakastyyppiä</a:t>
            </a:r>
          </a:p>
          <a:p>
            <a:pPr>
              <a:spcBef>
                <a:spcPct val="50000"/>
              </a:spcBef>
            </a:pPr>
            <a:r>
              <a:rPr lang="en-GB" sz="1600">
                <a:cs typeface="Arial" pitchFamily="34" charset="0"/>
                <a:sym typeface="Wingdings" pitchFamily="2" charset="2"/>
              </a:rPr>
              <a:t>5 tilityyppiä</a:t>
            </a:r>
          </a:p>
          <a:p>
            <a:pPr>
              <a:spcBef>
                <a:spcPct val="50000"/>
              </a:spcBef>
            </a:pPr>
            <a:r>
              <a:rPr lang="en-GB" sz="1600">
                <a:cs typeface="Arial" pitchFamily="34" charset="0"/>
                <a:sym typeface="Wingdings" pitchFamily="2" charset="2"/>
              </a:rPr>
              <a:t>6 toimipaikkaa</a:t>
            </a:r>
          </a:p>
          <a:p>
            <a:pPr>
              <a:spcBef>
                <a:spcPct val="50000"/>
              </a:spcBef>
            </a:pPr>
            <a:r>
              <a:rPr lang="en-GB" sz="1600">
                <a:cs typeface="Arial" pitchFamily="34" charset="0"/>
                <a:sym typeface="Wingdings" pitchFamily="2" charset="2"/>
              </a:rPr>
              <a:t> 120 yhdistelmää</a:t>
            </a:r>
            <a:endParaRPr lang="en-GB" sz="1600">
              <a:cs typeface="Arial" pitchFamily="34" charset="0"/>
            </a:endParaRPr>
          </a:p>
        </p:txBody>
      </p:sp>
      <p:sp>
        <p:nvSpPr>
          <p:cNvPr id="209925" name="Text Box 5"/>
          <p:cNvSpPr txBox="1">
            <a:spLocks noChangeArrowheads="1"/>
          </p:cNvSpPr>
          <p:nvPr/>
        </p:nvSpPr>
        <p:spPr bwMode="auto">
          <a:xfrm>
            <a:off x="4876800" y="4048126"/>
            <a:ext cx="2971800" cy="1818063"/>
          </a:xfrm>
          <a:prstGeom prst="rect">
            <a:avLst/>
          </a:prstGeom>
          <a:noFill/>
          <a:ln w="12700">
            <a:noFill/>
            <a:miter lim="800000"/>
            <a:headEnd/>
            <a:tailEnd/>
          </a:ln>
          <a:effectLst/>
        </p:spPr>
        <p:txBody>
          <a:bodyPr lIns="90000" tIns="46800" rIns="90000" bIns="46800">
            <a:spAutoFit/>
          </a:bodyPr>
          <a:lstStyle/>
          <a:p>
            <a:pPr>
              <a:spcBef>
                <a:spcPct val="50000"/>
              </a:spcBef>
            </a:pPr>
            <a:r>
              <a:rPr lang="en-GB" sz="1600" b="1">
                <a:cs typeface="Arial" pitchFamily="34" charset="0"/>
              </a:rPr>
              <a:t>Oliototeutuksen yhdistelmät</a:t>
            </a:r>
          </a:p>
          <a:p>
            <a:pPr>
              <a:spcBef>
                <a:spcPct val="50000"/>
              </a:spcBef>
            </a:pPr>
            <a:r>
              <a:rPr lang="en-GB" sz="1600">
                <a:cs typeface="Arial" pitchFamily="34" charset="0"/>
                <a:sym typeface="Wingdings" pitchFamily="2" charset="2"/>
              </a:rPr>
              <a:t>4 lähettäjää</a:t>
            </a:r>
          </a:p>
          <a:p>
            <a:pPr>
              <a:spcBef>
                <a:spcPct val="50000"/>
              </a:spcBef>
            </a:pPr>
            <a:r>
              <a:rPr lang="en-GB" sz="1600">
                <a:cs typeface="Arial" pitchFamily="34" charset="0"/>
                <a:sym typeface="Wingdings" pitchFamily="2" charset="2"/>
              </a:rPr>
              <a:t>5 parametria</a:t>
            </a:r>
          </a:p>
          <a:p>
            <a:pPr>
              <a:spcBef>
                <a:spcPct val="50000"/>
              </a:spcBef>
            </a:pPr>
            <a:r>
              <a:rPr lang="en-GB" sz="1600">
                <a:cs typeface="Arial" pitchFamily="34" charset="0"/>
                <a:sym typeface="Wingdings" pitchFamily="2" charset="2"/>
              </a:rPr>
              <a:t>3 vastaanottajaa</a:t>
            </a:r>
          </a:p>
          <a:p>
            <a:pPr>
              <a:spcBef>
                <a:spcPct val="50000"/>
              </a:spcBef>
            </a:pPr>
            <a:r>
              <a:rPr lang="en-GB" sz="1600">
                <a:cs typeface="Arial" pitchFamily="34" charset="0"/>
                <a:sym typeface="Wingdings" pitchFamily="2" charset="2"/>
              </a:rPr>
              <a:t> 60 yhdistelmää</a:t>
            </a:r>
            <a:endParaRPr lang="en-GB" sz="160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normAutofit fontScale="90000"/>
          </a:bodyPr>
          <a:lstStyle/>
          <a:p>
            <a:r>
              <a:rPr lang="en-GB" smtClean="0"/>
              <a:t>Kaikkia yhdistelmiä ei voida käydä läpi, mitä sitten?</a:t>
            </a:r>
            <a:endParaRPr lang="en-GB"/>
          </a:p>
        </p:txBody>
      </p:sp>
      <p:sp>
        <p:nvSpPr>
          <p:cNvPr id="211971" name="Rectangle 3"/>
          <p:cNvSpPr>
            <a:spLocks noGrp="1" noChangeArrowheads="1"/>
          </p:cNvSpPr>
          <p:nvPr>
            <p:ph type="body" idx="1"/>
          </p:nvPr>
        </p:nvSpPr>
        <p:spPr/>
        <p:txBody>
          <a:bodyPr>
            <a:normAutofit fontScale="77500" lnSpcReduction="20000"/>
          </a:bodyPr>
          <a:lstStyle/>
          <a:p>
            <a:r>
              <a:rPr lang="en-GB" smtClean="0"/>
              <a:t>Aito satunnaisotanta tekemiskyvyn rajoissa</a:t>
            </a:r>
          </a:p>
          <a:p>
            <a:r>
              <a:rPr lang="en-GB" smtClean="0"/>
              <a:t>Paritestit (pairwise testing)</a:t>
            </a:r>
          </a:p>
          <a:p>
            <a:pPr lvl="1"/>
            <a:r>
              <a:rPr lang="en-GB" smtClean="0"/>
              <a:t>Ortogonaaliset matriisit (orthogonal matrices)</a:t>
            </a:r>
          </a:p>
          <a:p>
            <a:pPr lvl="1"/>
            <a:r>
              <a:rPr lang="en-GB" smtClean="0"/>
              <a:t>Kaikkien parien kriteeri (all-pairs criterion)</a:t>
            </a:r>
          </a:p>
          <a:p>
            <a:pPr lvl="1"/>
            <a:endParaRPr lang="en-GB" smtClean="0"/>
          </a:p>
          <a:p>
            <a:r>
              <a:rPr lang="en-GB" smtClean="0"/>
              <a:t>Jotkut yhdistelmät ovat muita kiinnostavampia, yleisempää käyttöä edustavia tai tunnetusti aiempia virheitä löytäviä. </a:t>
            </a:r>
          </a:p>
          <a:p>
            <a:endParaRPr lang="en-GB" smtClean="0"/>
          </a:p>
          <a:p>
            <a:r>
              <a:rPr lang="en-GB" smtClean="0"/>
              <a:t>Yhdistelmien tarkastusmekanismit saattavat aiheuttaa sen että virheet piiloutuvat ensimmäisen hylätyn arvon taakse.</a:t>
            </a:r>
          </a:p>
          <a:p>
            <a:pPr lvl="1"/>
            <a:r>
              <a:rPr lang="en-GB" smtClean="0"/>
              <a:t>Esim. Verkkokaupan osoitetarkistus – minulle ainakin osuu usein kohdalle verkkolomakkeita joissa tarkistetaan tietojen oikeus kenttä kerrallaan</a:t>
            </a:r>
            <a:endParaRPr lang="en-GB"/>
          </a:p>
        </p:txBody>
      </p:sp>
      <p:sp>
        <p:nvSpPr>
          <p:cNvPr id="5" name="Slide Number Placeholder 5"/>
          <p:cNvSpPr>
            <a:spLocks noGrp="1"/>
          </p:cNvSpPr>
          <p:nvPr>
            <p:ph type="sldNum" sz="quarter" idx="12"/>
          </p:nvPr>
        </p:nvSpPr>
        <p:spPr/>
        <p:txBody>
          <a:bodyPr/>
          <a:lstStyle/>
          <a:p>
            <a:fld id="{6E4E637C-D2AD-4A84-981E-4AB1AC0E2253}" type="slidenum">
              <a:rPr lang="en-US" smtClean="0"/>
              <a:pPr/>
              <a:t>46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normAutofit fontScale="90000"/>
          </a:bodyPr>
          <a:lstStyle/>
          <a:p>
            <a:r>
              <a:rPr lang="fi-FI" smtClean="0"/>
              <a:t>Kombinaatiot testaussuunnittelussa - esimerkki</a:t>
            </a:r>
            <a:endParaRPr lang="fi-FI"/>
          </a:p>
        </p:txBody>
      </p:sp>
      <p:sp>
        <p:nvSpPr>
          <p:cNvPr id="214019" name="Rectangle 3"/>
          <p:cNvSpPr>
            <a:spLocks noGrp="1" noChangeArrowheads="1"/>
          </p:cNvSpPr>
          <p:nvPr>
            <p:ph type="body" idx="1"/>
          </p:nvPr>
        </p:nvSpPr>
        <p:spPr/>
        <p:txBody>
          <a:bodyPr>
            <a:normAutofit fontScale="55000" lnSpcReduction="20000"/>
          </a:bodyPr>
          <a:lstStyle/>
          <a:p>
            <a:r>
              <a:rPr lang="fi-FI" smtClean="0"/>
              <a:t>Testaamme selainpohjaista sovellusta. Sovelluksen toiminnot on rajattu siten että tarjolla kaksi käyttöoikeustasoa:</a:t>
            </a:r>
          </a:p>
          <a:p>
            <a:pPr lvl="1"/>
            <a:r>
              <a:rPr lang="fi-FI" smtClean="0"/>
              <a:t>muutos-oikeuden omaavat saavat lukea ja muuttaa kaikkea järjestelmässä näytettyä tietoa</a:t>
            </a:r>
          </a:p>
          <a:p>
            <a:pPr lvl="1"/>
            <a:r>
              <a:rPr lang="fi-FI" smtClean="0"/>
              <a:t>luku-oikeuden omaavat saavat vain tarkastella kaikkea järjestelmässä näytettyä tietoa</a:t>
            </a:r>
          </a:p>
          <a:p>
            <a:r>
              <a:rPr lang="fi-FI" smtClean="0"/>
              <a:t>Sovelluksen käyttäjillä on käytössään selaimista useita versioita ja sovitte tukevanne ensisijaisesti kolmea:</a:t>
            </a:r>
          </a:p>
          <a:p>
            <a:pPr lvl="1"/>
            <a:r>
              <a:rPr lang="fi-FI" smtClean="0"/>
              <a:t>Internet Explorer 6.0</a:t>
            </a:r>
          </a:p>
          <a:p>
            <a:pPr lvl="1"/>
            <a:r>
              <a:rPr lang="fi-FI" smtClean="0"/>
              <a:t>Netscape 4.7</a:t>
            </a:r>
          </a:p>
          <a:p>
            <a:pPr lvl="1"/>
            <a:r>
              <a:rPr lang="fi-FI" smtClean="0"/>
              <a:t>Opera 7.1</a:t>
            </a:r>
          </a:p>
          <a:p>
            <a:r>
              <a:rPr lang="fi-FI" smtClean="0"/>
              <a:t>Koska kyseessä on verkkopalvelu, johon toivotte saavanne eri tyyppisiä käyttäjiä, huomaatte myös että käyttäjillä on eri käyttöjärjestelmiä selaimensa alla. Käytännön kokemukset ovat osoittaneet, että tämä saattaa vaikuttaa tulokseen. Haluatte ainakin järjestelmällisesti voida ilmaista mitä missäkin ympäristössä on testattu ja tunnistatte kolme edustajaa käyttöjärjestelmille:</a:t>
            </a:r>
          </a:p>
          <a:p>
            <a:pPr lvl="1"/>
            <a:r>
              <a:rPr lang="fi-FI" smtClean="0"/>
              <a:t>Windows 2000</a:t>
            </a:r>
          </a:p>
          <a:p>
            <a:pPr lvl="1"/>
            <a:r>
              <a:rPr lang="fi-FI" smtClean="0"/>
              <a:t>Windows XP Home Edition</a:t>
            </a:r>
          </a:p>
          <a:p>
            <a:pPr lvl="1"/>
            <a:r>
              <a:rPr lang="fi-FI" smtClean="0"/>
              <a:t>Linux Redhat 9.0</a:t>
            </a:r>
            <a:endParaRPr lang="fi-FI" dirty="0"/>
          </a:p>
        </p:txBody>
      </p:sp>
      <p:sp>
        <p:nvSpPr>
          <p:cNvPr id="5" name="Slide Number Placeholder 5"/>
          <p:cNvSpPr>
            <a:spLocks noGrp="1"/>
          </p:cNvSpPr>
          <p:nvPr>
            <p:ph type="sldNum" sz="quarter" idx="12"/>
          </p:nvPr>
        </p:nvSpPr>
        <p:spPr/>
        <p:txBody>
          <a:bodyPr/>
          <a:lstStyle/>
          <a:p>
            <a:fld id="{87606D76-C4B2-42CD-97DB-845081F0114C}" type="slidenum">
              <a:rPr lang="en-US" smtClean="0"/>
              <a:pPr/>
              <a:t>47</a:t>
            </a:fld>
            <a:endParaRPr lang="en-US"/>
          </a:p>
        </p:txBody>
      </p:sp>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1A4B337C-9F1F-4257-8BBB-831004CBBA66}" type="slidenum">
              <a:rPr lang="en-US"/>
              <a:pPr/>
              <a:t>48</a:t>
            </a:fld>
            <a:endParaRPr lang="en-US"/>
          </a:p>
        </p:txBody>
      </p:sp>
      <p:sp>
        <p:nvSpPr>
          <p:cNvPr id="215042" name="Rectangle 2"/>
          <p:cNvSpPr>
            <a:spLocks noGrp="1" noChangeArrowheads="1"/>
          </p:cNvSpPr>
          <p:nvPr>
            <p:ph type="title"/>
          </p:nvPr>
        </p:nvSpPr>
        <p:spPr/>
        <p:txBody>
          <a:bodyPr/>
          <a:lstStyle/>
          <a:p>
            <a:pPr defTabSz="762000"/>
            <a:r>
              <a:rPr lang="fi-FI" sz="3600"/>
              <a:t>Yksittäiset muuttujat - kaikki arvot ainakin kertaalleen</a:t>
            </a:r>
            <a:r>
              <a:rPr lang="fi-FI"/>
              <a:t> </a:t>
            </a:r>
          </a:p>
        </p:txBody>
      </p:sp>
      <p:graphicFrame>
        <p:nvGraphicFramePr>
          <p:cNvPr id="215043" name="Group 3"/>
          <p:cNvGraphicFramePr>
            <a:graphicFrameLocks noGrp="1"/>
          </p:cNvGraphicFramePr>
          <p:nvPr>
            <p:ph type="tbl" idx="1"/>
            <p:extLst>
              <p:ext uri="{D42A27DB-BD31-4B8C-83A1-F6EECF244321}">
                <p14:modId xmlns:p14="http://schemas.microsoft.com/office/powerpoint/2010/main" val="2159325638"/>
              </p:ext>
            </p:extLst>
          </p:nvPr>
        </p:nvGraphicFramePr>
        <p:xfrm>
          <a:off x="228602" y="1676400"/>
          <a:ext cx="8240714" cy="2762795"/>
        </p:xfrm>
        <a:graphic>
          <a:graphicData uri="http://schemas.openxmlformats.org/drawingml/2006/table">
            <a:tbl>
              <a:tblPr/>
              <a:tblGrid>
                <a:gridCol w="2255839"/>
                <a:gridCol w="1865312"/>
                <a:gridCol w="2058988"/>
                <a:gridCol w="2060575"/>
              </a:tblGrid>
              <a:tr h="60876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Muuttuja 1</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Muuttuja 2</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Muuttuja 3</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8749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bg1"/>
                          </a:solidFill>
                          <a:effectLst/>
                          <a:latin typeface="+mn-lt"/>
                        </a:rPr>
                        <a:t>Testauskierros 1</a:t>
                      </a:r>
                      <a:endParaRPr kumimoji="0" lang="en-GB" sz="1800" b="0" i="0" u="none" strike="noStrike" cap="none" normalizeH="0" baseline="0" dirty="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muutos</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Internet Explorer 6.0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Windows 2000</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857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bg1"/>
                          </a:solidFill>
                          <a:effectLst/>
                          <a:latin typeface="+mn-lt"/>
                        </a:rPr>
                        <a:t>Testauskierros 2</a:t>
                      </a:r>
                      <a:endParaRPr kumimoji="0" lang="en-GB" sz="18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luku</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Netscape 4.7</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Windows XP Home Edition</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38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bg1"/>
                          </a:solidFill>
                          <a:effectLst/>
                          <a:latin typeface="+mn-lt"/>
                        </a:rPr>
                        <a:t>Testauskierros 3</a:t>
                      </a:r>
                      <a:endParaRPr kumimoji="0" lang="en-GB" sz="18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smtClean="0">
                          <a:ln>
                            <a:noFill/>
                          </a:ln>
                          <a:solidFill>
                            <a:schemeClr val="tx1"/>
                          </a:solidFill>
                          <a:effectLst/>
                          <a:latin typeface="+mn-lt"/>
                        </a:rPr>
                        <a:t>muutos</a:t>
                      </a:r>
                      <a:endParaRPr kumimoji="0" lang="en-GB" sz="18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err="1" smtClean="0">
                          <a:ln>
                            <a:noFill/>
                          </a:ln>
                          <a:solidFill>
                            <a:schemeClr val="tx1"/>
                          </a:solidFill>
                          <a:effectLst/>
                          <a:latin typeface="+mn-lt"/>
                        </a:rPr>
                        <a:t>Opera</a:t>
                      </a:r>
                      <a:r>
                        <a:rPr kumimoji="0" lang="fi-FI" sz="1800" b="0" i="0" u="none" strike="noStrike" cap="none" normalizeH="0" baseline="0" dirty="0" smtClean="0">
                          <a:ln>
                            <a:noFill/>
                          </a:ln>
                          <a:solidFill>
                            <a:schemeClr val="tx1"/>
                          </a:solidFill>
                          <a:effectLst/>
                          <a:latin typeface="+mn-lt"/>
                        </a:rPr>
                        <a:t> 7</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Linux </a:t>
                      </a:r>
                      <a:r>
                        <a:rPr kumimoji="0" lang="fi-FI" sz="1800" b="0" i="0" u="none" strike="noStrike" cap="none" normalizeH="0" baseline="0" dirty="0" err="1" smtClean="0">
                          <a:ln>
                            <a:noFill/>
                          </a:ln>
                          <a:solidFill>
                            <a:schemeClr val="tx1"/>
                          </a:solidFill>
                          <a:effectLst/>
                          <a:latin typeface="+mn-lt"/>
                        </a:rPr>
                        <a:t>Redhat</a:t>
                      </a:r>
                      <a:r>
                        <a:rPr kumimoji="0" lang="fi-FI" sz="1800" b="0" i="0" u="none" strike="noStrike" cap="none" normalizeH="0" baseline="0" dirty="0" smtClean="0">
                          <a:ln>
                            <a:noFill/>
                          </a:ln>
                          <a:solidFill>
                            <a:schemeClr val="tx1"/>
                          </a:solidFill>
                          <a:effectLst/>
                          <a:latin typeface="+mn-lt"/>
                        </a:rPr>
                        <a:t> 9.0</a:t>
                      </a:r>
                      <a:endParaRPr kumimoji="0" lang="en-GB" sz="18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5070" name="Rectangle 30"/>
          <p:cNvSpPr>
            <a:spLocks noChangeArrowheads="1"/>
          </p:cNvSpPr>
          <p:nvPr/>
        </p:nvSpPr>
        <p:spPr bwMode="auto">
          <a:xfrm>
            <a:off x="827585" y="4555574"/>
            <a:ext cx="7921132" cy="1969770"/>
          </a:xfrm>
          <a:prstGeom prst="rect">
            <a:avLst/>
          </a:prstGeom>
          <a:noFill/>
          <a:ln w="9525">
            <a:noFill/>
            <a:miter lim="800000"/>
            <a:headEnd/>
            <a:tailEnd/>
          </a:ln>
          <a:effectLst/>
        </p:spPr>
        <p:txBody>
          <a:bodyPr wrap="square">
            <a:spAutoFit/>
          </a:bodyPr>
          <a:lstStyle/>
          <a:p>
            <a:r>
              <a:rPr lang="fi-FI" dirty="0">
                <a:cs typeface="Courier New" pitchFamily="49" charset="0"/>
              </a:rPr>
              <a:t>Kun lähdetään valitsemaan missä kaikissa yhdistelmissä suoritamme toiminnallisen testijakson, kaikkien yksittäisten muuttujien kriteeri johtaa kolmeen testikierrokseen.</a:t>
            </a:r>
            <a:r>
              <a:rPr lang="en-GB" sz="1400" dirty="0">
                <a:cs typeface="Arial" pitchFamily="34" charset="0"/>
              </a:rPr>
              <a:t> </a:t>
            </a:r>
            <a:endParaRPr lang="fi-FI" sz="1400" dirty="0">
              <a:cs typeface="Arial" pitchFamily="34" charset="0"/>
            </a:endParaRPr>
          </a:p>
          <a:p>
            <a:endParaRPr lang="fi-FI" sz="1400" dirty="0">
              <a:cs typeface="Arial" pitchFamily="34" charset="0"/>
            </a:endParaRPr>
          </a:p>
          <a:p>
            <a:r>
              <a:rPr lang="en-GB" dirty="0" err="1">
                <a:cs typeface="Arial" pitchFamily="34" charset="0"/>
              </a:rPr>
              <a:t>Yksittäiset</a:t>
            </a:r>
            <a:r>
              <a:rPr lang="en-GB" dirty="0">
                <a:cs typeface="Arial" pitchFamily="34" charset="0"/>
              </a:rPr>
              <a:t> </a:t>
            </a:r>
            <a:r>
              <a:rPr lang="en-GB" dirty="0" err="1">
                <a:cs typeface="Arial" pitchFamily="34" charset="0"/>
              </a:rPr>
              <a:t>muuttujat</a:t>
            </a:r>
            <a:r>
              <a:rPr lang="en-GB" dirty="0">
                <a:cs typeface="Arial" pitchFamily="34" charset="0"/>
              </a:rPr>
              <a:t> </a:t>
            </a:r>
            <a:r>
              <a:rPr lang="en-GB" dirty="0" err="1">
                <a:cs typeface="Arial" pitchFamily="34" charset="0"/>
              </a:rPr>
              <a:t>tarjoavat</a:t>
            </a:r>
            <a:r>
              <a:rPr lang="en-GB" dirty="0">
                <a:cs typeface="Arial" pitchFamily="34" charset="0"/>
              </a:rPr>
              <a:t> </a:t>
            </a:r>
            <a:r>
              <a:rPr lang="en-GB" dirty="0" err="1">
                <a:cs typeface="Arial" pitchFamily="34" charset="0"/>
              </a:rPr>
              <a:t>kuitenkin</a:t>
            </a:r>
            <a:r>
              <a:rPr lang="en-GB" dirty="0">
                <a:cs typeface="Arial" pitchFamily="34" charset="0"/>
              </a:rPr>
              <a:t> </a:t>
            </a:r>
            <a:r>
              <a:rPr lang="en-GB" dirty="0" err="1">
                <a:cs typeface="Arial" pitchFamily="34" charset="0"/>
              </a:rPr>
              <a:t>melko</a:t>
            </a:r>
            <a:r>
              <a:rPr lang="en-GB" dirty="0">
                <a:cs typeface="Arial" pitchFamily="34" charset="0"/>
              </a:rPr>
              <a:t> </a:t>
            </a:r>
            <a:r>
              <a:rPr lang="en-GB" dirty="0" err="1">
                <a:cs typeface="Arial" pitchFamily="34" charset="0"/>
              </a:rPr>
              <a:t>heikon</a:t>
            </a:r>
            <a:r>
              <a:rPr lang="en-GB" dirty="0">
                <a:cs typeface="Arial" pitchFamily="34" charset="0"/>
              </a:rPr>
              <a:t> </a:t>
            </a:r>
            <a:r>
              <a:rPr lang="en-GB" dirty="0" err="1">
                <a:cs typeface="Arial" pitchFamily="34" charset="0"/>
              </a:rPr>
              <a:t>kattavuuden</a:t>
            </a:r>
            <a:r>
              <a:rPr lang="en-GB" dirty="0">
                <a:cs typeface="Arial" pitchFamily="34" charset="0"/>
              </a:rPr>
              <a:t>. </a:t>
            </a:r>
            <a:r>
              <a:rPr lang="en-GB" dirty="0" err="1">
                <a:cs typeface="Arial" pitchFamily="34" charset="0"/>
              </a:rPr>
              <a:t>Kaikkien</a:t>
            </a:r>
            <a:r>
              <a:rPr lang="en-GB" dirty="0">
                <a:cs typeface="Arial" pitchFamily="34" charset="0"/>
              </a:rPr>
              <a:t> </a:t>
            </a:r>
            <a:r>
              <a:rPr lang="en-GB" dirty="0" err="1">
                <a:cs typeface="Arial" pitchFamily="34" charset="0"/>
              </a:rPr>
              <a:t>yhdistelmien</a:t>
            </a:r>
            <a:r>
              <a:rPr lang="en-GB" dirty="0">
                <a:cs typeface="Arial" pitchFamily="34" charset="0"/>
              </a:rPr>
              <a:t> </a:t>
            </a:r>
            <a:r>
              <a:rPr lang="en-GB" dirty="0" err="1">
                <a:cs typeface="Arial" pitchFamily="34" charset="0"/>
              </a:rPr>
              <a:t>läpikäyminen</a:t>
            </a:r>
            <a:r>
              <a:rPr lang="en-GB" dirty="0">
                <a:cs typeface="Arial" pitchFamily="34" charset="0"/>
              </a:rPr>
              <a:t> </a:t>
            </a:r>
            <a:r>
              <a:rPr lang="en-GB" dirty="0" err="1">
                <a:cs typeface="Arial" pitchFamily="34" charset="0"/>
              </a:rPr>
              <a:t>vaatisi</a:t>
            </a:r>
            <a:r>
              <a:rPr lang="en-GB" dirty="0">
                <a:cs typeface="Arial" pitchFamily="34" charset="0"/>
              </a:rPr>
              <a:t> 2*3*3=18 </a:t>
            </a:r>
            <a:r>
              <a:rPr lang="en-GB" dirty="0" err="1">
                <a:cs typeface="Arial" pitchFamily="34" charset="0"/>
              </a:rPr>
              <a:t>testikierrosta</a:t>
            </a:r>
            <a:r>
              <a:rPr lang="en-GB" dirty="0">
                <a:cs typeface="Arial" pitchFamily="34" charset="0"/>
              </a:rPr>
              <a:t>, </a:t>
            </a:r>
            <a:r>
              <a:rPr lang="en-GB" dirty="0" err="1">
                <a:cs typeface="Arial" pitchFamily="34" charset="0"/>
              </a:rPr>
              <a:t>joka</a:t>
            </a:r>
            <a:r>
              <a:rPr lang="en-GB" dirty="0">
                <a:cs typeface="Arial" pitchFamily="34" charset="0"/>
              </a:rPr>
              <a:t> </a:t>
            </a:r>
            <a:r>
              <a:rPr lang="en-GB" dirty="0" err="1">
                <a:cs typeface="Arial" pitchFamily="34" charset="0"/>
              </a:rPr>
              <a:t>taas</a:t>
            </a:r>
            <a:r>
              <a:rPr lang="en-GB" dirty="0">
                <a:cs typeface="Arial" pitchFamily="34" charset="0"/>
              </a:rPr>
              <a:t> on </a:t>
            </a:r>
            <a:r>
              <a:rPr lang="en-GB" dirty="0" err="1">
                <a:cs typeface="Arial" pitchFamily="34" charset="0"/>
              </a:rPr>
              <a:t>usein</a:t>
            </a:r>
            <a:r>
              <a:rPr lang="en-GB" dirty="0">
                <a:cs typeface="Arial" pitchFamily="34" charset="0"/>
              </a:rPr>
              <a:t> </a:t>
            </a:r>
            <a:r>
              <a:rPr lang="en-GB" dirty="0" err="1">
                <a:cs typeface="Arial" pitchFamily="34" charset="0"/>
              </a:rPr>
              <a:t>kohtuutonta</a:t>
            </a:r>
            <a:r>
              <a:rPr lang="en-GB" dirty="0">
                <a:cs typeface="Arial" pitchFamily="34" charset="0"/>
              </a:rPr>
              <a:t>.</a:t>
            </a:r>
          </a:p>
        </p:txBody>
      </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Slide Number Placeholder 5"/>
          <p:cNvSpPr>
            <a:spLocks noGrp="1"/>
          </p:cNvSpPr>
          <p:nvPr>
            <p:ph type="sldNum" sz="quarter" idx="12"/>
          </p:nvPr>
        </p:nvSpPr>
        <p:spPr/>
        <p:txBody>
          <a:bodyPr/>
          <a:lstStyle/>
          <a:p>
            <a:fld id="{B4772C2B-311C-4A6E-8859-D0D7F9DED205}" type="slidenum">
              <a:rPr lang="en-US"/>
              <a:pPr/>
              <a:t>49</a:t>
            </a:fld>
            <a:endParaRPr lang="en-US"/>
          </a:p>
        </p:txBody>
      </p:sp>
      <p:sp>
        <p:nvSpPr>
          <p:cNvPr id="216066" name="Rectangle 2"/>
          <p:cNvSpPr>
            <a:spLocks noGrp="1" noChangeArrowheads="1"/>
          </p:cNvSpPr>
          <p:nvPr>
            <p:ph type="title"/>
          </p:nvPr>
        </p:nvSpPr>
        <p:spPr>
          <a:xfrm>
            <a:off x="-684213" y="188914"/>
            <a:ext cx="6870701" cy="863600"/>
          </a:xfrm>
        </p:spPr>
        <p:txBody>
          <a:bodyPr/>
          <a:lstStyle/>
          <a:p>
            <a:pPr defTabSz="762000"/>
            <a:r>
              <a:rPr lang="fi-FI"/>
              <a:t>Kaikki yhdistelmät</a:t>
            </a:r>
          </a:p>
        </p:txBody>
      </p:sp>
      <p:graphicFrame>
        <p:nvGraphicFramePr>
          <p:cNvPr id="216067" name="Group 3"/>
          <p:cNvGraphicFramePr>
            <a:graphicFrameLocks noGrp="1"/>
          </p:cNvGraphicFramePr>
          <p:nvPr>
            <p:ph type="tbl" idx="1"/>
            <p:extLst>
              <p:ext uri="{D42A27DB-BD31-4B8C-83A1-F6EECF244321}">
                <p14:modId xmlns:p14="http://schemas.microsoft.com/office/powerpoint/2010/main" val="964775935"/>
              </p:ext>
            </p:extLst>
          </p:nvPr>
        </p:nvGraphicFramePr>
        <p:xfrm>
          <a:off x="304800" y="1295401"/>
          <a:ext cx="8686800" cy="5212863"/>
        </p:xfrm>
        <a:graphic>
          <a:graphicData uri="http://schemas.openxmlformats.org/drawingml/2006/table">
            <a:tbl>
              <a:tblPr/>
              <a:tblGrid>
                <a:gridCol w="2438400"/>
                <a:gridCol w="1905000"/>
                <a:gridCol w="2171700"/>
                <a:gridCol w="2171700"/>
              </a:tblGrid>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1" i="0" u="none" strike="noStrike" cap="none" normalizeH="0" baseline="0" smtClean="0">
                          <a:ln>
                            <a:noFill/>
                          </a:ln>
                          <a:solidFill>
                            <a:schemeClr val="tx1"/>
                          </a:solidFill>
                          <a:effectLst/>
                          <a:latin typeface="+mn-lt"/>
                        </a:rPr>
                        <a:t>Muuttuja 1</a:t>
                      </a:r>
                      <a:endParaRPr kumimoji="0" lang="en-GB" sz="1200" b="1"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1" i="0" u="none" strike="noStrike" cap="none" normalizeH="0" baseline="0" smtClean="0">
                          <a:ln>
                            <a:noFill/>
                          </a:ln>
                          <a:solidFill>
                            <a:schemeClr val="tx1"/>
                          </a:solidFill>
                          <a:effectLst/>
                          <a:latin typeface="+mn-lt"/>
                        </a:rPr>
                        <a:t>Muuttuja 2</a:t>
                      </a:r>
                      <a:endParaRPr kumimoji="0" lang="en-GB" sz="1200" b="1"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1" i="0" u="none" strike="noStrike" cap="none" normalizeH="0" baseline="0" smtClean="0">
                          <a:ln>
                            <a:noFill/>
                          </a:ln>
                          <a:solidFill>
                            <a:schemeClr val="tx1"/>
                          </a:solidFill>
                          <a:effectLst/>
                          <a:latin typeface="+mn-lt"/>
                        </a:rPr>
                        <a:t>Muuttuja 3</a:t>
                      </a:r>
                      <a:endParaRPr kumimoji="0" lang="en-GB" sz="1200" b="1"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751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dirty="0" smtClean="0">
                          <a:ln>
                            <a:noFill/>
                          </a:ln>
                          <a:solidFill>
                            <a:schemeClr val="bg1"/>
                          </a:solidFill>
                          <a:effectLst/>
                          <a:latin typeface="+mn-lt"/>
                        </a:rPr>
                        <a:t>Testikierros 1</a:t>
                      </a:r>
                      <a:endParaRPr kumimoji="0" lang="en-GB" sz="1200" b="0" i="0" u="none" strike="noStrike" cap="none" normalizeH="0" baseline="0" dirty="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Internet Explorer 6.0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60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2</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Internet Explorer 6.0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77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bg1"/>
                          </a:solidFill>
                          <a:effectLst/>
                          <a:latin typeface="+mn-lt"/>
                        </a:rPr>
                        <a:t>Testikierros 3 (mahdoton)</a:t>
                      </a:r>
                      <a:endParaRPr kumimoji="0" lang="en-GB" sz="1200" b="0" i="1"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smtClean="0">
                          <a:ln>
                            <a:noFill/>
                          </a:ln>
                          <a:solidFill>
                            <a:schemeClr val="tx1"/>
                          </a:solidFill>
                          <a:effectLst/>
                          <a:latin typeface="+mn-lt"/>
                          <a:cs typeface="Courier New" pitchFamily="49" charset="0"/>
                        </a:rPr>
                        <a:t>Internet Explorer 6.0 </a:t>
                      </a:r>
                      <a:endParaRPr kumimoji="0" lang="en-GB" sz="1200" b="0" i="1"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tx1"/>
                          </a:solidFill>
                          <a:effectLst/>
                          <a:latin typeface="+mn-lt"/>
                          <a:cs typeface="Courier New" pitchFamily="49" charset="0"/>
                        </a:rPr>
                        <a:t>Linux Redhat 9.0</a:t>
                      </a:r>
                      <a:endParaRPr kumimoji="0" lang="en-GB" sz="1200" b="0" i="1"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344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4</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Internet Explorer 6.0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71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dirty="0" smtClean="0">
                          <a:ln>
                            <a:noFill/>
                          </a:ln>
                          <a:solidFill>
                            <a:schemeClr val="bg1"/>
                          </a:solidFill>
                          <a:effectLst/>
                          <a:latin typeface="+mn-lt"/>
                        </a:rPr>
                        <a:t>Testikierros 5</a:t>
                      </a:r>
                      <a:endParaRPr kumimoji="0" lang="en-GB" sz="1200" b="0" i="0" u="none" strike="noStrike" cap="none" normalizeH="0" baseline="0" dirty="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Internet Explorer 6.0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68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bg1"/>
                          </a:solidFill>
                          <a:effectLst/>
                          <a:latin typeface="+mn-lt"/>
                        </a:rPr>
                        <a:t>Testikierros 6 (mahdoton)</a:t>
                      </a:r>
                      <a:endParaRPr kumimoji="0" lang="en-GB" sz="1200" b="0" i="1"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tx1"/>
                          </a:solidFill>
                          <a:effectLst/>
                          <a:latin typeface="+mn-lt"/>
                        </a:rPr>
                        <a:t>luku</a:t>
                      </a:r>
                      <a:endParaRPr kumimoji="0" lang="en-GB" sz="1200" b="0" i="1"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1" u="none" strike="noStrike" cap="none" normalizeH="0" baseline="0" smtClean="0">
                          <a:ln>
                            <a:noFill/>
                          </a:ln>
                          <a:solidFill>
                            <a:schemeClr val="tx1"/>
                          </a:solidFill>
                          <a:effectLst/>
                          <a:latin typeface="+mn-lt"/>
                          <a:cs typeface="Courier New" pitchFamily="49" charset="0"/>
                        </a:rPr>
                        <a:t>Internet Explorer 6.0 </a:t>
                      </a:r>
                      <a:endParaRPr kumimoji="0" lang="en-GB" sz="1200" b="0" i="1"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tx1"/>
                          </a:solidFill>
                          <a:effectLst/>
                          <a:latin typeface="+mn-lt"/>
                          <a:cs typeface="Courier New" pitchFamily="49" charset="0"/>
                        </a:rPr>
                        <a:t>Linux Redhat 9.0</a:t>
                      </a:r>
                      <a:endParaRPr kumimoji="0" lang="en-GB" sz="1200" b="0" i="1"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7</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4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8</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9</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Linux Redhat 9.0</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10</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4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11</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12</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Netscape 4.7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Linux Redhat 9.0</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13</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655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14</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15</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muutos</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Linux Redhat 9.0</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16</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Windows 2000 </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56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17</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smtClean="0">
                          <a:ln>
                            <a:noFill/>
                          </a:ln>
                          <a:solidFill>
                            <a:schemeClr val="tx1"/>
                          </a:solidFill>
                          <a:effectLst/>
                          <a:latin typeface="+mn-lt"/>
                          <a:cs typeface="Courier New" pitchFamily="49" charset="0"/>
                        </a:rPr>
                        <a:t>Windows XP Home Edition</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32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bg1"/>
                          </a:solidFill>
                          <a:effectLst/>
                          <a:latin typeface="+mn-lt"/>
                        </a:rPr>
                        <a:t>Testikierros 18</a:t>
                      </a:r>
                      <a:endParaRPr kumimoji="0" lang="en-GB" sz="1200" b="0" i="0" u="none" strike="noStrike" cap="none" normalizeH="0" baseline="0" smtClean="0">
                        <a:ln>
                          <a:noFill/>
                        </a:ln>
                        <a:solidFill>
                          <a:schemeClr val="bg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rPr>
                        <a:t>luku</a:t>
                      </a:r>
                      <a:endParaRPr kumimoji="0" lang="en-GB" sz="1200" b="0" i="0" u="none" strike="noStrike" cap="none" normalizeH="0" baseline="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mn-lt"/>
                          <a:cs typeface="Courier New" pitchFamily="49" charset="0"/>
                        </a:rPr>
                        <a:t>Opera 7 </a:t>
                      </a:r>
                      <a:endParaRPr kumimoji="0" lang="en-GB" sz="1200" b="0" i="0" u="none" strike="noStrike" cap="none" normalizeH="0" baseline="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dirty="0" smtClean="0">
                          <a:ln>
                            <a:noFill/>
                          </a:ln>
                          <a:solidFill>
                            <a:schemeClr val="tx1"/>
                          </a:solidFill>
                          <a:effectLst/>
                          <a:latin typeface="+mn-lt"/>
                          <a:cs typeface="Courier New" pitchFamily="49" charset="0"/>
                        </a:rPr>
                        <a:t>Linux Redhat 9.0</a:t>
                      </a:r>
                      <a:endParaRPr kumimoji="0" lang="en-GB" sz="1200" b="0" i="0" u="none" strike="noStrike" cap="none" normalizeH="0" baseline="0" dirty="0" smtClean="0">
                        <a:ln>
                          <a:noFill/>
                        </a:ln>
                        <a:solidFill>
                          <a:schemeClr val="tx1"/>
                        </a:solidFill>
                        <a:effectLst/>
                        <a:latin typeface="+mn-lt"/>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6169" name="Rectangle 105"/>
          <p:cNvSpPr>
            <a:spLocks noChangeArrowheads="1"/>
          </p:cNvSpPr>
          <p:nvPr/>
        </p:nvSpPr>
        <p:spPr bwMode="auto">
          <a:xfrm>
            <a:off x="5435600" y="188915"/>
            <a:ext cx="3657600" cy="830997"/>
          </a:xfrm>
          <a:prstGeom prst="rect">
            <a:avLst/>
          </a:prstGeom>
          <a:solidFill>
            <a:schemeClr val="bg1"/>
          </a:solidFill>
          <a:ln w="9525">
            <a:noFill/>
            <a:miter lim="800000"/>
            <a:headEnd/>
            <a:tailEnd/>
          </a:ln>
          <a:effectLst/>
        </p:spPr>
        <p:txBody>
          <a:bodyPr>
            <a:spAutoFit/>
          </a:bodyPr>
          <a:lstStyle/>
          <a:p>
            <a:r>
              <a:rPr lang="fi-FI" sz="1200">
                <a:cs typeface="Courier New" pitchFamily="49" charset="0"/>
              </a:rPr>
              <a:t>Esimerkin osalta testikierroksen 3&amp;6 yhdistelmä, jossa Internet Explorerilla testattaisiin Linux-ympäristössä ei ole mahdollinen ja näin ollen vähentää tarvittavien kierrosten määrää.</a:t>
            </a:r>
            <a:r>
              <a:rPr lang="en-GB" sz="800">
                <a:cs typeface="Arial" pitchFamily="34" charset="0"/>
              </a:rPr>
              <a:t> </a:t>
            </a:r>
            <a:endParaRPr lang="en-GB" sz="2800">
              <a:cs typeface="Arial"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fi-FI" smtClean="0"/>
              <a:t>Kaikkien parien kriteeri</a:t>
            </a:r>
            <a:endParaRPr lang="fi-FI"/>
          </a:p>
        </p:txBody>
      </p:sp>
      <p:sp>
        <p:nvSpPr>
          <p:cNvPr id="217091" name="Rectangle 3"/>
          <p:cNvSpPr>
            <a:spLocks noGrp="1" noChangeArrowheads="1"/>
          </p:cNvSpPr>
          <p:nvPr>
            <p:ph type="body" idx="1"/>
          </p:nvPr>
        </p:nvSpPr>
        <p:spPr/>
        <p:txBody>
          <a:bodyPr>
            <a:normAutofit lnSpcReduction="10000"/>
          </a:bodyPr>
          <a:lstStyle/>
          <a:p>
            <a:r>
              <a:rPr lang="fi-FI" smtClean="0"/>
              <a:t>Järjestelmällinen, usein käytetty kriteeri on kattaa kaikki parit. </a:t>
            </a:r>
          </a:p>
          <a:p>
            <a:r>
              <a:rPr lang="fi-FI" smtClean="0"/>
              <a:t>Yksinkertaisia esimerkkejä, joissa rajallinen määrä yhdistelmiä, lukuun ottamatta yhdistely ei ole yksinkertainen tehtävä. </a:t>
            </a:r>
          </a:p>
          <a:p>
            <a:r>
              <a:rPr lang="fi-FI" smtClean="0"/>
              <a:t>Kaikkien parien ideana on valita joukko yhdistelmiä, joissa jokainen yksittäinen muuttujan arvo esiintyy ainakin yhdessä parissa toisen muuttujan kanssa. </a:t>
            </a:r>
            <a:endParaRPr lang="fi-FI"/>
          </a:p>
        </p:txBody>
      </p:sp>
      <p:sp>
        <p:nvSpPr>
          <p:cNvPr id="5" name="Slide Number Placeholder 5"/>
          <p:cNvSpPr>
            <a:spLocks noGrp="1"/>
          </p:cNvSpPr>
          <p:nvPr>
            <p:ph type="sldNum" sz="quarter" idx="12"/>
          </p:nvPr>
        </p:nvSpPr>
        <p:spPr/>
        <p:txBody>
          <a:bodyPr/>
          <a:lstStyle/>
          <a:p>
            <a:fld id="{9803C838-15F5-4EEB-8C45-C6F78AB4A237}" type="slidenum">
              <a:rPr lang="en-US" smtClean="0"/>
              <a:pPr/>
              <a:t>50</a:t>
            </a:fld>
            <a:endParaRPr lang="en-US"/>
          </a:p>
        </p:txBody>
      </p:sp>
    </p:spTree>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5"/>
          <p:cNvSpPr>
            <a:spLocks noGrp="1"/>
          </p:cNvSpPr>
          <p:nvPr>
            <p:ph type="sldNum" sz="quarter" idx="12"/>
          </p:nvPr>
        </p:nvSpPr>
        <p:spPr/>
        <p:txBody>
          <a:bodyPr/>
          <a:lstStyle/>
          <a:p>
            <a:fld id="{2C1F9A7D-2A7B-491F-8D53-AFCA29C9741D}" type="slidenum">
              <a:rPr lang="en-US"/>
              <a:pPr/>
              <a:t>51</a:t>
            </a:fld>
            <a:endParaRPr lang="en-US"/>
          </a:p>
        </p:txBody>
      </p:sp>
      <p:sp>
        <p:nvSpPr>
          <p:cNvPr id="218114" name="Rectangle 2"/>
          <p:cNvSpPr>
            <a:spLocks noGrp="1" noChangeArrowheads="1"/>
          </p:cNvSpPr>
          <p:nvPr>
            <p:ph type="title"/>
          </p:nvPr>
        </p:nvSpPr>
        <p:spPr/>
        <p:txBody>
          <a:bodyPr/>
          <a:lstStyle/>
          <a:p>
            <a:pPr defTabSz="762000"/>
            <a:r>
              <a:rPr lang="fi-FI" sz="4000"/>
              <a:t>Kaikki parit - muuttujaparit ainakin kertaalleen</a:t>
            </a:r>
            <a:r>
              <a:rPr lang="fi-FI"/>
              <a:t> </a:t>
            </a:r>
          </a:p>
        </p:txBody>
      </p:sp>
      <p:graphicFrame>
        <p:nvGraphicFramePr>
          <p:cNvPr id="218115" name="Group 3"/>
          <p:cNvGraphicFramePr>
            <a:graphicFrameLocks noGrp="1"/>
          </p:cNvGraphicFramePr>
          <p:nvPr>
            <p:ph type="tbl" idx="1"/>
            <p:extLst>
              <p:ext uri="{D42A27DB-BD31-4B8C-83A1-F6EECF244321}">
                <p14:modId xmlns:p14="http://schemas.microsoft.com/office/powerpoint/2010/main" val="2225719573"/>
              </p:ext>
            </p:extLst>
          </p:nvPr>
        </p:nvGraphicFramePr>
        <p:xfrm>
          <a:off x="533400" y="1642867"/>
          <a:ext cx="8229600" cy="3298301"/>
        </p:xfrm>
        <a:graphic>
          <a:graphicData uri="http://schemas.openxmlformats.org/drawingml/2006/table">
            <a:tbl>
              <a:tblPr/>
              <a:tblGrid>
                <a:gridCol w="2057400"/>
                <a:gridCol w="2058988"/>
                <a:gridCol w="2055812"/>
                <a:gridCol w="2057400"/>
              </a:tblGrid>
              <a:tr h="30861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1" i="0" u="none" strike="noStrike" cap="none" normalizeH="0" baseline="0" smtClean="0">
                        <a:ln>
                          <a:noFill/>
                        </a:ln>
                        <a:solidFill>
                          <a:schemeClr val="tx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1" i="0" u="none" strike="noStrike" cap="none" normalizeH="0" baseline="0" smtClean="0">
                          <a:ln>
                            <a:noFill/>
                          </a:ln>
                          <a:solidFill>
                            <a:schemeClr val="tx1"/>
                          </a:solidFill>
                          <a:effectLst/>
                          <a:latin typeface="Comic Sans MS" pitchFamily="66" charset="0"/>
                        </a:rPr>
                        <a:t>Muuttuja 1</a:t>
                      </a:r>
                      <a:endParaRPr kumimoji="0" lang="en-GB" sz="1400" b="1"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1" i="0" u="none" strike="noStrike" cap="none" normalizeH="0" baseline="0" smtClean="0">
                          <a:ln>
                            <a:noFill/>
                          </a:ln>
                          <a:solidFill>
                            <a:schemeClr val="tx1"/>
                          </a:solidFill>
                          <a:effectLst/>
                          <a:latin typeface="Comic Sans MS" pitchFamily="66" charset="0"/>
                        </a:rPr>
                        <a:t>Muuttuja 2</a:t>
                      </a:r>
                      <a:endParaRPr kumimoji="0" lang="en-GB" sz="1400" b="1"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1" i="0" u="none" strike="noStrike" cap="none" normalizeH="0" baseline="0" smtClean="0">
                          <a:ln>
                            <a:noFill/>
                          </a:ln>
                          <a:solidFill>
                            <a:schemeClr val="tx1"/>
                          </a:solidFill>
                          <a:effectLst/>
                          <a:latin typeface="Comic Sans MS" pitchFamily="66" charset="0"/>
                        </a:rPr>
                        <a:t>Muuttuja 3</a:t>
                      </a:r>
                      <a:endParaRPr kumimoji="0" lang="en-GB" sz="1400" b="1"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1985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dirty="0" smtClean="0">
                          <a:ln>
                            <a:noFill/>
                          </a:ln>
                          <a:solidFill>
                            <a:schemeClr val="bg1"/>
                          </a:solidFill>
                          <a:effectLst/>
                          <a:latin typeface="Comic Sans MS" pitchFamily="66" charset="0"/>
                        </a:rPr>
                        <a:t>Testikierros 1</a:t>
                      </a:r>
                      <a:endParaRPr kumimoji="0" lang="en-GB" sz="1400" b="0" i="0" u="none" strike="noStrike" cap="none" normalizeH="0" baseline="0" dirty="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muutos</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smtClean="0">
                          <a:ln>
                            <a:noFill/>
                          </a:ln>
                          <a:solidFill>
                            <a:schemeClr val="tx1"/>
                          </a:solidFill>
                          <a:effectLst/>
                          <a:latin typeface="Comic Sans MS" pitchFamily="66" charset="0"/>
                        </a:rPr>
                        <a:t>Internet Explorer 6.0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Windows 2000</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50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2</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luku</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smtClean="0">
                          <a:ln>
                            <a:noFill/>
                          </a:ln>
                          <a:solidFill>
                            <a:schemeClr val="tx1"/>
                          </a:solidFill>
                          <a:effectLst/>
                          <a:latin typeface="Comic Sans MS" pitchFamily="66" charset="0"/>
                        </a:rPr>
                        <a:t>Internet Explorer 6.0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Windows XP Home Edition</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434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1" u="none" strike="noStrike" cap="none" normalizeH="0" baseline="0" smtClean="0">
                          <a:ln>
                            <a:noFill/>
                          </a:ln>
                          <a:solidFill>
                            <a:schemeClr val="bg1"/>
                          </a:solidFill>
                          <a:effectLst/>
                          <a:latin typeface="Comic Sans MS" pitchFamily="66" charset="0"/>
                        </a:rPr>
                        <a:t>Testikierros 3 (mahdoton)</a:t>
                      </a:r>
                      <a:endParaRPr kumimoji="0" lang="en-GB" sz="1400" b="0" i="1"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tx1"/>
                          </a:solidFill>
                          <a:effectLst/>
                          <a:latin typeface="Comic Sans MS" pitchFamily="66" charset="0"/>
                        </a:rPr>
                        <a:t>muutos</a:t>
                      </a:r>
                      <a:endParaRPr kumimoji="0" lang="en-GB" sz="1200" b="0" i="1"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200" b="0" i="1" u="none" strike="noStrike" cap="none" normalizeH="0" baseline="0" smtClean="0">
                          <a:ln>
                            <a:noFill/>
                          </a:ln>
                          <a:solidFill>
                            <a:schemeClr val="tx1"/>
                          </a:solidFill>
                          <a:effectLst/>
                          <a:latin typeface="Comic Sans MS" pitchFamily="66" charset="0"/>
                        </a:rPr>
                        <a:t>Internet Explorer 6.0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1" u="none" strike="noStrike" cap="none" normalizeH="0" baseline="0" smtClean="0">
                          <a:ln>
                            <a:noFill/>
                          </a:ln>
                          <a:solidFill>
                            <a:schemeClr val="tx1"/>
                          </a:solidFill>
                          <a:effectLst/>
                          <a:latin typeface="Comic Sans MS" pitchFamily="66" charset="0"/>
                          <a:cs typeface="Courier New" pitchFamily="49" charset="0"/>
                        </a:rPr>
                        <a:t>Linux Redhat 9.0 </a:t>
                      </a:r>
                      <a:endParaRPr kumimoji="0" lang="en-GB" sz="1200" b="0" i="1" u="none" strike="noStrike" cap="none" normalizeH="0" baseline="0" smtClean="0">
                        <a:ln>
                          <a:noFill/>
                        </a:ln>
                        <a:solidFill>
                          <a:schemeClr val="tx1"/>
                        </a:solidFill>
                        <a:effectLst/>
                        <a:latin typeface="Comic Sans MS" pitchFamily="66" charset="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22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4</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luku</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Netscape 4.7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Windows 2000</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94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5</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muutos</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Netscape 4.7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Windows XP Home Edition</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06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6</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luku</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Netscape 4.7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cs typeface="Courier New" pitchFamily="49" charset="0"/>
                        </a:rPr>
                        <a:t>Linux Redhat 9.0 </a:t>
                      </a:r>
                      <a:endParaRPr kumimoji="0" lang="en-GB" sz="1200" b="0" i="0" u="none" strike="noStrike" cap="none" normalizeH="0" baseline="0" smtClean="0">
                        <a:ln>
                          <a:noFill/>
                        </a:ln>
                        <a:solidFill>
                          <a:schemeClr val="tx1"/>
                        </a:solidFill>
                        <a:effectLst/>
                        <a:latin typeface="Comic Sans MS" pitchFamily="66" charset="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79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7</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muutos</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Opera 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Windows XP Home Edition</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0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8</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muutos</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Opera 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cs typeface="Courier New" pitchFamily="49" charset="0"/>
                        </a:rPr>
                        <a:t>Linux Redhat 9.0</a:t>
                      </a:r>
                      <a:r>
                        <a:rPr kumimoji="0" lang="fi-FI" sz="1200" b="0" i="1" u="none" strike="noStrike" cap="none" normalizeH="0" baseline="0" smtClean="0">
                          <a:ln>
                            <a:noFill/>
                          </a:ln>
                          <a:solidFill>
                            <a:schemeClr val="tx1"/>
                          </a:solidFill>
                          <a:effectLst/>
                          <a:latin typeface="Comic Sans MS" pitchFamily="66" charset="0"/>
                          <a:cs typeface="Courier New" pitchFamily="49" charset="0"/>
                        </a:rPr>
                        <a:t> </a:t>
                      </a:r>
                      <a:endParaRPr kumimoji="0" lang="en-GB" sz="1200" b="0" i="1" u="none" strike="noStrike" cap="none" normalizeH="0" baseline="0" smtClean="0">
                        <a:ln>
                          <a:noFill/>
                        </a:ln>
                        <a:solidFill>
                          <a:schemeClr val="tx1"/>
                        </a:solidFill>
                        <a:effectLst/>
                        <a:latin typeface="Comic Sans MS" pitchFamily="66" charset="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126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400" b="0" i="0" u="none" strike="noStrike" cap="none" normalizeH="0" baseline="0" smtClean="0">
                          <a:ln>
                            <a:noFill/>
                          </a:ln>
                          <a:solidFill>
                            <a:schemeClr val="bg1"/>
                          </a:solidFill>
                          <a:effectLst/>
                          <a:latin typeface="Comic Sans MS" pitchFamily="66" charset="0"/>
                        </a:rPr>
                        <a:t>Testikierros 9</a:t>
                      </a:r>
                      <a:endParaRPr kumimoji="0" lang="en-GB" sz="1400" b="0" i="0" u="none" strike="noStrike" cap="none" normalizeH="0" baseline="0" smtClean="0">
                        <a:ln>
                          <a:noFill/>
                        </a:ln>
                        <a:solidFill>
                          <a:schemeClr val="bg1"/>
                        </a:solidFill>
                        <a:effectLst/>
                        <a:latin typeface="Comic Sans MS" pitchFamily="66"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luku</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smtClean="0">
                          <a:ln>
                            <a:noFill/>
                          </a:ln>
                          <a:solidFill>
                            <a:schemeClr val="tx1"/>
                          </a:solidFill>
                          <a:effectLst/>
                          <a:latin typeface="Comic Sans MS" pitchFamily="66" charset="0"/>
                        </a:rPr>
                        <a:t>Opera 7</a:t>
                      </a:r>
                      <a:endParaRPr kumimoji="0" lang="en-GB" sz="12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200" b="0" i="0" u="none" strike="noStrike" cap="none" normalizeH="0" baseline="0" dirty="0" smtClean="0">
                          <a:ln>
                            <a:noFill/>
                          </a:ln>
                          <a:solidFill>
                            <a:schemeClr val="tx1"/>
                          </a:solidFill>
                          <a:effectLst/>
                          <a:latin typeface="Comic Sans MS" pitchFamily="66" charset="0"/>
                        </a:rPr>
                        <a:t>Windows 2000</a:t>
                      </a:r>
                      <a:endParaRPr kumimoji="0" lang="en-GB" sz="1200" b="0" i="1" u="none" strike="noStrike" cap="none" normalizeH="0" baseline="0" dirty="0" smtClean="0">
                        <a:ln>
                          <a:noFill/>
                        </a:ln>
                        <a:solidFill>
                          <a:schemeClr val="tx1"/>
                        </a:solidFill>
                        <a:effectLst/>
                        <a:latin typeface="Comic Sans MS" pitchFamily="66" charset="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8172" name="Rectangle 60"/>
          <p:cNvSpPr>
            <a:spLocks noChangeArrowheads="1"/>
          </p:cNvSpPr>
          <p:nvPr/>
        </p:nvSpPr>
        <p:spPr bwMode="auto">
          <a:xfrm>
            <a:off x="1115616" y="5301208"/>
            <a:ext cx="7239000" cy="923330"/>
          </a:xfrm>
          <a:prstGeom prst="rect">
            <a:avLst/>
          </a:prstGeom>
          <a:noFill/>
          <a:ln w="9525">
            <a:noFill/>
            <a:miter lim="800000"/>
            <a:headEnd/>
            <a:tailEnd/>
          </a:ln>
          <a:effectLst/>
        </p:spPr>
        <p:txBody>
          <a:bodyPr>
            <a:spAutoFit/>
          </a:bodyPr>
          <a:lstStyle/>
          <a:p>
            <a:pPr algn="ctr"/>
            <a:r>
              <a:rPr lang="fi-FI" dirty="0">
                <a:cs typeface="Courier New" pitchFamily="49" charset="0"/>
              </a:rPr>
              <a:t>Kaikkien parin käytössä on riskinsä. Jos tiedät jonkin tietyn yhdistelmän, joka on yleisemmin käytetty tai jossa todennäköisemmin voisi olla ongelmia, tämä kannattaa käsitellä karsintakriteeristä huolimatta.</a:t>
            </a:r>
            <a:r>
              <a:rPr lang="en-GB" dirty="0">
                <a:cs typeface="Arial" pitchFamily="34" charset="0"/>
              </a:rPr>
              <a:t> </a:t>
            </a:r>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C60F14BE-F66D-454A-94EB-38FFA1A27CB3}" type="slidenum">
              <a:rPr lang="en-US"/>
              <a:pPr/>
              <a:t>52</a:t>
            </a:fld>
            <a:endParaRPr lang="en-US"/>
          </a:p>
        </p:txBody>
      </p:sp>
      <p:sp>
        <p:nvSpPr>
          <p:cNvPr id="219138" name="Rectangle 2"/>
          <p:cNvSpPr>
            <a:spLocks noGrp="1" noChangeArrowheads="1"/>
          </p:cNvSpPr>
          <p:nvPr>
            <p:ph type="title"/>
          </p:nvPr>
        </p:nvSpPr>
        <p:spPr>
          <a:noFill/>
          <a:ln/>
        </p:spPr>
        <p:txBody>
          <a:bodyPr lIns="92075" tIns="46038" rIns="92075" bIns="46038" anchor="ctr">
            <a:normAutofit fontScale="90000"/>
          </a:bodyPr>
          <a:lstStyle/>
          <a:p>
            <a:pPr defTabSz="762000"/>
            <a:r>
              <a:rPr lang="fi-FI" sz="3600"/>
              <a:t>Esimerkki: Muuttujien kombinaatioiden testaaminen</a:t>
            </a:r>
          </a:p>
        </p:txBody>
      </p:sp>
      <p:pic>
        <p:nvPicPr>
          <p:cNvPr id="219139" name="Picture 3"/>
          <p:cNvPicPr>
            <a:picLocks noGrp="1" noChangeAspect="1" noChangeArrowheads="1"/>
          </p:cNvPicPr>
          <p:nvPr>
            <p:ph type="body" idx="1"/>
          </p:nvPr>
        </p:nvPicPr>
        <p:blipFill>
          <a:blip r:embed="rId3" cstate="print"/>
          <a:srcRect/>
          <a:stretch>
            <a:fillRect/>
          </a:stretch>
        </p:blipFill>
        <p:spPr>
          <a:xfrm>
            <a:off x="762000" y="1808165"/>
            <a:ext cx="5715000" cy="4668837"/>
          </a:xfrm>
          <a:noFill/>
          <a:ln/>
        </p:spPr>
      </p:pic>
      <p:sp>
        <p:nvSpPr>
          <p:cNvPr id="219140" name="Rectangle 4"/>
          <p:cNvSpPr>
            <a:spLocks noChangeArrowheads="1"/>
          </p:cNvSpPr>
          <p:nvPr/>
        </p:nvSpPr>
        <p:spPr bwMode="auto">
          <a:xfrm>
            <a:off x="6934200" y="2590801"/>
            <a:ext cx="1981200" cy="1385637"/>
          </a:xfrm>
          <a:prstGeom prst="rect">
            <a:avLst/>
          </a:prstGeom>
          <a:noFill/>
          <a:ln w="9525">
            <a:noFill/>
            <a:miter lim="800000"/>
            <a:headEnd/>
            <a:tailEnd/>
          </a:ln>
          <a:effectLst/>
        </p:spPr>
        <p:txBody>
          <a:bodyPr lIns="92075" tIns="46038" rIns="92075" bIns="46038">
            <a:spAutoFit/>
          </a:bodyPr>
          <a:lstStyle/>
          <a:p>
            <a:r>
              <a:rPr lang="en-US" sz="2200">
                <a:cs typeface="Arial" pitchFamily="34" charset="0"/>
              </a:rPr>
              <a:t>Netscapen  Preferences- dialogi</a:t>
            </a:r>
            <a:r>
              <a:rPr lang="en-US">
                <a:cs typeface="Arial" pitchFamily="34" charset="0"/>
              </a:rPr>
              <a:t>.</a:t>
            </a:r>
          </a:p>
          <a:p>
            <a:endParaRPr lang="en-US">
              <a:cs typeface="Arial" pitchFamily="34" charset="0"/>
            </a:endParaRPr>
          </a:p>
        </p:txBody>
      </p:sp>
      <p:sp>
        <p:nvSpPr>
          <p:cNvPr id="219141" name="Text Box 5"/>
          <p:cNvSpPr txBox="1">
            <a:spLocks noChangeArrowheads="1"/>
          </p:cNvSpPr>
          <p:nvPr/>
        </p:nvSpPr>
        <p:spPr bwMode="auto">
          <a:xfrm>
            <a:off x="6804025" y="6467477"/>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normAutofit fontScale="90000"/>
          </a:bodyPr>
          <a:lstStyle/>
          <a:p>
            <a:r>
              <a:rPr lang="fi-FI" smtClean="0"/>
              <a:t>Esimerkki: Muuttujien kombinaatioiden testaaminen</a:t>
            </a:r>
            <a:endParaRPr lang="fi-FI"/>
          </a:p>
        </p:txBody>
      </p:sp>
      <p:sp>
        <p:nvSpPr>
          <p:cNvPr id="221187" name="Rectangle 3"/>
          <p:cNvSpPr>
            <a:spLocks noGrp="1" noChangeArrowheads="1"/>
          </p:cNvSpPr>
          <p:nvPr>
            <p:ph type="body" idx="1"/>
          </p:nvPr>
        </p:nvSpPr>
        <p:spPr/>
        <p:txBody>
          <a:bodyPr>
            <a:normAutofit fontScale="70000" lnSpcReduction="20000"/>
          </a:bodyPr>
          <a:lstStyle/>
          <a:p>
            <a:r>
              <a:rPr lang="fi-FI" dirty="0" smtClean="0"/>
              <a:t>Tarkastellaan Netscapen “</a:t>
            </a:r>
            <a:r>
              <a:rPr lang="fi-FI" dirty="0" err="1" smtClean="0"/>
              <a:t>Preferences</a:t>
            </a:r>
            <a:r>
              <a:rPr lang="fi-FI" dirty="0" smtClean="0"/>
              <a:t>” dialogia, jossa nähdään seuraavat muuttujat:</a:t>
            </a:r>
          </a:p>
          <a:p>
            <a:pPr lvl="1"/>
            <a:r>
              <a:rPr lang="fi-FI" dirty="0" err="1" smtClean="0"/>
              <a:t>Toolbars</a:t>
            </a:r>
            <a:r>
              <a:rPr lang="fi-FI" dirty="0" smtClean="0"/>
              <a:t> – 3 vaihtoehtoa (P, T, B)</a:t>
            </a:r>
          </a:p>
          <a:p>
            <a:pPr lvl="1">
              <a:buNone/>
            </a:pPr>
            <a:r>
              <a:rPr lang="fi-FI" dirty="0" smtClean="0"/>
              <a:t>		(</a:t>
            </a:r>
            <a:r>
              <a:rPr lang="fi-FI" dirty="0" err="1" smtClean="0"/>
              <a:t>pictures</a:t>
            </a:r>
            <a:r>
              <a:rPr lang="fi-FI" dirty="0" smtClean="0"/>
              <a:t>, </a:t>
            </a:r>
            <a:r>
              <a:rPr lang="fi-FI" dirty="0" err="1" smtClean="0"/>
              <a:t>text</a:t>
            </a:r>
            <a:r>
              <a:rPr lang="fi-FI" dirty="0" smtClean="0"/>
              <a:t> </a:t>
            </a:r>
            <a:r>
              <a:rPr lang="fi-FI" dirty="0" err="1" smtClean="0"/>
              <a:t>or</a:t>
            </a:r>
            <a:r>
              <a:rPr lang="fi-FI" dirty="0" smtClean="0"/>
              <a:t> </a:t>
            </a:r>
            <a:r>
              <a:rPr lang="fi-FI" dirty="0" err="1" smtClean="0"/>
              <a:t>both</a:t>
            </a:r>
            <a:r>
              <a:rPr lang="fi-FI" dirty="0" smtClean="0"/>
              <a:t>) </a:t>
            </a:r>
          </a:p>
          <a:p>
            <a:pPr lvl="1"/>
            <a:r>
              <a:rPr lang="fi-FI" dirty="0" smtClean="0"/>
              <a:t>On </a:t>
            </a:r>
            <a:r>
              <a:rPr lang="fi-FI" dirty="0" err="1" smtClean="0"/>
              <a:t>Startup</a:t>
            </a:r>
            <a:r>
              <a:rPr lang="fi-FI" dirty="0" smtClean="0"/>
              <a:t> </a:t>
            </a:r>
            <a:r>
              <a:rPr lang="fi-FI" dirty="0" err="1" smtClean="0"/>
              <a:t>Launch</a:t>
            </a:r>
            <a:r>
              <a:rPr lang="fi-FI" dirty="0" smtClean="0"/>
              <a:t> – 3 vaihtoehtoa (B, M, N)</a:t>
            </a:r>
          </a:p>
          <a:p>
            <a:pPr lvl="1">
              <a:buNone/>
            </a:pPr>
            <a:r>
              <a:rPr lang="fi-FI" dirty="0" smtClean="0"/>
              <a:t>		(</a:t>
            </a:r>
            <a:r>
              <a:rPr lang="fi-FI" dirty="0" err="1" smtClean="0"/>
              <a:t>browser</a:t>
            </a:r>
            <a:r>
              <a:rPr lang="fi-FI" dirty="0" smtClean="0"/>
              <a:t>, </a:t>
            </a:r>
            <a:r>
              <a:rPr lang="fi-FI" dirty="0" err="1" smtClean="0"/>
              <a:t>mail</a:t>
            </a:r>
            <a:r>
              <a:rPr lang="fi-FI" dirty="0" smtClean="0"/>
              <a:t>, news). Itsenäisiä ja binäärisiä vaihtoehtoja</a:t>
            </a:r>
          </a:p>
          <a:p>
            <a:pPr lvl="1"/>
            <a:r>
              <a:rPr lang="fi-FI" dirty="0" err="1" smtClean="0"/>
              <a:t>Start</a:t>
            </a:r>
            <a:r>
              <a:rPr lang="fi-FI" dirty="0" smtClean="0"/>
              <a:t> </a:t>
            </a:r>
            <a:r>
              <a:rPr lang="fi-FI" dirty="0" err="1" smtClean="0"/>
              <a:t>With</a:t>
            </a:r>
            <a:r>
              <a:rPr lang="fi-FI" dirty="0" smtClean="0"/>
              <a:t> – 3 vaihtoehtoa (B,V,E) </a:t>
            </a:r>
          </a:p>
          <a:p>
            <a:pPr lvl="1">
              <a:buNone/>
            </a:pPr>
            <a:r>
              <a:rPr lang="fi-FI" dirty="0" smtClean="0"/>
              <a:t>		(</a:t>
            </a:r>
            <a:r>
              <a:rPr lang="fi-FI" dirty="0" err="1" smtClean="0"/>
              <a:t>blank</a:t>
            </a:r>
            <a:r>
              <a:rPr lang="fi-FI" dirty="0" smtClean="0"/>
              <a:t> </a:t>
            </a:r>
            <a:r>
              <a:rPr lang="fi-FI" dirty="0" err="1" smtClean="0"/>
              <a:t>page</a:t>
            </a:r>
            <a:r>
              <a:rPr lang="fi-FI" dirty="0" smtClean="0"/>
              <a:t>, home </a:t>
            </a:r>
            <a:r>
              <a:rPr lang="fi-FI" dirty="0" err="1" smtClean="0"/>
              <a:t>page</a:t>
            </a:r>
            <a:r>
              <a:rPr lang="fi-FI" dirty="0" smtClean="0"/>
              <a:t> </a:t>
            </a:r>
            <a:r>
              <a:rPr lang="fi-FI" dirty="0" err="1" smtClean="0"/>
              <a:t>names</a:t>
            </a:r>
            <a:r>
              <a:rPr lang="fi-FI" dirty="0" smtClean="0"/>
              <a:t> a </a:t>
            </a:r>
            <a:r>
              <a:rPr lang="fi-FI" dirty="0" err="1" smtClean="0"/>
              <a:t>valid</a:t>
            </a:r>
            <a:r>
              <a:rPr lang="fi-FI" dirty="0" smtClean="0"/>
              <a:t> </a:t>
            </a:r>
            <a:r>
              <a:rPr lang="fi-FI" dirty="0" err="1" smtClean="0"/>
              <a:t>file</a:t>
            </a:r>
            <a:r>
              <a:rPr lang="fi-FI" dirty="0" smtClean="0"/>
              <a:t>, home </a:t>
            </a:r>
            <a:r>
              <a:rPr lang="fi-FI" dirty="0" err="1" smtClean="0"/>
              <a:t>page</a:t>
            </a:r>
            <a:r>
              <a:rPr lang="fi-FI" dirty="0" smtClean="0"/>
              <a:t> </a:t>
            </a:r>
            <a:r>
              <a:rPr lang="fi-FI" dirty="0" err="1" smtClean="0"/>
              <a:t>name</a:t>
            </a:r>
            <a:r>
              <a:rPr lang="fi-FI" dirty="0" smtClean="0"/>
              <a:t> </a:t>
            </a:r>
            <a:r>
              <a:rPr lang="fi-FI" dirty="0" err="1" smtClean="0"/>
              <a:t>has</a:t>
            </a:r>
            <a:r>
              <a:rPr lang="fi-FI" dirty="0" smtClean="0"/>
              <a:t> a </a:t>
            </a:r>
            <a:r>
              <a:rPr lang="fi-FI" dirty="0" err="1" smtClean="0"/>
              <a:t>syntax</a:t>
            </a:r>
            <a:r>
              <a:rPr lang="fi-FI" dirty="0" smtClean="0"/>
              <a:t> </a:t>
            </a:r>
            <a:r>
              <a:rPr lang="fi-FI" dirty="0" err="1" smtClean="0"/>
              <a:t>error</a:t>
            </a:r>
            <a:r>
              <a:rPr lang="fi-FI" dirty="0" smtClean="0"/>
              <a:t>) Yksinkertaisuuden vuoksi jätetään muut vaihtoehdot huomioimatta.</a:t>
            </a:r>
          </a:p>
          <a:p>
            <a:pPr lvl="1"/>
            <a:r>
              <a:rPr lang="fi-FI" dirty="0" err="1" smtClean="0"/>
              <a:t>Links</a:t>
            </a:r>
            <a:r>
              <a:rPr lang="fi-FI" dirty="0" smtClean="0"/>
              <a:t> – 2 vaihtoehtoa (D,U)</a:t>
            </a:r>
          </a:p>
          <a:p>
            <a:pPr lvl="1">
              <a:buNone/>
            </a:pPr>
            <a:r>
              <a:rPr lang="fi-FI" dirty="0" smtClean="0"/>
              <a:t>	(</a:t>
            </a:r>
            <a:r>
              <a:rPr lang="fi-FI" dirty="0" err="1" smtClean="0"/>
              <a:t>don’t</a:t>
            </a:r>
            <a:r>
              <a:rPr lang="fi-FI" dirty="0" smtClean="0"/>
              <a:t> </a:t>
            </a:r>
            <a:r>
              <a:rPr lang="fi-FI" dirty="0" err="1" smtClean="0"/>
              <a:t>underline</a:t>
            </a:r>
            <a:r>
              <a:rPr lang="fi-FI" dirty="0" smtClean="0"/>
              <a:t>, </a:t>
            </a:r>
            <a:r>
              <a:rPr lang="fi-FI" dirty="0" err="1" smtClean="0"/>
              <a:t>underlined</a:t>
            </a:r>
            <a:r>
              <a:rPr lang="fi-FI" dirty="0" smtClean="0"/>
              <a:t>) </a:t>
            </a:r>
          </a:p>
          <a:p>
            <a:pPr lvl="1"/>
            <a:r>
              <a:rPr lang="fi-FI" dirty="0" err="1" smtClean="0"/>
              <a:t>Followed</a:t>
            </a:r>
            <a:r>
              <a:rPr lang="fi-FI" dirty="0" smtClean="0"/>
              <a:t> </a:t>
            </a:r>
            <a:r>
              <a:rPr lang="fi-FI" dirty="0" err="1" smtClean="0"/>
              <a:t>Links</a:t>
            </a:r>
            <a:r>
              <a:rPr lang="fi-FI" dirty="0" smtClean="0"/>
              <a:t> – 2 vaihtoehtoa (N,E)</a:t>
            </a:r>
          </a:p>
          <a:p>
            <a:pPr lvl="1">
              <a:buNone/>
            </a:pPr>
            <a:r>
              <a:rPr lang="fi-FI" dirty="0" smtClean="0"/>
              <a:t>		(</a:t>
            </a:r>
            <a:r>
              <a:rPr lang="fi-FI" dirty="0" err="1" smtClean="0"/>
              <a:t>never</a:t>
            </a:r>
            <a:r>
              <a:rPr lang="fi-FI" dirty="0" smtClean="0"/>
              <a:t> </a:t>
            </a:r>
            <a:r>
              <a:rPr lang="fi-FI" dirty="0" err="1" smtClean="0"/>
              <a:t>expire</a:t>
            </a:r>
            <a:r>
              <a:rPr lang="fi-FI" dirty="0" smtClean="0"/>
              <a:t>, </a:t>
            </a:r>
            <a:r>
              <a:rPr lang="fi-FI" dirty="0" err="1" smtClean="0"/>
              <a:t>expire</a:t>
            </a:r>
            <a:r>
              <a:rPr lang="fi-FI" dirty="0" smtClean="0"/>
              <a:t> </a:t>
            </a:r>
            <a:r>
              <a:rPr lang="fi-FI" dirty="0" err="1" smtClean="0"/>
              <a:t>after</a:t>
            </a:r>
            <a:r>
              <a:rPr lang="fi-FI" dirty="0" smtClean="0"/>
              <a:t> 30 </a:t>
            </a:r>
            <a:r>
              <a:rPr lang="fi-FI" dirty="0" err="1" smtClean="0"/>
              <a:t>days</a:t>
            </a:r>
            <a:r>
              <a:rPr lang="fi-FI" dirty="0" smtClean="0"/>
              <a:t>) Yksinkertaisuuden vuoksi jätetään muut vaihtoehdot huomioimatta.</a:t>
            </a:r>
            <a:endParaRPr lang="fi-FI" dirty="0"/>
          </a:p>
        </p:txBody>
      </p:sp>
      <p:sp>
        <p:nvSpPr>
          <p:cNvPr id="6" name="Slide Number Placeholder 5"/>
          <p:cNvSpPr>
            <a:spLocks noGrp="1"/>
          </p:cNvSpPr>
          <p:nvPr>
            <p:ph type="sldNum" sz="quarter" idx="12"/>
          </p:nvPr>
        </p:nvSpPr>
        <p:spPr/>
        <p:txBody>
          <a:bodyPr/>
          <a:lstStyle/>
          <a:p>
            <a:fld id="{5B70D350-F007-4A3B-939D-960F6545A319}" type="slidenum">
              <a:rPr lang="en-US" smtClean="0"/>
              <a:pPr/>
              <a:t>53</a:t>
            </a:fld>
            <a:endParaRPr lang="en-US"/>
          </a:p>
        </p:txBody>
      </p:sp>
      <p:sp>
        <p:nvSpPr>
          <p:cNvPr id="221188" name="Text Box 4"/>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normAutofit fontScale="90000"/>
          </a:bodyPr>
          <a:lstStyle/>
          <a:p>
            <a:r>
              <a:rPr lang="fi-FI" smtClean="0"/>
              <a:t>Esimerkki: Muuttujien kombinaatioiden testaaminen</a:t>
            </a:r>
            <a:endParaRPr lang="fi-FI"/>
          </a:p>
        </p:txBody>
      </p:sp>
      <p:sp>
        <p:nvSpPr>
          <p:cNvPr id="223235" name="Rectangle 3"/>
          <p:cNvSpPr>
            <a:spLocks noGrp="1" noChangeArrowheads="1"/>
          </p:cNvSpPr>
          <p:nvPr>
            <p:ph type="body" idx="1"/>
          </p:nvPr>
        </p:nvSpPr>
        <p:spPr/>
        <p:txBody>
          <a:bodyPr>
            <a:normAutofit fontScale="62500" lnSpcReduction="20000"/>
          </a:bodyPr>
          <a:lstStyle/>
          <a:p>
            <a:r>
              <a:rPr lang="fi-FI" smtClean="0"/>
              <a:t>Yksinkertaistetaan yhdistelmiä yksinkertaistamalla valintoja kahdelle kentistä.</a:t>
            </a:r>
          </a:p>
          <a:p>
            <a:r>
              <a:rPr lang="fi-FI" smtClean="0"/>
              <a:t>Start with -kentässä, käytä joko oikeellista kotisivun nimeä tai tyhjää nimeä. Joitakin muita testitapauksia tähän kenttään ovat:</a:t>
            </a:r>
          </a:p>
          <a:p>
            <a:pPr lvl="1"/>
            <a:r>
              <a:rPr lang="fi-FI" smtClean="0"/>
              <a:t>Tiedoston nimi (nimi.htm sen sijaan, että käytettäisiin http:// määrittelemään protokollaa) paikallisella levyllä, paikallisella verkkolevyllä tai etälevyllä.</a:t>
            </a:r>
          </a:p>
          <a:p>
            <a:pPr lvl="1"/>
            <a:r>
              <a:rPr lang="fi-FI" smtClean="0"/>
              <a:t>Tiedoston nimien maksimipituus, maksimipituiset polut</a:t>
            </a:r>
          </a:p>
          <a:p>
            <a:pPr lvl="1"/>
            <a:r>
              <a:rPr lang="fi-FI" smtClean="0"/>
              <a:t>Väärät tiedostonimet ja polut</a:t>
            </a:r>
          </a:p>
          <a:p>
            <a:r>
              <a:rPr lang="fi-FI" smtClean="0"/>
              <a:t>Yhdistelmien testaamista varten valitse näistä muutama, jotka näyttävät siltä, että ne voisivat vaikuttaa muihin muuttujiin. Testaa muut itsenäisesti.</a:t>
            </a:r>
          </a:p>
          <a:p>
            <a:r>
              <a:rPr lang="fi-FI" smtClean="0"/>
              <a:t>Samalla tavalla Vanhenee alkaen – kentälle. Syötä lukumäärä, kuinka monta päivää linkkejä varastoidaan. Jos käytät enemmän kuin yhtä arvoa, käytä rajatapauksia, älä kaikkia sallittuja arvoja.</a:t>
            </a:r>
          </a:p>
          <a:p>
            <a:r>
              <a:rPr lang="fi-FI" smtClean="0"/>
              <a:t>Monimuuttujatestauksessa, käytä ekvivalenssianalyysia tai muita erikoisarvoja sen sijaan, että testaisit kaikki arvot yhdessä kaikkien muiden muuttujien kaikkien arvojen kanssa</a:t>
            </a:r>
            <a:endParaRPr lang="fi-FI"/>
          </a:p>
        </p:txBody>
      </p:sp>
      <p:sp>
        <p:nvSpPr>
          <p:cNvPr id="6" name="Slide Number Placeholder 5"/>
          <p:cNvSpPr>
            <a:spLocks noGrp="1"/>
          </p:cNvSpPr>
          <p:nvPr>
            <p:ph type="sldNum" sz="quarter" idx="12"/>
          </p:nvPr>
        </p:nvSpPr>
        <p:spPr/>
        <p:txBody>
          <a:bodyPr/>
          <a:lstStyle/>
          <a:p>
            <a:fld id="{05CF1065-7F63-4192-97BD-667FF98CDCA6}" type="slidenum">
              <a:rPr lang="en-US" smtClean="0"/>
              <a:pPr/>
              <a:t>54</a:t>
            </a:fld>
            <a:endParaRPr lang="en-US"/>
          </a:p>
        </p:txBody>
      </p:sp>
      <p:sp>
        <p:nvSpPr>
          <p:cNvPr id="223236" name="Text Box 4"/>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fld id="{818705F1-C2A8-4D45-A6EB-C6465CBBDC4C}" type="slidenum">
              <a:rPr lang="en-US"/>
              <a:pPr/>
              <a:t>55</a:t>
            </a:fld>
            <a:endParaRPr lang="en-US"/>
          </a:p>
        </p:txBody>
      </p:sp>
      <p:sp>
        <p:nvSpPr>
          <p:cNvPr id="225282" name="Rectangle 2"/>
          <p:cNvSpPr>
            <a:spLocks noGrp="1" noChangeArrowheads="1"/>
          </p:cNvSpPr>
          <p:nvPr>
            <p:ph type="title"/>
          </p:nvPr>
        </p:nvSpPr>
        <p:spPr>
          <a:noFill/>
          <a:ln/>
        </p:spPr>
        <p:txBody>
          <a:bodyPr lIns="92075" tIns="46038" rIns="92075" bIns="46038" anchor="ctr">
            <a:normAutofit fontScale="90000"/>
          </a:bodyPr>
          <a:lstStyle/>
          <a:p>
            <a:pPr defTabSz="762000"/>
            <a:r>
              <a:rPr lang="fi-FI" sz="3600"/>
              <a:t>Esimerkki: Muuttujien kombinaatioiden testaaminen</a:t>
            </a:r>
          </a:p>
        </p:txBody>
      </p:sp>
      <p:sp>
        <p:nvSpPr>
          <p:cNvPr id="225283" name="Text Box 3"/>
          <p:cNvSpPr txBox="1">
            <a:spLocks noChangeArrowheads="1"/>
          </p:cNvSpPr>
          <p:nvPr/>
        </p:nvSpPr>
        <p:spPr bwMode="auto">
          <a:xfrm>
            <a:off x="755650" y="1844676"/>
            <a:ext cx="3455988" cy="3202928"/>
          </a:xfrm>
          <a:prstGeom prst="rect">
            <a:avLst/>
          </a:prstGeom>
          <a:noFill/>
          <a:ln w="9525">
            <a:noFill/>
            <a:miter lim="800000"/>
            <a:headEnd/>
            <a:tailEnd/>
          </a:ln>
          <a:effectLst/>
        </p:spPr>
        <p:txBody>
          <a:bodyPr>
            <a:spAutoFit/>
          </a:bodyPr>
          <a:lstStyle/>
          <a:p>
            <a:pPr eaLnBrk="1" hangingPunct="1">
              <a:lnSpc>
                <a:spcPct val="90000"/>
              </a:lnSpc>
              <a:spcBef>
                <a:spcPct val="20000"/>
              </a:spcBef>
              <a:buSzPct val="65000"/>
              <a:buFont typeface="Times" pitchFamily="18" charset="0"/>
              <a:buNone/>
            </a:pPr>
            <a:r>
              <a:rPr lang="en-US" sz="3200">
                <a:solidFill>
                  <a:srgbClr val="000000"/>
                </a:solidFill>
                <a:cs typeface="Arial" pitchFamily="34" charset="0"/>
              </a:rPr>
              <a:t>Voimme luoda 3 x 2 x 2 x 2 x 3 x 2 x 2 = 288 erilaista testitapausta testaamalla nämä muuttujat yhdistelminä. </a:t>
            </a:r>
            <a:endParaRPr lang="en-US" sz="3200">
              <a:cs typeface="Arial" pitchFamily="34" charset="0"/>
            </a:endParaRPr>
          </a:p>
        </p:txBody>
      </p:sp>
      <p:graphicFrame>
        <p:nvGraphicFramePr>
          <p:cNvPr id="225284" name="Object 4"/>
          <p:cNvGraphicFramePr>
            <a:graphicFrameLocks/>
          </p:cNvGraphicFramePr>
          <p:nvPr/>
        </p:nvGraphicFramePr>
        <p:xfrm>
          <a:off x="4768851" y="841375"/>
          <a:ext cx="3475039" cy="5645150"/>
        </p:xfrm>
        <a:graphic>
          <a:graphicData uri="http://schemas.openxmlformats.org/presentationml/2006/ole">
            <mc:AlternateContent xmlns:mc="http://schemas.openxmlformats.org/markup-compatibility/2006">
              <mc:Choice xmlns:v="urn:schemas-microsoft-com:vml" Requires="v">
                <p:oleObj spid="_x0000_s2063" name="Worksheet" r:id="rId4" imgW="2152718" imgH="3543481" progId="Excel.Sheet.8">
                  <p:embed/>
                </p:oleObj>
              </mc:Choice>
              <mc:Fallback>
                <p:oleObj name="Worksheet" r:id="rId4" imgW="2152718" imgH="3543481" progId="Excel.Shee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8851" y="841375"/>
                        <a:ext cx="3475039" cy="564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25285" name="Text Box 5"/>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414870A-C623-4211-B168-5068BEDBD048}" type="slidenum">
              <a:rPr lang="en-US"/>
              <a:pPr/>
              <a:t>56</a:t>
            </a:fld>
            <a:endParaRPr lang="en-US"/>
          </a:p>
        </p:txBody>
      </p:sp>
      <p:sp>
        <p:nvSpPr>
          <p:cNvPr id="227330" name="Rectangle 2"/>
          <p:cNvSpPr>
            <a:spLocks noGrp="1" noChangeArrowheads="1"/>
          </p:cNvSpPr>
          <p:nvPr>
            <p:ph type="title"/>
          </p:nvPr>
        </p:nvSpPr>
        <p:spPr>
          <a:xfrm>
            <a:off x="395288" y="188913"/>
            <a:ext cx="7772400" cy="1143000"/>
          </a:xfrm>
          <a:noFill/>
          <a:ln/>
        </p:spPr>
        <p:txBody>
          <a:bodyPr lIns="92075" tIns="46038" rIns="92075" bIns="46038" anchor="ctr"/>
          <a:lstStyle/>
          <a:p>
            <a:pPr defTabSz="762000"/>
            <a:r>
              <a:rPr lang="fi-FI" sz="2000" b="1" i="1"/>
              <a:t>T</a:t>
            </a:r>
            <a:r>
              <a:rPr lang="fi-FI" sz="2000" b="1" i="1">
                <a:latin typeface="Arial"/>
              </a:rPr>
              <a:t>ä</a:t>
            </a:r>
            <a:r>
              <a:rPr lang="fi-FI" sz="2000" b="1" i="1"/>
              <a:t>ss</a:t>
            </a:r>
            <a:r>
              <a:rPr lang="fi-FI" sz="2000" b="1" i="1">
                <a:latin typeface="Arial"/>
              </a:rPr>
              <a:t>ä</a:t>
            </a:r>
            <a:r>
              <a:rPr lang="fi-FI" sz="2000" b="1" i="1"/>
              <a:t> ovat ne 288 testitapausta. Jokaisen muuttujan jokainen arvo on yhdistetty jokaiseen muiden muuttujien yhdistelm</a:t>
            </a:r>
            <a:r>
              <a:rPr lang="fi-FI" sz="2000" b="1" i="1">
                <a:latin typeface="Arial"/>
              </a:rPr>
              <a:t>ää</a:t>
            </a:r>
            <a:r>
              <a:rPr lang="fi-FI" sz="2000" b="1" i="1"/>
              <a:t>n.</a:t>
            </a:r>
          </a:p>
        </p:txBody>
      </p:sp>
      <p:graphicFrame>
        <p:nvGraphicFramePr>
          <p:cNvPr id="227331" name="Object 3"/>
          <p:cNvGraphicFramePr>
            <a:graphicFrameLocks/>
          </p:cNvGraphicFramePr>
          <p:nvPr/>
        </p:nvGraphicFramePr>
        <p:xfrm>
          <a:off x="1239839" y="1371602"/>
          <a:ext cx="6731000" cy="5235575"/>
        </p:xfrm>
        <a:graphic>
          <a:graphicData uri="http://schemas.openxmlformats.org/presentationml/2006/ole">
            <mc:AlternateContent xmlns:mc="http://schemas.openxmlformats.org/markup-compatibility/2006">
              <mc:Choice xmlns:v="urn:schemas-microsoft-com:vml" Requires="v">
                <p:oleObj spid="_x0000_s3087" name="Document" r:id="rId4" imgW="5047920" imgH="6771960" progId="Word.Document.8">
                  <p:embed/>
                </p:oleObj>
              </mc:Choice>
              <mc:Fallback>
                <p:oleObj name="Document" r:id="rId4" imgW="5047920" imgH="6771960" progId="Word.Documen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9839" y="1371602"/>
                        <a:ext cx="6731000" cy="523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27332" name="Text Box 4"/>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normAutofit fontScale="90000"/>
          </a:bodyPr>
          <a:lstStyle/>
          <a:p>
            <a:r>
              <a:rPr lang="fi-FI" smtClean="0"/>
              <a:t>Muuttujien testaaminen kombinaatioina: pareittain</a:t>
            </a:r>
            <a:endParaRPr lang="fi-FI"/>
          </a:p>
        </p:txBody>
      </p:sp>
      <p:sp>
        <p:nvSpPr>
          <p:cNvPr id="229379" name="Rectangle 3"/>
          <p:cNvSpPr>
            <a:spLocks noGrp="1" noChangeArrowheads="1"/>
          </p:cNvSpPr>
          <p:nvPr>
            <p:ph type="body" idx="1"/>
          </p:nvPr>
        </p:nvSpPr>
        <p:spPr/>
        <p:txBody>
          <a:bodyPr>
            <a:normAutofit fontScale="92500"/>
          </a:bodyPr>
          <a:lstStyle/>
          <a:p>
            <a:r>
              <a:rPr lang="fi-FI" smtClean="0"/>
              <a:t>Yksinkertaistaaksemme tätä, testataan muuttujia pareittain. </a:t>
            </a:r>
          </a:p>
          <a:p>
            <a:r>
              <a:rPr lang="fi-FI" smtClean="0"/>
              <a:t>Kombinaatioiden testaaminen pareittain</a:t>
            </a:r>
          </a:p>
          <a:p>
            <a:pPr lvl="1"/>
            <a:r>
              <a:rPr lang="fi-FI" smtClean="0"/>
              <a:t>Voi olla hyödyllistä, jos ymmärrät muuttujien väliset suhteet hyvin.</a:t>
            </a:r>
          </a:p>
          <a:p>
            <a:pPr lvl="1"/>
            <a:r>
              <a:rPr lang="fi-FI" smtClean="0"/>
              <a:t>Yleisesti ottaen parien testaaminen on tehottomampaa ja monimutkaisempaa kuin kuvitellaan. </a:t>
            </a:r>
          </a:p>
          <a:p>
            <a:r>
              <a:rPr lang="fi-FI" smtClean="0"/>
              <a:t>Esimerkkitapauksessa parien määrä olisi 109. </a:t>
            </a:r>
            <a:r>
              <a:rPr lang="fi-FI" smtClean="0">
                <a:sym typeface="Wingdings" pitchFamily="2" charset="2"/>
              </a:rPr>
              <a:t> Vähemmän kuin 288, mutta yhä paljon.</a:t>
            </a:r>
            <a:endParaRPr lang="fi-FI">
              <a:sym typeface="Wingdings" pitchFamily="2" charset="2"/>
            </a:endParaRPr>
          </a:p>
        </p:txBody>
      </p:sp>
      <p:sp>
        <p:nvSpPr>
          <p:cNvPr id="6" name="Slide Number Placeholder 5"/>
          <p:cNvSpPr>
            <a:spLocks noGrp="1"/>
          </p:cNvSpPr>
          <p:nvPr>
            <p:ph type="sldNum" sz="quarter" idx="12"/>
          </p:nvPr>
        </p:nvSpPr>
        <p:spPr/>
        <p:txBody>
          <a:bodyPr/>
          <a:lstStyle/>
          <a:p>
            <a:fld id="{7F2FB0F4-00FE-4584-A01A-90DD377F21E2}" type="slidenum">
              <a:rPr lang="en-US" smtClean="0"/>
              <a:pPr/>
              <a:t>57</a:t>
            </a:fld>
            <a:endParaRPr lang="en-US"/>
          </a:p>
        </p:txBody>
      </p:sp>
      <p:sp>
        <p:nvSpPr>
          <p:cNvPr id="229380" name="Text Box 4"/>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fi-FI" smtClean="0"/>
              <a:t>Kombinaatioparien testaaminen</a:t>
            </a:r>
            <a:endParaRPr lang="fi-FI"/>
          </a:p>
        </p:txBody>
      </p:sp>
      <p:sp>
        <p:nvSpPr>
          <p:cNvPr id="7" name="Slide Number Placeholder 4"/>
          <p:cNvSpPr>
            <a:spLocks noGrp="1"/>
          </p:cNvSpPr>
          <p:nvPr>
            <p:ph type="sldNum" sz="quarter" idx="12"/>
          </p:nvPr>
        </p:nvSpPr>
        <p:spPr/>
        <p:txBody>
          <a:bodyPr/>
          <a:lstStyle/>
          <a:p>
            <a:fld id="{B4BE5113-951A-4DCD-AEE3-6596EFDAFE93}" type="slidenum">
              <a:rPr lang="en-US" smtClean="0"/>
              <a:pPr/>
              <a:t>58</a:t>
            </a:fld>
            <a:endParaRPr lang="en-US"/>
          </a:p>
        </p:txBody>
      </p:sp>
      <p:sp>
        <p:nvSpPr>
          <p:cNvPr id="230403" name="Text Box 3"/>
          <p:cNvSpPr txBox="1">
            <a:spLocks noChangeArrowheads="1"/>
          </p:cNvSpPr>
          <p:nvPr/>
        </p:nvSpPr>
        <p:spPr bwMode="auto">
          <a:xfrm>
            <a:off x="468315" y="1557340"/>
            <a:ext cx="3743325" cy="4708981"/>
          </a:xfrm>
          <a:prstGeom prst="rect">
            <a:avLst/>
          </a:prstGeom>
          <a:noFill/>
          <a:ln w="9525">
            <a:noFill/>
            <a:miter lim="800000"/>
            <a:headEnd/>
            <a:tailEnd/>
          </a:ln>
          <a:effectLst/>
        </p:spPr>
        <p:txBody>
          <a:bodyPr>
            <a:spAutoFit/>
          </a:bodyPr>
          <a:lstStyle/>
          <a:p>
            <a:pPr eaLnBrk="1" hangingPunct="1">
              <a:buFontTx/>
              <a:buChar char="•"/>
            </a:pPr>
            <a:r>
              <a:rPr lang="fi-FI" sz="2000">
                <a:solidFill>
                  <a:srgbClr val="000000"/>
                </a:solidFill>
                <a:latin typeface="Arial" pitchFamily="34" charset="0"/>
                <a:cs typeface="Arial" pitchFamily="34" charset="0"/>
              </a:rPr>
              <a:t> Mieti jokaisen parin testaamista siten, että testaat monta paria samanaikaisesti.</a:t>
            </a:r>
            <a:endParaRPr lang="en-US" sz="2000">
              <a:solidFill>
                <a:srgbClr val="000000"/>
              </a:solidFill>
              <a:latin typeface="Arial" pitchFamily="34" charset="0"/>
              <a:cs typeface="Arial" pitchFamily="34" charset="0"/>
            </a:endParaRPr>
          </a:p>
          <a:p>
            <a:pPr eaLnBrk="1" hangingPunct="1">
              <a:buFontTx/>
              <a:buChar char="•"/>
            </a:pPr>
            <a:r>
              <a:rPr lang="en-US" sz="2000">
                <a:solidFill>
                  <a:srgbClr val="000000"/>
                </a:solidFill>
                <a:latin typeface="Arial" pitchFamily="34" charset="0"/>
                <a:cs typeface="Arial" pitchFamily="34" charset="0"/>
              </a:rPr>
              <a:t> </a:t>
            </a:r>
            <a:r>
              <a:rPr lang="fi-FI" sz="2000">
                <a:solidFill>
                  <a:srgbClr val="000000"/>
                </a:solidFill>
                <a:latin typeface="Arial" pitchFamily="34" charset="0"/>
                <a:cs typeface="Arial" pitchFamily="34" charset="0"/>
              </a:rPr>
              <a:t>Luodaan testitapauksia, joissa käytetään kaikki muuttujia ja joissa varmistetaan, että jokaisen muuttujan jokainen arvo esiintyy kaikkien muiden muuttujien jokaisen arvon kanssa pareittain</a:t>
            </a:r>
            <a:r>
              <a:rPr lang="en-US" sz="2000">
                <a:solidFill>
                  <a:srgbClr val="000000"/>
                </a:solidFill>
                <a:latin typeface="Arial" pitchFamily="34" charset="0"/>
                <a:cs typeface="Arial" pitchFamily="34" charset="0"/>
              </a:rPr>
              <a:t>.</a:t>
            </a:r>
          </a:p>
          <a:p>
            <a:pPr eaLnBrk="1" hangingPunct="1">
              <a:buFontTx/>
              <a:buChar char="•"/>
            </a:pPr>
            <a:r>
              <a:rPr lang="en-US" sz="2000">
                <a:solidFill>
                  <a:srgbClr val="000000"/>
                </a:solidFill>
                <a:latin typeface="Arial" pitchFamily="34" charset="0"/>
                <a:cs typeface="Arial" pitchFamily="34" charset="0"/>
              </a:rPr>
              <a:t> </a:t>
            </a:r>
            <a:r>
              <a:rPr lang="en-US" sz="2000" i="1">
                <a:solidFill>
                  <a:srgbClr val="000000"/>
                </a:solidFill>
                <a:latin typeface="Arial" pitchFamily="34" charset="0"/>
                <a:cs typeface="Arial" pitchFamily="34" charset="0"/>
              </a:rPr>
              <a:t>Kukin näistä testitapauksista kattaa 21 paria. </a:t>
            </a:r>
            <a:r>
              <a:rPr lang="en-US" sz="2000">
                <a:solidFill>
                  <a:srgbClr val="000000"/>
                </a:solidFill>
                <a:latin typeface="Arial" pitchFamily="34" charset="0"/>
                <a:cs typeface="Arial" pitchFamily="34" charset="0"/>
              </a:rPr>
              <a:t>Yleensä, kukin testitapaus joka yhdistää N muuttujaa sisältää N (N-1) / 2 paria</a:t>
            </a:r>
          </a:p>
        </p:txBody>
      </p:sp>
      <p:graphicFrame>
        <p:nvGraphicFramePr>
          <p:cNvPr id="230404" name="Object 4"/>
          <p:cNvGraphicFramePr>
            <a:graphicFrameLocks/>
          </p:cNvGraphicFramePr>
          <p:nvPr/>
        </p:nvGraphicFramePr>
        <p:xfrm>
          <a:off x="4681539" y="1125539"/>
          <a:ext cx="3706812" cy="5267325"/>
        </p:xfrm>
        <a:graphic>
          <a:graphicData uri="http://schemas.openxmlformats.org/presentationml/2006/ole">
            <mc:AlternateContent xmlns:mc="http://schemas.openxmlformats.org/markup-compatibility/2006">
              <mc:Choice xmlns:v="urn:schemas-microsoft-com:vml" Requires="v">
                <p:oleObj spid="_x0000_s4111" name="Worksheet" r:id="rId4" imgW="2152718" imgH="3057390" progId="Excel.Sheet.8">
                  <p:embed/>
                </p:oleObj>
              </mc:Choice>
              <mc:Fallback>
                <p:oleObj name="Worksheet" r:id="rId4" imgW="2152718" imgH="3057390" progId="Excel.Sheet.8">
                  <p:embed/>
                  <p:pic>
                    <p:nvPicPr>
                      <p:cNvPr id="0" name="Picture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1539" y="1125539"/>
                        <a:ext cx="3706812" cy="526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30405" name="Text Box 5"/>
          <p:cNvSpPr txBox="1">
            <a:spLocks noChangeArrowheads="1"/>
          </p:cNvSpPr>
          <p:nvPr/>
        </p:nvSpPr>
        <p:spPr bwMode="auto">
          <a:xfrm>
            <a:off x="7010400" y="6248402"/>
            <a:ext cx="21336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cs typeface="Arial" pitchFamily="34" charset="0"/>
              </a:rPr>
              <a:t>[Kaner]</a:t>
            </a:r>
            <a:endParaRPr lang="en-GB" sz="1200">
              <a:latin typeface="Arial" pitchFamily="34" charset="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185ED33-475C-4061-8882-0B3508F314BB}" type="slidenum">
              <a:rPr lang="en-US"/>
              <a:pPr/>
              <a:t>59</a:t>
            </a:fld>
            <a:endParaRPr lang="en-US"/>
          </a:p>
        </p:txBody>
      </p:sp>
      <p:sp>
        <p:nvSpPr>
          <p:cNvPr id="236546" name="Rectangle 2"/>
          <p:cNvSpPr>
            <a:spLocks noGrp="1" noChangeArrowheads="1"/>
          </p:cNvSpPr>
          <p:nvPr>
            <p:ph type="title"/>
          </p:nvPr>
        </p:nvSpPr>
        <p:spPr/>
        <p:txBody>
          <a:bodyPr>
            <a:normAutofit fontScale="90000"/>
          </a:bodyPr>
          <a:lstStyle/>
          <a:p>
            <a:r>
              <a:rPr lang="fi-FI"/>
              <a:t>Kombinaatioiden käsittely ei ole käsityötä</a:t>
            </a:r>
            <a:endParaRPr lang="en-US"/>
          </a:p>
        </p:txBody>
      </p:sp>
      <p:sp>
        <p:nvSpPr>
          <p:cNvPr id="236547" name="Rectangle 3"/>
          <p:cNvSpPr>
            <a:spLocks noGrp="1" noChangeArrowheads="1"/>
          </p:cNvSpPr>
          <p:nvPr>
            <p:ph type="body" idx="1"/>
          </p:nvPr>
        </p:nvSpPr>
        <p:spPr/>
        <p:txBody>
          <a:bodyPr/>
          <a:lstStyle/>
          <a:p>
            <a:r>
              <a:rPr lang="fi-FI"/>
              <a:t>Vain pienet yksinkertaiset ohjelmat voi käsitellä itse analysoiden</a:t>
            </a:r>
          </a:p>
          <a:p>
            <a:r>
              <a:rPr lang="fi-FI"/>
              <a:t>Työkalutuki tarpeen:</a:t>
            </a:r>
          </a:p>
          <a:p>
            <a:pPr lvl="1"/>
            <a:r>
              <a:rPr lang="fi-FI">
                <a:hlinkClick r:id="rId3"/>
              </a:rPr>
              <a:t>http://www.satisfice.com</a:t>
            </a:r>
            <a:r>
              <a:rPr lang="fi-FI"/>
              <a:t> (James Bach) tarjoaa pienen perl-skriptin kaikkien parien kriteerin perusteella optimointiin (all pairs tool)</a:t>
            </a:r>
            <a:endParaRPr lang="en-US"/>
          </a:p>
        </p:txBody>
      </p:sp>
    </p:spTree>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FA7DD6B-2580-46F4-88E9-D707A6B08F77}" type="slidenum">
              <a:rPr lang="en-US"/>
              <a:pPr/>
              <a:t>60</a:t>
            </a:fld>
            <a:endParaRPr lang="en-US"/>
          </a:p>
        </p:txBody>
      </p:sp>
      <p:sp>
        <p:nvSpPr>
          <p:cNvPr id="64514" name="Rectangle 2"/>
          <p:cNvSpPr>
            <a:spLocks noGrp="1" noChangeArrowheads="1"/>
          </p:cNvSpPr>
          <p:nvPr>
            <p:ph type="title"/>
          </p:nvPr>
        </p:nvSpPr>
        <p:spPr/>
        <p:txBody>
          <a:bodyPr/>
          <a:lstStyle/>
          <a:p>
            <a:r>
              <a:rPr lang="fi-FI"/>
              <a:t>Aineistointensiiviset järjestelmät</a:t>
            </a:r>
            <a:endParaRPr lang="en-US"/>
          </a:p>
        </p:txBody>
      </p:sp>
      <p:sp>
        <p:nvSpPr>
          <p:cNvPr id="64515" name="Rectangle 3"/>
          <p:cNvSpPr>
            <a:spLocks noGrp="1" noChangeArrowheads="1"/>
          </p:cNvSpPr>
          <p:nvPr>
            <p:ph type="body" idx="1"/>
          </p:nvPr>
        </p:nvSpPr>
        <p:spPr/>
        <p:txBody>
          <a:bodyPr/>
          <a:lstStyle/>
          <a:p>
            <a:r>
              <a:rPr lang="fi-FI" sz="2800" dirty="0"/>
              <a:t>Testiaineiston käsittelyn haasteet kertaluokkaa isommat</a:t>
            </a:r>
          </a:p>
          <a:p>
            <a:r>
              <a:rPr lang="fi-FI" sz="2800" dirty="0"/>
              <a:t>Tyypillisesti tietokantaan pohjautuvia sovelluksia</a:t>
            </a:r>
          </a:p>
          <a:p>
            <a:r>
              <a:rPr lang="fi-FI" sz="2800" dirty="0"/>
              <a:t>Suuria tietomassoja ja tietomassojen ominaisuuksiin perustuvaa logiikkaa</a:t>
            </a:r>
            <a:endParaRPr lang="en-US" sz="2800" dirty="0"/>
          </a:p>
        </p:txBody>
      </p:sp>
      <p:sp>
        <p:nvSpPr>
          <p:cNvPr id="64516" name="Text Box 4"/>
          <p:cNvSpPr txBox="1">
            <a:spLocks noChangeArrowheads="1"/>
          </p:cNvSpPr>
          <p:nvPr/>
        </p:nvSpPr>
        <p:spPr bwMode="auto">
          <a:xfrm>
            <a:off x="2627316" y="4868863"/>
            <a:ext cx="5545137" cy="133882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p>
            <a:pPr algn="ctr">
              <a:spcBef>
                <a:spcPct val="50000"/>
              </a:spcBef>
            </a:pPr>
            <a:r>
              <a:rPr lang="fi-FI" dirty="0"/>
              <a:t>Vrt. toimintointensiiviset järjestelmät: sovellukset joissa toiminnallisuus ei keskeisessä määrin ole sidottu aineiston erityispiirteisiin. </a:t>
            </a:r>
          </a:p>
          <a:p>
            <a:pPr algn="ctr">
              <a:spcBef>
                <a:spcPct val="50000"/>
              </a:spcBef>
            </a:pPr>
            <a:r>
              <a:rPr lang="fi-FI" dirty="0"/>
              <a:t>Erilaiset testitapausten suunnittelun tarpeet!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D7E15F57-C1D1-41AA-A019-26DE221526B9}" type="slidenum">
              <a:rPr lang="en-US"/>
              <a:pPr/>
              <a:t>61</a:t>
            </a:fld>
            <a:endParaRPr lang="en-US"/>
          </a:p>
        </p:txBody>
      </p:sp>
      <p:sp>
        <p:nvSpPr>
          <p:cNvPr id="36866" name="Rectangle 2"/>
          <p:cNvSpPr>
            <a:spLocks noGrp="1" noChangeArrowheads="1"/>
          </p:cNvSpPr>
          <p:nvPr>
            <p:ph type="title"/>
          </p:nvPr>
        </p:nvSpPr>
        <p:spPr/>
        <p:txBody>
          <a:bodyPr/>
          <a:lstStyle/>
          <a:p>
            <a:r>
              <a:rPr lang="fi-FI"/>
              <a:t>Testiaineiston ominaisuuksista</a:t>
            </a:r>
          </a:p>
        </p:txBody>
      </p:sp>
      <p:graphicFrame>
        <p:nvGraphicFramePr>
          <p:cNvPr id="36867" name="Object 3"/>
          <p:cNvGraphicFramePr>
            <a:graphicFrameLocks noGrp="1" noChangeAspect="1"/>
          </p:cNvGraphicFramePr>
          <p:nvPr>
            <p:ph type="tbl" idx="1"/>
          </p:nvPr>
        </p:nvGraphicFramePr>
        <p:xfrm>
          <a:off x="830264" y="1838326"/>
          <a:ext cx="7081837" cy="4910138"/>
        </p:xfrm>
        <a:graphic>
          <a:graphicData uri="http://schemas.openxmlformats.org/presentationml/2006/ole">
            <mc:AlternateContent xmlns:mc="http://schemas.openxmlformats.org/markup-compatibility/2006">
              <mc:Choice xmlns:v="urn:schemas-microsoft-com:vml" Requires="v">
                <p:oleObj spid="_x0000_s5135" name="Document" r:id="rId4" imgW="7123742" imgH="4938202" progId="Word.Document.8">
                  <p:embed/>
                </p:oleObj>
              </mc:Choice>
              <mc:Fallback>
                <p:oleObj name="Document" r:id="rId4" imgW="7123742" imgH="4938202" progId="Word.Document.8">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264" y="1838326"/>
                        <a:ext cx="7081837" cy="4910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8" name="Text Box 4"/>
          <p:cNvSpPr txBox="1">
            <a:spLocks noChangeArrowheads="1"/>
          </p:cNvSpPr>
          <p:nvPr/>
        </p:nvSpPr>
        <p:spPr bwMode="auto">
          <a:xfrm>
            <a:off x="5908675" y="6538915"/>
            <a:ext cx="3200400" cy="276999"/>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pitchFamily="34" charset="0"/>
              </a:rPr>
              <a:t>Mukautettu [Craig &amp; Jaskiel 2003]</a:t>
            </a:r>
            <a:endParaRPr lang="en-GB" sz="1200">
              <a:latin typeface="Arial" pitchFamily="34" charset="0"/>
            </a:endParaRPr>
          </a:p>
        </p:txBody>
      </p:sp>
      <p:sp>
        <p:nvSpPr>
          <p:cNvPr id="36869" name="Text Box 5"/>
          <p:cNvSpPr txBox="1">
            <a:spLocks noChangeArrowheads="1"/>
          </p:cNvSpPr>
          <p:nvPr/>
        </p:nvSpPr>
        <p:spPr bwMode="auto">
          <a:xfrm>
            <a:off x="2339976" y="6021388"/>
            <a:ext cx="4032251" cy="646331"/>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p>
            <a:pPr algn="ctr">
              <a:spcBef>
                <a:spcPct val="50000"/>
              </a:spcBef>
            </a:pPr>
            <a:r>
              <a:rPr lang="fi-FI" dirty="0"/>
              <a:t>Tuotantoaineisto ei välttämättä olekaan aina paras testaukseen</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fld id="{0924F1DE-7B62-4AD0-A267-A71263834F3E}" type="slidenum">
              <a:rPr lang="en-US"/>
              <a:pPr/>
              <a:t>62</a:t>
            </a:fld>
            <a:endParaRPr lang="en-US"/>
          </a:p>
        </p:txBody>
      </p:sp>
      <p:sp>
        <p:nvSpPr>
          <p:cNvPr id="38914" name="Rectangle 2"/>
          <p:cNvSpPr>
            <a:spLocks noGrp="1" noChangeArrowheads="1"/>
          </p:cNvSpPr>
          <p:nvPr>
            <p:ph type="title"/>
          </p:nvPr>
        </p:nvSpPr>
        <p:spPr/>
        <p:txBody>
          <a:bodyPr>
            <a:normAutofit fontScale="90000"/>
          </a:bodyPr>
          <a:lstStyle/>
          <a:p>
            <a:r>
              <a:rPr lang="fi-FI"/>
              <a:t>Aineiston suunnittelun haasteen muutos</a:t>
            </a:r>
          </a:p>
        </p:txBody>
      </p:sp>
      <p:graphicFrame>
        <p:nvGraphicFramePr>
          <p:cNvPr id="38915" name="Object 3"/>
          <p:cNvGraphicFramePr>
            <a:graphicFrameLocks noChangeAspect="1"/>
          </p:cNvGraphicFramePr>
          <p:nvPr/>
        </p:nvGraphicFramePr>
        <p:xfrm>
          <a:off x="490540" y="2286000"/>
          <a:ext cx="1920875" cy="2514600"/>
        </p:xfrm>
        <a:graphic>
          <a:graphicData uri="http://schemas.openxmlformats.org/presentationml/2006/ole">
            <mc:AlternateContent xmlns:mc="http://schemas.openxmlformats.org/markup-compatibility/2006">
              <mc:Choice xmlns:v="urn:schemas-microsoft-com:vml" Requires="v">
                <p:oleObj spid="_x0000_s6192" name="Visio" r:id="rId4" imgW="2443320" imgH="3199320" progId="">
                  <p:embed/>
                </p:oleObj>
              </mc:Choice>
              <mc:Fallback>
                <p:oleObj name="Visio" r:id="rId4" imgW="2443320" imgH="319932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540" y="2286000"/>
                        <a:ext cx="192087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5632451" y="2306638"/>
          <a:ext cx="2971800" cy="2493962"/>
        </p:xfrm>
        <a:graphic>
          <a:graphicData uri="http://schemas.openxmlformats.org/presentationml/2006/ole">
            <mc:AlternateContent xmlns:mc="http://schemas.openxmlformats.org/markup-compatibility/2006">
              <mc:Choice xmlns:v="urn:schemas-microsoft-com:vml" Requires="v">
                <p:oleObj spid="_x0000_s6193" name="Visio" r:id="rId6" imgW="3811320" imgH="3199320" progId="">
                  <p:embed/>
                </p:oleObj>
              </mc:Choice>
              <mc:Fallback>
                <p:oleObj name="Visio" r:id="rId6" imgW="3811320" imgH="3199320" progId="">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2451" y="2306638"/>
                        <a:ext cx="2971800" cy="249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2590800" y="2293938"/>
          <a:ext cx="2971800" cy="2506662"/>
        </p:xfrm>
        <a:graphic>
          <a:graphicData uri="http://schemas.openxmlformats.org/presentationml/2006/ole">
            <mc:AlternateContent xmlns:mc="http://schemas.openxmlformats.org/markup-compatibility/2006">
              <mc:Choice xmlns:v="urn:schemas-microsoft-com:vml" Requires="v">
                <p:oleObj spid="_x0000_s6194" name="Visio" r:id="rId8" imgW="3793320" imgH="3199320" progId="">
                  <p:embed/>
                </p:oleObj>
              </mc:Choice>
              <mc:Fallback>
                <p:oleObj name="Visio" r:id="rId8" imgW="3793320" imgH="3199320" progId="">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0800" y="2293938"/>
                        <a:ext cx="2971800" cy="250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8918" name="Object 6"/>
          <p:cNvGraphicFramePr>
            <a:graphicFrameLocks noChangeAspect="1"/>
          </p:cNvGraphicFramePr>
          <p:nvPr/>
        </p:nvGraphicFramePr>
        <p:xfrm>
          <a:off x="7596191" y="5013325"/>
          <a:ext cx="917575" cy="1295400"/>
        </p:xfrm>
        <a:graphic>
          <a:graphicData uri="http://schemas.openxmlformats.org/presentationml/2006/ole">
            <mc:AlternateContent xmlns:mc="http://schemas.openxmlformats.org/markup-compatibility/2006">
              <mc:Choice xmlns:v="urn:schemas-microsoft-com:vml" Requires="v">
                <p:oleObj spid="_x0000_s6195" name="Visio" r:id="rId10" imgW="1075320" imgH="1516320" progId="">
                  <p:embed/>
                </p:oleObj>
              </mc:Choice>
              <mc:Fallback>
                <p:oleObj name="Visio" r:id="rId10" imgW="1075320" imgH="1516320" progId="">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96191" y="5013325"/>
                        <a:ext cx="91757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8919" name="Text Box 7"/>
          <p:cNvSpPr txBox="1">
            <a:spLocks noChangeArrowheads="1"/>
          </p:cNvSpPr>
          <p:nvPr/>
        </p:nvSpPr>
        <p:spPr bwMode="auto">
          <a:xfrm>
            <a:off x="2627313" y="5300665"/>
            <a:ext cx="2881312" cy="646331"/>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square">
            <a:spAutoFit/>
          </a:bodyPr>
          <a:lstStyle/>
          <a:p>
            <a:pPr algn="ctr">
              <a:spcBef>
                <a:spcPct val="50000"/>
              </a:spcBef>
            </a:pPr>
            <a:r>
              <a:rPr lang="fi-FI" dirty="0"/>
              <a:t>Aineistot ja tilat yhdistyvät testien suorituksessa. </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Ryhmä 7"/>
          <p:cNvGrpSpPr/>
          <p:nvPr/>
        </p:nvGrpSpPr>
        <p:grpSpPr>
          <a:xfrm>
            <a:off x="1043608" y="552028"/>
            <a:ext cx="7067128" cy="1580828"/>
            <a:chOff x="0" y="2402073"/>
            <a:chExt cx="7067128" cy="281336"/>
          </a:xfrm>
        </p:grpSpPr>
        <p:sp>
          <p:nvSpPr>
            <p:cNvPr id="11" name="Pyöristetty suorakulmio 10"/>
            <p:cNvSpPr/>
            <p:nvPr/>
          </p:nvSpPr>
          <p:spPr>
            <a:xfrm>
              <a:off x="0" y="2402073"/>
              <a:ext cx="7067128" cy="281336"/>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2" name="Pyöristetty suorakulmio 4"/>
            <p:cNvSpPr/>
            <p:nvPr/>
          </p:nvSpPr>
          <p:spPr>
            <a:xfrm>
              <a:off x="13734" y="2415807"/>
              <a:ext cx="7039660" cy="25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Arvo-alueisiin perustuva testisuunnittelu</a:t>
              </a:r>
              <a:endParaRPr lang="en-US"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63</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66111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64</a:t>
            </a:fld>
            <a:endParaRPr lang="en-US"/>
          </a:p>
        </p:txBody>
      </p:sp>
      <p:sp>
        <p:nvSpPr>
          <p:cNvPr id="5" name="Nuoli oikealle 4"/>
          <p:cNvSpPr/>
          <p:nvPr/>
        </p:nvSpPr>
        <p:spPr>
          <a:xfrm>
            <a:off x="929296" y="5176616"/>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01C3587-45F2-4197-8EBB-BEA3D2F7847A}" type="slidenum">
              <a:rPr lang="en-US"/>
              <a:pPr/>
              <a:t>65</a:t>
            </a:fld>
            <a:endParaRPr lang="en-US"/>
          </a:p>
        </p:txBody>
      </p:sp>
      <p:sp>
        <p:nvSpPr>
          <p:cNvPr id="78850" name="Rectangle 2"/>
          <p:cNvSpPr>
            <a:spLocks noGrp="1" noChangeArrowheads="1"/>
          </p:cNvSpPr>
          <p:nvPr>
            <p:ph type="title"/>
          </p:nvPr>
        </p:nvSpPr>
        <p:spPr/>
        <p:txBody>
          <a:bodyPr>
            <a:normAutofit fontScale="90000"/>
          </a:bodyPr>
          <a:lstStyle/>
          <a:p>
            <a:pPr defTabSz="762000"/>
            <a:r>
              <a:rPr lang="en-GB"/>
              <a:t>Vaatimukset testauksen näkökulmasta</a:t>
            </a:r>
          </a:p>
        </p:txBody>
      </p:sp>
      <p:sp>
        <p:nvSpPr>
          <p:cNvPr id="78852" name="Rectangle 4"/>
          <p:cNvSpPr>
            <a:spLocks noChangeArrowheads="1"/>
          </p:cNvSpPr>
          <p:nvPr/>
        </p:nvSpPr>
        <p:spPr bwMode="auto">
          <a:xfrm>
            <a:off x="899592" y="1484784"/>
            <a:ext cx="7371928" cy="44839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90000" tIns="46800" rIns="90000" bIns="46800" anchor="ctr"/>
          <a:lstStyle/>
          <a:p>
            <a:pPr algn="ctr">
              <a:lnSpc>
                <a:spcPct val="120000"/>
              </a:lnSpc>
              <a:spcBef>
                <a:spcPct val="20000"/>
              </a:spcBef>
              <a:spcAft>
                <a:spcPct val="20000"/>
              </a:spcAft>
              <a:buFont typeface="Times" pitchFamily="18" charset="0"/>
              <a:buNone/>
            </a:pPr>
            <a:endParaRPr lang="fi-FI" sz="2800" dirty="0" smtClean="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a:solidFill>
                  <a:schemeClr val="tx1"/>
                </a:solidFill>
                <a:effectLst>
                  <a:outerShdw blurRad="38100" dist="38100" dir="2700000" algn="tl">
                    <a:srgbClr val="000000">
                      <a:alpha val="43137"/>
                    </a:srgbClr>
                  </a:outerShdw>
                </a:effectLst>
                <a:cs typeface="Arial" pitchFamily="34" charset="0"/>
              </a:rPr>
              <a:t>Jos odotat saavasi vaatimukset paperinippuna joka on leimattu  yleispätevän totuuden leimalla, etsi toinen työ” </a:t>
            </a:r>
            <a:r>
              <a:rPr lang="fi-FI" sz="2800" dirty="0" smtClean="0">
                <a:solidFill>
                  <a:schemeClr val="tx1"/>
                </a:solidFill>
                <a:effectLst>
                  <a:outerShdw blurRad="38100" dist="38100" dir="2700000" algn="tl">
                    <a:srgbClr val="000000">
                      <a:alpha val="43137"/>
                    </a:srgbClr>
                  </a:outerShdw>
                </a:effectLst>
                <a:cs typeface="Arial" pitchFamily="34" charset="0"/>
              </a:rPr>
              <a:t>  – </a:t>
            </a:r>
            <a:r>
              <a:rPr lang="fi-FI" sz="2800" dirty="0" err="1">
                <a:solidFill>
                  <a:schemeClr val="tx1"/>
                </a:solidFill>
                <a:effectLst>
                  <a:outerShdw blurRad="38100" dist="38100" dir="2700000" algn="tl">
                    <a:srgbClr val="000000">
                      <a:alpha val="43137"/>
                    </a:srgbClr>
                  </a:outerShdw>
                </a:effectLst>
                <a:cs typeface="Arial" pitchFamily="34" charset="0"/>
              </a:rPr>
              <a:t>Kaner</a:t>
            </a:r>
            <a:r>
              <a:rPr lang="fi-FI" sz="2800" dirty="0">
                <a:solidFill>
                  <a:schemeClr val="tx1"/>
                </a:solidFill>
                <a:effectLst>
                  <a:outerShdw blurRad="38100" dist="38100" dir="2700000" algn="tl">
                    <a:srgbClr val="000000">
                      <a:alpha val="43137"/>
                    </a:srgbClr>
                  </a:outerShdw>
                </a:effectLst>
                <a:cs typeface="Arial" pitchFamily="34" charset="0"/>
              </a:rPr>
              <a:t> et </a:t>
            </a:r>
            <a:r>
              <a:rPr lang="fi-FI" sz="2800" dirty="0" err="1" smtClean="0">
                <a:solidFill>
                  <a:schemeClr val="tx1"/>
                </a:solidFill>
                <a:effectLst>
                  <a:outerShdw blurRad="38100" dist="38100" dir="2700000" algn="tl">
                    <a:srgbClr val="000000">
                      <a:alpha val="43137"/>
                    </a:srgbClr>
                  </a:outerShdw>
                </a:effectLst>
                <a:cs typeface="Arial" pitchFamily="34" charset="0"/>
              </a:rPr>
              <a:t>al</a:t>
            </a:r>
            <a:r>
              <a:rPr lang="fi-FI" sz="2800" dirty="0">
                <a:solidFill>
                  <a:schemeClr val="tx1"/>
                </a:solidFill>
                <a:effectLst>
                  <a:outerShdw blurRad="38100" dist="38100" dir="2700000" algn="tl">
                    <a:srgbClr val="000000">
                      <a:alpha val="43137"/>
                    </a:srgbClr>
                  </a:outerShdw>
                </a:effectLst>
                <a:cs typeface="Arial" pitchFamily="34" charset="0"/>
              </a:rPr>
              <a:t>:</a:t>
            </a:r>
            <a:r>
              <a:rPr lang="fi-FI" sz="2800" dirty="0" smtClean="0">
                <a:solidFill>
                  <a:schemeClr val="tx1"/>
                </a:solidFill>
                <a:effectLst>
                  <a:outerShdw blurRad="38100" dist="38100" dir="2700000" algn="tl">
                    <a:srgbClr val="000000">
                      <a:alpha val="43137"/>
                    </a:srgbClr>
                  </a:outerShdw>
                </a:effectLst>
                <a:cs typeface="Arial" pitchFamily="34" charset="0"/>
              </a:rPr>
              <a:t> </a:t>
            </a:r>
            <a:br>
              <a:rPr lang="fi-FI" sz="2800" dirty="0" smtClean="0">
                <a:solidFill>
                  <a:schemeClr val="tx1"/>
                </a:solidFill>
                <a:effectLst>
                  <a:outerShdw blurRad="38100" dist="38100" dir="2700000" algn="tl">
                    <a:srgbClr val="000000">
                      <a:alpha val="43137"/>
                    </a:srgbClr>
                  </a:outerShdw>
                </a:effectLst>
                <a:cs typeface="Arial" pitchFamily="34" charset="0"/>
              </a:rPr>
            </a:b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err="1" smtClean="0">
                <a:solidFill>
                  <a:schemeClr val="tx1"/>
                </a:solidFill>
                <a:effectLst>
                  <a:outerShdw blurRad="38100" dist="38100" dir="2700000" algn="tl">
                    <a:srgbClr val="000000">
                      <a:alpha val="43137"/>
                    </a:srgbClr>
                  </a:outerShdw>
                </a:effectLst>
                <a:cs typeface="Arial" pitchFamily="34" charset="0"/>
              </a:rPr>
              <a:t>Lessons</a:t>
            </a:r>
            <a:r>
              <a:rPr lang="fi-FI" sz="2800" dirty="0" smtClean="0">
                <a:solidFill>
                  <a:schemeClr val="tx1"/>
                </a:solidFill>
                <a:effectLst>
                  <a:outerShdw blurRad="38100" dist="38100" dir="2700000" algn="tl">
                    <a:srgbClr val="000000">
                      <a:alpha val="43137"/>
                    </a:srgbClr>
                  </a:outerShdw>
                </a:effectLst>
                <a:cs typeface="Arial" pitchFamily="34" charset="0"/>
              </a:rPr>
              <a:t> </a:t>
            </a:r>
            <a:r>
              <a:rPr lang="fi-FI" sz="2800" dirty="0" err="1">
                <a:solidFill>
                  <a:schemeClr val="tx1"/>
                </a:solidFill>
                <a:effectLst>
                  <a:outerShdw blurRad="38100" dist="38100" dir="2700000" algn="tl">
                    <a:srgbClr val="000000">
                      <a:alpha val="43137"/>
                    </a:srgbClr>
                  </a:outerShdw>
                </a:effectLst>
                <a:cs typeface="Arial" pitchFamily="34" charset="0"/>
              </a:rPr>
              <a:t>Learned</a:t>
            </a:r>
            <a:r>
              <a:rPr lang="fi-FI" sz="2800" dirty="0">
                <a:solidFill>
                  <a:schemeClr val="tx1"/>
                </a:solidFill>
                <a:effectLst>
                  <a:outerShdw blurRad="38100" dist="38100" dir="2700000" algn="tl">
                    <a:srgbClr val="000000">
                      <a:alpha val="43137"/>
                    </a:srgbClr>
                  </a:outerShdw>
                </a:effectLst>
                <a:cs typeface="Arial" pitchFamily="34" charset="0"/>
              </a:rPr>
              <a:t> in Software </a:t>
            </a:r>
            <a:r>
              <a:rPr lang="fi-FI" sz="2800" dirty="0" err="1" smtClean="0">
                <a:solidFill>
                  <a:schemeClr val="tx1"/>
                </a:solidFill>
                <a:effectLst>
                  <a:outerShdw blurRad="38100" dist="38100" dir="2700000" algn="tl">
                    <a:srgbClr val="000000">
                      <a:alpha val="43137"/>
                    </a:srgbClr>
                  </a:outerShdw>
                </a:effectLst>
                <a:cs typeface="Arial" pitchFamily="34" charset="0"/>
              </a:rPr>
              <a:t>Testing</a:t>
            </a:r>
            <a:r>
              <a:rPr lang="fi-FI" sz="2800" dirty="0" smtClean="0">
                <a:solidFill>
                  <a:schemeClr val="tx1"/>
                </a:solidFill>
                <a:effectLst>
                  <a:outerShdw blurRad="38100" dist="38100" dir="2700000" algn="tl">
                    <a:srgbClr val="000000">
                      <a:alpha val="43137"/>
                    </a:srgbClr>
                  </a:outerShdw>
                </a:effectLst>
                <a:cs typeface="Arial" pitchFamily="34" charset="0"/>
              </a:rPr>
              <a:t>”</a:t>
            </a:r>
            <a:endParaRPr lang="fi-FI" sz="2800" dirty="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Parhaissakin</a:t>
            </a:r>
            <a:r>
              <a:rPr lang="en-GB" sz="2400" dirty="0" smtClean="0">
                <a:solidFill>
                  <a:schemeClr val="accent2"/>
                </a:solidFill>
                <a:cs typeface="Arial" pitchFamily="34" charset="0"/>
              </a:rPr>
              <a:t> </a:t>
            </a:r>
            <a:r>
              <a:rPr lang="en-GB" sz="2400" dirty="0" err="1">
                <a:solidFill>
                  <a:schemeClr val="accent2"/>
                </a:solidFill>
                <a:cs typeface="Arial" pitchFamily="34" charset="0"/>
              </a:rPr>
              <a:t>tapauksissa</a:t>
            </a:r>
            <a:r>
              <a:rPr lang="en-GB" sz="2400" dirty="0">
                <a:solidFill>
                  <a:schemeClr val="accent2"/>
                </a:solidFill>
                <a:cs typeface="Arial" pitchFamily="34" charset="0"/>
              </a:rPr>
              <a:t> </a:t>
            </a:r>
            <a:r>
              <a:rPr lang="en-GB" sz="2400" dirty="0" err="1">
                <a:solidFill>
                  <a:schemeClr val="accent2"/>
                </a:solidFill>
                <a:cs typeface="Arial" pitchFamily="34" charset="0"/>
              </a:rPr>
              <a:t>dokumentaatio</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smtClean="0">
                <a:solidFill>
                  <a:schemeClr val="accent2"/>
                </a:solidFill>
                <a:cs typeface="Arial" pitchFamily="34" charset="0"/>
              </a:rPr>
              <a:t>on </a:t>
            </a:r>
            <a:r>
              <a:rPr lang="en-GB" sz="2400" dirty="0" err="1">
                <a:solidFill>
                  <a:schemeClr val="accent2"/>
                </a:solidFill>
                <a:cs typeface="Arial" pitchFamily="34" charset="0"/>
              </a:rPr>
              <a:t>epätäydellistä</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moniselitteistä</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mutta</a:t>
            </a:r>
            <a:r>
              <a:rPr lang="en-GB" sz="2400" dirty="0" smtClean="0">
                <a:solidFill>
                  <a:schemeClr val="accent2"/>
                </a:solidFill>
                <a:cs typeface="Arial" pitchFamily="34" charset="0"/>
              </a:rPr>
              <a:t> </a:t>
            </a:r>
            <a:r>
              <a:rPr lang="en-GB" sz="2400" dirty="0" err="1">
                <a:solidFill>
                  <a:schemeClr val="accent2"/>
                </a:solidFill>
                <a:cs typeface="Arial" pitchFamily="34" charset="0"/>
              </a:rPr>
              <a:t>silti</a:t>
            </a:r>
            <a:r>
              <a:rPr lang="en-GB" sz="2400" dirty="0">
                <a:solidFill>
                  <a:schemeClr val="accent2"/>
                </a:solidFill>
                <a:cs typeface="Arial" pitchFamily="34" charset="0"/>
              </a:rPr>
              <a:t> </a:t>
            </a:r>
            <a:r>
              <a:rPr lang="en-GB" sz="2400" dirty="0" err="1">
                <a:solidFill>
                  <a:schemeClr val="accent2"/>
                </a:solidFill>
                <a:cs typeface="Arial" pitchFamily="34" charset="0"/>
              </a:rPr>
              <a:t>valaisevaa</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avuksi</a:t>
            </a:r>
            <a:r>
              <a:rPr lang="en-GB" sz="2400" dirty="0">
                <a:solidFill>
                  <a:schemeClr val="accent2"/>
                </a:solidFill>
                <a:cs typeface="Arial" pitchFamily="34" charset="0"/>
              </a:rPr>
              <a:t>.</a:t>
            </a:r>
          </a:p>
          <a:p>
            <a:pPr algn="ctr">
              <a:lnSpc>
                <a:spcPct val="120000"/>
              </a:lnSpc>
              <a:spcBef>
                <a:spcPct val="20000"/>
              </a:spcBef>
              <a:spcAft>
                <a:spcPct val="20000"/>
              </a:spcAft>
              <a:buFont typeface="Times" pitchFamily="18" charset="0"/>
              <a:buNone/>
            </a:pPr>
            <a:endParaRPr lang="en-GB" sz="2000" dirty="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Määrittelyjen lukeminen ”testaajana”, testi-ideat</a:t>
            </a:r>
            <a:endParaRPr lang="fi-FI" dirty="0"/>
          </a:p>
        </p:txBody>
      </p:sp>
      <p:sp>
        <p:nvSpPr>
          <p:cNvPr id="7" name="Content Placeholder 6"/>
          <p:cNvSpPr>
            <a:spLocks noGrp="1"/>
          </p:cNvSpPr>
          <p:nvPr>
            <p:ph idx="1"/>
          </p:nvPr>
        </p:nvSpPr>
        <p:spPr/>
        <p:txBody>
          <a:bodyPr>
            <a:normAutofit/>
          </a:bodyPr>
          <a:lstStyle/>
          <a:p>
            <a:r>
              <a:rPr lang="fi-FI" sz="2800" dirty="0" smtClean="0"/>
              <a:t>Kuvattu toiminnallisuus kuten kirjattu</a:t>
            </a:r>
          </a:p>
          <a:p>
            <a:r>
              <a:rPr lang="fi-FI" sz="2800" dirty="0" smtClean="0"/>
              <a:t>Kuvattu toiminnallisuus erilaisilla aineistoilla ja syötteillä, eri käyttöoikeuksilla ja eri ympäristöissä</a:t>
            </a:r>
          </a:p>
          <a:p>
            <a:r>
              <a:rPr lang="fi-FI" sz="2800" dirty="0" smtClean="0"/>
              <a:t>Kuvattujen toiminnallisuuksien käyttö kun syötteet ja aineistot eivät olekaan ihan täydellisiä</a:t>
            </a:r>
          </a:p>
          <a:p>
            <a:r>
              <a:rPr lang="fi-FI" sz="2800" dirty="0" smtClean="0"/>
              <a:t>Kuvattujen toiminnallisuuksien käyttö ketjuissa todellisiin tilanteisiin</a:t>
            </a:r>
          </a:p>
          <a:p>
            <a:r>
              <a:rPr lang="fi-FI" sz="2800" dirty="0" smtClean="0"/>
              <a:t>Testiheuristiikat, esim. CRUD (Create – Luo; Read – Lue; Update – Päivitä; Delete – Poista) </a:t>
            </a:r>
            <a:endParaRPr lang="fi-FI" sz="28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66</a:t>
            </a:fld>
            <a:endParaRPr lang="fi-FI"/>
          </a:p>
        </p:txBody>
      </p:sp>
    </p:spTree>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fi-FI" dirty="0" smtClean="0"/>
              <a:t>Testausta tukevat testitapaukset</a:t>
            </a:r>
            <a:endParaRPr lang="fi-FI" dirty="0"/>
          </a:p>
        </p:txBody>
      </p:sp>
      <p:sp>
        <p:nvSpPr>
          <p:cNvPr id="7" name="Content Placeholder 6"/>
          <p:cNvSpPr>
            <a:spLocks noGrp="1"/>
          </p:cNvSpPr>
          <p:nvPr>
            <p:ph idx="1"/>
          </p:nvPr>
        </p:nvSpPr>
        <p:spPr/>
        <p:txBody>
          <a:bodyPr>
            <a:normAutofit fontScale="77500" lnSpcReduction="20000"/>
          </a:bodyPr>
          <a:lstStyle/>
          <a:p>
            <a:r>
              <a:rPr lang="fi-FI" dirty="0" smtClean="0"/>
              <a:t>Eri tilanteissa erilaisia lähtökohtia</a:t>
            </a:r>
          </a:p>
          <a:p>
            <a:pPr lvl="1"/>
            <a:r>
              <a:rPr lang="fi-FI" dirty="0" smtClean="0"/>
              <a:t>Monitoimittajaympäristö – toimittajakohtaisuus saattaa korostua</a:t>
            </a:r>
          </a:p>
          <a:p>
            <a:pPr lvl="1"/>
            <a:r>
              <a:rPr lang="fi-FI" dirty="0" smtClean="0"/>
              <a:t>Pitkät ketjut – jos peruslaatu on kunnossa</a:t>
            </a:r>
          </a:p>
          <a:p>
            <a:pPr lvl="1"/>
            <a:r>
              <a:rPr lang="fi-FI" dirty="0" smtClean="0"/>
              <a:t>Yksityiskohtien tarkistukset vaatimuksista – jos peruslaatuun liittyy huolenaiheita</a:t>
            </a:r>
          </a:p>
          <a:p>
            <a:r>
              <a:rPr lang="fi-FI" dirty="0" smtClean="0"/>
              <a:t>Keskeinen kysymys on ”millainen tarkistuslista auttaa meitä muistamaan mitä kaikkea piti katsoa osana testausta”</a:t>
            </a:r>
          </a:p>
          <a:p>
            <a:r>
              <a:rPr lang="fi-FI" dirty="0" smtClean="0"/>
              <a:t>Suosikkimuotoni: </a:t>
            </a:r>
          </a:p>
          <a:p>
            <a:pPr lvl="1"/>
            <a:r>
              <a:rPr lang="fi-FI" dirty="0" smtClean="0"/>
              <a:t>Aineistointensiiviset järjestelmät: aineistosta lähtevä toimintoketju </a:t>
            </a:r>
          </a:p>
          <a:p>
            <a:pPr lvl="1"/>
            <a:r>
              <a:rPr lang="fi-FI" dirty="0" smtClean="0"/>
              <a:t>Toimintointensiiviset järjestelmät: aloituspaikoista lähtevä toimintoketju</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67</a:t>
            </a:fld>
            <a:endParaRPr lang="fi-FI"/>
          </a:p>
        </p:txBody>
      </p:sp>
    </p:spTree>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4"/>
          <p:cNvSpPr>
            <a:spLocks noGrp="1"/>
          </p:cNvSpPr>
          <p:nvPr>
            <p:ph type="sldNum" sz="quarter" idx="12"/>
          </p:nvPr>
        </p:nvSpPr>
        <p:spPr/>
        <p:txBody>
          <a:bodyPr/>
          <a:lstStyle/>
          <a:p>
            <a:fld id="{02424D07-F0F5-4494-BE4A-B14BC4EF4EA6}" type="slidenum">
              <a:rPr lang="en-US"/>
              <a:pPr/>
              <a:t>68</a:t>
            </a:fld>
            <a:endParaRPr lang="en-US"/>
          </a:p>
        </p:txBody>
      </p:sp>
      <p:sp>
        <p:nvSpPr>
          <p:cNvPr id="79874" name="Rectangle 2"/>
          <p:cNvSpPr>
            <a:spLocks noChangeArrowheads="1"/>
          </p:cNvSpPr>
          <p:nvPr/>
        </p:nvSpPr>
        <p:spPr bwMode="auto">
          <a:xfrm>
            <a:off x="2160588" y="1747838"/>
            <a:ext cx="4800600" cy="4343400"/>
          </a:xfrm>
          <a:prstGeom prst="rect">
            <a:avLst/>
          </a:prstGeom>
          <a:solidFill>
            <a:schemeClr val="bg1"/>
          </a:solidFill>
          <a:ln w="76200">
            <a:solidFill>
              <a:schemeClr val="folHlink"/>
            </a:solidFill>
            <a:miter lim="800000"/>
            <a:headEnd/>
            <a:tailEnd/>
          </a:ln>
          <a:effectLst/>
        </p:spPr>
        <p:txBody>
          <a:bodyPr wrap="none" anchor="ctr"/>
          <a:lstStyle/>
          <a:p>
            <a:endParaRPr lang="fi-FI"/>
          </a:p>
        </p:txBody>
      </p:sp>
      <p:sp>
        <p:nvSpPr>
          <p:cNvPr id="79875" name="Rectangle 3"/>
          <p:cNvSpPr>
            <a:spLocks noGrp="1" noChangeArrowheads="1"/>
          </p:cNvSpPr>
          <p:nvPr>
            <p:ph type="title"/>
          </p:nvPr>
        </p:nvSpPr>
        <p:spPr/>
        <p:txBody>
          <a:bodyPr>
            <a:normAutofit fontScale="90000"/>
          </a:bodyPr>
          <a:lstStyle/>
          <a:p>
            <a:pPr defTabSz="762000"/>
            <a:r>
              <a:rPr lang="fi-FI"/>
              <a:t>Vaatimukset vs. Testaus-näkökulma vaatimuksiin</a:t>
            </a:r>
          </a:p>
        </p:txBody>
      </p:sp>
      <p:sp>
        <p:nvSpPr>
          <p:cNvPr id="79876" name="Rectangle 4"/>
          <p:cNvSpPr>
            <a:spLocks noChangeArrowheads="1"/>
          </p:cNvSpPr>
          <p:nvPr/>
        </p:nvSpPr>
        <p:spPr bwMode="auto">
          <a:xfrm>
            <a:off x="2232025" y="3979863"/>
            <a:ext cx="2286000" cy="2057400"/>
          </a:xfrm>
          <a:prstGeom prst="rect">
            <a:avLst/>
          </a:prstGeom>
          <a:gradFill rotWithShape="0">
            <a:gsLst>
              <a:gs pos="0">
                <a:srgbClr val="FFFFFF"/>
              </a:gs>
              <a:gs pos="100000">
                <a:schemeClr val="accent1"/>
              </a:gs>
            </a:gsLst>
            <a:path path="shape">
              <a:fillToRect l="50000" t="50000" r="50000" b="50000"/>
            </a:path>
          </a:gradFill>
          <a:ln w="57150">
            <a:solidFill>
              <a:srgbClr val="FF0000"/>
            </a:solidFill>
            <a:miter lim="800000"/>
            <a:headEnd/>
            <a:tailEnd/>
          </a:ln>
          <a:effectLst/>
        </p:spPr>
        <p:txBody>
          <a:bodyPr wrap="none" anchor="ctr"/>
          <a:lstStyle/>
          <a:p>
            <a:endParaRPr lang="fi-FI"/>
          </a:p>
        </p:txBody>
      </p:sp>
      <p:sp>
        <p:nvSpPr>
          <p:cNvPr id="79877" name="Rectangle 5"/>
          <p:cNvSpPr>
            <a:spLocks noChangeArrowheads="1"/>
          </p:cNvSpPr>
          <p:nvPr/>
        </p:nvSpPr>
        <p:spPr bwMode="auto">
          <a:xfrm>
            <a:off x="2232025" y="1819275"/>
            <a:ext cx="2286000" cy="2057400"/>
          </a:xfrm>
          <a:prstGeom prst="rect">
            <a:avLst/>
          </a:prstGeom>
          <a:gradFill rotWithShape="0">
            <a:gsLst>
              <a:gs pos="0">
                <a:srgbClr val="FFFFFF"/>
              </a:gs>
              <a:gs pos="100000">
                <a:schemeClr val="accent1"/>
              </a:gs>
            </a:gsLst>
            <a:path path="shape">
              <a:fillToRect l="50000" t="50000" r="50000" b="50000"/>
            </a:path>
          </a:gradFill>
          <a:ln w="9525">
            <a:solidFill>
              <a:schemeClr val="tx1"/>
            </a:solidFill>
            <a:miter lim="800000"/>
            <a:headEnd/>
            <a:tailEnd/>
          </a:ln>
          <a:effectLst/>
        </p:spPr>
        <p:txBody>
          <a:bodyPr wrap="none" anchor="ctr"/>
          <a:lstStyle/>
          <a:p>
            <a:endParaRPr lang="fi-FI"/>
          </a:p>
        </p:txBody>
      </p:sp>
      <p:sp>
        <p:nvSpPr>
          <p:cNvPr id="79878" name="Rectangle 6"/>
          <p:cNvSpPr>
            <a:spLocks noChangeArrowheads="1"/>
          </p:cNvSpPr>
          <p:nvPr/>
        </p:nvSpPr>
        <p:spPr bwMode="auto">
          <a:xfrm>
            <a:off x="4608513" y="1819275"/>
            <a:ext cx="2286000" cy="2057400"/>
          </a:xfrm>
          <a:prstGeom prst="rect">
            <a:avLst/>
          </a:prstGeom>
          <a:gradFill rotWithShape="0">
            <a:gsLst>
              <a:gs pos="0">
                <a:srgbClr val="FFFFFF"/>
              </a:gs>
              <a:gs pos="100000">
                <a:schemeClr val="accent1"/>
              </a:gs>
            </a:gsLst>
            <a:path path="shape">
              <a:fillToRect l="50000" t="50000" r="50000" b="50000"/>
            </a:path>
          </a:gradFill>
          <a:ln w="9525">
            <a:solidFill>
              <a:schemeClr val="tx1"/>
            </a:solidFill>
            <a:miter lim="800000"/>
            <a:headEnd/>
            <a:tailEnd/>
          </a:ln>
          <a:effectLst/>
        </p:spPr>
        <p:txBody>
          <a:bodyPr wrap="none" anchor="ctr"/>
          <a:lstStyle/>
          <a:p>
            <a:endParaRPr lang="fi-FI"/>
          </a:p>
        </p:txBody>
      </p:sp>
      <p:sp>
        <p:nvSpPr>
          <p:cNvPr id="79879" name="Line 7"/>
          <p:cNvSpPr>
            <a:spLocks noChangeShapeType="1"/>
          </p:cNvSpPr>
          <p:nvPr/>
        </p:nvSpPr>
        <p:spPr bwMode="auto">
          <a:xfrm>
            <a:off x="2087563" y="6211888"/>
            <a:ext cx="5029200" cy="0"/>
          </a:xfrm>
          <a:prstGeom prst="line">
            <a:avLst/>
          </a:prstGeom>
          <a:noFill/>
          <a:ln w="9525">
            <a:solidFill>
              <a:schemeClr val="tx1"/>
            </a:solidFill>
            <a:round/>
            <a:headEnd/>
            <a:tailEnd type="triangle" w="med" len="med"/>
          </a:ln>
          <a:effectLst/>
        </p:spPr>
        <p:txBody>
          <a:bodyPr/>
          <a:lstStyle/>
          <a:p>
            <a:endParaRPr lang="fi-FI"/>
          </a:p>
        </p:txBody>
      </p:sp>
      <p:sp>
        <p:nvSpPr>
          <p:cNvPr id="79880" name="Line 8"/>
          <p:cNvSpPr>
            <a:spLocks noChangeShapeType="1"/>
          </p:cNvSpPr>
          <p:nvPr/>
        </p:nvSpPr>
        <p:spPr bwMode="auto">
          <a:xfrm flipV="1">
            <a:off x="2087563" y="1747839"/>
            <a:ext cx="0" cy="4464050"/>
          </a:xfrm>
          <a:prstGeom prst="line">
            <a:avLst/>
          </a:prstGeom>
          <a:noFill/>
          <a:ln w="9525">
            <a:solidFill>
              <a:schemeClr val="tx1"/>
            </a:solidFill>
            <a:round/>
            <a:headEnd/>
            <a:tailEnd type="triangle" w="med" len="med"/>
          </a:ln>
          <a:effectLst/>
        </p:spPr>
        <p:txBody>
          <a:bodyPr/>
          <a:lstStyle/>
          <a:p>
            <a:endParaRPr lang="fi-FI"/>
          </a:p>
        </p:txBody>
      </p:sp>
      <p:sp>
        <p:nvSpPr>
          <p:cNvPr id="79881" name="Text Box 9"/>
          <p:cNvSpPr txBox="1">
            <a:spLocks noChangeArrowheads="1"/>
          </p:cNvSpPr>
          <p:nvPr/>
        </p:nvSpPr>
        <p:spPr bwMode="auto">
          <a:xfrm>
            <a:off x="2592388" y="6211888"/>
            <a:ext cx="1600200" cy="400110"/>
          </a:xfrm>
          <a:prstGeom prst="rect">
            <a:avLst/>
          </a:prstGeom>
          <a:noFill/>
          <a:ln w="9525">
            <a:noFill/>
            <a:miter lim="800000"/>
            <a:headEnd/>
            <a:tailEnd/>
          </a:ln>
          <a:effectLst/>
        </p:spPr>
        <p:txBody>
          <a:bodyPr>
            <a:spAutoFit/>
          </a:bodyPr>
          <a:lstStyle/>
          <a:p>
            <a:pPr eaLnBrk="1" hangingPunct="1">
              <a:spcBef>
                <a:spcPct val="50000"/>
              </a:spcBef>
            </a:pPr>
            <a:r>
              <a:rPr lang="fi-FI" sz="2000" b="1">
                <a:cs typeface="Arial" pitchFamily="34" charset="0"/>
              </a:rPr>
              <a:t>Suora</a:t>
            </a:r>
            <a:endParaRPr lang="en-GB" sz="2000" b="1">
              <a:cs typeface="Arial" pitchFamily="34" charset="0"/>
            </a:endParaRPr>
          </a:p>
        </p:txBody>
      </p:sp>
      <p:sp>
        <p:nvSpPr>
          <p:cNvPr id="79882" name="Text Box 10"/>
          <p:cNvSpPr txBox="1">
            <a:spLocks noChangeArrowheads="1"/>
          </p:cNvSpPr>
          <p:nvPr/>
        </p:nvSpPr>
        <p:spPr bwMode="auto">
          <a:xfrm>
            <a:off x="5040313" y="6211888"/>
            <a:ext cx="1600200" cy="400110"/>
          </a:xfrm>
          <a:prstGeom prst="rect">
            <a:avLst/>
          </a:prstGeom>
          <a:noFill/>
          <a:ln w="9525">
            <a:noFill/>
            <a:miter lim="800000"/>
            <a:headEnd/>
            <a:tailEnd/>
          </a:ln>
          <a:effectLst/>
        </p:spPr>
        <p:txBody>
          <a:bodyPr>
            <a:spAutoFit/>
          </a:bodyPr>
          <a:lstStyle/>
          <a:p>
            <a:pPr eaLnBrk="1" hangingPunct="1">
              <a:spcBef>
                <a:spcPct val="50000"/>
              </a:spcBef>
            </a:pPr>
            <a:r>
              <a:rPr lang="fi-FI" sz="2000" b="1">
                <a:cs typeface="Arial" pitchFamily="34" charset="0"/>
              </a:rPr>
              <a:t>Epäsuora</a:t>
            </a:r>
            <a:endParaRPr lang="en-GB" sz="2000" b="1">
              <a:cs typeface="Arial" pitchFamily="34" charset="0"/>
            </a:endParaRPr>
          </a:p>
        </p:txBody>
      </p:sp>
      <p:sp>
        <p:nvSpPr>
          <p:cNvPr id="79883" name="Text Box 11"/>
          <p:cNvSpPr txBox="1">
            <a:spLocks noChangeArrowheads="1"/>
          </p:cNvSpPr>
          <p:nvPr/>
        </p:nvSpPr>
        <p:spPr bwMode="auto">
          <a:xfrm>
            <a:off x="-107951" y="4772025"/>
            <a:ext cx="2152651" cy="400110"/>
          </a:xfrm>
          <a:prstGeom prst="rect">
            <a:avLst/>
          </a:prstGeom>
          <a:noFill/>
          <a:ln w="9525">
            <a:noFill/>
            <a:miter lim="800000"/>
            <a:headEnd/>
            <a:tailEnd/>
          </a:ln>
          <a:effectLst/>
        </p:spPr>
        <p:txBody>
          <a:bodyPr>
            <a:spAutoFit/>
          </a:bodyPr>
          <a:lstStyle/>
          <a:p>
            <a:pPr algn="r" eaLnBrk="1" hangingPunct="1">
              <a:spcBef>
                <a:spcPct val="50000"/>
              </a:spcBef>
            </a:pPr>
            <a:r>
              <a:rPr lang="fi-FI" sz="2000" b="1" dirty="0" smtClean="0">
                <a:cs typeface="Arial" pitchFamily="34" charset="0"/>
              </a:rPr>
              <a:t>Dokumentoitu</a:t>
            </a:r>
            <a:endParaRPr lang="en-GB" sz="2000" b="1" dirty="0">
              <a:cs typeface="Arial" pitchFamily="34" charset="0"/>
            </a:endParaRPr>
          </a:p>
        </p:txBody>
      </p:sp>
      <p:sp>
        <p:nvSpPr>
          <p:cNvPr id="79884" name="Text Box 12"/>
          <p:cNvSpPr txBox="1">
            <a:spLocks noChangeArrowheads="1"/>
          </p:cNvSpPr>
          <p:nvPr/>
        </p:nvSpPr>
        <p:spPr bwMode="auto">
          <a:xfrm>
            <a:off x="-107951" y="2540000"/>
            <a:ext cx="2209800" cy="707886"/>
          </a:xfrm>
          <a:prstGeom prst="rect">
            <a:avLst/>
          </a:prstGeom>
          <a:noFill/>
          <a:ln w="9525">
            <a:noFill/>
            <a:miter lim="800000"/>
            <a:headEnd/>
            <a:tailEnd/>
          </a:ln>
          <a:effectLst/>
        </p:spPr>
        <p:txBody>
          <a:bodyPr>
            <a:spAutoFit/>
          </a:bodyPr>
          <a:lstStyle/>
          <a:p>
            <a:pPr algn="r" eaLnBrk="1" hangingPunct="1">
              <a:spcBef>
                <a:spcPct val="50000"/>
              </a:spcBef>
            </a:pPr>
            <a:r>
              <a:rPr lang="fi-FI" sz="2000" b="1" dirty="0" err="1">
                <a:cs typeface="Arial" pitchFamily="34" charset="0"/>
              </a:rPr>
              <a:t>Dokumen-toimaton</a:t>
            </a:r>
            <a:endParaRPr lang="en-GB" sz="2000" b="1" dirty="0">
              <a:cs typeface="Arial" pitchFamily="34" charset="0"/>
            </a:endParaRPr>
          </a:p>
        </p:txBody>
      </p:sp>
      <p:sp>
        <p:nvSpPr>
          <p:cNvPr id="79885" name="Text Box 13"/>
          <p:cNvSpPr txBox="1">
            <a:spLocks noChangeArrowheads="1"/>
          </p:cNvSpPr>
          <p:nvPr/>
        </p:nvSpPr>
        <p:spPr bwMode="auto">
          <a:xfrm>
            <a:off x="6978651" y="1747840"/>
            <a:ext cx="1981200" cy="2031325"/>
          </a:xfrm>
          <a:prstGeom prst="rect">
            <a:avLst/>
          </a:prstGeom>
          <a:noFill/>
          <a:ln w="9525">
            <a:noFill/>
            <a:miter lim="800000"/>
            <a:headEnd/>
            <a:tailEnd/>
          </a:ln>
          <a:effectLst/>
        </p:spPr>
        <p:txBody>
          <a:bodyPr>
            <a:spAutoFit/>
          </a:bodyPr>
          <a:lstStyle/>
          <a:p>
            <a:pPr algn="ctr" eaLnBrk="1" hangingPunct="1">
              <a:spcBef>
                <a:spcPct val="50000"/>
              </a:spcBef>
            </a:pPr>
            <a:r>
              <a:rPr lang="fi-FI" b="1">
                <a:solidFill>
                  <a:srgbClr val="FF0000"/>
                </a:solidFill>
                <a:cs typeface="Arial" pitchFamily="34" charset="0"/>
              </a:rPr>
              <a:t>Vaatimus-näkökulma keskittyy tarkkojen vaatimusten dokumentoin-tiin</a:t>
            </a:r>
            <a:endParaRPr lang="en-GB" b="1">
              <a:solidFill>
                <a:srgbClr val="FF0000"/>
              </a:solidFill>
              <a:cs typeface="Arial" pitchFamily="34" charset="0"/>
            </a:endParaRPr>
          </a:p>
        </p:txBody>
      </p:sp>
      <p:sp>
        <p:nvSpPr>
          <p:cNvPr id="79886" name="Text Box 14"/>
          <p:cNvSpPr txBox="1">
            <a:spLocks noChangeArrowheads="1"/>
          </p:cNvSpPr>
          <p:nvPr/>
        </p:nvSpPr>
        <p:spPr bwMode="auto">
          <a:xfrm>
            <a:off x="6902451" y="3957640"/>
            <a:ext cx="2057400" cy="2031325"/>
          </a:xfrm>
          <a:prstGeom prst="rect">
            <a:avLst/>
          </a:prstGeom>
          <a:noFill/>
          <a:ln w="9525">
            <a:noFill/>
            <a:miter lim="800000"/>
            <a:headEnd/>
            <a:tailEnd/>
          </a:ln>
          <a:effectLst/>
        </p:spPr>
        <p:txBody>
          <a:bodyPr>
            <a:spAutoFit/>
          </a:bodyPr>
          <a:lstStyle/>
          <a:p>
            <a:pPr algn="ctr" eaLnBrk="1" hangingPunct="1"/>
            <a:r>
              <a:rPr lang="fi-FI" b="1">
                <a:solidFill>
                  <a:schemeClr val="folHlink"/>
                </a:solidFill>
                <a:cs typeface="Arial" pitchFamily="34" charset="0"/>
              </a:rPr>
              <a:t>Testaus keskittyy kaikkiin näkökulmiin;</a:t>
            </a:r>
          </a:p>
          <a:p>
            <a:pPr algn="ctr" eaLnBrk="1" hangingPunct="1"/>
            <a:r>
              <a:rPr lang="fi-FI" b="1">
                <a:solidFill>
                  <a:schemeClr val="folHlink"/>
                </a:solidFill>
                <a:cs typeface="Arial" pitchFamily="34" charset="0"/>
              </a:rPr>
              <a:t>toteutus tarvitsee yksinkertai-suutta!</a:t>
            </a:r>
            <a:endParaRPr lang="en-GB" b="1">
              <a:solidFill>
                <a:schemeClr val="folHlink"/>
              </a:solidFill>
              <a:cs typeface="Arial" pitchFamily="34" charset="0"/>
            </a:endParaRPr>
          </a:p>
        </p:txBody>
      </p:sp>
      <p:sp>
        <p:nvSpPr>
          <p:cNvPr id="79887" name="Rectangle 15"/>
          <p:cNvSpPr>
            <a:spLocks noChangeArrowheads="1"/>
          </p:cNvSpPr>
          <p:nvPr/>
        </p:nvSpPr>
        <p:spPr bwMode="auto">
          <a:xfrm>
            <a:off x="4608513" y="3979863"/>
            <a:ext cx="2286000" cy="2057400"/>
          </a:xfrm>
          <a:prstGeom prst="rect">
            <a:avLst/>
          </a:prstGeom>
          <a:gradFill rotWithShape="0">
            <a:gsLst>
              <a:gs pos="0">
                <a:srgbClr val="FFFFFF"/>
              </a:gs>
              <a:gs pos="100000">
                <a:schemeClr val="accent1"/>
              </a:gs>
            </a:gsLst>
            <a:path path="shape">
              <a:fillToRect l="50000" t="50000" r="50000" b="50000"/>
            </a:path>
          </a:gradFill>
          <a:ln w="9525">
            <a:solidFill>
              <a:schemeClr val="tx1"/>
            </a:solidFill>
            <a:miter lim="800000"/>
            <a:headEnd/>
            <a:tailEnd/>
          </a:ln>
          <a:effectLst/>
        </p:spPr>
        <p:txBody>
          <a:bodyPr wrap="none" anchor="ctr"/>
          <a:lstStyle/>
          <a:p>
            <a:endParaRPr lang="fi-FI"/>
          </a:p>
        </p:txBody>
      </p:sp>
      <p:sp>
        <p:nvSpPr>
          <p:cNvPr id="79888" name="Text Box 16"/>
          <p:cNvSpPr txBox="1">
            <a:spLocks noChangeArrowheads="1"/>
          </p:cNvSpPr>
          <p:nvPr/>
        </p:nvSpPr>
        <p:spPr bwMode="auto">
          <a:xfrm>
            <a:off x="2406651" y="2252663"/>
            <a:ext cx="1981200" cy="830997"/>
          </a:xfrm>
          <a:prstGeom prst="rect">
            <a:avLst/>
          </a:prstGeom>
          <a:noFill/>
          <a:ln w="9525">
            <a:noFill/>
            <a:miter lim="800000"/>
            <a:headEnd/>
            <a:tailEnd/>
          </a:ln>
          <a:effectLst/>
        </p:spPr>
        <p:txBody>
          <a:bodyPr>
            <a:spAutoFit/>
          </a:bodyPr>
          <a:lstStyle/>
          <a:p>
            <a:pPr algn="ctr" eaLnBrk="1" hangingPunct="1">
              <a:spcBef>
                <a:spcPct val="50000"/>
              </a:spcBef>
            </a:pPr>
            <a:r>
              <a:rPr lang="fi-FI" sz="2400">
                <a:cs typeface="Arial" pitchFamily="34" charset="0"/>
              </a:rPr>
              <a:t>”näin sovittiin suullisesti”</a:t>
            </a:r>
            <a:endParaRPr lang="en-GB" sz="2400">
              <a:cs typeface="Arial" pitchFamily="34" charset="0"/>
            </a:endParaRPr>
          </a:p>
        </p:txBody>
      </p:sp>
      <p:sp>
        <p:nvSpPr>
          <p:cNvPr id="79889" name="Text Box 17"/>
          <p:cNvSpPr txBox="1">
            <a:spLocks noChangeArrowheads="1"/>
          </p:cNvSpPr>
          <p:nvPr/>
        </p:nvSpPr>
        <p:spPr bwMode="auto">
          <a:xfrm>
            <a:off x="4768851" y="2252663"/>
            <a:ext cx="1981200" cy="1200328"/>
          </a:xfrm>
          <a:prstGeom prst="rect">
            <a:avLst/>
          </a:prstGeom>
          <a:noFill/>
          <a:ln w="9525">
            <a:noFill/>
            <a:miter lim="800000"/>
            <a:headEnd/>
            <a:tailEnd/>
          </a:ln>
          <a:effectLst/>
        </p:spPr>
        <p:txBody>
          <a:bodyPr>
            <a:spAutoFit/>
          </a:bodyPr>
          <a:lstStyle/>
          <a:p>
            <a:pPr algn="ctr" eaLnBrk="1" hangingPunct="1">
              <a:spcBef>
                <a:spcPct val="50000"/>
              </a:spcBef>
            </a:pPr>
            <a:r>
              <a:rPr lang="fi-FI" sz="2400">
                <a:cs typeface="Arial" pitchFamily="34" charset="0"/>
              </a:rPr>
              <a:t>”yleiset pelisäännöt ja kikat”</a:t>
            </a:r>
            <a:endParaRPr lang="en-GB" sz="2400">
              <a:cs typeface="Arial" pitchFamily="34" charset="0"/>
            </a:endParaRPr>
          </a:p>
        </p:txBody>
      </p:sp>
      <p:sp>
        <p:nvSpPr>
          <p:cNvPr id="79890" name="Text Box 18"/>
          <p:cNvSpPr txBox="1">
            <a:spLocks noChangeArrowheads="1"/>
          </p:cNvSpPr>
          <p:nvPr/>
        </p:nvSpPr>
        <p:spPr bwMode="auto">
          <a:xfrm>
            <a:off x="4768851" y="4081463"/>
            <a:ext cx="1981200" cy="1569660"/>
          </a:xfrm>
          <a:prstGeom prst="rect">
            <a:avLst/>
          </a:prstGeom>
          <a:noFill/>
          <a:ln w="9525">
            <a:noFill/>
            <a:miter lim="800000"/>
            <a:headEnd/>
            <a:tailEnd/>
          </a:ln>
          <a:effectLst/>
        </p:spPr>
        <p:txBody>
          <a:bodyPr>
            <a:spAutoFit/>
          </a:bodyPr>
          <a:lstStyle/>
          <a:p>
            <a:pPr algn="ctr" eaLnBrk="1" hangingPunct="1">
              <a:spcBef>
                <a:spcPct val="50000"/>
              </a:spcBef>
            </a:pPr>
            <a:r>
              <a:rPr lang="fi-FI" sz="2400">
                <a:cs typeface="Arial" pitchFamily="34" charset="0"/>
              </a:rPr>
              <a:t>”tekijät eri mieltä, mutta tekstistä ei huomaa”</a:t>
            </a:r>
            <a:endParaRPr lang="en-GB" sz="2400">
              <a:cs typeface="Arial" pitchFamily="34"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normAutofit fontScale="90000"/>
          </a:bodyPr>
          <a:lstStyle/>
          <a:p>
            <a:r>
              <a:rPr lang="en-GB" smtClean="0"/>
              <a:t>Vaatimusperusteinen testien suunnittelu</a:t>
            </a:r>
            <a:endParaRPr lang="en-GB" dirty="0"/>
          </a:p>
        </p:txBody>
      </p:sp>
      <p:sp>
        <p:nvSpPr>
          <p:cNvPr id="77827" name="Rectangle 3"/>
          <p:cNvSpPr>
            <a:spLocks noGrp="1" noChangeArrowheads="1"/>
          </p:cNvSpPr>
          <p:nvPr>
            <p:ph idx="1"/>
          </p:nvPr>
        </p:nvSpPr>
        <p:spPr/>
        <p:txBody>
          <a:bodyPr>
            <a:normAutofit fontScale="77500" lnSpcReduction="20000"/>
          </a:bodyPr>
          <a:lstStyle/>
          <a:p>
            <a:r>
              <a:rPr lang="fi-FI" dirty="0" smtClean="0"/>
              <a:t>Vaatimusmäärittely lähtökohtana</a:t>
            </a:r>
          </a:p>
          <a:p>
            <a:pPr lvl="1"/>
            <a:r>
              <a:rPr lang="fi-FI" dirty="0" smtClean="0"/>
              <a:t>Käydään läpi ja tunnistetaan mikä on oleellista</a:t>
            </a:r>
          </a:p>
          <a:p>
            <a:pPr lvl="1"/>
            <a:r>
              <a:rPr lang="fi-FI" dirty="0" smtClean="0"/>
              <a:t>Testausperspektiivin ja linkkauksen luominen</a:t>
            </a:r>
          </a:p>
          <a:p>
            <a:pPr lvl="1"/>
            <a:r>
              <a:rPr lang="fi-FI" dirty="0" smtClean="0"/>
              <a:t>Yhdistely muihin lähteisiin (tyypillisesti käyttöliittymäkuvaus)</a:t>
            </a:r>
          </a:p>
          <a:p>
            <a:r>
              <a:rPr lang="fi-FI" dirty="0" smtClean="0"/>
              <a:t>Joskus vaatimusten uudelleenkirjoitus testitapauksiksi/vaatimuksiksi</a:t>
            </a:r>
          </a:p>
          <a:p>
            <a:pPr lvl="1"/>
            <a:r>
              <a:rPr lang="fi-FI" dirty="0" smtClean="0"/>
              <a:t>Selkiyttäminen niin että testaajat / kehitys ymmärtävät</a:t>
            </a:r>
          </a:p>
          <a:p>
            <a:pPr lvl="1"/>
            <a:r>
              <a:rPr lang="fi-FI" dirty="0" smtClean="0"/>
              <a:t>Puuttuvien yksityiskohtien kirjaaminen, piilovaatimusten lisääminen</a:t>
            </a:r>
          </a:p>
          <a:p>
            <a:r>
              <a:rPr lang="fi-FI" dirty="0" smtClean="0"/>
              <a:t>Priorisoi ja lajittele</a:t>
            </a:r>
          </a:p>
          <a:p>
            <a:pPr lvl="1"/>
            <a:r>
              <a:rPr lang="fi-FI" dirty="0" smtClean="0"/>
              <a:t>Tunnista ja merkitse mikä tärkeää</a:t>
            </a:r>
          </a:p>
          <a:p>
            <a:pPr lvl="1"/>
            <a:r>
              <a:rPr lang="fi-FI" dirty="0" smtClean="0"/>
              <a:t>Merkitse tarkoitukset, lajittele riskiin perustuen</a:t>
            </a:r>
            <a:endParaRPr lang="fi-FI" dirty="0"/>
          </a:p>
        </p:txBody>
      </p:sp>
      <p:sp>
        <p:nvSpPr>
          <p:cNvPr id="6" name="Slide Number Placeholder 6"/>
          <p:cNvSpPr>
            <a:spLocks noGrp="1"/>
          </p:cNvSpPr>
          <p:nvPr>
            <p:ph type="sldNum" sz="quarter" idx="12"/>
          </p:nvPr>
        </p:nvSpPr>
        <p:spPr/>
        <p:txBody>
          <a:bodyPr/>
          <a:lstStyle/>
          <a:p>
            <a:fld id="{546DB193-12D5-407B-A04F-B666394076FC}" type="slidenum">
              <a:rPr lang="en-US" smtClean="0"/>
              <a:pPr/>
              <a:t>69</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fi-FI" smtClean="0"/>
              <a:t>Ihanteellinen skenaariotesti</a:t>
            </a:r>
            <a:endParaRPr lang="fi-FI"/>
          </a:p>
        </p:txBody>
      </p:sp>
      <p:sp>
        <p:nvSpPr>
          <p:cNvPr id="95235" name="Rectangle 3"/>
          <p:cNvSpPr>
            <a:spLocks noGrp="1" noChangeArrowheads="1"/>
          </p:cNvSpPr>
          <p:nvPr>
            <p:ph type="body" idx="1"/>
          </p:nvPr>
        </p:nvSpPr>
        <p:spPr/>
        <p:txBody>
          <a:bodyPr>
            <a:noAutofit/>
          </a:bodyPr>
          <a:lstStyle/>
          <a:p>
            <a:r>
              <a:rPr lang="fi-FI" sz="2000" dirty="0" smtClean="0"/>
              <a:t>Perustuu tarinaan</a:t>
            </a:r>
          </a:p>
          <a:p>
            <a:pPr lvl="1"/>
            <a:r>
              <a:rPr lang="fi-FI" sz="1600" dirty="0" smtClean="0"/>
              <a:t>Kuinka ohjelmaa käytetään</a:t>
            </a:r>
          </a:p>
          <a:p>
            <a:pPr lvl="1"/>
            <a:r>
              <a:rPr lang="fi-FI" sz="1600" dirty="0" smtClean="0"/>
              <a:t>Käyttäjien syyt ja motivaatio</a:t>
            </a:r>
          </a:p>
          <a:p>
            <a:r>
              <a:rPr lang="fi-FI" sz="2000" dirty="0" smtClean="0"/>
              <a:t>Motivoiva</a:t>
            </a:r>
          </a:p>
          <a:p>
            <a:pPr lvl="1"/>
            <a:r>
              <a:rPr lang="fi-FI" sz="1600" dirty="0" smtClean="0"/>
              <a:t>Toimija jolla on merkitystä haluaa testin menevän läpi</a:t>
            </a:r>
          </a:p>
          <a:p>
            <a:pPr lvl="1"/>
            <a:r>
              <a:rPr lang="fi-FI" sz="1600" dirty="0" smtClean="0"/>
              <a:t>Kerro lukijalle miksi tämä on tärkeää, miksi käyttäjä tekee mitä tekee ja mitä hän haluaa, ja mitkä ovat seuraukset toimimattomuudesta hänen kannaltaan</a:t>
            </a:r>
          </a:p>
          <a:p>
            <a:pPr lvl="2"/>
            <a:r>
              <a:rPr lang="fi-FI" sz="1400" dirty="0" smtClean="0"/>
              <a:t>Tätä ei kirjata tyypillisesti käyttötapaukseen</a:t>
            </a:r>
          </a:p>
          <a:p>
            <a:r>
              <a:rPr lang="fi-FI" sz="2000" dirty="0" smtClean="0"/>
              <a:t>Uskottava</a:t>
            </a:r>
          </a:p>
          <a:p>
            <a:pPr lvl="1"/>
            <a:r>
              <a:rPr lang="fi-FI" sz="1600" dirty="0" smtClean="0"/>
              <a:t>Ei vain saattaisi vaan todella tapahtuisi tosielämässä</a:t>
            </a:r>
          </a:p>
          <a:p>
            <a:r>
              <a:rPr lang="fi-FI" sz="2000" dirty="0" smtClean="0"/>
              <a:t>Monimutkainen</a:t>
            </a:r>
          </a:p>
          <a:p>
            <a:pPr lvl="1"/>
            <a:r>
              <a:rPr lang="fi-FI" sz="1600" dirty="0" smtClean="0"/>
              <a:t>Monimutkainen ympäristö, monimutkainen aineisto</a:t>
            </a:r>
          </a:p>
          <a:p>
            <a:pPr lvl="1"/>
            <a:r>
              <a:rPr lang="fi-FI" sz="1600" dirty="0" smtClean="0"/>
              <a:t>Ominaisuuksien väliset suhteet</a:t>
            </a:r>
          </a:p>
          <a:p>
            <a:r>
              <a:rPr lang="fi-FI" sz="2000" dirty="0" smtClean="0"/>
              <a:t>Helppo arvioida läpimeno</a:t>
            </a:r>
          </a:p>
          <a:p>
            <a:pPr lvl="1"/>
            <a:r>
              <a:rPr lang="fi-FI" sz="1600" dirty="0" smtClean="0"/>
              <a:t>Monimutkaisen testin osalta testaajalla taipumus hyväksyä uskottavan oloinen vääräkin tulos oikeana</a:t>
            </a:r>
            <a:endParaRPr lang="fi-FI" sz="1600" dirty="0"/>
          </a:p>
        </p:txBody>
      </p:sp>
      <p:sp>
        <p:nvSpPr>
          <p:cNvPr id="6" name="Slide Number Placeholder 5"/>
          <p:cNvSpPr>
            <a:spLocks noGrp="1"/>
          </p:cNvSpPr>
          <p:nvPr>
            <p:ph type="sldNum" sz="quarter" idx="12"/>
          </p:nvPr>
        </p:nvSpPr>
        <p:spPr/>
        <p:txBody>
          <a:bodyPr/>
          <a:lstStyle/>
          <a:p>
            <a:fld id="{5981C0E3-1B6C-461D-8704-692BF9918D2A}" type="slidenum">
              <a:rPr lang="en-US" smtClean="0"/>
              <a:pPr/>
              <a:t>70</a:t>
            </a:fld>
            <a:endParaRPr lang="en-US"/>
          </a:p>
        </p:txBody>
      </p:sp>
      <p:pic>
        <p:nvPicPr>
          <p:cNvPr id="95236" name="Picture 4"/>
          <p:cNvPicPr>
            <a:picLocks noChangeAspect="1" noChangeArrowheads="1"/>
          </p:cNvPicPr>
          <p:nvPr/>
        </p:nvPicPr>
        <p:blipFill>
          <a:blip r:embed="rId3" cstate="print"/>
          <a:srcRect/>
          <a:stretch>
            <a:fillRect/>
          </a:stretch>
        </p:blipFill>
        <p:spPr bwMode="auto">
          <a:xfrm>
            <a:off x="7315201" y="838200"/>
            <a:ext cx="1684339" cy="1970088"/>
          </a:xfrm>
          <a:prstGeom prst="rect">
            <a:avLst/>
          </a:prstGeom>
          <a:noFill/>
          <a:ln w="12700">
            <a:noFill/>
            <a:miter lim="800000"/>
            <a:headEnd/>
            <a:tailEnd/>
          </a:ln>
          <a:effec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fi-FI" smtClean="0"/>
              <a:t>Skenaariotestien tarkoituksia</a:t>
            </a:r>
            <a:endParaRPr lang="fi-FI"/>
          </a:p>
        </p:txBody>
      </p:sp>
      <p:sp>
        <p:nvSpPr>
          <p:cNvPr id="96259" name="Rectangle 3"/>
          <p:cNvSpPr>
            <a:spLocks noGrp="1" noChangeArrowheads="1"/>
          </p:cNvSpPr>
          <p:nvPr>
            <p:ph type="body" idx="1"/>
          </p:nvPr>
        </p:nvSpPr>
        <p:spPr/>
        <p:txBody>
          <a:bodyPr>
            <a:normAutofit fontScale="92500" lnSpcReduction="20000"/>
          </a:bodyPr>
          <a:lstStyle/>
          <a:p>
            <a:r>
              <a:rPr lang="fi-FI" dirty="0" smtClean="0"/>
              <a:t>Tuotteen oppiminen. </a:t>
            </a:r>
          </a:p>
          <a:p>
            <a:r>
              <a:rPr lang="fi-FI" dirty="0" smtClean="0"/>
              <a:t>Testauksen yhdistäminen vaatimuksiin.</a:t>
            </a:r>
          </a:p>
          <a:p>
            <a:r>
              <a:rPr lang="fi-FI" dirty="0" smtClean="0"/>
              <a:t>Virheet suhteessa odotettuihin hyötyihin. </a:t>
            </a:r>
          </a:p>
          <a:p>
            <a:r>
              <a:rPr lang="fi-FI" dirty="0" smtClean="0"/>
              <a:t>Erityiskäytön testaaminen, peruskäyttäjää syvemmältä. </a:t>
            </a:r>
          </a:p>
          <a:p>
            <a:r>
              <a:rPr lang="fi-FI" dirty="0" smtClean="0"/>
              <a:t>Virheraporttien motivointi ja suuntaaminen</a:t>
            </a:r>
          </a:p>
          <a:p>
            <a:r>
              <a:rPr lang="fi-FI" dirty="0" smtClean="0"/>
              <a:t>Vaatimusongelmien näkyviin tuominen, joka voi sisältää vanhojen päätösten kyseenalaistamista uutta materiaalia vastaan tai uusien vaatimusten esiin tuomista. </a:t>
            </a:r>
            <a:endParaRPr lang="fi-FI" dirty="0"/>
          </a:p>
        </p:txBody>
      </p:sp>
      <p:sp>
        <p:nvSpPr>
          <p:cNvPr id="5" name="Slide Number Placeholder 5"/>
          <p:cNvSpPr>
            <a:spLocks noGrp="1"/>
          </p:cNvSpPr>
          <p:nvPr>
            <p:ph type="sldNum" sz="quarter" idx="12"/>
          </p:nvPr>
        </p:nvSpPr>
        <p:spPr/>
        <p:txBody>
          <a:bodyPr/>
          <a:lstStyle/>
          <a:p>
            <a:fld id="{B151016A-C50A-46E1-96D9-24201E9EF444}" type="slidenum">
              <a:rPr lang="en-US" smtClean="0"/>
              <a:pPr/>
              <a:t>71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tsikko 4"/>
          <p:cNvSpPr>
            <a:spLocks noGrp="1"/>
          </p:cNvSpPr>
          <p:nvPr>
            <p:ph type="title"/>
          </p:nvPr>
        </p:nvSpPr>
        <p:spPr/>
        <p:txBody>
          <a:bodyPr/>
          <a:lstStyle/>
          <a:p>
            <a:r>
              <a:rPr lang="fi-FI" dirty="0" smtClean="0"/>
              <a:t>Esimerkki skenaariotestistä</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72</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534483" y="1574802"/>
            <a:ext cx="7926679" cy="4518496"/>
          </a:xfrm>
          <a:prstGeom prst="rect">
            <a:avLst/>
          </a:prstGeom>
          <a:noFill/>
          <a:ln w="9525">
            <a:noFill/>
            <a:miter lim="800000"/>
            <a:headEnd/>
            <a:tailEnd/>
          </a:ln>
          <a:effectLst/>
        </p:spPr>
      </p:pic>
    </p:spTree>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Harjoitus: Skenaariotestin laatiminen</a:t>
            </a:r>
            <a:endParaRPr lang="en-US" dirty="0"/>
          </a:p>
        </p:txBody>
      </p:sp>
      <p:sp>
        <p:nvSpPr>
          <p:cNvPr id="4" name="Dian numeron paikkamerkki 3"/>
          <p:cNvSpPr>
            <a:spLocks noGrp="1"/>
          </p:cNvSpPr>
          <p:nvPr>
            <p:ph type="sldNum" sz="quarter" idx="12"/>
          </p:nvPr>
        </p:nvSpPr>
        <p:spPr/>
        <p:txBody>
          <a:bodyPr/>
          <a:lstStyle/>
          <a:p>
            <a:fld id="{005C076F-2023-4865-A680-8A52FED0D0E7}" type="slidenum">
              <a:rPr lang="en-US" smtClean="0"/>
              <a:pPr/>
              <a:t>73</a:t>
            </a:fld>
            <a:endParaRPr lang="en-US"/>
          </a:p>
        </p:txBody>
      </p:sp>
      <p:pic>
        <p:nvPicPr>
          <p:cNvPr id="5" name="Picture 2"/>
          <p:cNvPicPr>
            <a:picLocks noChangeAspect="1" noChangeArrowheads="1"/>
          </p:cNvPicPr>
          <p:nvPr/>
        </p:nvPicPr>
        <p:blipFill>
          <a:blip r:embed="rId2" cstate="print"/>
          <a:srcRect/>
          <a:stretch>
            <a:fillRect/>
          </a:stretch>
        </p:blipFill>
        <p:spPr bwMode="auto">
          <a:xfrm>
            <a:off x="755578" y="1556792"/>
            <a:ext cx="7417996" cy="4990287"/>
          </a:xfrm>
          <a:prstGeom prst="rect">
            <a:avLst/>
          </a:prstGeom>
          <a:noFill/>
          <a:ln w="9525">
            <a:noFill/>
            <a:miter lim="800000"/>
            <a:headEnd/>
            <a:tailEnd/>
          </a:ln>
        </p:spPr>
      </p:pic>
      <p:sp>
        <p:nvSpPr>
          <p:cNvPr id="6" name="Oval 5"/>
          <p:cNvSpPr/>
          <p:nvPr/>
        </p:nvSpPr>
        <p:spPr>
          <a:xfrm>
            <a:off x="7668346" y="1484785"/>
            <a:ext cx="1214447" cy="1143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b="1" dirty="0" smtClean="0"/>
              <a:t>Free-Mind</a:t>
            </a:r>
            <a:endParaRPr lang="fi-FI" sz="2000" b="1" dirty="0"/>
          </a:p>
        </p:txBody>
      </p:sp>
    </p:spTree>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Ryhmä 15"/>
          <p:cNvGrpSpPr/>
          <p:nvPr/>
        </p:nvGrpSpPr>
        <p:grpSpPr>
          <a:xfrm>
            <a:off x="1038436" y="620688"/>
            <a:ext cx="7067128" cy="1656184"/>
            <a:chOff x="0" y="3394479"/>
            <a:chExt cx="7067128" cy="281336"/>
          </a:xfrm>
        </p:grpSpPr>
        <p:sp>
          <p:nvSpPr>
            <p:cNvPr id="17" name="Pyöristetty suorakulmio 16"/>
            <p:cNvSpPr/>
            <p:nvPr/>
          </p:nvSpPr>
          <p:spPr>
            <a:xfrm>
              <a:off x="0" y="3394479"/>
              <a:ext cx="7067128" cy="281336"/>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8" name="Pyöristetty suorakulmio 4"/>
            <p:cNvSpPr/>
            <p:nvPr/>
          </p:nvSpPr>
          <p:spPr>
            <a:xfrm>
              <a:off x="13734" y="3408213"/>
              <a:ext cx="7039660" cy="25386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Vaatimusperusteinen testisuunnittelu</a:t>
              </a:r>
              <a:endParaRPr lang="en-US"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74</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66111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tsikko 8"/>
          <p:cNvSpPr>
            <a:spLocks noGrp="1"/>
          </p:cNvSpPr>
          <p:nvPr>
            <p:ph type="title"/>
          </p:nvPr>
        </p:nvSpPr>
        <p:spPr/>
        <p:txBody>
          <a:bodyPr/>
          <a:lstStyle/>
          <a:p>
            <a:r>
              <a:rPr lang="fi-FI" b="1" dirty="0" smtClean="0"/>
              <a:t>PÄIVÄ 2</a:t>
            </a:r>
            <a:endParaRPr lang="en-US" b="1" dirty="0"/>
          </a:p>
        </p:txBody>
      </p:sp>
      <p:graphicFrame>
        <p:nvGraphicFramePr>
          <p:cNvPr id="8" name="Sisällön paikkamerkki 13"/>
          <p:cNvGraphicFramePr>
            <a:graphicFrameLocks noGrp="1"/>
          </p:cNvGraphicFramePr>
          <p:nvPr>
            <p:ph idx="1"/>
          </p:nvPr>
        </p:nvGraphicFramePr>
        <p:xfrm>
          <a:off x="1331640" y="1484784"/>
          <a:ext cx="7067128" cy="499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ian numeron paikkamerkki 9"/>
          <p:cNvSpPr>
            <a:spLocks noGrp="1"/>
          </p:cNvSpPr>
          <p:nvPr>
            <p:ph type="sldNum" sz="quarter" idx="12"/>
          </p:nvPr>
        </p:nvSpPr>
        <p:spPr/>
        <p:txBody>
          <a:bodyPr/>
          <a:lstStyle/>
          <a:p>
            <a:fld id="{005C076F-2023-4865-A680-8A52FED0D0E7}" type="slidenum">
              <a:rPr lang="en-US" smtClean="0"/>
              <a:pPr/>
              <a:t>75</a:t>
            </a:fld>
            <a:endParaRPr lang="en-US"/>
          </a:p>
        </p:txBody>
      </p:sp>
      <p:sp>
        <p:nvSpPr>
          <p:cNvPr id="5" name="Nuoli oikealle 4"/>
          <p:cNvSpPr/>
          <p:nvPr/>
        </p:nvSpPr>
        <p:spPr>
          <a:xfrm>
            <a:off x="929296" y="5896696"/>
            <a:ext cx="474352" cy="484632"/>
          </a:xfrm>
          <a:prstGeom prst="rightArrow">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Testitapausten suunnittelun tekniikka</a:t>
            </a:r>
            <a:endParaRPr lang="fi-FI" dirty="0"/>
          </a:p>
        </p:txBody>
      </p:sp>
      <p:sp>
        <p:nvSpPr>
          <p:cNvPr id="5" name="Content Placeholder 4"/>
          <p:cNvSpPr>
            <a:spLocks noGrp="1"/>
          </p:cNvSpPr>
          <p:nvPr>
            <p:ph idx="1"/>
          </p:nvPr>
        </p:nvSpPr>
        <p:spPr/>
        <p:txBody>
          <a:bodyPr>
            <a:normAutofit fontScale="70000" lnSpcReduction="20000"/>
          </a:bodyPr>
          <a:lstStyle/>
          <a:p>
            <a:r>
              <a:rPr lang="fi-FI" dirty="0" smtClean="0"/>
              <a:t>Suodatettuja lähestymistapoja monipuolisten ja kohdistettujen testitapausten keksimiseen</a:t>
            </a:r>
          </a:p>
          <a:p>
            <a:r>
              <a:rPr lang="fi-FI" dirty="0" smtClean="0"/>
              <a:t>Paljon tutkimustuloksia sekä esimerkkejä kirjallisuudessa</a:t>
            </a:r>
          </a:p>
          <a:p>
            <a:pPr lvl="1"/>
            <a:r>
              <a:rPr lang="fi-FI" dirty="0" smtClean="0"/>
              <a:t>Erilaisia kriteerejä tekniikaksi kelpaamiselle, mutta tämä ei estä käytännön käyttöä</a:t>
            </a:r>
          </a:p>
          <a:p>
            <a:r>
              <a:rPr lang="fi-FI" dirty="0" smtClean="0"/>
              <a:t>Tekniikoita voi hyödyntää eri testaustasoilla</a:t>
            </a:r>
          </a:p>
          <a:p>
            <a:pPr lvl="1"/>
            <a:r>
              <a:rPr lang="fi-FI" dirty="0" smtClean="0"/>
              <a:t>Sama tekniikka, erilainen yksityiskohtaisuuden määrä</a:t>
            </a:r>
          </a:p>
          <a:p>
            <a:r>
              <a:rPr lang="fi-FI" dirty="0" smtClean="0"/>
              <a:t>Tekniikoita voi hyödyntää erilaisissa prosessisuuntauksissa</a:t>
            </a:r>
          </a:p>
          <a:p>
            <a:pPr lvl="1"/>
            <a:r>
              <a:rPr lang="fi-FI" dirty="0" smtClean="0"/>
              <a:t>Suunnitelmaohjattu testitapaussuuntautunut</a:t>
            </a:r>
          </a:p>
          <a:p>
            <a:pPr lvl="2"/>
            <a:r>
              <a:rPr lang="fi-FI" dirty="0" smtClean="0"/>
              <a:t>Useiden tekniikoiden alkuperäisenä lähtökohtana</a:t>
            </a:r>
          </a:p>
          <a:p>
            <a:pPr lvl="2"/>
            <a:r>
              <a:rPr lang="fi-FI" dirty="0" smtClean="0"/>
              <a:t>Testitapaukset suunnitellaan ennen suoritusta ja niitä mukautetaan ja muokataan tarpeen mukaan</a:t>
            </a:r>
          </a:p>
          <a:p>
            <a:pPr lvl="1"/>
            <a:r>
              <a:rPr lang="fi-FI" dirty="0" smtClean="0"/>
              <a:t>Joustavat / nopeat tutkivaan testaukseen suuntautuneet</a:t>
            </a:r>
          </a:p>
          <a:p>
            <a:pPr lvl="2"/>
            <a:r>
              <a:rPr lang="fi-FI" dirty="0" smtClean="0"/>
              <a:t>Suunnitellaan laatuinvestoinnit ja testitapausten suunnittelu sekä suoritus tapahtuvat rinnan ja oppiminen muuttaa kaiken tasoisia suunnitelmia</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Tree>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5704CD4-5F0B-40EC-8642-2A9F04F9BA17}" type="slidenum">
              <a:rPr lang="en-US"/>
              <a:pPr/>
              <a:t>77</a:t>
            </a:fld>
            <a:endParaRPr lang="en-US"/>
          </a:p>
        </p:txBody>
      </p:sp>
      <p:sp>
        <p:nvSpPr>
          <p:cNvPr id="258050" name="Rectangle 2"/>
          <p:cNvSpPr>
            <a:spLocks noGrp="1" noChangeArrowheads="1"/>
          </p:cNvSpPr>
          <p:nvPr>
            <p:ph type="title"/>
          </p:nvPr>
        </p:nvSpPr>
        <p:spPr/>
        <p:txBody>
          <a:bodyPr/>
          <a:lstStyle/>
          <a:p>
            <a:pPr defTabSz="762000"/>
            <a:r>
              <a:rPr lang="fi-FI"/>
              <a:t>Testaustekniikat ja tehokkuus</a:t>
            </a:r>
          </a:p>
        </p:txBody>
      </p:sp>
      <p:sp>
        <p:nvSpPr>
          <p:cNvPr id="258051" name="Rectangle 3"/>
          <p:cNvSpPr>
            <a:spLocks noGrp="1" noChangeArrowheads="1"/>
          </p:cNvSpPr>
          <p:nvPr>
            <p:ph type="body" idx="1"/>
          </p:nvPr>
        </p:nvSpPr>
        <p:spPr/>
        <p:txBody>
          <a:bodyPr>
            <a:normAutofit/>
          </a:bodyPr>
          <a:lstStyle/>
          <a:p>
            <a:pPr marL="0" indent="0" defTabSz="762000"/>
            <a:r>
              <a:rPr lang="fi-FI" sz="2400" dirty="0"/>
              <a:t>”Ad hoc testaus johtaa erilaisiin tehokkuustasoihin” (IEEE SWEBOK 2001) </a:t>
            </a:r>
          </a:p>
          <a:p>
            <a:pPr marL="0" indent="0" defTabSz="762000"/>
            <a:r>
              <a:rPr lang="fi-FI" sz="2400" dirty="0"/>
              <a:t>Niinpä tekee kaikki, ainakin minun kokemuksieni mukaan</a:t>
            </a:r>
          </a:p>
          <a:p>
            <a:pPr marL="377825" lvl="1" indent="-187325" defTabSz="762000"/>
            <a:r>
              <a:rPr lang="fi-FI" sz="2000" dirty="0"/>
              <a:t>Tekniikoita voi soveltaa eri tavoilla</a:t>
            </a:r>
          </a:p>
          <a:p>
            <a:pPr marL="377825" lvl="1" indent="-187325" defTabSz="762000"/>
            <a:r>
              <a:rPr lang="fi-FI" sz="2000" dirty="0"/>
              <a:t>Myös yksityiskohtaisesti dokumentoiduilla testitapauksilla on vaihtelua testaajan osaamiseen perustuen</a:t>
            </a:r>
          </a:p>
          <a:p>
            <a:pPr marL="377825" lvl="1" indent="-187325" defTabSz="762000"/>
            <a:r>
              <a:rPr lang="fi-FI" sz="2000" dirty="0"/>
              <a:t>Kuitenkin, kun ihmisen muisti on rajallinen, jotain tukea tarvitaan. Rakenne on oleellista. </a:t>
            </a:r>
          </a:p>
        </p:txBody>
      </p:sp>
      <p:sp>
        <p:nvSpPr>
          <p:cNvPr id="258052" name="Rectangle 4"/>
          <p:cNvSpPr>
            <a:spLocks noChangeArrowheads="1"/>
          </p:cNvSpPr>
          <p:nvPr/>
        </p:nvSpPr>
        <p:spPr bwMode="auto">
          <a:xfrm>
            <a:off x="1066801" y="5029202"/>
            <a:ext cx="6673851" cy="1063625"/>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anchor="ctr"/>
          <a:lstStyle/>
          <a:p>
            <a:pPr algn="ctr" eaLnBrk="1" hangingPunct="1"/>
            <a:r>
              <a:rPr lang="fi-FI" sz="2000" dirty="0">
                <a:cs typeface="Arial" pitchFamily="34" charset="0"/>
              </a:rPr>
              <a:t>Käytä mitä tahansa soveltuvia tekniikoita, mutta käytä niiden yhteydessä aivojasi. Aivot mukaan narikasta testausta tehdessä!</a:t>
            </a:r>
            <a:endParaRPr lang="en-US" sz="2000" dirty="0">
              <a:cs typeface="Arial"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AA2D250-5F7A-4CF6-B82C-9BA6A1C8A6C7}" type="slidenum">
              <a:rPr lang="en-US"/>
              <a:pPr/>
              <a:t>78</a:t>
            </a:fld>
            <a:endParaRPr lang="en-US"/>
          </a:p>
        </p:txBody>
      </p:sp>
      <p:sp>
        <p:nvSpPr>
          <p:cNvPr id="238594" name="Rectangle 2"/>
          <p:cNvSpPr>
            <a:spLocks noGrp="1" noChangeArrowheads="1"/>
          </p:cNvSpPr>
          <p:nvPr>
            <p:ph type="title"/>
          </p:nvPr>
        </p:nvSpPr>
        <p:spPr/>
        <p:txBody>
          <a:bodyPr>
            <a:normAutofit fontScale="90000"/>
          </a:bodyPr>
          <a:lstStyle/>
          <a:p>
            <a:pPr defTabSz="762000"/>
            <a:r>
              <a:rPr lang="fi-FI"/>
              <a:t>Mustalaatikko- vs. lasilaatikkotestaus</a:t>
            </a:r>
            <a:endParaRPr lang="en-GB"/>
          </a:p>
        </p:txBody>
      </p:sp>
      <p:graphicFrame>
        <p:nvGraphicFramePr>
          <p:cNvPr id="238595" name="Object 3"/>
          <p:cNvGraphicFramePr>
            <a:graphicFrameLocks noChangeAspect="1"/>
          </p:cNvGraphicFramePr>
          <p:nvPr/>
        </p:nvGraphicFramePr>
        <p:xfrm>
          <a:off x="1143000" y="2682877"/>
          <a:ext cx="7239000" cy="2422525"/>
        </p:xfrm>
        <a:graphic>
          <a:graphicData uri="http://schemas.openxmlformats.org/presentationml/2006/ole">
            <mc:AlternateContent xmlns:mc="http://schemas.openxmlformats.org/markup-compatibility/2006">
              <mc:Choice xmlns:v="urn:schemas-microsoft-com:vml" Requires="v">
                <p:oleObj spid="_x0000_s8207" name="Visio" r:id="rId4" imgW="5338440" imgH="1782720" progId="">
                  <p:embed/>
                </p:oleObj>
              </mc:Choice>
              <mc:Fallback>
                <p:oleObj name="Visio" r:id="rId4" imgW="5338440" imgH="178272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682877"/>
                        <a:ext cx="7239000" cy="242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4"/>
          <p:cNvSpPr>
            <a:spLocks noGrp="1"/>
          </p:cNvSpPr>
          <p:nvPr>
            <p:ph type="sldNum" sz="quarter" idx="12"/>
          </p:nvPr>
        </p:nvSpPr>
        <p:spPr/>
        <p:txBody>
          <a:bodyPr/>
          <a:lstStyle/>
          <a:p>
            <a:fld id="{54AD4BE5-F441-4A6B-9E55-94E85CDCFC78}" type="slidenum">
              <a:rPr lang="en-US"/>
              <a:pPr/>
              <a:t>79</a:t>
            </a:fld>
            <a:endParaRPr lang="en-US"/>
          </a:p>
        </p:txBody>
      </p:sp>
      <p:sp>
        <p:nvSpPr>
          <p:cNvPr id="247810" name="Rectangle 2"/>
          <p:cNvSpPr>
            <a:spLocks noGrp="1" noChangeArrowheads="1"/>
          </p:cNvSpPr>
          <p:nvPr>
            <p:ph type="title"/>
          </p:nvPr>
        </p:nvSpPr>
        <p:spPr/>
        <p:txBody>
          <a:bodyPr>
            <a:normAutofit/>
          </a:bodyPr>
          <a:lstStyle/>
          <a:p>
            <a:pPr defTabSz="762000"/>
            <a:r>
              <a:rPr lang="fi-FI" sz="3600"/>
              <a:t>Viisitasoinen testausmenetelmien lajittelu</a:t>
            </a:r>
            <a:br>
              <a:rPr lang="fi-FI" sz="3600"/>
            </a:br>
            <a:r>
              <a:rPr lang="fi-FI" sz="1400"/>
              <a:t>Lähde: Kaner et al. 2002. Lessons Learned in Software Testing</a:t>
            </a:r>
          </a:p>
        </p:txBody>
      </p:sp>
      <p:graphicFrame>
        <p:nvGraphicFramePr>
          <p:cNvPr id="247811" name="Object 3"/>
          <p:cNvGraphicFramePr>
            <a:graphicFrameLocks noChangeAspect="1"/>
          </p:cNvGraphicFramePr>
          <p:nvPr/>
        </p:nvGraphicFramePr>
        <p:xfrm>
          <a:off x="609600" y="2652713"/>
          <a:ext cx="7924800" cy="2147887"/>
        </p:xfrm>
        <a:graphic>
          <a:graphicData uri="http://schemas.openxmlformats.org/presentationml/2006/ole">
            <mc:AlternateContent xmlns:mc="http://schemas.openxmlformats.org/markup-compatibility/2006">
              <mc:Choice xmlns:v="urn:schemas-microsoft-com:vml" Requires="v">
                <p:oleObj spid="_x0000_s9231" name="Visio" r:id="rId4" imgW="5434584" imgH="1474622" progId="">
                  <p:embed/>
                </p:oleObj>
              </mc:Choice>
              <mc:Fallback>
                <p:oleObj name="Visio" r:id="rId4" imgW="5434584" imgH="1474622" progId="">
                  <p:embed/>
                  <p:pic>
                    <p:nvPicPr>
                      <p:cNvPr id="0" name="Picture 2"/>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652713"/>
                        <a:ext cx="7924800" cy="21478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47812" name="AutoShape 4"/>
          <p:cNvSpPr>
            <a:spLocks noChangeArrowheads="1"/>
          </p:cNvSpPr>
          <p:nvPr/>
        </p:nvSpPr>
        <p:spPr bwMode="auto">
          <a:xfrm>
            <a:off x="76200" y="4806950"/>
            <a:ext cx="1981200" cy="1143000"/>
          </a:xfrm>
          <a:prstGeom prst="cloudCallout">
            <a:avLst>
              <a:gd name="adj1" fmla="val 21875"/>
              <a:gd name="adj2" fmla="val -108611"/>
            </a:avLst>
          </a:prstGeom>
          <a:solidFill>
            <a:schemeClr val="bg1"/>
          </a:solidFill>
          <a:ln w="9525">
            <a:solidFill>
              <a:srgbClr val="000000"/>
            </a:solidFill>
            <a:round/>
            <a:headEnd/>
            <a:tailEnd/>
          </a:ln>
          <a:effectLst/>
        </p:spPr>
        <p:txBody>
          <a:bodyPr/>
          <a:lstStyle/>
          <a:p>
            <a:pPr algn="ctr" eaLnBrk="1" hangingPunct="1"/>
            <a:r>
              <a:rPr lang="fi-FI" sz="800">
                <a:solidFill>
                  <a:srgbClr val="000000"/>
                </a:solidFill>
                <a:latin typeface="Arial" pitchFamily="34" charset="0"/>
                <a:cs typeface="Arial" pitchFamily="34" charset="0"/>
              </a:rPr>
              <a:t>Käyttäjän tekemä testaus, alfatestaus, betatestaus, bugihyökkäykset, sisällön tuntijan testaus, paritestaus...</a:t>
            </a:r>
            <a:endParaRPr lang="en-GB" sz="800">
              <a:solidFill>
                <a:srgbClr val="000000"/>
              </a:solidFill>
              <a:latin typeface="Arial" pitchFamily="34" charset="0"/>
              <a:cs typeface="Arial" pitchFamily="34" charset="0"/>
            </a:endParaRPr>
          </a:p>
        </p:txBody>
      </p:sp>
      <p:sp>
        <p:nvSpPr>
          <p:cNvPr id="247813" name="AutoShape 5"/>
          <p:cNvSpPr>
            <a:spLocks noChangeArrowheads="1"/>
          </p:cNvSpPr>
          <p:nvPr/>
        </p:nvSpPr>
        <p:spPr bwMode="auto">
          <a:xfrm>
            <a:off x="1752600" y="4953000"/>
            <a:ext cx="4114800" cy="1524000"/>
          </a:xfrm>
          <a:prstGeom prst="cloudCallout">
            <a:avLst>
              <a:gd name="adj1" fmla="val -26889"/>
              <a:gd name="adj2" fmla="val -106773"/>
            </a:avLst>
          </a:prstGeom>
          <a:solidFill>
            <a:schemeClr val="bg1"/>
          </a:solidFill>
          <a:ln w="9525">
            <a:solidFill>
              <a:srgbClr val="000000"/>
            </a:solidFill>
            <a:round/>
            <a:headEnd/>
            <a:tailEnd/>
          </a:ln>
          <a:effectLst/>
        </p:spPr>
        <p:txBody>
          <a:bodyPr/>
          <a:lstStyle/>
          <a:p>
            <a:pPr algn="ctr" eaLnBrk="1" hangingPunct="1"/>
            <a:r>
              <a:rPr lang="fi-FI" sz="800">
                <a:solidFill>
                  <a:srgbClr val="000000"/>
                </a:solidFill>
                <a:latin typeface="Arial" pitchFamily="34" charset="0"/>
                <a:cs typeface="Arial" pitchFamily="34" charset="0"/>
              </a:rPr>
              <a:t>Toimintojen testaus, ominaisuuksien tai toimintojen integroinnin testaus, menun ”kiertoajelu”, sovellusaluetestaus, ekvivalenssiluokka-analyysi, raja-arvoilla testaus, paras edustaja - testaus, syötekenttien testiluettelot tai matriisit, kartoita ja testaa kaikki kentän editointitavat, looginen testaus, tilapohjainen testaus, polkutestaus, komento- ja haarakattavuus, konfiguraatiokattavuus, määrittelypohjainen testaus, vaatimuspohjainen testaus...</a:t>
            </a:r>
            <a:endParaRPr lang="en-GB" sz="800">
              <a:solidFill>
                <a:srgbClr val="000000"/>
              </a:solidFill>
              <a:latin typeface="Arial" pitchFamily="34" charset="0"/>
              <a:cs typeface="Arial" pitchFamily="34" charset="0"/>
            </a:endParaRPr>
          </a:p>
        </p:txBody>
      </p:sp>
      <p:sp>
        <p:nvSpPr>
          <p:cNvPr id="247814" name="AutoShape 6"/>
          <p:cNvSpPr>
            <a:spLocks noChangeArrowheads="1"/>
          </p:cNvSpPr>
          <p:nvPr/>
        </p:nvSpPr>
        <p:spPr bwMode="auto">
          <a:xfrm>
            <a:off x="2971800" y="1752600"/>
            <a:ext cx="2438400" cy="914400"/>
          </a:xfrm>
          <a:prstGeom prst="cloudCallout">
            <a:avLst>
              <a:gd name="adj1" fmla="val 41926"/>
              <a:gd name="adj2" fmla="val 76218"/>
            </a:avLst>
          </a:prstGeom>
          <a:solidFill>
            <a:schemeClr val="bg1"/>
          </a:solidFill>
          <a:ln w="9525">
            <a:solidFill>
              <a:srgbClr val="000000"/>
            </a:solidFill>
            <a:round/>
            <a:headEnd/>
            <a:tailEnd/>
          </a:ln>
          <a:effectLst/>
        </p:spPr>
        <p:txBody>
          <a:bodyPr/>
          <a:lstStyle/>
          <a:p>
            <a:pPr algn="ctr" eaLnBrk="1" hangingPunct="1"/>
            <a:r>
              <a:rPr lang="fi-FI" sz="800">
                <a:solidFill>
                  <a:srgbClr val="000000"/>
                </a:solidFill>
                <a:latin typeface="Arial" pitchFamily="34" charset="0"/>
                <a:cs typeface="Arial" pitchFamily="34" charset="0"/>
              </a:rPr>
              <a:t>riskipohjainen testaus, syötteiden rajoitteet, tulosten rajoitteet, laskennan rajoitteet, tilarajoitteet, ajoituskysymykset...</a:t>
            </a:r>
            <a:endParaRPr lang="en-GB" sz="800">
              <a:solidFill>
                <a:srgbClr val="000000"/>
              </a:solidFill>
              <a:latin typeface="Arial" pitchFamily="34" charset="0"/>
              <a:cs typeface="Arial" pitchFamily="34" charset="0"/>
            </a:endParaRPr>
          </a:p>
        </p:txBody>
      </p:sp>
      <p:sp>
        <p:nvSpPr>
          <p:cNvPr id="247815" name="AutoShape 7"/>
          <p:cNvSpPr>
            <a:spLocks noChangeArrowheads="1"/>
          </p:cNvSpPr>
          <p:nvPr/>
        </p:nvSpPr>
        <p:spPr bwMode="auto">
          <a:xfrm>
            <a:off x="5943600" y="5029200"/>
            <a:ext cx="2590800" cy="1371600"/>
          </a:xfrm>
          <a:prstGeom prst="cloudCallout">
            <a:avLst>
              <a:gd name="adj1" fmla="val 11153"/>
              <a:gd name="adj2" fmla="val -109375"/>
            </a:avLst>
          </a:prstGeom>
          <a:solidFill>
            <a:schemeClr val="bg1"/>
          </a:solidFill>
          <a:ln w="9525">
            <a:solidFill>
              <a:srgbClr val="000000"/>
            </a:solidFill>
            <a:round/>
            <a:headEnd/>
            <a:tailEnd/>
          </a:ln>
          <a:effectLst/>
        </p:spPr>
        <p:txBody>
          <a:bodyPr/>
          <a:lstStyle/>
          <a:p>
            <a:pPr algn="ctr" eaLnBrk="1" hangingPunct="1"/>
            <a:r>
              <a:rPr lang="fi-FI" sz="800">
                <a:solidFill>
                  <a:srgbClr val="000000"/>
                </a:solidFill>
                <a:latin typeface="Arial" pitchFamily="34" charset="0"/>
                <a:cs typeface="Arial" pitchFamily="34" charset="0"/>
              </a:rPr>
              <a:t>Uusintatestaus, skriptattu testaus, aloitustestaus, tutkiva testaus, sissitestaus, skenaariotestaus, asennustestaus, kuormitustestaus, pitkän sekvenssin testaus, suorituskykytestaus ...</a:t>
            </a:r>
          </a:p>
        </p:txBody>
      </p:sp>
      <p:sp>
        <p:nvSpPr>
          <p:cNvPr id="247816" name="AutoShape 8"/>
          <p:cNvSpPr>
            <a:spLocks noChangeArrowheads="1"/>
          </p:cNvSpPr>
          <p:nvPr/>
        </p:nvSpPr>
        <p:spPr bwMode="auto">
          <a:xfrm>
            <a:off x="6172200" y="1600200"/>
            <a:ext cx="2971800" cy="914400"/>
          </a:xfrm>
          <a:prstGeom prst="cloudCallout">
            <a:avLst>
              <a:gd name="adj1" fmla="val -51120"/>
              <a:gd name="adj2" fmla="val 93056"/>
            </a:avLst>
          </a:prstGeom>
          <a:solidFill>
            <a:schemeClr val="bg1"/>
          </a:solidFill>
          <a:ln w="9525">
            <a:solidFill>
              <a:srgbClr val="000000"/>
            </a:solidFill>
            <a:round/>
            <a:headEnd/>
            <a:tailEnd/>
          </a:ln>
          <a:effectLst/>
        </p:spPr>
        <p:txBody>
          <a:bodyPr/>
          <a:lstStyle/>
          <a:p>
            <a:pPr algn="ctr" eaLnBrk="1" hangingPunct="1"/>
            <a:r>
              <a:rPr lang="fi-FI" sz="800">
                <a:solidFill>
                  <a:srgbClr val="000000"/>
                </a:solidFill>
                <a:latin typeface="Arial" pitchFamily="34" charset="0"/>
                <a:cs typeface="Arial" pitchFamily="34" charset="0"/>
              </a:rPr>
              <a:t>Itsetodentava aineisto, vertailu tallennetuihin tuloksiin, vertailu määrittelyyn tai muuhun dokumenttiin, heuristinen yhdenmukaisuus, oraakkelipohjainen testaus ...</a:t>
            </a:r>
            <a:endParaRPr lang="en-GB" sz="800">
              <a:solidFill>
                <a:srgbClr val="000000"/>
              </a:solidFill>
              <a:latin typeface="Arial" pitchFamily="34" charset="0"/>
              <a:cs typeface="Arial"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mpy\Google Drive\Testauskirja\Kuvia\Testauksen nelikenttä.jpg"/>
          <p:cNvPicPr>
            <a:picLocks noChangeAspect="1" noChangeArrowheads="1"/>
          </p:cNvPicPr>
          <p:nvPr/>
        </p:nvPicPr>
        <p:blipFill>
          <a:blip r:embed="rId2" cstate="print"/>
          <a:srcRect/>
          <a:stretch>
            <a:fillRect/>
          </a:stretch>
        </p:blipFill>
        <p:spPr bwMode="auto">
          <a:xfrm>
            <a:off x="323528" y="188642"/>
            <a:ext cx="8496944" cy="6372707"/>
          </a:xfrm>
          <a:prstGeom prst="rect">
            <a:avLst/>
          </a:prstGeom>
          <a:noFill/>
        </p:spPr>
      </p:pic>
      <p:sp>
        <p:nvSpPr>
          <p:cNvPr id="4" name="Dian numeron paikkamerkki 3"/>
          <p:cNvSpPr>
            <a:spLocks noGrp="1"/>
          </p:cNvSpPr>
          <p:nvPr>
            <p:ph type="sldNum" sz="quarter" idx="12"/>
          </p:nvPr>
        </p:nvSpPr>
        <p:spPr/>
        <p:txBody>
          <a:bodyPr/>
          <a:lstStyle/>
          <a:p>
            <a:fld id="{0B7C5E66-6987-4710-BE2B-A41B6F56B61C}" type="slidenum">
              <a:rPr lang="en-US" smtClean="0"/>
              <a:pPr/>
              <a:t>80</a:t>
            </a:fld>
            <a:endParaRPr lang="en-US"/>
          </a:p>
        </p:txBody>
      </p:sp>
    </p:spTree>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71549" y="692152"/>
            <a:ext cx="7272339" cy="768350"/>
          </a:xfrm>
        </p:spPr>
        <p:txBody>
          <a:bodyPr>
            <a:normAutofit fontScale="90000"/>
          </a:bodyPr>
          <a:lstStyle/>
          <a:p>
            <a:r>
              <a:rPr lang="en-US"/>
              <a:t>Relationship of Good Testing and Skills of the Tester</a:t>
            </a:r>
          </a:p>
        </p:txBody>
      </p:sp>
      <p:sp>
        <p:nvSpPr>
          <p:cNvPr id="60419" name="Rectangle 3"/>
          <p:cNvSpPr>
            <a:spLocks noChangeArrowheads="1"/>
          </p:cNvSpPr>
          <p:nvPr/>
        </p:nvSpPr>
        <p:spPr bwMode="auto">
          <a:xfrm>
            <a:off x="990600" y="1752600"/>
            <a:ext cx="3048000" cy="41148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lstStyle/>
          <a:p>
            <a:pPr algn="ctr"/>
            <a:r>
              <a:rPr lang="en-US" sz="2000" b="1" u="sng" dirty="0"/>
              <a:t>Good testing</a:t>
            </a:r>
          </a:p>
          <a:p>
            <a:pPr algn="ctr"/>
            <a:endParaRPr lang="en-US" sz="2000" b="1" u="sng" dirty="0"/>
          </a:p>
          <a:p>
            <a:pPr algn="ctr">
              <a:buFontTx/>
              <a:buChar char="-"/>
            </a:pPr>
            <a:r>
              <a:rPr lang="en-GB" dirty="0"/>
              <a:t> </a:t>
            </a:r>
            <a:r>
              <a:rPr lang="en-GB" b="1" i="1" dirty="0"/>
              <a:t>Effective</a:t>
            </a:r>
            <a:r>
              <a:rPr lang="en-GB" dirty="0"/>
              <a:t>: provides the right results</a:t>
            </a:r>
          </a:p>
          <a:p>
            <a:pPr algn="ctr">
              <a:buFontTx/>
              <a:buChar char="-"/>
            </a:pPr>
            <a:endParaRPr lang="en-GB" dirty="0"/>
          </a:p>
          <a:p>
            <a:pPr algn="ctr">
              <a:buFontTx/>
              <a:buChar char="-"/>
            </a:pPr>
            <a:r>
              <a:rPr lang="en-GB" dirty="0"/>
              <a:t> </a:t>
            </a:r>
            <a:r>
              <a:rPr lang="en-GB" b="1" i="1" dirty="0"/>
              <a:t>Efficient</a:t>
            </a:r>
            <a:r>
              <a:rPr lang="en-GB" dirty="0"/>
              <a:t>: Effort to get the results is reasonable</a:t>
            </a:r>
          </a:p>
          <a:p>
            <a:pPr algn="ctr"/>
            <a:endParaRPr lang="en-GB" dirty="0"/>
          </a:p>
          <a:p>
            <a:pPr algn="ctr"/>
            <a:endParaRPr lang="en-GB" dirty="0"/>
          </a:p>
          <a:p>
            <a:pPr algn="ctr">
              <a:buFontTx/>
              <a:buChar char="-"/>
            </a:pPr>
            <a:r>
              <a:rPr lang="en-GB" b="1" i="1" dirty="0"/>
              <a:t>Motivating</a:t>
            </a:r>
            <a:r>
              <a:rPr lang="en-GB" dirty="0"/>
              <a:t>: Work can be enjoyable</a:t>
            </a:r>
          </a:p>
          <a:p>
            <a:pPr algn="ctr">
              <a:buFontTx/>
              <a:buChar char="-"/>
            </a:pPr>
            <a:endParaRPr lang="en-GB" dirty="0"/>
          </a:p>
          <a:p>
            <a:pPr algn="ctr"/>
            <a:r>
              <a:rPr lang="en-GB" b="1" dirty="0">
                <a:sym typeface="Wingdings" pitchFamily="2" charset="2"/>
              </a:rPr>
              <a:t> Finding bugs essential part of testing</a:t>
            </a:r>
            <a:endParaRPr lang="en-GB" b="1" dirty="0"/>
          </a:p>
        </p:txBody>
      </p:sp>
      <p:sp>
        <p:nvSpPr>
          <p:cNvPr id="60420" name="Rectangle 4"/>
          <p:cNvSpPr>
            <a:spLocks noChangeArrowheads="1"/>
          </p:cNvSpPr>
          <p:nvPr/>
        </p:nvSpPr>
        <p:spPr bwMode="auto">
          <a:xfrm>
            <a:off x="5029200" y="1752600"/>
            <a:ext cx="3048000" cy="41148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lstStyle/>
          <a:p>
            <a:pPr algn="ctr"/>
            <a:r>
              <a:rPr lang="en-US" sz="2000" b="1" u="sng"/>
              <a:t>Good tester</a:t>
            </a:r>
          </a:p>
          <a:p>
            <a:pPr algn="ctr"/>
            <a:endParaRPr lang="en-US" sz="2000" b="1" u="sng"/>
          </a:p>
          <a:p>
            <a:pPr algn="ctr">
              <a:buFontTx/>
              <a:buChar char="-"/>
            </a:pPr>
            <a:r>
              <a:rPr lang="en-GB"/>
              <a:t> is able to do good testing</a:t>
            </a:r>
          </a:p>
          <a:p>
            <a:pPr algn="ctr">
              <a:buFontTx/>
              <a:buChar char="-"/>
            </a:pPr>
            <a:endParaRPr lang="en-GB"/>
          </a:p>
          <a:p>
            <a:pPr algn="ctr">
              <a:buFontTx/>
              <a:buChar char="-"/>
            </a:pPr>
            <a:r>
              <a:rPr lang="en-GB"/>
              <a:t> is able to transform not-so-good testing into better testing</a:t>
            </a:r>
          </a:p>
          <a:p>
            <a:pPr algn="ctr">
              <a:buFontTx/>
              <a:buChar char="-"/>
            </a:pPr>
            <a:endParaRPr lang="en-GB"/>
          </a:p>
          <a:p>
            <a:pPr algn="ctr"/>
            <a:r>
              <a:rPr lang="en-GB" b="1" i="1">
                <a:sym typeface="Wingdings" pitchFamily="2" charset="2"/>
              </a:rPr>
              <a:t>Skills and abilities</a:t>
            </a:r>
          </a:p>
          <a:p>
            <a:pPr algn="ctr">
              <a:buFont typeface="Wingdings" pitchFamily="2" charset="2"/>
              <a:buChar char="à"/>
            </a:pPr>
            <a:r>
              <a:rPr lang="en-GB" b="1" i="1">
                <a:sym typeface="Wingdings" pitchFamily="2" charset="2"/>
              </a:rPr>
              <a:t>Attitude</a:t>
            </a:r>
          </a:p>
          <a:p>
            <a:pPr algn="ctr">
              <a:buFont typeface="Wingdings" pitchFamily="2" charset="2"/>
              <a:buNone/>
            </a:pPr>
            <a:endParaRPr lang="en-GB" b="1" i="1"/>
          </a:p>
          <a:p>
            <a:pPr algn="ctr">
              <a:buFont typeface="Wingdings" pitchFamily="2" charset="2"/>
              <a:buNone/>
            </a:pPr>
            <a:endParaRPr lang="en-GB" b="1" i="1"/>
          </a:p>
          <a:p>
            <a:pPr algn="ctr">
              <a:buFont typeface="Wingdings" pitchFamily="2" charset="2"/>
              <a:buNone/>
            </a:pPr>
            <a:r>
              <a:rPr lang="en-GB" b="1"/>
              <a:t>Good testing needs good testers. </a:t>
            </a:r>
          </a:p>
        </p:txBody>
      </p:sp>
      <p:sp>
        <p:nvSpPr>
          <p:cNvPr id="6" name="Dian numeron paikkamerkki 5"/>
          <p:cNvSpPr>
            <a:spLocks noGrp="1"/>
          </p:cNvSpPr>
          <p:nvPr>
            <p:ph type="sldNum" sz="quarter" idx="12"/>
          </p:nvPr>
        </p:nvSpPr>
        <p:spPr/>
        <p:txBody>
          <a:bodyPr/>
          <a:lstStyle/>
          <a:p>
            <a:fld id="{0B7C5E66-6987-4710-BE2B-A41B6F56B61C}" type="slidenum">
              <a:rPr lang="en-US" smtClean="0"/>
              <a:pPr/>
              <a:t>81</a:t>
            </a:fld>
            <a:endParaRPr lang="en-US"/>
          </a:p>
        </p:txBody>
      </p:sp>
    </p:spTree>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Miten ohjata potentiaalista erinomaisuuteen?</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Lähtökohtana asenne</a:t>
            </a:r>
          </a:p>
          <a:p>
            <a:pPr lvl="1"/>
            <a:r>
              <a:rPr lang="fi-FI" dirty="0" smtClean="0"/>
              <a:t>Halu kehittää tuotetta/palvelua laadukkaaksi osana kokonaisuutta</a:t>
            </a:r>
          </a:p>
          <a:p>
            <a:pPr lvl="1"/>
            <a:r>
              <a:rPr lang="fi-FI" dirty="0" smtClean="0"/>
              <a:t>Halu testata ja kehittyä testauksessa</a:t>
            </a:r>
          </a:p>
          <a:p>
            <a:r>
              <a:rPr lang="fi-FI" dirty="0" smtClean="0"/>
              <a:t>Toimintatapojen ja välineiden oppiminen</a:t>
            </a:r>
          </a:p>
          <a:p>
            <a:pPr lvl="1"/>
            <a:r>
              <a:rPr lang="fi-FI" dirty="0" smtClean="0"/>
              <a:t>Tekemällä oppii – muista palaute</a:t>
            </a:r>
          </a:p>
          <a:p>
            <a:pPr lvl="1"/>
            <a:r>
              <a:rPr lang="fi-FI" dirty="0" smtClean="0"/>
              <a:t>Kurssien rytmittäminen yhteen konkreettisten työtehtävien kanssa</a:t>
            </a:r>
          </a:p>
          <a:p>
            <a:r>
              <a:rPr lang="fi-FI" dirty="0" smtClean="0"/>
              <a:t>”Sääntöjen” rikkominen tehokkuuden optimoimiseksi</a:t>
            </a:r>
          </a:p>
          <a:p>
            <a:pPr lvl="1"/>
            <a:r>
              <a:rPr lang="fi-FI" dirty="0" smtClean="0"/>
              <a:t>”aina tehty näin” puhuu menneestä, katse tulevaan</a:t>
            </a:r>
          </a:p>
          <a:p>
            <a:r>
              <a:rPr lang="fi-FI" dirty="0" smtClean="0"/>
              <a:t>Ammatti-identiteetin kasvun tukeminen</a:t>
            </a:r>
          </a:p>
          <a:p>
            <a:pPr lvl="1"/>
            <a:r>
              <a:rPr lang="fi-FI" dirty="0" smtClean="0"/>
              <a:t>Testaus on ura, jolle monet ovat valinneet lähtevänsä</a:t>
            </a:r>
          </a:p>
          <a:p>
            <a:pPr lvl="1"/>
            <a:r>
              <a:rPr lang="fi-FI" dirty="0" smtClean="0"/>
              <a:t>Vertaistuki on tärkeää</a:t>
            </a:r>
            <a:endParaRPr lang="fi-FI" dirty="0"/>
          </a:p>
        </p:txBody>
      </p:sp>
      <p:sp>
        <p:nvSpPr>
          <p:cNvPr id="4" name="Dian numeron paikkamerkki 3"/>
          <p:cNvSpPr>
            <a:spLocks noGrp="1"/>
          </p:cNvSpPr>
          <p:nvPr>
            <p:ph type="sldNum" sz="quarter" idx="12"/>
          </p:nvPr>
        </p:nvSpPr>
        <p:spPr/>
        <p:txBody>
          <a:bodyPr/>
          <a:lstStyle/>
          <a:p>
            <a:fld id="{0B7C5E66-6987-4710-BE2B-A41B6F56B61C}" type="slidenum">
              <a:rPr lang="en-US" smtClean="0"/>
              <a:pPr/>
              <a:t>82</a:t>
            </a:fld>
            <a:endParaRPr lang="en-US"/>
          </a:p>
        </p:txBody>
      </p:sp>
    </p:spTree>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Ryhmä 7"/>
          <p:cNvGrpSpPr/>
          <p:nvPr/>
        </p:nvGrpSpPr>
        <p:grpSpPr>
          <a:xfrm>
            <a:off x="1547664" y="404772"/>
            <a:ext cx="5987008" cy="1800094"/>
            <a:chOff x="0" y="3912951"/>
            <a:chExt cx="5987008" cy="287819"/>
          </a:xfrm>
        </p:grpSpPr>
        <p:sp>
          <p:nvSpPr>
            <p:cNvPr id="9" name="Pyöristetty suorakulmio 8"/>
            <p:cNvSpPr/>
            <p:nvPr/>
          </p:nvSpPr>
          <p:spPr>
            <a:xfrm>
              <a:off x="0" y="3912951"/>
              <a:ext cx="5987008" cy="287819"/>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0" name="Pyöristetty suorakulmio 4"/>
            <p:cNvSpPr/>
            <p:nvPr/>
          </p:nvSpPr>
          <p:spPr>
            <a:xfrm>
              <a:off x="14050" y="3927001"/>
              <a:ext cx="5958908" cy="2597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fi-FI" sz="2800" kern="1200" dirty="0" smtClean="0"/>
                <a:t>Testitapausten suunnittelun tiekartta</a:t>
              </a:r>
              <a:endParaRPr lang="en-US" sz="2800" kern="1200" dirty="0"/>
            </a:p>
          </p:txBody>
        </p:sp>
      </p:grpSp>
      <p:sp>
        <p:nvSpPr>
          <p:cNvPr id="2" name="Dian numeron paikkamerkki 1"/>
          <p:cNvSpPr>
            <a:spLocks noGrp="1"/>
          </p:cNvSpPr>
          <p:nvPr>
            <p:ph type="sldNum" sz="quarter" idx="12"/>
          </p:nvPr>
        </p:nvSpPr>
        <p:spPr/>
        <p:txBody>
          <a:bodyPr/>
          <a:lstStyle/>
          <a:p>
            <a:fld id="{005C076F-2023-4865-A680-8A52FED0D0E7}" type="slidenum">
              <a:rPr lang="en-US" smtClean="0"/>
              <a:pPr/>
              <a:t>83</a:t>
            </a:fld>
            <a:endParaRPr lang="en-US"/>
          </a:p>
        </p:txBody>
      </p:sp>
      <p:pic>
        <p:nvPicPr>
          <p:cNvPr id="6" name="Picture 8" descr="C:\Documents and Settings\mpyhajar.CONFORMIQ\Application Data\Microsoft\Media Catalog\Downloaded Clips\cl1f\j0078711.wmf"/>
          <p:cNvPicPr>
            <a:picLocks noChangeAspect="1" noChangeArrowheads="1"/>
          </p:cNvPicPr>
          <p:nvPr/>
        </p:nvPicPr>
        <p:blipFill>
          <a:blip r:embed="rId2" cstate="print"/>
          <a:srcRect/>
          <a:stretch>
            <a:fillRect/>
          </a:stretch>
        </p:blipFill>
        <p:spPr bwMode="auto">
          <a:xfrm>
            <a:off x="2714614" y="1661117"/>
            <a:ext cx="1622425" cy="3933825"/>
          </a:xfrm>
          <a:prstGeom prst="rect">
            <a:avLst/>
          </a:prstGeom>
          <a:noFill/>
        </p:spPr>
      </p:pic>
      <p:pic>
        <p:nvPicPr>
          <p:cNvPr id="7" name="Picture 9" descr="C:\Documents and Settings\mpyhajar.CONFORMIQ\Application Data\Microsoft\Media Catalog\Downloaded Clips\cl1f\j0078625.wmf"/>
          <p:cNvPicPr>
            <a:picLocks noChangeAspect="1" noChangeArrowheads="1"/>
          </p:cNvPicPr>
          <p:nvPr/>
        </p:nvPicPr>
        <p:blipFill>
          <a:blip r:embed="rId3" cstate="print"/>
          <a:srcRect/>
          <a:stretch>
            <a:fillRect/>
          </a:stretch>
        </p:blipFill>
        <p:spPr bwMode="auto">
          <a:xfrm>
            <a:off x="4286248" y="2375495"/>
            <a:ext cx="1295400" cy="3933825"/>
          </a:xfrm>
          <a:prstGeom prst="rect">
            <a:avLst/>
          </a:prstGeom>
          <a:noFill/>
        </p:spPr>
      </p:pic>
      <p:sp>
        <p:nvSpPr>
          <p:cNvPr id="8" name="Rectangle 3"/>
          <p:cNvSpPr/>
          <p:nvPr/>
        </p:nvSpPr>
        <p:spPr>
          <a:xfrm>
            <a:off x="6012160" y="2348880"/>
            <a:ext cx="2880320" cy="2677656"/>
          </a:xfrm>
          <a:prstGeom prst="rect">
            <a:avLst/>
          </a:prstGeom>
        </p:spPr>
        <p:txBody>
          <a:bodyPr wrap="square">
            <a:spAutoFit/>
          </a:bodyPr>
          <a:lstStyle/>
          <a:p>
            <a:pPr algn="ctr"/>
            <a:r>
              <a:rPr lang="en-US" sz="2400" dirty="0" smtClean="0"/>
              <a:t>"The purpose of testing is largely to force everyone to see the detailed implications of their vague daydreams." </a:t>
            </a:r>
            <a:r>
              <a:rPr lang="en-US" sz="2400" dirty="0" smtClean="0">
                <a:solidFill>
                  <a:schemeClr val="accent2"/>
                </a:solidFill>
              </a:rPr>
              <a:t>-- James Bach </a:t>
            </a: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teema">
  <a:themeElements>
    <a:clrScheme name="Erkkeri">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Solstice">
      <a:majorFont>
        <a:latin typeface="Gill Sans MT"/>
        <a:ea typeface=""/>
        <a:cs typeface=""/>
        <a:font script="Grek" typeface="Corbel"/>
        <a:font script="Cyrl" typeface="Corbel"/>
        <a:font script="Jpan" typeface="ＭＳ ゴシック"/>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ＭＳ ゴシック"/>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895</TotalTime>
  <Words>7599</Words>
  <Application>Microsoft Macintosh PowerPoint</Application>
  <PresentationFormat>On-screen Show (4:3)</PresentationFormat>
  <Paragraphs>1553</Paragraphs>
  <Slides>83</Slides>
  <Notes>62</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83</vt:i4>
      </vt:variant>
    </vt:vector>
  </HeadingPairs>
  <TitlesOfParts>
    <vt:vector size="87" baseType="lpstr">
      <vt:lpstr>Office-teema</vt:lpstr>
      <vt:lpstr>Worksheet</vt:lpstr>
      <vt:lpstr>Document</vt:lpstr>
      <vt:lpstr>Visio</vt:lpstr>
      <vt:lpstr>PÄIVÄ 2</vt:lpstr>
      <vt:lpstr>Testauskohteena Boggle Flash</vt:lpstr>
      <vt:lpstr>Lisätietoja työpajasta</vt:lpstr>
      <vt:lpstr>PowerPoint Presentation</vt:lpstr>
      <vt:lpstr>PÄIVÄ 2</vt:lpstr>
      <vt:lpstr>SFDPOT – testauskohteen analysointi</vt:lpstr>
      <vt:lpstr>Harjoitus: SFDPOT Freemind Etsi &amp; Korvaa toiminnallisuudelle</vt:lpstr>
      <vt:lpstr>Monipuolisen ajattelun harjoittaminen, monipuoliset heuristiikat</vt:lpstr>
      <vt:lpstr>PowerPoint Presentation</vt:lpstr>
      <vt:lpstr>PÄIVÄ 2</vt:lpstr>
      <vt:lpstr>Muutamia testausheuristiikkoja</vt:lpstr>
      <vt:lpstr>Test Ideas / Quick-and-Dirty</vt:lpstr>
      <vt:lpstr>Virhelistat testien ohjauksessa</vt:lpstr>
      <vt:lpstr>Esimerkki riskilistasta: Kustomointi</vt:lpstr>
      <vt:lpstr>Virheiden tunnistamisen kyky</vt:lpstr>
      <vt:lpstr>Odotetut tulokset testauksessa</vt:lpstr>
      <vt:lpstr>Testattava kohde ja testioraakkeli Lähde: Mukaillen Doug Hoffman</vt:lpstr>
      <vt:lpstr>Odotetuista  tuloksista</vt:lpstr>
      <vt:lpstr>Eroista odotetun ja toteutuneen välillä</vt:lpstr>
      <vt:lpstr>Harjoitus: Mistä tietää että asennus on onnistunut?</vt:lpstr>
      <vt:lpstr>Asennusharjoitus</vt:lpstr>
      <vt:lpstr>PowerPoint Presentation</vt:lpstr>
      <vt:lpstr>PÄIVÄ 2</vt:lpstr>
      <vt:lpstr>Toimintotestaus ja aineistotestaus</vt:lpstr>
      <vt:lpstr>Arvoaluetestaus käsittelee aineiston ositusta ja tunnistamista</vt:lpstr>
      <vt:lpstr>Arvoaluetestaus perustuu olettamiin tavoista toteuttaa </vt:lpstr>
      <vt:lpstr>Esimerkki: Luottokorttimaksu</vt:lpstr>
      <vt:lpstr>Asiakkaan nimi</vt:lpstr>
      <vt:lpstr>Kortin numero</vt:lpstr>
      <vt:lpstr>Veloitettava summa</vt:lpstr>
      <vt:lpstr>Raja-arvotaulukko </vt:lpstr>
      <vt:lpstr>Tarkkojen testitapausten suunnittelu</vt:lpstr>
      <vt:lpstr>Luokittelupuut </vt:lpstr>
      <vt:lpstr>Harjoitus: riittävien syötteiden tunnistaminen ja tulosten kuvaaminen testitapauksiin</vt:lpstr>
      <vt:lpstr>Käyttötapaukset: OmaMatkasuunnitelma</vt:lpstr>
      <vt:lpstr>Uudelleenkäytettävä testimatriisi</vt:lpstr>
      <vt:lpstr>Esimerkki: Päällekkäiset ekvivalenssiluokat analyysissä</vt:lpstr>
      <vt:lpstr>PowerPoint Presentation</vt:lpstr>
      <vt:lpstr>Esimerkki: Kolmio-ohjelman testaaminen</vt:lpstr>
      <vt:lpstr>PowerPoint Presentation</vt:lpstr>
      <vt:lpstr>Kolmion testaus-yksi ratkaisu</vt:lpstr>
      <vt:lpstr>PowerPoint Presentation</vt:lpstr>
      <vt:lpstr>Kolmioesimerkki ja testausasiantuntijat</vt:lpstr>
      <vt:lpstr>Vaihtelujen ymmärtäminen kolmion testauksessa</vt:lpstr>
      <vt:lpstr>Mieti seuraavia testaustilanteita</vt:lpstr>
      <vt:lpstr>Kaikkia yhdistelmiä ei voida käydä läpi, mitä sitten?</vt:lpstr>
      <vt:lpstr>Kombinaatiot testaussuunnittelussa - esimerkki</vt:lpstr>
      <vt:lpstr>Yksittäiset muuttujat - kaikki arvot ainakin kertaalleen </vt:lpstr>
      <vt:lpstr>Kaikki yhdistelmät</vt:lpstr>
      <vt:lpstr>Kaikkien parien kriteeri</vt:lpstr>
      <vt:lpstr>Kaikki parit - muuttujaparit ainakin kertaalleen </vt:lpstr>
      <vt:lpstr>Esimerkki: Muuttujien kombinaatioiden testaaminen</vt:lpstr>
      <vt:lpstr>Esimerkki: Muuttujien kombinaatioiden testaaminen</vt:lpstr>
      <vt:lpstr>Esimerkki: Muuttujien kombinaatioiden testaaminen</vt:lpstr>
      <vt:lpstr>Esimerkki: Muuttujien kombinaatioiden testaaminen</vt:lpstr>
      <vt:lpstr>Tässä ovat ne 288 testitapausta. Jokaisen muuttujan jokainen arvo on yhdistetty jokaiseen muiden muuttujien yhdistelmään.</vt:lpstr>
      <vt:lpstr>Muuttujien testaaminen kombinaatioina: pareittain</vt:lpstr>
      <vt:lpstr>Kombinaatioparien testaaminen</vt:lpstr>
      <vt:lpstr>Kombinaatioiden käsittely ei ole käsityötä</vt:lpstr>
      <vt:lpstr>Aineistointensiiviset järjestelmät</vt:lpstr>
      <vt:lpstr>Testiaineiston ominaisuuksista</vt:lpstr>
      <vt:lpstr>Aineiston suunnittelun haasteen muutos</vt:lpstr>
      <vt:lpstr>PowerPoint Presentation</vt:lpstr>
      <vt:lpstr>PÄIVÄ 2</vt:lpstr>
      <vt:lpstr>Vaatimukset testauksen näkökulmasta</vt:lpstr>
      <vt:lpstr>Määrittelyjen lukeminen ”testaajana”, testi-ideat</vt:lpstr>
      <vt:lpstr>Testausta tukevat testitapaukset</vt:lpstr>
      <vt:lpstr>Vaatimukset vs. Testaus-näkökulma vaatimuksiin</vt:lpstr>
      <vt:lpstr>Vaatimusperusteinen testien suunnittelu</vt:lpstr>
      <vt:lpstr>Ihanteellinen skenaariotesti</vt:lpstr>
      <vt:lpstr>Skenaariotestien tarkoituksia</vt:lpstr>
      <vt:lpstr>Esimerkki skenaariotestistä</vt:lpstr>
      <vt:lpstr>Harjoitus: Skenaariotestin laatiminen</vt:lpstr>
      <vt:lpstr>PowerPoint Presentation</vt:lpstr>
      <vt:lpstr>PÄIVÄ 2</vt:lpstr>
      <vt:lpstr>Testitapausten suunnittelun tekniikka</vt:lpstr>
      <vt:lpstr>Testaustekniikat ja tehokkuus</vt:lpstr>
      <vt:lpstr>Mustalaatikko- vs. lasilaatikkotestaus</vt:lpstr>
      <vt:lpstr>Viisitasoinen testausmenetelmien lajittelu Lähde: Kaner et al. 2002. Lessons Learned in Software Testing</vt:lpstr>
      <vt:lpstr>PowerPoint Presentation</vt:lpstr>
      <vt:lpstr>Relationship of Good Testing and Skills of the Tester</vt:lpstr>
      <vt:lpstr>Miten ohjata potentiaalista erinomaisuuteen?</vt:lpstr>
      <vt:lpstr>PowerPoint Presentation</vt:lpstr>
    </vt:vector>
  </TitlesOfParts>
  <Company>Inst.tsto. Olof Granlund Oy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 1</dc:title>
  <dc:creator>Pyhäjärvi Maaret</dc:creator>
  <cp:lastModifiedBy>Maaret Pyhäjärvi</cp:lastModifiedBy>
  <cp:revision>187</cp:revision>
  <cp:lastPrinted>2015-04-21T15:54:45Z</cp:lastPrinted>
  <dcterms:created xsi:type="dcterms:W3CDTF">2014-05-26T20:11:01Z</dcterms:created>
  <dcterms:modified xsi:type="dcterms:W3CDTF">2015-04-23T13:00:29Z</dcterms:modified>
</cp:coreProperties>
</file>